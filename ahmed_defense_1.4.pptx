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85" r:id="rId10"/>
    <p:sldId id="263" r:id="rId11"/>
    <p:sldId id="264" r:id="rId12"/>
    <p:sldId id="265" r:id="rId13"/>
    <p:sldId id="266" r:id="rId14"/>
    <p:sldId id="267" r:id="rId15"/>
    <p:sldId id="286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87" r:id="rId26"/>
    <p:sldId id="277" r:id="rId27"/>
    <p:sldId id="288" r:id="rId28"/>
    <p:sldId id="289" r:id="rId29"/>
    <p:sldId id="278" r:id="rId30"/>
    <p:sldId id="279" r:id="rId31"/>
    <p:sldId id="280" r:id="rId32"/>
    <p:sldId id="281" r:id="rId33"/>
    <p:sldId id="282" r:id="rId34"/>
    <p:sldId id="283" r:id="rId35"/>
  </p:sldIdLst>
  <p:sldSz cx="14630400" cy="82296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73"/>
    <p:restoredTop sz="94659"/>
  </p:normalViewPr>
  <p:slideViewPr>
    <p:cSldViewPr snapToGrid="0">
      <p:cViewPr>
        <p:scale>
          <a:sx n="100" d="100"/>
          <a:sy n="100" d="100"/>
        </p:scale>
        <p:origin x="2056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op-maroon">
            <a:extLst>
              <a:ext uri="{FF2B5EF4-FFF2-40B4-BE49-F238E27FC236}">
                <a16:creationId xmlns:a16="http://schemas.microsoft.com/office/drawing/2014/main" id="{86338188-9078-4D2B-A90F-A0B1A980B1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2EF031D4-F325-4B46-B529-97F64624E807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A2168E25-5DBF-4FAD-BE66-8005121CED6A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27F1DEE7-6905-412C-8E09-6288A2460C61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1/34</a:t>
            </a:r>
          </a:p>
        </p:txBody>
      </p:sp>
      <p:sp>
        <p:nvSpPr>
          <p:cNvPr id="5" name="title-1">
            <a:extLst>
              <a:ext uri="{FF2B5EF4-FFF2-40B4-BE49-F238E27FC236}">
                <a16:creationId xmlns:a16="http://schemas.microsoft.com/office/drawing/2014/main" id="{E184B4A4-28AE-48E9-BC69-B4EAF1A67349}"/>
              </a:ext>
            </a:extLst>
          </p:cNvPr>
          <p:cNvSpPr>
            <a:spLocks noGrp="1"/>
          </p:cNvSpPr>
          <p:nvPr/>
        </p:nvSpPr>
        <p:spPr>
          <a:xfrm>
            <a:off x="2571750" y="1314450"/>
            <a:ext cx="94869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MACHINE LEARNING BASED ALGORITHM SELECTION FOR</a:t>
            </a:r>
          </a:p>
        </p:txBody>
      </p:sp>
      <p:sp>
        <p:nvSpPr>
          <p:cNvPr id="6" name="title-2">
            <a:extLst>
              <a:ext uri="{FF2B5EF4-FFF2-40B4-BE49-F238E27FC236}">
                <a16:creationId xmlns:a16="http://schemas.microsoft.com/office/drawing/2014/main" id="{EE67E0F7-FB93-4252-96A8-DC748A7C6C24}"/>
              </a:ext>
            </a:extLst>
          </p:cNvPr>
          <p:cNvSpPr>
            <a:spLocks noGrp="1"/>
          </p:cNvSpPr>
          <p:nvPr/>
        </p:nvSpPr>
        <p:spPr>
          <a:xfrm>
            <a:off x="2571750" y="2038350"/>
            <a:ext cx="9486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SORTING NUMERIC ARRAYS</a:t>
            </a:r>
          </a:p>
        </p:txBody>
      </p:sp>
      <p:sp>
        <p:nvSpPr>
          <p:cNvPr id="7" name="title-main-rule">
            <a:extLst>
              <a:ext uri="{FF2B5EF4-FFF2-40B4-BE49-F238E27FC236}">
                <a16:creationId xmlns:a16="http://schemas.microsoft.com/office/drawing/2014/main" id="{852EEC96-D144-4A30-9C4B-D6264D6014AD}"/>
              </a:ext>
            </a:extLst>
          </p:cNvPr>
          <p:cNvSpPr>
            <a:spLocks noGrp="1"/>
          </p:cNvSpPr>
          <p:nvPr/>
        </p:nvSpPr>
        <p:spPr>
          <a:xfrm>
            <a:off x="2571750" y="3028950"/>
            <a:ext cx="9486900" cy="0"/>
          </a:xfrm>
          <a:prstGeom prst="line">
            <a:avLst/>
          </a:prstGeom>
          <a:noFill/>
          <a:ln w="13335">
            <a:solidFill>
              <a:srgbClr val="8F1D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presented-by">
            <a:extLst>
              <a:ext uri="{FF2B5EF4-FFF2-40B4-BE49-F238E27FC236}">
                <a16:creationId xmlns:a16="http://schemas.microsoft.com/office/drawing/2014/main" id="{A013D371-4DA3-4ED5-8B70-65E6614C612C}"/>
              </a:ext>
            </a:extLst>
          </p:cNvPr>
          <p:cNvSpPr>
            <a:spLocks noGrp="1"/>
          </p:cNvSpPr>
          <p:nvPr/>
        </p:nvSpPr>
        <p:spPr>
          <a:xfrm>
            <a:off x="5981700" y="36766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7180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718096"/>
                </a:solidFill>
                <a:latin typeface="Times New Roman"/>
                <a:ea typeface="Times New Roman"/>
                <a:cs typeface="Times New Roman"/>
              </a:rPr>
              <a:t>Presented by</a:t>
            </a:r>
          </a:p>
        </p:txBody>
      </p:sp>
      <p:sp>
        <p:nvSpPr>
          <p:cNvPr id="9" name="ahmed">
            <a:extLst>
              <a:ext uri="{FF2B5EF4-FFF2-40B4-BE49-F238E27FC236}">
                <a16:creationId xmlns:a16="http://schemas.microsoft.com/office/drawing/2014/main" id="{E2C9B84A-324B-4EB3-9D99-25CD42C32355}"/>
              </a:ext>
            </a:extLst>
          </p:cNvPr>
          <p:cNvSpPr>
            <a:spLocks noGrp="1"/>
          </p:cNvSpPr>
          <p:nvPr/>
        </p:nvSpPr>
        <p:spPr>
          <a:xfrm>
            <a:off x="4648200" y="401955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AHMED SALAH ABDALHI MOHAMMED</a:t>
            </a:r>
          </a:p>
        </p:txBody>
      </p:sp>
      <p:sp>
        <p:nvSpPr>
          <p:cNvPr id="10" name="supervised-by">
            <a:extLst>
              <a:ext uri="{FF2B5EF4-FFF2-40B4-BE49-F238E27FC236}">
                <a16:creationId xmlns:a16="http://schemas.microsoft.com/office/drawing/2014/main" id="{9FCF1D41-6757-47C4-BA19-C7FF86E36860}"/>
              </a:ext>
            </a:extLst>
          </p:cNvPr>
          <p:cNvSpPr>
            <a:spLocks noGrp="1"/>
          </p:cNvSpPr>
          <p:nvPr/>
        </p:nvSpPr>
        <p:spPr>
          <a:xfrm>
            <a:off x="5981700" y="45339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7180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718096"/>
                </a:solidFill>
                <a:latin typeface="Times New Roman"/>
                <a:ea typeface="Times New Roman"/>
                <a:cs typeface="Times New Roman"/>
              </a:rPr>
              <a:t>Supervised by</a:t>
            </a:r>
          </a:p>
        </p:txBody>
      </p:sp>
      <p:sp>
        <p:nvSpPr>
          <p:cNvPr id="11" name="supervisor">
            <a:extLst>
              <a:ext uri="{FF2B5EF4-FFF2-40B4-BE49-F238E27FC236}">
                <a16:creationId xmlns:a16="http://schemas.microsoft.com/office/drawing/2014/main" id="{9CBDC2B1-5871-4D20-B418-6C170FDB428A}"/>
              </a:ext>
            </a:extLst>
          </p:cNvPr>
          <p:cNvSpPr>
            <a:spLocks noGrp="1"/>
          </p:cNvSpPr>
          <p:nvPr/>
        </p:nvSpPr>
        <p:spPr>
          <a:xfrm>
            <a:off x="4648200" y="487680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Assoc. Prof. Dr. Emre Özbilge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477750" y="190500"/>
            <a:ext cx="4381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49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52704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2704"/>
            <a:ext cx="14630400" cy="95097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530352"/>
            <a:ext cx="12573000" cy="53035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4200" b="1">
                <a:solidFill>
                  <a:srgbClr val="1C1C1C"/>
                </a:solidFill>
                <a:latin typeface="Times New Roman"/>
              </a:rPr>
              <a:t>Why sorting selection matters at scale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7512" y="118140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578840" y="8010144"/>
            <a:ext cx="822960" cy="21031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Times New Roman"/>
              </a:rPr>
              <a:t>2/34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572768"/>
            <a:ext cx="2057400" cy="205740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1783080" cy="29260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300" b="1">
                <a:solidFill>
                  <a:srgbClr val="F4511E"/>
                </a:solidFill>
                <a:latin typeface="Times New Roman"/>
              </a:rP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178308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53657D"/>
                </a:solidFill>
                <a:latin typeface="Times New Roman"/>
              </a:rPr>
              <a:t>ORDER BY / joins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07592" y="2953512"/>
            <a:ext cx="109728" cy="201168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508760" y="2825496"/>
            <a:ext cx="109728" cy="32918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09928" y="2898648"/>
            <a:ext cx="109728" cy="256032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911095" y="2642616"/>
            <a:ext cx="109728" cy="5120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12264" y="2752344"/>
            <a:ext cx="109728" cy="402336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313432" y="2532888"/>
            <a:ext cx="109728" cy="621792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1938528" y="3767328"/>
            <a:ext cx="5330952" cy="804672"/>
          </a:xfrm>
          <a:prstGeom prst="line">
            <a:avLst/>
          </a:prstGeom>
          <a:ln w="1270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11880" y="1572768"/>
            <a:ext cx="2057400" cy="205740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49040" y="1783080"/>
            <a:ext cx="1783080" cy="29260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300" b="1">
                <a:solidFill>
                  <a:srgbClr val="F4511E"/>
                </a:solidFill>
                <a:latin typeface="Times New Roman"/>
              </a:rPr>
              <a:t>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148840"/>
            <a:ext cx="178308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53657D"/>
                </a:solidFill>
                <a:latin typeface="Times New Roman"/>
              </a:rPr>
              <a:t>timestamps / IDs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05072" y="2953512"/>
            <a:ext cx="109728" cy="201168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06240" y="2825496"/>
            <a:ext cx="109728" cy="32918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07408" y="2898648"/>
            <a:ext cx="109728" cy="256032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08576" y="2642616"/>
            <a:ext cx="109728" cy="5120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09744" y="2752344"/>
            <a:ext cx="109728" cy="402336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10912" y="2532888"/>
            <a:ext cx="109728" cy="621792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4636008" y="3767328"/>
            <a:ext cx="2633472" cy="804672"/>
          </a:xfrm>
          <a:prstGeom prst="line">
            <a:avLst/>
          </a:prstGeom>
          <a:ln w="1270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09360" y="1572768"/>
            <a:ext cx="2057400" cy="205740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1783080"/>
            <a:ext cx="1783080" cy="29260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300" b="1">
                <a:solidFill>
                  <a:srgbClr val="F4511E"/>
                </a:solidFill>
                <a:latin typeface="Times New Roman"/>
              </a:rPr>
              <a:t>ranking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148840"/>
            <a:ext cx="178308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53657D"/>
                </a:solidFill>
                <a:latin typeface="Times New Roman"/>
              </a:rPr>
              <a:t>top-k scores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02552" y="2953512"/>
            <a:ext cx="109728" cy="201168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903720" y="2825496"/>
            <a:ext cx="109728" cy="32918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104888" y="2898648"/>
            <a:ext cx="109728" cy="256032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306056" y="2642616"/>
            <a:ext cx="109728" cy="5120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507224" y="2752344"/>
            <a:ext cx="109728" cy="402336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708392" y="2532888"/>
            <a:ext cx="109728" cy="621792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 flipH="1">
            <a:off x="7269480" y="3767328"/>
            <a:ext cx="64008" cy="804672"/>
          </a:xfrm>
          <a:prstGeom prst="line">
            <a:avLst/>
          </a:prstGeom>
          <a:ln w="1270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006840" y="1572768"/>
            <a:ext cx="2057400" cy="205740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0" y="1783080"/>
            <a:ext cx="1783080" cy="29260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300" b="1">
                <a:solidFill>
                  <a:srgbClr val="F4511E"/>
                </a:solidFill>
                <a:latin typeface="Times New Roman"/>
              </a:rPr>
              <a:t>finance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148840"/>
            <a:ext cx="178308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53657D"/>
                </a:solidFill>
                <a:latin typeface="Times New Roman"/>
              </a:rPr>
              <a:t>rolling windows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00032" y="2953512"/>
            <a:ext cx="109728" cy="201168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601200" y="2825496"/>
            <a:ext cx="109728" cy="32918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802368" y="2898648"/>
            <a:ext cx="109728" cy="256032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0003536" y="2642616"/>
            <a:ext cx="109728" cy="5120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204704" y="2752344"/>
            <a:ext cx="109728" cy="402336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405872" y="2532888"/>
            <a:ext cx="109728" cy="621792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46"/>
          <p:cNvCxnSpPr/>
          <p:nvPr/>
        </p:nvCxnSpPr>
        <p:spPr>
          <a:xfrm flipH="1">
            <a:off x="7269480" y="3767328"/>
            <a:ext cx="2761488" cy="804672"/>
          </a:xfrm>
          <a:prstGeom prst="line">
            <a:avLst/>
          </a:prstGeom>
          <a:ln w="1270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1704320" y="1572768"/>
            <a:ext cx="2057400" cy="205740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841480" y="1783080"/>
            <a:ext cx="1783080" cy="29260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300" b="1">
                <a:solidFill>
                  <a:srgbClr val="F4511E"/>
                </a:solidFill>
                <a:latin typeface="Times New Roman"/>
              </a:rPr>
              <a:t>telemetry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41480" y="2148840"/>
            <a:ext cx="178308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53657D"/>
                </a:solidFill>
                <a:latin typeface="Times New Roman"/>
              </a:rPr>
              <a:t>sensor traces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097512" y="2953512"/>
            <a:ext cx="109728" cy="201168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2298680" y="2825496"/>
            <a:ext cx="109728" cy="32918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2499848" y="2898648"/>
            <a:ext cx="109728" cy="256032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2701016" y="2642616"/>
            <a:ext cx="109728" cy="5120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2902184" y="2752344"/>
            <a:ext cx="109728" cy="402336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3103352" y="2532888"/>
            <a:ext cx="109728" cy="621792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7" name="Connector 56"/>
          <p:cNvCxnSpPr/>
          <p:nvPr/>
        </p:nvCxnSpPr>
        <p:spPr>
          <a:xfrm flipH="1">
            <a:off x="7269480" y="3767328"/>
            <a:ext cx="5458968" cy="804672"/>
          </a:xfrm>
          <a:prstGeom prst="line">
            <a:avLst/>
          </a:prstGeom>
          <a:ln w="1270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572000" y="4251960"/>
            <a:ext cx="5486400" cy="868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709160" y="4407408"/>
            <a:ext cx="5212080" cy="32004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600" b="1">
                <a:solidFill>
                  <a:srgbClr val="1C1C1C"/>
                </a:solidFill>
                <a:latin typeface="Times New Roman"/>
              </a:rPr>
              <a:t>same operation, different input structure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9160" y="4736592"/>
            <a:ext cx="5212080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000" b="0">
                <a:solidFill>
                  <a:srgbClr val="53657D"/>
                </a:solidFill>
                <a:latin typeface="Times New Roman"/>
              </a:rPr>
              <a:t>choose before sorting is executed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743200" y="5715000"/>
            <a:ext cx="2377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788920" y="5870448"/>
            <a:ext cx="228600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400" b="1">
                <a:solidFill>
                  <a:srgbClr val="8F1D3A"/>
                </a:solidFill>
                <a:latin typeface="Times New Roman"/>
              </a:rPr>
              <a:t>Introsort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89320" y="5715000"/>
            <a:ext cx="2377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36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035040" y="5870448"/>
            <a:ext cx="228600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400" b="1">
                <a:solidFill>
                  <a:srgbClr val="53657D"/>
                </a:solidFill>
                <a:latin typeface="Times New Roman"/>
              </a:rPr>
              <a:t>Heapsort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235440" y="5715000"/>
            <a:ext cx="2377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81159" y="5870448"/>
            <a:ext cx="228600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400" b="1">
                <a:solidFill>
                  <a:srgbClr val="F4511E"/>
                </a:solidFill>
                <a:latin typeface="Times New Roman"/>
              </a:rPr>
              <a:t>Timsort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op-maroon">
            <a:extLst>
              <a:ext uri="{FF2B5EF4-FFF2-40B4-BE49-F238E27FC236}">
                <a16:creationId xmlns:a16="http://schemas.microsoft.com/office/drawing/2014/main" id="{DF559F26-92CC-4111-9715-73FC441E37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758F38A8-2ECE-420B-9D5E-A444B4A2EC66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D7023848-5B53-4609-AFB6-AE115F55314D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7EF33A5-C015-4F34-BA5F-1573DC651992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Research Objective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5230C8FA-D5A1-4966-A878-0E19F2BFCFB9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2AB28ADC-59FC-471C-A50E-7D578A5DB904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3/34</a:t>
            </a:r>
          </a:p>
        </p:txBody>
      </p:sp>
      <p:sp>
        <p:nvSpPr>
          <p:cNvPr id="7" name="formula-band">
            <a:extLst>
              <a:ext uri="{FF2B5EF4-FFF2-40B4-BE49-F238E27FC236}">
                <a16:creationId xmlns:a16="http://schemas.microsoft.com/office/drawing/2014/main" id="{C4E77197-AC0F-4F2B-B216-9653374F63BD}"/>
              </a:ext>
            </a:extLst>
          </p:cNvPr>
          <p:cNvSpPr>
            <a:spLocks noGrp="1"/>
          </p:cNvSpPr>
          <p:nvPr/>
        </p:nvSpPr>
        <p:spPr>
          <a:xfrm>
            <a:off x="1333500" y="1466850"/>
            <a:ext cx="11963400" cy="647700"/>
          </a:xfrm>
          <a:prstGeom prst="roundRect">
            <a:avLst>
              <a:gd name="adj" fmla="val 8824"/>
            </a:avLst>
          </a:prstGeom>
          <a:solidFill>
            <a:srgbClr val="FBFCFE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objective-formula">
            <a:extLst>
              <a:ext uri="{FF2B5EF4-FFF2-40B4-BE49-F238E27FC236}">
                <a16:creationId xmlns:a16="http://schemas.microsoft.com/office/drawing/2014/main" id="{CA40A131-1488-46DE-B537-1561738071DF}"/>
              </a:ext>
            </a:extLst>
          </p:cNvPr>
          <p:cNvSpPr>
            <a:spLocks noGrp="1"/>
          </p:cNvSpPr>
          <p:nvPr/>
        </p:nvSpPr>
        <p:spPr>
          <a:xfrm>
            <a:off x="1666875" y="1628775"/>
            <a:ext cx="11315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S : f(x) → A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    reduce expected regret with respect to the oracle</a:t>
            </a:r>
          </a:p>
        </p:txBody>
      </p:sp>
      <p:sp>
        <p:nvSpPr>
          <p:cNvPr id="9" name="proof-n-0">
            <a:extLst>
              <a:ext uri="{FF2B5EF4-FFF2-40B4-BE49-F238E27FC236}">
                <a16:creationId xmlns:a16="http://schemas.microsoft.com/office/drawing/2014/main" id="{A5BCEF99-B07A-45CD-ADBD-DDD18F58CB58}"/>
              </a:ext>
            </a:extLst>
          </p:cNvPr>
          <p:cNvSpPr>
            <a:spLocks noGrp="1"/>
          </p:cNvSpPr>
          <p:nvPr/>
        </p:nvSpPr>
        <p:spPr>
          <a:xfrm>
            <a:off x="1352550" y="271462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0" name="proof-row-0">
            <a:extLst>
              <a:ext uri="{FF2B5EF4-FFF2-40B4-BE49-F238E27FC236}">
                <a16:creationId xmlns:a16="http://schemas.microsoft.com/office/drawing/2014/main" id="{AD82DD05-CE68-4489-8294-BDEC782484D8}"/>
              </a:ext>
            </a:extLst>
          </p:cNvPr>
          <p:cNvSpPr>
            <a:spLocks noGrp="1"/>
          </p:cNvSpPr>
          <p:nvPr/>
        </p:nvSpPr>
        <p:spPr>
          <a:xfrm>
            <a:off x="2095500" y="2695575"/>
            <a:ext cx="11410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Compact structural features: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informative for algorithm selection and inexpensive to extract</a:t>
            </a:r>
          </a:p>
        </p:txBody>
      </p:sp>
      <p:sp>
        <p:nvSpPr>
          <p:cNvPr id="11" name="proof-row-line-0">
            <a:extLst>
              <a:ext uri="{FF2B5EF4-FFF2-40B4-BE49-F238E27FC236}">
                <a16:creationId xmlns:a16="http://schemas.microsoft.com/office/drawing/2014/main" id="{E053ABB2-3E8E-4265-89D9-024E4E9F1F2E}"/>
              </a:ext>
            </a:extLst>
          </p:cNvPr>
          <p:cNvSpPr>
            <a:spLocks noGrp="1"/>
          </p:cNvSpPr>
          <p:nvPr/>
        </p:nvSpPr>
        <p:spPr>
          <a:xfrm>
            <a:off x="2095500" y="3495675"/>
            <a:ext cx="11334750" cy="0"/>
          </a:xfrm>
          <a:prstGeom prst="line">
            <a:avLst/>
          </a:prstGeom>
          <a:noFill/>
          <a:ln w="1238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proof-n-1">
            <a:extLst>
              <a:ext uri="{FF2B5EF4-FFF2-40B4-BE49-F238E27FC236}">
                <a16:creationId xmlns:a16="http://schemas.microsoft.com/office/drawing/2014/main" id="{91A3EC64-57E1-4C74-B3D4-15816C4B3489}"/>
              </a:ext>
            </a:extLst>
          </p:cNvPr>
          <p:cNvSpPr>
            <a:spLocks noGrp="1"/>
          </p:cNvSpPr>
          <p:nvPr/>
        </p:nvSpPr>
        <p:spPr>
          <a:xfrm>
            <a:off x="1352550" y="362902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3" name="proof-row-1">
            <a:extLst>
              <a:ext uri="{FF2B5EF4-FFF2-40B4-BE49-F238E27FC236}">
                <a16:creationId xmlns:a16="http://schemas.microsoft.com/office/drawing/2014/main" id="{046376E9-3016-4EA5-9F70-9EA4AB09D29B}"/>
              </a:ext>
            </a:extLst>
          </p:cNvPr>
          <p:cNvSpPr>
            <a:spLocks noGrp="1"/>
          </p:cNvSpPr>
          <p:nvPr/>
        </p:nvSpPr>
        <p:spPr>
          <a:xfrm>
            <a:off x="2095500" y="3609975"/>
            <a:ext cx="11410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Offline XGBoost model: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train and evaluate per-instance algorithm selection</a:t>
            </a:r>
          </a:p>
        </p:txBody>
      </p:sp>
      <p:sp>
        <p:nvSpPr>
          <p:cNvPr id="14" name="proof-row-line-1">
            <a:extLst>
              <a:ext uri="{FF2B5EF4-FFF2-40B4-BE49-F238E27FC236}">
                <a16:creationId xmlns:a16="http://schemas.microsoft.com/office/drawing/2014/main" id="{FA703DCF-CCC8-45B2-96F8-1B9D7BE904C1}"/>
              </a:ext>
            </a:extLst>
          </p:cNvPr>
          <p:cNvSpPr>
            <a:spLocks noGrp="1"/>
          </p:cNvSpPr>
          <p:nvPr/>
        </p:nvSpPr>
        <p:spPr>
          <a:xfrm>
            <a:off x="2095500" y="4410075"/>
            <a:ext cx="11334750" cy="0"/>
          </a:xfrm>
          <a:prstGeom prst="line">
            <a:avLst/>
          </a:prstGeom>
          <a:noFill/>
          <a:ln w="1238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proof-n-2">
            <a:extLst>
              <a:ext uri="{FF2B5EF4-FFF2-40B4-BE49-F238E27FC236}">
                <a16:creationId xmlns:a16="http://schemas.microsoft.com/office/drawing/2014/main" id="{5172EEF6-C3E7-4C4E-B94F-320CDD809C9B}"/>
              </a:ext>
            </a:extLst>
          </p:cNvPr>
          <p:cNvSpPr>
            <a:spLocks noGrp="1"/>
          </p:cNvSpPr>
          <p:nvPr/>
        </p:nvSpPr>
        <p:spPr>
          <a:xfrm>
            <a:off x="1352550" y="454342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6" name="proof-row-2">
            <a:extLst>
              <a:ext uri="{FF2B5EF4-FFF2-40B4-BE49-F238E27FC236}">
                <a16:creationId xmlns:a16="http://schemas.microsoft.com/office/drawing/2014/main" id="{921F7108-DEB3-4746-97DD-F4148F4E1428}"/>
              </a:ext>
            </a:extLst>
          </p:cNvPr>
          <p:cNvSpPr>
            <a:spLocks noGrp="1"/>
          </p:cNvSpPr>
          <p:nvPr/>
        </p:nvSpPr>
        <p:spPr>
          <a:xfrm>
            <a:off x="2095500" y="4524375"/>
            <a:ext cx="11410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Leakage-resistant evaluation: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valid selection-under-ignorance protocol</a:t>
            </a:r>
          </a:p>
        </p:txBody>
      </p:sp>
      <p:sp>
        <p:nvSpPr>
          <p:cNvPr id="17" name="proof-row-line-2">
            <a:extLst>
              <a:ext uri="{FF2B5EF4-FFF2-40B4-BE49-F238E27FC236}">
                <a16:creationId xmlns:a16="http://schemas.microsoft.com/office/drawing/2014/main" id="{286C0E25-DE60-436E-A56C-19E7120D4B0B}"/>
              </a:ext>
            </a:extLst>
          </p:cNvPr>
          <p:cNvSpPr>
            <a:spLocks noGrp="1"/>
          </p:cNvSpPr>
          <p:nvPr/>
        </p:nvSpPr>
        <p:spPr>
          <a:xfrm>
            <a:off x="2095500" y="5324475"/>
            <a:ext cx="11334750" cy="0"/>
          </a:xfrm>
          <a:prstGeom prst="line">
            <a:avLst/>
          </a:prstGeom>
          <a:noFill/>
          <a:ln w="1238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proof-n-3">
            <a:extLst>
              <a:ext uri="{FF2B5EF4-FFF2-40B4-BE49-F238E27FC236}">
                <a16:creationId xmlns:a16="http://schemas.microsoft.com/office/drawing/2014/main" id="{D99E5460-468A-4E53-917C-C540E0C24F29}"/>
              </a:ext>
            </a:extLst>
          </p:cNvPr>
          <p:cNvSpPr>
            <a:spLocks noGrp="1"/>
          </p:cNvSpPr>
          <p:nvPr/>
        </p:nvSpPr>
        <p:spPr>
          <a:xfrm>
            <a:off x="1352550" y="545782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9" name="proof-row-3">
            <a:extLst>
              <a:ext uri="{FF2B5EF4-FFF2-40B4-BE49-F238E27FC236}">
                <a16:creationId xmlns:a16="http://schemas.microsoft.com/office/drawing/2014/main" id="{DC31009F-0C22-4CB8-B369-198462573315}"/>
              </a:ext>
            </a:extLst>
          </p:cNvPr>
          <p:cNvSpPr>
            <a:spLocks noGrp="1"/>
          </p:cNvSpPr>
          <p:nvPr/>
        </p:nvSpPr>
        <p:spPr>
          <a:xfrm>
            <a:off x="2095500" y="5438775"/>
            <a:ext cx="11410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Reproducible Python library: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package the complete method for deployment and further research</a:t>
            </a:r>
          </a:p>
        </p:txBody>
      </p:sp>
      <p:sp>
        <p:nvSpPr>
          <p:cNvPr id="20" name="proof-row-line-3">
            <a:extLst>
              <a:ext uri="{FF2B5EF4-FFF2-40B4-BE49-F238E27FC236}">
                <a16:creationId xmlns:a16="http://schemas.microsoft.com/office/drawing/2014/main" id="{871836D2-CEE7-4F93-9328-9BA923F8CD4B}"/>
              </a:ext>
            </a:extLst>
          </p:cNvPr>
          <p:cNvSpPr>
            <a:spLocks noGrp="1"/>
          </p:cNvSpPr>
          <p:nvPr/>
        </p:nvSpPr>
        <p:spPr>
          <a:xfrm>
            <a:off x="2095500" y="6238875"/>
            <a:ext cx="11334750" cy="0"/>
          </a:xfrm>
          <a:prstGeom prst="line">
            <a:avLst/>
          </a:prstGeom>
          <a:noFill/>
          <a:ln w="1238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518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op-maroon">
            <a:extLst>
              <a:ext uri="{FF2B5EF4-FFF2-40B4-BE49-F238E27FC236}">
                <a16:creationId xmlns:a16="http://schemas.microsoft.com/office/drawing/2014/main" id="{F92A1611-DB85-40A9-B4E0-E14B2469AB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447C542D-A240-40EA-BD4A-A197283AA67A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ED60F375-A8F9-4E87-8CA0-E0FF7EE4A345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09B615BB-A106-4604-91D2-85EFED894A46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Prediction is made before any candidate algorithm is executed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4963FCDE-9899-49DF-93B1-58C86869B9BB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1AAFA8BA-121F-4BA6-9410-EFF1604BC43A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4/34</a:t>
            </a:r>
          </a:p>
        </p:txBody>
      </p:sp>
      <p:sp>
        <p:nvSpPr>
          <p:cNvPr id="7" name="allowed">
            <a:extLst>
              <a:ext uri="{FF2B5EF4-FFF2-40B4-BE49-F238E27FC236}">
                <a16:creationId xmlns:a16="http://schemas.microsoft.com/office/drawing/2014/main" id="{9F713F5F-AA6F-4CEB-A7E2-F6FD3DC3FC50}"/>
              </a:ext>
            </a:extLst>
          </p:cNvPr>
          <p:cNvSpPr>
            <a:spLocks noGrp="1"/>
          </p:cNvSpPr>
          <p:nvPr/>
        </p:nvSpPr>
        <p:spPr>
          <a:xfrm>
            <a:off x="1524000" y="1666875"/>
            <a:ext cx="4762500" cy="2524125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allowed-title">
            <a:extLst>
              <a:ext uri="{FF2B5EF4-FFF2-40B4-BE49-F238E27FC236}">
                <a16:creationId xmlns:a16="http://schemas.microsoft.com/office/drawing/2014/main" id="{9DA83F87-35EB-479F-99FD-CB7351590269}"/>
              </a:ext>
            </a:extLst>
          </p:cNvPr>
          <p:cNvSpPr>
            <a:spLocks noGrp="1"/>
          </p:cNvSpPr>
          <p:nvPr/>
        </p:nvSpPr>
        <p:spPr>
          <a:xfrm>
            <a:off x="1695450" y="181927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Allowed before sorting</a:t>
            </a:r>
          </a:p>
        </p:txBody>
      </p:sp>
      <p:sp>
        <p:nvSpPr>
          <p:cNvPr id="9" name="allowed-body">
            <a:extLst>
              <a:ext uri="{FF2B5EF4-FFF2-40B4-BE49-F238E27FC236}">
                <a16:creationId xmlns:a16="http://schemas.microsoft.com/office/drawing/2014/main" id="{303139C0-E7B9-4B82-A2C8-37332A5E349C}"/>
              </a:ext>
            </a:extLst>
          </p:cNvPr>
          <p:cNvSpPr>
            <a:spLocks noGrp="1"/>
          </p:cNvSpPr>
          <p:nvPr/>
        </p:nvSpPr>
        <p:spPr>
          <a:xfrm>
            <a:off x="1695450" y="2143125"/>
            <a:ext cx="4419600" cy="1914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Extract O(n) features</a:t>
            </a:r>
          </a:p>
          <a:p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Measure order, runs, repetition, distribution, robust scale</a:t>
            </a:r>
          </a:p>
          <a:p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Predict introsort, heapsort, or timsort</a:t>
            </a:r>
          </a:p>
        </p:txBody>
      </p:sp>
      <p:sp>
        <p:nvSpPr>
          <p:cNvPr id="10" name="blocked">
            <a:extLst>
              <a:ext uri="{FF2B5EF4-FFF2-40B4-BE49-F238E27FC236}">
                <a16:creationId xmlns:a16="http://schemas.microsoft.com/office/drawing/2014/main" id="{2E509A0D-7020-467A-B7BA-E6E8D6EB1B61}"/>
              </a:ext>
            </a:extLst>
          </p:cNvPr>
          <p:cNvSpPr>
            <a:spLocks noGrp="1"/>
          </p:cNvSpPr>
          <p:nvPr/>
        </p:nvSpPr>
        <p:spPr>
          <a:xfrm>
            <a:off x="8143875" y="1666875"/>
            <a:ext cx="4762500" cy="2524125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blocked-title">
            <a:extLst>
              <a:ext uri="{FF2B5EF4-FFF2-40B4-BE49-F238E27FC236}">
                <a16:creationId xmlns:a16="http://schemas.microsoft.com/office/drawing/2014/main" id="{13D9D575-7B5E-4AAE-9748-8AD4FEF168FF}"/>
              </a:ext>
            </a:extLst>
          </p:cNvPr>
          <p:cNvSpPr>
            <a:spLocks noGrp="1"/>
          </p:cNvSpPr>
          <p:nvPr/>
        </p:nvSpPr>
        <p:spPr>
          <a:xfrm>
            <a:off x="8315325" y="181927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 allowed at prediction time</a:t>
            </a:r>
          </a:p>
        </p:txBody>
      </p:sp>
      <p:sp>
        <p:nvSpPr>
          <p:cNvPr id="12" name="blocked-body">
            <a:extLst>
              <a:ext uri="{FF2B5EF4-FFF2-40B4-BE49-F238E27FC236}">
                <a16:creationId xmlns:a16="http://schemas.microsoft.com/office/drawing/2014/main" id="{61FE3ACD-697D-411D-9DDA-3939BD7CDD57}"/>
              </a:ext>
            </a:extLst>
          </p:cNvPr>
          <p:cNvSpPr>
            <a:spLocks noGrp="1"/>
          </p:cNvSpPr>
          <p:nvPr/>
        </p:nvSpPr>
        <p:spPr>
          <a:xfrm>
            <a:off x="8315325" y="2143125"/>
            <a:ext cx="4419600" cy="1914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Sort with introsort</a:t>
            </a:r>
          </a:p>
          <a:p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Sort with heapsort</a:t>
            </a:r>
          </a:p>
          <a:p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Sort with timsort</a:t>
            </a:r>
          </a:p>
          <a:p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Pick after seeing all times</a:t>
            </a:r>
          </a:p>
        </p:txBody>
      </p:sp>
      <p:sp>
        <p:nvSpPr>
          <p:cNvPr id="13" name="allowed-arrow-from">
            <a:extLst>
              <a:ext uri="{FF2B5EF4-FFF2-40B4-BE49-F238E27FC236}">
                <a16:creationId xmlns:a16="http://schemas.microsoft.com/office/drawing/2014/main" id="{2F0069AC-BB0B-4540-9E5D-8D16864A80B3}"/>
              </a:ext>
            </a:extLst>
          </p:cNvPr>
          <p:cNvSpPr>
            <a:spLocks noGrp="1"/>
          </p:cNvSpPr>
          <p:nvPr/>
        </p:nvSpPr>
        <p:spPr>
          <a:xfrm>
            <a:off x="7905750" y="293370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llowed-arrow-to">
            <a:extLst>
              <a:ext uri="{FF2B5EF4-FFF2-40B4-BE49-F238E27FC236}">
                <a16:creationId xmlns:a16="http://schemas.microsoft.com/office/drawing/2014/main" id="{C1299B67-7391-4CC4-96D0-999DA0811790}"/>
              </a:ext>
            </a:extLst>
          </p:cNvPr>
          <p:cNvSpPr>
            <a:spLocks noGrp="1"/>
          </p:cNvSpPr>
          <p:nvPr/>
        </p:nvSpPr>
        <p:spPr>
          <a:xfrm>
            <a:off x="6524625" y="293370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31" name="allowed-arrow"/>
          <p:cNvCxnSpPr>
            <a:stCxn id="13" idx="1"/>
            <a:endCxn id="14" idx="3"/>
          </p:cNvCxnSpPr>
          <p:nvPr/>
        </p:nvCxnSpPr>
        <p:spPr>
          <a:xfrm flipH="1">
            <a:off x="6543675" y="2943225"/>
            <a:ext cx="1362075" cy="0"/>
          </a:xfrm>
          <a:prstGeom prst="straightConnector1">
            <a:avLst/>
          </a:prstGeom>
          <a:ln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6" name="oracle">
            <a:extLst>
              <a:ext uri="{FF2B5EF4-FFF2-40B4-BE49-F238E27FC236}">
                <a16:creationId xmlns:a16="http://schemas.microsoft.com/office/drawing/2014/main" id="{33298FC3-FB1D-4F6B-B03F-0F3013C75B86}"/>
              </a:ext>
            </a:extLst>
          </p:cNvPr>
          <p:cNvSpPr>
            <a:spLocks noGrp="1"/>
          </p:cNvSpPr>
          <p:nvPr/>
        </p:nvSpPr>
        <p:spPr>
          <a:xfrm>
            <a:off x="2571750" y="5286375"/>
            <a:ext cx="948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oracle is used only for evaluation; it is not available at run time.</a:t>
            </a:r>
          </a:p>
        </p:txBody>
      </p:sp>
    </p:spTree>
    <p:extLst>
      <p:ext uri="{BB962C8B-B14F-4D97-AF65-F5344CB8AC3E}">
        <p14:creationId xmlns:p14="http://schemas.microsoft.com/office/powerpoint/2010/main" val="102261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op-maroon">
            <a:extLst>
              <a:ext uri="{FF2B5EF4-FFF2-40B4-BE49-F238E27FC236}">
                <a16:creationId xmlns:a16="http://schemas.microsoft.com/office/drawing/2014/main" id="{B43181D9-5793-4534-A543-7D092A24B4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E9979BAD-F822-4193-A75E-272900387A77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00706E09-962C-4C19-B71F-DDDB69D1D212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FAF74604-104B-4486-A670-7D045255FEE2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Algorithm Selection Problem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72313B9E-6E68-48BD-8EE6-6C67EFCDED22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20252625-4325-4240-99FF-513DA8CD4B0D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5/34</a:t>
            </a:r>
          </a:p>
        </p:txBody>
      </p:sp>
      <p:sp>
        <p:nvSpPr>
          <p:cNvPr id="7" name="problem">
            <a:extLst>
              <a:ext uri="{FF2B5EF4-FFF2-40B4-BE49-F238E27FC236}">
                <a16:creationId xmlns:a16="http://schemas.microsoft.com/office/drawing/2014/main" id="{1C48C555-33E3-45CA-97B6-68B93E4AACD0}"/>
              </a:ext>
            </a:extLst>
          </p:cNvPr>
          <p:cNvSpPr>
            <a:spLocks noGrp="1"/>
          </p:cNvSpPr>
          <p:nvPr/>
        </p:nvSpPr>
        <p:spPr>
          <a:xfrm>
            <a:off x="857250" y="1504950"/>
            <a:ext cx="2571750" cy="29527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problem-title">
            <a:extLst>
              <a:ext uri="{FF2B5EF4-FFF2-40B4-BE49-F238E27FC236}">
                <a16:creationId xmlns:a16="http://schemas.microsoft.com/office/drawing/2014/main" id="{B4B34737-4643-45E5-AA90-D575397DDFD2}"/>
              </a:ext>
            </a:extLst>
          </p:cNvPr>
          <p:cNvSpPr>
            <a:spLocks noGrp="1"/>
          </p:cNvSpPr>
          <p:nvPr/>
        </p:nvSpPr>
        <p:spPr>
          <a:xfrm>
            <a:off x="1028700" y="1657350"/>
            <a:ext cx="2228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Problem space P</a:t>
            </a:r>
          </a:p>
        </p:txBody>
      </p:sp>
      <p:sp>
        <p:nvSpPr>
          <p:cNvPr id="9" name="problem-body">
            <a:extLst>
              <a:ext uri="{FF2B5EF4-FFF2-40B4-BE49-F238E27FC236}">
                <a16:creationId xmlns:a16="http://schemas.microsoft.com/office/drawing/2014/main" id="{8455EFA6-108C-4E32-82E6-349767C5AA01}"/>
              </a:ext>
            </a:extLst>
          </p:cNvPr>
          <p:cNvSpPr>
            <a:spLocks noGrp="1"/>
          </p:cNvSpPr>
          <p:nvPr/>
        </p:nvSpPr>
        <p:spPr>
          <a:xfrm>
            <a:off x="1028700" y="1981200"/>
            <a:ext cx="222885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18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one numeric array</a:t>
            </a:r>
          </a:p>
          <a:p>
            <a:endParaRPr sz="1800">
              <a:solidFill>
                <a:srgbClr val="5C6A7F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05000"/>
              </a:lnSpc>
              <a:buNone/>
              <a:defRPr sz="18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[4, 5, 5, 6, 17, 18,</a:t>
            </a:r>
          </a:p>
          <a:p>
            <a:pPr algn="ctr">
              <a:lnSpc>
                <a:spcPct val="105000"/>
              </a:lnSpc>
              <a:buNone/>
              <a:defRPr sz="18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19, 2, 2, 3, 31, 45]</a:t>
            </a:r>
          </a:p>
        </p:txBody>
      </p:sp>
      <p:sp>
        <p:nvSpPr>
          <p:cNvPr id="10" name="features">
            <a:extLst>
              <a:ext uri="{FF2B5EF4-FFF2-40B4-BE49-F238E27FC236}">
                <a16:creationId xmlns:a16="http://schemas.microsoft.com/office/drawing/2014/main" id="{6667A115-3DF2-4217-9FEA-6E651FDF3C60}"/>
              </a:ext>
            </a:extLst>
          </p:cNvPr>
          <p:cNvSpPr>
            <a:spLocks noGrp="1"/>
          </p:cNvSpPr>
          <p:nvPr/>
        </p:nvSpPr>
        <p:spPr>
          <a:xfrm>
            <a:off x="4095750" y="1504950"/>
            <a:ext cx="2571750" cy="29527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eatures-title">
            <a:extLst>
              <a:ext uri="{FF2B5EF4-FFF2-40B4-BE49-F238E27FC236}">
                <a16:creationId xmlns:a16="http://schemas.microsoft.com/office/drawing/2014/main" id="{150AC3B3-058C-44F7-9FB0-B1238D337BBE}"/>
              </a:ext>
            </a:extLst>
          </p:cNvPr>
          <p:cNvSpPr>
            <a:spLocks noGrp="1"/>
          </p:cNvSpPr>
          <p:nvPr/>
        </p:nvSpPr>
        <p:spPr>
          <a:xfrm>
            <a:off x="4267200" y="1657350"/>
            <a:ext cx="2228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Feature space F</a:t>
            </a:r>
          </a:p>
        </p:txBody>
      </p:sp>
      <p:sp>
        <p:nvSpPr>
          <p:cNvPr id="12" name="features-body">
            <a:extLst>
              <a:ext uri="{FF2B5EF4-FFF2-40B4-BE49-F238E27FC236}">
                <a16:creationId xmlns:a16="http://schemas.microsoft.com/office/drawing/2014/main" id="{404E3FFE-EF37-497F-B67D-2E0CB790E9E6}"/>
              </a:ext>
            </a:extLst>
          </p:cNvPr>
          <p:cNvSpPr>
            <a:spLocks noGrp="1"/>
          </p:cNvSpPr>
          <p:nvPr/>
        </p:nvSpPr>
        <p:spPr>
          <a:xfrm>
            <a:off x="4267200" y="1981200"/>
            <a:ext cx="222885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structural array features</a:t>
            </a:r>
          </a:p>
          <a:p>
            <a:endParaRPr sz="1650">
              <a:solidFill>
                <a:srgbClr val="5C6A7F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05000"/>
              </a:lnSpc>
              <a:buNone/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size</a:t>
            </a:r>
          </a:p>
          <a:p>
            <a:pPr algn="ctr">
              <a:lnSpc>
                <a:spcPct val="105000"/>
              </a:lnSpc>
              <a:buNone/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sortedness / disorder</a:t>
            </a:r>
          </a:p>
          <a:p>
            <a:pPr algn="ctr">
              <a:lnSpc>
                <a:spcPct val="105000"/>
              </a:lnSpc>
              <a:buNone/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runs</a:t>
            </a:r>
          </a:p>
          <a:p>
            <a:pPr algn="ctr">
              <a:lnSpc>
                <a:spcPct val="105000"/>
              </a:lnSpc>
              <a:buNone/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duplicates / entropy</a:t>
            </a:r>
          </a:p>
        </p:txBody>
      </p:sp>
      <p:sp>
        <p:nvSpPr>
          <p:cNvPr id="13" name="selector">
            <a:extLst>
              <a:ext uri="{FF2B5EF4-FFF2-40B4-BE49-F238E27FC236}">
                <a16:creationId xmlns:a16="http://schemas.microsoft.com/office/drawing/2014/main" id="{2848C68C-4B7D-408A-B741-74D3AA2E8050}"/>
              </a:ext>
            </a:extLst>
          </p:cNvPr>
          <p:cNvSpPr>
            <a:spLocks noGrp="1"/>
          </p:cNvSpPr>
          <p:nvPr/>
        </p:nvSpPr>
        <p:spPr>
          <a:xfrm>
            <a:off x="7334250" y="1695450"/>
            <a:ext cx="2286000" cy="2667000"/>
          </a:xfrm>
          <a:prstGeom prst="roundRect">
            <a:avLst>
              <a:gd name="adj" fmla="val 2500"/>
            </a:avLst>
          </a:prstGeom>
          <a:solidFill>
            <a:srgbClr val="17171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elector-title">
            <a:extLst>
              <a:ext uri="{FF2B5EF4-FFF2-40B4-BE49-F238E27FC236}">
                <a16:creationId xmlns:a16="http://schemas.microsoft.com/office/drawing/2014/main" id="{CB023CBB-48C9-4C02-8B5D-895838986287}"/>
              </a:ext>
            </a:extLst>
          </p:cNvPr>
          <p:cNvSpPr>
            <a:spLocks noGrp="1"/>
          </p:cNvSpPr>
          <p:nvPr/>
        </p:nvSpPr>
        <p:spPr>
          <a:xfrm>
            <a:off x="7667625" y="196215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Selector</a:t>
            </a:r>
          </a:p>
        </p:txBody>
      </p:sp>
      <p:sp>
        <p:nvSpPr>
          <p:cNvPr id="15" name="selector-map">
            <a:extLst>
              <a:ext uri="{FF2B5EF4-FFF2-40B4-BE49-F238E27FC236}">
                <a16:creationId xmlns:a16="http://schemas.microsoft.com/office/drawing/2014/main" id="{B1DFB0E5-24DA-4053-A466-F8487C8CE55C}"/>
              </a:ext>
            </a:extLst>
          </p:cNvPr>
          <p:cNvSpPr>
            <a:spLocks noGrp="1"/>
          </p:cNvSpPr>
          <p:nvPr/>
        </p:nvSpPr>
        <p:spPr>
          <a:xfrm>
            <a:off x="7715250" y="25336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S : F → A</a:t>
            </a:r>
          </a:p>
        </p:txBody>
      </p:sp>
      <p:sp>
        <p:nvSpPr>
          <p:cNvPr id="16" name="selector-rule">
            <a:extLst>
              <a:ext uri="{FF2B5EF4-FFF2-40B4-BE49-F238E27FC236}">
                <a16:creationId xmlns:a16="http://schemas.microsoft.com/office/drawing/2014/main" id="{98A669BD-EDA2-4FFD-AB1C-517BB01F91D3}"/>
              </a:ext>
            </a:extLst>
          </p:cNvPr>
          <p:cNvSpPr>
            <a:spLocks noGrp="1"/>
          </p:cNvSpPr>
          <p:nvPr/>
        </p:nvSpPr>
        <p:spPr>
          <a:xfrm>
            <a:off x="7715250" y="2971800"/>
            <a:ext cx="152400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elector-model">
            <a:extLst>
              <a:ext uri="{FF2B5EF4-FFF2-40B4-BE49-F238E27FC236}">
                <a16:creationId xmlns:a16="http://schemas.microsoft.com/office/drawing/2014/main" id="{EC147B65-4397-4ED3-8278-4FC6CE5D1FFE}"/>
              </a:ext>
            </a:extLst>
          </p:cNvPr>
          <p:cNvSpPr>
            <a:spLocks noGrp="1"/>
          </p:cNvSpPr>
          <p:nvPr/>
        </p:nvSpPr>
        <p:spPr>
          <a:xfrm>
            <a:off x="7581900" y="3124200"/>
            <a:ext cx="17907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XGBoost classifier</a:t>
            </a:r>
          </a:p>
          <a:p>
            <a:pPr algn="ctr">
              <a:def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predicts fastest</a:t>
            </a:r>
          </a:p>
          <a:p>
            <a:pPr algn="ctr">
              <a:def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class</a:t>
            </a:r>
          </a:p>
        </p:txBody>
      </p:sp>
      <p:sp>
        <p:nvSpPr>
          <p:cNvPr id="18" name="algos">
            <a:extLst>
              <a:ext uri="{FF2B5EF4-FFF2-40B4-BE49-F238E27FC236}">
                <a16:creationId xmlns:a16="http://schemas.microsoft.com/office/drawing/2014/main" id="{1CD31C2E-B8B0-40B7-8762-14E462A8C30E}"/>
              </a:ext>
            </a:extLst>
          </p:cNvPr>
          <p:cNvSpPr>
            <a:spLocks noGrp="1"/>
          </p:cNvSpPr>
          <p:nvPr/>
        </p:nvSpPr>
        <p:spPr>
          <a:xfrm>
            <a:off x="10287000" y="1504950"/>
            <a:ext cx="2571750" cy="29527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algos-title">
            <a:extLst>
              <a:ext uri="{FF2B5EF4-FFF2-40B4-BE49-F238E27FC236}">
                <a16:creationId xmlns:a16="http://schemas.microsoft.com/office/drawing/2014/main" id="{F5E7575D-E74D-4F4C-9BF9-1C48F9D2D055}"/>
              </a:ext>
            </a:extLst>
          </p:cNvPr>
          <p:cNvSpPr>
            <a:spLocks noGrp="1"/>
          </p:cNvSpPr>
          <p:nvPr/>
        </p:nvSpPr>
        <p:spPr>
          <a:xfrm>
            <a:off x="10458450" y="1657350"/>
            <a:ext cx="2228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Algorithm space A</a:t>
            </a:r>
          </a:p>
        </p:txBody>
      </p:sp>
      <p:sp>
        <p:nvSpPr>
          <p:cNvPr id="20" name="algos-body">
            <a:extLst>
              <a:ext uri="{FF2B5EF4-FFF2-40B4-BE49-F238E27FC236}">
                <a16:creationId xmlns:a16="http://schemas.microsoft.com/office/drawing/2014/main" id="{07E79567-8016-4EE6-840C-B216DF42EF35}"/>
              </a:ext>
            </a:extLst>
          </p:cNvPr>
          <p:cNvSpPr>
            <a:spLocks noGrp="1"/>
          </p:cNvSpPr>
          <p:nvPr/>
        </p:nvSpPr>
        <p:spPr>
          <a:xfrm>
            <a:off x="10458450" y="1981200"/>
            <a:ext cx="222885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21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Introsort</a:t>
            </a:r>
          </a:p>
          <a:p>
            <a:pPr algn="ctr">
              <a:lnSpc>
                <a:spcPct val="105000"/>
              </a:lnSpc>
              <a:buNone/>
              <a:defRPr sz="21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Heapsort</a:t>
            </a:r>
          </a:p>
          <a:p>
            <a:pPr algn="ctr">
              <a:lnSpc>
                <a:spcPct val="105000"/>
              </a:lnSpc>
              <a:buNone/>
              <a:defRPr sz="21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Timsort</a:t>
            </a:r>
          </a:p>
        </p:txBody>
      </p:sp>
      <p:sp>
        <p:nvSpPr>
          <p:cNvPr id="21" name="p-f-from">
            <a:extLst>
              <a:ext uri="{FF2B5EF4-FFF2-40B4-BE49-F238E27FC236}">
                <a16:creationId xmlns:a16="http://schemas.microsoft.com/office/drawing/2014/main" id="{08F8EC64-D5E4-441A-88F3-D6B61B0F38EF}"/>
              </a:ext>
            </a:extLst>
          </p:cNvPr>
          <p:cNvSpPr>
            <a:spLocks noGrp="1"/>
          </p:cNvSpPr>
          <p:nvPr/>
        </p:nvSpPr>
        <p:spPr>
          <a:xfrm>
            <a:off x="4000500" y="285750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p-f-to">
            <a:extLst>
              <a:ext uri="{FF2B5EF4-FFF2-40B4-BE49-F238E27FC236}">
                <a16:creationId xmlns:a16="http://schemas.microsoft.com/office/drawing/2014/main" id="{9F4AF2CE-E3F1-43F7-BE61-5E8C5F5023EE}"/>
              </a:ext>
            </a:extLst>
          </p:cNvPr>
          <p:cNvSpPr>
            <a:spLocks noGrp="1"/>
          </p:cNvSpPr>
          <p:nvPr/>
        </p:nvSpPr>
        <p:spPr>
          <a:xfrm>
            <a:off x="3524250" y="285750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54" name="p-f"/>
          <p:cNvCxnSpPr>
            <a:stCxn id="21" idx="1"/>
            <a:endCxn id="22" idx="3"/>
          </p:cNvCxnSpPr>
          <p:nvPr/>
        </p:nvCxnSpPr>
        <p:spPr>
          <a:xfrm flipH="1">
            <a:off x="3543300" y="2867025"/>
            <a:ext cx="457200" cy="0"/>
          </a:xfrm>
          <a:prstGeom prst="straightConnector1">
            <a:avLst/>
          </a:prstGeom>
          <a:ln w="3810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4" name="f-s-from">
            <a:extLst>
              <a:ext uri="{FF2B5EF4-FFF2-40B4-BE49-F238E27FC236}">
                <a16:creationId xmlns:a16="http://schemas.microsoft.com/office/drawing/2014/main" id="{91C45306-BB9D-477E-910B-1CA1DF46A448}"/>
              </a:ext>
            </a:extLst>
          </p:cNvPr>
          <p:cNvSpPr>
            <a:spLocks noGrp="1"/>
          </p:cNvSpPr>
          <p:nvPr/>
        </p:nvSpPr>
        <p:spPr>
          <a:xfrm>
            <a:off x="7239000" y="285750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f-s-to">
            <a:extLst>
              <a:ext uri="{FF2B5EF4-FFF2-40B4-BE49-F238E27FC236}">
                <a16:creationId xmlns:a16="http://schemas.microsoft.com/office/drawing/2014/main" id="{48BC377B-7B3E-4701-A1BF-F7377F438BB1}"/>
              </a:ext>
            </a:extLst>
          </p:cNvPr>
          <p:cNvSpPr>
            <a:spLocks noGrp="1"/>
          </p:cNvSpPr>
          <p:nvPr/>
        </p:nvSpPr>
        <p:spPr>
          <a:xfrm>
            <a:off x="6762750" y="285750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57" name="f-s"/>
          <p:cNvCxnSpPr>
            <a:stCxn id="24" idx="1"/>
            <a:endCxn id="25" idx="3"/>
          </p:cNvCxnSpPr>
          <p:nvPr/>
        </p:nvCxnSpPr>
        <p:spPr>
          <a:xfrm flipH="1">
            <a:off x="6781800" y="2867025"/>
            <a:ext cx="457200" cy="0"/>
          </a:xfrm>
          <a:prstGeom prst="straightConnector1">
            <a:avLst/>
          </a:prstGeom>
          <a:ln w="3810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7" name="s-a-from">
            <a:extLst>
              <a:ext uri="{FF2B5EF4-FFF2-40B4-BE49-F238E27FC236}">
                <a16:creationId xmlns:a16="http://schemas.microsoft.com/office/drawing/2014/main" id="{90EE60B4-A526-4A49-8612-D0B927DF5DCD}"/>
              </a:ext>
            </a:extLst>
          </p:cNvPr>
          <p:cNvSpPr>
            <a:spLocks noGrp="1"/>
          </p:cNvSpPr>
          <p:nvPr/>
        </p:nvSpPr>
        <p:spPr>
          <a:xfrm>
            <a:off x="10191750" y="285750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-a-to">
            <a:extLst>
              <a:ext uri="{FF2B5EF4-FFF2-40B4-BE49-F238E27FC236}">
                <a16:creationId xmlns:a16="http://schemas.microsoft.com/office/drawing/2014/main" id="{6B04DA5C-CF80-4BCD-B676-290228CFD9F9}"/>
              </a:ext>
            </a:extLst>
          </p:cNvPr>
          <p:cNvSpPr>
            <a:spLocks noGrp="1"/>
          </p:cNvSpPr>
          <p:nvPr/>
        </p:nvSpPr>
        <p:spPr>
          <a:xfrm>
            <a:off x="9715500" y="285750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60" name="s-a"/>
          <p:cNvCxnSpPr>
            <a:stCxn id="27" idx="1"/>
            <a:endCxn id="28" idx="3"/>
          </p:cNvCxnSpPr>
          <p:nvPr/>
        </p:nvCxnSpPr>
        <p:spPr>
          <a:xfrm flipH="1">
            <a:off x="9734550" y="2867025"/>
            <a:ext cx="457200" cy="0"/>
          </a:xfrm>
          <a:prstGeom prst="straightConnector1">
            <a:avLst/>
          </a:prstGeom>
          <a:ln w="3810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0" name="perf">
            <a:extLst>
              <a:ext uri="{FF2B5EF4-FFF2-40B4-BE49-F238E27FC236}">
                <a16:creationId xmlns:a16="http://schemas.microsoft.com/office/drawing/2014/main" id="{0A2B4F3B-EF50-4362-BAB9-877512AEE550}"/>
              </a:ext>
            </a:extLst>
          </p:cNvPr>
          <p:cNvSpPr>
            <a:spLocks noGrp="1"/>
          </p:cNvSpPr>
          <p:nvPr/>
        </p:nvSpPr>
        <p:spPr>
          <a:xfrm>
            <a:off x="1381125" y="5238750"/>
            <a:ext cx="11868150" cy="1009650"/>
          </a:xfrm>
          <a:prstGeom prst="roundRect">
            <a:avLst>
              <a:gd name="adj" fmla="val 5660"/>
            </a:avLst>
          </a:prstGeom>
          <a:solidFill>
            <a:srgbClr val="FBFCFE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perf-text">
            <a:extLst>
              <a:ext uri="{FF2B5EF4-FFF2-40B4-BE49-F238E27FC236}">
                <a16:creationId xmlns:a16="http://schemas.microsoft.com/office/drawing/2014/main" id="{F46FCF18-017D-48DB-B107-6F4616D6779E}"/>
              </a:ext>
            </a:extLst>
          </p:cNvPr>
          <p:cNvSpPr>
            <a:spLocks noGrp="1"/>
          </p:cNvSpPr>
          <p:nvPr/>
        </p:nvSpPr>
        <p:spPr>
          <a:xfrm>
            <a:off x="1714500" y="5524500"/>
            <a:ext cx="11125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Performance space Y: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label(x) = argmin_a T(a, x), measured from empirical runtime</a:t>
            </a:r>
          </a:p>
        </p:txBody>
      </p:sp>
    </p:spTree>
    <p:extLst>
      <p:ext uri="{BB962C8B-B14F-4D97-AF65-F5344CB8AC3E}">
        <p14:creationId xmlns:p14="http://schemas.microsoft.com/office/powerpoint/2010/main" val="1471886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op-maroon">
            <a:extLst>
              <a:ext uri="{FF2B5EF4-FFF2-40B4-BE49-F238E27FC236}">
                <a16:creationId xmlns:a16="http://schemas.microsoft.com/office/drawing/2014/main" id="{EA680FFC-7794-499F-AE07-F4BCEB1B31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63E90985-654B-4044-92EE-5FA572E5E6ED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362EF764-E433-4C06-8044-C226BB66685F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E56811F7-A6E0-4353-9277-09DA7301AD29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System Architecture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7DCA31D3-E4D3-4A48-A866-F65D4E037DA6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6EC46F5C-0D12-4716-8793-DDFE51B54FE0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6/34</a:t>
            </a:r>
          </a:p>
        </p:txBody>
      </p:sp>
      <p:sp>
        <p:nvSpPr>
          <p:cNvPr id="7" name="main">
            <a:extLst>
              <a:ext uri="{FF2B5EF4-FFF2-40B4-BE49-F238E27FC236}">
                <a16:creationId xmlns:a16="http://schemas.microsoft.com/office/drawing/2014/main" id="{40B71508-4A37-4201-81D0-607AD0178246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9620250" cy="3857625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arch-node-0">
            <a:extLst>
              <a:ext uri="{FF2B5EF4-FFF2-40B4-BE49-F238E27FC236}">
                <a16:creationId xmlns:a16="http://schemas.microsoft.com/office/drawing/2014/main" id="{F9FD7C3A-A354-48D9-A5F1-9CD9421BC8B0}"/>
              </a:ext>
            </a:extLst>
          </p:cNvPr>
          <p:cNvSpPr>
            <a:spLocks noGrp="1"/>
          </p:cNvSpPr>
          <p:nvPr/>
        </p:nvSpPr>
        <p:spPr>
          <a:xfrm>
            <a:off x="1762125" y="3143250"/>
            <a:ext cx="1143000" cy="4572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arch-node-0-title">
            <a:extLst>
              <a:ext uri="{FF2B5EF4-FFF2-40B4-BE49-F238E27FC236}">
                <a16:creationId xmlns:a16="http://schemas.microsoft.com/office/drawing/2014/main" id="{A87783F3-C0E9-4F8C-BEBA-5DC3DC499D02}"/>
              </a:ext>
            </a:extLst>
          </p:cNvPr>
          <p:cNvSpPr>
            <a:spLocks noGrp="1"/>
          </p:cNvSpPr>
          <p:nvPr/>
        </p:nvSpPr>
        <p:spPr>
          <a:xfrm>
            <a:off x="1933575" y="3295650"/>
            <a:ext cx="80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input</a:t>
            </a:r>
          </a:p>
          <a:p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array</a:t>
            </a:r>
          </a:p>
        </p:txBody>
      </p:sp>
      <p:sp>
        <p:nvSpPr>
          <p:cNvPr id="10" name="arch-node-1">
            <a:extLst>
              <a:ext uri="{FF2B5EF4-FFF2-40B4-BE49-F238E27FC236}">
                <a16:creationId xmlns:a16="http://schemas.microsoft.com/office/drawing/2014/main" id="{07B5FCBE-6A2D-4249-A0DD-A909589C349B}"/>
              </a:ext>
            </a:extLst>
          </p:cNvPr>
          <p:cNvSpPr>
            <a:spLocks noGrp="1"/>
          </p:cNvSpPr>
          <p:nvPr/>
        </p:nvSpPr>
        <p:spPr>
          <a:xfrm>
            <a:off x="3524250" y="2971800"/>
            <a:ext cx="1428750" cy="819150"/>
          </a:xfrm>
          <a:prstGeom prst="roundRect">
            <a:avLst>
              <a:gd name="adj" fmla="val 6977"/>
            </a:avLst>
          </a:prstGeom>
          <a:solidFill>
            <a:srgbClr val="FBE5D6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arch-node-1-title">
            <a:extLst>
              <a:ext uri="{FF2B5EF4-FFF2-40B4-BE49-F238E27FC236}">
                <a16:creationId xmlns:a16="http://schemas.microsoft.com/office/drawing/2014/main" id="{E4AC1060-F8FD-4369-8AE0-5AE6C91EFE92}"/>
              </a:ext>
            </a:extLst>
          </p:cNvPr>
          <p:cNvSpPr>
            <a:spLocks noGrp="1"/>
          </p:cNvSpPr>
          <p:nvPr/>
        </p:nvSpPr>
        <p:spPr>
          <a:xfrm>
            <a:off x="3695700" y="3124200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O(n)</a:t>
            </a:r>
          </a:p>
          <a:p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features</a:t>
            </a:r>
          </a:p>
        </p:txBody>
      </p:sp>
      <p:sp>
        <p:nvSpPr>
          <p:cNvPr id="12" name="arch-node-2">
            <a:extLst>
              <a:ext uri="{FF2B5EF4-FFF2-40B4-BE49-F238E27FC236}">
                <a16:creationId xmlns:a16="http://schemas.microsoft.com/office/drawing/2014/main" id="{98B6F848-DE44-49F8-894D-BDF59C187929}"/>
              </a:ext>
            </a:extLst>
          </p:cNvPr>
          <p:cNvSpPr>
            <a:spLocks noGrp="1"/>
          </p:cNvSpPr>
          <p:nvPr/>
        </p:nvSpPr>
        <p:spPr>
          <a:xfrm>
            <a:off x="5619750" y="2571750"/>
            <a:ext cx="1619250" cy="1619250"/>
          </a:xfrm>
          <a:prstGeom prst="roundRect">
            <a:avLst>
              <a:gd name="adj" fmla="val 3529"/>
            </a:avLst>
          </a:prstGeom>
          <a:solidFill>
            <a:srgbClr val="DDEFF9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arch-node-2-title">
            <a:extLst>
              <a:ext uri="{FF2B5EF4-FFF2-40B4-BE49-F238E27FC236}">
                <a16:creationId xmlns:a16="http://schemas.microsoft.com/office/drawing/2014/main" id="{6855161D-CE83-458A-987F-2AE065CBA3B2}"/>
              </a:ext>
            </a:extLst>
          </p:cNvPr>
          <p:cNvSpPr>
            <a:spLocks noGrp="1"/>
          </p:cNvSpPr>
          <p:nvPr/>
        </p:nvSpPr>
        <p:spPr>
          <a:xfrm>
            <a:off x="5791200" y="27241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XGBoost</a:t>
            </a:r>
          </a:p>
          <a:p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selector</a:t>
            </a:r>
          </a:p>
        </p:txBody>
      </p:sp>
      <p:sp>
        <p:nvSpPr>
          <p:cNvPr id="14" name="arch-node-3">
            <a:extLst>
              <a:ext uri="{FF2B5EF4-FFF2-40B4-BE49-F238E27FC236}">
                <a16:creationId xmlns:a16="http://schemas.microsoft.com/office/drawing/2014/main" id="{AD233881-044D-4508-AF70-501AB63ABED4}"/>
              </a:ext>
            </a:extLst>
          </p:cNvPr>
          <p:cNvSpPr>
            <a:spLocks noGrp="1"/>
          </p:cNvSpPr>
          <p:nvPr/>
        </p:nvSpPr>
        <p:spPr>
          <a:xfrm>
            <a:off x="8001000" y="2971800"/>
            <a:ext cx="1524000" cy="819150"/>
          </a:xfrm>
          <a:prstGeom prst="roundRect">
            <a:avLst>
              <a:gd name="adj" fmla="val 6977"/>
            </a:avLst>
          </a:prstGeom>
          <a:solidFill>
            <a:srgbClr val="D8F0E5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rch-node-3-title">
            <a:extLst>
              <a:ext uri="{FF2B5EF4-FFF2-40B4-BE49-F238E27FC236}">
                <a16:creationId xmlns:a16="http://schemas.microsoft.com/office/drawing/2014/main" id="{300A8F10-7B55-408B-B635-6C97DED39B52}"/>
              </a:ext>
            </a:extLst>
          </p:cNvPr>
          <p:cNvSpPr>
            <a:spLocks noGrp="1"/>
          </p:cNvSpPr>
          <p:nvPr/>
        </p:nvSpPr>
        <p:spPr>
          <a:xfrm>
            <a:off x="8172450" y="31242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chosen</a:t>
            </a:r>
          </a:p>
          <a:p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algorithm</a:t>
            </a:r>
          </a:p>
        </p:txBody>
      </p:sp>
      <p:sp>
        <p:nvSpPr>
          <p:cNvPr id="16" name="arch-1-from">
            <a:extLst>
              <a:ext uri="{FF2B5EF4-FFF2-40B4-BE49-F238E27FC236}">
                <a16:creationId xmlns:a16="http://schemas.microsoft.com/office/drawing/2014/main" id="{D5B9A432-A304-4F2F-B9D2-D5619F455BD9}"/>
              </a:ext>
            </a:extLst>
          </p:cNvPr>
          <p:cNvSpPr>
            <a:spLocks noGrp="1"/>
          </p:cNvSpPr>
          <p:nvPr/>
        </p:nvSpPr>
        <p:spPr>
          <a:xfrm>
            <a:off x="3429000" y="337185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arch-1-to">
            <a:extLst>
              <a:ext uri="{FF2B5EF4-FFF2-40B4-BE49-F238E27FC236}">
                <a16:creationId xmlns:a16="http://schemas.microsoft.com/office/drawing/2014/main" id="{F88AEBF4-13DC-4EC1-BCA1-BD63C53DA1E0}"/>
              </a:ext>
            </a:extLst>
          </p:cNvPr>
          <p:cNvSpPr>
            <a:spLocks noGrp="1"/>
          </p:cNvSpPr>
          <p:nvPr/>
        </p:nvSpPr>
        <p:spPr>
          <a:xfrm>
            <a:off x="3000375" y="337185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51" name="arch-1"/>
          <p:cNvCxnSpPr>
            <a:stCxn id="16" idx="1"/>
            <a:endCxn id="17" idx="3"/>
          </p:cNvCxnSpPr>
          <p:nvPr/>
        </p:nvCxnSpPr>
        <p:spPr>
          <a:xfrm flipH="1">
            <a:off x="3019425" y="3381375"/>
            <a:ext cx="409575" cy="0"/>
          </a:xfrm>
          <a:prstGeom prst="straightConnector1">
            <a:avLst/>
          </a:prstGeom>
          <a:ln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arch-2-from">
            <a:extLst>
              <a:ext uri="{FF2B5EF4-FFF2-40B4-BE49-F238E27FC236}">
                <a16:creationId xmlns:a16="http://schemas.microsoft.com/office/drawing/2014/main" id="{4BA0A0A1-51F7-4381-B6B0-4044C0407DF1}"/>
              </a:ext>
            </a:extLst>
          </p:cNvPr>
          <p:cNvSpPr>
            <a:spLocks noGrp="1"/>
          </p:cNvSpPr>
          <p:nvPr/>
        </p:nvSpPr>
        <p:spPr>
          <a:xfrm>
            <a:off x="5524500" y="337185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arch-2-to">
            <a:extLst>
              <a:ext uri="{FF2B5EF4-FFF2-40B4-BE49-F238E27FC236}">
                <a16:creationId xmlns:a16="http://schemas.microsoft.com/office/drawing/2014/main" id="{B1F4310D-826C-4BE5-BDF0-9CF3B1DABF77}"/>
              </a:ext>
            </a:extLst>
          </p:cNvPr>
          <p:cNvSpPr>
            <a:spLocks noGrp="1"/>
          </p:cNvSpPr>
          <p:nvPr/>
        </p:nvSpPr>
        <p:spPr>
          <a:xfrm>
            <a:off x="5095875" y="337185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54" name="arch-2"/>
          <p:cNvCxnSpPr>
            <a:stCxn id="19" idx="1"/>
            <a:endCxn id="20" idx="3"/>
          </p:cNvCxnSpPr>
          <p:nvPr/>
        </p:nvCxnSpPr>
        <p:spPr>
          <a:xfrm flipH="1">
            <a:off x="5114925" y="3381375"/>
            <a:ext cx="409575" cy="0"/>
          </a:xfrm>
          <a:prstGeom prst="straightConnector1">
            <a:avLst/>
          </a:prstGeom>
          <a:ln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2" name="arch-3-from">
            <a:extLst>
              <a:ext uri="{FF2B5EF4-FFF2-40B4-BE49-F238E27FC236}">
                <a16:creationId xmlns:a16="http://schemas.microsoft.com/office/drawing/2014/main" id="{C8E05FB0-D664-42CF-A803-AB60B7FE2335}"/>
              </a:ext>
            </a:extLst>
          </p:cNvPr>
          <p:cNvSpPr>
            <a:spLocks noGrp="1"/>
          </p:cNvSpPr>
          <p:nvPr/>
        </p:nvSpPr>
        <p:spPr>
          <a:xfrm>
            <a:off x="7905750" y="337185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arch-3-to">
            <a:extLst>
              <a:ext uri="{FF2B5EF4-FFF2-40B4-BE49-F238E27FC236}">
                <a16:creationId xmlns:a16="http://schemas.microsoft.com/office/drawing/2014/main" id="{D4BAA7C6-930B-4D08-A6BC-25C5C2199E99}"/>
              </a:ext>
            </a:extLst>
          </p:cNvPr>
          <p:cNvSpPr>
            <a:spLocks noGrp="1"/>
          </p:cNvSpPr>
          <p:nvPr/>
        </p:nvSpPr>
        <p:spPr>
          <a:xfrm>
            <a:off x="7353300" y="337185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57" name="arch-3"/>
          <p:cNvCxnSpPr>
            <a:stCxn id="22" idx="1"/>
            <a:endCxn id="23" idx="3"/>
          </p:cNvCxnSpPr>
          <p:nvPr/>
        </p:nvCxnSpPr>
        <p:spPr>
          <a:xfrm flipH="1">
            <a:off x="7372350" y="3381375"/>
            <a:ext cx="533400" cy="0"/>
          </a:xfrm>
          <a:prstGeom prst="straightConnector1">
            <a:avLst/>
          </a:prstGeom>
          <a:ln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main-track">
            <a:extLst>
              <a:ext uri="{FF2B5EF4-FFF2-40B4-BE49-F238E27FC236}">
                <a16:creationId xmlns:a16="http://schemas.microsoft.com/office/drawing/2014/main" id="{0BC5C198-B663-4A96-A563-4CC5F9E5765A}"/>
              </a:ext>
            </a:extLst>
          </p:cNvPr>
          <p:cNvSpPr>
            <a:spLocks noGrp="1"/>
          </p:cNvSpPr>
          <p:nvPr/>
        </p:nvSpPr>
        <p:spPr>
          <a:xfrm>
            <a:off x="10858500" y="1581150"/>
            <a:ext cx="2762250" cy="857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main-track-title">
            <a:extLst>
              <a:ext uri="{FF2B5EF4-FFF2-40B4-BE49-F238E27FC236}">
                <a16:creationId xmlns:a16="http://schemas.microsoft.com/office/drawing/2014/main" id="{56F5FEBE-4DED-4C51-99D5-6EA29AF69D4C}"/>
              </a:ext>
            </a:extLst>
          </p:cNvPr>
          <p:cNvSpPr>
            <a:spLocks noGrp="1"/>
          </p:cNvSpPr>
          <p:nvPr/>
        </p:nvSpPr>
        <p:spPr>
          <a:xfrm>
            <a:off x="11029950" y="1733550"/>
            <a:ext cx="2419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Main track</a:t>
            </a:r>
          </a:p>
        </p:txBody>
      </p:sp>
      <p:sp>
        <p:nvSpPr>
          <p:cNvPr id="27" name="main-track-body">
            <a:extLst>
              <a:ext uri="{FF2B5EF4-FFF2-40B4-BE49-F238E27FC236}">
                <a16:creationId xmlns:a16="http://schemas.microsoft.com/office/drawing/2014/main" id="{2267AAAF-6965-42A2-8B34-EA277C05DED9}"/>
              </a:ext>
            </a:extLst>
          </p:cNvPr>
          <p:cNvSpPr>
            <a:spLocks noGrp="1"/>
          </p:cNvSpPr>
          <p:nvPr/>
        </p:nvSpPr>
        <p:spPr>
          <a:xfrm>
            <a:off x="11029950" y="2057400"/>
            <a:ext cx="2419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all domains • 3 algorithms</a:t>
            </a:r>
          </a:p>
        </p:txBody>
      </p:sp>
      <p:sp>
        <p:nvSpPr>
          <p:cNvPr id="28" name="predict">
            <a:extLst>
              <a:ext uri="{FF2B5EF4-FFF2-40B4-BE49-F238E27FC236}">
                <a16:creationId xmlns:a16="http://schemas.microsoft.com/office/drawing/2014/main" id="{16879316-9CD6-4DAF-8289-8A5C07241D94}"/>
              </a:ext>
            </a:extLst>
          </p:cNvPr>
          <p:cNvSpPr>
            <a:spLocks noGrp="1"/>
          </p:cNvSpPr>
          <p:nvPr/>
        </p:nvSpPr>
        <p:spPr>
          <a:xfrm>
            <a:off x="10858500" y="2781300"/>
            <a:ext cx="2762250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predict-title">
            <a:extLst>
              <a:ext uri="{FF2B5EF4-FFF2-40B4-BE49-F238E27FC236}">
                <a16:creationId xmlns:a16="http://schemas.microsoft.com/office/drawing/2014/main" id="{25DD4A05-C232-41C2-B61C-32580CB35FF4}"/>
              </a:ext>
            </a:extLst>
          </p:cNvPr>
          <p:cNvSpPr>
            <a:spLocks noGrp="1"/>
          </p:cNvSpPr>
          <p:nvPr/>
        </p:nvSpPr>
        <p:spPr>
          <a:xfrm>
            <a:off x="11029950" y="2933700"/>
            <a:ext cx="2419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Prediction path</a:t>
            </a:r>
          </a:p>
        </p:txBody>
      </p:sp>
      <p:sp>
        <p:nvSpPr>
          <p:cNvPr id="30" name="predict-body">
            <a:extLst>
              <a:ext uri="{FF2B5EF4-FFF2-40B4-BE49-F238E27FC236}">
                <a16:creationId xmlns:a16="http://schemas.microsoft.com/office/drawing/2014/main" id="{3B14C624-B6CC-4102-BC50-6F7389D19F14}"/>
              </a:ext>
            </a:extLst>
          </p:cNvPr>
          <p:cNvSpPr>
            <a:spLocks noGrp="1"/>
          </p:cNvSpPr>
          <p:nvPr/>
        </p:nvSpPr>
        <p:spPr>
          <a:xfrm>
            <a:off x="11029950" y="3257550"/>
            <a:ext cx="2419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features → XGBoost</a:t>
            </a:r>
          </a:p>
          <a:p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classifier</a:t>
            </a:r>
          </a:p>
        </p:txBody>
      </p:sp>
      <p:sp>
        <p:nvSpPr>
          <p:cNvPr id="31" name="separate">
            <a:extLst>
              <a:ext uri="{FF2B5EF4-FFF2-40B4-BE49-F238E27FC236}">
                <a16:creationId xmlns:a16="http://schemas.microsoft.com/office/drawing/2014/main" id="{99B9308A-BD91-4909-8D6C-9856A9B947EC}"/>
              </a:ext>
            </a:extLst>
          </p:cNvPr>
          <p:cNvSpPr>
            <a:spLocks noGrp="1"/>
          </p:cNvSpPr>
          <p:nvPr/>
        </p:nvSpPr>
        <p:spPr>
          <a:xfrm>
            <a:off x="10858500" y="4171950"/>
            <a:ext cx="276225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eparate-title">
            <a:extLst>
              <a:ext uri="{FF2B5EF4-FFF2-40B4-BE49-F238E27FC236}">
                <a16:creationId xmlns:a16="http://schemas.microsoft.com/office/drawing/2014/main" id="{51803C7C-4883-43A8-B12D-6C6A72371C16}"/>
              </a:ext>
            </a:extLst>
          </p:cNvPr>
          <p:cNvSpPr>
            <a:spLocks noGrp="1"/>
          </p:cNvSpPr>
          <p:nvPr/>
        </p:nvSpPr>
        <p:spPr>
          <a:xfrm>
            <a:off x="11029950" y="4324350"/>
            <a:ext cx="2419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Separate track</a:t>
            </a:r>
          </a:p>
        </p:txBody>
      </p:sp>
      <p:sp>
        <p:nvSpPr>
          <p:cNvPr id="33" name="separate-body">
            <a:extLst>
              <a:ext uri="{FF2B5EF4-FFF2-40B4-BE49-F238E27FC236}">
                <a16:creationId xmlns:a16="http://schemas.microsoft.com/office/drawing/2014/main" id="{C9FF462F-3FF0-4D61-93F5-B4A8AAE3C7B4}"/>
              </a:ext>
            </a:extLst>
          </p:cNvPr>
          <p:cNvSpPr>
            <a:spLocks noGrp="1"/>
          </p:cNvSpPr>
          <p:nvPr/>
        </p:nvSpPr>
        <p:spPr>
          <a:xfrm>
            <a:off x="11029950" y="4648200"/>
            <a:ext cx="2419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F1-specific routing stays</a:t>
            </a:r>
          </a:p>
          <a:p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separate from the main result</a:t>
            </a:r>
          </a:p>
        </p:txBody>
      </p:sp>
    </p:spTree>
    <p:extLst>
      <p:ext uri="{BB962C8B-B14F-4D97-AF65-F5344CB8AC3E}">
        <p14:creationId xmlns:p14="http://schemas.microsoft.com/office/powerpoint/2010/main" val="192448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op-maroon">
            <a:extLst>
              <a:ext uri="{FF2B5EF4-FFF2-40B4-BE49-F238E27FC236}">
                <a16:creationId xmlns:a16="http://schemas.microsoft.com/office/drawing/2014/main" id="{AD7820B6-0CFC-4FF0-8A77-659DC025A0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34BE20AB-26D7-4F90-98CA-F95D9695B098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F97DE86B-EDE3-402E-8FB1-B86E0BA44E6E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40A87F04-56DA-4819-91FA-37C6738FC5B3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corpus uses five structurally diverse real-world domains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3202C78C-9313-4C62-A160-1DEDA1D451A8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E87A3930-2489-4438-9939-1BA9F8925CA2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7/34</a:t>
            </a:r>
          </a:p>
        </p:txBody>
      </p:sp>
      <p:sp>
        <p:nvSpPr>
          <p:cNvPr id="7" name="metric-1.18M-90">
            <a:extLst>
              <a:ext uri="{FF2B5EF4-FFF2-40B4-BE49-F238E27FC236}">
                <a16:creationId xmlns:a16="http://schemas.microsoft.com/office/drawing/2014/main" id="{E7152674-623B-4907-9676-5F936E951FB5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247650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1.18M</a:t>
            </a:r>
          </a:p>
        </p:txBody>
      </p:sp>
      <p:sp>
        <p:nvSpPr>
          <p:cNvPr id="8" name="metric-label-1.18M-90">
            <a:extLst>
              <a:ext uri="{FF2B5EF4-FFF2-40B4-BE49-F238E27FC236}">
                <a16:creationId xmlns:a16="http://schemas.microsoft.com/office/drawing/2014/main" id="{D08AF74E-592B-4D92-B039-6AB02FF7A29F}"/>
              </a:ext>
            </a:extLst>
          </p:cNvPr>
          <p:cNvSpPr>
            <a:spLocks noGrp="1"/>
          </p:cNvSpPr>
          <p:nvPr/>
        </p:nvSpPr>
        <p:spPr>
          <a:xfrm>
            <a:off x="857250" y="2289810"/>
            <a:ext cx="2476500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labeled array instances</a:t>
            </a:r>
          </a:p>
        </p:txBody>
      </p:sp>
      <p:sp>
        <p:nvSpPr>
          <p:cNvPr id="9" name="domain-0">
            <a:extLst>
              <a:ext uri="{FF2B5EF4-FFF2-40B4-BE49-F238E27FC236}">
                <a16:creationId xmlns:a16="http://schemas.microsoft.com/office/drawing/2014/main" id="{76DAAA9E-A2F7-450E-A365-00979507DE36}"/>
              </a:ext>
            </a:extLst>
          </p:cNvPr>
          <p:cNvSpPr>
            <a:spLocks noGrp="1"/>
          </p:cNvSpPr>
          <p:nvPr/>
        </p:nvSpPr>
        <p:spPr>
          <a:xfrm>
            <a:off x="857250" y="3429000"/>
            <a:ext cx="2190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domain-0-title">
            <a:extLst>
              <a:ext uri="{FF2B5EF4-FFF2-40B4-BE49-F238E27FC236}">
                <a16:creationId xmlns:a16="http://schemas.microsoft.com/office/drawing/2014/main" id="{6DDF34BC-840A-4464-A698-7D94A28F7CA0}"/>
              </a:ext>
            </a:extLst>
          </p:cNvPr>
          <p:cNvSpPr>
            <a:spLocks noGrp="1"/>
          </p:cNvSpPr>
          <p:nvPr/>
        </p:nvSpPr>
        <p:spPr>
          <a:xfrm>
            <a:off x="1028700" y="358140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Formula 1 telemetry</a:t>
            </a:r>
          </a:p>
        </p:txBody>
      </p:sp>
      <p:sp>
        <p:nvSpPr>
          <p:cNvPr id="11" name="domain-1">
            <a:extLst>
              <a:ext uri="{FF2B5EF4-FFF2-40B4-BE49-F238E27FC236}">
                <a16:creationId xmlns:a16="http://schemas.microsoft.com/office/drawing/2014/main" id="{0DA39C1C-8EB7-4D02-9B64-E97BE36054AA}"/>
              </a:ext>
            </a:extLst>
          </p:cNvPr>
          <p:cNvSpPr>
            <a:spLocks noGrp="1"/>
          </p:cNvSpPr>
          <p:nvPr/>
        </p:nvSpPr>
        <p:spPr>
          <a:xfrm>
            <a:off x="3619500" y="3429000"/>
            <a:ext cx="2190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domain-1-title">
            <a:extLst>
              <a:ext uri="{FF2B5EF4-FFF2-40B4-BE49-F238E27FC236}">
                <a16:creationId xmlns:a16="http://schemas.microsoft.com/office/drawing/2014/main" id="{D2E4A5C5-A423-441F-8993-4134FF65782B}"/>
              </a:ext>
            </a:extLst>
          </p:cNvPr>
          <p:cNvSpPr>
            <a:spLocks noGrp="1"/>
          </p:cNvSpPr>
          <p:nvPr/>
        </p:nvSpPr>
        <p:spPr>
          <a:xfrm>
            <a:off x="3790950" y="358140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Equity prices</a:t>
            </a:r>
          </a:p>
        </p:txBody>
      </p:sp>
      <p:sp>
        <p:nvSpPr>
          <p:cNvPr id="13" name="domain-2">
            <a:extLst>
              <a:ext uri="{FF2B5EF4-FFF2-40B4-BE49-F238E27FC236}">
                <a16:creationId xmlns:a16="http://schemas.microsoft.com/office/drawing/2014/main" id="{6390E532-649D-4D80-9736-E0A5B0A6E3FA}"/>
              </a:ext>
            </a:extLst>
          </p:cNvPr>
          <p:cNvSpPr>
            <a:spLocks noGrp="1"/>
          </p:cNvSpPr>
          <p:nvPr/>
        </p:nvSpPr>
        <p:spPr>
          <a:xfrm>
            <a:off x="6381750" y="3429000"/>
            <a:ext cx="2190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domain-2-title">
            <a:extLst>
              <a:ext uri="{FF2B5EF4-FFF2-40B4-BE49-F238E27FC236}">
                <a16:creationId xmlns:a16="http://schemas.microsoft.com/office/drawing/2014/main" id="{01DE25A7-38BF-4E4A-AF74-7DAADBC9C16E}"/>
              </a:ext>
            </a:extLst>
          </p:cNvPr>
          <p:cNvSpPr>
            <a:spLocks noGrp="1"/>
          </p:cNvSpPr>
          <p:nvPr/>
        </p:nvSpPr>
        <p:spPr>
          <a:xfrm>
            <a:off x="6553200" y="358140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Cryptocurrency OHLCV</a:t>
            </a:r>
          </a:p>
        </p:txBody>
      </p:sp>
      <p:sp>
        <p:nvSpPr>
          <p:cNvPr id="15" name="domain-3">
            <a:extLst>
              <a:ext uri="{FF2B5EF4-FFF2-40B4-BE49-F238E27FC236}">
                <a16:creationId xmlns:a16="http://schemas.microsoft.com/office/drawing/2014/main" id="{CFFFAA4A-1F68-4951-8EBD-F33A69D1C4B4}"/>
              </a:ext>
            </a:extLst>
          </p:cNvPr>
          <p:cNvSpPr>
            <a:spLocks noGrp="1"/>
          </p:cNvSpPr>
          <p:nvPr/>
        </p:nvSpPr>
        <p:spPr>
          <a:xfrm>
            <a:off x="9144000" y="3429000"/>
            <a:ext cx="2190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domain-3-title">
            <a:extLst>
              <a:ext uri="{FF2B5EF4-FFF2-40B4-BE49-F238E27FC236}">
                <a16:creationId xmlns:a16="http://schemas.microsoft.com/office/drawing/2014/main" id="{620A73EF-4383-4666-8A49-48A2D25B6420}"/>
              </a:ext>
            </a:extLst>
          </p:cNvPr>
          <p:cNvSpPr>
            <a:spLocks noGrp="1"/>
          </p:cNvSpPr>
          <p:nvPr/>
        </p:nvSpPr>
        <p:spPr>
          <a:xfrm>
            <a:off x="9315450" y="358140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Weather</a:t>
            </a:r>
          </a:p>
        </p:txBody>
      </p:sp>
      <p:sp>
        <p:nvSpPr>
          <p:cNvPr id="17" name="domain-4">
            <a:extLst>
              <a:ext uri="{FF2B5EF4-FFF2-40B4-BE49-F238E27FC236}">
                <a16:creationId xmlns:a16="http://schemas.microsoft.com/office/drawing/2014/main" id="{373E4B30-E0F8-487F-8D16-7BAD61ECD0FD}"/>
              </a:ext>
            </a:extLst>
          </p:cNvPr>
          <p:cNvSpPr>
            <a:spLocks noGrp="1"/>
          </p:cNvSpPr>
          <p:nvPr/>
        </p:nvSpPr>
        <p:spPr>
          <a:xfrm>
            <a:off x="5000625" y="4857750"/>
            <a:ext cx="2190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domain-4-title">
            <a:extLst>
              <a:ext uri="{FF2B5EF4-FFF2-40B4-BE49-F238E27FC236}">
                <a16:creationId xmlns:a16="http://schemas.microsoft.com/office/drawing/2014/main" id="{2FF567AC-396E-4B58-BF2C-3438C84E6D77}"/>
              </a:ext>
            </a:extLst>
          </p:cNvPr>
          <p:cNvSpPr>
            <a:spLocks noGrp="1"/>
          </p:cNvSpPr>
          <p:nvPr/>
        </p:nvSpPr>
        <p:spPr>
          <a:xfrm>
            <a:off x="5172075" y="501015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Seismic measurements</a:t>
            </a:r>
          </a:p>
        </p:txBody>
      </p:sp>
      <p:sp>
        <p:nvSpPr>
          <p:cNvPr id="19" name="domain-note">
            <a:extLst>
              <a:ext uri="{FF2B5EF4-FFF2-40B4-BE49-F238E27FC236}">
                <a16:creationId xmlns:a16="http://schemas.microsoft.com/office/drawing/2014/main" id="{F8862107-166C-45E7-A482-6EBA42D9D2C5}"/>
              </a:ext>
            </a:extLst>
          </p:cNvPr>
          <p:cNvSpPr>
            <a:spLocks noGrp="1"/>
          </p:cNvSpPr>
          <p:nvPr/>
        </p:nvSpPr>
        <p:spPr>
          <a:xfrm>
            <a:off x="2571750" y="6334125"/>
            <a:ext cx="948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Real data was preferred because synthetic distributions failed to converge to genuine structure.</a:t>
            </a:r>
          </a:p>
        </p:txBody>
      </p:sp>
    </p:spTree>
    <p:extLst>
      <p:ext uri="{BB962C8B-B14F-4D97-AF65-F5344CB8AC3E}">
        <p14:creationId xmlns:p14="http://schemas.microsoft.com/office/powerpoint/2010/main" val="1889746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op-maroon">
            <a:extLst>
              <a:ext uri="{FF2B5EF4-FFF2-40B4-BE49-F238E27FC236}">
                <a16:creationId xmlns:a16="http://schemas.microsoft.com/office/drawing/2014/main" id="{819554CD-E85C-4266-9239-A57F6F2581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0CE290BE-058D-4D66-BCA7-ED6534B0139E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ECABA44F-8BD4-4DA0-A5EA-75A1343D1D9C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E2212A1F-889B-4C0D-8E89-E19AA99BA799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Leave-one-domain-out testing supports cross-domain robustness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260F651D-DA2C-45C0-8D59-6393FB620566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D87DA6F8-6E85-42FF-9AD5-ACEBDD3E8195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8/34</a:t>
            </a:r>
          </a:p>
        </p:txBody>
      </p:sp>
      <p:sp>
        <p:nvSpPr>
          <p:cNvPr id="7" name="chart-frame">
            <a:extLst>
              <a:ext uri="{FF2B5EF4-FFF2-40B4-BE49-F238E27FC236}">
                <a16:creationId xmlns:a16="http://schemas.microsoft.com/office/drawing/2014/main" id="{E2FF4A82-5018-4139-BB49-0772E17F5091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12334875" cy="495300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holdout-axis">
            <a:extLst>
              <a:ext uri="{FF2B5EF4-FFF2-40B4-BE49-F238E27FC236}">
                <a16:creationId xmlns:a16="http://schemas.microsoft.com/office/drawing/2014/main" id="{CDC7A1BD-E147-4849-9C23-E1E25ACF750F}"/>
              </a:ext>
            </a:extLst>
          </p:cNvPr>
          <p:cNvSpPr>
            <a:spLocks noGrp="1"/>
          </p:cNvSpPr>
          <p:nvPr/>
        </p:nvSpPr>
        <p:spPr>
          <a:xfrm>
            <a:off x="2419350" y="5391150"/>
            <a:ext cx="9639300" cy="0"/>
          </a:xfrm>
          <a:prstGeom prst="line">
            <a:avLst/>
          </a:prstGeom>
          <a:noFill/>
          <a:ln w="1333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holdout-yaxis">
            <a:extLst>
              <a:ext uri="{FF2B5EF4-FFF2-40B4-BE49-F238E27FC236}">
                <a16:creationId xmlns:a16="http://schemas.microsoft.com/office/drawing/2014/main" id="{7298F0A2-183A-4833-BF07-18CF157A6C91}"/>
              </a:ext>
            </a:extLst>
          </p:cNvPr>
          <p:cNvSpPr>
            <a:spLocks noGrp="1"/>
          </p:cNvSpPr>
          <p:nvPr/>
        </p:nvSpPr>
        <p:spPr>
          <a:xfrm>
            <a:off x="2419350" y="2286000"/>
            <a:ext cx="0" cy="3105150"/>
          </a:xfrm>
          <a:prstGeom prst="line">
            <a:avLst/>
          </a:prstGeom>
          <a:noFill/>
          <a:ln w="1333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holdout-bar-0-0">
            <a:extLst>
              <a:ext uri="{FF2B5EF4-FFF2-40B4-BE49-F238E27FC236}">
                <a16:creationId xmlns:a16="http://schemas.microsoft.com/office/drawing/2014/main" id="{308F5C30-F6F0-448D-8772-67C27DDA611C}"/>
              </a:ext>
            </a:extLst>
          </p:cNvPr>
          <p:cNvSpPr>
            <a:spLocks noGrp="1"/>
          </p:cNvSpPr>
          <p:nvPr/>
        </p:nvSpPr>
        <p:spPr>
          <a:xfrm>
            <a:off x="2533650" y="2890838"/>
            <a:ext cx="419100" cy="2500313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oldout-val-0-0">
            <a:extLst>
              <a:ext uri="{FF2B5EF4-FFF2-40B4-BE49-F238E27FC236}">
                <a16:creationId xmlns:a16="http://schemas.microsoft.com/office/drawing/2014/main" id="{A48D4277-20A5-4B43-B0E5-AC73181F097C}"/>
              </a:ext>
            </a:extLst>
          </p:cNvPr>
          <p:cNvSpPr>
            <a:spLocks noGrp="1"/>
          </p:cNvSpPr>
          <p:nvPr/>
        </p:nvSpPr>
        <p:spPr>
          <a:xfrm>
            <a:off x="2324100" y="2643188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87.5%</a:t>
            </a:r>
          </a:p>
        </p:txBody>
      </p:sp>
      <p:sp>
        <p:nvSpPr>
          <p:cNvPr id="12" name="holdout-bar-0-1">
            <a:extLst>
              <a:ext uri="{FF2B5EF4-FFF2-40B4-BE49-F238E27FC236}">
                <a16:creationId xmlns:a16="http://schemas.microsoft.com/office/drawing/2014/main" id="{32CACA63-CCAC-43C2-94E4-A4E0AC501EF8}"/>
              </a:ext>
            </a:extLst>
          </p:cNvPr>
          <p:cNvSpPr>
            <a:spLocks noGrp="1"/>
          </p:cNvSpPr>
          <p:nvPr/>
        </p:nvSpPr>
        <p:spPr>
          <a:xfrm>
            <a:off x="3000375" y="2816543"/>
            <a:ext cx="419100" cy="2574607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holdout-val-0-1">
            <a:extLst>
              <a:ext uri="{FF2B5EF4-FFF2-40B4-BE49-F238E27FC236}">
                <a16:creationId xmlns:a16="http://schemas.microsoft.com/office/drawing/2014/main" id="{0A188A62-6FC8-4D5B-9A6E-3C5A5BD0CCC9}"/>
              </a:ext>
            </a:extLst>
          </p:cNvPr>
          <p:cNvSpPr>
            <a:spLocks noGrp="1"/>
          </p:cNvSpPr>
          <p:nvPr/>
        </p:nvSpPr>
        <p:spPr>
          <a:xfrm>
            <a:off x="2790825" y="2568893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90.1%</a:t>
            </a:r>
          </a:p>
        </p:txBody>
      </p:sp>
      <p:sp>
        <p:nvSpPr>
          <p:cNvPr id="14" name="holdout-cat-0">
            <a:extLst>
              <a:ext uri="{FF2B5EF4-FFF2-40B4-BE49-F238E27FC236}">
                <a16:creationId xmlns:a16="http://schemas.microsoft.com/office/drawing/2014/main" id="{D0383DE1-3B85-401D-8A92-67CE7F8F0E20}"/>
              </a:ext>
            </a:extLst>
          </p:cNvPr>
          <p:cNvSpPr>
            <a:spLocks noGrp="1"/>
          </p:cNvSpPr>
          <p:nvPr/>
        </p:nvSpPr>
        <p:spPr>
          <a:xfrm>
            <a:off x="2457450" y="5467350"/>
            <a:ext cx="189357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Crypto</a:t>
            </a:r>
          </a:p>
        </p:txBody>
      </p:sp>
      <p:sp>
        <p:nvSpPr>
          <p:cNvPr id="15" name="holdout-bar-1-0">
            <a:extLst>
              <a:ext uri="{FF2B5EF4-FFF2-40B4-BE49-F238E27FC236}">
                <a16:creationId xmlns:a16="http://schemas.microsoft.com/office/drawing/2014/main" id="{B5395441-8485-4DB6-A673-9C955936CBE5}"/>
              </a:ext>
            </a:extLst>
          </p:cNvPr>
          <p:cNvSpPr>
            <a:spLocks noGrp="1"/>
          </p:cNvSpPr>
          <p:nvPr/>
        </p:nvSpPr>
        <p:spPr>
          <a:xfrm>
            <a:off x="4427220" y="3045143"/>
            <a:ext cx="419100" cy="2346008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holdout-val-1-0">
            <a:extLst>
              <a:ext uri="{FF2B5EF4-FFF2-40B4-BE49-F238E27FC236}">
                <a16:creationId xmlns:a16="http://schemas.microsoft.com/office/drawing/2014/main" id="{9AEEAB48-5280-4F37-80BC-CB39435CA5A6}"/>
              </a:ext>
            </a:extLst>
          </p:cNvPr>
          <p:cNvSpPr>
            <a:spLocks noGrp="1"/>
          </p:cNvSpPr>
          <p:nvPr/>
        </p:nvSpPr>
        <p:spPr>
          <a:xfrm>
            <a:off x="4217670" y="2797493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82.1%</a:t>
            </a:r>
          </a:p>
        </p:txBody>
      </p:sp>
      <p:sp>
        <p:nvSpPr>
          <p:cNvPr id="17" name="holdout-bar-1-1">
            <a:extLst>
              <a:ext uri="{FF2B5EF4-FFF2-40B4-BE49-F238E27FC236}">
                <a16:creationId xmlns:a16="http://schemas.microsoft.com/office/drawing/2014/main" id="{7E443590-EF85-4CE7-A9C2-310BCAC0A438}"/>
              </a:ext>
            </a:extLst>
          </p:cNvPr>
          <p:cNvSpPr>
            <a:spLocks noGrp="1"/>
          </p:cNvSpPr>
          <p:nvPr/>
        </p:nvSpPr>
        <p:spPr>
          <a:xfrm>
            <a:off x="4893945" y="2676525"/>
            <a:ext cx="419100" cy="2714625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holdout-val-1-1">
            <a:extLst>
              <a:ext uri="{FF2B5EF4-FFF2-40B4-BE49-F238E27FC236}">
                <a16:creationId xmlns:a16="http://schemas.microsoft.com/office/drawing/2014/main" id="{E92461EE-F7F6-4E2A-A875-407E1F1DA677}"/>
              </a:ext>
            </a:extLst>
          </p:cNvPr>
          <p:cNvSpPr>
            <a:spLocks noGrp="1"/>
          </p:cNvSpPr>
          <p:nvPr/>
        </p:nvSpPr>
        <p:spPr>
          <a:xfrm>
            <a:off x="4684395" y="242887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95.0%</a:t>
            </a:r>
          </a:p>
        </p:txBody>
      </p:sp>
      <p:sp>
        <p:nvSpPr>
          <p:cNvPr id="19" name="holdout-cat-1">
            <a:extLst>
              <a:ext uri="{FF2B5EF4-FFF2-40B4-BE49-F238E27FC236}">
                <a16:creationId xmlns:a16="http://schemas.microsoft.com/office/drawing/2014/main" id="{7F3DADA6-61B3-4A20-B47A-50A2ADC79F4E}"/>
              </a:ext>
            </a:extLst>
          </p:cNvPr>
          <p:cNvSpPr>
            <a:spLocks noGrp="1"/>
          </p:cNvSpPr>
          <p:nvPr/>
        </p:nvSpPr>
        <p:spPr>
          <a:xfrm>
            <a:off x="4351020" y="5467350"/>
            <a:ext cx="189357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Earthquake</a:t>
            </a:r>
          </a:p>
        </p:txBody>
      </p:sp>
      <p:sp>
        <p:nvSpPr>
          <p:cNvPr id="20" name="holdout-bar-2-0">
            <a:extLst>
              <a:ext uri="{FF2B5EF4-FFF2-40B4-BE49-F238E27FC236}">
                <a16:creationId xmlns:a16="http://schemas.microsoft.com/office/drawing/2014/main" id="{EC780B4C-FD50-47AB-BECB-604FC34AC517}"/>
              </a:ext>
            </a:extLst>
          </p:cNvPr>
          <p:cNvSpPr>
            <a:spLocks noGrp="1"/>
          </p:cNvSpPr>
          <p:nvPr/>
        </p:nvSpPr>
        <p:spPr>
          <a:xfrm>
            <a:off x="6320790" y="2853690"/>
            <a:ext cx="419100" cy="2537460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holdout-val-2-0">
            <a:extLst>
              <a:ext uri="{FF2B5EF4-FFF2-40B4-BE49-F238E27FC236}">
                <a16:creationId xmlns:a16="http://schemas.microsoft.com/office/drawing/2014/main" id="{D57B322E-6756-41FC-90D0-B3F1A312615C}"/>
              </a:ext>
            </a:extLst>
          </p:cNvPr>
          <p:cNvSpPr>
            <a:spLocks noGrp="1"/>
          </p:cNvSpPr>
          <p:nvPr/>
        </p:nvSpPr>
        <p:spPr>
          <a:xfrm>
            <a:off x="6111240" y="2606040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88.8%</a:t>
            </a:r>
          </a:p>
        </p:txBody>
      </p:sp>
      <p:sp>
        <p:nvSpPr>
          <p:cNvPr id="22" name="holdout-bar-2-1">
            <a:extLst>
              <a:ext uri="{FF2B5EF4-FFF2-40B4-BE49-F238E27FC236}">
                <a16:creationId xmlns:a16="http://schemas.microsoft.com/office/drawing/2014/main" id="{2103A122-F2B5-411A-A14B-E6DF1AAF87B7}"/>
              </a:ext>
            </a:extLst>
          </p:cNvPr>
          <p:cNvSpPr>
            <a:spLocks noGrp="1"/>
          </p:cNvSpPr>
          <p:nvPr/>
        </p:nvSpPr>
        <p:spPr>
          <a:xfrm>
            <a:off x="6787515" y="3233738"/>
            <a:ext cx="419100" cy="2157413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holdout-val-2-1">
            <a:extLst>
              <a:ext uri="{FF2B5EF4-FFF2-40B4-BE49-F238E27FC236}">
                <a16:creationId xmlns:a16="http://schemas.microsoft.com/office/drawing/2014/main" id="{E8FE5655-873B-43F3-ACED-F8F938CF3F11}"/>
              </a:ext>
            </a:extLst>
          </p:cNvPr>
          <p:cNvSpPr>
            <a:spLocks noGrp="1"/>
          </p:cNvSpPr>
          <p:nvPr/>
        </p:nvSpPr>
        <p:spPr>
          <a:xfrm>
            <a:off x="6577965" y="2986088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75.5%</a:t>
            </a:r>
          </a:p>
        </p:txBody>
      </p:sp>
      <p:sp>
        <p:nvSpPr>
          <p:cNvPr id="24" name="holdout-cat-2">
            <a:extLst>
              <a:ext uri="{FF2B5EF4-FFF2-40B4-BE49-F238E27FC236}">
                <a16:creationId xmlns:a16="http://schemas.microsoft.com/office/drawing/2014/main" id="{864BEABF-D940-4EFF-B7E8-90B5EF12973D}"/>
              </a:ext>
            </a:extLst>
          </p:cNvPr>
          <p:cNvSpPr>
            <a:spLocks noGrp="1"/>
          </p:cNvSpPr>
          <p:nvPr/>
        </p:nvSpPr>
        <p:spPr>
          <a:xfrm>
            <a:off x="6244590" y="5467350"/>
            <a:ext cx="189357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F1</a:t>
            </a:r>
          </a:p>
        </p:txBody>
      </p:sp>
      <p:sp>
        <p:nvSpPr>
          <p:cNvPr id="25" name="holdout-bar-3-0">
            <a:extLst>
              <a:ext uri="{FF2B5EF4-FFF2-40B4-BE49-F238E27FC236}">
                <a16:creationId xmlns:a16="http://schemas.microsoft.com/office/drawing/2014/main" id="{45BF33FE-3656-4C1D-A972-04CE895887B7}"/>
              </a:ext>
            </a:extLst>
          </p:cNvPr>
          <p:cNvSpPr>
            <a:spLocks noGrp="1"/>
          </p:cNvSpPr>
          <p:nvPr/>
        </p:nvSpPr>
        <p:spPr>
          <a:xfrm>
            <a:off x="8214360" y="2876550"/>
            <a:ext cx="419100" cy="2514600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holdout-val-3-0">
            <a:extLst>
              <a:ext uri="{FF2B5EF4-FFF2-40B4-BE49-F238E27FC236}">
                <a16:creationId xmlns:a16="http://schemas.microsoft.com/office/drawing/2014/main" id="{10BBBDF5-E278-440B-9301-F9520DE2705E}"/>
              </a:ext>
            </a:extLst>
          </p:cNvPr>
          <p:cNvSpPr>
            <a:spLocks noGrp="1"/>
          </p:cNvSpPr>
          <p:nvPr/>
        </p:nvSpPr>
        <p:spPr>
          <a:xfrm>
            <a:off x="8004810" y="2628900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88.0%</a:t>
            </a:r>
          </a:p>
        </p:txBody>
      </p:sp>
      <p:sp>
        <p:nvSpPr>
          <p:cNvPr id="27" name="holdout-bar-3-1">
            <a:extLst>
              <a:ext uri="{FF2B5EF4-FFF2-40B4-BE49-F238E27FC236}">
                <a16:creationId xmlns:a16="http://schemas.microsoft.com/office/drawing/2014/main" id="{6B7ED9E3-FA74-41A9-A181-774482716FAE}"/>
              </a:ext>
            </a:extLst>
          </p:cNvPr>
          <p:cNvSpPr>
            <a:spLocks noGrp="1"/>
          </p:cNvSpPr>
          <p:nvPr/>
        </p:nvSpPr>
        <p:spPr>
          <a:xfrm>
            <a:off x="8681085" y="2799398"/>
            <a:ext cx="419100" cy="2591753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holdout-val-3-1">
            <a:extLst>
              <a:ext uri="{FF2B5EF4-FFF2-40B4-BE49-F238E27FC236}">
                <a16:creationId xmlns:a16="http://schemas.microsoft.com/office/drawing/2014/main" id="{47480B14-0742-4508-9776-45AB32D724BB}"/>
              </a:ext>
            </a:extLst>
          </p:cNvPr>
          <p:cNvSpPr>
            <a:spLocks noGrp="1"/>
          </p:cNvSpPr>
          <p:nvPr/>
        </p:nvSpPr>
        <p:spPr>
          <a:xfrm>
            <a:off x="8471535" y="2551748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90.7%</a:t>
            </a:r>
          </a:p>
        </p:txBody>
      </p:sp>
      <p:sp>
        <p:nvSpPr>
          <p:cNvPr id="29" name="holdout-cat-3">
            <a:extLst>
              <a:ext uri="{FF2B5EF4-FFF2-40B4-BE49-F238E27FC236}">
                <a16:creationId xmlns:a16="http://schemas.microsoft.com/office/drawing/2014/main" id="{FC48EE2B-07E7-43B9-81D8-50ECDF5DD4CA}"/>
              </a:ext>
            </a:extLst>
          </p:cNvPr>
          <p:cNvSpPr>
            <a:spLocks noGrp="1"/>
          </p:cNvSpPr>
          <p:nvPr/>
        </p:nvSpPr>
        <p:spPr>
          <a:xfrm>
            <a:off x="8138160" y="5467350"/>
            <a:ext cx="189357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Stock</a:t>
            </a:r>
          </a:p>
        </p:txBody>
      </p:sp>
      <p:sp>
        <p:nvSpPr>
          <p:cNvPr id="30" name="holdout-bar-4-0">
            <a:extLst>
              <a:ext uri="{FF2B5EF4-FFF2-40B4-BE49-F238E27FC236}">
                <a16:creationId xmlns:a16="http://schemas.microsoft.com/office/drawing/2014/main" id="{E7FE20C5-F5DB-4932-AAA9-D51972B144F9}"/>
              </a:ext>
            </a:extLst>
          </p:cNvPr>
          <p:cNvSpPr>
            <a:spLocks noGrp="1"/>
          </p:cNvSpPr>
          <p:nvPr/>
        </p:nvSpPr>
        <p:spPr>
          <a:xfrm>
            <a:off x="10107930" y="3659505"/>
            <a:ext cx="419100" cy="1731645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holdout-val-4-0">
            <a:extLst>
              <a:ext uri="{FF2B5EF4-FFF2-40B4-BE49-F238E27FC236}">
                <a16:creationId xmlns:a16="http://schemas.microsoft.com/office/drawing/2014/main" id="{FB5B8F9B-EA4D-4D44-824F-4A5EFBEB4E2F}"/>
              </a:ext>
            </a:extLst>
          </p:cNvPr>
          <p:cNvSpPr>
            <a:spLocks noGrp="1"/>
          </p:cNvSpPr>
          <p:nvPr/>
        </p:nvSpPr>
        <p:spPr>
          <a:xfrm>
            <a:off x="9898380" y="341185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60.6%</a:t>
            </a:r>
          </a:p>
        </p:txBody>
      </p:sp>
      <p:sp>
        <p:nvSpPr>
          <p:cNvPr id="32" name="holdout-bar-4-1">
            <a:extLst>
              <a:ext uri="{FF2B5EF4-FFF2-40B4-BE49-F238E27FC236}">
                <a16:creationId xmlns:a16="http://schemas.microsoft.com/office/drawing/2014/main" id="{09E2D320-353D-4EAC-BD05-3BCC8CBEC6A0}"/>
              </a:ext>
            </a:extLst>
          </p:cNvPr>
          <p:cNvSpPr>
            <a:spLocks noGrp="1"/>
          </p:cNvSpPr>
          <p:nvPr/>
        </p:nvSpPr>
        <p:spPr>
          <a:xfrm>
            <a:off x="10574655" y="2827973"/>
            <a:ext cx="419100" cy="2563178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holdout-val-4-1">
            <a:extLst>
              <a:ext uri="{FF2B5EF4-FFF2-40B4-BE49-F238E27FC236}">
                <a16:creationId xmlns:a16="http://schemas.microsoft.com/office/drawing/2014/main" id="{482DAEC6-5AF0-4D58-B110-F3BF52DC4DB7}"/>
              </a:ext>
            </a:extLst>
          </p:cNvPr>
          <p:cNvSpPr>
            <a:spLocks noGrp="1"/>
          </p:cNvSpPr>
          <p:nvPr/>
        </p:nvSpPr>
        <p:spPr>
          <a:xfrm>
            <a:off x="10365105" y="2580323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89.7%</a:t>
            </a:r>
          </a:p>
        </p:txBody>
      </p:sp>
      <p:sp>
        <p:nvSpPr>
          <p:cNvPr id="34" name="holdout-cat-4">
            <a:extLst>
              <a:ext uri="{FF2B5EF4-FFF2-40B4-BE49-F238E27FC236}">
                <a16:creationId xmlns:a16="http://schemas.microsoft.com/office/drawing/2014/main" id="{58E75689-7708-4AF4-95DD-108EBDE4CB38}"/>
              </a:ext>
            </a:extLst>
          </p:cNvPr>
          <p:cNvSpPr>
            <a:spLocks noGrp="1"/>
          </p:cNvSpPr>
          <p:nvPr/>
        </p:nvSpPr>
        <p:spPr>
          <a:xfrm>
            <a:off x="10031730" y="5467350"/>
            <a:ext cx="189357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Weather</a:t>
            </a:r>
          </a:p>
        </p:txBody>
      </p:sp>
      <p:sp>
        <p:nvSpPr>
          <p:cNvPr id="35" name="legend-a">
            <a:extLst>
              <a:ext uri="{FF2B5EF4-FFF2-40B4-BE49-F238E27FC236}">
                <a16:creationId xmlns:a16="http://schemas.microsoft.com/office/drawing/2014/main" id="{CA6667AF-B3B5-4DD4-8B10-4EF3FAF9AB87}"/>
              </a:ext>
            </a:extLst>
          </p:cNvPr>
          <p:cNvSpPr>
            <a:spLocks noGrp="1"/>
          </p:cNvSpPr>
          <p:nvPr/>
        </p:nvSpPr>
        <p:spPr>
          <a:xfrm>
            <a:off x="11620500" y="22860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blue = accuracy</a:t>
            </a:r>
          </a:p>
        </p:txBody>
      </p:sp>
      <p:sp>
        <p:nvSpPr>
          <p:cNvPr id="36" name="legend-b">
            <a:extLst>
              <a:ext uri="{FF2B5EF4-FFF2-40B4-BE49-F238E27FC236}">
                <a16:creationId xmlns:a16="http://schemas.microsoft.com/office/drawing/2014/main" id="{C2B34533-B40A-41B5-86F2-022025ADF55E}"/>
              </a:ext>
            </a:extLst>
          </p:cNvPr>
          <p:cNvSpPr>
            <a:spLocks noGrp="1"/>
          </p:cNvSpPr>
          <p:nvPr/>
        </p:nvSpPr>
        <p:spPr>
          <a:xfrm>
            <a:off x="11620500" y="260985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orange = gap</a:t>
            </a:r>
          </a:p>
          <a:p>
            <a:pPr algn="l">
              <a:def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closed</a:t>
            </a:r>
          </a:p>
        </p:txBody>
      </p:sp>
    </p:spTree>
    <p:extLst>
      <p:ext uri="{BB962C8B-B14F-4D97-AF65-F5344CB8AC3E}">
        <p14:creationId xmlns:p14="http://schemas.microsoft.com/office/powerpoint/2010/main" val="1571221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52704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2704"/>
            <a:ext cx="14630400" cy="95097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530352"/>
            <a:ext cx="12573000" cy="53035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4200" b="1">
                <a:solidFill>
                  <a:srgbClr val="1C1C1C"/>
                </a:solidFill>
                <a:latin typeface="Times New Roman"/>
              </a:rPr>
              <a:t>Testing protocol and cross-domain validation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7512" y="118140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578840" y="8010144"/>
            <a:ext cx="822960" cy="21031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Times New Roman"/>
              </a:rPr>
              <a:t>9/34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600200"/>
            <a:ext cx="5943600" cy="429768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1847088"/>
            <a:ext cx="5394960" cy="32004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3000" b="1">
                <a:solidFill>
                  <a:srgbClr val="1C1C1C"/>
                </a:solidFill>
                <a:latin typeface="Times New Roman"/>
              </a:rPr>
              <a:t>Held-out test split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2743200"/>
            <a:ext cx="1417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08760" y="2907792"/>
            <a:ext cx="1234440" cy="29260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400" b="1">
                <a:solidFill>
                  <a:srgbClr val="F4511E"/>
                </a:solidFill>
                <a:latin typeface="Times New Roman"/>
              </a:rPr>
              <a:t>137,636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273552"/>
            <a:ext cx="123444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1C1C1C"/>
                </a:solidFill>
                <a:latin typeface="Times New Roman"/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639312"/>
            <a:ext cx="1234440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53657D"/>
                </a:solidFill>
                <a:latin typeface="Times New Roman"/>
              </a:rPr>
              <a:t>70%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72968" y="2743200"/>
            <a:ext cx="1417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64408" y="2907792"/>
            <a:ext cx="1234440" cy="29260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400" b="1">
                <a:solidFill>
                  <a:srgbClr val="F4511E"/>
                </a:solidFill>
                <a:latin typeface="Times New Roman"/>
              </a:rPr>
              <a:t>29,494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3273552"/>
            <a:ext cx="123444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1C1C1C"/>
                </a:solidFill>
                <a:latin typeface="Times New Roman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3639312"/>
            <a:ext cx="1234440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53657D"/>
                </a:solidFill>
                <a:latin typeface="Times New Roman"/>
              </a:rPr>
              <a:t>15%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28616" y="2743200"/>
            <a:ext cx="1417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0055" y="2907792"/>
            <a:ext cx="1234440" cy="29260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400" b="1">
                <a:solidFill>
                  <a:srgbClr val="F4511E"/>
                </a:solidFill>
                <a:latin typeface="Times New Roman"/>
              </a:rPr>
              <a:t>29,494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0055" y="3273552"/>
            <a:ext cx="123444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1C1C1C"/>
                </a:solidFill>
                <a:latin typeface="Times New Roman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0055" y="3639312"/>
            <a:ext cx="1234440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53657D"/>
                </a:solidFill>
                <a:latin typeface="Times New Roman"/>
              </a:rP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846320"/>
            <a:ext cx="5029200" cy="32004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200" b="0">
                <a:solidFill>
                  <a:srgbClr val="53657D"/>
                </a:solidFill>
                <a:latin typeface="Times New Roman"/>
              </a:rPr>
              <a:t>Stratified after filtering and balancing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1600200"/>
            <a:ext cx="5943600" cy="429768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01000" y="1847088"/>
            <a:ext cx="5394960" cy="32004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3000" b="1">
                <a:solidFill>
                  <a:srgbClr val="1C1C1C"/>
                </a:solidFill>
                <a:latin typeface="Times New Roman"/>
              </a:rPr>
              <a:t>Leave-one-domain-out folds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651760"/>
            <a:ext cx="160020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1C1C1C"/>
                </a:solidFill>
                <a:latin typeface="Times New Roman"/>
              </a:rPr>
              <a:t>Crypto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58400" y="2788920"/>
            <a:ext cx="2423160" cy="0"/>
          </a:xfrm>
          <a:prstGeom prst="line">
            <a:avLst/>
          </a:prstGeom>
          <a:ln w="6350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66760" y="3154680"/>
            <a:ext cx="160020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1C1C1C"/>
                </a:solidFill>
                <a:latin typeface="Times New Roman"/>
              </a:rPr>
              <a:t>Earthquake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58400" y="3291840"/>
            <a:ext cx="2423160" cy="0"/>
          </a:xfrm>
          <a:prstGeom prst="line">
            <a:avLst/>
          </a:prstGeom>
          <a:ln w="63500">
            <a:solidFill>
              <a:srgbClr val="8F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66760" y="3657600"/>
            <a:ext cx="160020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1C1C1C"/>
                </a:solidFill>
                <a:latin typeface="Times New Roman"/>
              </a:rPr>
              <a:t>F1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058400" y="3794760"/>
            <a:ext cx="2423160" cy="0"/>
          </a:xfrm>
          <a:prstGeom prst="line">
            <a:avLst/>
          </a:prstGeom>
          <a:ln w="6350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66760" y="4160520"/>
            <a:ext cx="160020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1C1C1C"/>
                </a:solidFill>
                <a:latin typeface="Times New Roman"/>
              </a:rPr>
              <a:t>Stock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58400" y="4297680"/>
            <a:ext cx="2423160" cy="0"/>
          </a:xfrm>
          <a:prstGeom prst="line">
            <a:avLst/>
          </a:prstGeom>
          <a:ln w="63500">
            <a:solidFill>
              <a:srgbClr val="8F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66760" y="4663440"/>
            <a:ext cx="160020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1C1C1C"/>
                </a:solidFill>
                <a:latin typeface="Times New Roman"/>
              </a:rPr>
              <a:t>Weather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058400" y="4800600"/>
            <a:ext cx="2423160" cy="0"/>
          </a:xfrm>
          <a:prstGeom prst="line">
            <a:avLst/>
          </a:prstGeom>
          <a:ln w="6350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366760" y="5285232"/>
            <a:ext cx="4572000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200">
                <a:solidFill>
                  <a:srgbClr val="53657D"/>
                </a:solidFill>
                <a:latin typeface="Times New Roman"/>
              </a:rPr>
              <a:t>Train on 4 domains; test on 1 held-out domain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op-maroon">
            <a:extLst>
              <a:ext uri="{FF2B5EF4-FFF2-40B4-BE49-F238E27FC236}">
                <a16:creationId xmlns:a16="http://schemas.microsoft.com/office/drawing/2014/main" id="{D04A0BD9-9807-4594-8D7D-3B48B4F2F5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C33CEE78-DBE8-498E-B9B9-67C29CAD314E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300D8303-8D5F-49A2-B1DE-5DE2AFFF2884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9F62DB9B-B825-44B0-911F-DC4D513BA5BF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Five real domains, five different numeric traces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355A0A79-E2EC-447C-80EB-3C22A852ABC2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5D0124A1-0809-4DFE-9B49-67388ADD947E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10/34</a:t>
            </a:r>
          </a:p>
        </p:txBody>
      </p:sp>
      <p:sp>
        <p:nvSpPr>
          <p:cNvPr id="7" name="sample-n-0">
            <a:extLst>
              <a:ext uri="{FF2B5EF4-FFF2-40B4-BE49-F238E27FC236}">
                <a16:creationId xmlns:a16="http://schemas.microsoft.com/office/drawing/2014/main" id="{8BCA7EA2-6A94-4E95-988E-EA019884AFA6}"/>
              </a:ext>
            </a:extLst>
          </p:cNvPr>
          <p:cNvSpPr>
            <a:spLocks noGrp="1"/>
          </p:cNvSpPr>
          <p:nvPr/>
        </p:nvSpPr>
        <p:spPr>
          <a:xfrm>
            <a:off x="1476375" y="161925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8" name="sample-row-0">
            <a:extLst>
              <a:ext uri="{FF2B5EF4-FFF2-40B4-BE49-F238E27FC236}">
                <a16:creationId xmlns:a16="http://schemas.microsoft.com/office/drawing/2014/main" id="{0D84D0F9-0F94-4126-826E-4F2E05817F1C}"/>
              </a:ext>
            </a:extLst>
          </p:cNvPr>
          <p:cNvSpPr>
            <a:spLocks noGrp="1"/>
          </p:cNvSpPr>
          <p:nvPr/>
        </p:nvSpPr>
        <p:spPr>
          <a:xfrm>
            <a:off x="2047875" y="1600200"/>
            <a:ext cx="1133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Stock market: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[5.873, 5.919, 5.968, 5.974, 6.021, 6.044, 6.081, 6.114, 6.156, 6.203]</a:t>
            </a:r>
          </a:p>
        </p:txBody>
      </p:sp>
      <p:sp>
        <p:nvSpPr>
          <p:cNvPr id="9" name="sample-line-0">
            <a:extLst>
              <a:ext uri="{FF2B5EF4-FFF2-40B4-BE49-F238E27FC236}">
                <a16:creationId xmlns:a16="http://schemas.microsoft.com/office/drawing/2014/main" id="{6E2E1C55-761C-47D2-B1CF-FDD30C57C016}"/>
              </a:ext>
            </a:extLst>
          </p:cNvPr>
          <p:cNvSpPr>
            <a:spLocks noGrp="1"/>
          </p:cNvSpPr>
          <p:nvPr/>
        </p:nvSpPr>
        <p:spPr>
          <a:xfrm>
            <a:off x="2047875" y="2152650"/>
            <a:ext cx="11191875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ample-n-1">
            <a:extLst>
              <a:ext uri="{FF2B5EF4-FFF2-40B4-BE49-F238E27FC236}">
                <a16:creationId xmlns:a16="http://schemas.microsoft.com/office/drawing/2014/main" id="{63F6A30B-FD0D-4F31-8CA8-F7FE11527DAC}"/>
              </a:ext>
            </a:extLst>
          </p:cNvPr>
          <p:cNvSpPr>
            <a:spLocks noGrp="1"/>
          </p:cNvSpPr>
          <p:nvPr/>
        </p:nvSpPr>
        <p:spPr>
          <a:xfrm>
            <a:off x="1476375" y="260985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1" name="sample-row-1">
            <a:extLst>
              <a:ext uri="{FF2B5EF4-FFF2-40B4-BE49-F238E27FC236}">
                <a16:creationId xmlns:a16="http://schemas.microsoft.com/office/drawing/2014/main" id="{5A1436D2-E761-409E-A557-25392BDF6728}"/>
              </a:ext>
            </a:extLst>
          </p:cNvPr>
          <p:cNvSpPr>
            <a:spLocks noGrp="1"/>
          </p:cNvSpPr>
          <p:nvPr/>
        </p:nvSpPr>
        <p:spPr>
          <a:xfrm>
            <a:off x="2047875" y="2590800"/>
            <a:ext cx="1133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Cryptocurrency: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[0.0009, 0.0005, 0.0002, -0.0003, 0.0001, 0.0007, -0.0002, 0.0010, 0.0004, -0.0001]</a:t>
            </a:r>
          </a:p>
        </p:txBody>
      </p:sp>
      <p:sp>
        <p:nvSpPr>
          <p:cNvPr id="12" name="sample-line-1">
            <a:extLst>
              <a:ext uri="{FF2B5EF4-FFF2-40B4-BE49-F238E27FC236}">
                <a16:creationId xmlns:a16="http://schemas.microsoft.com/office/drawing/2014/main" id="{7A4A611A-9685-4B4E-8D3C-510D20E74C85}"/>
              </a:ext>
            </a:extLst>
          </p:cNvPr>
          <p:cNvSpPr>
            <a:spLocks noGrp="1"/>
          </p:cNvSpPr>
          <p:nvPr/>
        </p:nvSpPr>
        <p:spPr>
          <a:xfrm>
            <a:off x="2047875" y="3143250"/>
            <a:ext cx="11191875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ample-n-2">
            <a:extLst>
              <a:ext uri="{FF2B5EF4-FFF2-40B4-BE49-F238E27FC236}">
                <a16:creationId xmlns:a16="http://schemas.microsoft.com/office/drawing/2014/main" id="{7E7E622B-62C5-46EC-BF7C-1943C366D075}"/>
              </a:ext>
            </a:extLst>
          </p:cNvPr>
          <p:cNvSpPr>
            <a:spLocks noGrp="1"/>
          </p:cNvSpPr>
          <p:nvPr/>
        </p:nvSpPr>
        <p:spPr>
          <a:xfrm>
            <a:off x="1476375" y="360045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4" name="sample-row-2">
            <a:extLst>
              <a:ext uri="{FF2B5EF4-FFF2-40B4-BE49-F238E27FC236}">
                <a16:creationId xmlns:a16="http://schemas.microsoft.com/office/drawing/2014/main" id="{8E749918-7322-429F-A23C-8996055D8A52}"/>
              </a:ext>
            </a:extLst>
          </p:cNvPr>
          <p:cNvSpPr>
            <a:spLocks noGrp="1"/>
          </p:cNvSpPr>
          <p:nvPr/>
        </p:nvSpPr>
        <p:spPr>
          <a:xfrm>
            <a:off x="2047875" y="3581400"/>
            <a:ext cx="1133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Weather: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[3.389, 3.385, 3.341, 3.269, 3.164, 3.201, 3.244, 3.302, 3.355, 3.410]</a:t>
            </a:r>
          </a:p>
        </p:txBody>
      </p:sp>
      <p:sp>
        <p:nvSpPr>
          <p:cNvPr id="15" name="sample-line-2">
            <a:extLst>
              <a:ext uri="{FF2B5EF4-FFF2-40B4-BE49-F238E27FC236}">
                <a16:creationId xmlns:a16="http://schemas.microsoft.com/office/drawing/2014/main" id="{40D79EA3-0392-49F9-AACA-33358BC5A91A}"/>
              </a:ext>
            </a:extLst>
          </p:cNvPr>
          <p:cNvSpPr>
            <a:spLocks noGrp="1"/>
          </p:cNvSpPr>
          <p:nvPr/>
        </p:nvSpPr>
        <p:spPr>
          <a:xfrm>
            <a:off x="2047875" y="4133850"/>
            <a:ext cx="11191875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ample-n-3">
            <a:extLst>
              <a:ext uri="{FF2B5EF4-FFF2-40B4-BE49-F238E27FC236}">
                <a16:creationId xmlns:a16="http://schemas.microsoft.com/office/drawing/2014/main" id="{1CD972AF-DB2F-484E-A959-360C118EE0A5}"/>
              </a:ext>
            </a:extLst>
          </p:cNvPr>
          <p:cNvSpPr>
            <a:spLocks noGrp="1"/>
          </p:cNvSpPr>
          <p:nvPr/>
        </p:nvSpPr>
        <p:spPr>
          <a:xfrm>
            <a:off x="1476375" y="459105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7" name="sample-row-3">
            <a:extLst>
              <a:ext uri="{FF2B5EF4-FFF2-40B4-BE49-F238E27FC236}">
                <a16:creationId xmlns:a16="http://schemas.microsoft.com/office/drawing/2014/main" id="{ADBC73B0-0F60-48D2-8BC8-9F2E2C99C754}"/>
              </a:ext>
            </a:extLst>
          </p:cNvPr>
          <p:cNvSpPr>
            <a:spLocks noGrp="1"/>
          </p:cNvSpPr>
          <p:nvPr/>
        </p:nvSpPr>
        <p:spPr>
          <a:xfrm>
            <a:off x="2047875" y="4572000"/>
            <a:ext cx="1133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Formula 1 telemetry: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[0.0797, 12.79, 28.74, 51.06, 79.76, 108.46, 141.30, 172.55, 201.10, 238.42]</a:t>
            </a:r>
          </a:p>
        </p:txBody>
      </p:sp>
      <p:sp>
        <p:nvSpPr>
          <p:cNvPr id="18" name="sample-line-3">
            <a:extLst>
              <a:ext uri="{FF2B5EF4-FFF2-40B4-BE49-F238E27FC236}">
                <a16:creationId xmlns:a16="http://schemas.microsoft.com/office/drawing/2014/main" id="{EC352D5E-9235-4D03-AEC5-F9774AA579FE}"/>
              </a:ext>
            </a:extLst>
          </p:cNvPr>
          <p:cNvSpPr>
            <a:spLocks noGrp="1"/>
          </p:cNvSpPr>
          <p:nvPr/>
        </p:nvSpPr>
        <p:spPr>
          <a:xfrm>
            <a:off x="2047875" y="5124450"/>
            <a:ext cx="11191875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ample-n-4">
            <a:extLst>
              <a:ext uri="{FF2B5EF4-FFF2-40B4-BE49-F238E27FC236}">
                <a16:creationId xmlns:a16="http://schemas.microsoft.com/office/drawing/2014/main" id="{9610DC0F-FD62-419E-938A-D32B428D97AA}"/>
              </a:ext>
            </a:extLst>
          </p:cNvPr>
          <p:cNvSpPr>
            <a:spLocks noGrp="1"/>
          </p:cNvSpPr>
          <p:nvPr/>
        </p:nvSpPr>
        <p:spPr>
          <a:xfrm>
            <a:off x="1476375" y="558165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0" name="sample-row-4">
            <a:extLst>
              <a:ext uri="{FF2B5EF4-FFF2-40B4-BE49-F238E27FC236}">
                <a16:creationId xmlns:a16="http://schemas.microsoft.com/office/drawing/2014/main" id="{423A5896-D598-4F9D-B4A0-7F800FA687DD}"/>
              </a:ext>
            </a:extLst>
          </p:cNvPr>
          <p:cNvSpPr>
            <a:spLocks noGrp="1"/>
          </p:cNvSpPr>
          <p:nvPr/>
        </p:nvSpPr>
        <p:spPr>
          <a:xfrm>
            <a:off x="2047875" y="5562600"/>
            <a:ext cx="1133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Seismic events: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[37.83, 34.02, 36.10, 35.95, 33.54, 36.80, 38.21, 35.12, 34.88, 36.42]</a:t>
            </a:r>
          </a:p>
        </p:txBody>
      </p:sp>
      <p:sp>
        <p:nvSpPr>
          <p:cNvPr id="21" name="sample-line-4">
            <a:extLst>
              <a:ext uri="{FF2B5EF4-FFF2-40B4-BE49-F238E27FC236}">
                <a16:creationId xmlns:a16="http://schemas.microsoft.com/office/drawing/2014/main" id="{9076C340-57B9-425B-8CF2-9973D49A380D}"/>
              </a:ext>
            </a:extLst>
          </p:cNvPr>
          <p:cNvSpPr>
            <a:spLocks noGrp="1"/>
          </p:cNvSpPr>
          <p:nvPr/>
        </p:nvSpPr>
        <p:spPr>
          <a:xfrm>
            <a:off x="2047875" y="6115050"/>
            <a:ext cx="11191875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1299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op-maroon">
            <a:extLst>
              <a:ext uri="{FF2B5EF4-FFF2-40B4-BE49-F238E27FC236}">
                <a16:creationId xmlns:a16="http://schemas.microsoft.com/office/drawing/2014/main" id="{003C5A71-AC35-4980-9054-055D7506B6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374435BE-72C4-437C-AD9D-3F0C57013701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E5D363A9-3279-4271-8374-D3AAA3F6D6F4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3D0C95B6-064C-46E8-BF0F-A48283372461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Sixteen O(n) structural features characterise each array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A2145772-9431-4B36-886F-9FE77449BA31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3CAD7B2F-8993-48E2-9B40-F9987F3B0853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11/34</a:t>
            </a:r>
          </a:p>
        </p:txBody>
      </p:sp>
      <p:sp>
        <p:nvSpPr>
          <p:cNvPr id="7" name="flow">
            <a:extLst>
              <a:ext uri="{FF2B5EF4-FFF2-40B4-BE49-F238E27FC236}">
                <a16:creationId xmlns:a16="http://schemas.microsoft.com/office/drawing/2014/main" id="{1551CA98-34AC-496C-AFC8-7E4395A76A11}"/>
              </a:ext>
            </a:extLst>
          </p:cNvPr>
          <p:cNvSpPr>
            <a:spLocks noGrp="1"/>
          </p:cNvSpPr>
          <p:nvPr/>
        </p:nvSpPr>
        <p:spPr>
          <a:xfrm>
            <a:off x="1143000" y="1666875"/>
            <a:ext cx="3714750" cy="371475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low-0">
            <a:extLst>
              <a:ext uri="{FF2B5EF4-FFF2-40B4-BE49-F238E27FC236}">
                <a16:creationId xmlns:a16="http://schemas.microsoft.com/office/drawing/2014/main" id="{D4433B9B-E034-48B0-8465-D60CF6B8B59E}"/>
              </a:ext>
            </a:extLst>
          </p:cNvPr>
          <p:cNvSpPr>
            <a:spLocks noGrp="1"/>
          </p:cNvSpPr>
          <p:nvPr/>
        </p:nvSpPr>
        <p:spPr>
          <a:xfrm>
            <a:off x="1619250" y="2047875"/>
            <a:ext cx="1428750" cy="457200"/>
          </a:xfrm>
          <a:prstGeom prst="roundRect">
            <a:avLst>
              <a:gd name="adj" fmla="val 12500"/>
            </a:avLst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flow-0-title">
            <a:extLst>
              <a:ext uri="{FF2B5EF4-FFF2-40B4-BE49-F238E27FC236}">
                <a16:creationId xmlns:a16="http://schemas.microsoft.com/office/drawing/2014/main" id="{08A70EB8-A313-4761-B4EC-7B5B76137123}"/>
              </a:ext>
            </a:extLst>
          </p:cNvPr>
          <p:cNvSpPr>
            <a:spLocks noGrp="1"/>
          </p:cNvSpPr>
          <p:nvPr/>
        </p:nvSpPr>
        <p:spPr>
          <a:xfrm>
            <a:off x="1790700" y="220027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Raw array</a:t>
            </a:r>
          </a:p>
        </p:txBody>
      </p:sp>
      <p:sp>
        <p:nvSpPr>
          <p:cNvPr id="10" name="flow-arrow-0-from">
            <a:extLst>
              <a:ext uri="{FF2B5EF4-FFF2-40B4-BE49-F238E27FC236}">
                <a16:creationId xmlns:a16="http://schemas.microsoft.com/office/drawing/2014/main" id="{589A1539-EC6F-456B-A726-672EC499CC7A}"/>
              </a:ext>
            </a:extLst>
          </p:cNvPr>
          <p:cNvSpPr>
            <a:spLocks noGrp="1"/>
          </p:cNvSpPr>
          <p:nvPr/>
        </p:nvSpPr>
        <p:spPr>
          <a:xfrm>
            <a:off x="2333625" y="278130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low-arrow-0-to">
            <a:extLst>
              <a:ext uri="{FF2B5EF4-FFF2-40B4-BE49-F238E27FC236}">
                <a16:creationId xmlns:a16="http://schemas.microsoft.com/office/drawing/2014/main" id="{14140825-4BB9-429C-B34E-065277795459}"/>
              </a:ext>
            </a:extLst>
          </p:cNvPr>
          <p:cNvSpPr>
            <a:spLocks noGrp="1"/>
          </p:cNvSpPr>
          <p:nvPr/>
        </p:nvSpPr>
        <p:spPr>
          <a:xfrm>
            <a:off x="2333625" y="255270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54" name="flow-arrow-0"/>
          <p:cNvCxnSpPr>
            <a:stCxn id="10" idx="0"/>
            <a:endCxn id="11" idx="2"/>
          </p:cNvCxnSpPr>
          <p:nvPr/>
        </p:nvCxnSpPr>
        <p:spPr>
          <a:xfrm flipV="1">
            <a:off x="2343150" y="2571750"/>
            <a:ext cx="0" cy="209550"/>
          </a:xfrm>
          <a:prstGeom prst="straightConnector1">
            <a:avLst/>
          </a:prstGeom>
          <a:ln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13" name="flow-1">
            <a:extLst>
              <a:ext uri="{FF2B5EF4-FFF2-40B4-BE49-F238E27FC236}">
                <a16:creationId xmlns:a16="http://schemas.microsoft.com/office/drawing/2014/main" id="{C07514FE-5DB2-465B-BC10-2990A6E50584}"/>
              </a:ext>
            </a:extLst>
          </p:cNvPr>
          <p:cNvSpPr>
            <a:spLocks noGrp="1"/>
          </p:cNvSpPr>
          <p:nvPr/>
        </p:nvSpPr>
        <p:spPr>
          <a:xfrm>
            <a:off x="1619250" y="2828925"/>
            <a:ext cx="1428750" cy="457200"/>
          </a:xfrm>
          <a:prstGeom prst="roundRect">
            <a:avLst>
              <a:gd name="adj" fmla="val 12500"/>
            </a:avLst>
          </a:prstGeom>
          <a:solidFill>
            <a:srgbClr val="E28B3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flow-1-title">
            <a:extLst>
              <a:ext uri="{FF2B5EF4-FFF2-40B4-BE49-F238E27FC236}">
                <a16:creationId xmlns:a16="http://schemas.microsoft.com/office/drawing/2014/main" id="{0B86B30D-15D7-4077-8063-EE18F8C10319}"/>
              </a:ext>
            </a:extLst>
          </p:cNvPr>
          <p:cNvSpPr>
            <a:spLocks noGrp="1"/>
          </p:cNvSpPr>
          <p:nvPr/>
        </p:nvSpPr>
        <p:spPr>
          <a:xfrm>
            <a:off x="1790700" y="298132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Structural scan</a:t>
            </a:r>
          </a:p>
        </p:txBody>
      </p:sp>
      <p:sp>
        <p:nvSpPr>
          <p:cNvPr id="15" name="flow-arrow-1-from">
            <a:extLst>
              <a:ext uri="{FF2B5EF4-FFF2-40B4-BE49-F238E27FC236}">
                <a16:creationId xmlns:a16="http://schemas.microsoft.com/office/drawing/2014/main" id="{AEDFA4DB-AAC5-4543-B3CD-2EE1A0821DFA}"/>
              </a:ext>
            </a:extLst>
          </p:cNvPr>
          <p:cNvSpPr>
            <a:spLocks noGrp="1"/>
          </p:cNvSpPr>
          <p:nvPr/>
        </p:nvSpPr>
        <p:spPr>
          <a:xfrm>
            <a:off x="2333625" y="356235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flow-arrow-1-to">
            <a:extLst>
              <a:ext uri="{FF2B5EF4-FFF2-40B4-BE49-F238E27FC236}">
                <a16:creationId xmlns:a16="http://schemas.microsoft.com/office/drawing/2014/main" id="{23FF5DA0-73F3-4AB6-98A5-569CDABE1631}"/>
              </a:ext>
            </a:extLst>
          </p:cNvPr>
          <p:cNvSpPr>
            <a:spLocks noGrp="1"/>
          </p:cNvSpPr>
          <p:nvPr/>
        </p:nvSpPr>
        <p:spPr>
          <a:xfrm>
            <a:off x="2333625" y="333375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59" name="flow-arrow-1"/>
          <p:cNvCxnSpPr>
            <a:stCxn id="15" idx="0"/>
            <a:endCxn id="16" idx="2"/>
          </p:cNvCxnSpPr>
          <p:nvPr/>
        </p:nvCxnSpPr>
        <p:spPr>
          <a:xfrm flipV="1">
            <a:off x="2343150" y="3352800"/>
            <a:ext cx="0" cy="209550"/>
          </a:xfrm>
          <a:prstGeom prst="straightConnector1">
            <a:avLst/>
          </a:prstGeom>
          <a:ln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18" name="flow-2">
            <a:extLst>
              <a:ext uri="{FF2B5EF4-FFF2-40B4-BE49-F238E27FC236}">
                <a16:creationId xmlns:a16="http://schemas.microsoft.com/office/drawing/2014/main" id="{9EA71E20-8CFF-40FE-ABDE-71C736CEEACE}"/>
              </a:ext>
            </a:extLst>
          </p:cNvPr>
          <p:cNvSpPr>
            <a:spLocks noGrp="1"/>
          </p:cNvSpPr>
          <p:nvPr/>
        </p:nvSpPr>
        <p:spPr>
          <a:xfrm>
            <a:off x="1619250" y="3609975"/>
            <a:ext cx="1428750" cy="457200"/>
          </a:xfrm>
          <a:prstGeom prst="roundRect">
            <a:avLst>
              <a:gd name="adj" fmla="val 12500"/>
            </a:avLst>
          </a:prstGeom>
          <a:solidFill>
            <a:srgbClr val="B915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flow-2-title">
            <a:extLst>
              <a:ext uri="{FF2B5EF4-FFF2-40B4-BE49-F238E27FC236}">
                <a16:creationId xmlns:a16="http://schemas.microsoft.com/office/drawing/2014/main" id="{CA08474A-4322-4E05-B3B8-92AC02E91C37}"/>
              </a:ext>
            </a:extLst>
          </p:cNvPr>
          <p:cNvSpPr>
            <a:spLocks noGrp="1"/>
          </p:cNvSpPr>
          <p:nvPr/>
        </p:nvSpPr>
        <p:spPr>
          <a:xfrm>
            <a:off x="1790700" y="376237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Feature vector</a:t>
            </a:r>
          </a:p>
        </p:txBody>
      </p:sp>
      <p:sp>
        <p:nvSpPr>
          <p:cNvPr id="20" name="flow-arrow-2-from">
            <a:extLst>
              <a:ext uri="{FF2B5EF4-FFF2-40B4-BE49-F238E27FC236}">
                <a16:creationId xmlns:a16="http://schemas.microsoft.com/office/drawing/2014/main" id="{80B1D1AC-DD85-4C7C-9700-DAE4A148780A}"/>
              </a:ext>
            </a:extLst>
          </p:cNvPr>
          <p:cNvSpPr>
            <a:spLocks noGrp="1"/>
          </p:cNvSpPr>
          <p:nvPr/>
        </p:nvSpPr>
        <p:spPr>
          <a:xfrm>
            <a:off x="2333625" y="434340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flow-arrow-2-to">
            <a:extLst>
              <a:ext uri="{FF2B5EF4-FFF2-40B4-BE49-F238E27FC236}">
                <a16:creationId xmlns:a16="http://schemas.microsoft.com/office/drawing/2014/main" id="{AB306AB7-DD3F-468E-8CDD-C8C735938879}"/>
              </a:ext>
            </a:extLst>
          </p:cNvPr>
          <p:cNvSpPr>
            <a:spLocks noGrp="1"/>
          </p:cNvSpPr>
          <p:nvPr/>
        </p:nvSpPr>
        <p:spPr>
          <a:xfrm>
            <a:off x="2333625" y="411480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64" name="flow-arrow-2"/>
          <p:cNvCxnSpPr>
            <a:stCxn id="20" idx="0"/>
            <a:endCxn id="21" idx="2"/>
          </p:cNvCxnSpPr>
          <p:nvPr/>
        </p:nvCxnSpPr>
        <p:spPr>
          <a:xfrm flipV="1">
            <a:off x="2343150" y="4133850"/>
            <a:ext cx="0" cy="209550"/>
          </a:xfrm>
          <a:prstGeom prst="straightConnector1">
            <a:avLst/>
          </a:prstGeom>
          <a:ln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23" name="flow-3">
            <a:extLst>
              <a:ext uri="{FF2B5EF4-FFF2-40B4-BE49-F238E27FC236}">
                <a16:creationId xmlns:a16="http://schemas.microsoft.com/office/drawing/2014/main" id="{EEA7ED29-BE52-4F16-B887-D675181A921E}"/>
              </a:ext>
            </a:extLst>
          </p:cNvPr>
          <p:cNvSpPr>
            <a:spLocks noGrp="1"/>
          </p:cNvSpPr>
          <p:nvPr/>
        </p:nvSpPr>
        <p:spPr>
          <a:xfrm>
            <a:off x="1619250" y="4391025"/>
            <a:ext cx="1428750" cy="457200"/>
          </a:xfrm>
          <a:prstGeom prst="roundRect">
            <a:avLst>
              <a:gd name="adj" fmla="val 12500"/>
            </a:avLst>
          </a:prstGeom>
          <a:solidFill>
            <a:srgbClr val="2FA06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flow-3-title">
            <a:extLst>
              <a:ext uri="{FF2B5EF4-FFF2-40B4-BE49-F238E27FC236}">
                <a16:creationId xmlns:a16="http://schemas.microsoft.com/office/drawing/2014/main" id="{9737E347-0A5F-4706-92D6-F88DB47F5497}"/>
              </a:ext>
            </a:extLst>
          </p:cNvPr>
          <p:cNvSpPr>
            <a:spLocks noGrp="1"/>
          </p:cNvSpPr>
          <p:nvPr/>
        </p:nvSpPr>
        <p:spPr>
          <a:xfrm>
            <a:off x="1790700" y="454342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Model input</a:t>
            </a:r>
          </a:p>
        </p:txBody>
      </p:sp>
      <p:sp>
        <p:nvSpPr>
          <p:cNvPr id="25" name="feature-core">
            <a:extLst>
              <a:ext uri="{FF2B5EF4-FFF2-40B4-BE49-F238E27FC236}">
                <a16:creationId xmlns:a16="http://schemas.microsoft.com/office/drawing/2014/main" id="{B93CF75C-C5AF-4723-B582-AFB3CE6BFFA5}"/>
              </a:ext>
            </a:extLst>
          </p:cNvPr>
          <p:cNvSpPr>
            <a:spLocks noGrp="1"/>
          </p:cNvSpPr>
          <p:nvPr/>
        </p:nvSpPr>
        <p:spPr>
          <a:xfrm>
            <a:off x="3429000" y="2952750"/>
            <a:ext cx="952500" cy="666750"/>
          </a:xfrm>
          <a:prstGeom prst="roundRect">
            <a:avLst>
              <a:gd name="adj" fmla="val 8571"/>
            </a:avLst>
          </a:prstGeom>
          <a:solidFill>
            <a:srgbClr val="DDEFF9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feature-core-title">
            <a:extLst>
              <a:ext uri="{FF2B5EF4-FFF2-40B4-BE49-F238E27FC236}">
                <a16:creationId xmlns:a16="http://schemas.microsoft.com/office/drawing/2014/main" id="{B073D80A-7AE8-40CA-BF41-22DA78374B25}"/>
              </a:ext>
            </a:extLst>
          </p:cNvPr>
          <p:cNvSpPr>
            <a:spLocks noGrp="1"/>
          </p:cNvSpPr>
          <p:nvPr/>
        </p:nvSpPr>
        <p:spPr>
          <a:xfrm>
            <a:off x="3600450" y="3105150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x ∈ R^16</a:t>
            </a:r>
          </a:p>
        </p:txBody>
      </p:sp>
      <p:sp>
        <p:nvSpPr>
          <p:cNvPr id="27" name="flow-core-from">
            <a:extLst>
              <a:ext uri="{FF2B5EF4-FFF2-40B4-BE49-F238E27FC236}">
                <a16:creationId xmlns:a16="http://schemas.microsoft.com/office/drawing/2014/main" id="{F9B59FAD-7502-4882-AE6F-08573DFE2C95}"/>
              </a:ext>
            </a:extLst>
          </p:cNvPr>
          <p:cNvSpPr>
            <a:spLocks noGrp="1"/>
          </p:cNvSpPr>
          <p:nvPr/>
        </p:nvSpPr>
        <p:spPr>
          <a:xfrm>
            <a:off x="3381375" y="3286125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flow-core-to">
            <a:extLst>
              <a:ext uri="{FF2B5EF4-FFF2-40B4-BE49-F238E27FC236}">
                <a16:creationId xmlns:a16="http://schemas.microsoft.com/office/drawing/2014/main" id="{9C678F33-ADC2-4FD6-9F43-2F57F77302B1}"/>
              </a:ext>
            </a:extLst>
          </p:cNvPr>
          <p:cNvSpPr>
            <a:spLocks noGrp="1"/>
          </p:cNvSpPr>
          <p:nvPr/>
        </p:nvSpPr>
        <p:spPr>
          <a:xfrm>
            <a:off x="3095625" y="3286125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71" name="flow-core"/>
          <p:cNvCxnSpPr>
            <a:stCxn id="27" idx="1"/>
            <a:endCxn id="28" idx="3"/>
          </p:cNvCxnSpPr>
          <p:nvPr/>
        </p:nvCxnSpPr>
        <p:spPr>
          <a:xfrm flipH="1">
            <a:off x="3114675" y="3295650"/>
            <a:ext cx="266700" cy="0"/>
          </a:xfrm>
          <a:prstGeom prst="straightConnector1">
            <a:avLst/>
          </a:prstGeom>
          <a:ln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30" name="fg-0">
            <a:extLst>
              <a:ext uri="{FF2B5EF4-FFF2-40B4-BE49-F238E27FC236}">
                <a16:creationId xmlns:a16="http://schemas.microsoft.com/office/drawing/2014/main" id="{AF7A206F-037D-4EA5-8B2F-D80F0C41DFD1}"/>
              </a:ext>
            </a:extLst>
          </p:cNvPr>
          <p:cNvSpPr>
            <a:spLocks noGrp="1"/>
          </p:cNvSpPr>
          <p:nvPr/>
        </p:nvSpPr>
        <p:spPr>
          <a:xfrm>
            <a:off x="5810250" y="1762125"/>
            <a:ext cx="2571750" cy="1381125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fg-0-title">
            <a:extLst>
              <a:ext uri="{FF2B5EF4-FFF2-40B4-BE49-F238E27FC236}">
                <a16:creationId xmlns:a16="http://schemas.microsoft.com/office/drawing/2014/main" id="{271C6534-0F74-4855-BD8E-FFDAA4B0FC6C}"/>
              </a:ext>
            </a:extLst>
          </p:cNvPr>
          <p:cNvSpPr>
            <a:spLocks noGrp="1"/>
          </p:cNvSpPr>
          <p:nvPr/>
        </p:nvSpPr>
        <p:spPr>
          <a:xfrm>
            <a:off x="5981700" y="1914525"/>
            <a:ext cx="2228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Size</a:t>
            </a:r>
          </a:p>
        </p:txBody>
      </p:sp>
      <p:sp>
        <p:nvSpPr>
          <p:cNvPr id="32" name="fg-0-body">
            <a:extLst>
              <a:ext uri="{FF2B5EF4-FFF2-40B4-BE49-F238E27FC236}">
                <a16:creationId xmlns:a16="http://schemas.microsoft.com/office/drawing/2014/main" id="{21C72E64-DC46-407A-8FBE-627F597E03A1}"/>
              </a:ext>
            </a:extLst>
          </p:cNvPr>
          <p:cNvSpPr>
            <a:spLocks noGrp="1"/>
          </p:cNvSpPr>
          <p:nvPr/>
        </p:nvSpPr>
        <p:spPr>
          <a:xfrm>
            <a:off x="5981700" y="2238375"/>
            <a:ext cx="22288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length_norm</a:t>
            </a:r>
          </a:p>
          <a:p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size effects</a:t>
            </a:r>
          </a:p>
          <a:p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cache / constants</a:t>
            </a:r>
          </a:p>
        </p:txBody>
      </p:sp>
      <p:sp>
        <p:nvSpPr>
          <p:cNvPr id="33" name="fg-1">
            <a:extLst>
              <a:ext uri="{FF2B5EF4-FFF2-40B4-BE49-F238E27FC236}">
                <a16:creationId xmlns:a16="http://schemas.microsoft.com/office/drawing/2014/main" id="{34202135-CF9E-4093-80D9-C45E78A83918}"/>
              </a:ext>
            </a:extLst>
          </p:cNvPr>
          <p:cNvSpPr>
            <a:spLocks noGrp="1"/>
          </p:cNvSpPr>
          <p:nvPr/>
        </p:nvSpPr>
        <p:spPr>
          <a:xfrm>
            <a:off x="8953500" y="1762125"/>
            <a:ext cx="2571750" cy="1381125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fg-1-title">
            <a:extLst>
              <a:ext uri="{FF2B5EF4-FFF2-40B4-BE49-F238E27FC236}">
                <a16:creationId xmlns:a16="http://schemas.microsoft.com/office/drawing/2014/main" id="{7BAD665B-7EBB-4EC4-AE72-5567381FEF26}"/>
              </a:ext>
            </a:extLst>
          </p:cNvPr>
          <p:cNvSpPr>
            <a:spLocks noGrp="1"/>
          </p:cNvSpPr>
          <p:nvPr/>
        </p:nvSpPr>
        <p:spPr>
          <a:xfrm>
            <a:off x="9124950" y="1914525"/>
            <a:ext cx="2228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Ordering</a:t>
            </a:r>
          </a:p>
        </p:txBody>
      </p:sp>
      <p:sp>
        <p:nvSpPr>
          <p:cNvPr id="35" name="fg-1-body">
            <a:extLst>
              <a:ext uri="{FF2B5EF4-FFF2-40B4-BE49-F238E27FC236}">
                <a16:creationId xmlns:a16="http://schemas.microsoft.com/office/drawing/2014/main" id="{5A52362A-9EC2-4722-A298-34A576C8CB8C}"/>
              </a:ext>
            </a:extLst>
          </p:cNvPr>
          <p:cNvSpPr>
            <a:spLocks noGrp="1"/>
          </p:cNvSpPr>
          <p:nvPr/>
        </p:nvSpPr>
        <p:spPr>
          <a:xfrm>
            <a:off x="9124950" y="2238375"/>
            <a:ext cx="22288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adj_sorted_ratio</a:t>
            </a:r>
          </a:p>
          <a:p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runs_ratio</a:t>
            </a:r>
          </a:p>
          <a:p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inversion_ratio</a:t>
            </a:r>
          </a:p>
        </p:txBody>
      </p:sp>
      <p:sp>
        <p:nvSpPr>
          <p:cNvPr id="36" name="fg-2">
            <a:extLst>
              <a:ext uri="{FF2B5EF4-FFF2-40B4-BE49-F238E27FC236}">
                <a16:creationId xmlns:a16="http://schemas.microsoft.com/office/drawing/2014/main" id="{283E256F-DC3D-40FB-9BD2-D442E7ECD0C4}"/>
              </a:ext>
            </a:extLst>
          </p:cNvPr>
          <p:cNvSpPr>
            <a:spLocks noGrp="1"/>
          </p:cNvSpPr>
          <p:nvPr/>
        </p:nvSpPr>
        <p:spPr>
          <a:xfrm>
            <a:off x="5810250" y="3524250"/>
            <a:ext cx="2571750" cy="1381125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fg-2-title">
            <a:extLst>
              <a:ext uri="{FF2B5EF4-FFF2-40B4-BE49-F238E27FC236}">
                <a16:creationId xmlns:a16="http://schemas.microsoft.com/office/drawing/2014/main" id="{26506A2C-ECFC-4010-AC37-05B5CA0905F0}"/>
              </a:ext>
            </a:extLst>
          </p:cNvPr>
          <p:cNvSpPr>
            <a:spLocks noGrp="1"/>
          </p:cNvSpPr>
          <p:nvPr/>
        </p:nvSpPr>
        <p:spPr>
          <a:xfrm>
            <a:off x="5981700" y="3676650"/>
            <a:ext cx="2228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Repetition</a:t>
            </a:r>
          </a:p>
        </p:txBody>
      </p:sp>
      <p:sp>
        <p:nvSpPr>
          <p:cNvPr id="38" name="fg-2-body">
            <a:extLst>
              <a:ext uri="{FF2B5EF4-FFF2-40B4-BE49-F238E27FC236}">
                <a16:creationId xmlns:a16="http://schemas.microsoft.com/office/drawing/2014/main" id="{A389FB64-84DA-4F99-8357-C2676203A072}"/>
              </a:ext>
            </a:extLst>
          </p:cNvPr>
          <p:cNvSpPr>
            <a:spLocks noGrp="1"/>
          </p:cNvSpPr>
          <p:nvPr/>
        </p:nvSpPr>
        <p:spPr>
          <a:xfrm>
            <a:off x="5981700" y="4000500"/>
            <a:ext cx="22288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duplicate_ratio</a:t>
            </a:r>
          </a:p>
          <a:p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top1_freq_ratio</a:t>
            </a:r>
          </a:p>
          <a:p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top5_freq_ratio</a:t>
            </a:r>
          </a:p>
        </p:txBody>
      </p:sp>
      <p:sp>
        <p:nvSpPr>
          <p:cNvPr id="39" name="fg-3">
            <a:extLst>
              <a:ext uri="{FF2B5EF4-FFF2-40B4-BE49-F238E27FC236}">
                <a16:creationId xmlns:a16="http://schemas.microsoft.com/office/drawing/2014/main" id="{EDF8CE57-2AC8-4B95-9077-00F2E711D8D6}"/>
              </a:ext>
            </a:extLst>
          </p:cNvPr>
          <p:cNvSpPr>
            <a:spLocks noGrp="1"/>
          </p:cNvSpPr>
          <p:nvPr/>
        </p:nvSpPr>
        <p:spPr>
          <a:xfrm>
            <a:off x="8953500" y="3524250"/>
            <a:ext cx="2571750" cy="1381125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fg-3-title">
            <a:extLst>
              <a:ext uri="{FF2B5EF4-FFF2-40B4-BE49-F238E27FC236}">
                <a16:creationId xmlns:a16="http://schemas.microsoft.com/office/drawing/2014/main" id="{8A741413-3008-45E0-9B1F-48DAE1B3282E}"/>
              </a:ext>
            </a:extLst>
          </p:cNvPr>
          <p:cNvSpPr>
            <a:spLocks noGrp="1"/>
          </p:cNvSpPr>
          <p:nvPr/>
        </p:nvSpPr>
        <p:spPr>
          <a:xfrm>
            <a:off x="9124950" y="3676650"/>
            <a:ext cx="2228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Distribution</a:t>
            </a:r>
          </a:p>
        </p:txBody>
      </p:sp>
      <p:sp>
        <p:nvSpPr>
          <p:cNvPr id="41" name="fg-3-body">
            <a:extLst>
              <a:ext uri="{FF2B5EF4-FFF2-40B4-BE49-F238E27FC236}">
                <a16:creationId xmlns:a16="http://schemas.microsoft.com/office/drawing/2014/main" id="{152E82B8-3445-4339-A99D-492B5CD001F4}"/>
              </a:ext>
            </a:extLst>
          </p:cNvPr>
          <p:cNvSpPr>
            <a:spLocks noGrp="1"/>
          </p:cNvSpPr>
          <p:nvPr/>
        </p:nvSpPr>
        <p:spPr>
          <a:xfrm>
            <a:off x="9124950" y="4000500"/>
            <a:ext cx="22288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entropy_ratio</a:t>
            </a:r>
          </a:p>
          <a:p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skewness</a:t>
            </a:r>
          </a:p>
          <a:p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outlier_ratio</a:t>
            </a:r>
          </a:p>
        </p:txBody>
      </p:sp>
      <p:sp>
        <p:nvSpPr>
          <p:cNvPr id="42" name="feature-note">
            <a:extLst>
              <a:ext uri="{FF2B5EF4-FFF2-40B4-BE49-F238E27FC236}">
                <a16:creationId xmlns:a16="http://schemas.microsoft.com/office/drawing/2014/main" id="{CA9ABC3C-3E41-4AAE-9B61-812803666936}"/>
              </a:ext>
            </a:extLst>
          </p:cNvPr>
          <p:cNvSpPr>
            <a:spLocks noGrp="1"/>
          </p:cNvSpPr>
          <p:nvPr/>
        </p:nvSpPr>
        <p:spPr>
          <a:xfrm>
            <a:off x="3143250" y="6191250"/>
            <a:ext cx="8343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 single canonical feature extractor is shared across data generation, training, and inference.</a:t>
            </a:r>
          </a:p>
        </p:txBody>
      </p:sp>
    </p:spTree>
    <p:extLst>
      <p:ext uri="{BB962C8B-B14F-4D97-AF65-F5344CB8AC3E}">
        <p14:creationId xmlns:p14="http://schemas.microsoft.com/office/powerpoint/2010/main" val="353297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op-maroon">
            <a:extLst>
              <a:ext uri="{FF2B5EF4-FFF2-40B4-BE49-F238E27FC236}">
                <a16:creationId xmlns:a16="http://schemas.microsoft.com/office/drawing/2014/main" id="{1F7377A4-C9E0-4E7E-89F3-F3FF499345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3A0E572C-8E27-4320-B638-A5478DD4AA82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761A6EBB-5156-4F1F-A119-8ED41F058DFB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54CE7DB-6BB2-4DCA-8F4D-132CC95D3543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Feature importance follows structural sorting signals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EBA0437F-0D43-4145-B7A0-AB6A20F47862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A65ADC4B-044A-4A65-8147-917E2BEF194E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12/34</a:t>
            </a:r>
          </a:p>
        </p:txBody>
      </p:sp>
      <p:sp>
        <p:nvSpPr>
          <p:cNvPr id="7" name="chart-frame">
            <a:extLst>
              <a:ext uri="{FF2B5EF4-FFF2-40B4-BE49-F238E27FC236}">
                <a16:creationId xmlns:a16="http://schemas.microsoft.com/office/drawing/2014/main" id="{49F01D87-9AA5-4A33-84FA-ED3F3F2E366A}"/>
              </a:ext>
            </a:extLst>
          </p:cNvPr>
          <p:cNvSpPr>
            <a:spLocks noGrp="1"/>
          </p:cNvSpPr>
          <p:nvPr/>
        </p:nvSpPr>
        <p:spPr>
          <a:xfrm>
            <a:off x="1190625" y="1524000"/>
            <a:ext cx="12268200" cy="533400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i-name-0">
            <a:extLst>
              <a:ext uri="{FF2B5EF4-FFF2-40B4-BE49-F238E27FC236}">
                <a16:creationId xmlns:a16="http://schemas.microsoft.com/office/drawing/2014/main" id="{04ABB564-CBDE-434A-A337-71514B763DB1}"/>
              </a:ext>
            </a:extLst>
          </p:cNvPr>
          <p:cNvSpPr>
            <a:spLocks noGrp="1"/>
          </p:cNvSpPr>
          <p:nvPr/>
        </p:nvSpPr>
        <p:spPr>
          <a:xfrm>
            <a:off x="2000250" y="2000250"/>
            <a:ext cx="252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length_norm</a:t>
            </a:r>
          </a:p>
        </p:txBody>
      </p:sp>
      <p:sp>
        <p:nvSpPr>
          <p:cNvPr id="9" name="fi-bar-0">
            <a:extLst>
              <a:ext uri="{FF2B5EF4-FFF2-40B4-BE49-F238E27FC236}">
                <a16:creationId xmlns:a16="http://schemas.microsoft.com/office/drawing/2014/main" id="{5B3DFB91-1A5D-4E61-A36A-43044151C6BA}"/>
              </a:ext>
            </a:extLst>
          </p:cNvPr>
          <p:cNvSpPr>
            <a:spLocks noGrp="1"/>
          </p:cNvSpPr>
          <p:nvPr/>
        </p:nvSpPr>
        <p:spPr>
          <a:xfrm>
            <a:off x="4810125" y="2047875"/>
            <a:ext cx="6007806" cy="22860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fi-val-0">
            <a:extLst>
              <a:ext uri="{FF2B5EF4-FFF2-40B4-BE49-F238E27FC236}">
                <a16:creationId xmlns:a16="http://schemas.microsoft.com/office/drawing/2014/main" id="{ECC897C5-7FC1-454C-A6AF-8EBE35FBA111}"/>
              </a:ext>
            </a:extLst>
          </p:cNvPr>
          <p:cNvSpPr>
            <a:spLocks noGrp="1"/>
          </p:cNvSpPr>
          <p:nvPr/>
        </p:nvSpPr>
        <p:spPr>
          <a:xfrm>
            <a:off x="11334750" y="2000250"/>
            <a:ext cx="904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0.262</a:t>
            </a:r>
          </a:p>
        </p:txBody>
      </p:sp>
      <p:sp>
        <p:nvSpPr>
          <p:cNvPr id="11" name="fi-name-1">
            <a:extLst>
              <a:ext uri="{FF2B5EF4-FFF2-40B4-BE49-F238E27FC236}">
                <a16:creationId xmlns:a16="http://schemas.microsoft.com/office/drawing/2014/main" id="{6B7786E7-2BC8-421D-9A4C-DA7D14ED951F}"/>
              </a:ext>
            </a:extLst>
          </p:cNvPr>
          <p:cNvSpPr>
            <a:spLocks noGrp="1"/>
          </p:cNvSpPr>
          <p:nvPr/>
        </p:nvSpPr>
        <p:spPr>
          <a:xfrm>
            <a:off x="2000250" y="2428875"/>
            <a:ext cx="252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top5_freq_ratio</a:t>
            </a:r>
          </a:p>
        </p:txBody>
      </p:sp>
      <p:sp>
        <p:nvSpPr>
          <p:cNvPr id="12" name="fi-bar-1">
            <a:extLst>
              <a:ext uri="{FF2B5EF4-FFF2-40B4-BE49-F238E27FC236}">
                <a16:creationId xmlns:a16="http://schemas.microsoft.com/office/drawing/2014/main" id="{65E1BB4C-1F05-4B02-8642-0F3151C6EB44}"/>
              </a:ext>
            </a:extLst>
          </p:cNvPr>
          <p:cNvSpPr>
            <a:spLocks noGrp="1"/>
          </p:cNvSpPr>
          <p:nvPr/>
        </p:nvSpPr>
        <p:spPr>
          <a:xfrm>
            <a:off x="4810125" y="2476500"/>
            <a:ext cx="4219222" cy="22860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fi-val-1">
            <a:extLst>
              <a:ext uri="{FF2B5EF4-FFF2-40B4-BE49-F238E27FC236}">
                <a16:creationId xmlns:a16="http://schemas.microsoft.com/office/drawing/2014/main" id="{E2F9EC76-DB35-4282-83AB-2D5BD08A32AE}"/>
              </a:ext>
            </a:extLst>
          </p:cNvPr>
          <p:cNvSpPr>
            <a:spLocks noGrp="1"/>
          </p:cNvSpPr>
          <p:nvPr/>
        </p:nvSpPr>
        <p:spPr>
          <a:xfrm>
            <a:off x="11334750" y="2428875"/>
            <a:ext cx="904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0.184</a:t>
            </a:r>
          </a:p>
        </p:txBody>
      </p:sp>
      <p:sp>
        <p:nvSpPr>
          <p:cNvPr id="14" name="fi-name-2">
            <a:extLst>
              <a:ext uri="{FF2B5EF4-FFF2-40B4-BE49-F238E27FC236}">
                <a16:creationId xmlns:a16="http://schemas.microsoft.com/office/drawing/2014/main" id="{6264EBFC-4312-4661-AA64-812375759351}"/>
              </a:ext>
            </a:extLst>
          </p:cNvPr>
          <p:cNvSpPr>
            <a:spLocks noGrp="1"/>
          </p:cNvSpPr>
          <p:nvPr/>
        </p:nvSpPr>
        <p:spPr>
          <a:xfrm>
            <a:off x="2000250" y="2857500"/>
            <a:ext cx="252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longest_run_ratio</a:t>
            </a:r>
          </a:p>
        </p:txBody>
      </p:sp>
      <p:sp>
        <p:nvSpPr>
          <p:cNvPr id="15" name="fi-bar-2">
            <a:extLst>
              <a:ext uri="{FF2B5EF4-FFF2-40B4-BE49-F238E27FC236}">
                <a16:creationId xmlns:a16="http://schemas.microsoft.com/office/drawing/2014/main" id="{8E9E0684-D7AB-4F16-A977-CC4658AB79AA}"/>
              </a:ext>
            </a:extLst>
          </p:cNvPr>
          <p:cNvSpPr>
            <a:spLocks noGrp="1"/>
          </p:cNvSpPr>
          <p:nvPr/>
        </p:nvSpPr>
        <p:spPr>
          <a:xfrm>
            <a:off x="4810125" y="2905125"/>
            <a:ext cx="1834444" cy="228600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fi-val-2">
            <a:extLst>
              <a:ext uri="{FF2B5EF4-FFF2-40B4-BE49-F238E27FC236}">
                <a16:creationId xmlns:a16="http://schemas.microsoft.com/office/drawing/2014/main" id="{DC27993E-349D-45D8-8F09-A0C3A97D39E8}"/>
              </a:ext>
            </a:extLst>
          </p:cNvPr>
          <p:cNvSpPr>
            <a:spLocks noGrp="1"/>
          </p:cNvSpPr>
          <p:nvPr/>
        </p:nvSpPr>
        <p:spPr>
          <a:xfrm>
            <a:off x="11334750" y="2857500"/>
            <a:ext cx="904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0.080</a:t>
            </a:r>
          </a:p>
        </p:txBody>
      </p:sp>
      <p:sp>
        <p:nvSpPr>
          <p:cNvPr id="17" name="fi-name-3">
            <a:extLst>
              <a:ext uri="{FF2B5EF4-FFF2-40B4-BE49-F238E27FC236}">
                <a16:creationId xmlns:a16="http://schemas.microsoft.com/office/drawing/2014/main" id="{A9F862AD-C535-4B8C-9E89-69F203000735}"/>
              </a:ext>
            </a:extLst>
          </p:cNvPr>
          <p:cNvSpPr>
            <a:spLocks noGrp="1"/>
          </p:cNvSpPr>
          <p:nvPr/>
        </p:nvSpPr>
        <p:spPr>
          <a:xfrm>
            <a:off x="2000250" y="3286125"/>
            <a:ext cx="252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duplicate_ratio</a:t>
            </a:r>
          </a:p>
        </p:txBody>
      </p:sp>
      <p:sp>
        <p:nvSpPr>
          <p:cNvPr id="18" name="fi-bar-3">
            <a:extLst>
              <a:ext uri="{FF2B5EF4-FFF2-40B4-BE49-F238E27FC236}">
                <a16:creationId xmlns:a16="http://schemas.microsoft.com/office/drawing/2014/main" id="{3126C3FC-D3F1-4830-B22C-3E1C71E3C204}"/>
              </a:ext>
            </a:extLst>
          </p:cNvPr>
          <p:cNvSpPr>
            <a:spLocks noGrp="1"/>
          </p:cNvSpPr>
          <p:nvPr/>
        </p:nvSpPr>
        <p:spPr>
          <a:xfrm>
            <a:off x="4810125" y="3333750"/>
            <a:ext cx="1811514" cy="228600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fi-val-3">
            <a:extLst>
              <a:ext uri="{FF2B5EF4-FFF2-40B4-BE49-F238E27FC236}">
                <a16:creationId xmlns:a16="http://schemas.microsoft.com/office/drawing/2014/main" id="{1932A0DF-9292-41F7-AE1D-A434949DD964}"/>
              </a:ext>
            </a:extLst>
          </p:cNvPr>
          <p:cNvSpPr>
            <a:spLocks noGrp="1"/>
          </p:cNvSpPr>
          <p:nvPr/>
        </p:nvSpPr>
        <p:spPr>
          <a:xfrm>
            <a:off x="11334750" y="3286125"/>
            <a:ext cx="904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0.079</a:t>
            </a:r>
          </a:p>
        </p:txBody>
      </p:sp>
      <p:sp>
        <p:nvSpPr>
          <p:cNvPr id="20" name="fi-name-4">
            <a:extLst>
              <a:ext uri="{FF2B5EF4-FFF2-40B4-BE49-F238E27FC236}">
                <a16:creationId xmlns:a16="http://schemas.microsoft.com/office/drawing/2014/main" id="{73000D36-7E0E-4A95-83F4-BCDC637F5487}"/>
              </a:ext>
            </a:extLst>
          </p:cNvPr>
          <p:cNvSpPr>
            <a:spLocks noGrp="1"/>
          </p:cNvSpPr>
          <p:nvPr/>
        </p:nvSpPr>
        <p:spPr>
          <a:xfrm>
            <a:off x="2000250" y="3714750"/>
            <a:ext cx="252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entropy_ratio</a:t>
            </a:r>
          </a:p>
        </p:txBody>
      </p:sp>
      <p:sp>
        <p:nvSpPr>
          <p:cNvPr id="21" name="fi-bar-4">
            <a:extLst>
              <a:ext uri="{FF2B5EF4-FFF2-40B4-BE49-F238E27FC236}">
                <a16:creationId xmlns:a16="http://schemas.microsoft.com/office/drawing/2014/main" id="{BA52FE98-F9D7-465D-A051-1CBF7C713FCE}"/>
              </a:ext>
            </a:extLst>
          </p:cNvPr>
          <p:cNvSpPr>
            <a:spLocks noGrp="1"/>
          </p:cNvSpPr>
          <p:nvPr/>
        </p:nvSpPr>
        <p:spPr>
          <a:xfrm>
            <a:off x="4810125" y="3762375"/>
            <a:ext cx="1719792" cy="228600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fi-val-4">
            <a:extLst>
              <a:ext uri="{FF2B5EF4-FFF2-40B4-BE49-F238E27FC236}">
                <a16:creationId xmlns:a16="http://schemas.microsoft.com/office/drawing/2014/main" id="{A2C8D33A-B358-4EF9-BEB8-18B3BCFA393E}"/>
              </a:ext>
            </a:extLst>
          </p:cNvPr>
          <p:cNvSpPr>
            <a:spLocks noGrp="1"/>
          </p:cNvSpPr>
          <p:nvPr/>
        </p:nvSpPr>
        <p:spPr>
          <a:xfrm>
            <a:off x="11334750" y="3714750"/>
            <a:ext cx="904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0.075</a:t>
            </a:r>
          </a:p>
        </p:txBody>
      </p:sp>
      <p:sp>
        <p:nvSpPr>
          <p:cNvPr id="23" name="fi-name-5">
            <a:extLst>
              <a:ext uri="{FF2B5EF4-FFF2-40B4-BE49-F238E27FC236}">
                <a16:creationId xmlns:a16="http://schemas.microsoft.com/office/drawing/2014/main" id="{C951BBD8-5AC7-40EC-95C0-E98F72AE753B}"/>
              </a:ext>
            </a:extLst>
          </p:cNvPr>
          <p:cNvSpPr>
            <a:spLocks noGrp="1"/>
          </p:cNvSpPr>
          <p:nvPr/>
        </p:nvSpPr>
        <p:spPr>
          <a:xfrm>
            <a:off x="2000250" y="4143375"/>
            <a:ext cx="252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top1_freq_ratio</a:t>
            </a:r>
          </a:p>
        </p:txBody>
      </p:sp>
      <p:sp>
        <p:nvSpPr>
          <p:cNvPr id="24" name="fi-bar-5">
            <a:extLst>
              <a:ext uri="{FF2B5EF4-FFF2-40B4-BE49-F238E27FC236}">
                <a16:creationId xmlns:a16="http://schemas.microsoft.com/office/drawing/2014/main" id="{EA33859A-E9C9-43F7-86E3-D4B359ECE409}"/>
              </a:ext>
            </a:extLst>
          </p:cNvPr>
          <p:cNvSpPr>
            <a:spLocks noGrp="1"/>
          </p:cNvSpPr>
          <p:nvPr/>
        </p:nvSpPr>
        <p:spPr>
          <a:xfrm>
            <a:off x="4810125" y="4191000"/>
            <a:ext cx="1169458" cy="228600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fi-val-5">
            <a:extLst>
              <a:ext uri="{FF2B5EF4-FFF2-40B4-BE49-F238E27FC236}">
                <a16:creationId xmlns:a16="http://schemas.microsoft.com/office/drawing/2014/main" id="{94C4ECFC-6C3D-4A2B-A198-49FF765D7F22}"/>
              </a:ext>
            </a:extLst>
          </p:cNvPr>
          <p:cNvSpPr>
            <a:spLocks noGrp="1"/>
          </p:cNvSpPr>
          <p:nvPr/>
        </p:nvSpPr>
        <p:spPr>
          <a:xfrm>
            <a:off x="11334750" y="4143375"/>
            <a:ext cx="904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0.051</a:t>
            </a:r>
          </a:p>
        </p:txBody>
      </p:sp>
      <p:sp>
        <p:nvSpPr>
          <p:cNvPr id="26" name="fi-name-6">
            <a:extLst>
              <a:ext uri="{FF2B5EF4-FFF2-40B4-BE49-F238E27FC236}">
                <a16:creationId xmlns:a16="http://schemas.microsoft.com/office/drawing/2014/main" id="{216D4F3B-D57D-4F81-B7F2-2ECBCE2E2EBB}"/>
              </a:ext>
            </a:extLst>
          </p:cNvPr>
          <p:cNvSpPr>
            <a:spLocks noGrp="1"/>
          </p:cNvSpPr>
          <p:nvPr/>
        </p:nvSpPr>
        <p:spPr>
          <a:xfrm>
            <a:off x="2000250" y="4572000"/>
            <a:ext cx="252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runs_ratio</a:t>
            </a:r>
          </a:p>
        </p:txBody>
      </p:sp>
      <p:sp>
        <p:nvSpPr>
          <p:cNvPr id="27" name="fi-bar-6">
            <a:extLst>
              <a:ext uri="{FF2B5EF4-FFF2-40B4-BE49-F238E27FC236}">
                <a16:creationId xmlns:a16="http://schemas.microsoft.com/office/drawing/2014/main" id="{27369C9A-3B8B-4825-93ED-0E9609E38307}"/>
              </a:ext>
            </a:extLst>
          </p:cNvPr>
          <p:cNvSpPr>
            <a:spLocks noGrp="1"/>
          </p:cNvSpPr>
          <p:nvPr/>
        </p:nvSpPr>
        <p:spPr>
          <a:xfrm>
            <a:off x="4810125" y="4619625"/>
            <a:ext cx="940153" cy="228600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fi-val-6">
            <a:extLst>
              <a:ext uri="{FF2B5EF4-FFF2-40B4-BE49-F238E27FC236}">
                <a16:creationId xmlns:a16="http://schemas.microsoft.com/office/drawing/2014/main" id="{81506EDC-7B2E-4A5E-9B97-B2156F17796E}"/>
              </a:ext>
            </a:extLst>
          </p:cNvPr>
          <p:cNvSpPr>
            <a:spLocks noGrp="1"/>
          </p:cNvSpPr>
          <p:nvPr/>
        </p:nvSpPr>
        <p:spPr>
          <a:xfrm>
            <a:off x="11334750" y="4572000"/>
            <a:ext cx="904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0.041</a:t>
            </a:r>
          </a:p>
        </p:txBody>
      </p:sp>
      <p:sp>
        <p:nvSpPr>
          <p:cNvPr id="29" name="fi-name-7">
            <a:extLst>
              <a:ext uri="{FF2B5EF4-FFF2-40B4-BE49-F238E27FC236}">
                <a16:creationId xmlns:a16="http://schemas.microsoft.com/office/drawing/2014/main" id="{F09CF5CE-E359-4E2B-BFD2-031F00A69884}"/>
              </a:ext>
            </a:extLst>
          </p:cNvPr>
          <p:cNvSpPr>
            <a:spLocks noGrp="1"/>
          </p:cNvSpPr>
          <p:nvPr/>
        </p:nvSpPr>
        <p:spPr>
          <a:xfrm>
            <a:off x="2000250" y="5000625"/>
            <a:ext cx="252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adj_sorted_ratio</a:t>
            </a:r>
          </a:p>
        </p:txBody>
      </p:sp>
      <p:sp>
        <p:nvSpPr>
          <p:cNvPr id="30" name="fi-bar-7">
            <a:extLst>
              <a:ext uri="{FF2B5EF4-FFF2-40B4-BE49-F238E27FC236}">
                <a16:creationId xmlns:a16="http://schemas.microsoft.com/office/drawing/2014/main" id="{D80A297E-FFD9-4A78-91A2-F2DB80CBA6B7}"/>
              </a:ext>
            </a:extLst>
          </p:cNvPr>
          <p:cNvSpPr>
            <a:spLocks noGrp="1"/>
          </p:cNvSpPr>
          <p:nvPr/>
        </p:nvSpPr>
        <p:spPr>
          <a:xfrm>
            <a:off x="4810125" y="5048250"/>
            <a:ext cx="940153" cy="228600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fi-val-7">
            <a:extLst>
              <a:ext uri="{FF2B5EF4-FFF2-40B4-BE49-F238E27FC236}">
                <a16:creationId xmlns:a16="http://schemas.microsoft.com/office/drawing/2014/main" id="{AA37CDF8-BCB0-4843-9CD5-7AE8D539CBF8}"/>
              </a:ext>
            </a:extLst>
          </p:cNvPr>
          <p:cNvSpPr>
            <a:spLocks noGrp="1"/>
          </p:cNvSpPr>
          <p:nvPr/>
        </p:nvSpPr>
        <p:spPr>
          <a:xfrm>
            <a:off x="11334750" y="5000625"/>
            <a:ext cx="904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0.041</a:t>
            </a:r>
          </a:p>
        </p:txBody>
      </p:sp>
      <p:sp>
        <p:nvSpPr>
          <p:cNvPr id="32" name="fi-name-8">
            <a:extLst>
              <a:ext uri="{FF2B5EF4-FFF2-40B4-BE49-F238E27FC236}">
                <a16:creationId xmlns:a16="http://schemas.microsoft.com/office/drawing/2014/main" id="{54757CC8-DF33-4EF6-A25C-E489784331A7}"/>
              </a:ext>
            </a:extLst>
          </p:cNvPr>
          <p:cNvSpPr>
            <a:spLocks noGrp="1"/>
          </p:cNvSpPr>
          <p:nvPr/>
        </p:nvSpPr>
        <p:spPr>
          <a:xfrm>
            <a:off x="2000250" y="5429250"/>
            <a:ext cx="252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mean_abs_diff_norm</a:t>
            </a:r>
          </a:p>
        </p:txBody>
      </p:sp>
      <p:sp>
        <p:nvSpPr>
          <p:cNvPr id="33" name="fi-bar-8">
            <a:extLst>
              <a:ext uri="{FF2B5EF4-FFF2-40B4-BE49-F238E27FC236}">
                <a16:creationId xmlns:a16="http://schemas.microsoft.com/office/drawing/2014/main" id="{BB963943-9B8C-43FB-BAC6-B0A3B61CFEC8}"/>
              </a:ext>
            </a:extLst>
          </p:cNvPr>
          <p:cNvSpPr>
            <a:spLocks noGrp="1"/>
          </p:cNvSpPr>
          <p:nvPr/>
        </p:nvSpPr>
        <p:spPr>
          <a:xfrm>
            <a:off x="4810125" y="5476875"/>
            <a:ext cx="894292" cy="228600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fi-val-8">
            <a:extLst>
              <a:ext uri="{FF2B5EF4-FFF2-40B4-BE49-F238E27FC236}">
                <a16:creationId xmlns:a16="http://schemas.microsoft.com/office/drawing/2014/main" id="{38A876E2-81F9-44D1-A318-6C84CC0EE044}"/>
              </a:ext>
            </a:extLst>
          </p:cNvPr>
          <p:cNvSpPr>
            <a:spLocks noGrp="1"/>
          </p:cNvSpPr>
          <p:nvPr/>
        </p:nvSpPr>
        <p:spPr>
          <a:xfrm>
            <a:off x="11334750" y="5429250"/>
            <a:ext cx="904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0.039</a:t>
            </a:r>
          </a:p>
        </p:txBody>
      </p:sp>
      <p:sp>
        <p:nvSpPr>
          <p:cNvPr id="35" name="fi-name-9">
            <a:extLst>
              <a:ext uri="{FF2B5EF4-FFF2-40B4-BE49-F238E27FC236}">
                <a16:creationId xmlns:a16="http://schemas.microsoft.com/office/drawing/2014/main" id="{6FF9600D-5C5E-433E-9D74-611677E4AAF7}"/>
              </a:ext>
            </a:extLst>
          </p:cNvPr>
          <p:cNvSpPr>
            <a:spLocks noGrp="1"/>
          </p:cNvSpPr>
          <p:nvPr/>
        </p:nvSpPr>
        <p:spPr>
          <a:xfrm>
            <a:off x="2000250" y="5857875"/>
            <a:ext cx="252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inversion_ratio</a:t>
            </a:r>
          </a:p>
        </p:txBody>
      </p:sp>
      <p:sp>
        <p:nvSpPr>
          <p:cNvPr id="36" name="fi-bar-9">
            <a:extLst>
              <a:ext uri="{FF2B5EF4-FFF2-40B4-BE49-F238E27FC236}">
                <a16:creationId xmlns:a16="http://schemas.microsoft.com/office/drawing/2014/main" id="{495F18D6-8EE5-4F7B-9AC0-0545B9481596}"/>
              </a:ext>
            </a:extLst>
          </p:cNvPr>
          <p:cNvSpPr>
            <a:spLocks noGrp="1"/>
          </p:cNvSpPr>
          <p:nvPr/>
        </p:nvSpPr>
        <p:spPr>
          <a:xfrm>
            <a:off x="4810125" y="5905500"/>
            <a:ext cx="802569" cy="228600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fi-val-9">
            <a:extLst>
              <a:ext uri="{FF2B5EF4-FFF2-40B4-BE49-F238E27FC236}">
                <a16:creationId xmlns:a16="http://schemas.microsoft.com/office/drawing/2014/main" id="{FBD1DF3C-F1EA-4DDD-B90C-4A59A73B53A9}"/>
              </a:ext>
            </a:extLst>
          </p:cNvPr>
          <p:cNvSpPr>
            <a:spLocks noGrp="1"/>
          </p:cNvSpPr>
          <p:nvPr/>
        </p:nvSpPr>
        <p:spPr>
          <a:xfrm>
            <a:off x="11334750" y="5857875"/>
            <a:ext cx="904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0.035</a:t>
            </a:r>
          </a:p>
        </p:txBody>
      </p:sp>
    </p:spTree>
    <p:extLst>
      <p:ext uri="{BB962C8B-B14F-4D97-AF65-F5344CB8AC3E}">
        <p14:creationId xmlns:p14="http://schemas.microsoft.com/office/powerpoint/2010/main" val="1578189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op-maroon">
            <a:extLst>
              <a:ext uri="{FF2B5EF4-FFF2-40B4-BE49-F238E27FC236}">
                <a16:creationId xmlns:a16="http://schemas.microsoft.com/office/drawing/2014/main" id="{32EF132D-D928-458A-97E0-26FEF24EA2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9F1400FA-E06B-4CF2-A899-F981F4D93A35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B684814D-3B85-43FB-8F87-CC0C091B7CAE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12C93121-2011-4A49-8B1A-A40DC516CD3F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Labels are empirical fastest-algorithm measurements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714F49D6-4F7A-4104-A3C5-D60DE4161FCF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9DA45FB8-00F0-4B16-AB95-51D845C6D3AF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13/34</a:t>
            </a:r>
          </a:p>
        </p:txBody>
      </p:sp>
      <p:sp>
        <p:nvSpPr>
          <p:cNvPr id="7" name="pipe">
            <a:extLst>
              <a:ext uri="{FF2B5EF4-FFF2-40B4-BE49-F238E27FC236}">
                <a16:creationId xmlns:a16="http://schemas.microsoft.com/office/drawing/2014/main" id="{F4EF2D77-67E3-4C05-B6A2-3A8EF113A760}"/>
              </a:ext>
            </a:extLst>
          </p:cNvPr>
          <p:cNvSpPr>
            <a:spLocks noGrp="1"/>
          </p:cNvSpPr>
          <p:nvPr/>
        </p:nvSpPr>
        <p:spPr>
          <a:xfrm>
            <a:off x="1524000" y="1809750"/>
            <a:ext cx="11239500" cy="3095625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rans-0">
            <a:extLst>
              <a:ext uri="{FF2B5EF4-FFF2-40B4-BE49-F238E27FC236}">
                <a16:creationId xmlns:a16="http://schemas.microsoft.com/office/drawing/2014/main" id="{B86700C0-3C65-40BE-959E-FD3677CEB938}"/>
              </a:ext>
            </a:extLst>
          </p:cNvPr>
          <p:cNvSpPr>
            <a:spLocks noGrp="1"/>
          </p:cNvSpPr>
          <p:nvPr/>
        </p:nvSpPr>
        <p:spPr>
          <a:xfrm>
            <a:off x="2190750" y="2857500"/>
            <a:ext cx="1143000" cy="533400"/>
          </a:xfrm>
          <a:prstGeom prst="roundRect">
            <a:avLst>
              <a:gd name="adj" fmla="val 10714"/>
            </a:avLst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rans-0-title">
            <a:extLst>
              <a:ext uri="{FF2B5EF4-FFF2-40B4-BE49-F238E27FC236}">
                <a16:creationId xmlns:a16="http://schemas.microsoft.com/office/drawing/2014/main" id="{8CAD9169-C68E-485C-B230-EA4631AE33B2}"/>
              </a:ext>
            </a:extLst>
          </p:cNvPr>
          <p:cNvSpPr>
            <a:spLocks noGrp="1"/>
          </p:cNvSpPr>
          <p:nvPr/>
        </p:nvSpPr>
        <p:spPr>
          <a:xfrm>
            <a:off x="2362200" y="3009900"/>
            <a:ext cx="80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RAW</a:t>
            </a:r>
          </a:p>
        </p:txBody>
      </p:sp>
      <p:sp>
        <p:nvSpPr>
          <p:cNvPr id="10" name="trans-1">
            <a:extLst>
              <a:ext uri="{FF2B5EF4-FFF2-40B4-BE49-F238E27FC236}">
                <a16:creationId xmlns:a16="http://schemas.microsoft.com/office/drawing/2014/main" id="{A902D289-84C5-4D36-BE71-C18D1E00BA44}"/>
              </a:ext>
            </a:extLst>
          </p:cNvPr>
          <p:cNvSpPr>
            <a:spLocks noGrp="1"/>
          </p:cNvSpPr>
          <p:nvPr/>
        </p:nvSpPr>
        <p:spPr>
          <a:xfrm>
            <a:off x="4095750" y="2857500"/>
            <a:ext cx="1143000" cy="533400"/>
          </a:xfrm>
          <a:prstGeom prst="roundRect">
            <a:avLst>
              <a:gd name="adj" fmla="val 10714"/>
            </a:avLst>
          </a:prstGeom>
          <a:solidFill>
            <a:srgbClr val="B915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rans-1-title">
            <a:extLst>
              <a:ext uri="{FF2B5EF4-FFF2-40B4-BE49-F238E27FC236}">
                <a16:creationId xmlns:a16="http://schemas.microsoft.com/office/drawing/2014/main" id="{190ED9A6-8CA1-4A8A-AAEF-5EAAF1291AD4}"/>
              </a:ext>
            </a:extLst>
          </p:cNvPr>
          <p:cNvSpPr>
            <a:spLocks noGrp="1"/>
          </p:cNvSpPr>
          <p:nvPr/>
        </p:nvSpPr>
        <p:spPr>
          <a:xfrm>
            <a:off x="4267200" y="3009900"/>
            <a:ext cx="80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REV</a:t>
            </a:r>
          </a:p>
        </p:txBody>
      </p:sp>
      <p:sp>
        <p:nvSpPr>
          <p:cNvPr id="12" name="trans-2">
            <a:extLst>
              <a:ext uri="{FF2B5EF4-FFF2-40B4-BE49-F238E27FC236}">
                <a16:creationId xmlns:a16="http://schemas.microsoft.com/office/drawing/2014/main" id="{B13AA010-B59B-4A12-8522-18C7C16DA0A0}"/>
              </a:ext>
            </a:extLst>
          </p:cNvPr>
          <p:cNvSpPr>
            <a:spLocks noGrp="1"/>
          </p:cNvSpPr>
          <p:nvPr/>
        </p:nvSpPr>
        <p:spPr>
          <a:xfrm>
            <a:off x="6000750" y="2857500"/>
            <a:ext cx="1143000" cy="533400"/>
          </a:xfrm>
          <a:prstGeom prst="roundRect">
            <a:avLst>
              <a:gd name="adj" fmla="val 10714"/>
            </a:avLst>
          </a:prstGeom>
          <a:solidFill>
            <a:srgbClr val="2FA06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rans-2-title">
            <a:extLst>
              <a:ext uri="{FF2B5EF4-FFF2-40B4-BE49-F238E27FC236}">
                <a16:creationId xmlns:a16="http://schemas.microsoft.com/office/drawing/2014/main" id="{BCA28C8A-152F-4786-B066-29E933DDD9A8}"/>
              </a:ext>
            </a:extLst>
          </p:cNvPr>
          <p:cNvSpPr>
            <a:spLocks noGrp="1"/>
          </p:cNvSpPr>
          <p:nvPr/>
        </p:nvSpPr>
        <p:spPr>
          <a:xfrm>
            <a:off x="6172200" y="3009900"/>
            <a:ext cx="80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SHUF</a:t>
            </a:r>
          </a:p>
        </p:txBody>
      </p:sp>
      <p:sp>
        <p:nvSpPr>
          <p:cNvPr id="14" name="trans-3">
            <a:extLst>
              <a:ext uri="{FF2B5EF4-FFF2-40B4-BE49-F238E27FC236}">
                <a16:creationId xmlns:a16="http://schemas.microsoft.com/office/drawing/2014/main" id="{A802CB48-B5BB-4A20-A04C-C0A415A7ED1B}"/>
              </a:ext>
            </a:extLst>
          </p:cNvPr>
          <p:cNvSpPr>
            <a:spLocks noGrp="1"/>
          </p:cNvSpPr>
          <p:nvPr/>
        </p:nvSpPr>
        <p:spPr>
          <a:xfrm>
            <a:off x="7905750" y="2857500"/>
            <a:ext cx="1143000" cy="533400"/>
          </a:xfrm>
          <a:prstGeom prst="roundRect">
            <a:avLst>
              <a:gd name="adj" fmla="val 10714"/>
            </a:avLst>
          </a:prstGeom>
          <a:solidFill>
            <a:srgbClr val="7A6FB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rans-3-title">
            <a:extLst>
              <a:ext uri="{FF2B5EF4-FFF2-40B4-BE49-F238E27FC236}">
                <a16:creationId xmlns:a16="http://schemas.microsoft.com/office/drawing/2014/main" id="{CD7BEF09-4BE4-4D43-B84D-0AB7EE6EC4C1}"/>
              </a:ext>
            </a:extLst>
          </p:cNvPr>
          <p:cNvSpPr>
            <a:spLocks noGrp="1"/>
          </p:cNvSpPr>
          <p:nvPr/>
        </p:nvSpPr>
        <p:spPr>
          <a:xfrm>
            <a:off x="8077200" y="3009900"/>
            <a:ext cx="80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QBIN50</a:t>
            </a:r>
          </a:p>
        </p:txBody>
      </p:sp>
      <p:sp>
        <p:nvSpPr>
          <p:cNvPr id="16" name="trans-4">
            <a:extLst>
              <a:ext uri="{FF2B5EF4-FFF2-40B4-BE49-F238E27FC236}">
                <a16:creationId xmlns:a16="http://schemas.microsoft.com/office/drawing/2014/main" id="{A655F0EA-083E-46F8-A9D3-A2B1EA746319}"/>
              </a:ext>
            </a:extLst>
          </p:cNvPr>
          <p:cNvSpPr>
            <a:spLocks noGrp="1"/>
          </p:cNvSpPr>
          <p:nvPr/>
        </p:nvSpPr>
        <p:spPr>
          <a:xfrm>
            <a:off x="9810750" y="2857500"/>
            <a:ext cx="1143000" cy="533400"/>
          </a:xfrm>
          <a:prstGeom prst="roundRect">
            <a:avLst>
              <a:gd name="adj" fmla="val 10714"/>
            </a:avLst>
          </a:prstGeom>
          <a:solidFill>
            <a:srgbClr val="E28B3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rans-4-title">
            <a:extLst>
              <a:ext uri="{FF2B5EF4-FFF2-40B4-BE49-F238E27FC236}">
                <a16:creationId xmlns:a16="http://schemas.microsoft.com/office/drawing/2014/main" id="{7420EDDA-0078-434F-8D8C-3B13AEC06C10}"/>
              </a:ext>
            </a:extLst>
          </p:cNvPr>
          <p:cNvSpPr>
            <a:spLocks noGrp="1"/>
          </p:cNvSpPr>
          <p:nvPr/>
        </p:nvSpPr>
        <p:spPr>
          <a:xfrm>
            <a:off x="9982200" y="3009900"/>
            <a:ext cx="80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PSORT10</a:t>
            </a:r>
          </a:p>
        </p:txBody>
      </p:sp>
      <p:sp>
        <p:nvSpPr>
          <p:cNvPr id="18" name="timer">
            <a:extLst>
              <a:ext uri="{FF2B5EF4-FFF2-40B4-BE49-F238E27FC236}">
                <a16:creationId xmlns:a16="http://schemas.microsoft.com/office/drawing/2014/main" id="{C017773C-3A06-4432-8B19-6C108808F198}"/>
              </a:ext>
            </a:extLst>
          </p:cNvPr>
          <p:cNvSpPr>
            <a:spLocks noGrp="1"/>
          </p:cNvSpPr>
          <p:nvPr/>
        </p:nvSpPr>
        <p:spPr>
          <a:xfrm>
            <a:off x="6048375" y="3857625"/>
            <a:ext cx="2524125" cy="723900"/>
          </a:xfrm>
          <a:prstGeom prst="roundRect">
            <a:avLst>
              <a:gd name="adj" fmla="val 7895"/>
            </a:avLst>
          </a:prstGeom>
          <a:solidFill>
            <a:srgbClr val="DDEFF9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imer-title">
            <a:extLst>
              <a:ext uri="{FF2B5EF4-FFF2-40B4-BE49-F238E27FC236}">
                <a16:creationId xmlns:a16="http://schemas.microsoft.com/office/drawing/2014/main" id="{41A3AE25-49A4-4E3A-9EB5-0480D0C98DBD}"/>
              </a:ext>
            </a:extLst>
          </p:cNvPr>
          <p:cNvSpPr>
            <a:spLocks noGrp="1"/>
          </p:cNvSpPr>
          <p:nvPr/>
        </p:nvSpPr>
        <p:spPr>
          <a:xfrm>
            <a:off x="6219825" y="4010025"/>
            <a:ext cx="2181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timed copies</a:t>
            </a:r>
          </a:p>
        </p:txBody>
      </p:sp>
      <p:sp>
        <p:nvSpPr>
          <p:cNvPr id="20" name="timer-body">
            <a:extLst>
              <a:ext uri="{FF2B5EF4-FFF2-40B4-BE49-F238E27FC236}">
                <a16:creationId xmlns:a16="http://schemas.microsoft.com/office/drawing/2014/main" id="{1DBA78F8-2453-46F8-82A1-EC970B43FFC1}"/>
              </a:ext>
            </a:extLst>
          </p:cNvPr>
          <p:cNvSpPr>
            <a:spLocks noGrp="1"/>
          </p:cNvSpPr>
          <p:nvPr/>
        </p:nvSpPr>
        <p:spPr>
          <a:xfrm>
            <a:off x="6219825" y="4333875"/>
            <a:ext cx="21812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Introsort / Heapsort / Timsort</a:t>
            </a:r>
          </a:p>
        </p:txBody>
      </p:sp>
      <p:sp>
        <p:nvSpPr>
          <p:cNvPr id="21" name="label-arr-from">
            <a:extLst>
              <a:ext uri="{FF2B5EF4-FFF2-40B4-BE49-F238E27FC236}">
                <a16:creationId xmlns:a16="http://schemas.microsoft.com/office/drawing/2014/main" id="{21674E44-6422-4EF0-BCD3-8A89EBB647D4}"/>
              </a:ext>
            </a:extLst>
          </p:cNvPr>
          <p:cNvSpPr>
            <a:spLocks noGrp="1"/>
          </p:cNvSpPr>
          <p:nvPr/>
        </p:nvSpPr>
        <p:spPr>
          <a:xfrm>
            <a:off x="6858000" y="381000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label-arr-to">
            <a:extLst>
              <a:ext uri="{FF2B5EF4-FFF2-40B4-BE49-F238E27FC236}">
                <a16:creationId xmlns:a16="http://schemas.microsoft.com/office/drawing/2014/main" id="{77A2FD5D-A551-4799-9E3B-E69EA30208AC}"/>
              </a:ext>
            </a:extLst>
          </p:cNvPr>
          <p:cNvSpPr>
            <a:spLocks noGrp="1"/>
          </p:cNvSpPr>
          <p:nvPr/>
        </p:nvSpPr>
        <p:spPr>
          <a:xfrm>
            <a:off x="6858000" y="3476625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48" name="label-arr"/>
          <p:cNvCxnSpPr>
            <a:stCxn id="21" idx="0"/>
            <a:endCxn id="22" idx="2"/>
          </p:cNvCxnSpPr>
          <p:nvPr/>
        </p:nvCxnSpPr>
        <p:spPr>
          <a:xfrm flipV="1">
            <a:off x="6867525" y="3495675"/>
            <a:ext cx="0" cy="314325"/>
          </a:xfrm>
          <a:prstGeom prst="straightConnector1">
            <a:avLst/>
          </a:prstGeom>
          <a:ln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4" name="label-equation">
            <a:extLst>
              <a:ext uri="{FF2B5EF4-FFF2-40B4-BE49-F238E27FC236}">
                <a16:creationId xmlns:a16="http://schemas.microsoft.com/office/drawing/2014/main" id="{5A06893C-FBE3-4B95-953A-3320ECA11E5F}"/>
              </a:ext>
            </a:extLst>
          </p:cNvPr>
          <p:cNvSpPr>
            <a:spLocks noGrp="1"/>
          </p:cNvSpPr>
          <p:nvPr/>
        </p:nvSpPr>
        <p:spPr>
          <a:xfrm>
            <a:off x="4095750" y="5286375"/>
            <a:ext cx="647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label(x) = argmin_a T(a, x)</a:t>
            </a:r>
          </a:p>
        </p:txBody>
      </p:sp>
      <p:sp>
        <p:nvSpPr>
          <p:cNvPr id="25" name="label-note">
            <a:extLst>
              <a:ext uri="{FF2B5EF4-FFF2-40B4-BE49-F238E27FC236}">
                <a16:creationId xmlns:a16="http://schemas.microsoft.com/office/drawing/2014/main" id="{2A37716F-8B9C-4D66-A1CE-0499FD1F6128}"/>
              </a:ext>
            </a:extLst>
          </p:cNvPr>
          <p:cNvSpPr>
            <a:spLocks noGrp="1"/>
          </p:cNvSpPr>
          <p:nvPr/>
        </p:nvSpPr>
        <p:spPr>
          <a:xfrm>
            <a:off x="2238375" y="6191250"/>
            <a:ext cx="10144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RAW, REV, SHUF, QBIN50, and PSORT10 force a non-trivial decision boundary.</a:t>
            </a:r>
          </a:p>
        </p:txBody>
      </p:sp>
    </p:spTree>
    <p:extLst>
      <p:ext uri="{BB962C8B-B14F-4D97-AF65-F5344CB8AC3E}">
        <p14:creationId xmlns:p14="http://schemas.microsoft.com/office/powerpoint/2010/main" val="499825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op-maroon">
            <a:extLst>
              <a:ext uri="{FF2B5EF4-FFF2-40B4-BE49-F238E27FC236}">
                <a16:creationId xmlns:a16="http://schemas.microsoft.com/office/drawing/2014/main" id="{094499D7-126F-4741-8166-A73260C535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6960A0A8-6133-4EA8-840A-533B349845F1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45DEBB09-937F-4DE5-8559-9AB4A61E4D5E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C3DE8A8-7F31-4B4D-A42F-536914DEFED4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Training Dataset and Split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3E83BF78-D2A3-45C1-B76E-AE46DF41E376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8AFAD61D-E6DF-4973-B5CC-0CFC285440C9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14/34</a:t>
            </a:r>
          </a:p>
        </p:txBody>
      </p:sp>
      <p:sp>
        <p:nvSpPr>
          <p:cNvPr id="7" name="split-0">
            <a:extLst>
              <a:ext uri="{FF2B5EF4-FFF2-40B4-BE49-F238E27FC236}">
                <a16:creationId xmlns:a16="http://schemas.microsoft.com/office/drawing/2014/main" id="{80ADAC78-33F2-4D23-BB11-6DAED84CB120}"/>
              </a:ext>
            </a:extLst>
          </p:cNvPr>
          <p:cNvSpPr>
            <a:spLocks noGrp="1"/>
          </p:cNvSpPr>
          <p:nvPr/>
        </p:nvSpPr>
        <p:spPr>
          <a:xfrm>
            <a:off x="1571625" y="1809750"/>
            <a:ext cx="1809750" cy="904875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plit-0-title">
            <a:extLst>
              <a:ext uri="{FF2B5EF4-FFF2-40B4-BE49-F238E27FC236}">
                <a16:creationId xmlns:a16="http://schemas.microsoft.com/office/drawing/2014/main" id="{77C497F1-298B-4FC1-A7DF-8CAAD26581AC}"/>
              </a:ext>
            </a:extLst>
          </p:cNvPr>
          <p:cNvSpPr>
            <a:spLocks noGrp="1"/>
          </p:cNvSpPr>
          <p:nvPr/>
        </p:nvSpPr>
        <p:spPr>
          <a:xfrm>
            <a:off x="1743075" y="19621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1,188,265</a:t>
            </a:r>
          </a:p>
        </p:txBody>
      </p:sp>
      <p:sp>
        <p:nvSpPr>
          <p:cNvPr id="9" name="split-0-body">
            <a:extLst>
              <a:ext uri="{FF2B5EF4-FFF2-40B4-BE49-F238E27FC236}">
                <a16:creationId xmlns:a16="http://schemas.microsoft.com/office/drawing/2014/main" id="{1ADEACBA-F659-44E0-BB25-6B7AF2B4A6FB}"/>
              </a:ext>
            </a:extLst>
          </p:cNvPr>
          <p:cNvSpPr>
            <a:spLocks noGrp="1"/>
          </p:cNvSpPr>
          <p:nvPr/>
        </p:nvSpPr>
        <p:spPr>
          <a:xfrm>
            <a:off x="1743075" y="2286000"/>
            <a:ext cx="1466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collected arrays</a:t>
            </a:r>
          </a:p>
        </p:txBody>
      </p:sp>
      <p:sp>
        <p:nvSpPr>
          <p:cNvPr id="10" name="split-arr-0-from">
            <a:extLst>
              <a:ext uri="{FF2B5EF4-FFF2-40B4-BE49-F238E27FC236}">
                <a16:creationId xmlns:a16="http://schemas.microsoft.com/office/drawing/2014/main" id="{B962AE40-B0A4-44B8-8245-7E8FF90EADDA}"/>
              </a:ext>
            </a:extLst>
          </p:cNvPr>
          <p:cNvSpPr>
            <a:spLocks noGrp="1"/>
          </p:cNvSpPr>
          <p:nvPr/>
        </p:nvSpPr>
        <p:spPr>
          <a:xfrm>
            <a:off x="3857625" y="2257425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plit-arr-0-to">
            <a:extLst>
              <a:ext uri="{FF2B5EF4-FFF2-40B4-BE49-F238E27FC236}">
                <a16:creationId xmlns:a16="http://schemas.microsoft.com/office/drawing/2014/main" id="{177DC15C-1B86-4D1D-9F16-61EA20BB6D7E}"/>
              </a:ext>
            </a:extLst>
          </p:cNvPr>
          <p:cNvSpPr>
            <a:spLocks noGrp="1"/>
          </p:cNvSpPr>
          <p:nvPr/>
        </p:nvSpPr>
        <p:spPr>
          <a:xfrm>
            <a:off x="3429000" y="2257425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57" name="split-arr-0"/>
          <p:cNvCxnSpPr>
            <a:stCxn id="10" idx="1"/>
            <a:endCxn id="11" idx="3"/>
          </p:cNvCxnSpPr>
          <p:nvPr/>
        </p:nvCxnSpPr>
        <p:spPr>
          <a:xfrm flipH="1">
            <a:off x="3448050" y="2266950"/>
            <a:ext cx="409575" cy="0"/>
          </a:xfrm>
          <a:prstGeom prst="straightConnector1">
            <a:avLst/>
          </a:prstGeom>
          <a:ln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3" name="split-1">
            <a:extLst>
              <a:ext uri="{FF2B5EF4-FFF2-40B4-BE49-F238E27FC236}">
                <a16:creationId xmlns:a16="http://schemas.microsoft.com/office/drawing/2014/main" id="{5308A175-2525-4223-BF4B-623752F90FEB}"/>
              </a:ext>
            </a:extLst>
          </p:cNvPr>
          <p:cNvSpPr>
            <a:spLocks noGrp="1"/>
          </p:cNvSpPr>
          <p:nvPr/>
        </p:nvSpPr>
        <p:spPr>
          <a:xfrm>
            <a:off x="3905250" y="1809750"/>
            <a:ext cx="1809750" cy="904875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plit-1-title">
            <a:extLst>
              <a:ext uri="{FF2B5EF4-FFF2-40B4-BE49-F238E27FC236}">
                <a16:creationId xmlns:a16="http://schemas.microsoft.com/office/drawing/2014/main" id="{8698C423-4A3A-4D61-A8BD-5A694A1BCB32}"/>
              </a:ext>
            </a:extLst>
          </p:cNvPr>
          <p:cNvSpPr>
            <a:spLocks noGrp="1"/>
          </p:cNvSpPr>
          <p:nvPr/>
        </p:nvSpPr>
        <p:spPr>
          <a:xfrm>
            <a:off x="4076700" y="19621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1,082,547</a:t>
            </a:r>
          </a:p>
        </p:txBody>
      </p:sp>
      <p:sp>
        <p:nvSpPr>
          <p:cNvPr id="15" name="split-1-body">
            <a:extLst>
              <a:ext uri="{FF2B5EF4-FFF2-40B4-BE49-F238E27FC236}">
                <a16:creationId xmlns:a16="http://schemas.microsoft.com/office/drawing/2014/main" id="{02922E71-92E5-4B8B-9D4D-0D34CA721A20}"/>
              </a:ext>
            </a:extLst>
          </p:cNvPr>
          <p:cNvSpPr>
            <a:spLocks noGrp="1"/>
          </p:cNvSpPr>
          <p:nvPr/>
        </p:nvSpPr>
        <p:spPr>
          <a:xfrm>
            <a:off x="4076700" y="2286000"/>
            <a:ext cx="1466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after near-tie filter</a:t>
            </a:r>
          </a:p>
        </p:txBody>
      </p:sp>
      <p:sp>
        <p:nvSpPr>
          <p:cNvPr id="16" name="split-arr-1-from">
            <a:extLst>
              <a:ext uri="{FF2B5EF4-FFF2-40B4-BE49-F238E27FC236}">
                <a16:creationId xmlns:a16="http://schemas.microsoft.com/office/drawing/2014/main" id="{C031DE16-949B-4C85-A1BD-D5A156FE7F70}"/>
              </a:ext>
            </a:extLst>
          </p:cNvPr>
          <p:cNvSpPr>
            <a:spLocks noGrp="1"/>
          </p:cNvSpPr>
          <p:nvPr/>
        </p:nvSpPr>
        <p:spPr>
          <a:xfrm>
            <a:off x="6191250" y="2257425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plit-arr-1-to">
            <a:extLst>
              <a:ext uri="{FF2B5EF4-FFF2-40B4-BE49-F238E27FC236}">
                <a16:creationId xmlns:a16="http://schemas.microsoft.com/office/drawing/2014/main" id="{85FBC208-E719-4F51-998A-D5A130AE1C9C}"/>
              </a:ext>
            </a:extLst>
          </p:cNvPr>
          <p:cNvSpPr>
            <a:spLocks noGrp="1"/>
          </p:cNvSpPr>
          <p:nvPr/>
        </p:nvSpPr>
        <p:spPr>
          <a:xfrm>
            <a:off x="5762625" y="2257425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63" name="split-arr-1"/>
          <p:cNvCxnSpPr>
            <a:stCxn id="16" idx="1"/>
            <a:endCxn id="17" idx="3"/>
          </p:cNvCxnSpPr>
          <p:nvPr/>
        </p:nvCxnSpPr>
        <p:spPr>
          <a:xfrm flipH="1">
            <a:off x="5781675" y="2266950"/>
            <a:ext cx="409575" cy="0"/>
          </a:xfrm>
          <a:prstGeom prst="straightConnector1">
            <a:avLst/>
          </a:prstGeom>
          <a:ln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split-2">
            <a:extLst>
              <a:ext uri="{FF2B5EF4-FFF2-40B4-BE49-F238E27FC236}">
                <a16:creationId xmlns:a16="http://schemas.microsoft.com/office/drawing/2014/main" id="{EBD1E1E3-49A3-4461-8ED7-ADC0DF46DDBF}"/>
              </a:ext>
            </a:extLst>
          </p:cNvPr>
          <p:cNvSpPr>
            <a:spLocks noGrp="1"/>
          </p:cNvSpPr>
          <p:nvPr/>
        </p:nvSpPr>
        <p:spPr>
          <a:xfrm>
            <a:off x="6238875" y="1809750"/>
            <a:ext cx="1809750" cy="904875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plit-2-title">
            <a:extLst>
              <a:ext uri="{FF2B5EF4-FFF2-40B4-BE49-F238E27FC236}">
                <a16:creationId xmlns:a16="http://schemas.microsoft.com/office/drawing/2014/main" id="{71406EF2-9360-4B4F-A8ED-D5115836B7DC}"/>
              </a:ext>
            </a:extLst>
          </p:cNvPr>
          <p:cNvSpPr>
            <a:spLocks noGrp="1"/>
          </p:cNvSpPr>
          <p:nvPr/>
        </p:nvSpPr>
        <p:spPr>
          <a:xfrm>
            <a:off x="6410325" y="19621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196,624</a:t>
            </a:r>
          </a:p>
        </p:txBody>
      </p:sp>
      <p:sp>
        <p:nvSpPr>
          <p:cNvPr id="21" name="split-2-body">
            <a:extLst>
              <a:ext uri="{FF2B5EF4-FFF2-40B4-BE49-F238E27FC236}">
                <a16:creationId xmlns:a16="http://schemas.microsoft.com/office/drawing/2014/main" id="{2F605A43-4C87-4FF9-8168-24116C562839}"/>
              </a:ext>
            </a:extLst>
          </p:cNvPr>
          <p:cNvSpPr>
            <a:spLocks noGrp="1"/>
          </p:cNvSpPr>
          <p:nvPr/>
        </p:nvSpPr>
        <p:spPr>
          <a:xfrm>
            <a:off x="6410325" y="2286000"/>
            <a:ext cx="1466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after majority cap</a:t>
            </a:r>
          </a:p>
        </p:txBody>
      </p:sp>
      <p:sp>
        <p:nvSpPr>
          <p:cNvPr id="22" name="split-arr-2-from">
            <a:extLst>
              <a:ext uri="{FF2B5EF4-FFF2-40B4-BE49-F238E27FC236}">
                <a16:creationId xmlns:a16="http://schemas.microsoft.com/office/drawing/2014/main" id="{0D6AA2A4-D455-44B5-AB4C-F20C5D9F04EC}"/>
              </a:ext>
            </a:extLst>
          </p:cNvPr>
          <p:cNvSpPr>
            <a:spLocks noGrp="1"/>
          </p:cNvSpPr>
          <p:nvPr/>
        </p:nvSpPr>
        <p:spPr>
          <a:xfrm>
            <a:off x="8524875" y="2257425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plit-arr-2-to">
            <a:extLst>
              <a:ext uri="{FF2B5EF4-FFF2-40B4-BE49-F238E27FC236}">
                <a16:creationId xmlns:a16="http://schemas.microsoft.com/office/drawing/2014/main" id="{9A80670E-94FD-44BD-8B37-E1CE986FCA40}"/>
              </a:ext>
            </a:extLst>
          </p:cNvPr>
          <p:cNvSpPr>
            <a:spLocks noGrp="1"/>
          </p:cNvSpPr>
          <p:nvPr/>
        </p:nvSpPr>
        <p:spPr>
          <a:xfrm>
            <a:off x="8096250" y="2257425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69" name="split-arr-2"/>
          <p:cNvCxnSpPr>
            <a:stCxn id="22" idx="1"/>
            <a:endCxn id="23" idx="3"/>
          </p:cNvCxnSpPr>
          <p:nvPr/>
        </p:nvCxnSpPr>
        <p:spPr>
          <a:xfrm flipH="1">
            <a:off x="8115300" y="2266950"/>
            <a:ext cx="409575" cy="0"/>
          </a:xfrm>
          <a:prstGeom prst="straightConnector1">
            <a:avLst/>
          </a:prstGeom>
          <a:ln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split-3">
            <a:extLst>
              <a:ext uri="{FF2B5EF4-FFF2-40B4-BE49-F238E27FC236}">
                <a16:creationId xmlns:a16="http://schemas.microsoft.com/office/drawing/2014/main" id="{C6C36F85-4CB4-4F25-8D4C-82BD22A56BC7}"/>
              </a:ext>
            </a:extLst>
          </p:cNvPr>
          <p:cNvSpPr>
            <a:spLocks noGrp="1"/>
          </p:cNvSpPr>
          <p:nvPr/>
        </p:nvSpPr>
        <p:spPr>
          <a:xfrm>
            <a:off x="8572500" y="1809750"/>
            <a:ext cx="1809750" cy="904875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plit-3-title">
            <a:extLst>
              <a:ext uri="{FF2B5EF4-FFF2-40B4-BE49-F238E27FC236}">
                <a16:creationId xmlns:a16="http://schemas.microsoft.com/office/drawing/2014/main" id="{EF4698FD-7891-4FDE-98A6-EC8E2B247D4F}"/>
              </a:ext>
            </a:extLst>
          </p:cNvPr>
          <p:cNvSpPr>
            <a:spLocks noGrp="1"/>
          </p:cNvSpPr>
          <p:nvPr/>
        </p:nvSpPr>
        <p:spPr>
          <a:xfrm>
            <a:off x="8743950" y="19621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137,636</a:t>
            </a:r>
          </a:p>
        </p:txBody>
      </p:sp>
      <p:sp>
        <p:nvSpPr>
          <p:cNvPr id="27" name="split-3-body">
            <a:extLst>
              <a:ext uri="{FF2B5EF4-FFF2-40B4-BE49-F238E27FC236}">
                <a16:creationId xmlns:a16="http://schemas.microsoft.com/office/drawing/2014/main" id="{2625F0D8-5E1A-4B24-8F28-E474BCD5EDC2}"/>
              </a:ext>
            </a:extLst>
          </p:cNvPr>
          <p:cNvSpPr>
            <a:spLocks noGrp="1"/>
          </p:cNvSpPr>
          <p:nvPr/>
        </p:nvSpPr>
        <p:spPr>
          <a:xfrm>
            <a:off x="8743950" y="2286000"/>
            <a:ext cx="1466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train</a:t>
            </a:r>
          </a:p>
        </p:txBody>
      </p:sp>
      <p:sp>
        <p:nvSpPr>
          <p:cNvPr id="28" name="split-arr-3-from">
            <a:extLst>
              <a:ext uri="{FF2B5EF4-FFF2-40B4-BE49-F238E27FC236}">
                <a16:creationId xmlns:a16="http://schemas.microsoft.com/office/drawing/2014/main" id="{8FAA3D91-44A9-4854-9170-416594C10438}"/>
              </a:ext>
            </a:extLst>
          </p:cNvPr>
          <p:cNvSpPr>
            <a:spLocks noGrp="1"/>
          </p:cNvSpPr>
          <p:nvPr/>
        </p:nvSpPr>
        <p:spPr>
          <a:xfrm>
            <a:off x="10858500" y="2257425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plit-arr-3-to">
            <a:extLst>
              <a:ext uri="{FF2B5EF4-FFF2-40B4-BE49-F238E27FC236}">
                <a16:creationId xmlns:a16="http://schemas.microsoft.com/office/drawing/2014/main" id="{41748B46-23D5-4AFB-A820-CD005AFC17E4}"/>
              </a:ext>
            </a:extLst>
          </p:cNvPr>
          <p:cNvSpPr>
            <a:spLocks noGrp="1"/>
          </p:cNvSpPr>
          <p:nvPr/>
        </p:nvSpPr>
        <p:spPr>
          <a:xfrm>
            <a:off x="10429875" y="2257425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75" name="split-arr-3"/>
          <p:cNvCxnSpPr>
            <a:stCxn id="28" idx="1"/>
            <a:endCxn id="29" idx="3"/>
          </p:cNvCxnSpPr>
          <p:nvPr/>
        </p:nvCxnSpPr>
        <p:spPr>
          <a:xfrm flipH="1">
            <a:off x="10448925" y="2266950"/>
            <a:ext cx="409575" cy="0"/>
          </a:xfrm>
          <a:prstGeom prst="straightConnector1">
            <a:avLst/>
          </a:prstGeom>
          <a:ln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split-4">
            <a:extLst>
              <a:ext uri="{FF2B5EF4-FFF2-40B4-BE49-F238E27FC236}">
                <a16:creationId xmlns:a16="http://schemas.microsoft.com/office/drawing/2014/main" id="{44FAADD8-03E4-45A7-89E7-96802E5F5A93}"/>
              </a:ext>
            </a:extLst>
          </p:cNvPr>
          <p:cNvSpPr>
            <a:spLocks noGrp="1"/>
          </p:cNvSpPr>
          <p:nvPr/>
        </p:nvSpPr>
        <p:spPr>
          <a:xfrm>
            <a:off x="10906125" y="1809750"/>
            <a:ext cx="1809750" cy="904875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plit-4-title">
            <a:extLst>
              <a:ext uri="{FF2B5EF4-FFF2-40B4-BE49-F238E27FC236}">
                <a16:creationId xmlns:a16="http://schemas.microsoft.com/office/drawing/2014/main" id="{D13C3813-F924-4E4B-90C0-028F7F16F224}"/>
              </a:ext>
            </a:extLst>
          </p:cNvPr>
          <p:cNvSpPr>
            <a:spLocks noGrp="1"/>
          </p:cNvSpPr>
          <p:nvPr/>
        </p:nvSpPr>
        <p:spPr>
          <a:xfrm>
            <a:off x="11077575" y="19621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29,494 / 29,494</a:t>
            </a:r>
          </a:p>
        </p:txBody>
      </p:sp>
      <p:sp>
        <p:nvSpPr>
          <p:cNvPr id="33" name="split-4-body">
            <a:extLst>
              <a:ext uri="{FF2B5EF4-FFF2-40B4-BE49-F238E27FC236}">
                <a16:creationId xmlns:a16="http://schemas.microsoft.com/office/drawing/2014/main" id="{26C9C7AE-A777-4B34-B75D-9F9DEC1C713F}"/>
              </a:ext>
            </a:extLst>
          </p:cNvPr>
          <p:cNvSpPr>
            <a:spLocks noGrp="1"/>
          </p:cNvSpPr>
          <p:nvPr/>
        </p:nvSpPr>
        <p:spPr>
          <a:xfrm>
            <a:off x="11077575" y="2286000"/>
            <a:ext cx="1466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validation / test</a:t>
            </a:r>
          </a:p>
        </p:txBody>
      </p:sp>
      <p:sp>
        <p:nvSpPr>
          <p:cNvPr id="34" name="control-0">
            <a:extLst>
              <a:ext uri="{FF2B5EF4-FFF2-40B4-BE49-F238E27FC236}">
                <a16:creationId xmlns:a16="http://schemas.microsoft.com/office/drawing/2014/main" id="{786CEC10-036F-44BA-813B-C27B83F7A68C}"/>
              </a:ext>
            </a:extLst>
          </p:cNvPr>
          <p:cNvSpPr>
            <a:spLocks noGrp="1"/>
          </p:cNvSpPr>
          <p:nvPr/>
        </p:nvSpPr>
        <p:spPr>
          <a:xfrm>
            <a:off x="1428750" y="4000500"/>
            <a:ext cx="2381250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control-0-title">
            <a:extLst>
              <a:ext uri="{FF2B5EF4-FFF2-40B4-BE49-F238E27FC236}">
                <a16:creationId xmlns:a16="http://schemas.microsoft.com/office/drawing/2014/main" id="{2E03043B-57A1-44FA-BFF7-FAA269ED0CEF}"/>
              </a:ext>
            </a:extLst>
          </p:cNvPr>
          <p:cNvSpPr>
            <a:spLocks noGrp="1"/>
          </p:cNvSpPr>
          <p:nvPr/>
        </p:nvSpPr>
        <p:spPr>
          <a:xfrm>
            <a:off x="1600200" y="41529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near-tie filtering</a:t>
            </a:r>
          </a:p>
        </p:txBody>
      </p:sp>
      <p:sp>
        <p:nvSpPr>
          <p:cNvPr id="36" name="control-0-body">
            <a:extLst>
              <a:ext uri="{FF2B5EF4-FFF2-40B4-BE49-F238E27FC236}">
                <a16:creationId xmlns:a16="http://schemas.microsoft.com/office/drawing/2014/main" id="{1F0B4FE2-966D-45F2-9A8A-0469D6FF535B}"/>
              </a:ext>
            </a:extLst>
          </p:cNvPr>
          <p:cNvSpPr>
            <a:spLocks noGrp="1"/>
          </p:cNvSpPr>
          <p:nvPr/>
        </p:nvSpPr>
        <p:spPr>
          <a:xfrm>
            <a:off x="1600200" y="4476750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remove ambiguous fastest labels</a:t>
            </a:r>
          </a:p>
        </p:txBody>
      </p:sp>
      <p:sp>
        <p:nvSpPr>
          <p:cNvPr id="37" name="control-1">
            <a:extLst>
              <a:ext uri="{FF2B5EF4-FFF2-40B4-BE49-F238E27FC236}">
                <a16:creationId xmlns:a16="http://schemas.microsoft.com/office/drawing/2014/main" id="{EC2100C1-3281-4AA3-88A3-EA64855B93D5}"/>
              </a:ext>
            </a:extLst>
          </p:cNvPr>
          <p:cNvSpPr>
            <a:spLocks noGrp="1"/>
          </p:cNvSpPr>
          <p:nvPr/>
        </p:nvSpPr>
        <p:spPr>
          <a:xfrm>
            <a:off x="4305300" y="4000500"/>
            <a:ext cx="2381250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control-1-title">
            <a:extLst>
              <a:ext uri="{FF2B5EF4-FFF2-40B4-BE49-F238E27FC236}">
                <a16:creationId xmlns:a16="http://schemas.microsoft.com/office/drawing/2014/main" id="{42E3FCB9-9027-4094-9FA0-2A89649A742A}"/>
              </a:ext>
            </a:extLst>
          </p:cNvPr>
          <p:cNvSpPr>
            <a:spLocks noGrp="1"/>
          </p:cNvSpPr>
          <p:nvPr/>
        </p:nvSpPr>
        <p:spPr>
          <a:xfrm>
            <a:off x="4476750" y="41529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3x majority cap</a:t>
            </a:r>
          </a:p>
        </p:txBody>
      </p:sp>
      <p:sp>
        <p:nvSpPr>
          <p:cNvPr id="39" name="control-1-body">
            <a:extLst>
              <a:ext uri="{FF2B5EF4-FFF2-40B4-BE49-F238E27FC236}">
                <a16:creationId xmlns:a16="http://schemas.microsoft.com/office/drawing/2014/main" id="{F8569EDC-DE1A-486F-9012-5B29D9D3001E}"/>
              </a:ext>
            </a:extLst>
          </p:cNvPr>
          <p:cNvSpPr>
            <a:spLocks noGrp="1"/>
          </p:cNvSpPr>
          <p:nvPr/>
        </p:nvSpPr>
        <p:spPr>
          <a:xfrm>
            <a:off x="4476750" y="4476750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stop Timsort dominance</a:t>
            </a:r>
          </a:p>
        </p:txBody>
      </p:sp>
      <p:sp>
        <p:nvSpPr>
          <p:cNvPr id="40" name="control-2">
            <a:extLst>
              <a:ext uri="{FF2B5EF4-FFF2-40B4-BE49-F238E27FC236}">
                <a16:creationId xmlns:a16="http://schemas.microsoft.com/office/drawing/2014/main" id="{39667332-5BBC-4872-8B00-1600C50E9C7F}"/>
              </a:ext>
            </a:extLst>
          </p:cNvPr>
          <p:cNvSpPr>
            <a:spLocks noGrp="1"/>
          </p:cNvSpPr>
          <p:nvPr/>
        </p:nvSpPr>
        <p:spPr>
          <a:xfrm>
            <a:off x="7181850" y="4000500"/>
            <a:ext cx="2381250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control-2-title">
            <a:extLst>
              <a:ext uri="{FF2B5EF4-FFF2-40B4-BE49-F238E27FC236}">
                <a16:creationId xmlns:a16="http://schemas.microsoft.com/office/drawing/2014/main" id="{2219064C-7D5D-4321-BEB9-CE623E1A4204}"/>
              </a:ext>
            </a:extLst>
          </p:cNvPr>
          <p:cNvSpPr>
            <a:spLocks noGrp="1"/>
          </p:cNvSpPr>
          <p:nvPr/>
        </p:nvSpPr>
        <p:spPr>
          <a:xfrm>
            <a:off x="7353300" y="41529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inverse-frequency weights</a:t>
            </a:r>
          </a:p>
        </p:txBody>
      </p:sp>
      <p:sp>
        <p:nvSpPr>
          <p:cNvPr id="42" name="control-2-body">
            <a:extLst>
              <a:ext uri="{FF2B5EF4-FFF2-40B4-BE49-F238E27FC236}">
                <a16:creationId xmlns:a16="http://schemas.microsoft.com/office/drawing/2014/main" id="{7FAB7C87-77AA-4838-88B7-DBEC5A9A5696}"/>
              </a:ext>
            </a:extLst>
          </p:cNvPr>
          <p:cNvSpPr>
            <a:spLocks noGrp="1"/>
          </p:cNvSpPr>
          <p:nvPr/>
        </p:nvSpPr>
        <p:spPr>
          <a:xfrm>
            <a:off x="7353300" y="4476750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minority classes matter during loss</a:t>
            </a:r>
          </a:p>
        </p:txBody>
      </p:sp>
      <p:sp>
        <p:nvSpPr>
          <p:cNvPr id="43" name="control-3">
            <a:extLst>
              <a:ext uri="{FF2B5EF4-FFF2-40B4-BE49-F238E27FC236}">
                <a16:creationId xmlns:a16="http://schemas.microsoft.com/office/drawing/2014/main" id="{36EFC40F-558A-47D8-8774-3C4AE3CAD111}"/>
              </a:ext>
            </a:extLst>
          </p:cNvPr>
          <p:cNvSpPr>
            <a:spLocks noGrp="1"/>
          </p:cNvSpPr>
          <p:nvPr/>
        </p:nvSpPr>
        <p:spPr>
          <a:xfrm>
            <a:off x="10058400" y="4000500"/>
            <a:ext cx="2381250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control-3-title">
            <a:extLst>
              <a:ext uri="{FF2B5EF4-FFF2-40B4-BE49-F238E27FC236}">
                <a16:creationId xmlns:a16="http://schemas.microsoft.com/office/drawing/2014/main" id="{02F26CAC-BEC1-4736-A20E-F312A2C67AE3}"/>
              </a:ext>
            </a:extLst>
          </p:cNvPr>
          <p:cNvSpPr>
            <a:spLocks noGrp="1"/>
          </p:cNvSpPr>
          <p:nvPr/>
        </p:nvSpPr>
        <p:spPr>
          <a:xfrm>
            <a:off x="10229850" y="41529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seed 42</a:t>
            </a:r>
          </a:p>
        </p:txBody>
      </p:sp>
      <p:sp>
        <p:nvSpPr>
          <p:cNvPr id="45" name="control-3-body">
            <a:extLst>
              <a:ext uri="{FF2B5EF4-FFF2-40B4-BE49-F238E27FC236}">
                <a16:creationId xmlns:a16="http://schemas.microsoft.com/office/drawing/2014/main" id="{8C4F71BC-2E38-4973-A16C-B4843D2287A2}"/>
              </a:ext>
            </a:extLst>
          </p:cNvPr>
          <p:cNvSpPr>
            <a:spLocks noGrp="1"/>
          </p:cNvSpPr>
          <p:nvPr/>
        </p:nvSpPr>
        <p:spPr>
          <a:xfrm>
            <a:off x="10229850" y="4476750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stratified 70 / 15 / 15 split</a:t>
            </a:r>
          </a:p>
        </p:txBody>
      </p:sp>
    </p:spTree>
    <p:extLst>
      <p:ext uri="{BB962C8B-B14F-4D97-AF65-F5344CB8AC3E}">
        <p14:creationId xmlns:p14="http://schemas.microsoft.com/office/powerpoint/2010/main" val="906959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52704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2704"/>
            <a:ext cx="14630400" cy="95097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530352"/>
            <a:ext cx="12573000" cy="53035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4200" b="1">
                <a:solidFill>
                  <a:srgbClr val="1C1C1C"/>
                </a:solidFill>
                <a:latin typeface="Times New Roman"/>
              </a:rPr>
              <a:t>XGBoost builds trees sequentially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7512" y="118140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578840" y="8010144"/>
            <a:ext cx="822960" cy="21031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Times New Roman"/>
              </a:rPr>
              <a:t>15/34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691640" cy="123444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267712"/>
            <a:ext cx="1545336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200" b="1">
                <a:solidFill>
                  <a:srgbClr val="1C1C1C"/>
                </a:solidFill>
                <a:latin typeface="Times New Roman"/>
              </a:rPr>
              <a:t>initial scores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33472"/>
            <a:ext cx="1545336" cy="34747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0">
                <a:solidFill>
                  <a:srgbClr val="53657D"/>
                </a:solidFill>
                <a:latin typeface="Times New Roman"/>
              </a:rPr>
              <a:t>class probabilities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14600" y="2670048"/>
            <a:ext cx="457200" cy="0"/>
          </a:xfrm>
          <a:prstGeom prst="line">
            <a:avLst/>
          </a:prstGeom>
          <a:ln w="2032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063240" y="2057400"/>
            <a:ext cx="1691640" cy="123444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36392" y="2267712"/>
            <a:ext cx="1545336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200" b="1">
                <a:solidFill>
                  <a:srgbClr val="1C1C1C"/>
                </a:solidFill>
                <a:latin typeface="Times New Roman"/>
              </a:rPr>
              <a:t>tree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2633472"/>
            <a:ext cx="1545336" cy="34747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0">
                <a:solidFill>
                  <a:srgbClr val="53657D"/>
                </a:solidFill>
                <a:latin typeface="Times New Roman"/>
              </a:rPr>
              <a:t>first correction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54880" y="2670048"/>
            <a:ext cx="457200" cy="0"/>
          </a:xfrm>
          <a:prstGeom prst="line">
            <a:avLst/>
          </a:prstGeom>
          <a:ln w="2032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303520" y="2057400"/>
            <a:ext cx="1691640" cy="123444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76672" y="2267712"/>
            <a:ext cx="1545336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200" b="1">
                <a:solidFill>
                  <a:srgbClr val="1C1C1C"/>
                </a:solidFill>
                <a:latin typeface="Times New Roman"/>
              </a:rPr>
              <a:t>tree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2633472"/>
            <a:ext cx="1545336" cy="34747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0">
                <a:solidFill>
                  <a:srgbClr val="53657D"/>
                </a:solidFill>
                <a:latin typeface="Times New Roman"/>
              </a:rPr>
              <a:t>next correction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95160" y="2670048"/>
            <a:ext cx="457200" cy="0"/>
          </a:xfrm>
          <a:prstGeom prst="line">
            <a:avLst/>
          </a:prstGeom>
          <a:ln w="2032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43800" y="2057400"/>
            <a:ext cx="1691640" cy="123444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16952" y="2267712"/>
            <a:ext cx="1545336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200" b="1">
                <a:solidFill>
                  <a:srgbClr val="1C1C1C"/>
                </a:solidFill>
                <a:latin typeface="Times New Roman"/>
              </a:rPr>
              <a:t>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2633472"/>
            <a:ext cx="1545336" cy="34747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0">
                <a:solidFill>
                  <a:srgbClr val="53657D"/>
                </a:solidFill>
                <a:latin typeface="Times New Roman"/>
              </a:rPr>
              <a:t>boosting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35440" y="2670048"/>
            <a:ext cx="457200" cy="0"/>
          </a:xfrm>
          <a:prstGeom prst="line">
            <a:avLst/>
          </a:prstGeom>
          <a:ln w="2032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784080" y="2057400"/>
            <a:ext cx="1691640" cy="123444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57232" y="2267712"/>
            <a:ext cx="1545336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200" b="1">
                <a:solidFill>
                  <a:srgbClr val="1C1C1C"/>
                </a:solidFill>
                <a:latin typeface="Times New Roman"/>
              </a:rPr>
              <a:t>tree 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7232" y="2633472"/>
            <a:ext cx="1545336" cy="34747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0">
                <a:solidFill>
                  <a:srgbClr val="53657D"/>
                </a:solidFill>
                <a:latin typeface="Times New Roman"/>
              </a:rPr>
              <a:t>final correction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475720" y="2670048"/>
            <a:ext cx="457200" cy="0"/>
          </a:xfrm>
          <a:prstGeom prst="line">
            <a:avLst/>
          </a:prstGeom>
          <a:ln w="2032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024360" y="2057400"/>
            <a:ext cx="1691640" cy="1234440"/>
          </a:xfrm>
          <a:prstGeom prst="roundRect">
            <a:avLst/>
          </a:prstGeom>
          <a:solidFill>
            <a:srgbClr val="F4511E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097512" y="2267712"/>
            <a:ext cx="1545336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select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97512" y="2633472"/>
            <a:ext cx="1545336" cy="34747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Times New Roman"/>
              </a:rPr>
              <a:t>highest probability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4251960"/>
            <a:ext cx="512064" cy="32004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200" b="1">
                <a:solidFill>
                  <a:srgbClr val="F4511E"/>
                </a:solidFill>
                <a:latin typeface="Times New Roman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93976" y="4233672"/>
            <a:ext cx="11411712" cy="56692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400" b="0">
                <a:solidFill>
                  <a:srgbClr val="1C1C1C"/>
                </a:solidFill>
                <a:latin typeface="Times New Roman"/>
              </a:rPr>
              <a:t>Decision-tree model: each tree partitions feature space using structural array features.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93976" y="4937760"/>
            <a:ext cx="11338560" cy="0"/>
          </a:xfrm>
          <a:prstGeom prst="line">
            <a:avLst/>
          </a:prstGeom>
          <a:ln w="12700">
            <a:solidFill>
              <a:srgbClr val="E8ED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53312" y="4983480"/>
            <a:ext cx="512064" cy="32004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200" b="1">
                <a:solidFill>
                  <a:srgbClr val="F4511E"/>
                </a:solidFill>
                <a:latin typeface="Times New Roman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93976" y="4965192"/>
            <a:ext cx="11411712" cy="56692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400" b="0">
                <a:solidFill>
                  <a:srgbClr val="1C1C1C"/>
                </a:solidFill>
                <a:latin typeface="Times New Roman"/>
              </a:rPr>
              <a:t>Gradient boosting: each new tree corrects remaining classification error.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093976" y="5669280"/>
            <a:ext cx="11338560" cy="0"/>
          </a:xfrm>
          <a:prstGeom prst="line">
            <a:avLst/>
          </a:prstGeom>
          <a:ln w="12700">
            <a:solidFill>
              <a:srgbClr val="E8ED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53312" y="5715000"/>
            <a:ext cx="512064" cy="32004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200" b="1">
                <a:solidFill>
                  <a:srgbClr val="F4511E"/>
                </a:solidFill>
                <a:latin typeface="Times New Roman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93976" y="5696712"/>
            <a:ext cx="11411712" cy="56692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400" b="0">
                <a:solidFill>
                  <a:srgbClr val="1C1C1C"/>
                </a:solidFill>
                <a:latin typeface="Times New Roman"/>
              </a:rPr>
              <a:t>In this thesis, multi:softprob gives probabilities for introsort, heapsort, and timsort.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93976" y="6400800"/>
            <a:ext cx="11338560" cy="0"/>
          </a:xfrm>
          <a:prstGeom prst="line">
            <a:avLst/>
          </a:prstGeom>
          <a:ln w="12700">
            <a:solidFill>
              <a:srgbClr val="E8ED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op-maroon">
            <a:extLst>
              <a:ext uri="{FF2B5EF4-FFF2-40B4-BE49-F238E27FC236}">
                <a16:creationId xmlns:a16="http://schemas.microsoft.com/office/drawing/2014/main" id="{CBC2B021-6573-4E9F-9513-DD2FC74EFB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40B3C770-0379-43FF-9793-35A0C481B6BC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B767BE87-7C5F-4510-8F6E-57A48ED1648E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E0574969-9932-4E54-B4B0-52ABBD387DCC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model learns a probability for each sorting choice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9B2B5607-200A-4939-AB14-A5060FA6AEDE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8A92C704-ED77-46A3-BD46-7BB9EC427DA4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16/34</a:t>
            </a:r>
          </a:p>
        </p:txBody>
      </p:sp>
      <p:sp>
        <p:nvSpPr>
          <p:cNvPr id="7" name="input">
            <a:extLst>
              <a:ext uri="{FF2B5EF4-FFF2-40B4-BE49-F238E27FC236}">
                <a16:creationId xmlns:a16="http://schemas.microsoft.com/office/drawing/2014/main" id="{8E877C78-F2E9-4286-9A0D-5C0639FC55CD}"/>
              </a:ext>
            </a:extLst>
          </p:cNvPr>
          <p:cNvSpPr>
            <a:spLocks noGrp="1"/>
          </p:cNvSpPr>
          <p:nvPr/>
        </p:nvSpPr>
        <p:spPr>
          <a:xfrm>
            <a:off x="1381125" y="2000250"/>
            <a:ext cx="2095500" cy="2952750"/>
          </a:xfrm>
          <a:prstGeom prst="roundRect">
            <a:avLst>
              <a:gd name="adj" fmla="val 2727"/>
            </a:avLst>
          </a:prstGeom>
          <a:solidFill>
            <a:srgbClr val="FBFCFE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input-title">
            <a:extLst>
              <a:ext uri="{FF2B5EF4-FFF2-40B4-BE49-F238E27FC236}">
                <a16:creationId xmlns:a16="http://schemas.microsoft.com/office/drawing/2014/main" id="{216C9EA2-5008-4471-8EC7-AD70331B4668}"/>
              </a:ext>
            </a:extLst>
          </p:cNvPr>
          <p:cNvSpPr>
            <a:spLocks noGrp="1"/>
          </p:cNvSpPr>
          <p:nvPr/>
        </p:nvSpPr>
        <p:spPr>
          <a:xfrm>
            <a:off x="1552575" y="21526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f(x) in R^16</a:t>
            </a:r>
          </a:p>
        </p:txBody>
      </p:sp>
      <p:sp>
        <p:nvSpPr>
          <p:cNvPr id="9" name="input-body">
            <a:extLst>
              <a:ext uri="{FF2B5EF4-FFF2-40B4-BE49-F238E27FC236}">
                <a16:creationId xmlns:a16="http://schemas.microsoft.com/office/drawing/2014/main" id="{DA515664-3D30-454A-9A8A-C2ACD1F1313C}"/>
              </a:ext>
            </a:extLst>
          </p:cNvPr>
          <p:cNvSpPr>
            <a:spLocks noGrp="1"/>
          </p:cNvSpPr>
          <p:nvPr/>
        </p:nvSpPr>
        <p:spPr>
          <a:xfrm>
            <a:off x="1552575" y="2476500"/>
            <a:ext cx="17526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length</a:t>
            </a:r>
          </a:p>
          <a:p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runs</a:t>
            </a:r>
          </a:p>
          <a:p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sortedness</a:t>
            </a:r>
          </a:p>
          <a:p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duplicates</a:t>
            </a:r>
          </a:p>
          <a:p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entropy</a:t>
            </a:r>
          </a:p>
        </p:txBody>
      </p:sp>
      <p:sp>
        <p:nvSpPr>
          <p:cNvPr id="10" name="model">
            <a:extLst>
              <a:ext uri="{FF2B5EF4-FFF2-40B4-BE49-F238E27FC236}">
                <a16:creationId xmlns:a16="http://schemas.microsoft.com/office/drawing/2014/main" id="{91501302-5869-463C-AE6E-09F6A89A8F90}"/>
              </a:ext>
            </a:extLst>
          </p:cNvPr>
          <p:cNvSpPr>
            <a:spLocks noGrp="1"/>
          </p:cNvSpPr>
          <p:nvPr/>
        </p:nvSpPr>
        <p:spPr>
          <a:xfrm>
            <a:off x="5572125" y="2000250"/>
            <a:ext cx="2857500" cy="29527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model-title">
            <a:extLst>
              <a:ext uri="{FF2B5EF4-FFF2-40B4-BE49-F238E27FC236}">
                <a16:creationId xmlns:a16="http://schemas.microsoft.com/office/drawing/2014/main" id="{444D5D68-9729-4C83-8748-ADC0B628A6B2}"/>
              </a:ext>
            </a:extLst>
          </p:cNvPr>
          <p:cNvSpPr>
            <a:spLocks noGrp="1"/>
          </p:cNvSpPr>
          <p:nvPr/>
        </p:nvSpPr>
        <p:spPr>
          <a:xfrm>
            <a:off x="5743575" y="215265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class probability model</a:t>
            </a:r>
          </a:p>
        </p:txBody>
      </p:sp>
      <p:sp>
        <p:nvSpPr>
          <p:cNvPr id="12" name="tree-dot-0">
            <a:extLst>
              <a:ext uri="{FF2B5EF4-FFF2-40B4-BE49-F238E27FC236}">
                <a16:creationId xmlns:a16="http://schemas.microsoft.com/office/drawing/2014/main" id="{6093D00D-93FF-4645-8BDE-31DD95C94E1B}"/>
              </a:ext>
            </a:extLst>
          </p:cNvPr>
          <p:cNvSpPr>
            <a:spLocks noGrp="1"/>
          </p:cNvSpPr>
          <p:nvPr/>
        </p:nvSpPr>
        <p:spPr>
          <a:xfrm>
            <a:off x="6619875" y="28575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ree-dot-1">
            <a:extLst>
              <a:ext uri="{FF2B5EF4-FFF2-40B4-BE49-F238E27FC236}">
                <a16:creationId xmlns:a16="http://schemas.microsoft.com/office/drawing/2014/main" id="{0B19E311-5E30-47AF-9EE1-CB00CA159599}"/>
              </a:ext>
            </a:extLst>
          </p:cNvPr>
          <p:cNvSpPr>
            <a:spLocks noGrp="1"/>
          </p:cNvSpPr>
          <p:nvPr/>
        </p:nvSpPr>
        <p:spPr>
          <a:xfrm>
            <a:off x="7000875" y="33337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ree-dot-2">
            <a:extLst>
              <a:ext uri="{FF2B5EF4-FFF2-40B4-BE49-F238E27FC236}">
                <a16:creationId xmlns:a16="http://schemas.microsoft.com/office/drawing/2014/main" id="{FACBB82C-CDCE-4FC9-9565-C04A6E4793A9}"/>
              </a:ext>
            </a:extLst>
          </p:cNvPr>
          <p:cNvSpPr>
            <a:spLocks noGrp="1"/>
          </p:cNvSpPr>
          <p:nvPr/>
        </p:nvSpPr>
        <p:spPr>
          <a:xfrm>
            <a:off x="7381875" y="28575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ree-dot-3">
            <a:extLst>
              <a:ext uri="{FF2B5EF4-FFF2-40B4-BE49-F238E27FC236}">
                <a16:creationId xmlns:a16="http://schemas.microsoft.com/office/drawing/2014/main" id="{A245D4E7-0AF7-449A-A7DF-DAEDF4A68756}"/>
              </a:ext>
            </a:extLst>
          </p:cNvPr>
          <p:cNvSpPr>
            <a:spLocks noGrp="1"/>
          </p:cNvSpPr>
          <p:nvPr/>
        </p:nvSpPr>
        <p:spPr>
          <a:xfrm>
            <a:off x="6810375" y="38100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ree-dot-4">
            <a:extLst>
              <a:ext uri="{FF2B5EF4-FFF2-40B4-BE49-F238E27FC236}">
                <a16:creationId xmlns:a16="http://schemas.microsoft.com/office/drawing/2014/main" id="{F21FAE15-2B0E-46D6-BB6F-8137339EE0A5}"/>
              </a:ext>
            </a:extLst>
          </p:cNvPr>
          <p:cNvSpPr>
            <a:spLocks noGrp="1"/>
          </p:cNvSpPr>
          <p:nvPr/>
        </p:nvSpPr>
        <p:spPr>
          <a:xfrm>
            <a:off x="7191375" y="38100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ree-l1">
            <a:extLst>
              <a:ext uri="{FF2B5EF4-FFF2-40B4-BE49-F238E27FC236}">
                <a16:creationId xmlns:a16="http://schemas.microsoft.com/office/drawing/2014/main" id="{E038A44D-2F91-42C2-9AF9-C31E91795DC6}"/>
              </a:ext>
            </a:extLst>
          </p:cNvPr>
          <p:cNvSpPr>
            <a:spLocks noGrp="1"/>
          </p:cNvSpPr>
          <p:nvPr/>
        </p:nvSpPr>
        <p:spPr>
          <a:xfrm>
            <a:off x="6696075" y="2952750"/>
            <a:ext cx="371475" cy="447675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ree-l2">
            <a:extLst>
              <a:ext uri="{FF2B5EF4-FFF2-40B4-BE49-F238E27FC236}">
                <a16:creationId xmlns:a16="http://schemas.microsoft.com/office/drawing/2014/main" id="{B098CF5C-2921-4A5B-BFF0-E4B71AEDA2F6}"/>
              </a:ext>
            </a:extLst>
          </p:cNvPr>
          <p:cNvSpPr>
            <a:spLocks noGrp="1"/>
          </p:cNvSpPr>
          <p:nvPr/>
        </p:nvSpPr>
        <p:spPr>
          <a:xfrm>
            <a:off x="7448550" y="2952750"/>
            <a:ext cx="0" cy="447675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ree-l3">
            <a:extLst>
              <a:ext uri="{FF2B5EF4-FFF2-40B4-BE49-F238E27FC236}">
                <a16:creationId xmlns:a16="http://schemas.microsoft.com/office/drawing/2014/main" id="{46F106E8-47CE-4823-A709-5C30E11F1F39}"/>
              </a:ext>
            </a:extLst>
          </p:cNvPr>
          <p:cNvSpPr>
            <a:spLocks noGrp="1"/>
          </p:cNvSpPr>
          <p:nvPr/>
        </p:nvSpPr>
        <p:spPr>
          <a:xfrm>
            <a:off x="7067550" y="3505200"/>
            <a:ext cx="0" cy="333375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ree-l4">
            <a:extLst>
              <a:ext uri="{FF2B5EF4-FFF2-40B4-BE49-F238E27FC236}">
                <a16:creationId xmlns:a16="http://schemas.microsoft.com/office/drawing/2014/main" id="{596A6965-30FE-48F2-A0E6-CA96C02CF8D5}"/>
              </a:ext>
            </a:extLst>
          </p:cNvPr>
          <p:cNvSpPr>
            <a:spLocks noGrp="1"/>
          </p:cNvSpPr>
          <p:nvPr/>
        </p:nvSpPr>
        <p:spPr>
          <a:xfrm>
            <a:off x="7067550" y="3505200"/>
            <a:ext cx="200025" cy="333375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model-metric">
            <a:extLst>
              <a:ext uri="{FF2B5EF4-FFF2-40B4-BE49-F238E27FC236}">
                <a16:creationId xmlns:a16="http://schemas.microsoft.com/office/drawing/2014/main" id="{F4CC325F-E6C4-4804-8404-446A02D81006}"/>
              </a:ext>
            </a:extLst>
          </p:cNvPr>
          <p:cNvSpPr>
            <a:spLocks noGrp="1"/>
          </p:cNvSpPr>
          <p:nvPr/>
        </p:nvSpPr>
        <p:spPr>
          <a:xfrm>
            <a:off x="5857875" y="43815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objective: multi:softprob</a:t>
            </a:r>
          </a:p>
          <a:p>
            <a:pPr algn="ctr">
              <a:defRPr sz="15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metric: mlogloss</a:t>
            </a:r>
          </a:p>
        </p:txBody>
      </p:sp>
      <p:sp>
        <p:nvSpPr>
          <p:cNvPr id="22" name="output">
            <a:extLst>
              <a:ext uri="{FF2B5EF4-FFF2-40B4-BE49-F238E27FC236}">
                <a16:creationId xmlns:a16="http://schemas.microsoft.com/office/drawing/2014/main" id="{5C279C7F-F8AD-4225-B448-BF74E574386C}"/>
              </a:ext>
            </a:extLst>
          </p:cNvPr>
          <p:cNvSpPr>
            <a:spLocks noGrp="1"/>
          </p:cNvSpPr>
          <p:nvPr/>
        </p:nvSpPr>
        <p:spPr>
          <a:xfrm>
            <a:off x="9858375" y="2000250"/>
            <a:ext cx="2952750" cy="2952750"/>
          </a:xfrm>
          <a:prstGeom prst="roundRect">
            <a:avLst>
              <a:gd name="adj" fmla="val 1935"/>
            </a:avLst>
          </a:prstGeom>
          <a:solidFill>
            <a:srgbClr val="FBFCFE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output-title">
            <a:extLst>
              <a:ext uri="{FF2B5EF4-FFF2-40B4-BE49-F238E27FC236}">
                <a16:creationId xmlns:a16="http://schemas.microsoft.com/office/drawing/2014/main" id="{B88925F9-A74B-40F1-89ED-EC0FA8C2AB98}"/>
              </a:ext>
            </a:extLst>
          </p:cNvPr>
          <p:cNvSpPr>
            <a:spLocks noGrp="1"/>
          </p:cNvSpPr>
          <p:nvPr/>
        </p:nvSpPr>
        <p:spPr>
          <a:xfrm>
            <a:off x="10029825" y="2152650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output</a:t>
            </a:r>
          </a:p>
        </p:txBody>
      </p:sp>
      <p:sp>
        <p:nvSpPr>
          <p:cNvPr id="24" name="prob-name-0">
            <a:extLst>
              <a:ext uri="{FF2B5EF4-FFF2-40B4-BE49-F238E27FC236}">
                <a16:creationId xmlns:a16="http://schemas.microsoft.com/office/drawing/2014/main" id="{256FB261-E822-43D9-98C5-F2A816559F0C}"/>
              </a:ext>
            </a:extLst>
          </p:cNvPr>
          <p:cNvSpPr>
            <a:spLocks noGrp="1"/>
          </p:cNvSpPr>
          <p:nvPr/>
        </p:nvSpPr>
        <p:spPr>
          <a:xfrm>
            <a:off x="10191750" y="2714625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Introsort</a:t>
            </a:r>
          </a:p>
        </p:txBody>
      </p:sp>
      <p:sp>
        <p:nvSpPr>
          <p:cNvPr id="25" name="prob-bar-0">
            <a:extLst>
              <a:ext uri="{FF2B5EF4-FFF2-40B4-BE49-F238E27FC236}">
                <a16:creationId xmlns:a16="http://schemas.microsoft.com/office/drawing/2014/main" id="{1BE00629-3609-4F78-AB02-213447EB7E4F}"/>
              </a:ext>
            </a:extLst>
          </p:cNvPr>
          <p:cNvSpPr>
            <a:spLocks noGrp="1"/>
          </p:cNvSpPr>
          <p:nvPr/>
        </p:nvSpPr>
        <p:spPr>
          <a:xfrm>
            <a:off x="11668125" y="2771775"/>
            <a:ext cx="190500" cy="114300"/>
          </a:xfrm>
          <a:prstGeom prst="rect">
            <a:avLst/>
          </a:prstGeom>
          <a:solidFill>
            <a:srgbClr val="B915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prob-name-1">
            <a:extLst>
              <a:ext uri="{FF2B5EF4-FFF2-40B4-BE49-F238E27FC236}">
                <a16:creationId xmlns:a16="http://schemas.microsoft.com/office/drawing/2014/main" id="{379504CF-12B2-4984-970E-635A4FF1243E}"/>
              </a:ext>
            </a:extLst>
          </p:cNvPr>
          <p:cNvSpPr>
            <a:spLocks noGrp="1"/>
          </p:cNvSpPr>
          <p:nvPr/>
        </p:nvSpPr>
        <p:spPr>
          <a:xfrm>
            <a:off x="10191750" y="3305175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Heapsort</a:t>
            </a:r>
          </a:p>
        </p:txBody>
      </p:sp>
      <p:sp>
        <p:nvSpPr>
          <p:cNvPr id="27" name="prob-bar-1">
            <a:extLst>
              <a:ext uri="{FF2B5EF4-FFF2-40B4-BE49-F238E27FC236}">
                <a16:creationId xmlns:a16="http://schemas.microsoft.com/office/drawing/2014/main" id="{BA8F5B68-F03E-4A23-A288-79A1F989B6C8}"/>
              </a:ext>
            </a:extLst>
          </p:cNvPr>
          <p:cNvSpPr>
            <a:spLocks noGrp="1"/>
          </p:cNvSpPr>
          <p:nvPr/>
        </p:nvSpPr>
        <p:spPr>
          <a:xfrm>
            <a:off x="11668125" y="3362325"/>
            <a:ext cx="419100" cy="114300"/>
          </a:xfrm>
          <a:prstGeom prst="rect">
            <a:avLst/>
          </a:prstGeom>
          <a:solidFill>
            <a:srgbClr val="B915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prob-name-2">
            <a:extLst>
              <a:ext uri="{FF2B5EF4-FFF2-40B4-BE49-F238E27FC236}">
                <a16:creationId xmlns:a16="http://schemas.microsoft.com/office/drawing/2014/main" id="{8C3EE8F3-A854-4997-A3E5-791E33A903EB}"/>
              </a:ext>
            </a:extLst>
          </p:cNvPr>
          <p:cNvSpPr>
            <a:spLocks noGrp="1"/>
          </p:cNvSpPr>
          <p:nvPr/>
        </p:nvSpPr>
        <p:spPr>
          <a:xfrm>
            <a:off x="10191750" y="3895725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Timsort</a:t>
            </a:r>
          </a:p>
        </p:txBody>
      </p:sp>
      <p:sp>
        <p:nvSpPr>
          <p:cNvPr id="29" name="prob-bar-2">
            <a:extLst>
              <a:ext uri="{FF2B5EF4-FFF2-40B4-BE49-F238E27FC236}">
                <a16:creationId xmlns:a16="http://schemas.microsoft.com/office/drawing/2014/main" id="{7CC3155B-1EF3-43A3-8B2E-915E47A5CD0E}"/>
              </a:ext>
            </a:extLst>
          </p:cNvPr>
          <p:cNvSpPr>
            <a:spLocks noGrp="1"/>
          </p:cNvSpPr>
          <p:nvPr/>
        </p:nvSpPr>
        <p:spPr>
          <a:xfrm>
            <a:off x="11668125" y="3952875"/>
            <a:ext cx="904875" cy="11430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choose">
            <a:extLst>
              <a:ext uri="{FF2B5EF4-FFF2-40B4-BE49-F238E27FC236}">
                <a16:creationId xmlns:a16="http://schemas.microsoft.com/office/drawing/2014/main" id="{321EFA95-5962-4352-9716-D46E1B6C03B2}"/>
              </a:ext>
            </a:extLst>
          </p:cNvPr>
          <p:cNvSpPr>
            <a:spLocks noGrp="1"/>
          </p:cNvSpPr>
          <p:nvPr/>
        </p:nvSpPr>
        <p:spPr>
          <a:xfrm>
            <a:off x="10210800" y="4333875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choose highest</a:t>
            </a:r>
          </a:p>
          <a:p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probability</a:t>
            </a:r>
          </a:p>
        </p:txBody>
      </p:sp>
      <p:sp>
        <p:nvSpPr>
          <p:cNvPr id="31" name="prob-a1-from">
            <a:extLst>
              <a:ext uri="{FF2B5EF4-FFF2-40B4-BE49-F238E27FC236}">
                <a16:creationId xmlns:a16="http://schemas.microsoft.com/office/drawing/2014/main" id="{9686E3BD-5A94-4C15-AB4F-70DB51CF5129}"/>
              </a:ext>
            </a:extLst>
          </p:cNvPr>
          <p:cNvSpPr>
            <a:spLocks noGrp="1"/>
          </p:cNvSpPr>
          <p:nvPr/>
        </p:nvSpPr>
        <p:spPr>
          <a:xfrm>
            <a:off x="5429250" y="3476625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prob-a1-to">
            <a:extLst>
              <a:ext uri="{FF2B5EF4-FFF2-40B4-BE49-F238E27FC236}">
                <a16:creationId xmlns:a16="http://schemas.microsoft.com/office/drawing/2014/main" id="{04B4B90B-365D-4CE4-BE8C-C1F35ABDEDF5}"/>
              </a:ext>
            </a:extLst>
          </p:cNvPr>
          <p:cNvSpPr>
            <a:spLocks noGrp="1"/>
          </p:cNvSpPr>
          <p:nvPr/>
        </p:nvSpPr>
        <p:spPr>
          <a:xfrm>
            <a:off x="3619500" y="3476625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69" name="prob-a1"/>
          <p:cNvCxnSpPr>
            <a:stCxn id="31" idx="1"/>
            <a:endCxn id="32" idx="3"/>
          </p:cNvCxnSpPr>
          <p:nvPr/>
        </p:nvCxnSpPr>
        <p:spPr>
          <a:xfrm flipH="1">
            <a:off x="3638550" y="3486150"/>
            <a:ext cx="1790700" cy="0"/>
          </a:xfrm>
          <a:prstGeom prst="straightConnector1">
            <a:avLst/>
          </a:prstGeom>
          <a:ln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4" name="prob-a2-from">
            <a:extLst>
              <a:ext uri="{FF2B5EF4-FFF2-40B4-BE49-F238E27FC236}">
                <a16:creationId xmlns:a16="http://schemas.microsoft.com/office/drawing/2014/main" id="{25F6B2D9-F212-4031-A013-460F7D19692B}"/>
              </a:ext>
            </a:extLst>
          </p:cNvPr>
          <p:cNvSpPr>
            <a:spLocks noGrp="1"/>
          </p:cNvSpPr>
          <p:nvPr/>
        </p:nvSpPr>
        <p:spPr>
          <a:xfrm>
            <a:off x="9715500" y="3476625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prob-a2-to">
            <a:extLst>
              <a:ext uri="{FF2B5EF4-FFF2-40B4-BE49-F238E27FC236}">
                <a16:creationId xmlns:a16="http://schemas.microsoft.com/office/drawing/2014/main" id="{0BEDFB8F-724C-45C9-98EE-2EA3A064518C}"/>
              </a:ext>
            </a:extLst>
          </p:cNvPr>
          <p:cNvSpPr>
            <a:spLocks noGrp="1"/>
          </p:cNvSpPr>
          <p:nvPr/>
        </p:nvSpPr>
        <p:spPr>
          <a:xfrm>
            <a:off x="8524875" y="3476625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72" name="prob-a2"/>
          <p:cNvCxnSpPr>
            <a:stCxn id="34" idx="1"/>
            <a:endCxn id="35" idx="3"/>
          </p:cNvCxnSpPr>
          <p:nvPr/>
        </p:nvCxnSpPr>
        <p:spPr>
          <a:xfrm flipH="1">
            <a:off x="8543925" y="3486150"/>
            <a:ext cx="1171575" cy="0"/>
          </a:xfrm>
          <a:prstGeom prst="straightConnector1">
            <a:avLst/>
          </a:prstGeom>
          <a:ln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1047873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op-maroon">
            <a:extLst>
              <a:ext uri="{FF2B5EF4-FFF2-40B4-BE49-F238E27FC236}">
                <a16:creationId xmlns:a16="http://schemas.microsoft.com/office/drawing/2014/main" id="{45B32E72-0ED6-4C5C-A76D-E0948B44A3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29ADE02F-9F8D-4A1C-8F97-5DE74164D799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060AD613-F4ED-467B-889F-9786232D8734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3A54AD0-5467-4F27-999F-FB94025ACB96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training signal is balanced before the trees learn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5F8CCE1A-C402-45F1-95D2-885783C40E9D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25F1949B-EBE5-4385-8B1D-6980888B93D1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17/34</a:t>
            </a:r>
          </a:p>
        </p:txBody>
      </p:sp>
      <p:sp>
        <p:nvSpPr>
          <p:cNvPr id="7" name="sig-0">
            <a:extLst>
              <a:ext uri="{FF2B5EF4-FFF2-40B4-BE49-F238E27FC236}">
                <a16:creationId xmlns:a16="http://schemas.microsoft.com/office/drawing/2014/main" id="{8FBB1387-8A1E-4F69-B056-CB77D0C85E09}"/>
              </a:ext>
            </a:extLst>
          </p:cNvPr>
          <p:cNvSpPr>
            <a:spLocks noGrp="1"/>
          </p:cNvSpPr>
          <p:nvPr/>
        </p:nvSpPr>
        <p:spPr>
          <a:xfrm>
            <a:off x="1762125" y="1809750"/>
            <a:ext cx="2476500" cy="28575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ig-0-title">
            <a:extLst>
              <a:ext uri="{FF2B5EF4-FFF2-40B4-BE49-F238E27FC236}">
                <a16:creationId xmlns:a16="http://schemas.microsoft.com/office/drawing/2014/main" id="{B0E7D2E0-EFA1-4278-B98C-8ED2AFAAC646}"/>
              </a:ext>
            </a:extLst>
          </p:cNvPr>
          <p:cNvSpPr>
            <a:spLocks noGrp="1"/>
          </p:cNvSpPr>
          <p:nvPr/>
        </p:nvSpPr>
        <p:spPr>
          <a:xfrm>
            <a:off x="1933575" y="196215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raw fastest-label signal</a:t>
            </a:r>
          </a:p>
        </p:txBody>
      </p:sp>
      <p:sp>
        <p:nvSpPr>
          <p:cNvPr id="9" name="mini-bar-260-300-0">
            <a:extLst>
              <a:ext uri="{FF2B5EF4-FFF2-40B4-BE49-F238E27FC236}">
                <a16:creationId xmlns:a16="http://schemas.microsoft.com/office/drawing/2014/main" id="{70B3FF36-69DF-48F0-A3A9-FF51F2D55370}"/>
              </a:ext>
            </a:extLst>
          </p:cNvPr>
          <p:cNvSpPr>
            <a:spLocks noGrp="1"/>
          </p:cNvSpPr>
          <p:nvPr/>
        </p:nvSpPr>
        <p:spPr>
          <a:xfrm>
            <a:off x="2476500" y="3503083"/>
            <a:ext cx="152400" cy="173567"/>
          </a:xfrm>
          <a:prstGeom prst="rect">
            <a:avLst/>
          </a:prstGeom>
          <a:solidFill>
            <a:srgbClr val="B915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mini-bar-260-300-1">
            <a:extLst>
              <a:ext uri="{FF2B5EF4-FFF2-40B4-BE49-F238E27FC236}">
                <a16:creationId xmlns:a16="http://schemas.microsoft.com/office/drawing/2014/main" id="{26DB1AA5-0547-48B7-A117-8505E376098C}"/>
              </a:ext>
            </a:extLst>
          </p:cNvPr>
          <p:cNvSpPr>
            <a:spLocks noGrp="1"/>
          </p:cNvSpPr>
          <p:nvPr/>
        </p:nvSpPr>
        <p:spPr>
          <a:xfrm>
            <a:off x="2724150" y="3381587"/>
            <a:ext cx="152400" cy="295063"/>
          </a:xfrm>
          <a:prstGeom prst="rect">
            <a:avLst/>
          </a:prstGeom>
          <a:solidFill>
            <a:srgbClr val="E28B3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mini-bar-260-300-2">
            <a:extLst>
              <a:ext uri="{FF2B5EF4-FFF2-40B4-BE49-F238E27FC236}">
                <a16:creationId xmlns:a16="http://schemas.microsoft.com/office/drawing/2014/main" id="{ABEF4D67-2F76-40BD-A7D0-E385C2AEB9F2}"/>
              </a:ext>
            </a:extLst>
          </p:cNvPr>
          <p:cNvSpPr>
            <a:spLocks noGrp="1"/>
          </p:cNvSpPr>
          <p:nvPr/>
        </p:nvSpPr>
        <p:spPr>
          <a:xfrm>
            <a:off x="2971800" y="2930313"/>
            <a:ext cx="152400" cy="746337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mini-axis-260-300">
            <a:extLst>
              <a:ext uri="{FF2B5EF4-FFF2-40B4-BE49-F238E27FC236}">
                <a16:creationId xmlns:a16="http://schemas.microsoft.com/office/drawing/2014/main" id="{0B31B52C-B838-4EB5-86BB-1702422F25B2}"/>
              </a:ext>
            </a:extLst>
          </p:cNvPr>
          <p:cNvSpPr>
            <a:spLocks noGrp="1"/>
          </p:cNvSpPr>
          <p:nvPr/>
        </p:nvSpPr>
        <p:spPr>
          <a:xfrm>
            <a:off x="2438400" y="3676650"/>
            <a:ext cx="78105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ig-label-0">
            <a:extLst>
              <a:ext uri="{FF2B5EF4-FFF2-40B4-BE49-F238E27FC236}">
                <a16:creationId xmlns:a16="http://schemas.microsoft.com/office/drawing/2014/main" id="{A4172CC8-710D-4B93-8F18-3FC3B1EC8410}"/>
              </a:ext>
            </a:extLst>
          </p:cNvPr>
          <p:cNvSpPr>
            <a:spLocks noGrp="1"/>
          </p:cNvSpPr>
          <p:nvPr/>
        </p:nvSpPr>
        <p:spPr>
          <a:xfrm>
            <a:off x="2286000" y="39052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   heap   tim</a:t>
            </a:r>
          </a:p>
        </p:txBody>
      </p:sp>
      <p:sp>
        <p:nvSpPr>
          <p:cNvPr id="14" name="sig-1">
            <a:extLst>
              <a:ext uri="{FF2B5EF4-FFF2-40B4-BE49-F238E27FC236}">
                <a16:creationId xmlns:a16="http://schemas.microsoft.com/office/drawing/2014/main" id="{F2D1D0AC-4B75-41F9-832A-955612017516}"/>
              </a:ext>
            </a:extLst>
          </p:cNvPr>
          <p:cNvSpPr>
            <a:spLocks noGrp="1"/>
          </p:cNvSpPr>
          <p:nvPr/>
        </p:nvSpPr>
        <p:spPr>
          <a:xfrm>
            <a:off x="5715000" y="1809750"/>
            <a:ext cx="2476500" cy="28575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ig-1-title">
            <a:extLst>
              <a:ext uri="{FF2B5EF4-FFF2-40B4-BE49-F238E27FC236}">
                <a16:creationId xmlns:a16="http://schemas.microsoft.com/office/drawing/2014/main" id="{9735202A-088E-4FE1-B815-A82A49749EE8}"/>
              </a:ext>
            </a:extLst>
          </p:cNvPr>
          <p:cNvSpPr>
            <a:spLocks noGrp="1"/>
          </p:cNvSpPr>
          <p:nvPr/>
        </p:nvSpPr>
        <p:spPr>
          <a:xfrm>
            <a:off x="5886450" y="196215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training controls</a:t>
            </a:r>
          </a:p>
        </p:txBody>
      </p:sp>
      <p:sp>
        <p:nvSpPr>
          <p:cNvPr id="16" name="mini-bar-675-300-0">
            <a:extLst>
              <a:ext uri="{FF2B5EF4-FFF2-40B4-BE49-F238E27FC236}">
                <a16:creationId xmlns:a16="http://schemas.microsoft.com/office/drawing/2014/main" id="{87F22C1B-7475-46D9-AF05-564131ECA981}"/>
              </a:ext>
            </a:extLst>
          </p:cNvPr>
          <p:cNvSpPr>
            <a:spLocks noGrp="1"/>
          </p:cNvSpPr>
          <p:nvPr/>
        </p:nvSpPr>
        <p:spPr>
          <a:xfrm>
            <a:off x="6429375" y="3294803"/>
            <a:ext cx="152400" cy="381847"/>
          </a:xfrm>
          <a:prstGeom prst="rect">
            <a:avLst/>
          </a:prstGeom>
          <a:solidFill>
            <a:srgbClr val="B915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mini-bar-675-300-1">
            <a:extLst>
              <a:ext uri="{FF2B5EF4-FFF2-40B4-BE49-F238E27FC236}">
                <a16:creationId xmlns:a16="http://schemas.microsoft.com/office/drawing/2014/main" id="{E5A6155A-BDB0-47BF-91CB-AA709D12CB36}"/>
              </a:ext>
            </a:extLst>
          </p:cNvPr>
          <p:cNvSpPr>
            <a:spLocks noGrp="1"/>
          </p:cNvSpPr>
          <p:nvPr/>
        </p:nvSpPr>
        <p:spPr>
          <a:xfrm>
            <a:off x="6677025" y="3208020"/>
            <a:ext cx="152400" cy="468630"/>
          </a:xfrm>
          <a:prstGeom prst="rect">
            <a:avLst/>
          </a:prstGeom>
          <a:solidFill>
            <a:srgbClr val="E28B3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mini-bar-675-300-2">
            <a:extLst>
              <a:ext uri="{FF2B5EF4-FFF2-40B4-BE49-F238E27FC236}">
                <a16:creationId xmlns:a16="http://schemas.microsoft.com/office/drawing/2014/main" id="{7DF5817F-2162-4919-8F0B-254C674F4D56}"/>
              </a:ext>
            </a:extLst>
          </p:cNvPr>
          <p:cNvSpPr>
            <a:spLocks noGrp="1"/>
          </p:cNvSpPr>
          <p:nvPr/>
        </p:nvSpPr>
        <p:spPr>
          <a:xfrm>
            <a:off x="6924675" y="3242733"/>
            <a:ext cx="152400" cy="433917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mini-axis-675-300">
            <a:extLst>
              <a:ext uri="{FF2B5EF4-FFF2-40B4-BE49-F238E27FC236}">
                <a16:creationId xmlns:a16="http://schemas.microsoft.com/office/drawing/2014/main" id="{2338FEA7-340A-408F-93AE-791F48739D83}"/>
              </a:ext>
            </a:extLst>
          </p:cNvPr>
          <p:cNvSpPr>
            <a:spLocks noGrp="1"/>
          </p:cNvSpPr>
          <p:nvPr/>
        </p:nvSpPr>
        <p:spPr>
          <a:xfrm>
            <a:off x="6391275" y="3676650"/>
            <a:ext cx="78105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ig-label-1">
            <a:extLst>
              <a:ext uri="{FF2B5EF4-FFF2-40B4-BE49-F238E27FC236}">
                <a16:creationId xmlns:a16="http://schemas.microsoft.com/office/drawing/2014/main" id="{0B4E359C-3A51-4A26-8D60-38D0C8AD82F4}"/>
              </a:ext>
            </a:extLst>
          </p:cNvPr>
          <p:cNvSpPr>
            <a:spLocks noGrp="1"/>
          </p:cNvSpPr>
          <p:nvPr/>
        </p:nvSpPr>
        <p:spPr>
          <a:xfrm>
            <a:off x="6238875" y="39052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   heap   tim</a:t>
            </a:r>
          </a:p>
        </p:txBody>
      </p:sp>
      <p:sp>
        <p:nvSpPr>
          <p:cNvPr id="21" name="sig-2">
            <a:extLst>
              <a:ext uri="{FF2B5EF4-FFF2-40B4-BE49-F238E27FC236}">
                <a16:creationId xmlns:a16="http://schemas.microsoft.com/office/drawing/2014/main" id="{A6DFFAD2-E0BF-4F4A-B138-E110C1A5B411}"/>
              </a:ext>
            </a:extLst>
          </p:cNvPr>
          <p:cNvSpPr>
            <a:spLocks noGrp="1"/>
          </p:cNvSpPr>
          <p:nvPr/>
        </p:nvSpPr>
        <p:spPr>
          <a:xfrm>
            <a:off x="9667875" y="1809750"/>
            <a:ext cx="2476500" cy="28575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ig-2-title">
            <a:extLst>
              <a:ext uri="{FF2B5EF4-FFF2-40B4-BE49-F238E27FC236}">
                <a16:creationId xmlns:a16="http://schemas.microsoft.com/office/drawing/2014/main" id="{CB66155D-1C0B-4F00-9D64-3E236010F983}"/>
              </a:ext>
            </a:extLst>
          </p:cNvPr>
          <p:cNvSpPr>
            <a:spLocks noGrp="1"/>
          </p:cNvSpPr>
          <p:nvPr/>
        </p:nvSpPr>
        <p:spPr>
          <a:xfrm>
            <a:off x="9839325" y="196215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balanced loss pressure</a:t>
            </a:r>
          </a:p>
        </p:txBody>
      </p:sp>
      <p:sp>
        <p:nvSpPr>
          <p:cNvPr id="23" name="mini-bar-1090-300-0">
            <a:extLst>
              <a:ext uri="{FF2B5EF4-FFF2-40B4-BE49-F238E27FC236}">
                <a16:creationId xmlns:a16="http://schemas.microsoft.com/office/drawing/2014/main" id="{1A40BB82-DF0A-4957-AC23-83AA5FFCC0B5}"/>
              </a:ext>
            </a:extLst>
          </p:cNvPr>
          <p:cNvSpPr>
            <a:spLocks noGrp="1"/>
          </p:cNvSpPr>
          <p:nvPr/>
        </p:nvSpPr>
        <p:spPr>
          <a:xfrm>
            <a:off x="10382250" y="3242733"/>
            <a:ext cx="152400" cy="433917"/>
          </a:xfrm>
          <a:prstGeom prst="rect">
            <a:avLst/>
          </a:prstGeom>
          <a:solidFill>
            <a:srgbClr val="B915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mini-bar-1090-300-1">
            <a:extLst>
              <a:ext uri="{FF2B5EF4-FFF2-40B4-BE49-F238E27FC236}">
                <a16:creationId xmlns:a16="http://schemas.microsoft.com/office/drawing/2014/main" id="{E6429BB3-4E9C-4240-B4CE-80C5E31C06F3}"/>
              </a:ext>
            </a:extLst>
          </p:cNvPr>
          <p:cNvSpPr>
            <a:spLocks noGrp="1"/>
          </p:cNvSpPr>
          <p:nvPr/>
        </p:nvSpPr>
        <p:spPr>
          <a:xfrm>
            <a:off x="10629900" y="3225377"/>
            <a:ext cx="152400" cy="451273"/>
          </a:xfrm>
          <a:prstGeom prst="rect">
            <a:avLst/>
          </a:prstGeom>
          <a:solidFill>
            <a:srgbClr val="E28B3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mini-bar-1090-300-2">
            <a:extLst>
              <a:ext uri="{FF2B5EF4-FFF2-40B4-BE49-F238E27FC236}">
                <a16:creationId xmlns:a16="http://schemas.microsoft.com/office/drawing/2014/main" id="{A30BD26F-4C8F-4616-BC10-A4E3C42C2BF5}"/>
              </a:ext>
            </a:extLst>
          </p:cNvPr>
          <p:cNvSpPr>
            <a:spLocks noGrp="1"/>
          </p:cNvSpPr>
          <p:nvPr/>
        </p:nvSpPr>
        <p:spPr>
          <a:xfrm>
            <a:off x="10877550" y="3234055"/>
            <a:ext cx="152400" cy="442595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mini-axis-1090-300">
            <a:extLst>
              <a:ext uri="{FF2B5EF4-FFF2-40B4-BE49-F238E27FC236}">
                <a16:creationId xmlns:a16="http://schemas.microsoft.com/office/drawing/2014/main" id="{BA0BC1E7-9F95-4EDF-90D5-85219D4AF092}"/>
              </a:ext>
            </a:extLst>
          </p:cNvPr>
          <p:cNvSpPr>
            <a:spLocks noGrp="1"/>
          </p:cNvSpPr>
          <p:nvPr/>
        </p:nvSpPr>
        <p:spPr>
          <a:xfrm>
            <a:off x="10344150" y="3676650"/>
            <a:ext cx="78105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ig-label-2">
            <a:extLst>
              <a:ext uri="{FF2B5EF4-FFF2-40B4-BE49-F238E27FC236}">
                <a16:creationId xmlns:a16="http://schemas.microsoft.com/office/drawing/2014/main" id="{72BF9FCA-66A6-4B58-A287-74721666A8C6}"/>
              </a:ext>
            </a:extLst>
          </p:cNvPr>
          <p:cNvSpPr>
            <a:spLocks noGrp="1"/>
          </p:cNvSpPr>
          <p:nvPr/>
        </p:nvSpPr>
        <p:spPr>
          <a:xfrm>
            <a:off x="10191750" y="39052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   heap   tim</a:t>
            </a:r>
          </a:p>
        </p:txBody>
      </p:sp>
      <p:sp>
        <p:nvSpPr>
          <p:cNvPr id="28" name="sig-a1-from">
            <a:extLst>
              <a:ext uri="{FF2B5EF4-FFF2-40B4-BE49-F238E27FC236}">
                <a16:creationId xmlns:a16="http://schemas.microsoft.com/office/drawing/2014/main" id="{30096F85-290C-4A98-A540-B547864A7874}"/>
              </a:ext>
            </a:extLst>
          </p:cNvPr>
          <p:cNvSpPr>
            <a:spLocks noGrp="1"/>
          </p:cNvSpPr>
          <p:nvPr/>
        </p:nvSpPr>
        <p:spPr>
          <a:xfrm>
            <a:off x="5476875" y="323850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ig-a1-to">
            <a:extLst>
              <a:ext uri="{FF2B5EF4-FFF2-40B4-BE49-F238E27FC236}">
                <a16:creationId xmlns:a16="http://schemas.microsoft.com/office/drawing/2014/main" id="{502B5EB1-4477-4242-936C-F7DD253FD122}"/>
              </a:ext>
            </a:extLst>
          </p:cNvPr>
          <p:cNvSpPr>
            <a:spLocks noGrp="1"/>
          </p:cNvSpPr>
          <p:nvPr/>
        </p:nvSpPr>
        <p:spPr>
          <a:xfrm>
            <a:off x="4381500" y="323850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64" name="sig-a1"/>
          <p:cNvCxnSpPr>
            <a:stCxn id="28" idx="1"/>
            <a:endCxn id="29" idx="3"/>
          </p:cNvCxnSpPr>
          <p:nvPr/>
        </p:nvCxnSpPr>
        <p:spPr>
          <a:xfrm flipH="1">
            <a:off x="4400550" y="3248025"/>
            <a:ext cx="1076325" cy="0"/>
          </a:xfrm>
          <a:prstGeom prst="straightConnector1">
            <a:avLst/>
          </a:prstGeom>
          <a:ln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sig-a2-from">
            <a:extLst>
              <a:ext uri="{FF2B5EF4-FFF2-40B4-BE49-F238E27FC236}">
                <a16:creationId xmlns:a16="http://schemas.microsoft.com/office/drawing/2014/main" id="{6EE4AFB0-0907-492B-8495-862D20B0632A}"/>
              </a:ext>
            </a:extLst>
          </p:cNvPr>
          <p:cNvSpPr>
            <a:spLocks noGrp="1"/>
          </p:cNvSpPr>
          <p:nvPr/>
        </p:nvSpPr>
        <p:spPr>
          <a:xfrm>
            <a:off x="9429750" y="323850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ig-a2-to">
            <a:extLst>
              <a:ext uri="{FF2B5EF4-FFF2-40B4-BE49-F238E27FC236}">
                <a16:creationId xmlns:a16="http://schemas.microsoft.com/office/drawing/2014/main" id="{9D7AADBE-8424-4E06-8385-6880CDF8A3E1}"/>
              </a:ext>
            </a:extLst>
          </p:cNvPr>
          <p:cNvSpPr>
            <a:spLocks noGrp="1"/>
          </p:cNvSpPr>
          <p:nvPr/>
        </p:nvSpPr>
        <p:spPr>
          <a:xfrm>
            <a:off x="8334375" y="323850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67" name="sig-a2"/>
          <p:cNvCxnSpPr>
            <a:stCxn id="31" idx="1"/>
            <a:endCxn id="32" idx="3"/>
          </p:cNvCxnSpPr>
          <p:nvPr/>
        </p:nvCxnSpPr>
        <p:spPr>
          <a:xfrm flipH="1">
            <a:off x="8353425" y="3248025"/>
            <a:ext cx="1076325" cy="0"/>
          </a:xfrm>
          <a:prstGeom prst="straightConnector1">
            <a:avLst/>
          </a:prstGeom>
          <a:ln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4" name="sig-bottom">
            <a:extLst>
              <a:ext uri="{FF2B5EF4-FFF2-40B4-BE49-F238E27FC236}">
                <a16:creationId xmlns:a16="http://schemas.microsoft.com/office/drawing/2014/main" id="{21543C86-47DC-4FE8-A78E-89D4E1B09DE2}"/>
              </a:ext>
            </a:extLst>
          </p:cNvPr>
          <p:cNvSpPr>
            <a:spLocks noGrp="1"/>
          </p:cNvSpPr>
          <p:nvPr/>
        </p:nvSpPr>
        <p:spPr>
          <a:xfrm>
            <a:off x="3476625" y="5667375"/>
            <a:ext cx="7677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near-tie filtering + majority cap + inverse-frequency sample weights</a:t>
            </a:r>
          </a:p>
        </p:txBody>
      </p:sp>
    </p:spTree>
    <p:extLst>
      <p:ext uri="{BB962C8B-B14F-4D97-AF65-F5344CB8AC3E}">
        <p14:creationId xmlns:p14="http://schemas.microsoft.com/office/powerpoint/2010/main" val="1881143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op-maroon">
            <a:extLst>
              <a:ext uri="{FF2B5EF4-FFF2-40B4-BE49-F238E27FC236}">
                <a16:creationId xmlns:a16="http://schemas.microsoft.com/office/drawing/2014/main" id="{7089E5ED-A9F1-4095-9636-AF2AF8F3ED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11910BF5-9E0C-4529-B935-3A35F43A7501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5E03EFD6-71C7-4ABD-BB5C-FB3BA85D8077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32DF83DF-836E-4EA7-913C-927513322B6C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XGBoost corrects class scores using first and second order information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D692A06E-8E1B-41A8-8E8D-5DBD68653729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2E8B3608-40D5-4F61-96FD-E956C9453256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18/34</a:t>
            </a:r>
          </a:p>
        </p:txBody>
      </p:sp>
      <p:sp>
        <p:nvSpPr>
          <p:cNvPr id="7" name="gradframe">
            <a:extLst>
              <a:ext uri="{FF2B5EF4-FFF2-40B4-BE49-F238E27FC236}">
                <a16:creationId xmlns:a16="http://schemas.microsoft.com/office/drawing/2014/main" id="{6CEAA4E7-E80B-49D6-8F22-0481C1540744}"/>
              </a:ext>
            </a:extLst>
          </p:cNvPr>
          <p:cNvSpPr>
            <a:spLocks noGrp="1"/>
          </p:cNvSpPr>
          <p:nvPr/>
        </p:nvSpPr>
        <p:spPr>
          <a:xfrm>
            <a:off x="2047875" y="2000250"/>
            <a:ext cx="10525125" cy="3429000"/>
          </a:xfrm>
          <a:prstGeom prst="roundRect">
            <a:avLst>
              <a:gd name="adj" fmla="val 1667"/>
            </a:avLst>
          </a:prstGeom>
          <a:solidFill>
            <a:srgbClr val="FBFCFE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grad">
            <a:extLst>
              <a:ext uri="{FF2B5EF4-FFF2-40B4-BE49-F238E27FC236}">
                <a16:creationId xmlns:a16="http://schemas.microsoft.com/office/drawing/2014/main" id="{2FED86CE-33F5-4273-9647-E0B8049C7758}"/>
              </a:ext>
            </a:extLst>
          </p:cNvPr>
          <p:cNvSpPr>
            <a:spLocks noGrp="1"/>
          </p:cNvSpPr>
          <p:nvPr/>
        </p:nvSpPr>
        <p:spPr>
          <a:xfrm>
            <a:off x="3143250" y="3000375"/>
            <a:ext cx="28575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grad-title">
            <a:extLst>
              <a:ext uri="{FF2B5EF4-FFF2-40B4-BE49-F238E27FC236}">
                <a16:creationId xmlns:a16="http://schemas.microsoft.com/office/drawing/2014/main" id="{FD30E4FC-F8DA-4F3C-9B85-1D0F70262CBB}"/>
              </a:ext>
            </a:extLst>
          </p:cNvPr>
          <p:cNvSpPr>
            <a:spLocks noGrp="1"/>
          </p:cNvSpPr>
          <p:nvPr/>
        </p:nvSpPr>
        <p:spPr>
          <a:xfrm>
            <a:off x="3314700" y="315277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first-order gradient</a:t>
            </a:r>
          </a:p>
        </p:txBody>
      </p:sp>
      <p:sp>
        <p:nvSpPr>
          <p:cNvPr id="10" name="grad-body">
            <a:extLst>
              <a:ext uri="{FF2B5EF4-FFF2-40B4-BE49-F238E27FC236}">
                <a16:creationId xmlns:a16="http://schemas.microsoft.com/office/drawing/2014/main" id="{4B19F70B-F7B1-4B60-A76D-324739F884AE}"/>
              </a:ext>
            </a:extLst>
          </p:cNvPr>
          <p:cNvSpPr>
            <a:spLocks noGrp="1"/>
          </p:cNvSpPr>
          <p:nvPr/>
        </p:nvSpPr>
        <p:spPr>
          <a:xfrm>
            <a:off x="3314700" y="3476625"/>
            <a:ext cx="2514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direction of score correction</a:t>
            </a:r>
          </a:p>
        </p:txBody>
      </p:sp>
      <p:sp>
        <p:nvSpPr>
          <p:cNvPr id="11" name="grad-symbol">
            <a:extLst>
              <a:ext uri="{FF2B5EF4-FFF2-40B4-BE49-F238E27FC236}">
                <a16:creationId xmlns:a16="http://schemas.microsoft.com/office/drawing/2014/main" id="{862996C9-B37B-43AD-AF84-26E451549A46}"/>
              </a:ext>
            </a:extLst>
          </p:cNvPr>
          <p:cNvSpPr>
            <a:spLocks noGrp="1"/>
          </p:cNvSpPr>
          <p:nvPr/>
        </p:nvSpPr>
        <p:spPr>
          <a:xfrm>
            <a:off x="3619500" y="25908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∂L/∂ŷ</a:t>
            </a:r>
          </a:p>
        </p:txBody>
      </p:sp>
      <p:sp>
        <p:nvSpPr>
          <p:cNvPr id="12" name="hess">
            <a:extLst>
              <a:ext uri="{FF2B5EF4-FFF2-40B4-BE49-F238E27FC236}">
                <a16:creationId xmlns:a16="http://schemas.microsoft.com/office/drawing/2014/main" id="{A34A0C33-EEEA-4DDB-902E-7220CEA96004}"/>
              </a:ext>
            </a:extLst>
          </p:cNvPr>
          <p:cNvSpPr>
            <a:spLocks noGrp="1"/>
          </p:cNvSpPr>
          <p:nvPr/>
        </p:nvSpPr>
        <p:spPr>
          <a:xfrm>
            <a:off x="8572500" y="3000375"/>
            <a:ext cx="28575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hess-title">
            <a:extLst>
              <a:ext uri="{FF2B5EF4-FFF2-40B4-BE49-F238E27FC236}">
                <a16:creationId xmlns:a16="http://schemas.microsoft.com/office/drawing/2014/main" id="{461A7C20-13D9-41FF-A3A0-97D6E5056C9F}"/>
              </a:ext>
            </a:extLst>
          </p:cNvPr>
          <p:cNvSpPr>
            <a:spLocks noGrp="1"/>
          </p:cNvSpPr>
          <p:nvPr/>
        </p:nvSpPr>
        <p:spPr>
          <a:xfrm>
            <a:off x="8743950" y="315277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second-order Hessian</a:t>
            </a:r>
          </a:p>
        </p:txBody>
      </p:sp>
      <p:sp>
        <p:nvSpPr>
          <p:cNvPr id="14" name="hess-body">
            <a:extLst>
              <a:ext uri="{FF2B5EF4-FFF2-40B4-BE49-F238E27FC236}">
                <a16:creationId xmlns:a16="http://schemas.microsoft.com/office/drawing/2014/main" id="{0862AB49-5858-4B04-93F7-19029BF23274}"/>
              </a:ext>
            </a:extLst>
          </p:cNvPr>
          <p:cNvSpPr>
            <a:spLocks noGrp="1"/>
          </p:cNvSpPr>
          <p:nvPr/>
        </p:nvSpPr>
        <p:spPr>
          <a:xfrm>
            <a:off x="8743950" y="3476625"/>
            <a:ext cx="2514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curvature / strength of correction</a:t>
            </a:r>
          </a:p>
        </p:txBody>
      </p:sp>
      <p:sp>
        <p:nvSpPr>
          <p:cNvPr id="15" name="hess-symbol">
            <a:extLst>
              <a:ext uri="{FF2B5EF4-FFF2-40B4-BE49-F238E27FC236}">
                <a16:creationId xmlns:a16="http://schemas.microsoft.com/office/drawing/2014/main" id="{F5FDA15E-DD90-46B9-AAEF-CFA7B5719E9A}"/>
              </a:ext>
            </a:extLst>
          </p:cNvPr>
          <p:cNvSpPr>
            <a:spLocks noGrp="1"/>
          </p:cNvSpPr>
          <p:nvPr/>
        </p:nvSpPr>
        <p:spPr>
          <a:xfrm>
            <a:off x="9048750" y="25908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∂²L/∂ŷ²</a:t>
            </a:r>
          </a:p>
        </p:txBody>
      </p:sp>
      <p:sp>
        <p:nvSpPr>
          <p:cNvPr id="16" name="gh-arrow-from">
            <a:extLst>
              <a:ext uri="{FF2B5EF4-FFF2-40B4-BE49-F238E27FC236}">
                <a16:creationId xmlns:a16="http://schemas.microsoft.com/office/drawing/2014/main" id="{A45B8AB5-BB6F-49B8-B0A3-57E207148B0E}"/>
              </a:ext>
            </a:extLst>
          </p:cNvPr>
          <p:cNvSpPr>
            <a:spLocks noGrp="1"/>
          </p:cNvSpPr>
          <p:nvPr/>
        </p:nvSpPr>
        <p:spPr>
          <a:xfrm>
            <a:off x="8334375" y="3571875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gh-arrow-to">
            <a:extLst>
              <a:ext uri="{FF2B5EF4-FFF2-40B4-BE49-F238E27FC236}">
                <a16:creationId xmlns:a16="http://schemas.microsoft.com/office/drawing/2014/main" id="{EB530EBB-3FA8-4A92-9A62-F0E3EEA39C96}"/>
              </a:ext>
            </a:extLst>
          </p:cNvPr>
          <p:cNvSpPr>
            <a:spLocks noGrp="1"/>
          </p:cNvSpPr>
          <p:nvPr/>
        </p:nvSpPr>
        <p:spPr>
          <a:xfrm>
            <a:off x="6286500" y="3571875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37" name="gh-arrow"/>
          <p:cNvCxnSpPr>
            <a:stCxn id="16" idx="1"/>
            <a:endCxn id="17" idx="3"/>
          </p:cNvCxnSpPr>
          <p:nvPr/>
        </p:nvCxnSpPr>
        <p:spPr>
          <a:xfrm flipH="1">
            <a:off x="6305550" y="3581400"/>
            <a:ext cx="2028825" cy="0"/>
          </a:xfrm>
          <a:prstGeom prst="straightConnector1">
            <a:avLst/>
          </a:prstGeom>
          <a:ln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gh-bottom">
            <a:extLst>
              <a:ext uri="{FF2B5EF4-FFF2-40B4-BE49-F238E27FC236}">
                <a16:creationId xmlns:a16="http://schemas.microsoft.com/office/drawing/2014/main" id="{A7DC725C-6D90-4A8F-A619-8C83B1638B7F}"/>
              </a:ext>
            </a:extLst>
          </p:cNvPr>
          <p:cNvSpPr>
            <a:spLocks noGrp="1"/>
          </p:cNvSpPr>
          <p:nvPr/>
        </p:nvSpPr>
        <p:spPr>
          <a:xfrm>
            <a:off x="4381500" y="481012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multi:softprob + mlogloss</a:t>
            </a:r>
          </a:p>
        </p:txBody>
      </p:sp>
    </p:spTree>
    <p:extLst>
      <p:ext uri="{BB962C8B-B14F-4D97-AF65-F5344CB8AC3E}">
        <p14:creationId xmlns:p14="http://schemas.microsoft.com/office/powerpoint/2010/main" val="880177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op-maroon">
            <a:extLst>
              <a:ext uri="{FF2B5EF4-FFF2-40B4-BE49-F238E27FC236}">
                <a16:creationId xmlns:a16="http://schemas.microsoft.com/office/drawing/2014/main" id="{04CD8519-918F-4F90-A71D-E732A506BF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B9484388-B82E-47AF-9A21-17322BCC4455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6A2B6CF1-2495-41D8-8870-B0392B0DB855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395C4D6-7941-4DC8-82E3-936297F03414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ensemble is constrained so it does not overfit timing noise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9588D1A8-5797-4D98-8419-F574C7F8135F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9F324AE4-175E-4E36-875C-67BA57C91166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19/34</a:t>
            </a:r>
          </a:p>
        </p:txBody>
      </p:sp>
      <p:sp>
        <p:nvSpPr>
          <p:cNvPr id="7" name="tree-0">
            <a:extLst>
              <a:ext uri="{FF2B5EF4-FFF2-40B4-BE49-F238E27FC236}">
                <a16:creationId xmlns:a16="http://schemas.microsoft.com/office/drawing/2014/main" id="{2E4EDABE-BCD6-4F8D-8545-44E54CC67DD6}"/>
              </a:ext>
            </a:extLst>
          </p:cNvPr>
          <p:cNvSpPr>
            <a:spLocks noGrp="1"/>
          </p:cNvSpPr>
          <p:nvPr/>
        </p:nvSpPr>
        <p:spPr>
          <a:xfrm>
            <a:off x="5857875" y="2381250"/>
            <a:ext cx="1095375" cy="1428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ree-root-0">
            <a:extLst>
              <a:ext uri="{FF2B5EF4-FFF2-40B4-BE49-F238E27FC236}">
                <a16:creationId xmlns:a16="http://schemas.microsoft.com/office/drawing/2014/main" id="{55DEA259-0DEF-4B6F-89C2-6463A74B6573}"/>
              </a:ext>
            </a:extLst>
          </p:cNvPr>
          <p:cNvSpPr>
            <a:spLocks noGrp="1"/>
          </p:cNvSpPr>
          <p:nvPr/>
        </p:nvSpPr>
        <p:spPr>
          <a:xfrm>
            <a:off x="6324600" y="26574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17171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ree-l-0">
            <a:extLst>
              <a:ext uri="{FF2B5EF4-FFF2-40B4-BE49-F238E27FC236}">
                <a16:creationId xmlns:a16="http://schemas.microsoft.com/office/drawing/2014/main" id="{9C28739C-942F-4647-85B8-7D8C2F762936}"/>
              </a:ext>
            </a:extLst>
          </p:cNvPr>
          <p:cNvSpPr>
            <a:spLocks noGrp="1"/>
          </p:cNvSpPr>
          <p:nvPr/>
        </p:nvSpPr>
        <p:spPr>
          <a:xfrm>
            <a:off x="6086475" y="3257550"/>
            <a:ext cx="161925" cy="161925"/>
          </a:xfrm>
          <a:prstGeom prst="roundRect">
            <a:avLst>
              <a:gd name="adj" fmla="val 50000"/>
            </a:avLst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ree-r-0">
            <a:extLst>
              <a:ext uri="{FF2B5EF4-FFF2-40B4-BE49-F238E27FC236}">
                <a16:creationId xmlns:a16="http://schemas.microsoft.com/office/drawing/2014/main" id="{0AC7BBA4-DCAA-4ECB-9D9E-0D96E6677725}"/>
              </a:ext>
            </a:extLst>
          </p:cNvPr>
          <p:cNvSpPr>
            <a:spLocks noGrp="1"/>
          </p:cNvSpPr>
          <p:nvPr/>
        </p:nvSpPr>
        <p:spPr>
          <a:xfrm>
            <a:off x="6572250" y="3257550"/>
            <a:ext cx="161925" cy="161925"/>
          </a:xfrm>
          <a:prstGeom prst="roundRect">
            <a:avLst>
              <a:gd name="adj" fmla="val 50000"/>
            </a:avLst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ree-ll-0">
            <a:extLst>
              <a:ext uri="{FF2B5EF4-FFF2-40B4-BE49-F238E27FC236}">
                <a16:creationId xmlns:a16="http://schemas.microsoft.com/office/drawing/2014/main" id="{FBFCEE35-B9F9-4A78-99B6-6240369A5A53}"/>
              </a:ext>
            </a:extLst>
          </p:cNvPr>
          <p:cNvSpPr>
            <a:spLocks noGrp="1"/>
          </p:cNvSpPr>
          <p:nvPr/>
        </p:nvSpPr>
        <p:spPr>
          <a:xfrm>
            <a:off x="6410325" y="2828925"/>
            <a:ext cx="0" cy="428625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ree-rr-0">
            <a:extLst>
              <a:ext uri="{FF2B5EF4-FFF2-40B4-BE49-F238E27FC236}">
                <a16:creationId xmlns:a16="http://schemas.microsoft.com/office/drawing/2014/main" id="{BB9055C3-6E71-4F88-BC29-D18D1952BEE6}"/>
              </a:ext>
            </a:extLst>
          </p:cNvPr>
          <p:cNvSpPr>
            <a:spLocks noGrp="1"/>
          </p:cNvSpPr>
          <p:nvPr/>
        </p:nvSpPr>
        <p:spPr>
          <a:xfrm>
            <a:off x="6410325" y="2828925"/>
            <a:ext cx="247650" cy="428625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ree-1">
            <a:extLst>
              <a:ext uri="{FF2B5EF4-FFF2-40B4-BE49-F238E27FC236}">
                <a16:creationId xmlns:a16="http://schemas.microsoft.com/office/drawing/2014/main" id="{588FC923-91B7-4A8C-B163-74B78551DE30}"/>
              </a:ext>
            </a:extLst>
          </p:cNvPr>
          <p:cNvSpPr>
            <a:spLocks noGrp="1"/>
          </p:cNvSpPr>
          <p:nvPr/>
        </p:nvSpPr>
        <p:spPr>
          <a:xfrm>
            <a:off x="7191375" y="2381250"/>
            <a:ext cx="1095375" cy="1428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ree-root-1">
            <a:extLst>
              <a:ext uri="{FF2B5EF4-FFF2-40B4-BE49-F238E27FC236}">
                <a16:creationId xmlns:a16="http://schemas.microsoft.com/office/drawing/2014/main" id="{95834E2D-F0C9-42CD-AD29-04156D1128F2}"/>
              </a:ext>
            </a:extLst>
          </p:cNvPr>
          <p:cNvSpPr>
            <a:spLocks noGrp="1"/>
          </p:cNvSpPr>
          <p:nvPr/>
        </p:nvSpPr>
        <p:spPr>
          <a:xfrm>
            <a:off x="7658100" y="26574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17171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ree-l-1">
            <a:extLst>
              <a:ext uri="{FF2B5EF4-FFF2-40B4-BE49-F238E27FC236}">
                <a16:creationId xmlns:a16="http://schemas.microsoft.com/office/drawing/2014/main" id="{B4B08C1E-969B-4670-9A20-6485B803B3FF}"/>
              </a:ext>
            </a:extLst>
          </p:cNvPr>
          <p:cNvSpPr>
            <a:spLocks noGrp="1"/>
          </p:cNvSpPr>
          <p:nvPr/>
        </p:nvSpPr>
        <p:spPr>
          <a:xfrm>
            <a:off x="7419975" y="3257550"/>
            <a:ext cx="161925" cy="161925"/>
          </a:xfrm>
          <a:prstGeom prst="roundRect">
            <a:avLst>
              <a:gd name="adj" fmla="val 50000"/>
            </a:avLst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ree-r-1">
            <a:extLst>
              <a:ext uri="{FF2B5EF4-FFF2-40B4-BE49-F238E27FC236}">
                <a16:creationId xmlns:a16="http://schemas.microsoft.com/office/drawing/2014/main" id="{CA07430E-F657-4ABC-A7C7-B60D08AA5FFB}"/>
              </a:ext>
            </a:extLst>
          </p:cNvPr>
          <p:cNvSpPr>
            <a:spLocks noGrp="1"/>
          </p:cNvSpPr>
          <p:nvPr/>
        </p:nvSpPr>
        <p:spPr>
          <a:xfrm>
            <a:off x="7905750" y="3257550"/>
            <a:ext cx="161925" cy="161925"/>
          </a:xfrm>
          <a:prstGeom prst="roundRect">
            <a:avLst>
              <a:gd name="adj" fmla="val 50000"/>
            </a:avLst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ree-ll-1">
            <a:extLst>
              <a:ext uri="{FF2B5EF4-FFF2-40B4-BE49-F238E27FC236}">
                <a16:creationId xmlns:a16="http://schemas.microsoft.com/office/drawing/2014/main" id="{DBB964CD-73C7-4019-AC50-CA997CC64913}"/>
              </a:ext>
            </a:extLst>
          </p:cNvPr>
          <p:cNvSpPr>
            <a:spLocks noGrp="1"/>
          </p:cNvSpPr>
          <p:nvPr/>
        </p:nvSpPr>
        <p:spPr>
          <a:xfrm>
            <a:off x="7743825" y="2828925"/>
            <a:ext cx="0" cy="428625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ree-rr-1">
            <a:extLst>
              <a:ext uri="{FF2B5EF4-FFF2-40B4-BE49-F238E27FC236}">
                <a16:creationId xmlns:a16="http://schemas.microsoft.com/office/drawing/2014/main" id="{8A162D24-D0D8-4A8C-9315-58C6B661C41A}"/>
              </a:ext>
            </a:extLst>
          </p:cNvPr>
          <p:cNvSpPr>
            <a:spLocks noGrp="1"/>
          </p:cNvSpPr>
          <p:nvPr/>
        </p:nvSpPr>
        <p:spPr>
          <a:xfrm>
            <a:off x="7743825" y="2828925"/>
            <a:ext cx="247650" cy="428625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ree-2">
            <a:extLst>
              <a:ext uri="{FF2B5EF4-FFF2-40B4-BE49-F238E27FC236}">
                <a16:creationId xmlns:a16="http://schemas.microsoft.com/office/drawing/2014/main" id="{E8225DD9-3580-47DF-848F-A837262B2B06}"/>
              </a:ext>
            </a:extLst>
          </p:cNvPr>
          <p:cNvSpPr>
            <a:spLocks noGrp="1"/>
          </p:cNvSpPr>
          <p:nvPr/>
        </p:nvSpPr>
        <p:spPr>
          <a:xfrm>
            <a:off x="8524875" y="2381250"/>
            <a:ext cx="1095375" cy="1428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ree-root-2">
            <a:extLst>
              <a:ext uri="{FF2B5EF4-FFF2-40B4-BE49-F238E27FC236}">
                <a16:creationId xmlns:a16="http://schemas.microsoft.com/office/drawing/2014/main" id="{98D9EA1C-1BE4-4D38-811F-79647D8C8484}"/>
              </a:ext>
            </a:extLst>
          </p:cNvPr>
          <p:cNvSpPr>
            <a:spLocks noGrp="1"/>
          </p:cNvSpPr>
          <p:nvPr/>
        </p:nvSpPr>
        <p:spPr>
          <a:xfrm>
            <a:off x="8991600" y="26574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17171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ree-l-2">
            <a:extLst>
              <a:ext uri="{FF2B5EF4-FFF2-40B4-BE49-F238E27FC236}">
                <a16:creationId xmlns:a16="http://schemas.microsoft.com/office/drawing/2014/main" id="{37D741C3-BCC6-4E4A-A02A-70079A289210}"/>
              </a:ext>
            </a:extLst>
          </p:cNvPr>
          <p:cNvSpPr>
            <a:spLocks noGrp="1"/>
          </p:cNvSpPr>
          <p:nvPr/>
        </p:nvSpPr>
        <p:spPr>
          <a:xfrm>
            <a:off x="8753475" y="3257550"/>
            <a:ext cx="161925" cy="161925"/>
          </a:xfrm>
          <a:prstGeom prst="roundRect">
            <a:avLst>
              <a:gd name="adj" fmla="val 50000"/>
            </a:avLst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ree-r-2">
            <a:extLst>
              <a:ext uri="{FF2B5EF4-FFF2-40B4-BE49-F238E27FC236}">
                <a16:creationId xmlns:a16="http://schemas.microsoft.com/office/drawing/2014/main" id="{2492B42B-826E-4F53-817D-11C910B6E9BD}"/>
              </a:ext>
            </a:extLst>
          </p:cNvPr>
          <p:cNvSpPr>
            <a:spLocks noGrp="1"/>
          </p:cNvSpPr>
          <p:nvPr/>
        </p:nvSpPr>
        <p:spPr>
          <a:xfrm>
            <a:off x="9239250" y="3257550"/>
            <a:ext cx="161925" cy="161925"/>
          </a:xfrm>
          <a:prstGeom prst="roundRect">
            <a:avLst>
              <a:gd name="adj" fmla="val 50000"/>
            </a:avLst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ree-ll-2">
            <a:extLst>
              <a:ext uri="{FF2B5EF4-FFF2-40B4-BE49-F238E27FC236}">
                <a16:creationId xmlns:a16="http://schemas.microsoft.com/office/drawing/2014/main" id="{482A51E9-586F-44B1-A79F-5B0DDEE2F87A}"/>
              </a:ext>
            </a:extLst>
          </p:cNvPr>
          <p:cNvSpPr>
            <a:spLocks noGrp="1"/>
          </p:cNvSpPr>
          <p:nvPr/>
        </p:nvSpPr>
        <p:spPr>
          <a:xfrm>
            <a:off x="9077325" y="2828925"/>
            <a:ext cx="0" cy="428625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ree-rr-2">
            <a:extLst>
              <a:ext uri="{FF2B5EF4-FFF2-40B4-BE49-F238E27FC236}">
                <a16:creationId xmlns:a16="http://schemas.microsoft.com/office/drawing/2014/main" id="{6446E8D9-4862-4754-85EB-F4AE19E09A39}"/>
              </a:ext>
            </a:extLst>
          </p:cNvPr>
          <p:cNvSpPr>
            <a:spLocks noGrp="1"/>
          </p:cNvSpPr>
          <p:nvPr/>
        </p:nvSpPr>
        <p:spPr>
          <a:xfrm>
            <a:off x="9077325" y="2828925"/>
            <a:ext cx="247650" cy="428625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param-0">
            <a:extLst>
              <a:ext uri="{FF2B5EF4-FFF2-40B4-BE49-F238E27FC236}">
                <a16:creationId xmlns:a16="http://schemas.microsoft.com/office/drawing/2014/main" id="{CF19791C-954F-45AE-8A95-DAD13A21344A}"/>
              </a:ext>
            </a:extLst>
          </p:cNvPr>
          <p:cNvSpPr>
            <a:spLocks noGrp="1"/>
          </p:cNvSpPr>
          <p:nvPr/>
        </p:nvSpPr>
        <p:spPr>
          <a:xfrm>
            <a:off x="1524000" y="1809750"/>
            <a:ext cx="295275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param-text-0">
            <a:extLst>
              <a:ext uri="{FF2B5EF4-FFF2-40B4-BE49-F238E27FC236}">
                <a16:creationId xmlns:a16="http://schemas.microsoft.com/office/drawing/2014/main" id="{DAA97085-9B2B-496F-B040-738BF65E45E0}"/>
              </a:ext>
            </a:extLst>
          </p:cNvPr>
          <p:cNvSpPr>
            <a:spLocks noGrp="1"/>
          </p:cNvSpPr>
          <p:nvPr/>
        </p:nvSpPr>
        <p:spPr>
          <a:xfrm>
            <a:off x="1752600" y="2038350"/>
            <a:ext cx="2495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Learning rate: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0.05</a:t>
            </a:r>
          </a:p>
        </p:txBody>
      </p:sp>
      <p:sp>
        <p:nvSpPr>
          <p:cNvPr id="27" name="param-1">
            <a:extLst>
              <a:ext uri="{FF2B5EF4-FFF2-40B4-BE49-F238E27FC236}">
                <a16:creationId xmlns:a16="http://schemas.microsoft.com/office/drawing/2014/main" id="{B9676EAF-B18A-4F85-AF8C-681184716C7E}"/>
              </a:ext>
            </a:extLst>
          </p:cNvPr>
          <p:cNvSpPr>
            <a:spLocks noGrp="1"/>
          </p:cNvSpPr>
          <p:nvPr/>
        </p:nvSpPr>
        <p:spPr>
          <a:xfrm>
            <a:off x="1524000" y="2905125"/>
            <a:ext cx="295275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param-text-1">
            <a:extLst>
              <a:ext uri="{FF2B5EF4-FFF2-40B4-BE49-F238E27FC236}">
                <a16:creationId xmlns:a16="http://schemas.microsoft.com/office/drawing/2014/main" id="{B617BC85-DDBC-4F52-91EB-765ED410508B}"/>
              </a:ext>
            </a:extLst>
          </p:cNvPr>
          <p:cNvSpPr>
            <a:spLocks noGrp="1"/>
          </p:cNvSpPr>
          <p:nvPr/>
        </p:nvSpPr>
        <p:spPr>
          <a:xfrm>
            <a:off x="1752600" y="3133725"/>
            <a:ext cx="2495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Tree depth: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9" name="param-2">
            <a:extLst>
              <a:ext uri="{FF2B5EF4-FFF2-40B4-BE49-F238E27FC236}">
                <a16:creationId xmlns:a16="http://schemas.microsoft.com/office/drawing/2014/main" id="{7F164DE8-208C-40FF-AFE5-D35F54B4178D}"/>
              </a:ext>
            </a:extLst>
          </p:cNvPr>
          <p:cNvSpPr>
            <a:spLocks noGrp="1"/>
          </p:cNvSpPr>
          <p:nvPr/>
        </p:nvSpPr>
        <p:spPr>
          <a:xfrm>
            <a:off x="1524000" y="4000500"/>
            <a:ext cx="295275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param-text-2">
            <a:extLst>
              <a:ext uri="{FF2B5EF4-FFF2-40B4-BE49-F238E27FC236}">
                <a16:creationId xmlns:a16="http://schemas.microsoft.com/office/drawing/2014/main" id="{FC084E3B-3052-4995-90E0-A9DCA033E0FF}"/>
              </a:ext>
            </a:extLst>
          </p:cNvPr>
          <p:cNvSpPr>
            <a:spLocks noGrp="1"/>
          </p:cNvSpPr>
          <p:nvPr/>
        </p:nvSpPr>
        <p:spPr>
          <a:xfrm>
            <a:off x="1752600" y="4229100"/>
            <a:ext cx="2495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Number of trees: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500</a:t>
            </a:r>
          </a:p>
        </p:txBody>
      </p:sp>
      <p:sp>
        <p:nvSpPr>
          <p:cNvPr id="31" name="param-3">
            <a:extLst>
              <a:ext uri="{FF2B5EF4-FFF2-40B4-BE49-F238E27FC236}">
                <a16:creationId xmlns:a16="http://schemas.microsoft.com/office/drawing/2014/main" id="{B7D5E025-77ED-4CE4-A4A9-70504545792A}"/>
              </a:ext>
            </a:extLst>
          </p:cNvPr>
          <p:cNvSpPr>
            <a:spLocks noGrp="1"/>
          </p:cNvSpPr>
          <p:nvPr/>
        </p:nvSpPr>
        <p:spPr>
          <a:xfrm>
            <a:off x="10572750" y="1809750"/>
            <a:ext cx="295275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param-text-3">
            <a:extLst>
              <a:ext uri="{FF2B5EF4-FFF2-40B4-BE49-F238E27FC236}">
                <a16:creationId xmlns:a16="http://schemas.microsoft.com/office/drawing/2014/main" id="{FAC3A65E-424D-4DE6-9863-D866F2A0921C}"/>
              </a:ext>
            </a:extLst>
          </p:cNvPr>
          <p:cNvSpPr>
            <a:spLocks noGrp="1"/>
          </p:cNvSpPr>
          <p:nvPr/>
        </p:nvSpPr>
        <p:spPr>
          <a:xfrm>
            <a:off x="10801350" y="2038350"/>
            <a:ext cx="2495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Row sample: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80%</a:t>
            </a:r>
          </a:p>
        </p:txBody>
      </p:sp>
      <p:sp>
        <p:nvSpPr>
          <p:cNvPr id="33" name="param-4">
            <a:extLst>
              <a:ext uri="{FF2B5EF4-FFF2-40B4-BE49-F238E27FC236}">
                <a16:creationId xmlns:a16="http://schemas.microsoft.com/office/drawing/2014/main" id="{E0590D1B-8D46-47D8-95DC-551C3A9707C8}"/>
              </a:ext>
            </a:extLst>
          </p:cNvPr>
          <p:cNvSpPr>
            <a:spLocks noGrp="1"/>
          </p:cNvSpPr>
          <p:nvPr/>
        </p:nvSpPr>
        <p:spPr>
          <a:xfrm>
            <a:off x="10572750" y="2905125"/>
            <a:ext cx="295275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param-text-4">
            <a:extLst>
              <a:ext uri="{FF2B5EF4-FFF2-40B4-BE49-F238E27FC236}">
                <a16:creationId xmlns:a16="http://schemas.microsoft.com/office/drawing/2014/main" id="{CBC339FD-7656-4BCD-B546-33CF4DE015BF}"/>
              </a:ext>
            </a:extLst>
          </p:cNvPr>
          <p:cNvSpPr>
            <a:spLocks noGrp="1"/>
          </p:cNvSpPr>
          <p:nvPr/>
        </p:nvSpPr>
        <p:spPr>
          <a:xfrm>
            <a:off x="10801350" y="3133725"/>
            <a:ext cx="2495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Feature sample: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80%</a:t>
            </a:r>
          </a:p>
        </p:txBody>
      </p:sp>
      <p:sp>
        <p:nvSpPr>
          <p:cNvPr id="35" name="param-5">
            <a:extLst>
              <a:ext uri="{FF2B5EF4-FFF2-40B4-BE49-F238E27FC236}">
                <a16:creationId xmlns:a16="http://schemas.microsoft.com/office/drawing/2014/main" id="{E8DDDAF4-B97F-4F3B-9C0C-2276A69216F5}"/>
              </a:ext>
            </a:extLst>
          </p:cNvPr>
          <p:cNvSpPr>
            <a:spLocks noGrp="1"/>
          </p:cNvSpPr>
          <p:nvPr/>
        </p:nvSpPr>
        <p:spPr>
          <a:xfrm>
            <a:off x="10572750" y="4000500"/>
            <a:ext cx="295275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param-text-5">
            <a:extLst>
              <a:ext uri="{FF2B5EF4-FFF2-40B4-BE49-F238E27FC236}">
                <a16:creationId xmlns:a16="http://schemas.microsoft.com/office/drawing/2014/main" id="{A11258F3-B63F-4C86-95D0-FFFC066640A6}"/>
              </a:ext>
            </a:extLst>
          </p:cNvPr>
          <p:cNvSpPr>
            <a:spLocks noGrp="1"/>
          </p:cNvSpPr>
          <p:nvPr/>
        </p:nvSpPr>
        <p:spPr>
          <a:xfrm>
            <a:off x="10801350" y="4229100"/>
            <a:ext cx="2495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Regularisation: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L1 / L2</a:t>
            </a:r>
          </a:p>
        </p:txBody>
      </p:sp>
      <p:sp>
        <p:nvSpPr>
          <p:cNvPr id="37" name="trees-label">
            <a:extLst>
              <a:ext uri="{FF2B5EF4-FFF2-40B4-BE49-F238E27FC236}">
                <a16:creationId xmlns:a16="http://schemas.microsoft.com/office/drawing/2014/main" id="{6759278A-DA13-4469-894B-FA43A5DF6CB6}"/>
              </a:ext>
            </a:extLst>
          </p:cNvPr>
          <p:cNvSpPr>
            <a:spLocks noGrp="1"/>
          </p:cNvSpPr>
          <p:nvPr/>
        </p:nvSpPr>
        <p:spPr>
          <a:xfrm>
            <a:off x="5810250" y="433387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boosted tree ensemble</a:t>
            </a:r>
          </a:p>
        </p:txBody>
      </p:sp>
    </p:spTree>
    <p:extLst>
      <p:ext uri="{BB962C8B-B14F-4D97-AF65-F5344CB8AC3E}">
        <p14:creationId xmlns:p14="http://schemas.microsoft.com/office/powerpoint/2010/main" val="1285795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op-maroon">
            <a:extLst>
              <a:ext uri="{FF2B5EF4-FFF2-40B4-BE49-F238E27FC236}">
                <a16:creationId xmlns:a16="http://schemas.microsoft.com/office/drawing/2014/main" id="{8FE5ED61-22AA-4335-AD7E-F6473F295F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A8F0D3E6-B0F9-4D57-8575-2AAD0A3F1BFB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A3F7E5E5-6CBE-40F6-BB10-6240921911EA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C4815A24-7BF6-40D4-817B-EBCEA842E18E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Strict checks define the boundary of the reported result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C7D3D2F6-1FF7-4DBF-B81D-3EBE1C1CFF8B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D5972A20-2D50-4227-8FF1-C0CFF676BA50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20/34</a:t>
            </a:r>
          </a:p>
        </p:txBody>
      </p:sp>
      <p:sp>
        <p:nvSpPr>
          <p:cNvPr id="7" name="strict-chart">
            <a:extLst>
              <a:ext uri="{FF2B5EF4-FFF2-40B4-BE49-F238E27FC236}">
                <a16:creationId xmlns:a16="http://schemas.microsoft.com/office/drawing/2014/main" id="{E4316242-96AA-448B-91E7-6D24930C654A}"/>
              </a:ext>
            </a:extLst>
          </p:cNvPr>
          <p:cNvSpPr>
            <a:spLocks noGrp="1"/>
          </p:cNvSpPr>
          <p:nvPr/>
        </p:nvSpPr>
        <p:spPr>
          <a:xfrm>
            <a:off x="1857375" y="1714500"/>
            <a:ext cx="10858500" cy="4238625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trict-axis">
            <a:extLst>
              <a:ext uri="{FF2B5EF4-FFF2-40B4-BE49-F238E27FC236}">
                <a16:creationId xmlns:a16="http://schemas.microsoft.com/office/drawing/2014/main" id="{25C59729-3286-4396-B1DC-12650D085770}"/>
              </a:ext>
            </a:extLst>
          </p:cNvPr>
          <p:cNvSpPr>
            <a:spLocks noGrp="1"/>
          </p:cNvSpPr>
          <p:nvPr/>
        </p:nvSpPr>
        <p:spPr>
          <a:xfrm>
            <a:off x="3752850" y="4914900"/>
            <a:ext cx="7162800" cy="0"/>
          </a:xfrm>
          <a:prstGeom prst="line">
            <a:avLst/>
          </a:prstGeom>
          <a:noFill/>
          <a:ln w="1333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trict-yaxis">
            <a:extLst>
              <a:ext uri="{FF2B5EF4-FFF2-40B4-BE49-F238E27FC236}">
                <a16:creationId xmlns:a16="http://schemas.microsoft.com/office/drawing/2014/main" id="{A3ADDC3A-4002-488B-87E7-857532B07D72}"/>
              </a:ext>
            </a:extLst>
          </p:cNvPr>
          <p:cNvSpPr>
            <a:spLocks noGrp="1"/>
          </p:cNvSpPr>
          <p:nvPr/>
        </p:nvSpPr>
        <p:spPr>
          <a:xfrm>
            <a:off x="3752850" y="2381250"/>
            <a:ext cx="0" cy="2533650"/>
          </a:xfrm>
          <a:prstGeom prst="line">
            <a:avLst/>
          </a:prstGeom>
          <a:noFill/>
          <a:ln w="1333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trict-bar-0-0">
            <a:extLst>
              <a:ext uri="{FF2B5EF4-FFF2-40B4-BE49-F238E27FC236}">
                <a16:creationId xmlns:a16="http://schemas.microsoft.com/office/drawing/2014/main" id="{68BF0628-A68D-4B9B-8C02-4C806D2CD392}"/>
              </a:ext>
            </a:extLst>
          </p:cNvPr>
          <p:cNvSpPr>
            <a:spLocks noGrp="1"/>
          </p:cNvSpPr>
          <p:nvPr/>
        </p:nvSpPr>
        <p:spPr>
          <a:xfrm>
            <a:off x="3867150" y="3175254"/>
            <a:ext cx="419100" cy="1739646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trict-val-0-0">
            <a:extLst>
              <a:ext uri="{FF2B5EF4-FFF2-40B4-BE49-F238E27FC236}">
                <a16:creationId xmlns:a16="http://schemas.microsoft.com/office/drawing/2014/main" id="{3C489F02-33E7-4849-8081-A5E0810977CD}"/>
              </a:ext>
            </a:extLst>
          </p:cNvPr>
          <p:cNvSpPr>
            <a:spLocks noGrp="1"/>
          </p:cNvSpPr>
          <p:nvPr/>
        </p:nvSpPr>
        <p:spPr>
          <a:xfrm>
            <a:off x="3657600" y="2927604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76.1%</a:t>
            </a:r>
          </a:p>
        </p:txBody>
      </p:sp>
      <p:sp>
        <p:nvSpPr>
          <p:cNvPr id="12" name="strict-bar-0-1">
            <a:extLst>
              <a:ext uri="{FF2B5EF4-FFF2-40B4-BE49-F238E27FC236}">
                <a16:creationId xmlns:a16="http://schemas.microsoft.com/office/drawing/2014/main" id="{2A4351A9-B728-4BA1-AA4B-A0AB2C6CBB81}"/>
              </a:ext>
            </a:extLst>
          </p:cNvPr>
          <p:cNvSpPr>
            <a:spLocks noGrp="1"/>
          </p:cNvSpPr>
          <p:nvPr/>
        </p:nvSpPr>
        <p:spPr>
          <a:xfrm>
            <a:off x="4333875" y="3312414"/>
            <a:ext cx="419100" cy="1602486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trict-val-0-1">
            <a:extLst>
              <a:ext uri="{FF2B5EF4-FFF2-40B4-BE49-F238E27FC236}">
                <a16:creationId xmlns:a16="http://schemas.microsoft.com/office/drawing/2014/main" id="{98BC41BA-D128-4D78-92E1-41BE0A1964CD}"/>
              </a:ext>
            </a:extLst>
          </p:cNvPr>
          <p:cNvSpPr>
            <a:spLocks noGrp="1"/>
          </p:cNvSpPr>
          <p:nvPr/>
        </p:nvSpPr>
        <p:spPr>
          <a:xfrm>
            <a:off x="4124325" y="3064764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70.1%</a:t>
            </a:r>
          </a:p>
        </p:txBody>
      </p:sp>
      <p:sp>
        <p:nvSpPr>
          <p:cNvPr id="14" name="strict-cat-0">
            <a:extLst>
              <a:ext uri="{FF2B5EF4-FFF2-40B4-BE49-F238E27FC236}">
                <a16:creationId xmlns:a16="http://schemas.microsoft.com/office/drawing/2014/main" id="{9D42D6ED-C8E5-44F4-81E5-3F1718B51510}"/>
              </a:ext>
            </a:extLst>
          </p:cNvPr>
          <p:cNvSpPr>
            <a:spLocks noGrp="1"/>
          </p:cNvSpPr>
          <p:nvPr/>
        </p:nvSpPr>
        <p:spPr>
          <a:xfrm>
            <a:off x="3790950" y="4991100"/>
            <a:ext cx="174783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v5</a:t>
            </a:r>
          </a:p>
        </p:txBody>
      </p:sp>
      <p:sp>
        <p:nvSpPr>
          <p:cNvPr id="15" name="strict-bar-1-0">
            <a:extLst>
              <a:ext uri="{FF2B5EF4-FFF2-40B4-BE49-F238E27FC236}">
                <a16:creationId xmlns:a16="http://schemas.microsoft.com/office/drawing/2014/main" id="{216E7FB1-63A7-4435-A250-614E38CAEB77}"/>
              </a:ext>
            </a:extLst>
          </p:cNvPr>
          <p:cNvSpPr>
            <a:spLocks noGrp="1"/>
          </p:cNvSpPr>
          <p:nvPr/>
        </p:nvSpPr>
        <p:spPr>
          <a:xfrm>
            <a:off x="5614988" y="3287268"/>
            <a:ext cx="419100" cy="1627632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trict-val-1-0">
            <a:extLst>
              <a:ext uri="{FF2B5EF4-FFF2-40B4-BE49-F238E27FC236}">
                <a16:creationId xmlns:a16="http://schemas.microsoft.com/office/drawing/2014/main" id="{D3571504-E200-4D72-BFCC-64BC4AB34D04}"/>
              </a:ext>
            </a:extLst>
          </p:cNvPr>
          <p:cNvSpPr>
            <a:spLocks noGrp="1"/>
          </p:cNvSpPr>
          <p:nvPr/>
        </p:nvSpPr>
        <p:spPr>
          <a:xfrm>
            <a:off x="5405438" y="3039618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71.2%</a:t>
            </a:r>
          </a:p>
        </p:txBody>
      </p:sp>
      <p:sp>
        <p:nvSpPr>
          <p:cNvPr id="17" name="strict-bar-1-1">
            <a:extLst>
              <a:ext uri="{FF2B5EF4-FFF2-40B4-BE49-F238E27FC236}">
                <a16:creationId xmlns:a16="http://schemas.microsoft.com/office/drawing/2014/main" id="{1D4CBA9A-C3E3-498A-870C-23CD1490A418}"/>
              </a:ext>
            </a:extLst>
          </p:cNvPr>
          <p:cNvSpPr>
            <a:spLocks noGrp="1"/>
          </p:cNvSpPr>
          <p:nvPr/>
        </p:nvSpPr>
        <p:spPr>
          <a:xfrm>
            <a:off x="6081713" y="3396996"/>
            <a:ext cx="419100" cy="1517904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trict-val-1-1">
            <a:extLst>
              <a:ext uri="{FF2B5EF4-FFF2-40B4-BE49-F238E27FC236}">
                <a16:creationId xmlns:a16="http://schemas.microsoft.com/office/drawing/2014/main" id="{1FC816B9-3AE8-4F06-A8C7-36697EFBC887}"/>
              </a:ext>
            </a:extLst>
          </p:cNvPr>
          <p:cNvSpPr>
            <a:spLocks noGrp="1"/>
          </p:cNvSpPr>
          <p:nvPr/>
        </p:nvSpPr>
        <p:spPr>
          <a:xfrm>
            <a:off x="5872163" y="3149346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66.4%</a:t>
            </a:r>
          </a:p>
        </p:txBody>
      </p:sp>
      <p:sp>
        <p:nvSpPr>
          <p:cNvPr id="19" name="strict-cat-1">
            <a:extLst>
              <a:ext uri="{FF2B5EF4-FFF2-40B4-BE49-F238E27FC236}">
                <a16:creationId xmlns:a16="http://schemas.microsoft.com/office/drawing/2014/main" id="{6609C3BF-3AFE-4629-9E5C-E19D353ADC3F}"/>
              </a:ext>
            </a:extLst>
          </p:cNvPr>
          <p:cNvSpPr>
            <a:spLocks noGrp="1"/>
          </p:cNvSpPr>
          <p:nvPr/>
        </p:nvSpPr>
        <p:spPr>
          <a:xfrm>
            <a:off x="5538788" y="4991100"/>
            <a:ext cx="174783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v6</a:t>
            </a:r>
          </a:p>
        </p:txBody>
      </p:sp>
      <p:sp>
        <p:nvSpPr>
          <p:cNvPr id="20" name="strict-bar-2-0">
            <a:extLst>
              <a:ext uri="{FF2B5EF4-FFF2-40B4-BE49-F238E27FC236}">
                <a16:creationId xmlns:a16="http://schemas.microsoft.com/office/drawing/2014/main" id="{C4D792C4-A1A6-4214-B1C2-8940BC79FB95}"/>
              </a:ext>
            </a:extLst>
          </p:cNvPr>
          <p:cNvSpPr>
            <a:spLocks noGrp="1"/>
          </p:cNvSpPr>
          <p:nvPr/>
        </p:nvSpPr>
        <p:spPr>
          <a:xfrm>
            <a:off x="7362825" y="3248406"/>
            <a:ext cx="419100" cy="1666494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trict-val-2-0">
            <a:extLst>
              <a:ext uri="{FF2B5EF4-FFF2-40B4-BE49-F238E27FC236}">
                <a16:creationId xmlns:a16="http://schemas.microsoft.com/office/drawing/2014/main" id="{32B993DD-96CE-47DE-B9DE-36BC50DBAD06}"/>
              </a:ext>
            </a:extLst>
          </p:cNvPr>
          <p:cNvSpPr>
            <a:spLocks noGrp="1"/>
          </p:cNvSpPr>
          <p:nvPr/>
        </p:nvSpPr>
        <p:spPr>
          <a:xfrm>
            <a:off x="7153275" y="3000756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72.9%</a:t>
            </a:r>
          </a:p>
        </p:txBody>
      </p:sp>
      <p:sp>
        <p:nvSpPr>
          <p:cNvPr id="22" name="strict-bar-2-1">
            <a:extLst>
              <a:ext uri="{FF2B5EF4-FFF2-40B4-BE49-F238E27FC236}">
                <a16:creationId xmlns:a16="http://schemas.microsoft.com/office/drawing/2014/main" id="{A6B94AAF-F7B3-4A75-9EBA-AFD1ED1288F1}"/>
              </a:ext>
            </a:extLst>
          </p:cNvPr>
          <p:cNvSpPr>
            <a:spLocks noGrp="1"/>
          </p:cNvSpPr>
          <p:nvPr/>
        </p:nvSpPr>
        <p:spPr>
          <a:xfrm>
            <a:off x="7829550" y="3399282"/>
            <a:ext cx="419100" cy="1515618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trict-val-2-1">
            <a:extLst>
              <a:ext uri="{FF2B5EF4-FFF2-40B4-BE49-F238E27FC236}">
                <a16:creationId xmlns:a16="http://schemas.microsoft.com/office/drawing/2014/main" id="{8806AE4D-F3ED-4388-AE8B-6E54139CDF96}"/>
              </a:ext>
            </a:extLst>
          </p:cNvPr>
          <p:cNvSpPr>
            <a:spLocks noGrp="1"/>
          </p:cNvSpPr>
          <p:nvPr/>
        </p:nvSpPr>
        <p:spPr>
          <a:xfrm>
            <a:off x="7620000" y="3151632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66.3%</a:t>
            </a:r>
          </a:p>
        </p:txBody>
      </p:sp>
      <p:sp>
        <p:nvSpPr>
          <p:cNvPr id="24" name="strict-cat-2">
            <a:extLst>
              <a:ext uri="{FF2B5EF4-FFF2-40B4-BE49-F238E27FC236}">
                <a16:creationId xmlns:a16="http://schemas.microsoft.com/office/drawing/2014/main" id="{DBC92A84-60EC-4742-A723-53E6D607537A}"/>
              </a:ext>
            </a:extLst>
          </p:cNvPr>
          <p:cNvSpPr>
            <a:spLocks noGrp="1"/>
          </p:cNvSpPr>
          <p:nvPr/>
        </p:nvSpPr>
        <p:spPr>
          <a:xfrm>
            <a:off x="7286625" y="4991100"/>
            <a:ext cx="174783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v7</a:t>
            </a:r>
          </a:p>
        </p:txBody>
      </p:sp>
      <p:sp>
        <p:nvSpPr>
          <p:cNvPr id="25" name="strict-bar-3-0">
            <a:extLst>
              <a:ext uri="{FF2B5EF4-FFF2-40B4-BE49-F238E27FC236}">
                <a16:creationId xmlns:a16="http://schemas.microsoft.com/office/drawing/2014/main" id="{9730F9BE-EEC5-4CAD-93EE-06CF7027694E}"/>
              </a:ext>
            </a:extLst>
          </p:cNvPr>
          <p:cNvSpPr>
            <a:spLocks noGrp="1"/>
          </p:cNvSpPr>
          <p:nvPr/>
        </p:nvSpPr>
        <p:spPr>
          <a:xfrm>
            <a:off x="9110663" y="3255264"/>
            <a:ext cx="419100" cy="1659636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trict-val-3-0">
            <a:extLst>
              <a:ext uri="{FF2B5EF4-FFF2-40B4-BE49-F238E27FC236}">
                <a16:creationId xmlns:a16="http://schemas.microsoft.com/office/drawing/2014/main" id="{C7C9F158-9980-49C6-B253-14B1EC556918}"/>
              </a:ext>
            </a:extLst>
          </p:cNvPr>
          <p:cNvSpPr>
            <a:spLocks noGrp="1"/>
          </p:cNvSpPr>
          <p:nvPr/>
        </p:nvSpPr>
        <p:spPr>
          <a:xfrm>
            <a:off x="8901113" y="3007614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72.6%</a:t>
            </a:r>
          </a:p>
        </p:txBody>
      </p:sp>
      <p:sp>
        <p:nvSpPr>
          <p:cNvPr id="27" name="strict-bar-3-1">
            <a:extLst>
              <a:ext uri="{FF2B5EF4-FFF2-40B4-BE49-F238E27FC236}">
                <a16:creationId xmlns:a16="http://schemas.microsoft.com/office/drawing/2014/main" id="{246C94F2-C5F3-451D-A809-8C6888E628C5}"/>
              </a:ext>
            </a:extLst>
          </p:cNvPr>
          <p:cNvSpPr>
            <a:spLocks noGrp="1"/>
          </p:cNvSpPr>
          <p:nvPr/>
        </p:nvSpPr>
        <p:spPr>
          <a:xfrm>
            <a:off x="9577388" y="3536442"/>
            <a:ext cx="419100" cy="1378458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trict-val-3-1">
            <a:extLst>
              <a:ext uri="{FF2B5EF4-FFF2-40B4-BE49-F238E27FC236}">
                <a16:creationId xmlns:a16="http://schemas.microsoft.com/office/drawing/2014/main" id="{78348EFA-1A53-44AE-86A4-32C82E5DFEEB}"/>
              </a:ext>
            </a:extLst>
          </p:cNvPr>
          <p:cNvSpPr>
            <a:spLocks noGrp="1"/>
          </p:cNvSpPr>
          <p:nvPr/>
        </p:nvSpPr>
        <p:spPr>
          <a:xfrm>
            <a:off x="9367838" y="3288792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60.3%</a:t>
            </a:r>
          </a:p>
        </p:txBody>
      </p:sp>
      <p:sp>
        <p:nvSpPr>
          <p:cNvPr id="29" name="strict-cat-3">
            <a:extLst>
              <a:ext uri="{FF2B5EF4-FFF2-40B4-BE49-F238E27FC236}">
                <a16:creationId xmlns:a16="http://schemas.microsoft.com/office/drawing/2014/main" id="{FC4B90AD-BCF5-47D0-BF68-C3B289D3FB80}"/>
              </a:ext>
            </a:extLst>
          </p:cNvPr>
          <p:cNvSpPr>
            <a:spLocks noGrp="1"/>
          </p:cNvSpPr>
          <p:nvPr/>
        </p:nvSpPr>
        <p:spPr>
          <a:xfrm>
            <a:off x="9034463" y="4991100"/>
            <a:ext cx="174783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v8</a:t>
            </a:r>
          </a:p>
        </p:txBody>
      </p:sp>
      <p:sp>
        <p:nvSpPr>
          <p:cNvPr id="30" name="strict-legend">
            <a:extLst>
              <a:ext uri="{FF2B5EF4-FFF2-40B4-BE49-F238E27FC236}">
                <a16:creationId xmlns:a16="http://schemas.microsoft.com/office/drawing/2014/main" id="{7102567E-98D5-4406-A104-DBBEF9E59F0C}"/>
              </a:ext>
            </a:extLst>
          </p:cNvPr>
          <p:cNvSpPr>
            <a:spLocks noGrp="1"/>
          </p:cNvSpPr>
          <p:nvPr/>
        </p:nvSpPr>
        <p:spPr>
          <a:xfrm>
            <a:off x="9239250" y="2381250"/>
            <a:ext cx="171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Accuracy / balanced accuracy</a:t>
            </a:r>
          </a:p>
          <a:p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under stricter checks</a:t>
            </a:r>
          </a:p>
        </p:txBody>
      </p:sp>
    </p:spTree>
    <p:extLst>
      <p:ext uri="{BB962C8B-B14F-4D97-AF65-F5344CB8AC3E}">
        <p14:creationId xmlns:p14="http://schemas.microsoft.com/office/powerpoint/2010/main" val="976992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op-maroon">
            <a:extLst>
              <a:ext uri="{FF2B5EF4-FFF2-40B4-BE49-F238E27FC236}">
                <a16:creationId xmlns:a16="http://schemas.microsoft.com/office/drawing/2014/main" id="{BBC18A7C-BEE4-4319-B7F1-41D1766441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804A6D7B-F0C7-487D-9233-E6A7A693E87E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BCF04B8C-4EF3-4434-A8F2-B79EE635DA1A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190FC9B7-63E5-4D30-8CC3-9815F611BC12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Model evolution reduced the problem to its deployable form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256E53D4-A55C-400C-802C-35788F1F0E03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1DAB850E-C891-4145-98CD-6701131FF6F6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21/34</a:t>
            </a:r>
          </a:p>
        </p:txBody>
      </p:sp>
      <p:sp>
        <p:nvSpPr>
          <p:cNvPr id="7" name="evo-frame">
            <a:extLst>
              <a:ext uri="{FF2B5EF4-FFF2-40B4-BE49-F238E27FC236}">
                <a16:creationId xmlns:a16="http://schemas.microsoft.com/office/drawing/2014/main" id="{70CB0C2B-72F8-46D0-832B-48F426D29E00}"/>
              </a:ext>
            </a:extLst>
          </p:cNvPr>
          <p:cNvSpPr>
            <a:spLocks noGrp="1"/>
          </p:cNvSpPr>
          <p:nvPr/>
        </p:nvSpPr>
        <p:spPr>
          <a:xfrm>
            <a:off x="1619250" y="1666875"/>
            <a:ext cx="11334750" cy="428625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evo-bar-0">
            <a:extLst>
              <a:ext uri="{FF2B5EF4-FFF2-40B4-BE49-F238E27FC236}">
                <a16:creationId xmlns:a16="http://schemas.microsoft.com/office/drawing/2014/main" id="{D014661C-07A2-4FBF-9CB0-DF2D6B6D7233}"/>
              </a:ext>
            </a:extLst>
          </p:cNvPr>
          <p:cNvSpPr>
            <a:spLocks noGrp="1"/>
          </p:cNvSpPr>
          <p:nvPr/>
        </p:nvSpPr>
        <p:spPr>
          <a:xfrm>
            <a:off x="2381250" y="3789998"/>
            <a:ext cx="666750" cy="1163003"/>
          </a:xfrm>
          <a:prstGeom prst="rect">
            <a:avLst/>
          </a:prstGeom>
          <a:solidFill>
            <a:srgbClr val="7186A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vo-val-0">
            <a:extLst>
              <a:ext uri="{FF2B5EF4-FFF2-40B4-BE49-F238E27FC236}">
                <a16:creationId xmlns:a16="http://schemas.microsoft.com/office/drawing/2014/main" id="{060DE1DE-E999-4F9B-B5D8-376E8C91CEFD}"/>
              </a:ext>
            </a:extLst>
          </p:cNvPr>
          <p:cNvSpPr>
            <a:spLocks noGrp="1"/>
          </p:cNvSpPr>
          <p:nvPr/>
        </p:nvSpPr>
        <p:spPr>
          <a:xfrm>
            <a:off x="2266950" y="3561398"/>
            <a:ext cx="895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44.4%</a:t>
            </a:r>
          </a:p>
        </p:txBody>
      </p:sp>
      <p:sp>
        <p:nvSpPr>
          <p:cNvPr id="10" name="evo-ver-0">
            <a:extLst>
              <a:ext uri="{FF2B5EF4-FFF2-40B4-BE49-F238E27FC236}">
                <a16:creationId xmlns:a16="http://schemas.microsoft.com/office/drawing/2014/main" id="{EA694157-24A2-4EBC-933C-6C1AF9AD6791}"/>
              </a:ext>
            </a:extLst>
          </p:cNvPr>
          <p:cNvSpPr>
            <a:spLocks noGrp="1"/>
          </p:cNvSpPr>
          <p:nvPr/>
        </p:nvSpPr>
        <p:spPr>
          <a:xfrm>
            <a:off x="2381250" y="50673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v1</a:t>
            </a:r>
          </a:p>
        </p:txBody>
      </p:sp>
      <p:sp>
        <p:nvSpPr>
          <p:cNvPr id="11" name="evo-note-0">
            <a:extLst>
              <a:ext uri="{FF2B5EF4-FFF2-40B4-BE49-F238E27FC236}">
                <a16:creationId xmlns:a16="http://schemas.microsoft.com/office/drawing/2014/main" id="{A2281A82-2471-4D31-BCE6-1D734D52545A}"/>
              </a:ext>
            </a:extLst>
          </p:cNvPr>
          <p:cNvSpPr>
            <a:spLocks noGrp="1"/>
          </p:cNvSpPr>
          <p:nvPr/>
        </p:nvSpPr>
        <p:spPr>
          <a:xfrm>
            <a:off x="2047875" y="52959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regression</a:t>
            </a:r>
          </a:p>
        </p:txBody>
      </p:sp>
      <p:sp>
        <p:nvSpPr>
          <p:cNvPr id="12" name="evo-bar-1">
            <a:extLst>
              <a:ext uri="{FF2B5EF4-FFF2-40B4-BE49-F238E27FC236}">
                <a16:creationId xmlns:a16="http://schemas.microsoft.com/office/drawing/2014/main" id="{634C69E1-537E-4385-929D-C11ECB3CFB8F}"/>
              </a:ext>
            </a:extLst>
          </p:cNvPr>
          <p:cNvSpPr>
            <a:spLocks noGrp="1"/>
          </p:cNvSpPr>
          <p:nvPr/>
        </p:nvSpPr>
        <p:spPr>
          <a:xfrm>
            <a:off x="3667125" y="3315891"/>
            <a:ext cx="666750" cy="1637109"/>
          </a:xfrm>
          <a:prstGeom prst="rect">
            <a:avLst/>
          </a:prstGeom>
          <a:solidFill>
            <a:srgbClr val="7186A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vo-val-1">
            <a:extLst>
              <a:ext uri="{FF2B5EF4-FFF2-40B4-BE49-F238E27FC236}">
                <a16:creationId xmlns:a16="http://schemas.microsoft.com/office/drawing/2014/main" id="{1743110C-712B-4B9D-B7B2-82D0E3726BC9}"/>
              </a:ext>
            </a:extLst>
          </p:cNvPr>
          <p:cNvSpPr>
            <a:spLocks noGrp="1"/>
          </p:cNvSpPr>
          <p:nvPr/>
        </p:nvSpPr>
        <p:spPr>
          <a:xfrm>
            <a:off x="3552825" y="3087291"/>
            <a:ext cx="895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62.5%</a:t>
            </a:r>
          </a:p>
        </p:txBody>
      </p:sp>
      <p:sp>
        <p:nvSpPr>
          <p:cNvPr id="14" name="evo-ver-1">
            <a:extLst>
              <a:ext uri="{FF2B5EF4-FFF2-40B4-BE49-F238E27FC236}">
                <a16:creationId xmlns:a16="http://schemas.microsoft.com/office/drawing/2014/main" id="{741D4BA5-DF1D-4718-ADBE-71B103565472}"/>
              </a:ext>
            </a:extLst>
          </p:cNvPr>
          <p:cNvSpPr>
            <a:spLocks noGrp="1"/>
          </p:cNvSpPr>
          <p:nvPr/>
        </p:nvSpPr>
        <p:spPr>
          <a:xfrm>
            <a:off x="3667125" y="50673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v2</a:t>
            </a:r>
          </a:p>
        </p:txBody>
      </p:sp>
      <p:sp>
        <p:nvSpPr>
          <p:cNvPr id="15" name="evo-note-1">
            <a:extLst>
              <a:ext uri="{FF2B5EF4-FFF2-40B4-BE49-F238E27FC236}">
                <a16:creationId xmlns:a16="http://schemas.microsoft.com/office/drawing/2014/main" id="{E7D84E0F-AA20-4A24-8037-4793AED29FAE}"/>
              </a:ext>
            </a:extLst>
          </p:cNvPr>
          <p:cNvSpPr>
            <a:spLocks noGrp="1"/>
          </p:cNvSpPr>
          <p:nvPr/>
        </p:nvSpPr>
        <p:spPr>
          <a:xfrm>
            <a:off x="3333750" y="52959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classifier</a:t>
            </a:r>
          </a:p>
        </p:txBody>
      </p:sp>
      <p:sp>
        <p:nvSpPr>
          <p:cNvPr id="16" name="evo-bar-2">
            <a:extLst>
              <a:ext uri="{FF2B5EF4-FFF2-40B4-BE49-F238E27FC236}">
                <a16:creationId xmlns:a16="http://schemas.microsoft.com/office/drawing/2014/main" id="{82937A35-87D7-4D8A-BAFF-A1629D9CF5A9}"/>
              </a:ext>
            </a:extLst>
          </p:cNvPr>
          <p:cNvSpPr>
            <a:spLocks noGrp="1"/>
          </p:cNvSpPr>
          <p:nvPr/>
        </p:nvSpPr>
        <p:spPr>
          <a:xfrm>
            <a:off x="4953000" y="2333625"/>
            <a:ext cx="666750" cy="2619375"/>
          </a:xfrm>
          <a:prstGeom prst="rect">
            <a:avLst/>
          </a:prstGeom>
          <a:solidFill>
            <a:srgbClr val="B915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evo-val-2">
            <a:extLst>
              <a:ext uri="{FF2B5EF4-FFF2-40B4-BE49-F238E27FC236}">
                <a16:creationId xmlns:a16="http://schemas.microsoft.com/office/drawing/2014/main" id="{EC0D3873-EBB5-46EE-B3B9-C3677D623367}"/>
              </a:ext>
            </a:extLst>
          </p:cNvPr>
          <p:cNvSpPr>
            <a:spLocks noGrp="1"/>
          </p:cNvSpPr>
          <p:nvPr/>
        </p:nvSpPr>
        <p:spPr>
          <a:xfrm>
            <a:off x="4838700" y="2105025"/>
            <a:ext cx="895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100.0%</a:t>
            </a:r>
          </a:p>
        </p:txBody>
      </p:sp>
      <p:sp>
        <p:nvSpPr>
          <p:cNvPr id="18" name="evo-ver-2">
            <a:extLst>
              <a:ext uri="{FF2B5EF4-FFF2-40B4-BE49-F238E27FC236}">
                <a16:creationId xmlns:a16="http://schemas.microsoft.com/office/drawing/2014/main" id="{E81977A2-EF32-40E2-BDFC-4B2801819A17}"/>
              </a:ext>
            </a:extLst>
          </p:cNvPr>
          <p:cNvSpPr>
            <a:spLocks noGrp="1"/>
          </p:cNvSpPr>
          <p:nvPr/>
        </p:nvSpPr>
        <p:spPr>
          <a:xfrm>
            <a:off x="4953000" y="50673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19" name="evo-note-2">
            <a:extLst>
              <a:ext uri="{FF2B5EF4-FFF2-40B4-BE49-F238E27FC236}">
                <a16:creationId xmlns:a16="http://schemas.microsoft.com/office/drawing/2014/main" id="{F7A163DA-F602-417B-BF48-884BA492F0CD}"/>
              </a:ext>
            </a:extLst>
          </p:cNvPr>
          <p:cNvSpPr>
            <a:spLocks noGrp="1"/>
          </p:cNvSpPr>
          <p:nvPr/>
        </p:nvSpPr>
        <p:spPr>
          <a:xfrm>
            <a:off x="4619625" y="52959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leakage</a:t>
            </a:r>
          </a:p>
        </p:txBody>
      </p:sp>
      <p:sp>
        <p:nvSpPr>
          <p:cNvPr id="20" name="evo-bar-3">
            <a:extLst>
              <a:ext uri="{FF2B5EF4-FFF2-40B4-BE49-F238E27FC236}">
                <a16:creationId xmlns:a16="http://schemas.microsoft.com/office/drawing/2014/main" id="{D792E8B3-8E79-4273-B73D-484BFE4E00D2}"/>
              </a:ext>
            </a:extLst>
          </p:cNvPr>
          <p:cNvSpPr>
            <a:spLocks noGrp="1"/>
          </p:cNvSpPr>
          <p:nvPr/>
        </p:nvSpPr>
        <p:spPr>
          <a:xfrm>
            <a:off x="6238875" y="2959656"/>
            <a:ext cx="666750" cy="1993344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evo-val-3">
            <a:extLst>
              <a:ext uri="{FF2B5EF4-FFF2-40B4-BE49-F238E27FC236}">
                <a16:creationId xmlns:a16="http://schemas.microsoft.com/office/drawing/2014/main" id="{A5266F88-A99A-430D-BD9C-AF86257DC34C}"/>
              </a:ext>
            </a:extLst>
          </p:cNvPr>
          <p:cNvSpPr>
            <a:spLocks noGrp="1"/>
          </p:cNvSpPr>
          <p:nvPr/>
        </p:nvSpPr>
        <p:spPr>
          <a:xfrm>
            <a:off x="6124575" y="2731056"/>
            <a:ext cx="895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76.1%</a:t>
            </a:r>
          </a:p>
        </p:txBody>
      </p:sp>
      <p:sp>
        <p:nvSpPr>
          <p:cNvPr id="22" name="evo-ver-3">
            <a:extLst>
              <a:ext uri="{FF2B5EF4-FFF2-40B4-BE49-F238E27FC236}">
                <a16:creationId xmlns:a16="http://schemas.microsoft.com/office/drawing/2014/main" id="{DBC2EE1B-3BE5-48AA-9311-1A7DFB02E325}"/>
              </a:ext>
            </a:extLst>
          </p:cNvPr>
          <p:cNvSpPr>
            <a:spLocks noGrp="1"/>
          </p:cNvSpPr>
          <p:nvPr/>
        </p:nvSpPr>
        <p:spPr>
          <a:xfrm>
            <a:off x="6238875" y="50673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v5</a:t>
            </a:r>
          </a:p>
        </p:txBody>
      </p:sp>
      <p:sp>
        <p:nvSpPr>
          <p:cNvPr id="23" name="evo-note-3">
            <a:extLst>
              <a:ext uri="{FF2B5EF4-FFF2-40B4-BE49-F238E27FC236}">
                <a16:creationId xmlns:a16="http://schemas.microsoft.com/office/drawing/2014/main" id="{CE5731B3-DF2C-4499-A7AC-98F6A0E183DC}"/>
              </a:ext>
            </a:extLst>
          </p:cNvPr>
          <p:cNvSpPr>
            <a:spLocks noGrp="1"/>
          </p:cNvSpPr>
          <p:nvPr/>
        </p:nvSpPr>
        <p:spPr>
          <a:xfrm>
            <a:off x="5905500" y="52959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production</a:t>
            </a:r>
          </a:p>
        </p:txBody>
      </p:sp>
      <p:sp>
        <p:nvSpPr>
          <p:cNvPr id="24" name="evo-bar-4">
            <a:extLst>
              <a:ext uri="{FF2B5EF4-FFF2-40B4-BE49-F238E27FC236}">
                <a16:creationId xmlns:a16="http://schemas.microsoft.com/office/drawing/2014/main" id="{00C1720D-FAC3-4131-94F7-C014A3DE167E}"/>
              </a:ext>
            </a:extLst>
          </p:cNvPr>
          <p:cNvSpPr>
            <a:spLocks noGrp="1"/>
          </p:cNvSpPr>
          <p:nvPr/>
        </p:nvSpPr>
        <p:spPr>
          <a:xfrm>
            <a:off x="7524750" y="3088005"/>
            <a:ext cx="666750" cy="1864995"/>
          </a:xfrm>
          <a:prstGeom prst="rect">
            <a:avLst/>
          </a:prstGeom>
          <a:solidFill>
            <a:srgbClr val="7186A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evo-val-4">
            <a:extLst>
              <a:ext uri="{FF2B5EF4-FFF2-40B4-BE49-F238E27FC236}">
                <a16:creationId xmlns:a16="http://schemas.microsoft.com/office/drawing/2014/main" id="{101D7420-EF3E-477A-A5D5-360E619BB11E}"/>
              </a:ext>
            </a:extLst>
          </p:cNvPr>
          <p:cNvSpPr>
            <a:spLocks noGrp="1"/>
          </p:cNvSpPr>
          <p:nvPr/>
        </p:nvSpPr>
        <p:spPr>
          <a:xfrm>
            <a:off x="7410450" y="2859405"/>
            <a:ext cx="895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71.2%</a:t>
            </a:r>
          </a:p>
        </p:txBody>
      </p:sp>
      <p:sp>
        <p:nvSpPr>
          <p:cNvPr id="26" name="evo-ver-4">
            <a:extLst>
              <a:ext uri="{FF2B5EF4-FFF2-40B4-BE49-F238E27FC236}">
                <a16:creationId xmlns:a16="http://schemas.microsoft.com/office/drawing/2014/main" id="{008BFD44-612D-4DE9-B49E-D958F6F05074}"/>
              </a:ext>
            </a:extLst>
          </p:cNvPr>
          <p:cNvSpPr>
            <a:spLocks noGrp="1"/>
          </p:cNvSpPr>
          <p:nvPr/>
        </p:nvSpPr>
        <p:spPr>
          <a:xfrm>
            <a:off x="7524750" y="50673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v6</a:t>
            </a:r>
          </a:p>
        </p:txBody>
      </p:sp>
      <p:sp>
        <p:nvSpPr>
          <p:cNvPr id="27" name="evo-note-4">
            <a:extLst>
              <a:ext uri="{FF2B5EF4-FFF2-40B4-BE49-F238E27FC236}">
                <a16:creationId xmlns:a16="http://schemas.microsoft.com/office/drawing/2014/main" id="{5757C6B1-9A7B-4E95-ACCD-2BF1504D2BC8}"/>
              </a:ext>
            </a:extLst>
          </p:cNvPr>
          <p:cNvSpPr>
            <a:spLocks noGrp="1"/>
          </p:cNvSpPr>
          <p:nvPr/>
        </p:nvSpPr>
        <p:spPr>
          <a:xfrm>
            <a:off x="7191375" y="52959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source-aware</a:t>
            </a:r>
          </a:p>
        </p:txBody>
      </p:sp>
      <p:sp>
        <p:nvSpPr>
          <p:cNvPr id="28" name="evo-bar-5">
            <a:extLst>
              <a:ext uri="{FF2B5EF4-FFF2-40B4-BE49-F238E27FC236}">
                <a16:creationId xmlns:a16="http://schemas.microsoft.com/office/drawing/2014/main" id="{0DDA3FF7-A719-4835-86B8-C79150F1A64F}"/>
              </a:ext>
            </a:extLst>
          </p:cNvPr>
          <p:cNvSpPr>
            <a:spLocks noGrp="1"/>
          </p:cNvSpPr>
          <p:nvPr/>
        </p:nvSpPr>
        <p:spPr>
          <a:xfrm>
            <a:off x="8810625" y="3043476"/>
            <a:ext cx="666750" cy="1909524"/>
          </a:xfrm>
          <a:prstGeom prst="rect">
            <a:avLst/>
          </a:prstGeom>
          <a:solidFill>
            <a:srgbClr val="7186A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evo-val-5">
            <a:extLst>
              <a:ext uri="{FF2B5EF4-FFF2-40B4-BE49-F238E27FC236}">
                <a16:creationId xmlns:a16="http://schemas.microsoft.com/office/drawing/2014/main" id="{E67B88B9-627F-47E0-957A-27900EA2E9CA}"/>
              </a:ext>
            </a:extLst>
          </p:cNvPr>
          <p:cNvSpPr>
            <a:spLocks noGrp="1"/>
          </p:cNvSpPr>
          <p:nvPr/>
        </p:nvSpPr>
        <p:spPr>
          <a:xfrm>
            <a:off x="8696325" y="2814876"/>
            <a:ext cx="895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72.9%</a:t>
            </a:r>
          </a:p>
        </p:txBody>
      </p:sp>
      <p:sp>
        <p:nvSpPr>
          <p:cNvPr id="30" name="evo-ver-5">
            <a:extLst>
              <a:ext uri="{FF2B5EF4-FFF2-40B4-BE49-F238E27FC236}">
                <a16:creationId xmlns:a16="http://schemas.microsoft.com/office/drawing/2014/main" id="{CA65DF5D-B429-47A8-B9B9-06EDACBAB55A}"/>
              </a:ext>
            </a:extLst>
          </p:cNvPr>
          <p:cNvSpPr>
            <a:spLocks noGrp="1"/>
          </p:cNvSpPr>
          <p:nvPr/>
        </p:nvSpPr>
        <p:spPr>
          <a:xfrm>
            <a:off x="8810625" y="50673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v7</a:t>
            </a:r>
          </a:p>
        </p:txBody>
      </p:sp>
      <p:sp>
        <p:nvSpPr>
          <p:cNvPr id="31" name="evo-note-5">
            <a:extLst>
              <a:ext uri="{FF2B5EF4-FFF2-40B4-BE49-F238E27FC236}">
                <a16:creationId xmlns:a16="http://schemas.microsoft.com/office/drawing/2014/main" id="{B597A97C-F286-4D12-9FD7-0A6E6A793BA1}"/>
              </a:ext>
            </a:extLst>
          </p:cNvPr>
          <p:cNvSpPr>
            <a:spLocks noGrp="1"/>
          </p:cNvSpPr>
          <p:nvPr/>
        </p:nvSpPr>
        <p:spPr>
          <a:xfrm>
            <a:off x="8477250" y="52959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regret</a:t>
            </a:r>
          </a:p>
        </p:txBody>
      </p:sp>
      <p:sp>
        <p:nvSpPr>
          <p:cNvPr id="32" name="evo-bar-6">
            <a:extLst>
              <a:ext uri="{FF2B5EF4-FFF2-40B4-BE49-F238E27FC236}">
                <a16:creationId xmlns:a16="http://schemas.microsoft.com/office/drawing/2014/main" id="{966953C6-C17C-472A-9833-204067F4DF8F}"/>
              </a:ext>
            </a:extLst>
          </p:cNvPr>
          <p:cNvSpPr>
            <a:spLocks noGrp="1"/>
          </p:cNvSpPr>
          <p:nvPr/>
        </p:nvSpPr>
        <p:spPr>
          <a:xfrm>
            <a:off x="10096500" y="3051334"/>
            <a:ext cx="666750" cy="1901666"/>
          </a:xfrm>
          <a:prstGeom prst="rect">
            <a:avLst/>
          </a:prstGeom>
          <a:solidFill>
            <a:srgbClr val="7186A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evo-val-6">
            <a:extLst>
              <a:ext uri="{FF2B5EF4-FFF2-40B4-BE49-F238E27FC236}">
                <a16:creationId xmlns:a16="http://schemas.microsoft.com/office/drawing/2014/main" id="{CDA2D3F2-E51C-4AA8-9A85-6A2A096E300A}"/>
              </a:ext>
            </a:extLst>
          </p:cNvPr>
          <p:cNvSpPr>
            <a:spLocks noGrp="1"/>
          </p:cNvSpPr>
          <p:nvPr/>
        </p:nvSpPr>
        <p:spPr>
          <a:xfrm>
            <a:off x="9982200" y="2822734"/>
            <a:ext cx="895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72.6%</a:t>
            </a:r>
          </a:p>
        </p:txBody>
      </p:sp>
      <p:sp>
        <p:nvSpPr>
          <p:cNvPr id="34" name="evo-ver-6">
            <a:extLst>
              <a:ext uri="{FF2B5EF4-FFF2-40B4-BE49-F238E27FC236}">
                <a16:creationId xmlns:a16="http://schemas.microsoft.com/office/drawing/2014/main" id="{76E8AC2D-0E60-40F1-895F-4BD53D2CEDE1}"/>
              </a:ext>
            </a:extLst>
          </p:cNvPr>
          <p:cNvSpPr>
            <a:spLocks noGrp="1"/>
          </p:cNvSpPr>
          <p:nvPr/>
        </p:nvSpPr>
        <p:spPr>
          <a:xfrm>
            <a:off x="10096500" y="50673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v8</a:t>
            </a:r>
          </a:p>
        </p:txBody>
      </p:sp>
      <p:sp>
        <p:nvSpPr>
          <p:cNvPr id="35" name="evo-note-6">
            <a:extLst>
              <a:ext uri="{FF2B5EF4-FFF2-40B4-BE49-F238E27FC236}">
                <a16:creationId xmlns:a16="http://schemas.microsoft.com/office/drawing/2014/main" id="{F19F388E-B617-43E0-BD2E-30ED20FB0BAB}"/>
              </a:ext>
            </a:extLst>
          </p:cNvPr>
          <p:cNvSpPr>
            <a:spLocks noGrp="1"/>
          </p:cNvSpPr>
          <p:nvPr/>
        </p:nvSpPr>
        <p:spPr>
          <a:xfrm>
            <a:off x="9763125" y="52959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cascade</a:t>
            </a:r>
          </a:p>
        </p:txBody>
      </p:sp>
      <p:sp>
        <p:nvSpPr>
          <p:cNvPr id="36" name="evo-axis">
            <a:extLst>
              <a:ext uri="{FF2B5EF4-FFF2-40B4-BE49-F238E27FC236}">
                <a16:creationId xmlns:a16="http://schemas.microsoft.com/office/drawing/2014/main" id="{F3B7059C-DC8B-4730-B21B-D1D4E9B681E3}"/>
              </a:ext>
            </a:extLst>
          </p:cNvPr>
          <p:cNvSpPr>
            <a:spLocks noGrp="1"/>
          </p:cNvSpPr>
          <p:nvPr/>
        </p:nvSpPr>
        <p:spPr>
          <a:xfrm>
            <a:off x="2190750" y="4953000"/>
            <a:ext cx="9334500" cy="0"/>
          </a:xfrm>
          <a:prstGeom prst="line">
            <a:avLst/>
          </a:prstGeom>
          <a:noFill/>
          <a:ln w="1333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793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op-maroon">
            <a:extLst>
              <a:ext uri="{FF2B5EF4-FFF2-40B4-BE49-F238E27FC236}">
                <a16:creationId xmlns:a16="http://schemas.microsoft.com/office/drawing/2014/main" id="{3444ABE1-A8FA-493D-983C-A1CA0869F9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60BF35D0-C51D-4112-A521-137E3386581B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DF53AFDF-4638-4340-9DF8-77E4D1609C3A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6C326A0-09E7-44E2-9E77-79A052A93038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Evaluation measures distance from SBS to VBS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7A8B5B21-EC88-465E-93F2-D2219F88BCFE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2418FACD-F60B-4507-B6CA-4E0F7C892E62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22/34</a:t>
            </a:r>
          </a:p>
        </p:txBody>
      </p:sp>
      <p:sp>
        <p:nvSpPr>
          <p:cNvPr id="7" name="eval-0">
            <a:extLst>
              <a:ext uri="{FF2B5EF4-FFF2-40B4-BE49-F238E27FC236}">
                <a16:creationId xmlns:a16="http://schemas.microsoft.com/office/drawing/2014/main" id="{D4DDEF79-D818-4329-AFE3-B6343F488DAA}"/>
              </a:ext>
            </a:extLst>
          </p:cNvPr>
          <p:cNvSpPr>
            <a:spLocks noGrp="1"/>
          </p:cNvSpPr>
          <p:nvPr/>
        </p:nvSpPr>
        <p:spPr>
          <a:xfrm>
            <a:off x="1619250" y="1857375"/>
            <a:ext cx="3000375" cy="2095500"/>
          </a:xfrm>
          <a:prstGeom prst="roundRect">
            <a:avLst>
              <a:gd name="adj" fmla="val 2727"/>
            </a:avLst>
          </a:prstGeom>
          <a:solidFill>
            <a:srgbClr val="FBFCFE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eval-0-title">
            <a:extLst>
              <a:ext uri="{FF2B5EF4-FFF2-40B4-BE49-F238E27FC236}">
                <a16:creationId xmlns:a16="http://schemas.microsoft.com/office/drawing/2014/main" id="{13DC000A-D649-44FB-9D03-02708571D517}"/>
              </a:ext>
            </a:extLst>
          </p:cNvPr>
          <p:cNvSpPr>
            <a:spLocks noGrp="1"/>
          </p:cNvSpPr>
          <p:nvPr/>
        </p:nvSpPr>
        <p:spPr>
          <a:xfrm>
            <a:off x="1790700" y="2009775"/>
            <a:ext cx="2657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SBS</a:t>
            </a:r>
          </a:p>
        </p:txBody>
      </p:sp>
      <p:sp>
        <p:nvSpPr>
          <p:cNvPr id="9" name="eval-0-body">
            <a:extLst>
              <a:ext uri="{FF2B5EF4-FFF2-40B4-BE49-F238E27FC236}">
                <a16:creationId xmlns:a16="http://schemas.microsoft.com/office/drawing/2014/main" id="{2D7DF45D-B6CD-4F75-8597-6BCBEEA3E896}"/>
              </a:ext>
            </a:extLst>
          </p:cNvPr>
          <p:cNvSpPr>
            <a:spLocks noGrp="1"/>
          </p:cNvSpPr>
          <p:nvPr/>
        </p:nvSpPr>
        <p:spPr>
          <a:xfrm>
            <a:off x="1790700" y="2333625"/>
            <a:ext cx="2657475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best fixed algorithm</a:t>
            </a:r>
          </a:p>
          <a:p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over the evaluation set</a:t>
            </a:r>
          </a:p>
        </p:txBody>
      </p:sp>
      <p:sp>
        <p:nvSpPr>
          <p:cNvPr id="10" name="eval-1">
            <a:extLst>
              <a:ext uri="{FF2B5EF4-FFF2-40B4-BE49-F238E27FC236}">
                <a16:creationId xmlns:a16="http://schemas.microsoft.com/office/drawing/2014/main" id="{BB5275C0-E533-4CB0-83C6-833C2910A028}"/>
              </a:ext>
            </a:extLst>
          </p:cNvPr>
          <p:cNvSpPr>
            <a:spLocks noGrp="1"/>
          </p:cNvSpPr>
          <p:nvPr/>
        </p:nvSpPr>
        <p:spPr>
          <a:xfrm>
            <a:off x="5619750" y="1857375"/>
            <a:ext cx="3000375" cy="2095500"/>
          </a:xfrm>
          <a:prstGeom prst="roundRect">
            <a:avLst>
              <a:gd name="adj" fmla="val 2727"/>
            </a:avLst>
          </a:prstGeom>
          <a:solidFill>
            <a:srgbClr val="FBFCFE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eval-1-title">
            <a:extLst>
              <a:ext uri="{FF2B5EF4-FFF2-40B4-BE49-F238E27FC236}">
                <a16:creationId xmlns:a16="http://schemas.microsoft.com/office/drawing/2014/main" id="{9563D8D8-633D-435B-8F35-4B3399C5E1F5}"/>
              </a:ext>
            </a:extLst>
          </p:cNvPr>
          <p:cNvSpPr>
            <a:spLocks noGrp="1"/>
          </p:cNvSpPr>
          <p:nvPr/>
        </p:nvSpPr>
        <p:spPr>
          <a:xfrm>
            <a:off x="5791200" y="2009775"/>
            <a:ext cx="2657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VBS</a:t>
            </a:r>
          </a:p>
        </p:txBody>
      </p:sp>
      <p:sp>
        <p:nvSpPr>
          <p:cNvPr id="12" name="eval-1-body">
            <a:extLst>
              <a:ext uri="{FF2B5EF4-FFF2-40B4-BE49-F238E27FC236}">
                <a16:creationId xmlns:a16="http://schemas.microsoft.com/office/drawing/2014/main" id="{B5B3A608-D988-4914-9C04-19448A12693C}"/>
              </a:ext>
            </a:extLst>
          </p:cNvPr>
          <p:cNvSpPr>
            <a:spLocks noGrp="1"/>
          </p:cNvSpPr>
          <p:nvPr/>
        </p:nvSpPr>
        <p:spPr>
          <a:xfrm>
            <a:off x="5791200" y="2333625"/>
            <a:ext cx="2657475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oracle fastest algorithm</a:t>
            </a:r>
          </a:p>
          <a:p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for each array</a:t>
            </a:r>
          </a:p>
        </p:txBody>
      </p:sp>
      <p:sp>
        <p:nvSpPr>
          <p:cNvPr id="13" name="eval-2">
            <a:extLst>
              <a:ext uri="{FF2B5EF4-FFF2-40B4-BE49-F238E27FC236}">
                <a16:creationId xmlns:a16="http://schemas.microsoft.com/office/drawing/2014/main" id="{338CAEF1-01E7-474E-8A0E-4AB4586546C2}"/>
              </a:ext>
            </a:extLst>
          </p:cNvPr>
          <p:cNvSpPr>
            <a:spLocks noGrp="1"/>
          </p:cNvSpPr>
          <p:nvPr/>
        </p:nvSpPr>
        <p:spPr>
          <a:xfrm>
            <a:off x="9620250" y="1857375"/>
            <a:ext cx="3000375" cy="2095500"/>
          </a:xfrm>
          <a:prstGeom prst="roundRect">
            <a:avLst>
              <a:gd name="adj" fmla="val 2727"/>
            </a:avLst>
          </a:prstGeom>
          <a:solidFill>
            <a:srgbClr val="FBFCFE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eval-2-title">
            <a:extLst>
              <a:ext uri="{FF2B5EF4-FFF2-40B4-BE49-F238E27FC236}">
                <a16:creationId xmlns:a16="http://schemas.microsoft.com/office/drawing/2014/main" id="{135A5244-41FF-45FC-804F-31F89CF1159D}"/>
              </a:ext>
            </a:extLst>
          </p:cNvPr>
          <p:cNvSpPr>
            <a:spLocks noGrp="1"/>
          </p:cNvSpPr>
          <p:nvPr/>
        </p:nvSpPr>
        <p:spPr>
          <a:xfrm>
            <a:off x="9791700" y="2009775"/>
            <a:ext cx="2657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sp>
        <p:nvSpPr>
          <p:cNvPr id="15" name="eval-2-body">
            <a:extLst>
              <a:ext uri="{FF2B5EF4-FFF2-40B4-BE49-F238E27FC236}">
                <a16:creationId xmlns:a16="http://schemas.microsoft.com/office/drawing/2014/main" id="{7E1F23A1-3CC9-480B-B9D6-F76BE299E6AA}"/>
              </a:ext>
            </a:extLst>
          </p:cNvPr>
          <p:cNvSpPr>
            <a:spLocks noGrp="1"/>
          </p:cNvSpPr>
          <p:nvPr/>
        </p:nvSpPr>
        <p:spPr>
          <a:xfrm>
            <a:off x="9791700" y="2333625"/>
            <a:ext cx="2657475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choose before execution</a:t>
            </a:r>
          </a:p>
          <a:p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using structural features</a:t>
            </a:r>
          </a:p>
        </p:txBody>
      </p:sp>
      <p:sp>
        <p:nvSpPr>
          <p:cNvPr id="16" name="regret">
            <a:extLst>
              <a:ext uri="{FF2B5EF4-FFF2-40B4-BE49-F238E27FC236}">
                <a16:creationId xmlns:a16="http://schemas.microsoft.com/office/drawing/2014/main" id="{96034382-D65D-4001-8B38-3AD54E73C48E}"/>
              </a:ext>
            </a:extLst>
          </p:cNvPr>
          <p:cNvSpPr>
            <a:spLocks noGrp="1"/>
          </p:cNvSpPr>
          <p:nvPr/>
        </p:nvSpPr>
        <p:spPr>
          <a:xfrm>
            <a:off x="2476500" y="4762500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i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i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Regret = T_model − T_VBS</a:t>
            </a:r>
          </a:p>
        </p:txBody>
      </p:sp>
      <p:sp>
        <p:nvSpPr>
          <p:cNvPr id="17" name="gap">
            <a:extLst>
              <a:ext uri="{FF2B5EF4-FFF2-40B4-BE49-F238E27FC236}">
                <a16:creationId xmlns:a16="http://schemas.microsoft.com/office/drawing/2014/main" id="{0F8630EA-6315-444A-83FF-E1925A51E534}"/>
              </a:ext>
            </a:extLst>
          </p:cNvPr>
          <p:cNvSpPr>
            <a:spLocks noGrp="1"/>
          </p:cNvSpPr>
          <p:nvPr/>
        </p:nvSpPr>
        <p:spPr>
          <a:xfrm>
            <a:off x="7572375" y="4762500"/>
            <a:ext cx="495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i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i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Gap Closed = (T_SBS − T_model) / (T_SBS − T_VBS)</a:t>
            </a:r>
          </a:p>
        </p:txBody>
      </p:sp>
      <p:sp>
        <p:nvSpPr>
          <p:cNvPr id="18" name="eval-note">
            <a:extLst>
              <a:ext uri="{FF2B5EF4-FFF2-40B4-BE49-F238E27FC236}">
                <a16:creationId xmlns:a16="http://schemas.microsoft.com/office/drawing/2014/main" id="{7E90CF74-2D48-4466-A193-FB429FED0398}"/>
              </a:ext>
            </a:extLst>
          </p:cNvPr>
          <p:cNvSpPr>
            <a:spLocks noGrp="1"/>
          </p:cNvSpPr>
          <p:nvPr/>
        </p:nvSpPr>
        <p:spPr>
          <a:xfrm>
            <a:off x="3905250" y="590550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Gap closed gives the fraction of the SBS-to-VBS improvement captured by the selector.</a:t>
            </a:r>
          </a:p>
        </p:txBody>
      </p:sp>
    </p:spTree>
    <p:extLst>
      <p:ext uri="{BB962C8B-B14F-4D97-AF65-F5344CB8AC3E}">
        <p14:creationId xmlns:p14="http://schemas.microsoft.com/office/powerpoint/2010/main" val="1296221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op-maroon">
            <a:extLst>
              <a:ext uri="{FF2B5EF4-FFF2-40B4-BE49-F238E27FC236}">
                <a16:creationId xmlns:a16="http://schemas.microsoft.com/office/drawing/2014/main" id="{943A6DE1-1265-4756-97DB-A95FCB6D5B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804B70F4-EF3A-4F3A-BEA6-48A22C6A1350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9A9762E8-7E9C-4C98-A292-4FBCA598F534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BDB45B00-EA7B-40E1-BC40-044D991ED8B6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Accuracy alone is insufficient for algorithm selection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8247090E-7AB8-45BD-90BE-18F626B100DB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443794C5-7FF4-4627-B9EA-D6B1FE02BB15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23/34</a:t>
            </a:r>
          </a:p>
        </p:txBody>
      </p:sp>
      <p:sp>
        <p:nvSpPr>
          <p:cNvPr id="7" name="acc-frame">
            <a:extLst>
              <a:ext uri="{FF2B5EF4-FFF2-40B4-BE49-F238E27FC236}">
                <a16:creationId xmlns:a16="http://schemas.microsoft.com/office/drawing/2014/main" id="{E1FBB1A9-BE32-46D1-A2FF-73E15034E123}"/>
              </a:ext>
            </a:extLst>
          </p:cNvPr>
          <p:cNvSpPr>
            <a:spLocks noGrp="1"/>
          </p:cNvSpPr>
          <p:nvPr/>
        </p:nvSpPr>
        <p:spPr>
          <a:xfrm>
            <a:off x="1857375" y="1666875"/>
            <a:ext cx="10810875" cy="438150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8" name="accgap-axis">
            <a:extLst>
              <a:ext uri="{FF2B5EF4-FFF2-40B4-BE49-F238E27FC236}">
                <a16:creationId xmlns:a16="http://schemas.microsoft.com/office/drawing/2014/main" id="{407112F1-39D1-495C-AE5A-BFAC1BE5F49A}"/>
              </a:ext>
            </a:extLst>
          </p:cNvPr>
          <p:cNvSpPr>
            <a:spLocks noGrp="1"/>
          </p:cNvSpPr>
          <p:nvPr/>
        </p:nvSpPr>
        <p:spPr>
          <a:xfrm>
            <a:off x="3276600" y="4962525"/>
            <a:ext cx="7734300" cy="0"/>
          </a:xfrm>
          <a:prstGeom prst="line">
            <a:avLst/>
          </a:prstGeom>
          <a:noFill/>
          <a:ln w="1333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accgap-yaxis">
            <a:extLst>
              <a:ext uri="{FF2B5EF4-FFF2-40B4-BE49-F238E27FC236}">
                <a16:creationId xmlns:a16="http://schemas.microsoft.com/office/drawing/2014/main" id="{894AD228-BC0D-4CAE-A63E-727B67C2E2D6}"/>
              </a:ext>
            </a:extLst>
          </p:cNvPr>
          <p:cNvSpPr>
            <a:spLocks noGrp="1"/>
          </p:cNvSpPr>
          <p:nvPr/>
        </p:nvSpPr>
        <p:spPr>
          <a:xfrm>
            <a:off x="3276600" y="2333625"/>
            <a:ext cx="0" cy="2628900"/>
          </a:xfrm>
          <a:prstGeom prst="line">
            <a:avLst/>
          </a:prstGeom>
          <a:noFill/>
          <a:ln w="1333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accgap-bar-0-0">
            <a:extLst>
              <a:ext uri="{FF2B5EF4-FFF2-40B4-BE49-F238E27FC236}">
                <a16:creationId xmlns:a16="http://schemas.microsoft.com/office/drawing/2014/main" id="{5B6D4DAE-D59A-4903-B1BE-EF08191AA58B}"/>
              </a:ext>
            </a:extLst>
          </p:cNvPr>
          <p:cNvSpPr>
            <a:spLocks noGrp="1"/>
          </p:cNvSpPr>
          <p:nvPr/>
        </p:nvSpPr>
        <p:spPr>
          <a:xfrm>
            <a:off x="3390900" y="3905250"/>
            <a:ext cx="419100" cy="1057275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accgap-val-0-0">
            <a:extLst>
              <a:ext uri="{FF2B5EF4-FFF2-40B4-BE49-F238E27FC236}">
                <a16:creationId xmlns:a16="http://schemas.microsoft.com/office/drawing/2014/main" id="{2D33A16C-82BB-4DCD-AD7A-4596393D9515}"/>
              </a:ext>
            </a:extLst>
          </p:cNvPr>
          <p:cNvSpPr>
            <a:spLocks noGrp="1"/>
          </p:cNvSpPr>
          <p:nvPr/>
        </p:nvSpPr>
        <p:spPr>
          <a:xfrm>
            <a:off x="3181350" y="3657600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44.4%</a:t>
            </a:r>
          </a:p>
        </p:txBody>
      </p:sp>
      <p:sp>
        <p:nvSpPr>
          <p:cNvPr id="12" name="accgap-bar-0-1">
            <a:extLst>
              <a:ext uri="{FF2B5EF4-FFF2-40B4-BE49-F238E27FC236}">
                <a16:creationId xmlns:a16="http://schemas.microsoft.com/office/drawing/2014/main" id="{922F58C8-5362-42BB-B155-D58690E6C8BF}"/>
              </a:ext>
            </a:extLst>
          </p:cNvPr>
          <p:cNvSpPr>
            <a:spLocks noGrp="1"/>
          </p:cNvSpPr>
          <p:nvPr/>
        </p:nvSpPr>
        <p:spPr>
          <a:xfrm>
            <a:off x="3857625" y="3128963"/>
            <a:ext cx="419100" cy="1833563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accgap-val-0-1">
            <a:extLst>
              <a:ext uri="{FF2B5EF4-FFF2-40B4-BE49-F238E27FC236}">
                <a16:creationId xmlns:a16="http://schemas.microsoft.com/office/drawing/2014/main" id="{E2D5F6CB-F098-482D-A250-AD0288B32935}"/>
              </a:ext>
            </a:extLst>
          </p:cNvPr>
          <p:cNvSpPr>
            <a:spLocks noGrp="1"/>
          </p:cNvSpPr>
          <p:nvPr/>
        </p:nvSpPr>
        <p:spPr>
          <a:xfrm>
            <a:off x="3648075" y="2881313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77.0%</a:t>
            </a:r>
          </a:p>
        </p:txBody>
      </p:sp>
      <p:sp>
        <p:nvSpPr>
          <p:cNvPr id="14" name="accgap-cat-0">
            <a:extLst>
              <a:ext uri="{FF2B5EF4-FFF2-40B4-BE49-F238E27FC236}">
                <a16:creationId xmlns:a16="http://schemas.microsoft.com/office/drawing/2014/main" id="{A07EF54B-7D6E-411C-9FD2-621A7E86B03D}"/>
              </a:ext>
            </a:extLst>
          </p:cNvPr>
          <p:cNvSpPr>
            <a:spLocks noGrp="1"/>
          </p:cNvSpPr>
          <p:nvPr/>
        </p:nvSpPr>
        <p:spPr>
          <a:xfrm>
            <a:off x="3314700" y="5038725"/>
            <a:ext cx="1260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v1</a:t>
            </a:r>
          </a:p>
        </p:txBody>
      </p:sp>
      <p:sp>
        <p:nvSpPr>
          <p:cNvPr id="15" name="accgap-bar-1-0">
            <a:extLst>
              <a:ext uri="{FF2B5EF4-FFF2-40B4-BE49-F238E27FC236}">
                <a16:creationId xmlns:a16="http://schemas.microsoft.com/office/drawing/2014/main" id="{6AF14985-389A-432E-83B0-2BEA1ED2CFA2}"/>
              </a:ext>
            </a:extLst>
          </p:cNvPr>
          <p:cNvSpPr>
            <a:spLocks noGrp="1"/>
          </p:cNvSpPr>
          <p:nvPr/>
        </p:nvSpPr>
        <p:spPr>
          <a:xfrm>
            <a:off x="4651375" y="3474244"/>
            <a:ext cx="419100" cy="1488281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accgap-val-1-0">
            <a:extLst>
              <a:ext uri="{FF2B5EF4-FFF2-40B4-BE49-F238E27FC236}">
                <a16:creationId xmlns:a16="http://schemas.microsoft.com/office/drawing/2014/main" id="{5307E7C1-91B7-4504-9297-F3EAB672B5A7}"/>
              </a:ext>
            </a:extLst>
          </p:cNvPr>
          <p:cNvSpPr>
            <a:spLocks noGrp="1"/>
          </p:cNvSpPr>
          <p:nvPr/>
        </p:nvSpPr>
        <p:spPr>
          <a:xfrm>
            <a:off x="4441825" y="3226594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62.5%</a:t>
            </a:r>
          </a:p>
        </p:txBody>
      </p:sp>
      <p:sp>
        <p:nvSpPr>
          <p:cNvPr id="17" name="accgap-bar-1-1">
            <a:extLst>
              <a:ext uri="{FF2B5EF4-FFF2-40B4-BE49-F238E27FC236}">
                <a16:creationId xmlns:a16="http://schemas.microsoft.com/office/drawing/2014/main" id="{3EB58CC2-28B7-4567-9990-5FEC67CE85F8}"/>
              </a:ext>
            </a:extLst>
          </p:cNvPr>
          <p:cNvSpPr>
            <a:spLocks noGrp="1"/>
          </p:cNvSpPr>
          <p:nvPr/>
        </p:nvSpPr>
        <p:spPr>
          <a:xfrm>
            <a:off x="5118100" y="4962525"/>
            <a:ext cx="419100" cy="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accgap-val-1-1">
            <a:extLst>
              <a:ext uri="{FF2B5EF4-FFF2-40B4-BE49-F238E27FC236}">
                <a16:creationId xmlns:a16="http://schemas.microsoft.com/office/drawing/2014/main" id="{BADC3D10-8717-4FA3-A1AB-F93BBDE901B6}"/>
              </a:ext>
            </a:extLst>
          </p:cNvPr>
          <p:cNvSpPr>
            <a:spLocks noGrp="1"/>
          </p:cNvSpPr>
          <p:nvPr/>
        </p:nvSpPr>
        <p:spPr>
          <a:xfrm>
            <a:off x="4908550" y="471487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9" name="accgap-cat-1">
            <a:extLst>
              <a:ext uri="{FF2B5EF4-FFF2-40B4-BE49-F238E27FC236}">
                <a16:creationId xmlns:a16="http://schemas.microsoft.com/office/drawing/2014/main" id="{1373863B-276E-400D-BF20-0CCBF44EAE18}"/>
              </a:ext>
            </a:extLst>
          </p:cNvPr>
          <p:cNvSpPr>
            <a:spLocks noGrp="1"/>
          </p:cNvSpPr>
          <p:nvPr/>
        </p:nvSpPr>
        <p:spPr>
          <a:xfrm>
            <a:off x="4575175" y="5038725"/>
            <a:ext cx="1260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v2</a:t>
            </a:r>
          </a:p>
        </p:txBody>
      </p:sp>
      <p:sp>
        <p:nvSpPr>
          <p:cNvPr id="20" name="accgap-bar-2-0">
            <a:extLst>
              <a:ext uri="{FF2B5EF4-FFF2-40B4-BE49-F238E27FC236}">
                <a16:creationId xmlns:a16="http://schemas.microsoft.com/office/drawing/2014/main" id="{0CEBDDB2-4905-46E1-B4FE-01B0514C288F}"/>
              </a:ext>
            </a:extLst>
          </p:cNvPr>
          <p:cNvSpPr>
            <a:spLocks noGrp="1"/>
          </p:cNvSpPr>
          <p:nvPr/>
        </p:nvSpPr>
        <p:spPr>
          <a:xfrm>
            <a:off x="5911850" y="3150394"/>
            <a:ext cx="419100" cy="1812131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accgap-val-2-0">
            <a:extLst>
              <a:ext uri="{FF2B5EF4-FFF2-40B4-BE49-F238E27FC236}">
                <a16:creationId xmlns:a16="http://schemas.microsoft.com/office/drawing/2014/main" id="{FB279580-F9FB-4DD0-B22D-F5F0185809C3}"/>
              </a:ext>
            </a:extLst>
          </p:cNvPr>
          <p:cNvSpPr>
            <a:spLocks noGrp="1"/>
          </p:cNvSpPr>
          <p:nvPr/>
        </p:nvSpPr>
        <p:spPr>
          <a:xfrm>
            <a:off x="5702300" y="2902744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76.1%</a:t>
            </a:r>
          </a:p>
        </p:txBody>
      </p:sp>
      <p:sp>
        <p:nvSpPr>
          <p:cNvPr id="22" name="accgap-bar-2-1">
            <a:extLst>
              <a:ext uri="{FF2B5EF4-FFF2-40B4-BE49-F238E27FC236}">
                <a16:creationId xmlns:a16="http://schemas.microsoft.com/office/drawing/2014/main" id="{6C4C54D1-894E-4D7D-8A07-AF9713DD0A50}"/>
              </a:ext>
            </a:extLst>
          </p:cNvPr>
          <p:cNvSpPr>
            <a:spLocks noGrp="1"/>
          </p:cNvSpPr>
          <p:nvPr/>
        </p:nvSpPr>
        <p:spPr>
          <a:xfrm>
            <a:off x="6378575" y="2745581"/>
            <a:ext cx="419100" cy="2216944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accgap-val-2-1">
            <a:extLst>
              <a:ext uri="{FF2B5EF4-FFF2-40B4-BE49-F238E27FC236}">
                <a16:creationId xmlns:a16="http://schemas.microsoft.com/office/drawing/2014/main" id="{3476AF60-DC33-49BE-A638-C0651D053009}"/>
              </a:ext>
            </a:extLst>
          </p:cNvPr>
          <p:cNvSpPr>
            <a:spLocks noGrp="1"/>
          </p:cNvSpPr>
          <p:nvPr/>
        </p:nvSpPr>
        <p:spPr>
          <a:xfrm>
            <a:off x="6169025" y="2497931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93.1%</a:t>
            </a:r>
          </a:p>
        </p:txBody>
      </p:sp>
      <p:sp>
        <p:nvSpPr>
          <p:cNvPr id="24" name="accgap-cat-2">
            <a:extLst>
              <a:ext uri="{FF2B5EF4-FFF2-40B4-BE49-F238E27FC236}">
                <a16:creationId xmlns:a16="http://schemas.microsoft.com/office/drawing/2014/main" id="{B040A120-4836-445C-B4A0-9B11DB9B0573}"/>
              </a:ext>
            </a:extLst>
          </p:cNvPr>
          <p:cNvSpPr>
            <a:spLocks noGrp="1"/>
          </p:cNvSpPr>
          <p:nvPr/>
        </p:nvSpPr>
        <p:spPr>
          <a:xfrm>
            <a:off x="5835650" y="5038725"/>
            <a:ext cx="1260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v5</a:t>
            </a:r>
          </a:p>
        </p:txBody>
      </p:sp>
      <p:sp>
        <p:nvSpPr>
          <p:cNvPr id="25" name="accgap-bar-3-0">
            <a:extLst>
              <a:ext uri="{FF2B5EF4-FFF2-40B4-BE49-F238E27FC236}">
                <a16:creationId xmlns:a16="http://schemas.microsoft.com/office/drawing/2014/main" id="{26D32031-AC59-4066-BBB7-7914A2549E41}"/>
              </a:ext>
            </a:extLst>
          </p:cNvPr>
          <p:cNvSpPr>
            <a:spLocks noGrp="1"/>
          </p:cNvSpPr>
          <p:nvPr/>
        </p:nvSpPr>
        <p:spPr>
          <a:xfrm>
            <a:off x="7172325" y="3267075"/>
            <a:ext cx="419100" cy="1695450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accgap-val-3-0">
            <a:extLst>
              <a:ext uri="{FF2B5EF4-FFF2-40B4-BE49-F238E27FC236}">
                <a16:creationId xmlns:a16="http://schemas.microsoft.com/office/drawing/2014/main" id="{25989B97-3285-4A6B-AABD-8744C18786B1}"/>
              </a:ext>
            </a:extLst>
          </p:cNvPr>
          <p:cNvSpPr>
            <a:spLocks noGrp="1"/>
          </p:cNvSpPr>
          <p:nvPr/>
        </p:nvSpPr>
        <p:spPr>
          <a:xfrm>
            <a:off x="6962775" y="301942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71.2%</a:t>
            </a:r>
          </a:p>
        </p:txBody>
      </p:sp>
      <p:sp>
        <p:nvSpPr>
          <p:cNvPr id="27" name="accgap-bar-3-1">
            <a:extLst>
              <a:ext uri="{FF2B5EF4-FFF2-40B4-BE49-F238E27FC236}">
                <a16:creationId xmlns:a16="http://schemas.microsoft.com/office/drawing/2014/main" id="{0CF9DCAD-EA55-42F0-864C-B7049565B517}"/>
              </a:ext>
            </a:extLst>
          </p:cNvPr>
          <p:cNvSpPr>
            <a:spLocks noGrp="1"/>
          </p:cNvSpPr>
          <p:nvPr/>
        </p:nvSpPr>
        <p:spPr>
          <a:xfrm>
            <a:off x="7639050" y="3876675"/>
            <a:ext cx="419100" cy="10858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accgap-val-3-1">
            <a:extLst>
              <a:ext uri="{FF2B5EF4-FFF2-40B4-BE49-F238E27FC236}">
                <a16:creationId xmlns:a16="http://schemas.microsoft.com/office/drawing/2014/main" id="{BE4FF5B7-AE52-4A7F-AE0A-A9707126B30A}"/>
              </a:ext>
            </a:extLst>
          </p:cNvPr>
          <p:cNvSpPr>
            <a:spLocks noGrp="1"/>
          </p:cNvSpPr>
          <p:nvPr/>
        </p:nvSpPr>
        <p:spPr>
          <a:xfrm>
            <a:off x="7429500" y="362902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45.6%</a:t>
            </a:r>
          </a:p>
        </p:txBody>
      </p:sp>
      <p:sp>
        <p:nvSpPr>
          <p:cNvPr id="29" name="accgap-cat-3">
            <a:extLst>
              <a:ext uri="{FF2B5EF4-FFF2-40B4-BE49-F238E27FC236}">
                <a16:creationId xmlns:a16="http://schemas.microsoft.com/office/drawing/2014/main" id="{B12DF516-C15A-40C4-9539-2C7A384B325F}"/>
              </a:ext>
            </a:extLst>
          </p:cNvPr>
          <p:cNvSpPr>
            <a:spLocks noGrp="1"/>
          </p:cNvSpPr>
          <p:nvPr/>
        </p:nvSpPr>
        <p:spPr>
          <a:xfrm>
            <a:off x="7096125" y="5038725"/>
            <a:ext cx="1260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v6</a:t>
            </a:r>
          </a:p>
        </p:txBody>
      </p:sp>
      <p:sp>
        <p:nvSpPr>
          <p:cNvPr id="30" name="accgap-bar-4-0">
            <a:extLst>
              <a:ext uri="{FF2B5EF4-FFF2-40B4-BE49-F238E27FC236}">
                <a16:creationId xmlns:a16="http://schemas.microsoft.com/office/drawing/2014/main" id="{B920CF19-22AA-4198-9F62-BB895BECFB73}"/>
              </a:ext>
            </a:extLst>
          </p:cNvPr>
          <p:cNvSpPr>
            <a:spLocks noGrp="1"/>
          </p:cNvSpPr>
          <p:nvPr/>
        </p:nvSpPr>
        <p:spPr>
          <a:xfrm>
            <a:off x="8432800" y="3226594"/>
            <a:ext cx="419100" cy="1735931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accgap-val-4-0">
            <a:extLst>
              <a:ext uri="{FF2B5EF4-FFF2-40B4-BE49-F238E27FC236}">
                <a16:creationId xmlns:a16="http://schemas.microsoft.com/office/drawing/2014/main" id="{0B1DA0A7-8CE9-4689-A49F-33239687DBDB}"/>
              </a:ext>
            </a:extLst>
          </p:cNvPr>
          <p:cNvSpPr>
            <a:spLocks noGrp="1"/>
          </p:cNvSpPr>
          <p:nvPr/>
        </p:nvSpPr>
        <p:spPr>
          <a:xfrm>
            <a:off x="8223250" y="2978944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72.9%</a:t>
            </a:r>
          </a:p>
        </p:txBody>
      </p:sp>
      <p:sp>
        <p:nvSpPr>
          <p:cNvPr id="32" name="accgap-bar-4-1">
            <a:extLst>
              <a:ext uri="{FF2B5EF4-FFF2-40B4-BE49-F238E27FC236}">
                <a16:creationId xmlns:a16="http://schemas.microsoft.com/office/drawing/2014/main" id="{489CFBC6-5FB1-4AF9-82AE-DE4F0A48B1EB}"/>
              </a:ext>
            </a:extLst>
          </p:cNvPr>
          <p:cNvSpPr>
            <a:spLocks noGrp="1"/>
          </p:cNvSpPr>
          <p:nvPr/>
        </p:nvSpPr>
        <p:spPr>
          <a:xfrm>
            <a:off x="8899525" y="3102769"/>
            <a:ext cx="419100" cy="1859756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accgap-val-4-1">
            <a:extLst>
              <a:ext uri="{FF2B5EF4-FFF2-40B4-BE49-F238E27FC236}">
                <a16:creationId xmlns:a16="http://schemas.microsoft.com/office/drawing/2014/main" id="{DD46841D-561A-46FB-97BC-35A8EA5B2557}"/>
              </a:ext>
            </a:extLst>
          </p:cNvPr>
          <p:cNvSpPr>
            <a:spLocks noGrp="1"/>
          </p:cNvSpPr>
          <p:nvPr/>
        </p:nvSpPr>
        <p:spPr>
          <a:xfrm>
            <a:off x="8689975" y="2855119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78.1%</a:t>
            </a:r>
          </a:p>
        </p:txBody>
      </p:sp>
      <p:sp>
        <p:nvSpPr>
          <p:cNvPr id="34" name="accgap-cat-4">
            <a:extLst>
              <a:ext uri="{FF2B5EF4-FFF2-40B4-BE49-F238E27FC236}">
                <a16:creationId xmlns:a16="http://schemas.microsoft.com/office/drawing/2014/main" id="{298FD4FB-1EE0-4A47-A0F5-C6ADFC1AEF5D}"/>
              </a:ext>
            </a:extLst>
          </p:cNvPr>
          <p:cNvSpPr>
            <a:spLocks noGrp="1"/>
          </p:cNvSpPr>
          <p:nvPr/>
        </p:nvSpPr>
        <p:spPr>
          <a:xfrm>
            <a:off x="8356600" y="5038725"/>
            <a:ext cx="1260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v7</a:t>
            </a:r>
          </a:p>
        </p:txBody>
      </p:sp>
      <p:sp>
        <p:nvSpPr>
          <p:cNvPr id="35" name="accgap-bar-5-0">
            <a:extLst>
              <a:ext uri="{FF2B5EF4-FFF2-40B4-BE49-F238E27FC236}">
                <a16:creationId xmlns:a16="http://schemas.microsoft.com/office/drawing/2014/main" id="{6CC6A41B-5996-4064-AB17-85527110D5A2}"/>
              </a:ext>
            </a:extLst>
          </p:cNvPr>
          <p:cNvSpPr>
            <a:spLocks noGrp="1"/>
          </p:cNvSpPr>
          <p:nvPr/>
        </p:nvSpPr>
        <p:spPr>
          <a:xfrm>
            <a:off x="9693275" y="3233738"/>
            <a:ext cx="419100" cy="1728788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accgap-val-5-0">
            <a:extLst>
              <a:ext uri="{FF2B5EF4-FFF2-40B4-BE49-F238E27FC236}">
                <a16:creationId xmlns:a16="http://schemas.microsoft.com/office/drawing/2014/main" id="{4F163024-8D83-4D97-AEC0-C663F7B9EB01}"/>
              </a:ext>
            </a:extLst>
          </p:cNvPr>
          <p:cNvSpPr>
            <a:spLocks noGrp="1"/>
          </p:cNvSpPr>
          <p:nvPr/>
        </p:nvSpPr>
        <p:spPr>
          <a:xfrm>
            <a:off x="9483725" y="2986088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72.6%</a:t>
            </a:r>
          </a:p>
        </p:txBody>
      </p:sp>
      <p:sp>
        <p:nvSpPr>
          <p:cNvPr id="37" name="accgap-bar-5-1">
            <a:extLst>
              <a:ext uri="{FF2B5EF4-FFF2-40B4-BE49-F238E27FC236}">
                <a16:creationId xmlns:a16="http://schemas.microsoft.com/office/drawing/2014/main" id="{6B925B2D-AF65-4585-A362-F68F0E0360D4}"/>
              </a:ext>
            </a:extLst>
          </p:cNvPr>
          <p:cNvSpPr>
            <a:spLocks noGrp="1"/>
          </p:cNvSpPr>
          <p:nvPr/>
        </p:nvSpPr>
        <p:spPr>
          <a:xfrm>
            <a:off x="10160000" y="3098006"/>
            <a:ext cx="419100" cy="1864519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accgap-val-5-1">
            <a:extLst>
              <a:ext uri="{FF2B5EF4-FFF2-40B4-BE49-F238E27FC236}">
                <a16:creationId xmlns:a16="http://schemas.microsoft.com/office/drawing/2014/main" id="{B0EB66B8-A46C-455D-B7F6-CCC6F17DC8AB}"/>
              </a:ext>
            </a:extLst>
          </p:cNvPr>
          <p:cNvSpPr>
            <a:spLocks noGrp="1"/>
          </p:cNvSpPr>
          <p:nvPr/>
        </p:nvSpPr>
        <p:spPr>
          <a:xfrm>
            <a:off x="9950450" y="2850356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78.3%</a:t>
            </a:r>
          </a:p>
        </p:txBody>
      </p:sp>
      <p:sp>
        <p:nvSpPr>
          <p:cNvPr id="39" name="accgap-cat-5">
            <a:extLst>
              <a:ext uri="{FF2B5EF4-FFF2-40B4-BE49-F238E27FC236}">
                <a16:creationId xmlns:a16="http://schemas.microsoft.com/office/drawing/2014/main" id="{B475D5DA-43B2-4A31-82DC-36F106EE3A5D}"/>
              </a:ext>
            </a:extLst>
          </p:cNvPr>
          <p:cNvSpPr>
            <a:spLocks noGrp="1"/>
          </p:cNvSpPr>
          <p:nvPr/>
        </p:nvSpPr>
        <p:spPr>
          <a:xfrm>
            <a:off x="9617075" y="5038725"/>
            <a:ext cx="1260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v8</a:t>
            </a:r>
          </a:p>
        </p:txBody>
      </p:sp>
    </p:spTree>
    <p:extLst>
      <p:ext uri="{BB962C8B-B14F-4D97-AF65-F5344CB8AC3E}">
        <p14:creationId xmlns:p14="http://schemas.microsoft.com/office/powerpoint/2010/main" val="1728707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op-maroon">
            <a:extLst>
              <a:ext uri="{FF2B5EF4-FFF2-40B4-BE49-F238E27FC236}">
                <a16:creationId xmlns:a16="http://schemas.microsoft.com/office/drawing/2014/main" id="{E3802AA0-39ED-4C80-9B46-8A3E5DEEE7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40F9EA7E-D10C-4F77-B7AB-FA25B0590993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FB66AF30-F534-4ADC-AD2F-C98B8056AFEB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98DE0FD4-A784-470A-A9D4-CF53E496F531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v5 selector closes most of the SBS-to-VBS gap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418895B0-B669-433F-AB4A-3FE459C89F99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651C60C3-499A-43D8-8393-D20E7C432CC7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24/34</a:t>
            </a:r>
          </a:p>
        </p:txBody>
      </p:sp>
      <p:sp>
        <p:nvSpPr>
          <p:cNvPr id="7" name="mainres-frame">
            <a:extLst>
              <a:ext uri="{FF2B5EF4-FFF2-40B4-BE49-F238E27FC236}">
                <a16:creationId xmlns:a16="http://schemas.microsoft.com/office/drawing/2014/main" id="{88EB940E-5A40-4F1E-9AC6-5641FF0F5CBD}"/>
              </a:ext>
            </a:extLst>
          </p:cNvPr>
          <p:cNvSpPr>
            <a:spLocks noGrp="1"/>
          </p:cNvSpPr>
          <p:nvPr/>
        </p:nvSpPr>
        <p:spPr>
          <a:xfrm>
            <a:off x="1476375" y="1666875"/>
            <a:ext cx="11668125" cy="447675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mainres-axis">
            <a:extLst>
              <a:ext uri="{FF2B5EF4-FFF2-40B4-BE49-F238E27FC236}">
                <a16:creationId xmlns:a16="http://schemas.microsoft.com/office/drawing/2014/main" id="{B80A3BC7-B24F-4AFE-B6C9-ACD3445336A6}"/>
              </a:ext>
            </a:extLst>
          </p:cNvPr>
          <p:cNvSpPr>
            <a:spLocks noGrp="1"/>
          </p:cNvSpPr>
          <p:nvPr/>
        </p:nvSpPr>
        <p:spPr>
          <a:xfrm>
            <a:off x="3562350" y="4914900"/>
            <a:ext cx="6019800" cy="0"/>
          </a:xfrm>
          <a:prstGeom prst="line">
            <a:avLst/>
          </a:prstGeom>
          <a:noFill/>
          <a:ln w="1333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mainres-yaxis">
            <a:extLst>
              <a:ext uri="{FF2B5EF4-FFF2-40B4-BE49-F238E27FC236}">
                <a16:creationId xmlns:a16="http://schemas.microsoft.com/office/drawing/2014/main" id="{83D53AD7-96A9-4F9F-8E4F-559F36217906}"/>
              </a:ext>
            </a:extLst>
          </p:cNvPr>
          <p:cNvSpPr>
            <a:spLocks noGrp="1"/>
          </p:cNvSpPr>
          <p:nvPr/>
        </p:nvSpPr>
        <p:spPr>
          <a:xfrm>
            <a:off x="3562350" y="2381250"/>
            <a:ext cx="0" cy="2533650"/>
          </a:xfrm>
          <a:prstGeom prst="line">
            <a:avLst/>
          </a:prstGeom>
          <a:noFill/>
          <a:ln w="1333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mainres-bar-0-0">
            <a:extLst>
              <a:ext uri="{FF2B5EF4-FFF2-40B4-BE49-F238E27FC236}">
                <a16:creationId xmlns:a16="http://schemas.microsoft.com/office/drawing/2014/main" id="{3D934A33-1155-4331-9C79-4C0BFE34AF67}"/>
              </a:ext>
            </a:extLst>
          </p:cNvPr>
          <p:cNvSpPr>
            <a:spLocks noGrp="1"/>
          </p:cNvSpPr>
          <p:nvPr/>
        </p:nvSpPr>
        <p:spPr>
          <a:xfrm>
            <a:off x="3676650" y="3329448"/>
            <a:ext cx="419100" cy="1585452"/>
          </a:xfrm>
          <a:prstGeom prst="rect">
            <a:avLst/>
          </a:prstGeom>
          <a:solidFill>
            <a:srgbClr val="2FA06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mainres-val-0-0">
            <a:extLst>
              <a:ext uri="{FF2B5EF4-FFF2-40B4-BE49-F238E27FC236}">
                <a16:creationId xmlns:a16="http://schemas.microsoft.com/office/drawing/2014/main" id="{F6F6DA19-6222-4A03-BCAD-593A15100073}"/>
              </a:ext>
            </a:extLst>
          </p:cNvPr>
          <p:cNvSpPr>
            <a:spLocks noGrp="1"/>
          </p:cNvSpPr>
          <p:nvPr/>
        </p:nvSpPr>
        <p:spPr>
          <a:xfrm>
            <a:off x="3467100" y="3081798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17.20s</a:t>
            </a:r>
          </a:p>
        </p:txBody>
      </p:sp>
      <p:sp>
        <p:nvSpPr>
          <p:cNvPr id="12" name="mainres-cat-0">
            <a:extLst>
              <a:ext uri="{FF2B5EF4-FFF2-40B4-BE49-F238E27FC236}">
                <a16:creationId xmlns:a16="http://schemas.microsoft.com/office/drawing/2014/main" id="{2345204B-42A0-4DF4-815D-DFF1DFD780B7}"/>
              </a:ext>
            </a:extLst>
          </p:cNvPr>
          <p:cNvSpPr>
            <a:spLocks noGrp="1"/>
          </p:cNvSpPr>
          <p:nvPr/>
        </p:nvSpPr>
        <p:spPr>
          <a:xfrm>
            <a:off x="3600450" y="4991100"/>
            <a:ext cx="1949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VBS</a:t>
            </a:r>
          </a:p>
          <a:p>
            <a:pPr algn="ctr"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oracle</a:t>
            </a:r>
          </a:p>
        </p:txBody>
      </p:sp>
      <p:sp>
        <p:nvSpPr>
          <p:cNvPr id="13" name="mainres-bar-1-0">
            <a:extLst>
              <a:ext uri="{FF2B5EF4-FFF2-40B4-BE49-F238E27FC236}">
                <a16:creationId xmlns:a16="http://schemas.microsoft.com/office/drawing/2014/main" id="{F4667C16-A309-4724-8A93-0848B5620BAB}"/>
              </a:ext>
            </a:extLst>
          </p:cNvPr>
          <p:cNvSpPr>
            <a:spLocks noGrp="1"/>
          </p:cNvSpPr>
          <p:nvPr/>
        </p:nvSpPr>
        <p:spPr>
          <a:xfrm>
            <a:off x="5626100" y="3304560"/>
            <a:ext cx="419100" cy="1610340"/>
          </a:xfrm>
          <a:prstGeom prst="rect">
            <a:avLst/>
          </a:prstGeom>
          <a:solidFill>
            <a:srgbClr val="2FA06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ainres-val-1-0">
            <a:extLst>
              <a:ext uri="{FF2B5EF4-FFF2-40B4-BE49-F238E27FC236}">
                <a16:creationId xmlns:a16="http://schemas.microsoft.com/office/drawing/2014/main" id="{88FFB7DD-9193-4EBD-AC4F-5A5E61D3FB7C}"/>
              </a:ext>
            </a:extLst>
          </p:cNvPr>
          <p:cNvSpPr>
            <a:spLocks noGrp="1"/>
          </p:cNvSpPr>
          <p:nvPr/>
        </p:nvSpPr>
        <p:spPr>
          <a:xfrm>
            <a:off x="5416550" y="3056910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17.47s</a:t>
            </a:r>
          </a:p>
        </p:txBody>
      </p:sp>
      <p:sp>
        <p:nvSpPr>
          <p:cNvPr id="15" name="mainres-cat-1">
            <a:extLst>
              <a:ext uri="{FF2B5EF4-FFF2-40B4-BE49-F238E27FC236}">
                <a16:creationId xmlns:a16="http://schemas.microsoft.com/office/drawing/2014/main" id="{6E0CB153-7CFA-429C-A2FE-33C3A8E43383}"/>
              </a:ext>
            </a:extLst>
          </p:cNvPr>
          <p:cNvSpPr>
            <a:spLocks noGrp="1"/>
          </p:cNvSpPr>
          <p:nvPr/>
        </p:nvSpPr>
        <p:spPr>
          <a:xfrm>
            <a:off x="5549900" y="4991100"/>
            <a:ext cx="1949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  <a:p>
            <a:pPr algn="ctr"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selector</a:t>
            </a:r>
          </a:p>
        </p:txBody>
      </p:sp>
      <p:sp>
        <p:nvSpPr>
          <p:cNvPr id="16" name="mainres-bar-2-0">
            <a:extLst>
              <a:ext uri="{FF2B5EF4-FFF2-40B4-BE49-F238E27FC236}">
                <a16:creationId xmlns:a16="http://schemas.microsoft.com/office/drawing/2014/main" id="{B2498ECB-B59A-451E-9550-9FA91A8710E5}"/>
              </a:ext>
            </a:extLst>
          </p:cNvPr>
          <p:cNvSpPr>
            <a:spLocks noGrp="1"/>
          </p:cNvSpPr>
          <p:nvPr/>
        </p:nvSpPr>
        <p:spPr>
          <a:xfrm>
            <a:off x="7575550" y="2954286"/>
            <a:ext cx="419100" cy="1960614"/>
          </a:xfrm>
          <a:prstGeom prst="rect">
            <a:avLst/>
          </a:prstGeom>
          <a:solidFill>
            <a:srgbClr val="2FA06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mainres-val-2-0">
            <a:extLst>
              <a:ext uri="{FF2B5EF4-FFF2-40B4-BE49-F238E27FC236}">
                <a16:creationId xmlns:a16="http://schemas.microsoft.com/office/drawing/2014/main" id="{16795753-23A6-4440-B978-550ED1C9ADDE}"/>
              </a:ext>
            </a:extLst>
          </p:cNvPr>
          <p:cNvSpPr>
            <a:spLocks noGrp="1"/>
          </p:cNvSpPr>
          <p:nvPr/>
        </p:nvSpPr>
        <p:spPr>
          <a:xfrm>
            <a:off x="7366000" y="2706636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21.27s</a:t>
            </a:r>
          </a:p>
        </p:txBody>
      </p:sp>
      <p:sp>
        <p:nvSpPr>
          <p:cNvPr id="18" name="mainres-cat-2">
            <a:extLst>
              <a:ext uri="{FF2B5EF4-FFF2-40B4-BE49-F238E27FC236}">
                <a16:creationId xmlns:a16="http://schemas.microsoft.com/office/drawing/2014/main" id="{1814DDFE-EC63-4855-8997-A0DAFF2586D1}"/>
              </a:ext>
            </a:extLst>
          </p:cNvPr>
          <p:cNvSpPr>
            <a:spLocks noGrp="1"/>
          </p:cNvSpPr>
          <p:nvPr/>
        </p:nvSpPr>
        <p:spPr>
          <a:xfrm>
            <a:off x="7499350" y="4991100"/>
            <a:ext cx="1949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SBS</a:t>
            </a:r>
          </a:p>
          <a:p>
            <a:pPr algn="ctr"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heapsort</a:t>
            </a:r>
          </a:p>
        </p:txBody>
      </p:sp>
      <p:sp>
        <p:nvSpPr>
          <p:cNvPr id="19" name="metric-93.1%-1035">
            <a:extLst>
              <a:ext uri="{FF2B5EF4-FFF2-40B4-BE49-F238E27FC236}">
                <a16:creationId xmlns:a16="http://schemas.microsoft.com/office/drawing/2014/main" id="{782152BC-3E0D-4268-B28B-58114E3A6CF5}"/>
              </a:ext>
            </a:extLst>
          </p:cNvPr>
          <p:cNvSpPr>
            <a:spLocks noGrp="1"/>
          </p:cNvSpPr>
          <p:nvPr/>
        </p:nvSpPr>
        <p:spPr>
          <a:xfrm>
            <a:off x="9858375" y="2381250"/>
            <a:ext cx="2476500" cy="4705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93.1%</a:t>
            </a:r>
          </a:p>
        </p:txBody>
      </p:sp>
      <p:sp>
        <p:nvSpPr>
          <p:cNvPr id="20" name="metric-label-93.1%-1035">
            <a:extLst>
              <a:ext uri="{FF2B5EF4-FFF2-40B4-BE49-F238E27FC236}">
                <a16:creationId xmlns:a16="http://schemas.microsoft.com/office/drawing/2014/main" id="{5D18A9F6-9778-4E35-9C23-CE843935E54A}"/>
              </a:ext>
            </a:extLst>
          </p:cNvPr>
          <p:cNvSpPr>
            <a:spLocks noGrp="1"/>
          </p:cNvSpPr>
          <p:nvPr/>
        </p:nvSpPr>
        <p:spPr>
          <a:xfrm>
            <a:off x="9858375" y="2851785"/>
            <a:ext cx="2476500" cy="380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SBS-to-VBS gap closed</a:t>
            </a:r>
          </a:p>
        </p:txBody>
      </p:sp>
      <p:sp>
        <p:nvSpPr>
          <p:cNvPr id="21" name="metric-89.6%-1035">
            <a:extLst>
              <a:ext uri="{FF2B5EF4-FFF2-40B4-BE49-F238E27FC236}">
                <a16:creationId xmlns:a16="http://schemas.microsoft.com/office/drawing/2014/main" id="{2C58FA69-3544-471E-95D5-07A1956CDFF1}"/>
              </a:ext>
            </a:extLst>
          </p:cNvPr>
          <p:cNvSpPr>
            <a:spLocks noGrp="1"/>
          </p:cNvSpPr>
          <p:nvPr/>
        </p:nvSpPr>
        <p:spPr>
          <a:xfrm>
            <a:off x="9858375" y="3714750"/>
            <a:ext cx="2476500" cy="4705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89.6%</a:t>
            </a:r>
          </a:p>
        </p:txBody>
      </p:sp>
      <p:sp>
        <p:nvSpPr>
          <p:cNvPr id="22" name="metric-label-89.6%-1035">
            <a:extLst>
              <a:ext uri="{FF2B5EF4-FFF2-40B4-BE49-F238E27FC236}">
                <a16:creationId xmlns:a16="http://schemas.microsoft.com/office/drawing/2014/main" id="{FFBE0BED-16B8-4614-BAA5-58DEC387126A}"/>
              </a:ext>
            </a:extLst>
          </p:cNvPr>
          <p:cNvSpPr>
            <a:spLocks noGrp="1"/>
          </p:cNvSpPr>
          <p:nvPr/>
        </p:nvSpPr>
        <p:spPr>
          <a:xfrm>
            <a:off x="9858375" y="4185285"/>
            <a:ext cx="2476500" cy="380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zero regret decisions</a:t>
            </a:r>
          </a:p>
        </p:txBody>
      </p:sp>
    </p:spTree>
    <p:extLst>
      <p:ext uri="{BB962C8B-B14F-4D97-AF65-F5344CB8AC3E}">
        <p14:creationId xmlns:p14="http://schemas.microsoft.com/office/powerpoint/2010/main" val="219119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52704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2704"/>
            <a:ext cx="14630400" cy="95097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530352"/>
            <a:ext cx="12573000" cy="53035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4200" b="1">
                <a:solidFill>
                  <a:srgbClr val="1C1C1C"/>
                </a:solidFill>
                <a:latin typeface="Times New Roman"/>
              </a:rPr>
              <a:t>Accuracy, F1, and runtime results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7512" y="118140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1600200"/>
            <a:ext cx="3246120" cy="96012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2971800" cy="41148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3000" b="1">
                <a:solidFill>
                  <a:srgbClr val="F4511E"/>
                </a:solidFill>
                <a:latin typeface="Times New Roman"/>
              </a:rPr>
              <a:t>76.1%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76272"/>
            <a:ext cx="2971800" cy="27432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200" b="0" dirty="0">
                <a:solidFill>
                  <a:srgbClr val="53657D"/>
                </a:solidFill>
                <a:latin typeface="Times New Roman"/>
              </a:rPr>
              <a:t>test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600200"/>
            <a:ext cx="3246120" cy="96012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737360"/>
            <a:ext cx="2971800" cy="41148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3000" b="1">
                <a:solidFill>
                  <a:srgbClr val="8F1D3A"/>
                </a:solidFill>
                <a:latin typeface="Times New Roman"/>
              </a:rPr>
              <a:t>70.1%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176272"/>
            <a:ext cx="2971800" cy="27432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200" b="0" dirty="0">
                <a:solidFill>
                  <a:srgbClr val="53657D"/>
                </a:solidFill>
                <a:latin typeface="Times New Roman"/>
              </a:rPr>
              <a:t>balanced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600200"/>
            <a:ext cx="3246120" cy="96012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41080" y="1737360"/>
            <a:ext cx="2971800" cy="41148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3000" b="1">
                <a:solidFill>
                  <a:srgbClr val="8F1D3A"/>
                </a:solidFill>
                <a:latin typeface="Times New Roman"/>
              </a:rPr>
              <a:t>69.1%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176272"/>
            <a:ext cx="2971800" cy="27432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200" b="0" dirty="0">
                <a:solidFill>
                  <a:srgbClr val="53657D"/>
                </a:solidFill>
                <a:latin typeface="Times New Roman"/>
              </a:rPr>
              <a:t>macro 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926080"/>
            <a:ext cx="3246120" cy="96012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3063240"/>
            <a:ext cx="2971800" cy="41148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3000" b="1">
                <a:solidFill>
                  <a:srgbClr val="8F1D3A"/>
                </a:solidFill>
                <a:latin typeface="Times New Roman"/>
              </a:rPr>
              <a:t>77.0%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02152"/>
            <a:ext cx="2971800" cy="27432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200" b="0">
                <a:solidFill>
                  <a:srgbClr val="53657D"/>
                </a:solidFill>
                <a:latin typeface="Times New Roman"/>
              </a:rPr>
              <a:t>weighted F1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2926080"/>
            <a:ext cx="3246120" cy="96012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0" y="3063240"/>
            <a:ext cx="2971800" cy="41148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3000" b="1">
                <a:solidFill>
                  <a:srgbClr val="F4511E"/>
                </a:solidFill>
                <a:latin typeface="Times New Roman"/>
              </a:rPr>
              <a:t>93.1%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502152"/>
            <a:ext cx="2971800" cy="27432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200" b="0">
                <a:solidFill>
                  <a:srgbClr val="53657D"/>
                </a:solidFill>
                <a:latin typeface="Times New Roman"/>
              </a:rPr>
              <a:t>SBS-to-VBS gap closed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2926080"/>
            <a:ext cx="3246120" cy="96012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3063240"/>
            <a:ext cx="2971800" cy="41148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3000" b="1">
                <a:solidFill>
                  <a:srgbClr val="F4511E"/>
                </a:solidFill>
                <a:latin typeface="Times New Roman"/>
              </a:rPr>
              <a:t>89.6%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3502152"/>
            <a:ext cx="2971800" cy="27432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200" b="0" dirty="0">
                <a:solidFill>
                  <a:srgbClr val="53657D"/>
                </a:solidFill>
                <a:latin typeface="Times New Roman"/>
              </a:rPr>
              <a:t>zero-regret decisions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4663440"/>
            <a:ext cx="10972800" cy="169164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48840" y="4892040"/>
            <a:ext cx="1554480" cy="27432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100" b="1">
                <a:solidFill>
                  <a:srgbClr val="1C1C1C"/>
                </a:solidFill>
                <a:latin typeface="Times New Roman"/>
              </a:rPr>
              <a:t>Class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892040"/>
            <a:ext cx="1554480" cy="27432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100" b="1">
                <a:solidFill>
                  <a:srgbClr val="1C1C1C"/>
                </a:solidFill>
                <a:latin typeface="Times New Roman"/>
              </a:rPr>
              <a:t>Precision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892040"/>
            <a:ext cx="1554480" cy="27432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100" b="1">
                <a:solidFill>
                  <a:srgbClr val="1C1C1C"/>
                </a:solidFill>
                <a:latin typeface="Times New Roman"/>
              </a:rPr>
              <a:t>Recall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92040"/>
            <a:ext cx="1554480" cy="27432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100" b="1">
                <a:solidFill>
                  <a:srgbClr val="1C1C1C"/>
                </a:solidFill>
                <a:latin typeface="Times New Roman"/>
              </a:rPr>
              <a:t>F1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892040"/>
            <a:ext cx="1554480" cy="27432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2100" b="1">
                <a:solidFill>
                  <a:srgbClr val="1C1C1C"/>
                </a:solidFill>
                <a:latin typeface="Times New Roman"/>
              </a:rPr>
              <a:t>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5321808"/>
            <a:ext cx="155448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8F1D3A"/>
                </a:solidFill>
                <a:latin typeface="Times New Roman"/>
              </a:rPr>
              <a:t>Introsort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321808"/>
            <a:ext cx="155448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37.1%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321808"/>
            <a:ext cx="155448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52.1%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321808"/>
            <a:ext cx="155448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43.3%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5321808"/>
            <a:ext cx="155448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4,509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632704"/>
            <a:ext cx="155448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53657D"/>
                </a:solidFill>
                <a:latin typeface="Times New Roman"/>
              </a:rPr>
              <a:t>Heapsort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5632704"/>
            <a:ext cx="155448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74.2%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632704"/>
            <a:ext cx="155448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63.8%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632704"/>
            <a:ext cx="155448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68.6%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5632704"/>
            <a:ext cx="155448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11,457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840" y="5943600"/>
            <a:ext cx="155448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4511E"/>
                </a:solidFill>
                <a:latin typeface="Times New Roman"/>
              </a:rPr>
              <a:t>Timsort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5943600"/>
            <a:ext cx="155448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96.0%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5943600"/>
            <a:ext cx="155448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94.5%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5943600"/>
            <a:ext cx="155448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95.3%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5943600"/>
            <a:ext cx="155448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13,528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578840" y="8010144"/>
            <a:ext cx="822960" cy="21031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Times New Roman"/>
              </a:rPr>
              <a:t>25/34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op-maroon">
            <a:extLst>
              <a:ext uri="{FF2B5EF4-FFF2-40B4-BE49-F238E27FC236}">
                <a16:creationId xmlns:a16="http://schemas.microsoft.com/office/drawing/2014/main" id="{B2835AFF-73F7-4BBE-8BE1-CEC9005F41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988AFC2F-8DEB-4CD2-ABD9-AB4C46AA66EE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23E15B09-0380-4B43-ACC2-DA7EAFD62374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E67A5052-6C42-4A1D-B85D-3309E1BF878C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Residual error is concentrated at the introsort-heapsort boundary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C39903A4-5F75-4348-9469-5B9A1046AB2E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25517A2A-4E89-4ACD-9ED9-E5F4A3B257B7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26/34</a:t>
            </a:r>
          </a:p>
        </p:txBody>
      </p:sp>
      <p:sp>
        <p:nvSpPr>
          <p:cNvPr id="7" name="hm-top-0">
            <a:extLst>
              <a:ext uri="{FF2B5EF4-FFF2-40B4-BE49-F238E27FC236}">
                <a16:creationId xmlns:a16="http://schemas.microsoft.com/office/drawing/2014/main" id="{BC8AF203-0181-4045-A00D-B7A3B5524EAF}"/>
              </a:ext>
            </a:extLst>
          </p:cNvPr>
          <p:cNvSpPr>
            <a:spLocks noGrp="1"/>
          </p:cNvSpPr>
          <p:nvPr/>
        </p:nvSpPr>
        <p:spPr>
          <a:xfrm>
            <a:off x="2857500" y="17716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Introsort</a:t>
            </a:r>
          </a:p>
        </p:txBody>
      </p:sp>
      <p:sp>
        <p:nvSpPr>
          <p:cNvPr id="8" name="hm-left-0">
            <a:extLst>
              <a:ext uri="{FF2B5EF4-FFF2-40B4-BE49-F238E27FC236}">
                <a16:creationId xmlns:a16="http://schemas.microsoft.com/office/drawing/2014/main" id="{319CC004-7A77-4B6C-9356-5BF5552EC11C}"/>
              </a:ext>
            </a:extLst>
          </p:cNvPr>
          <p:cNvSpPr>
            <a:spLocks noGrp="1"/>
          </p:cNvSpPr>
          <p:nvPr/>
        </p:nvSpPr>
        <p:spPr>
          <a:xfrm>
            <a:off x="2000250" y="238125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Introsort</a:t>
            </a:r>
          </a:p>
        </p:txBody>
      </p:sp>
      <p:sp>
        <p:nvSpPr>
          <p:cNvPr id="9" name="hm-top-1">
            <a:extLst>
              <a:ext uri="{FF2B5EF4-FFF2-40B4-BE49-F238E27FC236}">
                <a16:creationId xmlns:a16="http://schemas.microsoft.com/office/drawing/2014/main" id="{6ABAE663-6F7E-46C5-8854-85BEEF4F9DAE}"/>
              </a:ext>
            </a:extLst>
          </p:cNvPr>
          <p:cNvSpPr>
            <a:spLocks noGrp="1"/>
          </p:cNvSpPr>
          <p:nvPr/>
        </p:nvSpPr>
        <p:spPr>
          <a:xfrm>
            <a:off x="3752850" y="17716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Heapsort</a:t>
            </a:r>
          </a:p>
        </p:txBody>
      </p:sp>
      <p:sp>
        <p:nvSpPr>
          <p:cNvPr id="10" name="hm-left-1">
            <a:extLst>
              <a:ext uri="{FF2B5EF4-FFF2-40B4-BE49-F238E27FC236}">
                <a16:creationId xmlns:a16="http://schemas.microsoft.com/office/drawing/2014/main" id="{F991AA1B-F0E2-4CB6-9BE5-2F3C61F98991}"/>
              </a:ext>
            </a:extLst>
          </p:cNvPr>
          <p:cNvSpPr>
            <a:spLocks noGrp="1"/>
          </p:cNvSpPr>
          <p:nvPr/>
        </p:nvSpPr>
        <p:spPr>
          <a:xfrm>
            <a:off x="2000250" y="32766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Heapsort</a:t>
            </a:r>
          </a:p>
        </p:txBody>
      </p:sp>
      <p:sp>
        <p:nvSpPr>
          <p:cNvPr id="11" name="hm-top-2">
            <a:extLst>
              <a:ext uri="{FF2B5EF4-FFF2-40B4-BE49-F238E27FC236}">
                <a16:creationId xmlns:a16="http://schemas.microsoft.com/office/drawing/2014/main" id="{FBDB693C-12CA-4486-8F9E-97F9D54D9F6C}"/>
              </a:ext>
            </a:extLst>
          </p:cNvPr>
          <p:cNvSpPr>
            <a:spLocks noGrp="1"/>
          </p:cNvSpPr>
          <p:nvPr/>
        </p:nvSpPr>
        <p:spPr>
          <a:xfrm>
            <a:off x="4648200" y="17716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Timsort</a:t>
            </a:r>
          </a:p>
        </p:txBody>
      </p:sp>
      <p:sp>
        <p:nvSpPr>
          <p:cNvPr id="12" name="hm-left-2">
            <a:extLst>
              <a:ext uri="{FF2B5EF4-FFF2-40B4-BE49-F238E27FC236}">
                <a16:creationId xmlns:a16="http://schemas.microsoft.com/office/drawing/2014/main" id="{14A867DF-99FC-4557-B1A8-6E4862FF4840}"/>
              </a:ext>
            </a:extLst>
          </p:cNvPr>
          <p:cNvSpPr>
            <a:spLocks noGrp="1"/>
          </p:cNvSpPr>
          <p:nvPr/>
        </p:nvSpPr>
        <p:spPr>
          <a:xfrm>
            <a:off x="2000250" y="417195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Timsort</a:t>
            </a:r>
          </a:p>
        </p:txBody>
      </p:sp>
      <p:sp>
        <p:nvSpPr>
          <p:cNvPr id="13" name="hm-0-0">
            <a:extLst>
              <a:ext uri="{FF2B5EF4-FFF2-40B4-BE49-F238E27FC236}">
                <a16:creationId xmlns:a16="http://schemas.microsoft.com/office/drawing/2014/main" id="{C82699F6-889A-4BE7-B323-BFDB04226545}"/>
              </a:ext>
            </a:extLst>
          </p:cNvPr>
          <p:cNvSpPr>
            <a:spLocks noGrp="1"/>
          </p:cNvSpPr>
          <p:nvPr/>
        </p:nvSpPr>
        <p:spPr>
          <a:xfrm>
            <a:off x="2857500" y="2095500"/>
            <a:ext cx="895350" cy="895350"/>
          </a:xfrm>
          <a:prstGeom prst="rect">
            <a:avLst/>
          </a:prstGeom>
          <a:solidFill>
            <a:srgbClr val="EAF3F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hm-val-0-0">
            <a:extLst>
              <a:ext uri="{FF2B5EF4-FFF2-40B4-BE49-F238E27FC236}">
                <a16:creationId xmlns:a16="http://schemas.microsoft.com/office/drawing/2014/main" id="{A5075517-82B5-4393-B817-C66B73435E25}"/>
              </a:ext>
            </a:extLst>
          </p:cNvPr>
          <p:cNvSpPr>
            <a:spLocks noGrp="1"/>
          </p:cNvSpPr>
          <p:nvPr/>
        </p:nvSpPr>
        <p:spPr>
          <a:xfrm>
            <a:off x="2914650" y="2390775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2350</a:t>
            </a:r>
          </a:p>
        </p:txBody>
      </p:sp>
      <p:sp>
        <p:nvSpPr>
          <p:cNvPr id="15" name="hm-0-1">
            <a:extLst>
              <a:ext uri="{FF2B5EF4-FFF2-40B4-BE49-F238E27FC236}">
                <a16:creationId xmlns:a16="http://schemas.microsoft.com/office/drawing/2014/main" id="{51DD7C35-9781-43E2-83C6-C1E0A2752FC4}"/>
              </a:ext>
            </a:extLst>
          </p:cNvPr>
          <p:cNvSpPr>
            <a:spLocks noGrp="1"/>
          </p:cNvSpPr>
          <p:nvPr/>
        </p:nvSpPr>
        <p:spPr>
          <a:xfrm>
            <a:off x="3752850" y="2095500"/>
            <a:ext cx="895350" cy="895350"/>
          </a:xfrm>
          <a:prstGeom prst="rect">
            <a:avLst/>
          </a:prstGeom>
          <a:solidFill>
            <a:srgbClr val="EAF3F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hm-val-0-1">
            <a:extLst>
              <a:ext uri="{FF2B5EF4-FFF2-40B4-BE49-F238E27FC236}">
                <a16:creationId xmlns:a16="http://schemas.microsoft.com/office/drawing/2014/main" id="{BDCF6BDB-B755-4BD3-BED5-C5F80B7BE13E}"/>
              </a:ext>
            </a:extLst>
          </p:cNvPr>
          <p:cNvSpPr>
            <a:spLocks noGrp="1"/>
          </p:cNvSpPr>
          <p:nvPr/>
        </p:nvSpPr>
        <p:spPr>
          <a:xfrm>
            <a:off x="3810000" y="2390775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1977</a:t>
            </a:r>
          </a:p>
        </p:txBody>
      </p:sp>
      <p:sp>
        <p:nvSpPr>
          <p:cNvPr id="17" name="hm-0-2">
            <a:extLst>
              <a:ext uri="{FF2B5EF4-FFF2-40B4-BE49-F238E27FC236}">
                <a16:creationId xmlns:a16="http://schemas.microsoft.com/office/drawing/2014/main" id="{DE009CB2-0E55-40B8-89C3-B0CE51B5AD5D}"/>
              </a:ext>
            </a:extLst>
          </p:cNvPr>
          <p:cNvSpPr>
            <a:spLocks noGrp="1"/>
          </p:cNvSpPr>
          <p:nvPr/>
        </p:nvSpPr>
        <p:spPr>
          <a:xfrm>
            <a:off x="4648200" y="2095500"/>
            <a:ext cx="895350" cy="895350"/>
          </a:xfrm>
          <a:prstGeom prst="rect">
            <a:avLst/>
          </a:prstGeom>
          <a:solidFill>
            <a:srgbClr val="EAF3F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hm-val-0-2">
            <a:extLst>
              <a:ext uri="{FF2B5EF4-FFF2-40B4-BE49-F238E27FC236}">
                <a16:creationId xmlns:a16="http://schemas.microsoft.com/office/drawing/2014/main" id="{BC1933B7-7476-4527-997C-87DC4569ACCB}"/>
              </a:ext>
            </a:extLst>
          </p:cNvPr>
          <p:cNvSpPr>
            <a:spLocks noGrp="1"/>
          </p:cNvSpPr>
          <p:nvPr/>
        </p:nvSpPr>
        <p:spPr>
          <a:xfrm>
            <a:off x="4705350" y="2390775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182</a:t>
            </a:r>
          </a:p>
        </p:txBody>
      </p:sp>
      <p:sp>
        <p:nvSpPr>
          <p:cNvPr id="19" name="hm-1-0">
            <a:extLst>
              <a:ext uri="{FF2B5EF4-FFF2-40B4-BE49-F238E27FC236}">
                <a16:creationId xmlns:a16="http://schemas.microsoft.com/office/drawing/2014/main" id="{4173F68C-B7FF-4D8D-AD29-933181E63FAC}"/>
              </a:ext>
            </a:extLst>
          </p:cNvPr>
          <p:cNvSpPr>
            <a:spLocks noGrp="1"/>
          </p:cNvSpPr>
          <p:nvPr/>
        </p:nvSpPr>
        <p:spPr>
          <a:xfrm>
            <a:off x="2857500" y="2990850"/>
            <a:ext cx="895350" cy="895350"/>
          </a:xfrm>
          <a:prstGeom prst="rect">
            <a:avLst/>
          </a:prstGeom>
          <a:solidFill>
            <a:srgbClr val="CFE6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hm-val-1-0">
            <a:extLst>
              <a:ext uri="{FF2B5EF4-FFF2-40B4-BE49-F238E27FC236}">
                <a16:creationId xmlns:a16="http://schemas.microsoft.com/office/drawing/2014/main" id="{2C407298-1A43-4D3A-A795-4938EA10C809}"/>
              </a:ext>
            </a:extLst>
          </p:cNvPr>
          <p:cNvSpPr>
            <a:spLocks noGrp="1"/>
          </p:cNvSpPr>
          <p:nvPr/>
        </p:nvSpPr>
        <p:spPr>
          <a:xfrm>
            <a:off x="2914650" y="3286125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3805</a:t>
            </a:r>
          </a:p>
        </p:txBody>
      </p:sp>
      <p:sp>
        <p:nvSpPr>
          <p:cNvPr id="21" name="hm-1-1">
            <a:extLst>
              <a:ext uri="{FF2B5EF4-FFF2-40B4-BE49-F238E27FC236}">
                <a16:creationId xmlns:a16="http://schemas.microsoft.com/office/drawing/2014/main" id="{71AE9C56-8790-4347-922C-282DF31E2DCA}"/>
              </a:ext>
            </a:extLst>
          </p:cNvPr>
          <p:cNvSpPr>
            <a:spLocks noGrp="1"/>
          </p:cNvSpPr>
          <p:nvPr/>
        </p:nvSpPr>
        <p:spPr>
          <a:xfrm>
            <a:off x="3752850" y="2990850"/>
            <a:ext cx="895350" cy="895350"/>
          </a:xfrm>
          <a:prstGeom prst="rect">
            <a:avLst/>
          </a:prstGeom>
          <a:solidFill>
            <a:srgbClr val="9CCAE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hm-val-1-1">
            <a:extLst>
              <a:ext uri="{FF2B5EF4-FFF2-40B4-BE49-F238E27FC236}">
                <a16:creationId xmlns:a16="http://schemas.microsoft.com/office/drawing/2014/main" id="{2C544CEF-8853-4610-ACED-4B49E20FD070}"/>
              </a:ext>
            </a:extLst>
          </p:cNvPr>
          <p:cNvSpPr>
            <a:spLocks noGrp="1"/>
          </p:cNvSpPr>
          <p:nvPr/>
        </p:nvSpPr>
        <p:spPr>
          <a:xfrm>
            <a:off x="3810000" y="3286125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7307</a:t>
            </a:r>
          </a:p>
        </p:txBody>
      </p:sp>
      <p:sp>
        <p:nvSpPr>
          <p:cNvPr id="23" name="hm-1-2">
            <a:extLst>
              <a:ext uri="{FF2B5EF4-FFF2-40B4-BE49-F238E27FC236}">
                <a16:creationId xmlns:a16="http://schemas.microsoft.com/office/drawing/2014/main" id="{EF536C57-7306-4965-BBA4-29BADADFF6C2}"/>
              </a:ext>
            </a:extLst>
          </p:cNvPr>
          <p:cNvSpPr>
            <a:spLocks noGrp="1"/>
          </p:cNvSpPr>
          <p:nvPr/>
        </p:nvSpPr>
        <p:spPr>
          <a:xfrm>
            <a:off x="4648200" y="2990850"/>
            <a:ext cx="895350" cy="895350"/>
          </a:xfrm>
          <a:prstGeom prst="rect">
            <a:avLst/>
          </a:prstGeom>
          <a:solidFill>
            <a:srgbClr val="EAF3F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hm-val-1-2">
            <a:extLst>
              <a:ext uri="{FF2B5EF4-FFF2-40B4-BE49-F238E27FC236}">
                <a16:creationId xmlns:a16="http://schemas.microsoft.com/office/drawing/2014/main" id="{A31912FA-EF0E-4728-898B-7B7E210FC39A}"/>
              </a:ext>
            </a:extLst>
          </p:cNvPr>
          <p:cNvSpPr>
            <a:spLocks noGrp="1"/>
          </p:cNvSpPr>
          <p:nvPr/>
        </p:nvSpPr>
        <p:spPr>
          <a:xfrm>
            <a:off x="4705350" y="3286125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345</a:t>
            </a:r>
          </a:p>
        </p:txBody>
      </p:sp>
      <p:sp>
        <p:nvSpPr>
          <p:cNvPr id="25" name="hm-2-0">
            <a:extLst>
              <a:ext uri="{FF2B5EF4-FFF2-40B4-BE49-F238E27FC236}">
                <a16:creationId xmlns:a16="http://schemas.microsoft.com/office/drawing/2014/main" id="{A0F8FDBE-9958-438F-8661-F1E617116FAA}"/>
              </a:ext>
            </a:extLst>
          </p:cNvPr>
          <p:cNvSpPr>
            <a:spLocks noGrp="1"/>
          </p:cNvSpPr>
          <p:nvPr/>
        </p:nvSpPr>
        <p:spPr>
          <a:xfrm>
            <a:off x="2857500" y="3886200"/>
            <a:ext cx="895350" cy="895350"/>
          </a:xfrm>
          <a:prstGeom prst="rect">
            <a:avLst/>
          </a:prstGeom>
          <a:solidFill>
            <a:srgbClr val="EAF3F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hm-val-2-0">
            <a:extLst>
              <a:ext uri="{FF2B5EF4-FFF2-40B4-BE49-F238E27FC236}">
                <a16:creationId xmlns:a16="http://schemas.microsoft.com/office/drawing/2014/main" id="{E5A77FB8-CB3C-495F-8530-DE258D620EA8}"/>
              </a:ext>
            </a:extLst>
          </p:cNvPr>
          <p:cNvSpPr>
            <a:spLocks noGrp="1"/>
          </p:cNvSpPr>
          <p:nvPr/>
        </p:nvSpPr>
        <p:spPr>
          <a:xfrm>
            <a:off x="2914650" y="4181475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182</a:t>
            </a:r>
          </a:p>
        </p:txBody>
      </p:sp>
      <p:sp>
        <p:nvSpPr>
          <p:cNvPr id="27" name="hm-2-1">
            <a:extLst>
              <a:ext uri="{FF2B5EF4-FFF2-40B4-BE49-F238E27FC236}">
                <a16:creationId xmlns:a16="http://schemas.microsoft.com/office/drawing/2014/main" id="{F1C3AF15-D5CD-48EE-BD39-B25290DB1E50}"/>
              </a:ext>
            </a:extLst>
          </p:cNvPr>
          <p:cNvSpPr>
            <a:spLocks noGrp="1"/>
          </p:cNvSpPr>
          <p:nvPr/>
        </p:nvSpPr>
        <p:spPr>
          <a:xfrm>
            <a:off x="3752850" y="3886200"/>
            <a:ext cx="895350" cy="895350"/>
          </a:xfrm>
          <a:prstGeom prst="rect">
            <a:avLst/>
          </a:prstGeom>
          <a:solidFill>
            <a:srgbClr val="EAF3F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hm-val-2-1">
            <a:extLst>
              <a:ext uri="{FF2B5EF4-FFF2-40B4-BE49-F238E27FC236}">
                <a16:creationId xmlns:a16="http://schemas.microsoft.com/office/drawing/2014/main" id="{A393D3BD-4E70-4E47-9EBB-45071299ADC5}"/>
              </a:ext>
            </a:extLst>
          </p:cNvPr>
          <p:cNvSpPr>
            <a:spLocks noGrp="1"/>
          </p:cNvSpPr>
          <p:nvPr/>
        </p:nvSpPr>
        <p:spPr>
          <a:xfrm>
            <a:off x="3810000" y="4181475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565</a:t>
            </a:r>
          </a:p>
        </p:txBody>
      </p:sp>
      <p:sp>
        <p:nvSpPr>
          <p:cNvPr id="29" name="hm-2-2">
            <a:extLst>
              <a:ext uri="{FF2B5EF4-FFF2-40B4-BE49-F238E27FC236}">
                <a16:creationId xmlns:a16="http://schemas.microsoft.com/office/drawing/2014/main" id="{0071426B-1DAC-4209-98B1-CE84C6B5A5A5}"/>
              </a:ext>
            </a:extLst>
          </p:cNvPr>
          <p:cNvSpPr>
            <a:spLocks noGrp="1"/>
          </p:cNvSpPr>
          <p:nvPr/>
        </p:nvSpPr>
        <p:spPr>
          <a:xfrm>
            <a:off x="4648200" y="3886200"/>
            <a:ext cx="895350" cy="895350"/>
          </a:xfrm>
          <a:prstGeom prst="rect">
            <a:avLst/>
          </a:prstGeom>
          <a:solidFill>
            <a:srgbClr val="2F6FA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hm-val-2-2">
            <a:extLst>
              <a:ext uri="{FF2B5EF4-FFF2-40B4-BE49-F238E27FC236}">
                <a16:creationId xmlns:a16="http://schemas.microsoft.com/office/drawing/2014/main" id="{AF815F39-839A-4E26-9D67-0B2408F54AC6}"/>
              </a:ext>
            </a:extLst>
          </p:cNvPr>
          <p:cNvSpPr>
            <a:spLocks noGrp="1"/>
          </p:cNvSpPr>
          <p:nvPr/>
        </p:nvSpPr>
        <p:spPr>
          <a:xfrm>
            <a:off x="4705350" y="4181475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12781</a:t>
            </a:r>
          </a:p>
        </p:txBody>
      </p:sp>
      <p:sp>
        <p:nvSpPr>
          <p:cNvPr id="31" name="metric-94.5%-1010">
            <a:extLst>
              <a:ext uri="{FF2B5EF4-FFF2-40B4-BE49-F238E27FC236}">
                <a16:creationId xmlns:a16="http://schemas.microsoft.com/office/drawing/2014/main" id="{516A36BD-6FCB-4266-A67A-7ABC9221C302}"/>
              </a:ext>
            </a:extLst>
          </p:cNvPr>
          <p:cNvSpPr>
            <a:spLocks noGrp="1"/>
          </p:cNvSpPr>
          <p:nvPr/>
        </p:nvSpPr>
        <p:spPr>
          <a:xfrm>
            <a:off x="9620250" y="2190750"/>
            <a:ext cx="2476500" cy="4457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94.5%</a:t>
            </a:r>
          </a:p>
        </p:txBody>
      </p:sp>
      <p:sp>
        <p:nvSpPr>
          <p:cNvPr id="32" name="metric-label-94.5%-1010">
            <a:extLst>
              <a:ext uri="{FF2B5EF4-FFF2-40B4-BE49-F238E27FC236}">
                <a16:creationId xmlns:a16="http://schemas.microsoft.com/office/drawing/2014/main" id="{50AB429A-265F-436D-B5AA-B88326C97CDF}"/>
              </a:ext>
            </a:extLst>
          </p:cNvPr>
          <p:cNvSpPr>
            <a:spLocks noGrp="1"/>
          </p:cNvSpPr>
          <p:nvPr/>
        </p:nvSpPr>
        <p:spPr>
          <a:xfrm>
            <a:off x="9620250" y="2636520"/>
            <a:ext cx="2476500" cy="3600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Timsort recall</a:t>
            </a:r>
          </a:p>
        </p:txBody>
      </p:sp>
      <p:sp>
        <p:nvSpPr>
          <p:cNvPr id="33" name="conf-note">
            <a:extLst>
              <a:ext uri="{FF2B5EF4-FFF2-40B4-BE49-F238E27FC236}">
                <a16:creationId xmlns:a16="http://schemas.microsoft.com/office/drawing/2014/main" id="{6231F127-51D6-432E-9B79-E45DD726E1E4}"/>
              </a:ext>
            </a:extLst>
          </p:cNvPr>
          <p:cNvSpPr>
            <a:spLocks noGrp="1"/>
          </p:cNvSpPr>
          <p:nvPr/>
        </p:nvSpPr>
        <p:spPr>
          <a:xfrm>
            <a:off x="8953500" y="3667125"/>
            <a:ext cx="3333750" cy="1285875"/>
          </a:xfrm>
          <a:prstGeom prst="roundRect">
            <a:avLst>
              <a:gd name="adj" fmla="val 4444"/>
            </a:avLst>
          </a:prstGeom>
          <a:solidFill>
            <a:srgbClr val="FBFCFE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conf-note-title">
            <a:extLst>
              <a:ext uri="{FF2B5EF4-FFF2-40B4-BE49-F238E27FC236}">
                <a16:creationId xmlns:a16="http://schemas.microsoft.com/office/drawing/2014/main" id="{0016BCB6-7673-435F-A956-9BBA0BA33C2E}"/>
              </a:ext>
            </a:extLst>
          </p:cNvPr>
          <p:cNvSpPr>
            <a:spLocks noGrp="1"/>
          </p:cNvSpPr>
          <p:nvPr/>
        </p:nvSpPr>
        <p:spPr>
          <a:xfrm>
            <a:off x="9124950" y="3819525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Interpretation</a:t>
            </a:r>
          </a:p>
        </p:txBody>
      </p:sp>
      <p:sp>
        <p:nvSpPr>
          <p:cNvPr id="35" name="conf-note-body">
            <a:extLst>
              <a:ext uri="{FF2B5EF4-FFF2-40B4-BE49-F238E27FC236}">
                <a16:creationId xmlns:a16="http://schemas.microsoft.com/office/drawing/2014/main" id="{6CE69F3A-98C5-4E7C-AB5D-26BA7A34E0D2}"/>
              </a:ext>
            </a:extLst>
          </p:cNvPr>
          <p:cNvSpPr>
            <a:spLocks noGrp="1"/>
          </p:cNvSpPr>
          <p:nvPr/>
        </p:nvSpPr>
        <p:spPr>
          <a:xfrm>
            <a:off x="9124950" y="4143375"/>
            <a:ext cx="2990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Timsort is separable when runs/order are visible.</a:t>
            </a:r>
          </a:p>
          <a:p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Introsort and heapsort remain close in the current feature space.</a:t>
            </a:r>
          </a:p>
        </p:txBody>
      </p:sp>
      <p:sp>
        <p:nvSpPr>
          <p:cNvPr id="36" name="conf-bottom">
            <a:extLst>
              <a:ext uri="{FF2B5EF4-FFF2-40B4-BE49-F238E27FC236}">
                <a16:creationId xmlns:a16="http://schemas.microsoft.com/office/drawing/2014/main" id="{2AB3FFFD-5752-4CBF-929A-0C1ACEBE19DD}"/>
              </a:ext>
            </a:extLst>
          </p:cNvPr>
          <p:cNvSpPr>
            <a:spLocks noGrp="1"/>
          </p:cNvSpPr>
          <p:nvPr/>
        </p:nvSpPr>
        <p:spPr>
          <a:xfrm>
            <a:off x="8524875" y="557212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Most residual boundary errors carry low measured regret.</a:t>
            </a:r>
          </a:p>
        </p:txBody>
      </p:sp>
    </p:spTree>
    <p:extLst>
      <p:ext uri="{BB962C8B-B14F-4D97-AF65-F5344CB8AC3E}">
        <p14:creationId xmlns:p14="http://schemas.microsoft.com/office/powerpoint/2010/main" val="7082968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52704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2704"/>
            <a:ext cx="14630400" cy="95097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530352"/>
            <a:ext cx="12573000" cy="53035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4200" b="1">
                <a:solidFill>
                  <a:srgbClr val="1C1C1C"/>
                </a:solidFill>
                <a:latin typeface="Times New Roman"/>
              </a:rPr>
              <a:t>Correct held-out test predictions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7512" y="118140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578840" y="8010144"/>
            <a:ext cx="822960" cy="21031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Times New Roman"/>
              </a:rPr>
              <a:t>27/34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00200"/>
            <a:ext cx="73152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91640"/>
            <a:ext cx="676656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1600200"/>
            <a:ext cx="146304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27632" y="1691640"/>
            <a:ext cx="1408176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Domain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1600200"/>
            <a:ext cx="100584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0672" y="1691640"/>
            <a:ext cx="950976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1600200"/>
            <a:ext cx="123444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96512" y="1691640"/>
            <a:ext cx="1179576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True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1600200"/>
            <a:ext cx="123444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30952" y="1691640"/>
            <a:ext cx="1179576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Predicted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1600200"/>
            <a:ext cx="347472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1691640"/>
            <a:ext cx="3419856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Measured runtimes (µs)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12680" y="1600200"/>
            <a:ext cx="132588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40111" y="1691640"/>
            <a:ext cx="1271016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Regret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258568"/>
            <a:ext cx="73152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" y="2423160"/>
            <a:ext cx="65836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Times New Roman"/>
              </a:rPr>
              <a:t>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258568"/>
            <a:ext cx="14630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36776" y="2423160"/>
            <a:ext cx="13898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Earthquake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2258568"/>
            <a:ext cx="10058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99816" y="2423160"/>
            <a:ext cx="9326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1000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2258568"/>
            <a:ext cx="12344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05656" y="2423160"/>
            <a:ext cx="11612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4511E"/>
                </a:solidFill>
                <a:latin typeface="Times New Roman"/>
              </a:rPr>
              <a:t>timsort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2258568"/>
            <a:ext cx="12344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40096" y="2423160"/>
            <a:ext cx="11612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4511E"/>
                </a:solidFill>
                <a:latin typeface="Times New Roman"/>
              </a:rPr>
              <a:t>timsort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2258568"/>
            <a:ext cx="347472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74536" y="2423160"/>
            <a:ext cx="340156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600" b="0">
                <a:solidFill>
                  <a:srgbClr val="1C1C1C"/>
                </a:solidFill>
                <a:latin typeface="Times New Roman"/>
              </a:rPr>
              <a:t>intro 12.12 | heap 11.71 | tim 0.79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12680" y="2258568"/>
            <a:ext cx="132588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49255" y="2423160"/>
            <a:ext cx="125272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0.00 µs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3282696"/>
            <a:ext cx="731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5256" y="3447288"/>
            <a:ext cx="65836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Times New Roman"/>
              </a:rPr>
              <a:t>02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00200" y="3282696"/>
            <a:ext cx="1463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636776" y="3447288"/>
            <a:ext cx="13898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Earthquake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63240" y="3282696"/>
            <a:ext cx="1005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99816" y="3447288"/>
            <a:ext cx="9326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163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69080" y="3282696"/>
            <a:ext cx="1234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05656" y="3447288"/>
            <a:ext cx="11612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53657D"/>
                </a:solidFill>
                <a:latin typeface="Times New Roman"/>
              </a:rPr>
              <a:t>heapsort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3282696"/>
            <a:ext cx="1234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40096" y="3447288"/>
            <a:ext cx="11612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53657D"/>
                </a:solidFill>
                <a:latin typeface="Times New Roman"/>
              </a:rPr>
              <a:t>heapsort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37960" y="3282696"/>
            <a:ext cx="3474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74536" y="3447288"/>
            <a:ext cx="340156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600" b="0">
                <a:solidFill>
                  <a:srgbClr val="1C1C1C"/>
                </a:solidFill>
                <a:latin typeface="Times New Roman"/>
              </a:rPr>
              <a:t>intro 0.75 | heap 0.71 | tim 0.88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12680" y="3282696"/>
            <a:ext cx="1325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49255" y="3447288"/>
            <a:ext cx="125272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0.00 µs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8680" y="4306824"/>
            <a:ext cx="73152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05256" y="4471416"/>
            <a:ext cx="65836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Times New Roman"/>
              </a:rPr>
              <a:t>03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306824"/>
            <a:ext cx="14630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636776" y="4471416"/>
            <a:ext cx="13898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Weather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63240" y="4306824"/>
            <a:ext cx="10058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099816" y="4471416"/>
            <a:ext cx="9326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52441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69080" y="4306824"/>
            <a:ext cx="12344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105656" y="4471416"/>
            <a:ext cx="11612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8F1D3A"/>
                </a:solidFill>
                <a:latin typeface="Times New Roman"/>
              </a:rPr>
              <a:t>introsort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03520" y="4306824"/>
            <a:ext cx="12344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340096" y="4471416"/>
            <a:ext cx="11612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8F1D3A"/>
                </a:solidFill>
                <a:latin typeface="Times New Roman"/>
              </a:rPr>
              <a:t>introsort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37960" y="4306824"/>
            <a:ext cx="347472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74536" y="4471416"/>
            <a:ext cx="340156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600" b="0">
                <a:solidFill>
                  <a:srgbClr val="1C1C1C"/>
                </a:solidFill>
                <a:latin typeface="Times New Roman"/>
              </a:rPr>
              <a:t>intro 1338.13 | heap 1338.46 | tim 1481.87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12680" y="4306824"/>
            <a:ext cx="132588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049255" y="4471416"/>
            <a:ext cx="125272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0.00 µs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52704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2704"/>
            <a:ext cx="14630400" cy="95097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530352"/>
            <a:ext cx="12573000" cy="53035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4200" b="1">
                <a:solidFill>
                  <a:srgbClr val="1C1C1C"/>
                </a:solidFill>
                <a:latin typeface="Times New Roman"/>
              </a:rPr>
              <a:t>Failed held-out test predictions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7512" y="118140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578840" y="8010144"/>
            <a:ext cx="822960" cy="21031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Times New Roman"/>
              </a:rPr>
              <a:t>28/34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00200"/>
            <a:ext cx="73152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91640"/>
            <a:ext cx="676656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1600200"/>
            <a:ext cx="146304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27632" y="1691640"/>
            <a:ext cx="1408176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Domain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1600200"/>
            <a:ext cx="100584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0672" y="1691640"/>
            <a:ext cx="950976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1600200"/>
            <a:ext cx="123444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96512" y="1691640"/>
            <a:ext cx="1179576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True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1600200"/>
            <a:ext cx="123444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30952" y="1691640"/>
            <a:ext cx="1179576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Predicted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1600200"/>
            <a:ext cx="347472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1691640"/>
            <a:ext cx="3419856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Measured runtimes (µs)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12680" y="1600200"/>
            <a:ext cx="1325880" cy="438912"/>
          </a:xfrm>
          <a:prstGeom prst="rect">
            <a:avLst/>
          </a:prstGeom>
          <a:solidFill>
            <a:srgbClr val="8F1D3A"/>
          </a:solidFill>
          <a:ln w="12700">
            <a:solidFill>
              <a:srgbClr val="8F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40111" y="1691640"/>
            <a:ext cx="1271016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Regret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258568"/>
            <a:ext cx="73152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" y="2423160"/>
            <a:ext cx="65836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Times New Roman"/>
              </a:rPr>
              <a:t>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2258568"/>
            <a:ext cx="14630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36776" y="2423160"/>
            <a:ext cx="13898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Stock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2258568"/>
            <a:ext cx="10058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99816" y="2423160"/>
            <a:ext cx="9326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2007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2258568"/>
            <a:ext cx="12344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05656" y="2423160"/>
            <a:ext cx="11612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8F1D3A"/>
                </a:solidFill>
                <a:latin typeface="Times New Roman"/>
              </a:rPr>
              <a:t>introsort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2258568"/>
            <a:ext cx="12344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40096" y="2423160"/>
            <a:ext cx="11612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53657D"/>
                </a:solidFill>
                <a:latin typeface="Times New Roman"/>
              </a:rPr>
              <a:t>heapsort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2258568"/>
            <a:ext cx="347472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74536" y="2423160"/>
            <a:ext cx="340156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600" b="0">
                <a:solidFill>
                  <a:srgbClr val="1C1C1C"/>
                </a:solidFill>
                <a:latin typeface="Times New Roman"/>
              </a:rPr>
              <a:t>intro 11.54 | heap 11.54 | tim 12.67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12680" y="2258568"/>
            <a:ext cx="132588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49255" y="2423160"/>
            <a:ext cx="125272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0.00 µs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3282696"/>
            <a:ext cx="731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5256" y="3447288"/>
            <a:ext cx="65836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Times New Roman"/>
              </a:rPr>
              <a:t>02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00200" y="3282696"/>
            <a:ext cx="1463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636776" y="3447288"/>
            <a:ext cx="13898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Stock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63240" y="3282696"/>
            <a:ext cx="1005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99816" y="3447288"/>
            <a:ext cx="9326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5981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69080" y="3282696"/>
            <a:ext cx="1234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05656" y="3447288"/>
            <a:ext cx="11612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8F1D3A"/>
                </a:solidFill>
                <a:latin typeface="Times New Roman"/>
              </a:rPr>
              <a:t>introsort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3282696"/>
            <a:ext cx="1234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40096" y="3447288"/>
            <a:ext cx="11612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53657D"/>
                </a:solidFill>
                <a:latin typeface="Times New Roman"/>
              </a:rPr>
              <a:t>heapsort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37960" y="3282696"/>
            <a:ext cx="3474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74536" y="3447288"/>
            <a:ext cx="340156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600" b="0">
                <a:solidFill>
                  <a:srgbClr val="1C1C1C"/>
                </a:solidFill>
                <a:latin typeface="Times New Roman"/>
              </a:rPr>
              <a:t>intro 28.75 | heap 28.75 | tim 65.71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12680" y="3282696"/>
            <a:ext cx="1325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49255" y="3447288"/>
            <a:ext cx="125272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0.00 µs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8680" y="4306824"/>
            <a:ext cx="73152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05256" y="4471416"/>
            <a:ext cx="65836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Times New Roman"/>
              </a:rPr>
              <a:t>03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306824"/>
            <a:ext cx="14630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636776" y="4471416"/>
            <a:ext cx="13898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Stock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63240" y="4306824"/>
            <a:ext cx="10058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099816" y="4471416"/>
            <a:ext cx="9326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2513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69080" y="4306824"/>
            <a:ext cx="12344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105656" y="4471416"/>
            <a:ext cx="11612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8F1D3A"/>
                </a:solidFill>
                <a:latin typeface="Times New Roman"/>
              </a:rPr>
              <a:t>introsort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03520" y="4306824"/>
            <a:ext cx="123444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340096" y="4471416"/>
            <a:ext cx="116128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53657D"/>
                </a:solidFill>
                <a:latin typeface="Times New Roman"/>
              </a:rPr>
              <a:t>heapsort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37960" y="4306824"/>
            <a:ext cx="347472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74536" y="4471416"/>
            <a:ext cx="340156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600" b="0">
                <a:solidFill>
                  <a:srgbClr val="1C1C1C"/>
                </a:solidFill>
                <a:latin typeface="Times New Roman"/>
              </a:rPr>
              <a:t>intro 43.83 | heap 199.04 | tim 131.29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12680" y="4306824"/>
            <a:ext cx="1325880" cy="749808"/>
          </a:xfrm>
          <a:prstGeom prst="rect">
            <a:avLst/>
          </a:prstGeom>
          <a:solidFill>
            <a:srgbClr val="FBFCFE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049255" y="4471416"/>
            <a:ext cx="1252728" cy="31089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1C1C1C"/>
                </a:solidFill>
                <a:latin typeface="Times New Roman"/>
              </a:rPr>
              <a:t>155.21 µs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op-maroon">
            <a:extLst>
              <a:ext uri="{FF2B5EF4-FFF2-40B4-BE49-F238E27FC236}">
                <a16:creationId xmlns:a16="http://schemas.microsoft.com/office/drawing/2014/main" id="{4AD7A65A-8CE0-49A1-8AC8-26F813187D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BF23A771-99C9-4462-AA63-D3899FC58D21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DEBD048B-21F8-4979-B63D-7D58C4927141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B32D325-6B9F-431F-AF3B-FA3438BD52EC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F1 routing was treated as a separate specialization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12622D08-4981-4E4E-8AD4-10E9558F68F3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DFD2748F-B215-484C-95E0-CAFBA1ADAAC7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29/34</a:t>
            </a:r>
          </a:p>
        </p:txBody>
      </p:sp>
      <p:sp>
        <p:nvSpPr>
          <p:cNvPr id="7" name="f1-fig">
            <a:extLst>
              <a:ext uri="{FF2B5EF4-FFF2-40B4-BE49-F238E27FC236}">
                <a16:creationId xmlns:a16="http://schemas.microsoft.com/office/drawing/2014/main" id="{C19D3F28-3D56-4AB0-8C5A-6F0484EEE688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8572500" cy="40005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1-raw">
            <a:extLst>
              <a:ext uri="{FF2B5EF4-FFF2-40B4-BE49-F238E27FC236}">
                <a16:creationId xmlns:a16="http://schemas.microsoft.com/office/drawing/2014/main" id="{7BFC9982-9F93-4A17-BEDB-CC84113CA57D}"/>
              </a:ext>
            </a:extLst>
          </p:cNvPr>
          <p:cNvSpPr>
            <a:spLocks noGrp="1"/>
          </p:cNvSpPr>
          <p:nvPr/>
        </p:nvSpPr>
        <p:spPr>
          <a:xfrm>
            <a:off x="1809750" y="3000375"/>
            <a:ext cx="1143000" cy="666750"/>
          </a:xfrm>
          <a:prstGeom prst="roundRect">
            <a:avLst>
              <a:gd name="adj" fmla="val 8571"/>
            </a:avLst>
          </a:prstGeom>
          <a:solidFill>
            <a:srgbClr val="FBE5D6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f1-raw-title">
            <a:extLst>
              <a:ext uri="{FF2B5EF4-FFF2-40B4-BE49-F238E27FC236}">
                <a16:creationId xmlns:a16="http://schemas.microsoft.com/office/drawing/2014/main" id="{C832E2EC-2BE6-47EC-A64F-7F8904B1BB93}"/>
              </a:ext>
            </a:extLst>
          </p:cNvPr>
          <p:cNvSpPr>
            <a:spLocks noGrp="1"/>
          </p:cNvSpPr>
          <p:nvPr/>
        </p:nvSpPr>
        <p:spPr>
          <a:xfrm>
            <a:off x="1981200" y="3152775"/>
            <a:ext cx="80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F1 arrays</a:t>
            </a:r>
          </a:p>
        </p:txBody>
      </p:sp>
      <p:sp>
        <p:nvSpPr>
          <p:cNvPr id="10" name="f1-router">
            <a:extLst>
              <a:ext uri="{FF2B5EF4-FFF2-40B4-BE49-F238E27FC236}">
                <a16:creationId xmlns:a16="http://schemas.microsoft.com/office/drawing/2014/main" id="{59083970-8115-477F-B9FF-152D429202D3}"/>
              </a:ext>
            </a:extLst>
          </p:cNvPr>
          <p:cNvSpPr>
            <a:spLocks noGrp="1"/>
          </p:cNvSpPr>
          <p:nvPr/>
        </p:nvSpPr>
        <p:spPr>
          <a:xfrm>
            <a:off x="3714750" y="2762250"/>
            <a:ext cx="1428750" cy="1143000"/>
          </a:xfrm>
          <a:prstGeom prst="roundRect">
            <a:avLst>
              <a:gd name="adj" fmla="val 5000"/>
            </a:avLst>
          </a:prstGeom>
          <a:solidFill>
            <a:srgbClr val="DDEFF9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1-router-title">
            <a:extLst>
              <a:ext uri="{FF2B5EF4-FFF2-40B4-BE49-F238E27FC236}">
                <a16:creationId xmlns:a16="http://schemas.microsoft.com/office/drawing/2014/main" id="{D7800063-EA17-4421-A559-AB3C02F882E2}"/>
              </a:ext>
            </a:extLst>
          </p:cNvPr>
          <p:cNvSpPr>
            <a:spLocks noGrp="1"/>
          </p:cNvSpPr>
          <p:nvPr/>
        </p:nvSpPr>
        <p:spPr>
          <a:xfrm>
            <a:off x="3886200" y="2914650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channel</a:t>
            </a:r>
          </a:p>
          <a:p>
            <a:pPr algn="ctr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router</a:t>
            </a:r>
          </a:p>
        </p:txBody>
      </p:sp>
      <p:sp>
        <p:nvSpPr>
          <p:cNvPr id="12" name="f1-ch-0">
            <a:extLst>
              <a:ext uri="{FF2B5EF4-FFF2-40B4-BE49-F238E27FC236}">
                <a16:creationId xmlns:a16="http://schemas.microsoft.com/office/drawing/2014/main" id="{7865A098-E64D-4DBA-99BC-677FEBEFB01A}"/>
              </a:ext>
            </a:extLst>
          </p:cNvPr>
          <p:cNvSpPr>
            <a:spLocks noGrp="1"/>
          </p:cNvSpPr>
          <p:nvPr/>
        </p:nvSpPr>
        <p:spPr>
          <a:xfrm>
            <a:off x="6143625" y="2000250"/>
            <a:ext cx="1428750" cy="457200"/>
          </a:xfrm>
          <a:prstGeom prst="roundRect">
            <a:avLst>
              <a:gd name="adj" fmla="val 12500"/>
            </a:avLst>
          </a:prstGeom>
          <a:solidFill>
            <a:srgbClr val="5B9B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f1-ch-0-title">
            <a:extLst>
              <a:ext uri="{FF2B5EF4-FFF2-40B4-BE49-F238E27FC236}">
                <a16:creationId xmlns:a16="http://schemas.microsoft.com/office/drawing/2014/main" id="{15CE1766-C4BC-4BD4-BA6F-CE03D4A35CA2}"/>
              </a:ext>
            </a:extLst>
          </p:cNvPr>
          <p:cNvSpPr>
            <a:spLocks noGrp="1"/>
          </p:cNvSpPr>
          <p:nvPr/>
        </p:nvSpPr>
        <p:spPr>
          <a:xfrm>
            <a:off x="6315075" y="2152650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Speed</a:t>
            </a:r>
          </a:p>
        </p:txBody>
      </p:sp>
      <p:sp>
        <p:nvSpPr>
          <p:cNvPr id="14" name="f1-ch-1">
            <a:extLst>
              <a:ext uri="{FF2B5EF4-FFF2-40B4-BE49-F238E27FC236}">
                <a16:creationId xmlns:a16="http://schemas.microsoft.com/office/drawing/2014/main" id="{6ED479CD-2CF8-4D83-B809-6C4A77504C2D}"/>
              </a:ext>
            </a:extLst>
          </p:cNvPr>
          <p:cNvSpPr>
            <a:spLocks noGrp="1"/>
          </p:cNvSpPr>
          <p:nvPr/>
        </p:nvSpPr>
        <p:spPr>
          <a:xfrm>
            <a:off x="6143625" y="2686050"/>
            <a:ext cx="1428750" cy="457200"/>
          </a:xfrm>
          <a:prstGeom prst="roundRect">
            <a:avLst>
              <a:gd name="adj" fmla="val 12500"/>
            </a:avLst>
          </a:prstGeom>
          <a:solidFill>
            <a:srgbClr val="B915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f1-ch-1-title">
            <a:extLst>
              <a:ext uri="{FF2B5EF4-FFF2-40B4-BE49-F238E27FC236}">
                <a16:creationId xmlns:a16="http://schemas.microsoft.com/office/drawing/2014/main" id="{B8BF9B8B-7DAE-4124-98BB-48051ACA3FC5}"/>
              </a:ext>
            </a:extLst>
          </p:cNvPr>
          <p:cNvSpPr>
            <a:spLocks noGrp="1"/>
          </p:cNvSpPr>
          <p:nvPr/>
        </p:nvSpPr>
        <p:spPr>
          <a:xfrm>
            <a:off x="6315075" y="2838450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RPM</a:t>
            </a:r>
          </a:p>
        </p:txBody>
      </p:sp>
      <p:sp>
        <p:nvSpPr>
          <p:cNvPr id="16" name="f1-ch-2">
            <a:extLst>
              <a:ext uri="{FF2B5EF4-FFF2-40B4-BE49-F238E27FC236}">
                <a16:creationId xmlns:a16="http://schemas.microsoft.com/office/drawing/2014/main" id="{ED32100C-9E5E-4C03-9D18-2E5BF10E6B19}"/>
              </a:ext>
            </a:extLst>
          </p:cNvPr>
          <p:cNvSpPr>
            <a:spLocks noGrp="1"/>
          </p:cNvSpPr>
          <p:nvPr/>
        </p:nvSpPr>
        <p:spPr>
          <a:xfrm>
            <a:off x="6143625" y="3371850"/>
            <a:ext cx="1428750" cy="457200"/>
          </a:xfrm>
          <a:prstGeom prst="roundRect">
            <a:avLst>
              <a:gd name="adj" fmla="val 12500"/>
            </a:avLst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f1-ch-2-title">
            <a:extLst>
              <a:ext uri="{FF2B5EF4-FFF2-40B4-BE49-F238E27FC236}">
                <a16:creationId xmlns:a16="http://schemas.microsoft.com/office/drawing/2014/main" id="{ABA5AE8D-6AA6-4654-B67A-6F0040872319}"/>
              </a:ext>
            </a:extLst>
          </p:cNvPr>
          <p:cNvSpPr>
            <a:spLocks noGrp="1"/>
          </p:cNvSpPr>
          <p:nvPr/>
        </p:nvSpPr>
        <p:spPr>
          <a:xfrm>
            <a:off x="6315075" y="3524250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DRS</a:t>
            </a:r>
          </a:p>
        </p:txBody>
      </p:sp>
      <p:sp>
        <p:nvSpPr>
          <p:cNvPr id="18" name="f1-ch-3">
            <a:extLst>
              <a:ext uri="{FF2B5EF4-FFF2-40B4-BE49-F238E27FC236}">
                <a16:creationId xmlns:a16="http://schemas.microsoft.com/office/drawing/2014/main" id="{503253D4-269A-44B9-B436-84A7DC0CAA2F}"/>
              </a:ext>
            </a:extLst>
          </p:cNvPr>
          <p:cNvSpPr>
            <a:spLocks noGrp="1"/>
          </p:cNvSpPr>
          <p:nvPr/>
        </p:nvSpPr>
        <p:spPr>
          <a:xfrm>
            <a:off x="6143625" y="4057650"/>
            <a:ext cx="1428750" cy="457200"/>
          </a:xfrm>
          <a:prstGeom prst="roundRect">
            <a:avLst>
              <a:gd name="adj" fmla="val 12500"/>
            </a:avLst>
          </a:prstGeom>
          <a:solidFill>
            <a:srgbClr val="2FA06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f1-ch-3-title">
            <a:extLst>
              <a:ext uri="{FF2B5EF4-FFF2-40B4-BE49-F238E27FC236}">
                <a16:creationId xmlns:a16="http://schemas.microsoft.com/office/drawing/2014/main" id="{6DE0C21C-0B36-4CA3-B555-04335BB40A61}"/>
              </a:ext>
            </a:extLst>
          </p:cNvPr>
          <p:cNvSpPr>
            <a:spLocks noGrp="1"/>
          </p:cNvSpPr>
          <p:nvPr/>
        </p:nvSpPr>
        <p:spPr>
          <a:xfrm>
            <a:off x="6315075" y="4210050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Throttle</a:t>
            </a:r>
          </a:p>
        </p:txBody>
      </p:sp>
      <p:sp>
        <p:nvSpPr>
          <p:cNvPr id="20" name="f1-model">
            <a:extLst>
              <a:ext uri="{FF2B5EF4-FFF2-40B4-BE49-F238E27FC236}">
                <a16:creationId xmlns:a16="http://schemas.microsoft.com/office/drawing/2014/main" id="{5492B63A-FFAE-4371-8126-7439AEB74AD9}"/>
              </a:ext>
            </a:extLst>
          </p:cNvPr>
          <p:cNvSpPr>
            <a:spLocks noGrp="1"/>
          </p:cNvSpPr>
          <p:nvPr/>
        </p:nvSpPr>
        <p:spPr>
          <a:xfrm>
            <a:off x="8048625" y="2762250"/>
            <a:ext cx="1000125" cy="1143000"/>
          </a:xfrm>
          <a:prstGeom prst="roundRect">
            <a:avLst>
              <a:gd name="adj" fmla="val 5714"/>
            </a:avLst>
          </a:prstGeom>
          <a:solidFill>
            <a:srgbClr val="D8F0E5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f1-model-title">
            <a:extLst>
              <a:ext uri="{FF2B5EF4-FFF2-40B4-BE49-F238E27FC236}">
                <a16:creationId xmlns:a16="http://schemas.microsoft.com/office/drawing/2014/main" id="{884D3778-FF47-4F33-9271-E10FDD10B8D1}"/>
              </a:ext>
            </a:extLst>
          </p:cNvPr>
          <p:cNvSpPr>
            <a:spLocks noGrp="1"/>
          </p:cNvSpPr>
          <p:nvPr/>
        </p:nvSpPr>
        <p:spPr>
          <a:xfrm>
            <a:off x="8220075" y="2914650"/>
            <a:ext cx="657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  <a:p>
            <a:pPr algn="ctr">
              <a:defRPr sz="10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per channel</a:t>
            </a:r>
          </a:p>
        </p:txBody>
      </p:sp>
      <p:sp>
        <p:nvSpPr>
          <p:cNvPr id="22" name="f1-a1-from">
            <a:extLst>
              <a:ext uri="{FF2B5EF4-FFF2-40B4-BE49-F238E27FC236}">
                <a16:creationId xmlns:a16="http://schemas.microsoft.com/office/drawing/2014/main" id="{A96CF31D-016A-4C50-849A-CC16E4323850}"/>
              </a:ext>
            </a:extLst>
          </p:cNvPr>
          <p:cNvSpPr>
            <a:spLocks noGrp="1"/>
          </p:cNvSpPr>
          <p:nvPr/>
        </p:nvSpPr>
        <p:spPr>
          <a:xfrm>
            <a:off x="3619500" y="333375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f1-a1-to">
            <a:extLst>
              <a:ext uri="{FF2B5EF4-FFF2-40B4-BE49-F238E27FC236}">
                <a16:creationId xmlns:a16="http://schemas.microsoft.com/office/drawing/2014/main" id="{82469532-DF34-44B1-8A2A-194319A1120D}"/>
              </a:ext>
            </a:extLst>
          </p:cNvPr>
          <p:cNvSpPr>
            <a:spLocks noGrp="1"/>
          </p:cNvSpPr>
          <p:nvPr/>
        </p:nvSpPr>
        <p:spPr>
          <a:xfrm>
            <a:off x="3048000" y="333375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63" name="f1-a1"/>
          <p:cNvCxnSpPr>
            <a:stCxn id="22" idx="1"/>
            <a:endCxn id="23" idx="3"/>
          </p:cNvCxnSpPr>
          <p:nvPr/>
        </p:nvCxnSpPr>
        <p:spPr>
          <a:xfrm flipH="1">
            <a:off x="3067050" y="3343275"/>
            <a:ext cx="552450" cy="0"/>
          </a:xfrm>
          <a:prstGeom prst="straightConnector1">
            <a:avLst/>
          </a:prstGeom>
          <a:ln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f1-a2-from">
            <a:extLst>
              <a:ext uri="{FF2B5EF4-FFF2-40B4-BE49-F238E27FC236}">
                <a16:creationId xmlns:a16="http://schemas.microsoft.com/office/drawing/2014/main" id="{56982B5F-770D-4EB5-906E-0C70669B0D01}"/>
              </a:ext>
            </a:extLst>
          </p:cNvPr>
          <p:cNvSpPr>
            <a:spLocks noGrp="1"/>
          </p:cNvSpPr>
          <p:nvPr/>
        </p:nvSpPr>
        <p:spPr>
          <a:xfrm>
            <a:off x="6048375" y="333375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f1-a2-to">
            <a:extLst>
              <a:ext uri="{FF2B5EF4-FFF2-40B4-BE49-F238E27FC236}">
                <a16:creationId xmlns:a16="http://schemas.microsoft.com/office/drawing/2014/main" id="{ECF96004-9362-4476-86E5-A7BD7FB73C43}"/>
              </a:ext>
            </a:extLst>
          </p:cNvPr>
          <p:cNvSpPr>
            <a:spLocks noGrp="1"/>
          </p:cNvSpPr>
          <p:nvPr/>
        </p:nvSpPr>
        <p:spPr>
          <a:xfrm>
            <a:off x="5238750" y="333375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66" name="f1-a2"/>
          <p:cNvCxnSpPr>
            <a:stCxn id="25" idx="1"/>
            <a:endCxn id="26" idx="3"/>
          </p:cNvCxnSpPr>
          <p:nvPr/>
        </p:nvCxnSpPr>
        <p:spPr>
          <a:xfrm flipH="1">
            <a:off x="5257800" y="3343275"/>
            <a:ext cx="790575" cy="0"/>
          </a:xfrm>
          <a:prstGeom prst="straightConnector1">
            <a:avLst/>
          </a:prstGeom>
          <a:ln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8" name="f1-a3-from">
            <a:extLst>
              <a:ext uri="{FF2B5EF4-FFF2-40B4-BE49-F238E27FC236}">
                <a16:creationId xmlns:a16="http://schemas.microsoft.com/office/drawing/2014/main" id="{09064D95-5C1D-42A3-A936-22FC32BE4868}"/>
              </a:ext>
            </a:extLst>
          </p:cNvPr>
          <p:cNvSpPr>
            <a:spLocks noGrp="1"/>
          </p:cNvSpPr>
          <p:nvPr/>
        </p:nvSpPr>
        <p:spPr>
          <a:xfrm>
            <a:off x="7953375" y="333375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f1-a3-to">
            <a:extLst>
              <a:ext uri="{FF2B5EF4-FFF2-40B4-BE49-F238E27FC236}">
                <a16:creationId xmlns:a16="http://schemas.microsoft.com/office/drawing/2014/main" id="{7E6DCC47-E8F7-4365-BC90-2019404BDD69}"/>
              </a:ext>
            </a:extLst>
          </p:cNvPr>
          <p:cNvSpPr>
            <a:spLocks noGrp="1"/>
          </p:cNvSpPr>
          <p:nvPr/>
        </p:nvSpPr>
        <p:spPr>
          <a:xfrm>
            <a:off x="7667625" y="3333750"/>
            <a:ext cx="190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69" name="f1-a3"/>
          <p:cNvCxnSpPr>
            <a:stCxn id="28" idx="1"/>
            <a:endCxn id="29" idx="3"/>
          </p:cNvCxnSpPr>
          <p:nvPr/>
        </p:nvCxnSpPr>
        <p:spPr>
          <a:xfrm flipH="1">
            <a:off x="7686675" y="3343275"/>
            <a:ext cx="266700" cy="0"/>
          </a:xfrm>
          <a:prstGeom prst="straightConnector1">
            <a:avLst/>
          </a:prstGeom>
          <a:ln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f1-main">
            <a:extLst>
              <a:ext uri="{FF2B5EF4-FFF2-40B4-BE49-F238E27FC236}">
                <a16:creationId xmlns:a16="http://schemas.microsoft.com/office/drawing/2014/main" id="{F26597A1-A695-4B9C-BBA1-6D9DFF7BC6C4}"/>
              </a:ext>
            </a:extLst>
          </p:cNvPr>
          <p:cNvSpPr>
            <a:spLocks noGrp="1"/>
          </p:cNvSpPr>
          <p:nvPr/>
        </p:nvSpPr>
        <p:spPr>
          <a:xfrm>
            <a:off x="10191750" y="1809750"/>
            <a:ext cx="2857500" cy="1000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f1-main-title">
            <a:extLst>
              <a:ext uri="{FF2B5EF4-FFF2-40B4-BE49-F238E27FC236}">
                <a16:creationId xmlns:a16="http://schemas.microsoft.com/office/drawing/2014/main" id="{F8258040-A403-4B2D-A694-FF46E086E58A}"/>
              </a:ext>
            </a:extLst>
          </p:cNvPr>
          <p:cNvSpPr>
            <a:spLocks noGrp="1"/>
          </p:cNvSpPr>
          <p:nvPr/>
        </p:nvSpPr>
        <p:spPr>
          <a:xfrm>
            <a:off x="10363200" y="196215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Main track</a:t>
            </a:r>
          </a:p>
        </p:txBody>
      </p:sp>
      <p:sp>
        <p:nvSpPr>
          <p:cNvPr id="33" name="f1-main-body">
            <a:extLst>
              <a:ext uri="{FF2B5EF4-FFF2-40B4-BE49-F238E27FC236}">
                <a16:creationId xmlns:a16="http://schemas.microsoft.com/office/drawing/2014/main" id="{A804E4FB-B891-4000-96D5-6652C1C9ED8B}"/>
              </a:ext>
            </a:extLst>
          </p:cNvPr>
          <p:cNvSpPr>
            <a:spLocks noGrp="1"/>
          </p:cNvSpPr>
          <p:nvPr/>
        </p:nvSpPr>
        <p:spPr>
          <a:xfrm>
            <a:off x="10363200" y="2286000"/>
            <a:ext cx="25146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v5 general selector</a:t>
            </a:r>
          </a:p>
          <a:p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all domains • 3 algorithms</a:t>
            </a:r>
          </a:p>
        </p:txBody>
      </p:sp>
      <p:sp>
        <p:nvSpPr>
          <p:cNvPr id="34" name="f1-spec">
            <a:extLst>
              <a:ext uri="{FF2B5EF4-FFF2-40B4-BE49-F238E27FC236}">
                <a16:creationId xmlns:a16="http://schemas.microsoft.com/office/drawing/2014/main" id="{BB916A16-86A0-4677-98EF-CB91EF67A5FE}"/>
              </a:ext>
            </a:extLst>
          </p:cNvPr>
          <p:cNvSpPr>
            <a:spLocks noGrp="1"/>
          </p:cNvSpPr>
          <p:nvPr/>
        </p:nvSpPr>
        <p:spPr>
          <a:xfrm>
            <a:off x="10191750" y="3143250"/>
            <a:ext cx="2857500" cy="1095375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f1-spec-title">
            <a:extLst>
              <a:ext uri="{FF2B5EF4-FFF2-40B4-BE49-F238E27FC236}">
                <a16:creationId xmlns:a16="http://schemas.microsoft.com/office/drawing/2014/main" id="{7A3B0D2B-B4DF-489C-94F4-70C3738A8E1C}"/>
              </a:ext>
            </a:extLst>
          </p:cNvPr>
          <p:cNvSpPr>
            <a:spLocks noGrp="1"/>
          </p:cNvSpPr>
          <p:nvPr/>
        </p:nvSpPr>
        <p:spPr>
          <a:xfrm>
            <a:off x="10363200" y="329565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F1 specialization</a:t>
            </a:r>
          </a:p>
        </p:txBody>
      </p:sp>
      <p:sp>
        <p:nvSpPr>
          <p:cNvPr id="36" name="f1-spec-body">
            <a:extLst>
              <a:ext uri="{FF2B5EF4-FFF2-40B4-BE49-F238E27FC236}">
                <a16:creationId xmlns:a16="http://schemas.microsoft.com/office/drawing/2014/main" id="{EEB80971-1818-472C-8080-70132CF7C217}"/>
              </a:ext>
            </a:extLst>
          </p:cNvPr>
          <p:cNvSpPr>
            <a:spLocks noGrp="1"/>
          </p:cNvSpPr>
          <p:nvPr/>
        </p:nvSpPr>
        <p:spPr>
          <a:xfrm>
            <a:off x="10363200" y="3619500"/>
            <a:ext cx="25146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channel flag routes F1 arrays</a:t>
            </a:r>
          </a:p>
          <a:p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to specialized channel models</a:t>
            </a:r>
          </a:p>
        </p:txBody>
      </p:sp>
      <p:sp>
        <p:nvSpPr>
          <p:cNvPr id="37" name="f1-bound">
            <a:extLst>
              <a:ext uri="{FF2B5EF4-FFF2-40B4-BE49-F238E27FC236}">
                <a16:creationId xmlns:a16="http://schemas.microsoft.com/office/drawing/2014/main" id="{679E8236-007C-467D-BD9F-B36563D0EDBA}"/>
              </a:ext>
            </a:extLst>
          </p:cNvPr>
          <p:cNvSpPr>
            <a:spLocks noGrp="1"/>
          </p:cNvSpPr>
          <p:nvPr/>
        </p:nvSpPr>
        <p:spPr>
          <a:xfrm>
            <a:off x="10191750" y="4572000"/>
            <a:ext cx="2857500" cy="1000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f1-bound-title">
            <a:extLst>
              <a:ext uri="{FF2B5EF4-FFF2-40B4-BE49-F238E27FC236}">
                <a16:creationId xmlns:a16="http://schemas.microsoft.com/office/drawing/2014/main" id="{BF885A04-995D-482C-BFF2-AC15E909BACC}"/>
              </a:ext>
            </a:extLst>
          </p:cNvPr>
          <p:cNvSpPr>
            <a:spLocks noGrp="1"/>
          </p:cNvSpPr>
          <p:nvPr/>
        </p:nvSpPr>
        <p:spPr>
          <a:xfrm>
            <a:off x="10363200" y="47244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Claim boundary</a:t>
            </a:r>
          </a:p>
        </p:txBody>
      </p:sp>
      <p:sp>
        <p:nvSpPr>
          <p:cNvPr id="39" name="f1-bound-body">
            <a:extLst>
              <a:ext uri="{FF2B5EF4-FFF2-40B4-BE49-F238E27FC236}">
                <a16:creationId xmlns:a16="http://schemas.microsoft.com/office/drawing/2014/main" id="{859A01BB-B50E-4B0D-A1B2-ECDC15ECB5D5}"/>
              </a:ext>
            </a:extLst>
          </p:cNvPr>
          <p:cNvSpPr>
            <a:spLocks noGrp="1"/>
          </p:cNvSpPr>
          <p:nvPr/>
        </p:nvSpPr>
        <p:spPr>
          <a:xfrm>
            <a:off x="10363200" y="5048250"/>
            <a:ext cx="25146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This does not replace v5.</a:t>
            </a:r>
          </a:p>
          <a:p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It stays separate from the main result.</a:t>
            </a:r>
          </a:p>
        </p:txBody>
      </p:sp>
    </p:spTree>
    <p:extLst>
      <p:ext uri="{BB962C8B-B14F-4D97-AF65-F5344CB8AC3E}">
        <p14:creationId xmlns:p14="http://schemas.microsoft.com/office/powerpoint/2010/main" val="834828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op-maroon">
            <a:extLst>
              <a:ext uri="{FF2B5EF4-FFF2-40B4-BE49-F238E27FC236}">
                <a16:creationId xmlns:a16="http://schemas.microsoft.com/office/drawing/2014/main" id="{1BDC3E3F-9741-47D4-90F7-70CE613592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6DB9B73B-4746-4013-B408-EDEC2B347D25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C2A2B3D7-FD92-4BAE-B350-F19079B06FCF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38848DE5-7707-4FC5-B521-55C8635A8638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Optuna tuning strengthened the F1 channel models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D6DC8E8A-7030-4FFE-AD1B-16B8EF3CF9FC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29D1EA02-E687-427D-B3A3-887115BE00EB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30/34</a:t>
            </a:r>
          </a:p>
        </p:txBody>
      </p:sp>
      <p:sp>
        <p:nvSpPr>
          <p:cNvPr id="7" name="searched">
            <a:extLst>
              <a:ext uri="{FF2B5EF4-FFF2-40B4-BE49-F238E27FC236}">
                <a16:creationId xmlns:a16="http://schemas.microsoft.com/office/drawing/2014/main" id="{51515F09-3C81-43D6-AC0D-186924EE5907}"/>
              </a:ext>
            </a:extLst>
          </p:cNvPr>
          <p:cNvSpPr>
            <a:spLocks noGrp="1"/>
          </p:cNvSpPr>
          <p:nvPr/>
        </p:nvSpPr>
        <p:spPr>
          <a:xfrm>
            <a:off x="1238250" y="1466850"/>
            <a:ext cx="1200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Optuna searched: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tree count, tree depth, learning rate, row/feature sampling, and regularisation</a:t>
            </a:r>
          </a:p>
        </p:txBody>
      </p:sp>
      <p:sp>
        <p:nvSpPr>
          <p:cNvPr id="8" name="searched-rule">
            <a:extLst>
              <a:ext uri="{FF2B5EF4-FFF2-40B4-BE49-F238E27FC236}">
                <a16:creationId xmlns:a16="http://schemas.microsoft.com/office/drawing/2014/main" id="{F7DD0D98-FCE7-4F01-83E9-A49DA12BFF8D}"/>
              </a:ext>
            </a:extLst>
          </p:cNvPr>
          <p:cNvSpPr>
            <a:spLocks noGrp="1"/>
          </p:cNvSpPr>
          <p:nvPr/>
        </p:nvSpPr>
        <p:spPr>
          <a:xfrm>
            <a:off x="1238250" y="2000250"/>
            <a:ext cx="12001500" cy="0"/>
          </a:xfrm>
          <a:prstGeom prst="line">
            <a:avLst/>
          </a:prstGeom>
          <a:noFill/>
          <a:ln w="14288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op-h-0">
            <a:extLst>
              <a:ext uri="{FF2B5EF4-FFF2-40B4-BE49-F238E27FC236}">
                <a16:creationId xmlns:a16="http://schemas.microsoft.com/office/drawing/2014/main" id="{C69344D8-A4A4-4427-BE13-9A34F7C21D48}"/>
              </a:ext>
            </a:extLst>
          </p:cNvPr>
          <p:cNvSpPr>
            <a:spLocks noGrp="1"/>
          </p:cNvSpPr>
          <p:nvPr/>
        </p:nvSpPr>
        <p:spPr>
          <a:xfrm>
            <a:off x="1285875" y="24003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Metric</a:t>
            </a:r>
          </a:p>
        </p:txBody>
      </p:sp>
      <p:sp>
        <p:nvSpPr>
          <p:cNvPr id="10" name="op-h-1">
            <a:extLst>
              <a:ext uri="{FF2B5EF4-FFF2-40B4-BE49-F238E27FC236}">
                <a16:creationId xmlns:a16="http://schemas.microsoft.com/office/drawing/2014/main" id="{45462EFD-688C-4B18-833E-937162925703}"/>
              </a:ext>
            </a:extLst>
          </p:cNvPr>
          <p:cNvSpPr>
            <a:spLocks noGrp="1"/>
          </p:cNvSpPr>
          <p:nvPr/>
        </p:nvSpPr>
        <p:spPr>
          <a:xfrm>
            <a:off x="7096125" y="24003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Before</a:t>
            </a:r>
          </a:p>
        </p:txBody>
      </p:sp>
      <p:sp>
        <p:nvSpPr>
          <p:cNvPr id="11" name="op-h-2">
            <a:extLst>
              <a:ext uri="{FF2B5EF4-FFF2-40B4-BE49-F238E27FC236}">
                <a16:creationId xmlns:a16="http://schemas.microsoft.com/office/drawing/2014/main" id="{0395CB8D-7D91-4583-B81E-5B8264158F05}"/>
              </a:ext>
            </a:extLst>
          </p:cNvPr>
          <p:cNvSpPr>
            <a:spLocks noGrp="1"/>
          </p:cNvSpPr>
          <p:nvPr/>
        </p:nvSpPr>
        <p:spPr>
          <a:xfrm>
            <a:off x="9096375" y="24003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After Optuna</a:t>
            </a:r>
          </a:p>
        </p:txBody>
      </p:sp>
      <p:sp>
        <p:nvSpPr>
          <p:cNvPr id="12" name="op-h-3">
            <a:extLst>
              <a:ext uri="{FF2B5EF4-FFF2-40B4-BE49-F238E27FC236}">
                <a16:creationId xmlns:a16="http://schemas.microsoft.com/office/drawing/2014/main" id="{6FB393A6-D0FD-44B9-8407-A20D74FD821D}"/>
              </a:ext>
            </a:extLst>
          </p:cNvPr>
          <p:cNvSpPr>
            <a:spLocks noGrp="1"/>
          </p:cNvSpPr>
          <p:nvPr/>
        </p:nvSpPr>
        <p:spPr>
          <a:xfrm>
            <a:off x="11572875" y="240030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Change</a:t>
            </a:r>
          </a:p>
        </p:txBody>
      </p:sp>
      <p:sp>
        <p:nvSpPr>
          <p:cNvPr id="13" name="op-head">
            <a:extLst>
              <a:ext uri="{FF2B5EF4-FFF2-40B4-BE49-F238E27FC236}">
                <a16:creationId xmlns:a16="http://schemas.microsoft.com/office/drawing/2014/main" id="{9D975D0D-4886-4C34-9FC7-DB5611BF416A}"/>
              </a:ext>
            </a:extLst>
          </p:cNvPr>
          <p:cNvSpPr>
            <a:spLocks noGrp="1"/>
          </p:cNvSpPr>
          <p:nvPr/>
        </p:nvSpPr>
        <p:spPr>
          <a:xfrm>
            <a:off x="1285875" y="2828925"/>
            <a:ext cx="11382375" cy="0"/>
          </a:xfrm>
          <a:prstGeom prst="line">
            <a:avLst/>
          </a:prstGeom>
          <a:noFill/>
          <a:ln w="14288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op-m-0">
            <a:extLst>
              <a:ext uri="{FF2B5EF4-FFF2-40B4-BE49-F238E27FC236}">
                <a16:creationId xmlns:a16="http://schemas.microsoft.com/office/drawing/2014/main" id="{7BA1A073-2B29-4268-8496-7BFE6AA19756}"/>
              </a:ext>
            </a:extLst>
          </p:cNvPr>
          <p:cNvSpPr>
            <a:spLocks noGrp="1"/>
          </p:cNvSpPr>
          <p:nvPr/>
        </p:nvSpPr>
        <p:spPr>
          <a:xfrm>
            <a:off x="1285875" y="3114675"/>
            <a:ext cx="504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F1 avg test accuracy</a:t>
            </a:r>
          </a:p>
        </p:txBody>
      </p:sp>
      <p:sp>
        <p:nvSpPr>
          <p:cNvPr id="15" name="op-b-0">
            <a:extLst>
              <a:ext uri="{FF2B5EF4-FFF2-40B4-BE49-F238E27FC236}">
                <a16:creationId xmlns:a16="http://schemas.microsoft.com/office/drawing/2014/main" id="{95E5D19A-E66A-44F4-BB58-6897737B8087}"/>
              </a:ext>
            </a:extLst>
          </p:cNvPr>
          <p:cNvSpPr>
            <a:spLocks noGrp="1"/>
          </p:cNvSpPr>
          <p:nvPr/>
        </p:nvSpPr>
        <p:spPr>
          <a:xfrm>
            <a:off x="7096125" y="3114675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46.0%</a:t>
            </a:r>
          </a:p>
        </p:txBody>
      </p:sp>
      <p:sp>
        <p:nvSpPr>
          <p:cNvPr id="16" name="op-a-0">
            <a:extLst>
              <a:ext uri="{FF2B5EF4-FFF2-40B4-BE49-F238E27FC236}">
                <a16:creationId xmlns:a16="http://schemas.microsoft.com/office/drawing/2014/main" id="{794158A4-A7AB-472E-8749-30C1E2C6FBE5}"/>
              </a:ext>
            </a:extLst>
          </p:cNvPr>
          <p:cNvSpPr>
            <a:spLocks noGrp="1"/>
          </p:cNvSpPr>
          <p:nvPr/>
        </p:nvSpPr>
        <p:spPr>
          <a:xfrm>
            <a:off x="9096375" y="3114675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53.6%</a:t>
            </a:r>
          </a:p>
        </p:txBody>
      </p:sp>
      <p:sp>
        <p:nvSpPr>
          <p:cNvPr id="17" name="op-c-0">
            <a:extLst>
              <a:ext uri="{FF2B5EF4-FFF2-40B4-BE49-F238E27FC236}">
                <a16:creationId xmlns:a16="http://schemas.microsoft.com/office/drawing/2014/main" id="{A13026CB-B013-4A84-B095-191B78551933}"/>
              </a:ext>
            </a:extLst>
          </p:cNvPr>
          <p:cNvSpPr>
            <a:spLocks noGrp="1"/>
          </p:cNvSpPr>
          <p:nvPr/>
        </p:nvSpPr>
        <p:spPr>
          <a:xfrm>
            <a:off x="11572875" y="3114675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+7.6</a:t>
            </a:r>
          </a:p>
        </p:txBody>
      </p:sp>
      <p:sp>
        <p:nvSpPr>
          <p:cNvPr id="18" name="op-line-0">
            <a:extLst>
              <a:ext uri="{FF2B5EF4-FFF2-40B4-BE49-F238E27FC236}">
                <a16:creationId xmlns:a16="http://schemas.microsoft.com/office/drawing/2014/main" id="{1C11CC50-F4F9-4B52-B67C-3C7C2D3315B4}"/>
              </a:ext>
            </a:extLst>
          </p:cNvPr>
          <p:cNvSpPr>
            <a:spLocks noGrp="1"/>
          </p:cNvSpPr>
          <p:nvPr/>
        </p:nvSpPr>
        <p:spPr>
          <a:xfrm>
            <a:off x="1285875" y="3571875"/>
            <a:ext cx="11382375" cy="0"/>
          </a:xfrm>
          <a:prstGeom prst="line">
            <a:avLst/>
          </a:prstGeom>
          <a:noFill/>
          <a:ln w="1238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op-m-1">
            <a:extLst>
              <a:ext uri="{FF2B5EF4-FFF2-40B4-BE49-F238E27FC236}">
                <a16:creationId xmlns:a16="http://schemas.microsoft.com/office/drawing/2014/main" id="{99077E3B-C8B6-4177-8832-828C161AEA67}"/>
              </a:ext>
            </a:extLst>
          </p:cNvPr>
          <p:cNvSpPr>
            <a:spLocks noGrp="1"/>
          </p:cNvSpPr>
          <p:nvPr/>
        </p:nvSpPr>
        <p:spPr>
          <a:xfrm>
            <a:off x="1285875" y="3781425"/>
            <a:ext cx="504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F1 avg balanced accuracy</a:t>
            </a:r>
          </a:p>
        </p:txBody>
      </p:sp>
      <p:sp>
        <p:nvSpPr>
          <p:cNvPr id="20" name="op-b-1">
            <a:extLst>
              <a:ext uri="{FF2B5EF4-FFF2-40B4-BE49-F238E27FC236}">
                <a16:creationId xmlns:a16="http://schemas.microsoft.com/office/drawing/2014/main" id="{3F9C8C92-218D-4AC8-B964-F14228A195B3}"/>
              </a:ext>
            </a:extLst>
          </p:cNvPr>
          <p:cNvSpPr>
            <a:spLocks noGrp="1"/>
          </p:cNvSpPr>
          <p:nvPr/>
        </p:nvSpPr>
        <p:spPr>
          <a:xfrm>
            <a:off x="7096125" y="3781425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48.2%</a:t>
            </a:r>
          </a:p>
        </p:txBody>
      </p:sp>
      <p:sp>
        <p:nvSpPr>
          <p:cNvPr id="21" name="op-a-1">
            <a:extLst>
              <a:ext uri="{FF2B5EF4-FFF2-40B4-BE49-F238E27FC236}">
                <a16:creationId xmlns:a16="http://schemas.microsoft.com/office/drawing/2014/main" id="{31DAA06F-2243-44AD-98FB-FAC7BAB3D53E}"/>
              </a:ext>
            </a:extLst>
          </p:cNvPr>
          <p:cNvSpPr>
            <a:spLocks noGrp="1"/>
          </p:cNvSpPr>
          <p:nvPr/>
        </p:nvSpPr>
        <p:spPr>
          <a:xfrm>
            <a:off x="9096375" y="3781425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49.8%</a:t>
            </a:r>
          </a:p>
        </p:txBody>
      </p:sp>
      <p:sp>
        <p:nvSpPr>
          <p:cNvPr id="22" name="op-c-1">
            <a:extLst>
              <a:ext uri="{FF2B5EF4-FFF2-40B4-BE49-F238E27FC236}">
                <a16:creationId xmlns:a16="http://schemas.microsoft.com/office/drawing/2014/main" id="{79B076FA-143A-4FF3-86D3-655D5C8EF67D}"/>
              </a:ext>
            </a:extLst>
          </p:cNvPr>
          <p:cNvSpPr>
            <a:spLocks noGrp="1"/>
          </p:cNvSpPr>
          <p:nvPr/>
        </p:nvSpPr>
        <p:spPr>
          <a:xfrm>
            <a:off x="11572875" y="3781425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+1.6</a:t>
            </a:r>
          </a:p>
        </p:txBody>
      </p:sp>
      <p:sp>
        <p:nvSpPr>
          <p:cNvPr id="23" name="op-line-1">
            <a:extLst>
              <a:ext uri="{FF2B5EF4-FFF2-40B4-BE49-F238E27FC236}">
                <a16:creationId xmlns:a16="http://schemas.microsoft.com/office/drawing/2014/main" id="{71585C73-B693-41D6-B8A6-FF124D153BAD}"/>
              </a:ext>
            </a:extLst>
          </p:cNvPr>
          <p:cNvSpPr>
            <a:spLocks noGrp="1"/>
          </p:cNvSpPr>
          <p:nvPr/>
        </p:nvSpPr>
        <p:spPr>
          <a:xfrm>
            <a:off x="1285875" y="4238625"/>
            <a:ext cx="11382375" cy="0"/>
          </a:xfrm>
          <a:prstGeom prst="line">
            <a:avLst/>
          </a:prstGeom>
          <a:noFill/>
          <a:ln w="1238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op-m-2">
            <a:extLst>
              <a:ext uri="{FF2B5EF4-FFF2-40B4-BE49-F238E27FC236}">
                <a16:creationId xmlns:a16="http://schemas.microsoft.com/office/drawing/2014/main" id="{51CF7E8D-A0D8-45AA-A07A-0828FC6C8F91}"/>
              </a:ext>
            </a:extLst>
          </p:cNvPr>
          <p:cNvSpPr>
            <a:spLocks noGrp="1"/>
          </p:cNvSpPr>
          <p:nvPr/>
        </p:nvSpPr>
        <p:spPr>
          <a:xfrm>
            <a:off x="1285875" y="4448175"/>
            <a:ext cx="504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DRS test accuracy</a:t>
            </a:r>
          </a:p>
        </p:txBody>
      </p:sp>
      <p:sp>
        <p:nvSpPr>
          <p:cNvPr id="25" name="op-b-2">
            <a:extLst>
              <a:ext uri="{FF2B5EF4-FFF2-40B4-BE49-F238E27FC236}">
                <a16:creationId xmlns:a16="http://schemas.microsoft.com/office/drawing/2014/main" id="{AC44C08F-EB76-4D0F-A3D3-5FF376008855}"/>
              </a:ext>
            </a:extLst>
          </p:cNvPr>
          <p:cNvSpPr>
            <a:spLocks noGrp="1"/>
          </p:cNvSpPr>
          <p:nvPr/>
        </p:nvSpPr>
        <p:spPr>
          <a:xfrm>
            <a:off x="7096125" y="4448175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55.0%</a:t>
            </a:r>
          </a:p>
        </p:txBody>
      </p:sp>
      <p:sp>
        <p:nvSpPr>
          <p:cNvPr id="26" name="op-a-2">
            <a:extLst>
              <a:ext uri="{FF2B5EF4-FFF2-40B4-BE49-F238E27FC236}">
                <a16:creationId xmlns:a16="http://schemas.microsoft.com/office/drawing/2014/main" id="{42C624E3-3D9D-4013-94F8-969BE9836504}"/>
              </a:ext>
            </a:extLst>
          </p:cNvPr>
          <p:cNvSpPr>
            <a:spLocks noGrp="1"/>
          </p:cNvSpPr>
          <p:nvPr/>
        </p:nvSpPr>
        <p:spPr>
          <a:xfrm>
            <a:off x="9096375" y="4448175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76.4%</a:t>
            </a:r>
          </a:p>
        </p:txBody>
      </p:sp>
      <p:sp>
        <p:nvSpPr>
          <p:cNvPr id="27" name="op-c-2">
            <a:extLst>
              <a:ext uri="{FF2B5EF4-FFF2-40B4-BE49-F238E27FC236}">
                <a16:creationId xmlns:a16="http://schemas.microsoft.com/office/drawing/2014/main" id="{BFA8ADD7-23C0-4B43-9BA2-195718870D6C}"/>
              </a:ext>
            </a:extLst>
          </p:cNvPr>
          <p:cNvSpPr>
            <a:spLocks noGrp="1"/>
          </p:cNvSpPr>
          <p:nvPr/>
        </p:nvSpPr>
        <p:spPr>
          <a:xfrm>
            <a:off x="11572875" y="4448175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+21.4</a:t>
            </a:r>
          </a:p>
        </p:txBody>
      </p:sp>
      <p:sp>
        <p:nvSpPr>
          <p:cNvPr id="28" name="op-line-2">
            <a:extLst>
              <a:ext uri="{FF2B5EF4-FFF2-40B4-BE49-F238E27FC236}">
                <a16:creationId xmlns:a16="http://schemas.microsoft.com/office/drawing/2014/main" id="{83A0B09F-DCED-4F31-BBE1-72B194D9F60F}"/>
              </a:ext>
            </a:extLst>
          </p:cNvPr>
          <p:cNvSpPr>
            <a:spLocks noGrp="1"/>
          </p:cNvSpPr>
          <p:nvPr/>
        </p:nvSpPr>
        <p:spPr>
          <a:xfrm>
            <a:off x="1285875" y="4905375"/>
            <a:ext cx="11382375" cy="0"/>
          </a:xfrm>
          <a:prstGeom prst="line">
            <a:avLst/>
          </a:prstGeom>
          <a:noFill/>
          <a:ln w="1238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op-m-3">
            <a:extLst>
              <a:ext uri="{FF2B5EF4-FFF2-40B4-BE49-F238E27FC236}">
                <a16:creationId xmlns:a16="http://schemas.microsoft.com/office/drawing/2014/main" id="{7195FAD6-399E-4164-973E-793A22A2FDEF}"/>
              </a:ext>
            </a:extLst>
          </p:cNvPr>
          <p:cNvSpPr>
            <a:spLocks noGrp="1"/>
          </p:cNvSpPr>
          <p:nvPr/>
        </p:nvSpPr>
        <p:spPr>
          <a:xfrm>
            <a:off x="1285875" y="5114925"/>
            <a:ext cx="504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Throttle balanced accuracy</a:t>
            </a:r>
          </a:p>
        </p:txBody>
      </p:sp>
      <p:sp>
        <p:nvSpPr>
          <p:cNvPr id="30" name="op-b-3">
            <a:extLst>
              <a:ext uri="{FF2B5EF4-FFF2-40B4-BE49-F238E27FC236}">
                <a16:creationId xmlns:a16="http://schemas.microsoft.com/office/drawing/2014/main" id="{2CA932D2-BEAA-404C-B3D1-9FD2EA4CD5EE}"/>
              </a:ext>
            </a:extLst>
          </p:cNvPr>
          <p:cNvSpPr>
            <a:spLocks noGrp="1"/>
          </p:cNvSpPr>
          <p:nvPr/>
        </p:nvSpPr>
        <p:spPr>
          <a:xfrm>
            <a:off x="7096125" y="5114925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24.0%</a:t>
            </a:r>
          </a:p>
        </p:txBody>
      </p:sp>
      <p:sp>
        <p:nvSpPr>
          <p:cNvPr id="31" name="op-a-3">
            <a:extLst>
              <a:ext uri="{FF2B5EF4-FFF2-40B4-BE49-F238E27FC236}">
                <a16:creationId xmlns:a16="http://schemas.microsoft.com/office/drawing/2014/main" id="{B5676A9B-2539-4D14-A589-77A3EBF72EFC}"/>
              </a:ext>
            </a:extLst>
          </p:cNvPr>
          <p:cNvSpPr>
            <a:spLocks noGrp="1"/>
          </p:cNvSpPr>
          <p:nvPr/>
        </p:nvSpPr>
        <p:spPr>
          <a:xfrm>
            <a:off x="9096375" y="5114925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47.1%</a:t>
            </a:r>
          </a:p>
        </p:txBody>
      </p:sp>
      <p:sp>
        <p:nvSpPr>
          <p:cNvPr id="32" name="op-c-3">
            <a:extLst>
              <a:ext uri="{FF2B5EF4-FFF2-40B4-BE49-F238E27FC236}">
                <a16:creationId xmlns:a16="http://schemas.microsoft.com/office/drawing/2014/main" id="{DE3759A1-A838-478C-975E-B3497129473E}"/>
              </a:ext>
            </a:extLst>
          </p:cNvPr>
          <p:cNvSpPr>
            <a:spLocks noGrp="1"/>
          </p:cNvSpPr>
          <p:nvPr/>
        </p:nvSpPr>
        <p:spPr>
          <a:xfrm>
            <a:off x="11572875" y="5114925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+23.1</a:t>
            </a:r>
          </a:p>
        </p:txBody>
      </p:sp>
      <p:sp>
        <p:nvSpPr>
          <p:cNvPr id="33" name="op-line-3">
            <a:extLst>
              <a:ext uri="{FF2B5EF4-FFF2-40B4-BE49-F238E27FC236}">
                <a16:creationId xmlns:a16="http://schemas.microsoft.com/office/drawing/2014/main" id="{E96CC0E5-9D7E-4439-89BB-98913F8E1382}"/>
              </a:ext>
            </a:extLst>
          </p:cNvPr>
          <p:cNvSpPr>
            <a:spLocks noGrp="1"/>
          </p:cNvSpPr>
          <p:nvPr/>
        </p:nvSpPr>
        <p:spPr>
          <a:xfrm>
            <a:off x="1285875" y="5572125"/>
            <a:ext cx="11382375" cy="0"/>
          </a:xfrm>
          <a:prstGeom prst="line">
            <a:avLst/>
          </a:prstGeom>
          <a:noFill/>
          <a:ln w="1238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op-m-4">
            <a:extLst>
              <a:ext uri="{FF2B5EF4-FFF2-40B4-BE49-F238E27FC236}">
                <a16:creationId xmlns:a16="http://schemas.microsoft.com/office/drawing/2014/main" id="{45C31FA1-D466-469E-A6A5-489464F1A49B}"/>
              </a:ext>
            </a:extLst>
          </p:cNvPr>
          <p:cNvSpPr>
            <a:spLocks noGrp="1"/>
          </p:cNvSpPr>
          <p:nvPr/>
        </p:nvSpPr>
        <p:spPr>
          <a:xfrm>
            <a:off x="1285875" y="5781675"/>
            <a:ext cx="504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RPM test accuracy</a:t>
            </a:r>
          </a:p>
        </p:txBody>
      </p:sp>
      <p:sp>
        <p:nvSpPr>
          <p:cNvPr id="35" name="op-b-4">
            <a:extLst>
              <a:ext uri="{FF2B5EF4-FFF2-40B4-BE49-F238E27FC236}">
                <a16:creationId xmlns:a16="http://schemas.microsoft.com/office/drawing/2014/main" id="{3AB09B70-A0D7-4F7B-B721-23B5C5CDCA08}"/>
              </a:ext>
            </a:extLst>
          </p:cNvPr>
          <p:cNvSpPr>
            <a:spLocks noGrp="1"/>
          </p:cNvSpPr>
          <p:nvPr/>
        </p:nvSpPr>
        <p:spPr>
          <a:xfrm>
            <a:off x="7096125" y="5781675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32.9%</a:t>
            </a:r>
          </a:p>
        </p:txBody>
      </p:sp>
      <p:sp>
        <p:nvSpPr>
          <p:cNvPr id="36" name="op-a-4">
            <a:extLst>
              <a:ext uri="{FF2B5EF4-FFF2-40B4-BE49-F238E27FC236}">
                <a16:creationId xmlns:a16="http://schemas.microsoft.com/office/drawing/2014/main" id="{FF1BB76A-EDDA-45BB-B47B-90C937064355}"/>
              </a:ext>
            </a:extLst>
          </p:cNvPr>
          <p:cNvSpPr>
            <a:spLocks noGrp="1"/>
          </p:cNvSpPr>
          <p:nvPr/>
        </p:nvSpPr>
        <p:spPr>
          <a:xfrm>
            <a:off x="9096375" y="5781675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44.0%</a:t>
            </a:r>
          </a:p>
        </p:txBody>
      </p:sp>
      <p:sp>
        <p:nvSpPr>
          <p:cNvPr id="37" name="op-c-4">
            <a:extLst>
              <a:ext uri="{FF2B5EF4-FFF2-40B4-BE49-F238E27FC236}">
                <a16:creationId xmlns:a16="http://schemas.microsoft.com/office/drawing/2014/main" id="{924380E4-45D7-432D-8829-E816A549ED88}"/>
              </a:ext>
            </a:extLst>
          </p:cNvPr>
          <p:cNvSpPr>
            <a:spLocks noGrp="1"/>
          </p:cNvSpPr>
          <p:nvPr/>
        </p:nvSpPr>
        <p:spPr>
          <a:xfrm>
            <a:off x="11572875" y="5781675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+11.1</a:t>
            </a:r>
          </a:p>
        </p:txBody>
      </p:sp>
      <p:sp>
        <p:nvSpPr>
          <p:cNvPr id="38" name="op-line-4">
            <a:extLst>
              <a:ext uri="{FF2B5EF4-FFF2-40B4-BE49-F238E27FC236}">
                <a16:creationId xmlns:a16="http://schemas.microsoft.com/office/drawing/2014/main" id="{CFD98054-C6DD-4A5A-BDB5-0AF17D31E37D}"/>
              </a:ext>
            </a:extLst>
          </p:cNvPr>
          <p:cNvSpPr>
            <a:spLocks noGrp="1"/>
          </p:cNvSpPr>
          <p:nvPr/>
        </p:nvSpPr>
        <p:spPr>
          <a:xfrm>
            <a:off x="1285875" y="6238875"/>
            <a:ext cx="11382375" cy="0"/>
          </a:xfrm>
          <a:prstGeom prst="line">
            <a:avLst/>
          </a:prstGeom>
          <a:noFill/>
          <a:ln w="1238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8089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op-maroon">
            <a:extLst>
              <a:ext uri="{FF2B5EF4-FFF2-40B4-BE49-F238E27FC236}">
                <a16:creationId xmlns:a16="http://schemas.microsoft.com/office/drawing/2014/main" id="{CE103C3B-80D0-4B4C-9C60-3E221A043F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80A54CF6-1F5B-47AF-82AF-0BF25D5AC252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143EB3E4-79DE-41D4-9F25-1A3637A7F02C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F9F82154-6C1F-4A14-9744-7197F0C3DBF0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Where this selector can be used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913E22B4-7819-422E-9982-F296801D02D7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B91B6FB2-22FC-4B44-9A9C-66B371C46EB3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31/34</a:t>
            </a:r>
          </a:p>
        </p:txBody>
      </p:sp>
      <p:sp>
        <p:nvSpPr>
          <p:cNvPr id="7" name="proof-n-0">
            <a:extLst>
              <a:ext uri="{FF2B5EF4-FFF2-40B4-BE49-F238E27FC236}">
                <a16:creationId xmlns:a16="http://schemas.microsoft.com/office/drawing/2014/main" id="{F8907033-C77C-4C6F-BF77-10CEAC216CDB}"/>
              </a:ext>
            </a:extLst>
          </p:cNvPr>
          <p:cNvSpPr>
            <a:spLocks noGrp="1"/>
          </p:cNvSpPr>
          <p:nvPr/>
        </p:nvSpPr>
        <p:spPr>
          <a:xfrm>
            <a:off x="1352550" y="14287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8" name="proof-row-0">
            <a:extLst>
              <a:ext uri="{FF2B5EF4-FFF2-40B4-BE49-F238E27FC236}">
                <a16:creationId xmlns:a16="http://schemas.microsoft.com/office/drawing/2014/main" id="{279B441F-775F-490C-91D4-90FD8A91EE12}"/>
              </a:ext>
            </a:extLst>
          </p:cNvPr>
          <p:cNvSpPr>
            <a:spLocks noGrp="1"/>
          </p:cNvSpPr>
          <p:nvPr/>
        </p:nvSpPr>
        <p:spPr>
          <a:xfrm>
            <a:off x="2095500" y="1409700"/>
            <a:ext cx="11410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Database query engines: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choose sorting method for ORDER BY, joins, grouping, and index builds</a:t>
            </a:r>
          </a:p>
        </p:txBody>
      </p:sp>
      <p:sp>
        <p:nvSpPr>
          <p:cNvPr id="9" name="proof-row-line-0">
            <a:extLst>
              <a:ext uri="{FF2B5EF4-FFF2-40B4-BE49-F238E27FC236}">
                <a16:creationId xmlns:a16="http://schemas.microsoft.com/office/drawing/2014/main" id="{1DEC36EE-0589-448B-861E-389C0810D059}"/>
              </a:ext>
            </a:extLst>
          </p:cNvPr>
          <p:cNvSpPr>
            <a:spLocks noGrp="1"/>
          </p:cNvSpPr>
          <p:nvPr/>
        </p:nvSpPr>
        <p:spPr>
          <a:xfrm>
            <a:off x="2095500" y="2209800"/>
            <a:ext cx="11334750" cy="0"/>
          </a:xfrm>
          <a:prstGeom prst="line">
            <a:avLst/>
          </a:prstGeom>
          <a:noFill/>
          <a:ln w="1238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proof-n-1">
            <a:extLst>
              <a:ext uri="{FF2B5EF4-FFF2-40B4-BE49-F238E27FC236}">
                <a16:creationId xmlns:a16="http://schemas.microsoft.com/office/drawing/2014/main" id="{048906A0-A34D-43C1-974B-1DFF123A54F9}"/>
              </a:ext>
            </a:extLst>
          </p:cNvPr>
          <p:cNvSpPr>
            <a:spLocks noGrp="1"/>
          </p:cNvSpPr>
          <p:nvPr/>
        </p:nvSpPr>
        <p:spPr>
          <a:xfrm>
            <a:off x="1352550" y="23241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1" name="proof-row-1">
            <a:extLst>
              <a:ext uri="{FF2B5EF4-FFF2-40B4-BE49-F238E27FC236}">
                <a16:creationId xmlns:a16="http://schemas.microsoft.com/office/drawing/2014/main" id="{E91DB63C-C20A-4F11-AB2E-EA7475D94329}"/>
              </a:ext>
            </a:extLst>
          </p:cNvPr>
          <p:cNvSpPr>
            <a:spLocks noGrp="1"/>
          </p:cNvSpPr>
          <p:nvPr/>
        </p:nvSpPr>
        <p:spPr>
          <a:xfrm>
            <a:off x="2095500" y="2305050"/>
            <a:ext cx="11410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ETL and analytics pipelines: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choose sorting method for IDs, timestamps, prices, partitions, and batches</a:t>
            </a:r>
          </a:p>
        </p:txBody>
      </p:sp>
      <p:sp>
        <p:nvSpPr>
          <p:cNvPr id="12" name="proof-row-line-1">
            <a:extLst>
              <a:ext uri="{FF2B5EF4-FFF2-40B4-BE49-F238E27FC236}">
                <a16:creationId xmlns:a16="http://schemas.microsoft.com/office/drawing/2014/main" id="{4396D763-0230-4BC4-8B70-B75576FDF615}"/>
              </a:ext>
            </a:extLst>
          </p:cNvPr>
          <p:cNvSpPr>
            <a:spLocks noGrp="1"/>
          </p:cNvSpPr>
          <p:nvPr/>
        </p:nvSpPr>
        <p:spPr>
          <a:xfrm>
            <a:off x="2095500" y="3105150"/>
            <a:ext cx="11334750" cy="0"/>
          </a:xfrm>
          <a:prstGeom prst="line">
            <a:avLst/>
          </a:prstGeom>
          <a:noFill/>
          <a:ln w="1238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proof-n-2">
            <a:extLst>
              <a:ext uri="{FF2B5EF4-FFF2-40B4-BE49-F238E27FC236}">
                <a16:creationId xmlns:a16="http://schemas.microsoft.com/office/drawing/2014/main" id="{AAFC3E31-B099-4207-AB59-C529E2C12A0C}"/>
              </a:ext>
            </a:extLst>
          </p:cNvPr>
          <p:cNvSpPr>
            <a:spLocks noGrp="1"/>
          </p:cNvSpPr>
          <p:nvPr/>
        </p:nvSpPr>
        <p:spPr>
          <a:xfrm>
            <a:off x="1352550" y="32194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4" name="proof-row-2">
            <a:extLst>
              <a:ext uri="{FF2B5EF4-FFF2-40B4-BE49-F238E27FC236}">
                <a16:creationId xmlns:a16="http://schemas.microsoft.com/office/drawing/2014/main" id="{2ACCEFAB-25BE-49C9-AD80-B36834EEE68C}"/>
              </a:ext>
            </a:extLst>
          </p:cNvPr>
          <p:cNvSpPr>
            <a:spLocks noGrp="1"/>
          </p:cNvSpPr>
          <p:nvPr/>
        </p:nvSpPr>
        <p:spPr>
          <a:xfrm>
            <a:off x="2095500" y="3200400"/>
            <a:ext cx="11410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Search and ranking systems: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choose sorting method for candidate scores before top-k output</a:t>
            </a:r>
          </a:p>
        </p:txBody>
      </p:sp>
      <p:sp>
        <p:nvSpPr>
          <p:cNvPr id="15" name="proof-row-line-2">
            <a:extLst>
              <a:ext uri="{FF2B5EF4-FFF2-40B4-BE49-F238E27FC236}">
                <a16:creationId xmlns:a16="http://schemas.microsoft.com/office/drawing/2014/main" id="{1B081428-BF1B-4D9A-BD23-7F68193C7611}"/>
              </a:ext>
            </a:extLst>
          </p:cNvPr>
          <p:cNvSpPr>
            <a:spLocks noGrp="1"/>
          </p:cNvSpPr>
          <p:nvPr/>
        </p:nvSpPr>
        <p:spPr>
          <a:xfrm>
            <a:off x="2095500" y="4000500"/>
            <a:ext cx="11334750" cy="0"/>
          </a:xfrm>
          <a:prstGeom prst="line">
            <a:avLst/>
          </a:prstGeom>
          <a:noFill/>
          <a:ln w="1238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proof-n-3">
            <a:extLst>
              <a:ext uri="{FF2B5EF4-FFF2-40B4-BE49-F238E27FC236}">
                <a16:creationId xmlns:a16="http://schemas.microsoft.com/office/drawing/2014/main" id="{DC000560-85A7-4C27-BA95-321FFB431079}"/>
              </a:ext>
            </a:extLst>
          </p:cNvPr>
          <p:cNvSpPr>
            <a:spLocks noGrp="1"/>
          </p:cNvSpPr>
          <p:nvPr/>
        </p:nvSpPr>
        <p:spPr>
          <a:xfrm>
            <a:off x="1352550" y="41148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7" name="proof-row-3">
            <a:extLst>
              <a:ext uri="{FF2B5EF4-FFF2-40B4-BE49-F238E27FC236}">
                <a16:creationId xmlns:a16="http://schemas.microsoft.com/office/drawing/2014/main" id="{FA78E2D6-2ABE-4810-939C-0587E268A7B9}"/>
              </a:ext>
            </a:extLst>
          </p:cNvPr>
          <p:cNvSpPr>
            <a:spLocks noGrp="1"/>
          </p:cNvSpPr>
          <p:nvPr/>
        </p:nvSpPr>
        <p:spPr>
          <a:xfrm>
            <a:off x="2095500" y="4095750"/>
            <a:ext cx="11410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Financial time-series processing: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choose sorting method for rolling windows, events, prices, and order-book values</a:t>
            </a:r>
          </a:p>
        </p:txBody>
      </p:sp>
      <p:sp>
        <p:nvSpPr>
          <p:cNvPr id="18" name="proof-row-line-3">
            <a:extLst>
              <a:ext uri="{FF2B5EF4-FFF2-40B4-BE49-F238E27FC236}">
                <a16:creationId xmlns:a16="http://schemas.microsoft.com/office/drawing/2014/main" id="{CD0A4B3E-DAD4-4CD2-97DC-1E7E4E627306}"/>
              </a:ext>
            </a:extLst>
          </p:cNvPr>
          <p:cNvSpPr>
            <a:spLocks noGrp="1"/>
          </p:cNvSpPr>
          <p:nvPr/>
        </p:nvSpPr>
        <p:spPr>
          <a:xfrm>
            <a:off x="2095500" y="4895850"/>
            <a:ext cx="11334750" cy="0"/>
          </a:xfrm>
          <a:prstGeom prst="line">
            <a:avLst/>
          </a:prstGeom>
          <a:noFill/>
          <a:ln w="1238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of-n-4">
            <a:extLst>
              <a:ext uri="{FF2B5EF4-FFF2-40B4-BE49-F238E27FC236}">
                <a16:creationId xmlns:a16="http://schemas.microsoft.com/office/drawing/2014/main" id="{40FE9A2B-1AAC-4571-ACC9-C465E907B0F1}"/>
              </a:ext>
            </a:extLst>
          </p:cNvPr>
          <p:cNvSpPr>
            <a:spLocks noGrp="1"/>
          </p:cNvSpPr>
          <p:nvPr/>
        </p:nvSpPr>
        <p:spPr>
          <a:xfrm>
            <a:off x="1352550" y="50101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0" name="proof-row-4">
            <a:extLst>
              <a:ext uri="{FF2B5EF4-FFF2-40B4-BE49-F238E27FC236}">
                <a16:creationId xmlns:a16="http://schemas.microsoft.com/office/drawing/2014/main" id="{B7FFDE70-E426-45B2-A854-F34B6767D481}"/>
              </a:ext>
            </a:extLst>
          </p:cNvPr>
          <p:cNvSpPr>
            <a:spLocks noGrp="1"/>
          </p:cNvSpPr>
          <p:nvPr/>
        </p:nvSpPr>
        <p:spPr>
          <a:xfrm>
            <a:off x="2095500" y="4991100"/>
            <a:ext cx="11410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Scientific and telemetry processing: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choose sorting method for sensor traces, physics logs, weather data, and F1 telemetry</a:t>
            </a:r>
          </a:p>
        </p:txBody>
      </p:sp>
      <p:sp>
        <p:nvSpPr>
          <p:cNvPr id="21" name="proof-row-line-4">
            <a:extLst>
              <a:ext uri="{FF2B5EF4-FFF2-40B4-BE49-F238E27FC236}">
                <a16:creationId xmlns:a16="http://schemas.microsoft.com/office/drawing/2014/main" id="{33132D9A-D5B3-41A4-A1DB-826E31CF1A0A}"/>
              </a:ext>
            </a:extLst>
          </p:cNvPr>
          <p:cNvSpPr>
            <a:spLocks noGrp="1"/>
          </p:cNvSpPr>
          <p:nvPr/>
        </p:nvSpPr>
        <p:spPr>
          <a:xfrm>
            <a:off x="2095500" y="5791200"/>
            <a:ext cx="11334750" cy="0"/>
          </a:xfrm>
          <a:prstGeom prst="line">
            <a:avLst/>
          </a:prstGeom>
          <a:noFill/>
          <a:ln w="1238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proof-n-5">
            <a:extLst>
              <a:ext uri="{FF2B5EF4-FFF2-40B4-BE49-F238E27FC236}">
                <a16:creationId xmlns:a16="http://schemas.microsoft.com/office/drawing/2014/main" id="{11781322-D18A-4529-BC9B-67C3B5F4649D}"/>
              </a:ext>
            </a:extLst>
          </p:cNvPr>
          <p:cNvSpPr>
            <a:spLocks noGrp="1"/>
          </p:cNvSpPr>
          <p:nvPr/>
        </p:nvSpPr>
        <p:spPr>
          <a:xfrm>
            <a:off x="1352550" y="59055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23" name="proof-row-5">
            <a:extLst>
              <a:ext uri="{FF2B5EF4-FFF2-40B4-BE49-F238E27FC236}">
                <a16:creationId xmlns:a16="http://schemas.microsoft.com/office/drawing/2014/main" id="{71129B28-798D-4810-837B-51F738BD091D}"/>
              </a:ext>
            </a:extLst>
          </p:cNvPr>
          <p:cNvSpPr>
            <a:spLocks noGrp="1"/>
          </p:cNvSpPr>
          <p:nvPr/>
        </p:nvSpPr>
        <p:spPr>
          <a:xfrm>
            <a:off x="2095500" y="5886450"/>
            <a:ext cx="11410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Selector action: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extract features first, predict fastest algorithm, choose Introsort / Heapsort / Timsort</a:t>
            </a:r>
          </a:p>
        </p:txBody>
      </p:sp>
      <p:sp>
        <p:nvSpPr>
          <p:cNvPr id="24" name="proof-row-line-5">
            <a:extLst>
              <a:ext uri="{FF2B5EF4-FFF2-40B4-BE49-F238E27FC236}">
                <a16:creationId xmlns:a16="http://schemas.microsoft.com/office/drawing/2014/main" id="{150ED5C0-86BA-40F9-B6BC-614889153FB4}"/>
              </a:ext>
            </a:extLst>
          </p:cNvPr>
          <p:cNvSpPr>
            <a:spLocks noGrp="1"/>
          </p:cNvSpPr>
          <p:nvPr/>
        </p:nvSpPr>
        <p:spPr>
          <a:xfrm>
            <a:off x="2095500" y="6686550"/>
            <a:ext cx="11334750" cy="0"/>
          </a:xfrm>
          <a:prstGeom prst="line">
            <a:avLst/>
          </a:prstGeom>
          <a:noFill/>
          <a:ln w="1238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74650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op-maroon">
            <a:extLst>
              <a:ext uri="{FF2B5EF4-FFF2-40B4-BE49-F238E27FC236}">
                <a16:creationId xmlns:a16="http://schemas.microsoft.com/office/drawing/2014/main" id="{BEB04448-9585-453A-B007-709B652D4F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D6CAF0F9-0CDF-4569-B0C7-87431D3CEBCB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DBDB18F4-531C-4C65-8331-4E6410236493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8451130-2EE9-4517-8F70-F702BAAED8FE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Contributions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5D6C8D38-DC62-4F80-927D-97732307A456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D16DCA55-DA59-40E0-A43B-0DA1D858D8ED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32/34</a:t>
            </a:r>
          </a:p>
        </p:txBody>
      </p:sp>
      <p:sp>
        <p:nvSpPr>
          <p:cNvPr id="7" name="list-n-0">
            <a:extLst>
              <a:ext uri="{FF2B5EF4-FFF2-40B4-BE49-F238E27FC236}">
                <a16:creationId xmlns:a16="http://schemas.microsoft.com/office/drawing/2014/main" id="{B8068143-B7E4-4609-AD94-A3DEBCC30189}"/>
              </a:ext>
            </a:extLst>
          </p:cNvPr>
          <p:cNvSpPr>
            <a:spLocks noGrp="1"/>
          </p:cNvSpPr>
          <p:nvPr/>
        </p:nvSpPr>
        <p:spPr>
          <a:xfrm>
            <a:off x="1381125" y="209550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8" name="list-row-0">
            <a:extLst>
              <a:ext uri="{FF2B5EF4-FFF2-40B4-BE49-F238E27FC236}">
                <a16:creationId xmlns:a16="http://schemas.microsoft.com/office/drawing/2014/main" id="{BF83C8FB-C8B4-4572-A7AA-D3855649F10C}"/>
              </a:ext>
            </a:extLst>
          </p:cNvPr>
          <p:cNvSpPr>
            <a:spLocks noGrp="1"/>
          </p:cNvSpPr>
          <p:nvPr/>
        </p:nvSpPr>
        <p:spPr>
          <a:xfrm>
            <a:off x="1971675" y="2066925"/>
            <a:ext cx="11220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Deployable selector: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compact pipeline combines sixteen O(n) structural features with a gradient-boosted classifier</a:t>
            </a:r>
          </a:p>
        </p:txBody>
      </p:sp>
      <p:sp>
        <p:nvSpPr>
          <p:cNvPr id="9" name="list-line-0">
            <a:extLst>
              <a:ext uri="{FF2B5EF4-FFF2-40B4-BE49-F238E27FC236}">
                <a16:creationId xmlns:a16="http://schemas.microsoft.com/office/drawing/2014/main" id="{C370036A-779C-4EFD-B010-DE8ECF7991A8}"/>
              </a:ext>
            </a:extLst>
          </p:cNvPr>
          <p:cNvSpPr>
            <a:spLocks noGrp="1"/>
          </p:cNvSpPr>
          <p:nvPr/>
        </p:nvSpPr>
        <p:spPr>
          <a:xfrm>
            <a:off x="1971675" y="2686050"/>
            <a:ext cx="1122045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list-n-1">
            <a:extLst>
              <a:ext uri="{FF2B5EF4-FFF2-40B4-BE49-F238E27FC236}">
                <a16:creationId xmlns:a16="http://schemas.microsoft.com/office/drawing/2014/main" id="{02B7A7BB-AAE6-49B2-A26F-E976866D55A3}"/>
              </a:ext>
            </a:extLst>
          </p:cNvPr>
          <p:cNvSpPr>
            <a:spLocks noGrp="1"/>
          </p:cNvSpPr>
          <p:nvPr/>
        </p:nvSpPr>
        <p:spPr>
          <a:xfrm>
            <a:off x="1381125" y="335280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1" name="list-row-1">
            <a:extLst>
              <a:ext uri="{FF2B5EF4-FFF2-40B4-BE49-F238E27FC236}">
                <a16:creationId xmlns:a16="http://schemas.microsoft.com/office/drawing/2014/main" id="{29DD7E43-C75A-409A-8310-34771DBF1DA9}"/>
              </a:ext>
            </a:extLst>
          </p:cNvPr>
          <p:cNvSpPr>
            <a:spLocks noGrp="1"/>
          </p:cNvSpPr>
          <p:nvPr/>
        </p:nvSpPr>
        <p:spPr>
          <a:xfrm>
            <a:off x="1971675" y="3324225"/>
            <a:ext cx="11220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Evaluation discipline: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source-level separation, near-tie filtering, LODO testing, and regret metrics give a stronger view than accuracy alone</a:t>
            </a:r>
          </a:p>
        </p:txBody>
      </p:sp>
      <p:sp>
        <p:nvSpPr>
          <p:cNvPr id="12" name="list-line-1">
            <a:extLst>
              <a:ext uri="{FF2B5EF4-FFF2-40B4-BE49-F238E27FC236}">
                <a16:creationId xmlns:a16="http://schemas.microsoft.com/office/drawing/2014/main" id="{ED880AFF-39F0-44F0-8918-29F747910669}"/>
              </a:ext>
            </a:extLst>
          </p:cNvPr>
          <p:cNvSpPr>
            <a:spLocks noGrp="1"/>
          </p:cNvSpPr>
          <p:nvPr/>
        </p:nvSpPr>
        <p:spPr>
          <a:xfrm>
            <a:off x="1971675" y="3943350"/>
            <a:ext cx="1122045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list-n-2">
            <a:extLst>
              <a:ext uri="{FF2B5EF4-FFF2-40B4-BE49-F238E27FC236}">
                <a16:creationId xmlns:a16="http://schemas.microsoft.com/office/drawing/2014/main" id="{FA443C9E-07AC-48E1-916D-F1A072385558}"/>
              </a:ext>
            </a:extLst>
          </p:cNvPr>
          <p:cNvSpPr>
            <a:spLocks noGrp="1"/>
          </p:cNvSpPr>
          <p:nvPr/>
        </p:nvSpPr>
        <p:spPr>
          <a:xfrm>
            <a:off x="1381125" y="461010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4" name="list-row-2">
            <a:extLst>
              <a:ext uri="{FF2B5EF4-FFF2-40B4-BE49-F238E27FC236}">
                <a16:creationId xmlns:a16="http://schemas.microsoft.com/office/drawing/2014/main" id="{EB78113F-DE7F-4A55-8738-ED027F972E59}"/>
              </a:ext>
            </a:extLst>
          </p:cNvPr>
          <p:cNvSpPr>
            <a:spLocks noGrp="1"/>
          </p:cNvSpPr>
          <p:nvPr/>
        </p:nvSpPr>
        <p:spPr>
          <a:xfrm>
            <a:off x="1971675" y="4581525"/>
            <a:ext cx="11220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Reproducible artifact: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one source-of-truth feature extractor, data pipeline, and exported XGBoost JSON / ONNX models support replication</a:t>
            </a:r>
          </a:p>
        </p:txBody>
      </p:sp>
      <p:sp>
        <p:nvSpPr>
          <p:cNvPr id="15" name="list-line-2">
            <a:extLst>
              <a:ext uri="{FF2B5EF4-FFF2-40B4-BE49-F238E27FC236}">
                <a16:creationId xmlns:a16="http://schemas.microsoft.com/office/drawing/2014/main" id="{69B423AB-78C1-4C03-A526-B8A3F86C5B07}"/>
              </a:ext>
            </a:extLst>
          </p:cNvPr>
          <p:cNvSpPr>
            <a:spLocks noGrp="1"/>
          </p:cNvSpPr>
          <p:nvPr/>
        </p:nvSpPr>
        <p:spPr>
          <a:xfrm>
            <a:off x="1971675" y="5200650"/>
            <a:ext cx="1122045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04959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op-maroon">
            <a:extLst>
              <a:ext uri="{FF2B5EF4-FFF2-40B4-BE49-F238E27FC236}">
                <a16:creationId xmlns:a16="http://schemas.microsoft.com/office/drawing/2014/main" id="{8A6B0DFD-2630-45E5-B0DD-1CB65B8A11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76047AA0-1937-4CEC-91DE-3A5E85F0B3EC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D8498AB8-292B-4D8C-806E-3F963BA77718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EC875134-7E05-40CF-9F8E-5B430B20DABF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257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Limitations and Future Work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636C03DB-77D2-485F-B641-ED643910B5EB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12573000" cy="0"/>
          </a:xfrm>
          <a:prstGeom prst="line">
            <a:avLst/>
          </a:prstGeom>
          <a:noFill/>
          <a:ln w="1714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BD6075F3-E6DE-4657-84A7-B6068ECA32FC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33/34</a:t>
            </a:r>
          </a:p>
        </p:txBody>
      </p:sp>
      <p:sp>
        <p:nvSpPr>
          <p:cNvPr id="7" name="list-n-0">
            <a:extLst>
              <a:ext uri="{FF2B5EF4-FFF2-40B4-BE49-F238E27FC236}">
                <a16:creationId xmlns:a16="http://schemas.microsoft.com/office/drawing/2014/main" id="{20BE1489-A035-4CFB-9A99-B5BD436FEA72}"/>
              </a:ext>
            </a:extLst>
          </p:cNvPr>
          <p:cNvSpPr>
            <a:spLocks noGrp="1"/>
          </p:cNvSpPr>
          <p:nvPr/>
        </p:nvSpPr>
        <p:spPr>
          <a:xfrm>
            <a:off x="1381125" y="15049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8" name="list-row-0">
            <a:extLst>
              <a:ext uri="{FF2B5EF4-FFF2-40B4-BE49-F238E27FC236}">
                <a16:creationId xmlns:a16="http://schemas.microsoft.com/office/drawing/2014/main" id="{F98EB1F6-A5A6-4A75-8AE7-9DE0C006BBE0}"/>
              </a:ext>
            </a:extLst>
          </p:cNvPr>
          <p:cNvSpPr>
            <a:spLocks noGrp="1"/>
          </p:cNvSpPr>
          <p:nvPr/>
        </p:nvSpPr>
        <p:spPr>
          <a:xfrm>
            <a:off x="1971675" y="1476375"/>
            <a:ext cx="11220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Portfolio: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limited to three C-level comparison sorts</a:t>
            </a:r>
          </a:p>
        </p:txBody>
      </p:sp>
      <p:sp>
        <p:nvSpPr>
          <p:cNvPr id="9" name="list-line-0">
            <a:extLst>
              <a:ext uri="{FF2B5EF4-FFF2-40B4-BE49-F238E27FC236}">
                <a16:creationId xmlns:a16="http://schemas.microsoft.com/office/drawing/2014/main" id="{DDDD1891-4932-4999-92F8-29472E882B1B}"/>
              </a:ext>
            </a:extLst>
          </p:cNvPr>
          <p:cNvSpPr>
            <a:spLocks noGrp="1"/>
          </p:cNvSpPr>
          <p:nvPr/>
        </p:nvSpPr>
        <p:spPr>
          <a:xfrm>
            <a:off x="1971675" y="2095500"/>
            <a:ext cx="1122045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list-n-1">
            <a:extLst>
              <a:ext uri="{FF2B5EF4-FFF2-40B4-BE49-F238E27FC236}">
                <a16:creationId xmlns:a16="http://schemas.microsoft.com/office/drawing/2014/main" id="{DE54A158-7E44-4CC5-B849-EDD2FC619456}"/>
              </a:ext>
            </a:extLst>
          </p:cNvPr>
          <p:cNvSpPr>
            <a:spLocks noGrp="1"/>
          </p:cNvSpPr>
          <p:nvPr/>
        </p:nvSpPr>
        <p:spPr>
          <a:xfrm>
            <a:off x="1381125" y="23050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1" name="list-row-1">
            <a:extLst>
              <a:ext uri="{FF2B5EF4-FFF2-40B4-BE49-F238E27FC236}">
                <a16:creationId xmlns:a16="http://schemas.microsoft.com/office/drawing/2014/main" id="{15A4758C-63EE-4287-9135-5A0DB0EA639A}"/>
              </a:ext>
            </a:extLst>
          </p:cNvPr>
          <p:cNvSpPr>
            <a:spLocks noGrp="1"/>
          </p:cNvSpPr>
          <p:nvPr/>
        </p:nvSpPr>
        <p:spPr>
          <a:xfrm>
            <a:off x="1971675" y="2276475"/>
            <a:ext cx="11220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Environment: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absolute regret is tied to one hardware/software environment</a:t>
            </a:r>
          </a:p>
        </p:txBody>
      </p:sp>
      <p:sp>
        <p:nvSpPr>
          <p:cNvPr id="12" name="list-line-1">
            <a:extLst>
              <a:ext uri="{FF2B5EF4-FFF2-40B4-BE49-F238E27FC236}">
                <a16:creationId xmlns:a16="http://schemas.microsoft.com/office/drawing/2014/main" id="{64285734-76AD-4CAB-BF82-C7A42D92333B}"/>
              </a:ext>
            </a:extLst>
          </p:cNvPr>
          <p:cNvSpPr>
            <a:spLocks noGrp="1"/>
          </p:cNvSpPr>
          <p:nvPr/>
        </p:nvSpPr>
        <p:spPr>
          <a:xfrm>
            <a:off x="1971675" y="2895600"/>
            <a:ext cx="1122045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list-n-2">
            <a:extLst>
              <a:ext uri="{FF2B5EF4-FFF2-40B4-BE49-F238E27FC236}">
                <a16:creationId xmlns:a16="http://schemas.microsoft.com/office/drawing/2014/main" id="{64DDEEF6-D905-42A5-A089-2E991D483201}"/>
              </a:ext>
            </a:extLst>
          </p:cNvPr>
          <p:cNvSpPr>
            <a:spLocks noGrp="1"/>
          </p:cNvSpPr>
          <p:nvPr/>
        </p:nvSpPr>
        <p:spPr>
          <a:xfrm>
            <a:off x="1381125" y="31051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4" name="list-row-2">
            <a:extLst>
              <a:ext uri="{FF2B5EF4-FFF2-40B4-BE49-F238E27FC236}">
                <a16:creationId xmlns:a16="http://schemas.microsoft.com/office/drawing/2014/main" id="{37FA32FE-4F99-436A-9A64-CDE919FED6E9}"/>
              </a:ext>
            </a:extLst>
          </p:cNvPr>
          <p:cNvSpPr>
            <a:spLocks noGrp="1"/>
          </p:cNvSpPr>
          <p:nvPr/>
        </p:nvSpPr>
        <p:spPr>
          <a:xfrm>
            <a:off x="1971675" y="3076575"/>
            <a:ext cx="11220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Source-aware split: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stricter validation lowers performance, so deployment needs domain testing</a:t>
            </a:r>
          </a:p>
        </p:txBody>
      </p:sp>
      <p:sp>
        <p:nvSpPr>
          <p:cNvPr id="15" name="list-line-2">
            <a:extLst>
              <a:ext uri="{FF2B5EF4-FFF2-40B4-BE49-F238E27FC236}">
                <a16:creationId xmlns:a16="http://schemas.microsoft.com/office/drawing/2014/main" id="{4FFA0E0A-4E17-44C0-9A25-E16BBE0C1B44}"/>
              </a:ext>
            </a:extLst>
          </p:cNvPr>
          <p:cNvSpPr>
            <a:spLocks noGrp="1"/>
          </p:cNvSpPr>
          <p:nvPr/>
        </p:nvSpPr>
        <p:spPr>
          <a:xfrm>
            <a:off x="1971675" y="3695700"/>
            <a:ext cx="1122045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list-n-3">
            <a:extLst>
              <a:ext uri="{FF2B5EF4-FFF2-40B4-BE49-F238E27FC236}">
                <a16:creationId xmlns:a16="http://schemas.microsoft.com/office/drawing/2014/main" id="{D2F6BAAC-139D-4EC6-B87F-43AE95CFCD33}"/>
              </a:ext>
            </a:extLst>
          </p:cNvPr>
          <p:cNvSpPr>
            <a:spLocks noGrp="1"/>
          </p:cNvSpPr>
          <p:nvPr/>
        </p:nvSpPr>
        <p:spPr>
          <a:xfrm>
            <a:off x="1381125" y="3905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7" name="list-row-3">
            <a:extLst>
              <a:ext uri="{FF2B5EF4-FFF2-40B4-BE49-F238E27FC236}">
                <a16:creationId xmlns:a16="http://schemas.microsoft.com/office/drawing/2014/main" id="{50BB6530-C644-42E4-8945-9589A6DDABA6}"/>
              </a:ext>
            </a:extLst>
          </p:cNvPr>
          <p:cNvSpPr>
            <a:spLocks noGrp="1"/>
          </p:cNvSpPr>
          <p:nvPr/>
        </p:nvSpPr>
        <p:spPr>
          <a:xfrm>
            <a:off x="1971675" y="3876675"/>
            <a:ext cx="11220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Extraction cost: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feature extraction becomes unprofitable below about 1,000 elements</a:t>
            </a:r>
          </a:p>
        </p:txBody>
      </p:sp>
      <p:sp>
        <p:nvSpPr>
          <p:cNvPr id="18" name="list-line-3">
            <a:extLst>
              <a:ext uri="{FF2B5EF4-FFF2-40B4-BE49-F238E27FC236}">
                <a16:creationId xmlns:a16="http://schemas.microsoft.com/office/drawing/2014/main" id="{4B30558B-E64E-425A-B259-856AF65C4EE5}"/>
              </a:ext>
            </a:extLst>
          </p:cNvPr>
          <p:cNvSpPr>
            <a:spLocks noGrp="1"/>
          </p:cNvSpPr>
          <p:nvPr/>
        </p:nvSpPr>
        <p:spPr>
          <a:xfrm>
            <a:off x="1971675" y="4495800"/>
            <a:ext cx="1122045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list-n-4">
            <a:extLst>
              <a:ext uri="{FF2B5EF4-FFF2-40B4-BE49-F238E27FC236}">
                <a16:creationId xmlns:a16="http://schemas.microsoft.com/office/drawing/2014/main" id="{B9609ED8-00E5-4741-8946-787974F181F4}"/>
              </a:ext>
            </a:extLst>
          </p:cNvPr>
          <p:cNvSpPr>
            <a:spLocks noGrp="1"/>
          </p:cNvSpPr>
          <p:nvPr/>
        </p:nvSpPr>
        <p:spPr>
          <a:xfrm>
            <a:off x="1381125" y="47053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0" name="list-row-4">
            <a:extLst>
              <a:ext uri="{FF2B5EF4-FFF2-40B4-BE49-F238E27FC236}">
                <a16:creationId xmlns:a16="http://schemas.microsoft.com/office/drawing/2014/main" id="{9462BAB0-0351-4BAA-AEE1-7D29B333728F}"/>
              </a:ext>
            </a:extLst>
          </p:cNvPr>
          <p:cNvSpPr>
            <a:spLocks noGrp="1"/>
          </p:cNvSpPr>
          <p:nvPr/>
        </p:nvSpPr>
        <p:spPr>
          <a:xfrm>
            <a:off x="1971675" y="4676775"/>
            <a:ext cx="11220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Larger portfolios: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Powersort, radix/bucket/quads, SIMD/GPU sorts</a:t>
            </a:r>
          </a:p>
        </p:txBody>
      </p:sp>
      <p:sp>
        <p:nvSpPr>
          <p:cNvPr id="21" name="list-line-4">
            <a:extLst>
              <a:ext uri="{FF2B5EF4-FFF2-40B4-BE49-F238E27FC236}">
                <a16:creationId xmlns:a16="http://schemas.microsoft.com/office/drawing/2014/main" id="{FCF2FAF4-9F5A-42C2-8D3C-E2E96031E6F7}"/>
              </a:ext>
            </a:extLst>
          </p:cNvPr>
          <p:cNvSpPr>
            <a:spLocks noGrp="1"/>
          </p:cNvSpPr>
          <p:nvPr/>
        </p:nvSpPr>
        <p:spPr>
          <a:xfrm>
            <a:off x="1971675" y="5295900"/>
            <a:ext cx="1122045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list-n-5">
            <a:extLst>
              <a:ext uri="{FF2B5EF4-FFF2-40B4-BE49-F238E27FC236}">
                <a16:creationId xmlns:a16="http://schemas.microsoft.com/office/drawing/2014/main" id="{B37871E4-A5BA-4136-85CF-1C44D7B4E24A}"/>
              </a:ext>
            </a:extLst>
          </p:cNvPr>
          <p:cNvSpPr>
            <a:spLocks noGrp="1"/>
          </p:cNvSpPr>
          <p:nvPr/>
        </p:nvSpPr>
        <p:spPr>
          <a:xfrm>
            <a:off x="1381125" y="55054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23" name="list-row-5">
            <a:extLst>
              <a:ext uri="{FF2B5EF4-FFF2-40B4-BE49-F238E27FC236}">
                <a16:creationId xmlns:a16="http://schemas.microsoft.com/office/drawing/2014/main" id="{47599F19-0B42-42A9-85AC-5E5495F08B36}"/>
              </a:ext>
            </a:extLst>
          </p:cNvPr>
          <p:cNvSpPr>
            <a:spLocks noGrp="1"/>
          </p:cNvSpPr>
          <p:nvPr/>
        </p:nvSpPr>
        <p:spPr>
          <a:xfrm>
            <a:off x="1971675" y="5476875"/>
            <a:ext cx="11220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Deployment: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cross-platform validation with feature-extraction overhead</a:t>
            </a:r>
          </a:p>
        </p:txBody>
      </p:sp>
      <p:sp>
        <p:nvSpPr>
          <p:cNvPr id="24" name="list-line-5">
            <a:extLst>
              <a:ext uri="{FF2B5EF4-FFF2-40B4-BE49-F238E27FC236}">
                <a16:creationId xmlns:a16="http://schemas.microsoft.com/office/drawing/2014/main" id="{7122DEE5-6DFD-463B-9BE0-6E4F11DC8349}"/>
              </a:ext>
            </a:extLst>
          </p:cNvPr>
          <p:cNvSpPr>
            <a:spLocks noGrp="1"/>
          </p:cNvSpPr>
          <p:nvPr/>
        </p:nvSpPr>
        <p:spPr>
          <a:xfrm>
            <a:off x="1971675" y="6096000"/>
            <a:ext cx="1122045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39170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op-maroon">
            <a:extLst>
              <a:ext uri="{FF2B5EF4-FFF2-40B4-BE49-F238E27FC236}">
                <a16:creationId xmlns:a16="http://schemas.microsoft.com/office/drawing/2014/main" id="{1F4FDB40-9BD8-4673-8DDF-124CC8A72B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524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op-orange">
            <a:extLst>
              <a:ext uri="{FF2B5EF4-FFF2-40B4-BE49-F238E27FC236}">
                <a16:creationId xmlns:a16="http://schemas.microsoft.com/office/drawing/2014/main" id="{EABD8ABE-3FA5-48E0-8C5E-5C0C5049CB2F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4630400" cy="95250"/>
          </a:xfrm>
          <a:prstGeom prst="rect">
            <a:avLst/>
          </a:prstGeom>
          <a:solidFill>
            <a:srgbClr val="F4511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bottom-maroon">
            <a:extLst>
              <a:ext uri="{FF2B5EF4-FFF2-40B4-BE49-F238E27FC236}">
                <a16:creationId xmlns:a16="http://schemas.microsoft.com/office/drawing/2014/main" id="{AB25825F-F371-4C31-A568-55F1A3C87416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D51BAD72-8283-4ABE-85C3-11E566EA769F}"/>
              </a:ext>
            </a:extLst>
          </p:cNvPr>
          <p:cNvSpPr>
            <a:spLocks noGrp="1"/>
          </p:cNvSpPr>
          <p:nvPr/>
        </p:nvSpPr>
        <p:spPr>
          <a:xfrm>
            <a:off x="13582650" y="80105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5720" tIns="18288" rIns="45720" bIns="18288" anchor="t"/>
          <a:lstStyle/>
          <a:p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34/34</a:t>
            </a:r>
          </a:p>
        </p:txBody>
      </p:sp>
      <p:sp>
        <p:nvSpPr>
          <p:cNvPr id="5" name="thanks">
            <a:extLst>
              <a:ext uri="{FF2B5EF4-FFF2-40B4-BE49-F238E27FC236}">
                <a16:creationId xmlns:a16="http://schemas.microsoft.com/office/drawing/2014/main" id="{25799E7F-747E-4C22-9B32-EC0CC282F943}"/>
              </a:ext>
            </a:extLst>
          </p:cNvPr>
          <p:cNvSpPr>
            <a:spLocks noGrp="1"/>
          </p:cNvSpPr>
          <p:nvPr/>
        </p:nvSpPr>
        <p:spPr>
          <a:xfrm>
            <a:off x="4095750" y="3333750"/>
            <a:ext cx="6477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6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266233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1909</Words>
  <Application>Microsoft Macintosh PowerPoint</Application>
  <DocSecurity>0</DocSecurity>
  <PresentationFormat>Custom</PresentationFormat>
  <Paragraphs>581</Paragraphs>
  <Slides>34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Calibri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Salah Abdalhi</cp:lastModifiedBy>
  <cp:revision>1</cp:revision>
  <dcterms:created xsi:type="dcterms:W3CDTF">2026-07-06T09:23:20Z</dcterms:created>
  <dcterms:modified xsi:type="dcterms:W3CDTF">2026-07-06T17:01:11Z</dcterms:modified>
</cp:coreProperties>
</file>