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84" r:id="rId3"/>
    <p:sldId id="257" r:id="rId4"/>
    <p:sldId id="288" r:id="rId5"/>
    <p:sldId id="285" r:id="rId6"/>
    <p:sldId id="287" r:id="rId7"/>
    <p:sldId id="290" r:id="rId8"/>
    <p:sldId id="289" r:id="rId9"/>
    <p:sldId id="291" r:id="rId10"/>
    <p:sldId id="292" r:id="rId11"/>
    <p:sldId id="293" r:id="rId12"/>
    <p:sldId id="295" r:id="rId13"/>
    <p:sldId id="268" r:id="rId14"/>
    <p:sldId id="270" r:id="rId15"/>
    <p:sldId id="297" r:id="rId16"/>
    <p:sldId id="298" r:id="rId17"/>
    <p:sldId id="294" r:id="rId18"/>
    <p:sldId id="274" r:id="rId19"/>
    <p:sldId id="299" r:id="rId20"/>
    <p:sldId id="277" r:id="rId21"/>
    <p:sldId id="300" r:id="rId22"/>
    <p:sldId id="279" r:id="rId23"/>
    <p:sldId id="280" r:id="rId24"/>
    <p:sldId id="281" r:id="rId25"/>
    <p:sldId id="286" r:id="rId26"/>
    <p:sldId id="282" r:id="rId27"/>
    <p:sldId id="283" r:id="rId28"/>
  </p:sldIdLst>
  <p:sldSz cx="14630400" cy="82296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9"/>
  </p:normalViewPr>
  <p:slideViewPr>
    <p:cSldViewPr snapToGrid="0">
      <p:cViewPr varScale="1">
        <p:scale>
          <a:sx n="115" d="100"/>
          <a:sy n="115" d="100"/>
        </p:scale>
        <p:origin x="208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776FF-1F34-BD85-467C-D1764965E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5CD7A-1DE7-A943-5DC4-40D96FA26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94C64-7BC2-9162-992F-ECD9FAE52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F20EA-FFA3-3A05-C818-8FEFCBBC5B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51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71E87-98DA-6AFE-BF5C-7C4895DA4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24293-DF7F-E85F-5C88-9722585E9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A2C95-4B3B-1BC9-6999-82CF544DE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D0695-000E-3DB9-683D-7549FAA7A2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05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174C4-84A0-41BE-B428-6CFA9FCA6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533D0-8902-C550-E61F-16CABB1EA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49706-0027-C6A5-0CA2-C562A3A17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B520E-87DC-B7A0-45FB-5DC007EA4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71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B462F-8649-1366-A148-8E2D2C573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C0F14-3713-E6B4-464D-4E93138EE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D9B52-3EA0-9D95-0F2D-EC4F7B5C5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28E48-3EA7-E23B-522C-58D98C02A6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44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588F6-C821-47BC-B6ED-22D05C191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F010E-7BFE-17A1-9570-B2EE72AC8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EA6C5-58CB-CFA4-CED8-8A9A723B0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C1C21-144C-98AD-FE24-5C00CD5C5A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731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CA7D8-CB95-D5CC-22CF-A407A0F19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C7AA2-8605-E4BE-FF92-4B72A18A5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9F8E7-CC8D-9832-68CD-74A9F6057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AAD94-B74C-E58D-D982-8F2871EA54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95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2E5A1-03FA-AA94-4112-54142EBC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9D7CE-ACAE-3AAD-3B2A-2A798505A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49FF1-9BFC-96DA-CC93-FB3C2D680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765B6-2857-B528-BFCA-02A41CE70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87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E121A-6109-6600-067E-891C8B6BF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A9555-8249-82EB-B397-FFA905202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DF8E4-7479-8EAF-54F5-4693A5B21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C34CF-66C9-4AC6-8305-2E888753A1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401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4C02-08D5-E6EE-ECEB-8E07D15D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C137B-6847-B7F6-E53E-D8E481DC9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49FD0-551E-DC23-BAAF-13EDFD9AA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51A8C-6A16-08B6-EB86-7C6DC5316D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321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75308-E356-2416-BDBB-3E9459CB6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9AE8D6-D8FC-A547-33BB-5BE227CE4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FCFE1-E801-143E-A282-FC6755D24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44115-53FE-CE0A-3717-E49A4E9C4C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965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39922-0A6A-F0D9-813F-3E338DAB3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8A6D5-2140-5053-AFAC-C0FBFA93A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C9138-6011-7B41-78A8-FA041137D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01B72-0029-FBDE-36EF-25ECFCE381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0748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9A18-9F66-48D6-9B87-2D2D97257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E587E-92FD-4FE4-9854-8F1C81B79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D6645-19B6-428D-8B8C-1095E70E84F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6.07.2026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2FE90-50FF-4183-9424-BBBC84C246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81506-F206-4C17-A265-5F060F6D35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8820F-85D7-4225-9008-61BC4409D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5BF04-694C-4B96-8A04-E29F88209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E9898-C8F0-408F-B733-F9E3B8346DC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6.07.2026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90858-DE72-466E-B36C-9EA73809B05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99681-BCD2-4B13-91D2-C265E6BAB5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392CC-0E76-4C38-AC79-991F57511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7E43B-BD6E-426A-9AC5-0A7F8FD90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2963B-9D66-422C-B021-52C356FA4A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6.07.2026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61187-441C-4C9B-80EA-D51976DA82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F56DE-093B-482C-8C1F-6C4DE542FC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11E66-79BD-4EC9-AD96-FC5B46C20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18AD8-A2C2-4078-AF7C-265286EC0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02CB6-77A7-41EA-8EAB-73DE6CCB440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E8AE9-0D13-416F-A436-3BC81F0625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6.07.2026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EF97F-6FA4-411F-82A5-22C8351383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86FA7-3EE7-4076-B25E-2455B6276D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95F91-6E2B-4E51-9C3E-467C40F70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78334-754F-4CCC-9B1B-B78D49636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4F931-D920-49E4-9B48-DF5204B5CC6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C14C8D-207E-4537-8E90-D81D69C20D7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FB3B36-6D1B-4C90-B0CC-A696EDD9A1C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8B73D7-AE97-4C14-8C3F-CA34C17C31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6.07.2026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1A1B83-8062-4D42-95FC-28864EC0D0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26C361-5789-45B3-BF66-2F0AED1470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87569-D63B-4C9D-9378-6633EA99D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36AB16-C3B3-45B6-AE1C-2735A093D2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6.07.2026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6E481-9EAC-49D1-B401-24AA47744F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5C195-505E-48B2-83B6-42855A9F61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FD44E8-DF40-40AE-8A41-9C03B201387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6.07.2026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4334B2-0049-4DA2-9CA8-6D4285536E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8F424-8100-47F7-B97A-772E50F137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DA6BB-11B7-4AE1-9758-F669936E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F2C73-0A96-4AD8-A9A7-8D003FE92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8BD5D-E61F-45ED-9E3A-AE6EE26242F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EC349-9674-43EF-9308-A9B478D7461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6.07.2026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55EBA-596B-4C5A-8F38-47B201C63F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7D49C-1A84-4339-B525-ED497F80F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E719-D96A-42A3-A05D-69F55B215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322D22-5D9B-4EB9-BEC2-9854247AE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F20AF-DBC7-432E-909F-EDA638888A4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F8E3F-C1CC-4F3A-9CA1-86B5CF08E6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6.07.2026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ED851-6546-4F74-A1B4-F807FC3734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38651-07D8-4C43-B877-37A0D2B269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AEF5F-C891-4452-ADBB-189B4EB5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D0837-F816-425D-BB95-0B0012184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4AED8-C9A9-4C35-909A-3627B3BD86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6.07.2026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3753F-FF90-418A-A34E-B2C34498B9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29488-F7E2-48C5-940F-5653EE7D42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725600-9982-4EA3-8AD9-68A047C0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6535D-2B9F-4ACD-89D8-73CDF2090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C5C09-B187-4377-8107-29F37A2E942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6.07.2026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56F01-FAC6-4AD3-9ECE-5B60932883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FFADF-0F85-4CE4-8869-F2B6333319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334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539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9D5904-F670-4607-B0F8-4C1A4EE74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4FC06-7E77-4BF1-B942-C9178F39B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34417-4690-4E90-9F04-7A18C10A4F8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6.07.2026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05E88-A660-43BC-A6C7-06E8F30CB16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230EB-140C-4359-9AE8-0020073A6B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footer-number-cover">
            <a:extLst>
              <a:ext uri="{FF2B5EF4-FFF2-40B4-BE49-F238E27FC236}">
                <a16:creationId xmlns:a16="http://schemas.microsoft.com/office/drawing/2014/main" id="{31425778-8100-4BF8-8A21-2C37315AB521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</p:sp>
      <p:sp>
        <p:nvSpPr>
          <p:cNvPr id="3" name="footer-number-native">
            <a:extLst>
              <a:ext uri="{FF2B5EF4-FFF2-40B4-BE49-F238E27FC236}">
                <a16:creationId xmlns:a16="http://schemas.microsoft.com/office/drawing/2014/main" id="{DC7AD9FC-C101-4FEA-9212-ADC48A0CBC69}"/>
              </a:ext>
            </a:extLst>
          </p:cNvPr>
          <p:cNvSpPr>
            <a:spLocks noGrp="1"/>
          </p:cNvSpPr>
          <p:nvPr/>
        </p:nvSpPr>
        <p:spPr>
          <a:xfrm>
            <a:off x="13811250" y="8039100"/>
            <a:ext cx="552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36667" lnSpcReduction="10000"/>
          </a:bodyPr>
          <a:lstStyle/>
          <a:p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1/28</a:t>
            </a:r>
          </a:p>
        </p:txBody>
      </p:sp>
    </p:spTree>
    <p:extLst>
      <p:ext uri="{BB962C8B-B14F-4D97-AF65-F5344CB8AC3E}">
        <p14:creationId xmlns:p14="http://schemas.microsoft.com/office/powerpoint/2010/main" val="19672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52704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2704"/>
            <a:ext cx="14630400" cy="95097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62503" y="498140"/>
            <a:ext cx="8782212" cy="683264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4200" b="1" dirty="0">
                <a:solidFill>
                  <a:srgbClr val="1C1C1C"/>
                </a:solidFill>
                <a:latin typeface="Times New Roman"/>
              </a:rPr>
              <a:t>Why sorting selection matters at scale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" y="118140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578840" y="8010144"/>
            <a:ext cx="822960" cy="21031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Times New Roman"/>
              </a:rPr>
              <a:t>2/34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2B8A0227-73B1-E1A5-A33C-B4E80FFAC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706" y="1265734"/>
            <a:ext cx="11973806" cy="67352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fix-cover">
            <a:extLst>
              <a:ext uri="{FF2B5EF4-FFF2-40B4-BE49-F238E27FC236}">
                <a16:creationId xmlns:a16="http://schemas.microsoft.com/office/drawing/2014/main" id="{7922DF61-AA47-46A2-B9CF-955F12757301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" name="native-title-unified">
            <a:extLst>
              <a:ext uri="{FF2B5EF4-FFF2-40B4-BE49-F238E27FC236}">
                <a16:creationId xmlns:a16="http://schemas.microsoft.com/office/drawing/2014/main" id="{051B322A-11AB-4A20-83FF-125DFF1416EC}"/>
              </a:ext>
            </a:extLst>
          </p:cNvPr>
          <p:cNvSpPr>
            <a:spLocks noGrp="1"/>
          </p:cNvSpPr>
          <p:nvPr/>
        </p:nvSpPr>
        <p:spPr>
          <a:xfrm>
            <a:off x="628650" y="552450"/>
            <a:ext cx="1304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2550" b="0">
                <a:solidFill>
                  <a:srgbClr val="171717"/>
                </a:solidFill>
              </a:defRPr>
            </a:pP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</a:t>
            </a:r>
          </a:p>
        </p:txBody>
      </p:sp>
      <p:sp>
        <p:nvSpPr>
          <p:cNvPr id="5" name="footer-number-cover">
            <a:extLst>
              <a:ext uri="{FF2B5EF4-FFF2-40B4-BE49-F238E27FC236}">
                <a16:creationId xmlns:a16="http://schemas.microsoft.com/office/drawing/2014/main" id="{C0425F8E-A870-4148-8C75-6B8C4AAC3FF5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</p:sp>
      <p:sp>
        <p:nvSpPr>
          <p:cNvPr id="6" name="footer-number-native">
            <a:extLst>
              <a:ext uri="{FF2B5EF4-FFF2-40B4-BE49-F238E27FC236}">
                <a16:creationId xmlns:a16="http://schemas.microsoft.com/office/drawing/2014/main" id="{FF7C254B-5A48-4348-B39E-628721B6110C}"/>
              </a:ext>
            </a:extLst>
          </p:cNvPr>
          <p:cNvSpPr>
            <a:spLocks noGrp="1"/>
          </p:cNvSpPr>
          <p:nvPr/>
        </p:nvSpPr>
        <p:spPr>
          <a:xfrm>
            <a:off x="13811250" y="8039100"/>
            <a:ext cx="552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4167" lnSpcReduction="20000"/>
          </a:bodyPr>
          <a:lstStyle/>
          <a:p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2/28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A482274E-174F-4B59-8A8F-9B99E7F1FEEF}"/>
              </a:ext>
            </a:extLst>
          </p:cNvPr>
          <p:cNvCxnSpPr/>
          <p:nvPr/>
        </p:nvCxnSpPr>
        <p:spPr>
          <a:xfrm>
            <a:off x="1028700" y="1282817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42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" y="175565"/>
            <a:ext cx="14630034" cy="8778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548640"/>
            <a:ext cx="1344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algn="ctr"/>
            <a:r>
              <a:rPr lang="en-US" sz="408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is made before any candidate algorithm is executed</a:t>
            </a:r>
            <a:endParaRPr lang="en-US" sz="4080" dirty="0"/>
          </a:p>
        </p:txBody>
      </p:sp>
      <p:sp>
        <p:nvSpPr>
          <p:cNvPr id="7" name="Shape 5"/>
          <p:cNvSpPr/>
          <p:nvPr/>
        </p:nvSpPr>
        <p:spPr>
          <a:xfrm>
            <a:off x="1152144" y="1920240"/>
            <a:ext cx="5650992" cy="4005072"/>
          </a:xfrm>
          <a:prstGeom prst="roundRect">
            <a:avLst>
              <a:gd name="adj" fmla="val 2192"/>
            </a:avLst>
          </a:prstGeom>
          <a:solidFill>
            <a:srgbClr val="F7F9FC"/>
          </a:solidFill>
          <a:ln w="15240">
            <a:solidFill>
              <a:srgbClr val="D8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6464" y="2194560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288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Allowed before sorting</a:t>
            </a:r>
            <a:endParaRPr lang="en-US" sz="2880" dirty="0"/>
          </a:p>
        </p:txBody>
      </p:sp>
      <p:sp>
        <p:nvSpPr>
          <p:cNvPr id="9" name="Text 7"/>
          <p:cNvSpPr/>
          <p:nvPr/>
        </p:nvSpPr>
        <p:spPr>
          <a:xfrm>
            <a:off x="1503274" y="2907792"/>
            <a:ext cx="49377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6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 O(n) structural features</a:t>
            </a:r>
            <a:endParaRPr lang="en-US" sz="2160" dirty="0"/>
          </a:p>
        </p:txBody>
      </p:sp>
      <p:sp>
        <p:nvSpPr>
          <p:cNvPr id="10" name="Text 8"/>
          <p:cNvSpPr/>
          <p:nvPr/>
        </p:nvSpPr>
        <p:spPr>
          <a:xfrm>
            <a:off x="1503274" y="3511296"/>
            <a:ext cx="49377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6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 order, runs, repetition, dispersion</a:t>
            </a:r>
            <a:endParaRPr lang="en-US" sz="2160" dirty="0"/>
          </a:p>
        </p:txBody>
      </p:sp>
      <p:sp>
        <p:nvSpPr>
          <p:cNvPr id="11" name="Text 9"/>
          <p:cNvSpPr/>
          <p:nvPr/>
        </p:nvSpPr>
        <p:spPr>
          <a:xfrm>
            <a:off x="1503274" y="4114800"/>
            <a:ext cx="49377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6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robust scale and distribution signals</a:t>
            </a:r>
            <a:endParaRPr lang="en-US" sz="2160" dirty="0"/>
          </a:p>
        </p:txBody>
      </p:sp>
      <p:sp>
        <p:nvSpPr>
          <p:cNvPr id="12" name="Text 10"/>
          <p:cNvSpPr/>
          <p:nvPr/>
        </p:nvSpPr>
        <p:spPr>
          <a:xfrm>
            <a:off x="1503274" y="4718304"/>
            <a:ext cx="49377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6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 introsort, heapsort, or timsort</a:t>
            </a:r>
            <a:endParaRPr lang="en-US" sz="2160" dirty="0"/>
          </a:p>
        </p:txBody>
      </p:sp>
      <p:sp>
        <p:nvSpPr>
          <p:cNvPr id="13" name="Shape 11"/>
          <p:cNvSpPr/>
          <p:nvPr/>
        </p:nvSpPr>
        <p:spPr>
          <a:xfrm>
            <a:off x="7845552" y="1920240"/>
            <a:ext cx="5650992" cy="4005072"/>
          </a:xfrm>
          <a:prstGeom prst="roundRect">
            <a:avLst>
              <a:gd name="adj" fmla="val 2192"/>
            </a:avLst>
          </a:prstGeom>
          <a:solidFill>
            <a:srgbClr val="F7F9FC"/>
          </a:solidFill>
          <a:ln w="15240">
            <a:solidFill>
              <a:srgbClr val="D8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9872" y="2194560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288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allowed at prediction time</a:t>
            </a:r>
            <a:endParaRPr lang="en-US" sz="2880" dirty="0"/>
          </a:p>
        </p:txBody>
      </p:sp>
      <p:sp>
        <p:nvSpPr>
          <p:cNvPr id="15" name="Text 13"/>
          <p:cNvSpPr/>
          <p:nvPr/>
        </p:nvSpPr>
        <p:spPr>
          <a:xfrm>
            <a:off x="8196682" y="2907792"/>
            <a:ext cx="49377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6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Introsort</a:t>
            </a:r>
            <a:endParaRPr lang="en-US" sz="2160" dirty="0"/>
          </a:p>
        </p:txBody>
      </p:sp>
      <p:sp>
        <p:nvSpPr>
          <p:cNvPr id="16" name="Text 14"/>
          <p:cNvSpPr/>
          <p:nvPr/>
        </p:nvSpPr>
        <p:spPr>
          <a:xfrm>
            <a:off x="8196682" y="3511296"/>
            <a:ext cx="49377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6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Heapsort</a:t>
            </a:r>
            <a:endParaRPr lang="en-US" sz="2160" dirty="0"/>
          </a:p>
        </p:txBody>
      </p:sp>
      <p:sp>
        <p:nvSpPr>
          <p:cNvPr id="17" name="Text 15"/>
          <p:cNvSpPr/>
          <p:nvPr/>
        </p:nvSpPr>
        <p:spPr>
          <a:xfrm>
            <a:off x="8196682" y="4114800"/>
            <a:ext cx="49377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6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Timsort</a:t>
            </a:r>
            <a:endParaRPr lang="en-US" sz="2160" dirty="0"/>
          </a:p>
        </p:txBody>
      </p:sp>
      <p:sp>
        <p:nvSpPr>
          <p:cNvPr id="18" name="Text 16"/>
          <p:cNvSpPr/>
          <p:nvPr/>
        </p:nvSpPr>
        <p:spPr>
          <a:xfrm>
            <a:off x="8196682" y="4718304"/>
            <a:ext cx="49377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6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 after seeing all measured times</a:t>
            </a:r>
            <a:endParaRPr lang="en-US" sz="2160" dirty="0"/>
          </a:p>
        </p:txBody>
      </p:sp>
      <p:sp>
        <p:nvSpPr>
          <p:cNvPr id="19" name="Shape 17"/>
          <p:cNvSpPr/>
          <p:nvPr/>
        </p:nvSpPr>
        <p:spPr>
          <a:xfrm>
            <a:off x="6967728" y="3895344"/>
            <a:ext cx="603504" cy="0"/>
          </a:xfrm>
          <a:prstGeom prst="line">
            <a:avLst/>
          </a:prstGeom>
          <a:noFill/>
          <a:ln w="31750">
            <a:solidFill>
              <a:srgbClr val="F4511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468880" y="6528816"/>
            <a:ext cx="9710928" cy="603504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6693408"/>
            <a:ext cx="949147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16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uses measured runtimes; prediction does not.</a:t>
            </a:r>
            <a:endParaRPr lang="en-US" sz="2160" dirty="0"/>
          </a:p>
        </p:txBody>
      </p:sp>
      <p:sp>
        <p:nvSpPr>
          <p:cNvPr id="22" name="Text 20"/>
          <p:cNvSpPr/>
          <p:nvPr/>
        </p:nvSpPr>
        <p:spPr>
          <a:xfrm>
            <a:off x="13781837" y="7878470"/>
            <a:ext cx="6035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r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1/1</a:t>
            </a:r>
            <a:endParaRPr lang="en-US" sz="1200" dirty="0"/>
          </a:p>
        </p:txBody>
      </p:sp>
      <p:cxnSp>
        <p:nvCxnSpPr>
          <p:cNvPr id="23" name="Connector 5">
            <a:extLst>
              <a:ext uri="{FF2B5EF4-FFF2-40B4-BE49-F238E27FC236}">
                <a16:creationId xmlns:a16="http://schemas.microsoft.com/office/drawing/2014/main" id="{F806CD77-BD80-C538-16E2-8BD9025246C5}"/>
              </a:ext>
            </a:extLst>
          </p:cNvPr>
          <p:cNvCxnSpPr/>
          <p:nvPr/>
        </p:nvCxnSpPr>
        <p:spPr>
          <a:xfrm>
            <a:off x="772616" y="1170893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70864" y="7878470"/>
            <a:ext cx="6035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r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1/1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3997D-D13D-1B7B-5BF5-763A97D7BB1A}"/>
              </a:ext>
            </a:extLst>
          </p:cNvPr>
          <p:cNvSpPr txBox="1"/>
          <p:nvPr/>
        </p:nvSpPr>
        <p:spPr>
          <a:xfrm>
            <a:off x="4816366" y="432229"/>
            <a:ext cx="732045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50" b="0">
                <a:solidFill>
                  <a:srgbClr val="171717"/>
                </a:solidFill>
              </a:defRPr>
            </a:pPr>
            <a:r>
              <a:rPr lang="en-US"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231F073E-7D8E-B551-3D75-59F3A2565D4D}"/>
              </a:ext>
            </a:extLst>
          </p:cNvPr>
          <p:cNvCxnSpPr/>
          <p:nvPr/>
        </p:nvCxnSpPr>
        <p:spPr>
          <a:xfrm>
            <a:off x="772616" y="1170893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BF58948-5853-85A5-6282-3B340D2C1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458" y="1352289"/>
            <a:ext cx="11476190" cy="64553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CCD7D-31EC-3E77-B730-3827ABC7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F331E7-CF20-8718-9E3F-C5617D3DFC6F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218944-3214-B1E7-BA37-A4A729D4970E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DDDCB7E-C2AA-DCF7-7D7F-5009B74CD22D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D9AC39-E4C4-DCA8-7156-A4269B065816}"/>
              </a:ext>
            </a:extLst>
          </p:cNvPr>
          <p:cNvSpPr/>
          <p:nvPr/>
        </p:nvSpPr>
        <p:spPr>
          <a:xfrm>
            <a:off x="13770864" y="7878470"/>
            <a:ext cx="6035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r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1/1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264583-4137-8552-13DD-CFD6D142C682}"/>
              </a:ext>
            </a:extLst>
          </p:cNvPr>
          <p:cNvSpPr txBox="1"/>
          <p:nvPr/>
        </p:nvSpPr>
        <p:spPr>
          <a:xfrm>
            <a:off x="-709631" y="445315"/>
            <a:ext cx="160492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50" b="0">
                <a:solidFill>
                  <a:srgbClr val="171717"/>
                </a:solidFill>
              </a:defRPr>
            </a:pPr>
            <a:r>
              <a:rPr lang="en-US" sz="42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corpus uses five structurally diverse real-world domains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416824DD-33D8-9CE5-2D63-2849FE9E93E4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6-big">
            <a:extLst>
              <a:ext uri="{FF2B5EF4-FFF2-40B4-BE49-F238E27FC236}">
                <a16:creationId xmlns:a16="http://schemas.microsoft.com/office/drawing/2014/main" id="{80916FF4-0955-8BD6-9A98-F57EF7992851}"/>
              </a:ext>
            </a:extLst>
          </p:cNvPr>
          <p:cNvSpPr>
            <a:spLocks noGrp="1"/>
          </p:cNvSpPr>
          <p:nvPr/>
        </p:nvSpPr>
        <p:spPr>
          <a:xfrm>
            <a:off x="5677991" y="1575290"/>
            <a:ext cx="2762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062" lnSpcReduction="10000"/>
          </a:bodyPr>
          <a:lstStyle/>
          <a:p>
            <a:pPr algn="ctr">
              <a:buNone/>
              <a:defRPr sz="4800">
                <a:solidFill>
                  <a:srgbClr val="DD7B5D"/>
                </a:solidFill>
              </a:defRPr>
            </a:pPr>
            <a:r>
              <a:rPr sz="4800" dirty="0">
                <a:solidFill>
                  <a:srgbClr val="DD7B5D"/>
                </a:solidFill>
              </a:rPr>
              <a:t>1.18M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EECB14-CA1B-DBBF-3471-30D0758F0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366" y="2214372"/>
            <a:ext cx="59055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977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7092-B86D-D9AB-4437-D0052776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B9A034D-4F1B-69E7-2424-D42DD6CCF4A2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D223850-6766-FDFE-3345-7BC7FEC04103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2AC752D-E0AD-13DE-5F1B-E652473159D5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058644-8AC9-1677-C767-8C521EEDA8E0}"/>
              </a:ext>
            </a:extLst>
          </p:cNvPr>
          <p:cNvSpPr/>
          <p:nvPr/>
        </p:nvSpPr>
        <p:spPr>
          <a:xfrm>
            <a:off x="13770864" y="7878470"/>
            <a:ext cx="6035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r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1/1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EA2D7-3B76-D31F-0B7E-FF7E1ADDE18E}"/>
              </a:ext>
            </a:extLst>
          </p:cNvPr>
          <p:cNvSpPr txBox="1"/>
          <p:nvPr/>
        </p:nvSpPr>
        <p:spPr>
          <a:xfrm>
            <a:off x="629124" y="460858"/>
            <a:ext cx="160492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50" b="0">
                <a:solidFill>
                  <a:srgbClr val="171717"/>
                </a:solidFill>
              </a:defRPr>
            </a:pPr>
            <a:r>
              <a:rPr lang="en-US" sz="4000" dirty="0">
                <a:solidFill>
                  <a:srgbClr val="171717"/>
                </a:solidFill>
              </a:rPr>
              <a:t>Leave-one-domain-out testing supports cross-domain robustness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FFACE793-2884-41D1-A3A7-C4C1990E295E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16">
            <a:extLst>
              <a:ext uri="{FF2B5EF4-FFF2-40B4-BE49-F238E27FC236}">
                <a16:creationId xmlns:a16="http://schemas.microsoft.com/office/drawing/2014/main" id="{720B965B-C150-E29D-111E-D75F6B1DB4AD}"/>
              </a:ext>
            </a:extLst>
          </p:cNvPr>
          <p:cNvSpPr/>
          <p:nvPr/>
        </p:nvSpPr>
        <p:spPr>
          <a:xfrm>
            <a:off x="11995982" y="1753152"/>
            <a:ext cx="685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D7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E89EE7AC-B4E0-FFE1-2E83-9EBE61AAD389}"/>
              </a:ext>
            </a:extLst>
          </p:cNvPr>
          <p:cNvSpPr/>
          <p:nvPr/>
        </p:nvSpPr>
        <p:spPr>
          <a:xfrm>
            <a:off x="12727502" y="1753152"/>
            <a:ext cx="777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9BD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closed</a:t>
            </a:r>
            <a:endParaRPr lang="en-US" sz="1200" dirty="0"/>
          </a:p>
        </p:txBody>
      </p:sp>
      <p:sp>
        <p:nvSpPr>
          <p:cNvPr id="11" name="Text 18">
            <a:extLst>
              <a:ext uri="{FF2B5EF4-FFF2-40B4-BE49-F238E27FC236}">
                <a16:creationId xmlns:a16="http://schemas.microsoft.com/office/drawing/2014/main" id="{AF4C4F8C-685A-5D2C-3DF3-BDDBD57CE605}"/>
              </a:ext>
            </a:extLst>
          </p:cNvPr>
          <p:cNvSpPr/>
          <p:nvPr/>
        </p:nvSpPr>
        <p:spPr>
          <a:xfrm>
            <a:off x="1051560" y="3136392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Crypto</a:t>
            </a:r>
            <a:endParaRPr lang="en-US" sz="1400" dirty="0"/>
          </a:p>
        </p:txBody>
      </p:sp>
      <p:sp>
        <p:nvSpPr>
          <p:cNvPr id="12" name="Shape 19">
            <a:extLst>
              <a:ext uri="{FF2B5EF4-FFF2-40B4-BE49-F238E27FC236}">
                <a16:creationId xmlns:a16="http://schemas.microsoft.com/office/drawing/2014/main" id="{6FA4825C-691A-3236-E87E-962500791931}"/>
              </a:ext>
            </a:extLst>
          </p:cNvPr>
          <p:cNvSpPr/>
          <p:nvPr/>
        </p:nvSpPr>
        <p:spPr>
          <a:xfrm>
            <a:off x="2148840" y="3063240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13" name="Shape 20">
            <a:extLst>
              <a:ext uri="{FF2B5EF4-FFF2-40B4-BE49-F238E27FC236}">
                <a16:creationId xmlns:a16="http://schemas.microsoft.com/office/drawing/2014/main" id="{44AD7B71-C5B2-422F-B606-36229D301A56}"/>
              </a:ext>
            </a:extLst>
          </p:cNvPr>
          <p:cNvSpPr/>
          <p:nvPr/>
        </p:nvSpPr>
        <p:spPr>
          <a:xfrm>
            <a:off x="2148840" y="3063240"/>
            <a:ext cx="5920740" cy="137160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</p:sp>
      <p:sp>
        <p:nvSpPr>
          <p:cNvPr id="14" name="Shape 21">
            <a:extLst>
              <a:ext uri="{FF2B5EF4-FFF2-40B4-BE49-F238E27FC236}">
                <a16:creationId xmlns:a16="http://schemas.microsoft.com/office/drawing/2014/main" id="{6CC29AE5-7F02-64AA-FB5D-0B48FE51C81E}"/>
              </a:ext>
            </a:extLst>
          </p:cNvPr>
          <p:cNvSpPr/>
          <p:nvPr/>
        </p:nvSpPr>
        <p:spPr>
          <a:xfrm>
            <a:off x="2148840" y="3246120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15" name="Shape 22">
            <a:extLst>
              <a:ext uri="{FF2B5EF4-FFF2-40B4-BE49-F238E27FC236}">
                <a16:creationId xmlns:a16="http://schemas.microsoft.com/office/drawing/2014/main" id="{2D85148E-6DB4-F0F1-5CD0-6AC20B6DF437}"/>
              </a:ext>
            </a:extLst>
          </p:cNvPr>
          <p:cNvSpPr/>
          <p:nvPr/>
        </p:nvSpPr>
        <p:spPr>
          <a:xfrm>
            <a:off x="2148840" y="3246120"/>
            <a:ext cx="6096671" cy="1371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6" name="Text 23">
            <a:extLst>
              <a:ext uri="{FF2B5EF4-FFF2-40B4-BE49-F238E27FC236}">
                <a16:creationId xmlns:a16="http://schemas.microsoft.com/office/drawing/2014/main" id="{8633086E-8550-FCA8-C647-6B37D1B5F07D}"/>
              </a:ext>
            </a:extLst>
          </p:cNvPr>
          <p:cNvSpPr/>
          <p:nvPr/>
        </p:nvSpPr>
        <p:spPr>
          <a:xfrm>
            <a:off x="8124444" y="3044952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87.5%</a:t>
            </a:r>
            <a:endParaRPr lang="en-US" sz="1000" dirty="0"/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47605234-71D0-4146-50E2-A961EA3A7475}"/>
              </a:ext>
            </a:extLst>
          </p:cNvPr>
          <p:cNvSpPr/>
          <p:nvPr/>
        </p:nvSpPr>
        <p:spPr>
          <a:xfrm>
            <a:off x="8300375" y="3227832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90.1%</a:t>
            </a:r>
            <a:endParaRPr lang="en-US" sz="1000" dirty="0"/>
          </a:p>
        </p:txBody>
      </p:sp>
      <p:sp>
        <p:nvSpPr>
          <p:cNvPr id="18" name="Text 25">
            <a:extLst>
              <a:ext uri="{FF2B5EF4-FFF2-40B4-BE49-F238E27FC236}">
                <a16:creationId xmlns:a16="http://schemas.microsoft.com/office/drawing/2014/main" id="{A57BF4B8-C49D-8046-63E1-FFCE81F1C802}"/>
              </a:ext>
            </a:extLst>
          </p:cNvPr>
          <p:cNvSpPr/>
          <p:nvPr/>
        </p:nvSpPr>
        <p:spPr>
          <a:xfrm>
            <a:off x="1051560" y="3575304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Earthquake</a:t>
            </a:r>
            <a:endParaRPr lang="en-US" sz="1400" dirty="0"/>
          </a:p>
        </p:txBody>
      </p:sp>
      <p:sp>
        <p:nvSpPr>
          <p:cNvPr id="19" name="Shape 26">
            <a:extLst>
              <a:ext uri="{FF2B5EF4-FFF2-40B4-BE49-F238E27FC236}">
                <a16:creationId xmlns:a16="http://schemas.microsoft.com/office/drawing/2014/main" id="{94FC904C-B649-66DF-08E6-E7598AE10F92}"/>
              </a:ext>
            </a:extLst>
          </p:cNvPr>
          <p:cNvSpPr/>
          <p:nvPr/>
        </p:nvSpPr>
        <p:spPr>
          <a:xfrm>
            <a:off x="2148840" y="3502152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20" name="Shape 27">
            <a:extLst>
              <a:ext uri="{FF2B5EF4-FFF2-40B4-BE49-F238E27FC236}">
                <a16:creationId xmlns:a16="http://schemas.microsoft.com/office/drawing/2014/main" id="{D1C3663E-E675-BA11-35C8-17981D6C479A}"/>
              </a:ext>
            </a:extLst>
          </p:cNvPr>
          <p:cNvSpPr/>
          <p:nvPr/>
        </p:nvSpPr>
        <p:spPr>
          <a:xfrm>
            <a:off x="2148840" y="3502152"/>
            <a:ext cx="5555346" cy="137160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</p:sp>
      <p:sp>
        <p:nvSpPr>
          <p:cNvPr id="21" name="Shape 28">
            <a:extLst>
              <a:ext uri="{FF2B5EF4-FFF2-40B4-BE49-F238E27FC236}">
                <a16:creationId xmlns:a16="http://schemas.microsoft.com/office/drawing/2014/main" id="{FEEFD66C-2ECB-53D5-1473-DE5D654407B5}"/>
              </a:ext>
            </a:extLst>
          </p:cNvPr>
          <p:cNvSpPr/>
          <p:nvPr/>
        </p:nvSpPr>
        <p:spPr>
          <a:xfrm>
            <a:off x="2148840" y="3685032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22" name="Shape 29">
            <a:extLst>
              <a:ext uri="{FF2B5EF4-FFF2-40B4-BE49-F238E27FC236}">
                <a16:creationId xmlns:a16="http://schemas.microsoft.com/office/drawing/2014/main" id="{E7723BF9-C86C-8D51-C372-1BD9910F455C}"/>
              </a:ext>
            </a:extLst>
          </p:cNvPr>
          <p:cNvSpPr/>
          <p:nvPr/>
        </p:nvSpPr>
        <p:spPr>
          <a:xfrm>
            <a:off x="2148840" y="3685032"/>
            <a:ext cx="6428232" cy="1371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3" name="Text 30">
            <a:extLst>
              <a:ext uri="{FF2B5EF4-FFF2-40B4-BE49-F238E27FC236}">
                <a16:creationId xmlns:a16="http://schemas.microsoft.com/office/drawing/2014/main" id="{ABA8E614-B67F-72F7-2113-4F6028DE2516}"/>
              </a:ext>
            </a:extLst>
          </p:cNvPr>
          <p:cNvSpPr/>
          <p:nvPr/>
        </p:nvSpPr>
        <p:spPr>
          <a:xfrm>
            <a:off x="7759050" y="3483864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82.1%</a:t>
            </a:r>
            <a:endParaRPr lang="en-US" sz="1000" dirty="0"/>
          </a:p>
        </p:txBody>
      </p:sp>
      <p:sp>
        <p:nvSpPr>
          <p:cNvPr id="24" name="Text 31">
            <a:extLst>
              <a:ext uri="{FF2B5EF4-FFF2-40B4-BE49-F238E27FC236}">
                <a16:creationId xmlns:a16="http://schemas.microsoft.com/office/drawing/2014/main" id="{A46CCBE7-BC92-243A-F7AE-3276B76DF2D5}"/>
              </a:ext>
            </a:extLst>
          </p:cNvPr>
          <p:cNvSpPr/>
          <p:nvPr/>
        </p:nvSpPr>
        <p:spPr>
          <a:xfrm>
            <a:off x="8631936" y="3666744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95.0%</a:t>
            </a:r>
            <a:endParaRPr lang="en-US" sz="1000" dirty="0"/>
          </a:p>
        </p:txBody>
      </p:sp>
      <p:sp>
        <p:nvSpPr>
          <p:cNvPr id="25" name="Text 32">
            <a:extLst>
              <a:ext uri="{FF2B5EF4-FFF2-40B4-BE49-F238E27FC236}">
                <a16:creationId xmlns:a16="http://schemas.microsoft.com/office/drawing/2014/main" id="{3A2424F5-29D0-BC83-BCBC-C4CF836A9326}"/>
              </a:ext>
            </a:extLst>
          </p:cNvPr>
          <p:cNvSpPr/>
          <p:nvPr/>
        </p:nvSpPr>
        <p:spPr>
          <a:xfrm>
            <a:off x="1051560" y="4014216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F1</a:t>
            </a:r>
            <a:endParaRPr lang="en-US" sz="1400" dirty="0"/>
          </a:p>
        </p:txBody>
      </p:sp>
      <p:sp>
        <p:nvSpPr>
          <p:cNvPr id="26" name="Shape 33">
            <a:extLst>
              <a:ext uri="{FF2B5EF4-FFF2-40B4-BE49-F238E27FC236}">
                <a16:creationId xmlns:a16="http://schemas.microsoft.com/office/drawing/2014/main" id="{28CDA250-B5FC-E50A-6BB6-9891D0A8F764}"/>
              </a:ext>
            </a:extLst>
          </p:cNvPr>
          <p:cNvSpPr/>
          <p:nvPr/>
        </p:nvSpPr>
        <p:spPr>
          <a:xfrm>
            <a:off x="2148840" y="3941064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27" name="Shape 34">
            <a:extLst>
              <a:ext uri="{FF2B5EF4-FFF2-40B4-BE49-F238E27FC236}">
                <a16:creationId xmlns:a16="http://schemas.microsoft.com/office/drawing/2014/main" id="{C202F628-DF5A-17C5-8704-A515872376E6}"/>
              </a:ext>
            </a:extLst>
          </p:cNvPr>
          <p:cNvSpPr/>
          <p:nvPr/>
        </p:nvSpPr>
        <p:spPr>
          <a:xfrm>
            <a:off x="2148840" y="3941064"/>
            <a:ext cx="6008705" cy="137160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</p:sp>
      <p:sp>
        <p:nvSpPr>
          <p:cNvPr id="28" name="Shape 35">
            <a:extLst>
              <a:ext uri="{FF2B5EF4-FFF2-40B4-BE49-F238E27FC236}">
                <a16:creationId xmlns:a16="http://schemas.microsoft.com/office/drawing/2014/main" id="{837BE224-7100-FE1C-04DF-C1E9462FD65B}"/>
              </a:ext>
            </a:extLst>
          </p:cNvPr>
          <p:cNvSpPr/>
          <p:nvPr/>
        </p:nvSpPr>
        <p:spPr>
          <a:xfrm>
            <a:off x="2148840" y="4123944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29" name="Shape 36">
            <a:extLst>
              <a:ext uri="{FF2B5EF4-FFF2-40B4-BE49-F238E27FC236}">
                <a16:creationId xmlns:a16="http://schemas.microsoft.com/office/drawing/2014/main" id="{94907719-D2A1-1490-F848-D98B90684D7F}"/>
              </a:ext>
            </a:extLst>
          </p:cNvPr>
          <p:cNvSpPr/>
          <p:nvPr/>
        </p:nvSpPr>
        <p:spPr>
          <a:xfrm>
            <a:off x="2148840" y="4123944"/>
            <a:ext cx="5108753" cy="1371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30" name="Text 37">
            <a:extLst>
              <a:ext uri="{FF2B5EF4-FFF2-40B4-BE49-F238E27FC236}">
                <a16:creationId xmlns:a16="http://schemas.microsoft.com/office/drawing/2014/main" id="{D438F3CC-9E1E-8FB9-7698-59F6B6EC4030}"/>
              </a:ext>
            </a:extLst>
          </p:cNvPr>
          <p:cNvSpPr/>
          <p:nvPr/>
        </p:nvSpPr>
        <p:spPr>
          <a:xfrm>
            <a:off x="8212409" y="3922776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88.8%</a:t>
            </a:r>
            <a:endParaRPr lang="en-US" sz="1000" dirty="0"/>
          </a:p>
        </p:txBody>
      </p:sp>
      <p:sp>
        <p:nvSpPr>
          <p:cNvPr id="31" name="Text 38">
            <a:extLst>
              <a:ext uri="{FF2B5EF4-FFF2-40B4-BE49-F238E27FC236}">
                <a16:creationId xmlns:a16="http://schemas.microsoft.com/office/drawing/2014/main" id="{48C89E91-11B4-3D2A-EC54-A10634D64269}"/>
              </a:ext>
            </a:extLst>
          </p:cNvPr>
          <p:cNvSpPr/>
          <p:nvPr/>
        </p:nvSpPr>
        <p:spPr>
          <a:xfrm>
            <a:off x="7312457" y="4105656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75.5%</a:t>
            </a:r>
            <a:endParaRPr lang="en-US" sz="1000" dirty="0"/>
          </a:p>
        </p:txBody>
      </p:sp>
      <p:sp>
        <p:nvSpPr>
          <p:cNvPr id="32" name="Text 39">
            <a:extLst>
              <a:ext uri="{FF2B5EF4-FFF2-40B4-BE49-F238E27FC236}">
                <a16:creationId xmlns:a16="http://schemas.microsoft.com/office/drawing/2014/main" id="{A48E2C5C-8165-FB86-4093-DAFB38BE6063}"/>
              </a:ext>
            </a:extLst>
          </p:cNvPr>
          <p:cNvSpPr/>
          <p:nvPr/>
        </p:nvSpPr>
        <p:spPr>
          <a:xfrm>
            <a:off x="1051560" y="4453128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Stock</a:t>
            </a:r>
            <a:endParaRPr lang="en-US" sz="1400" dirty="0"/>
          </a:p>
        </p:txBody>
      </p:sp>
      <p:sp>
        <p:nvSpPr>
          <p:cNvPr id="33" name="Shape 40">
            <a:extLst>
              <a:ext uri="{FF2B5EF4-FFF2-40B4-BE49-F238E27FC236}">
                <a16:creationId xmlns:a16="http://schemas.microsoft.com/office/drawing/2014/main" id="{7855D962-6BA5-E514-4F22-C6759B0782A1}"/>
              </a:ext>
            </a:extLst>
          </p:cNvPr>
          <p:cNvSpPr/>
          <p:nvPr/>
        </p:nvSpPr>
        <p:spPr>
          <a:xfrm>
            <a:off x="2148840" y="4379976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34" name="Shape 41">
            <a:extLst>
              <a:ext uri="{FF2B5EF4-FFF2-40B4-BE49-F238E27FC236}">
                <a16:creationId xmlns:a16="http://schemas.microsoft.com/office/drawing/2014/main" id="{5B9E1992-47A3-309A-D22E-EA59A7C808C4}"/>
              </a:ext>
            </a:extLst>
          </p:cNvPr>
          <p:cNvSpPr/>
          <p:nvPr/>
        </p:nvSpPr>
        <p:spPr>
          <a:xfrm>
            <a:off x="2148840" y="4379976"/>
            <a:ext cx="5954573" cy="137160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</p:sp>
      <p:sp>
        <p:nvSpPr>
          <p:cNvPr id="35" name="Shape 42">
            <a:extLst>
              <a:ext uri="{FF2B5EF4-FFF2-40B4-BE49-F238E27FC236}">
                <a16:creationId xmlns:a16="http://schemas.microsoft.com/office/drawing/2014/main" id="{7B1F61BF-9B19-7DFD-C127-51880A0804D3}"/>
              </a:ext>
            </a:extLst>
          </p:cNvPr>
          <p:cNvSpPr/>
          <p:nvPr/>
        </p:nvSpPr>
        <p:spPr>
          <a:xfrm>
            <a:off x="2148840" y="4562856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36" name="Shape 43">
            <a:extLst>
              <a:ext uri="{FF2B5EF4-FFF2-40B4-BE49-F238E27FC236}">
                <a16:creationId xmlns:a16="http://schemas.microsoft.com/office/drawing/2014/main" id="{97AFFB15-3707-D521-021D-5416BBF2F334}"/>
              </a:ext>
            </a:extLst>
          </p:cNvPr>
          <p:cNvSpPr/>
          <p:nvPr/>
        </p:nvSpPr>
        <p:spPr>
          <a:xfrm>
            <a:off x="2148840" y="4562856"/>
            <a:ext cx="6137270" cy="1371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37" name="Text 44">
            <a:extLst>
              <a:ext uri="{FF2B5EF4-FFF2-40B4-BE49-F238E27FC236}">
                <a16:creationId xmlns:a16="http://schemas.microsoft.com/office/drawing/2014/main" id="{78D2021F-D408-9AA3-8FF8-8F8D5C43D1C2}"/>
              </a:ext>
            </a:extLst>
          </p:cNvPr>
          <p:cNvSpPr/>
          <p:nvPr/>
        </p:nvSpPr>
        <p:spPr>
          <a:xfrm>
            <a:off x="8158277" y="4361688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88.0%</a:t>
            </a:r>
            <a:endParaRPr lang="en-US" sz="1000" dirty="0"/>
          </a:p>
        </p:txBody>
      </p:sp>
      <p:sp>
        <p:nvSpPr>
          <p:cNvPr id="38" name="Text 45">
            <a:extLst>
              <a:ext uri="{FF2B5EF4-FFF2-40B4-BE49-F238E27FC236}">
                <a16:creationId xmlns:a16="http://schemas.microsoft.com/office/drawing/2014/main" id="{22D44750-E358-6999-FD57-C071D4B8C7E5}"/>
              </a:ext>
            </a:extLst>
          </p:cNvPr>
          <p:cNvSpPr/>
          <p:nvPr/>
        </p:nvSpPr>
        <p:spPr>
          <a:xfrm>
            <a:off x="8340974" y="4544568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90.7%</a:t>
            </a:r>
            <a:endParaRPr lang="en-US" sz="1000" dirty="0"/>
          </a:p>
        </p:txBody>
      </p:sp>
      <p:sp>
        <p:nvSpPr>
          <p:cNvPr id="39" name="Text 46">
            <a:extLst>
              <a:ext uri="{FF2B5EF4-FFF2-40B4-BE49-F238E27FC236}">
                <a16:creationId xmlns:a16="http://schemas.microsoft.com/office/drawing/2014/main" id="{F3769622-F1CE-E63E-046C-469690A888E0}"/>
              </a:ext>
            </a:extLst>
          </p:cNvPr>
          <p:cNvSpPr/>
          <p:nvPr/>
        </p:nvSpPr>
        <p:spPr>
          <a:xfrm>
            <a:off x="1051560" y="489204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</a:t>
            </a:r>
            <a:endParaRPr lang="en-US" sz="1400" dirty="0"/>
          </a:p>
        </p:txBody>
      </p:sp>
      <p:sp>
        <p:nvSpPr>
          <p:cNvPr id="40" name="Shape 47">
            <a:extLst>
              <a:ext uri="{FF2B5EF4-FFF2-40B4-BE49-F238E27FC236}">
                <a16:creationId xmlns:a16="http://schemas.microsoft.com/office/drawing/2014/main" id="{5E9FFB3D-F509-EC4D-387D-CC2834FF7FB8}"/>
              </a:ext>
            </a:extLst>
          </p:cNvPr>
          <p:cNvSpPr/>
          <p:nvPr/>
        </p:nvSpPr>
        <p:spPr>
          <a:xfrm>
            <a:off x="2148840" y="4818888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41" name="Shape 48">
            <a:extLst>
              <a:ext uri="{FF2B5EF4-FFF2-40B4-BE49-F238E27FC236}">
                <a16:creationId xmlns:a16="http://schemas.microsoft.com/office/drawing/2014/main" id="{14A9F548-90EC-9386-7BBF-3A1A5EB8060B}"/>
              </a:ext>
            </a:extLst>
          </p:cNvPr>
          <p:cNvSpPr/>
          <p:nvPr/>
        </p:nvSpPr>
        <p:spPr>
          <a:xfrm>
            <a:off x="2148840" y="4818888"/>
            <a:ext cx="4100535" cy="137160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</p:sp>
      <p:sp>
        <p:nvSpPr>
          <p:cNvPr id="42" name="Shape 49">
            <a:extLst>
              <a:ext uri="{FF2B5EF4-FFF2-40B4-BE49-F238E27FC236}">
                <a16:creationId xmlns:a16="http://schemas.microsoft.com/office/drawing/2014/main" id="{85355BE6-FD46-DCD2-47A8-EDEB4C4DEFE0}"/>
              </a:ext>
            </a:extLst>
          </p:cNvPr>
          <p:cNvSpPr/>
          <p:nvPr/>
        </p:nvSpPr>
        <p:spPr>
          <a:xfrm>
            <a:off x="2148840" y="5001768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43" name="Shape 50">
            <a:extLst>
              <a:ext uri="{FF2B5EF4-FFF2-40B4-BE49-F238E27FC236}">
                <a16:creationId xmlns:a16="http://schemas.microsoft.com/office/drawing/2014/main" id="{7B91731A-4A48-BC4A-3A79-773C591077BE}"/>
              </a:ext>
            </a:extLst>
          </p:cNvPr>
          <p:cNvSpPr/>
          <p:nvPr/>
        </p:nvSpPr>
        <p:spPr>
          <a:xfrm>
            <a:off x="2148840" y="5001768"/>
            <a:ext cx="6069604" cy="1371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44" name="Text 51">
            <a:extLst>
              <a:ext uri="{FF2B5EF4-FFF2-40B4-BE49-F238E27FC236}">
                <a16:creationId xmlns:a16="http://schemas.microsoft.com/office/drawing/2014/main" id="{C1585E15-4599-E15A-E906-C266EB4042E9}"/>
              </a:ext>
            </a:extLst>
          </p:cNvPr>
          <p:cNvSpPr/>
          <p:nvPr/>
        </p:nvSpPr>
        <p:spPr>
          <a:xfrm>
            <a:off x="6304239" y="4800600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60.6%</a:t>
            </a:r>
            <a:endParaRPr lang="en-US" sz="1000" dirty="0"/>
          </a:p>
        </p:txBody>
      </p:sp>
      <p:sp>
        <p:nvSpPr>
          <p:cNvPr id="45" name="Text 52">
            <a:extLst>
              <a:ext uri="{FF2B5EF4-FFF2-40B4-BE49-F238E27FC236}">
                <a16:creationId xmlns:a16="http://schemas.microsoft.com/office/drawing/2014/main" id="{9E62CD1F-7592-A305-D086-14D149973A30}"/>
              </a:ext>
            </a:extLst>
          </p:cNvPr>
          <p:cNvSpPr/>
          <p:nvPr/>
        </p:nvSpPr>
        <p:spPr>
          <a:xfrm>
            <a:off x="8273308" y="4983480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89.7%</a:t>
            </a:r>
            <a:endParaRPr lang="en-US" sz="1000" dirty="0"/>
          </a:p>
        </p:txBody>
      </p:sp>
      <p:sp>
        <p:nvSpPr>
          <p:cNvPr id="46" name="Shape 53">
            <a:extLst>
              <a:ext uri="{FF2B5EF4-FFF2-40B4-BE49-F238E27FC236}">
                <a16:creationId xmlns:a16="http://schemas.microsoft.com/office/drawing/2014/main" id="{D9391A85-3A30-7F6D-1DD6-173234BEF2B8}"/>
              </a:ext>
            </a:extLst>
          </p:cNvPr>
          <p:cNvSpPr/>
          <p:nvPr/>
        </p:nvSpPr>
        <p:spPr>
          <a:xfrm>
            <a:off x="2148840" y="5394960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47" name="Shape 55">
            <a:extLst>
              <a:ext uri="{FF2B5EF4-FFF2-40B4-BE49-F238E27FC236}">
                <a16:creationId xmlns:a16="http://schemas.microsoft.com/office/drawing/2014/main" id="{09669421-3F41-3E8D-2C3B-735CFA82CAC4}"/>
              </a:ext>
            </a:extLst>
          </p:cNvPr>
          <p:cNvSpPr/>
          <p:nvPr/>
        </p:nvSpPr>
        <p:spPr>
          <a:xfrm>
            <a:off x="3840480" y="5394960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48" name="Shape 57">
            <a:extLst>
              <a:ext uri="{FF2B5EF4-FFF2-40B4-BE49-F238E27FC236}">
                <a16:creationId xmlns:a16="http://schemas.microsoft.com/office/drawing/2014/main" id="{79328338-0A65-DC13-01C0-AE313AF4323F}"/>
              </a:ext>
            </a:extLst>
          </p:cNvPr>
          <p:cNvSpPr/>
          <p:nvPr/>
        </p:nvSpPr>
        <p:spPr>
          <a:xfrm>
            <a:off x="5532120" y="5394960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49" name="Shape 59">
            <a:extLst>
              <a:ext uri="{FF2B5EF4-FFF2-40B4-BE49-F238E27FC236}">
                <a16:creationId xmlns:a16="http://schemas.microsoft.com/office/drawing/2014/main" id="{B247F010-9FC6-ABCB-9400-540DC372C662}"/>
              </a:ext>
            </a:extLst>
          </p:cNvPr>
          <p:cNvSpPr/>
          <p:nvPr/>
        </p:nvSpPr>
        <p:spPr>
          <a:xfrm>
            <a:off x="7223760" y="5394960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0" name="Shape 61">
            <a:extLst>
              <a:ext uri="{FF2B5EF4-FFF2-40B4-BE49-F238E27FC236}">
                <a16:creationId xmlns:a16="http://schemas.microsoft.com/office/drawing/2014/main" id="{54A0C552-292E-EDF7-92F0-482FC2960CCB}"/>
              </a:ext>
            </a:extLst>
          </p:cNvPr>
          <p:cNvSpPr/>
          <p:nvPr/>
        </p:nvSpPr>
        <p:spPr>
          <a:xfrm>
            <a:off x="8915400" y="5394960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4872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878F3-8A00-3750-D130-92985A9B3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CBBA27-A889-4656-FBE0-2740EFE61D91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C326CFF-4E38-6FDA-15FB-869E08826B5D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0850546-33DC-375F-C581-945542B930BB}"/>
              </a:ext>
            </a:extLst>
          </p:cNvPr>
          <p:cNvSpPr/>
          <p:nvPr/>
        </p:nvSpPr>
        <p:spPr>
          <a:xfrm>
            <a:off x="-10510" y="802065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3BF1C2-784A-7AF3-4C7A-5B6A081DF515}"/>
              </a:ext>
            </a:extLst>
          </p:cNvPr>
          <p:cNvSpPr/>
          <p:nvPr/>
        </p:nvSpPr>
        <p:spPr>
          <a:xfrm>
            <a:off x="13770864" y="7878470"/>
            <a:ext cx="6035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 rtl="0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4D960A-C22B-1726-F00E-A28E0D479C55}"/>
              </a:ext>
            </a:extLst>
          </p:cNvPr>
          <p:cNvSpPr txBox="1"/>
          <p:nvPr/>
        </p:nvSpPr>
        <p:spPr>
          <a:xfrm>
            <a:off x="-562486" y="416967"/>
            <a:ext cx="160492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50" b="0">
                <a:solidFill>
                  <a:srgbClr val="171717"/>
                </a:solidFill>
              </a:defRPr>
            </a:pPr>
            <a:r>
              <a:rPr lang="en-US" sz="42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real domains, five different numeric traces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9DC1A402-1517-48D8-BD85-EF4328B389D2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4101D7-6928-D31B-C0A7-EFE3E7C41BB4}"/>
              </a:ext>
            </a:extLst>
          </p:cNvPr>
          <p:cNvSpPr txBox="1"/>
          <p:nvPr/>
        </p:nvSpPr>
        <p:spPr>
          <a:xfrm>
            <a:off x="388700" y="2406875"/>
            <a:ext cx="1556600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75" b="1">
                <a:solidFill>
                  <a:srgbClr val="F4511E"/>
                </a:solidFill>
              </a:defRPr>
            </a:pPr>
            <a:r>
              <a:rPr lang="en-TR" sz="2500" b="1" dirty="0">
                <a:solidFill>
                  <a:srgbClr val="F45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	</a:t>
            </a:r>
            <a:r>
              <a:rPr lang="en-US" sz="25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 1 telemetry: </a:t>
            </a:r>
            <a:r>
              <a:rPr lang="en-US" sz="25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[0.0797, 12.79, 28.74, 51.06, 79.76, 108.46, 141.30, 172.55, 201.10, 238.42]</a:t>
            </a:r>
          </a:p>
          <a:p>
            <a:pPr algn="l">
              <a:defRPr sz="1275" b="1">
                <a:solidFill>
                  <a:srgbClr val="F4511E"/>
                </a:solidFill>
              </a:defRPr>
            </a:pPr>
            <a:endParaRPr lang="en-TR" sz="2500" b="1" dirty="0">
              <a:solidFill>
                <a:srgbClr val="F451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3C4F50-DF47-08D1-70D9-01DE5D2AF280}"/>
              </a:ext>
            </a:extLst>
          </p:cNvPr>
          <p:cNvSpPr txBox="1"/>
          <p:nvPr/>
        </p:nvSpPr>
        <p:spPr>
          <a:xfrm>
            <a:off x="388700" y="1356306"/>
            <a:ext cx="1445172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75" b="1">
                <a:solidFill>
                  <a:srgbClr val="F4511E"/>
                </a:solidFill>
              </a:defRPr>
            </a:pPr>
            <a:r>
              <a:rPr lang="en-TR" sz="2500" b="1" dirty="0">
                <a:solidFill>
                  <a:srgbClr val="F45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	</a:t>
            </a:r>
            <a:r>
              <a:rPr lang="en-US" sz="25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Weather: </a:t>
            </a:r>
            <a:r>
              <a:rPr lang="en-US" sz="25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[3.389, 3.385, 3.341, 3.269, 3.164, 3.201, 3.244, 3.302, 3.355, 3.410]</a:t>
            </a:r>
          </a:p>
          <a:p>
            <a:pPr algn="l">
              <a:defRPr sz="1275" b="1">
                <a:solidFill>
                  <a:srgbClr val="F4511E"/>
                </a:solidFill>
              </a:defRPr>
            </a:pPr>
            <a:endParaRPr lang="en-TR" sz="2500" b="1" dirty="0">
              <a:solidFill>
                <a:srgbClr val="F451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7FB64F-4472-A277-8B92-6D3C928C6975}"/>
              </a:ext>
            </a:extLst>
          </p:cNvPr>
          <p:cNvSpPr txBox="1"/>
          <p:nvPr/>
        </p:nvSpPr>
        <p:spPr>
          <a:xfrm>
            <a:off x="388700" y="3675078"/>
            <a:ext cx="136660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75" b="1">
                <a:solidFill>
                  <a:srgbClr val="F4511E"/>
                </a:solidFill>
              </a:defRPr>
            </a:pPr>
            <a:r>
              <a:rPr lang="en-TR" sz="2500" b="1" dirty="0">
                <a:solidFill>
                  <a:srgbClr val="F45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	</a:t>
            </a:r>
            <a:r>
              <a:rPr lang="en-US" sz="25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market: </a:t>
            </a:r>
            <a:r>
              <a:rPr lang="en-US" sz="25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[5.873, 5.919, 5.968, 5.974, 6.021, 6.044, 6.081, 6.114, 6.156, 6.203]</a:t>
            </a:r>
          </a:p>
          <a:p>
            <a:pPr algn="l">
              <a:defRPr sz="1275" b="1">
                <a:solidFill>
                  <a:srgbClr val="F4511E"/>
                </a:solidFill>
              </a:defRPr>
            </a:pPr>
            <a:endParaRPr lang="en-TR" sz="2500" b="1" dirty="0">
              <a:solidFill>
                <a:srgbClr val="F451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3B6280-14CB-3749-1CA6-401E742F5D50}"/>
              </a:ext>
            </a:extLst>
          </p:cNvPr>
          <p:cNvSpPr txBox="1"/>
          <p:nvPr/>
        </p:nvSpPr>
        <p:spPr>
          <a:xfrm>
            <a:off x="388700" y="4878271"/>
            <a:ext cx="1574467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75" b="1">
                <a:solidFill>
                  <a:srgbClr val="F4511E"/>
                </a:solidFill>
              </a:defRPr>
            </a:pPr>
            <a:r>
              <a:rPr lang="en-TR" sz="2500" b="1" dirty="0">
                <a:solidFill>
                  <a:srgbClr val="F45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	</a:t>
            </a:r>
            <a:r>
              <a:rPr lang="en-US" sz="25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Cryptocurrency: </a:t>
            </a:r>
            <a:r>
              <a:rPr lang="en-US" sz="25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[0.0009, 0.0005, 0.0002, -0.0003, 0.0001, 0.0007, -0.0002, 0.0010, 0.0004, -0.0001]</a:t>
            </a:r>
          </a:p>
          <a:p>
            <a:pPr algn="l">
              <a:defRPr sz="1275" b="1">
                <a:solidFill>
                  <a:srgbClr val="F4511E"/>
                </a:solidFill>
              </a:defRPr>
            </a:pPr>
            <a:endParaRPr lang="en-TR" sz="2500" b="1" dirty="0">
              <a:solidFill>
                <a:srgbClr val="F451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3349A4-4D8B-3C48-55BD-761FB6C53401}"/>
              </a:ext>
            </a:extLst>
          </p:cNvPr>
          <p:cNvSpPr txBox="1"/>
          <p:nvPr/>
        </p:nvSpPr>
        <p:spPr>
          <a:xfrm>
            <a:off x="388700" y="5929720"/>
            <a:ext cx="139856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75" b="1">
                <a:solidFill>
                  <a:srgbClr val="F4511E"/>
                </a:solidFill>
              </a:defRPr>
            </a:pPr>
            <a:r>
              <a:rPr lang="en-TR" sz="2500" b="1" dirty="0">
                <a:solidFill>
                  <a:srgbClr val="F45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	</a:t>
            </a:r>
            <a:r>
              <a:rPr lang="en-US" sz="25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Seismic events: </a:t>
            </a:r>
            <a:r>
              <a:rPr lang="en-US" sz="25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[37.83, 34.02, 36.10, 35.95, 33.54, 36.80, 38.21, 35.12, 34.88, 36.42]</a:t>
            </a:r>
          </a:p>
        </p:txBody>
      </p:sp>
    </p:spTree>
    <p:extLst>
      <p:ext uri="{BB962C8B-B14F-4D97-AF65-F5344CB8AC3E}">
        <p14:creationId xmlns:p14="http://schemas.microsoft.com/office/powerpoint/2010/main" val="1445423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D975D-BC6A-09A9-4981-0AC635DEB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94EBC1-B7F0-F728-640A-2324B8AE3670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7E49B51-E825-0A37-6601-7BEEF9247566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AB70E9-9B3C-4BA4-8A30-B32E9B914EC9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7E924B2F-8FE9-4527-DA61-224F23875A2E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B54E42A-A236-87ED-B437-C6D06265ACD4}"/>
              </a:ext>
            </a:extLst>
          </p:cNvPr>
          <p:cNvSpPr txBox="1"/>
          <p:nvPr/>
        </p:nvSpPr>
        <p:spPr>
          <a:xfrm>
            <a:off x="1418892" y="460858"/>
            <a:ext cx="1202284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Sixteen O(n) structural features </a:t>
            </a:r>
            <a:r>
              <a:rPr lang="en-US" sz="4200" dirty="0" err="1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characterise</a:t>
            </a:r>
            <a:r>
              <a:rPr lang="en-US" sz="42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each array</a:t>
            </a:r>
          </a:p>
          <a:p>
            <a:endParaRPr lang="en-TR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93F955-CA37-4C46-EC68-5D8753785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746" y="1423685"/>
            <a:ext cx="11475173" cy="645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40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63167-5B53-7C59-8206-7C57F9037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D096F7-260A-6406-B493-042BA5D4127C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D4BA9EC-81F1-11A3-23A7-9837A8984DF4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F87404A-A559-95BC-D40E-B2699899FC14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5091A018-B8E8-AE35-DBB1-165DF8C670F2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D1616B8-C7EC-A410-6FD1-E939D1E55A9B}"/>
              </a:ext>
            </a:extLst>
          </p:cNvPr>
          <p:cNvSpPr txBox="1"/>
          <p:nvPr/>
        </p:nvSpPr>
        <p:spPr>
          <a:xfrm>
            <a:off x="1418892" y="460858"/>
            <a:ext cx="12196993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550" b="0">
                <a:solidFill>
                  <a:srgbClr val="171717"/>
                </a:solidFill>
              </a:defRPr>
            </a:pPr>
            <a:r>
              <a:rPr lang="en-US" sz="4400" dirty="0">
                <a:solidFill>
                  <a:srgbClr val="171717"/>
                </a:solidFill>
              </a:rPr>
              <a:t>Feature importance follows structural sorting signals</a:t>
            </a:r>
          </a:p>
          <a:p>
            <a:endParaRPr lang="en-TR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98C1B0-20C3-CEA5-0831-8C128689E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421" y="1489468"/>
            <a:ext cx="9133490" cy="627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930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1EB35-44BF-550D-1C48-B3CA164B5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97FEB1-C6DA-61E6-4A52-AA03BF08F48A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4C62790-C500-0B46-8157-3A683C464563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9197EF-F50D-1462-EBED-A6E4FC18BAE5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791D578A-E7C1-240B-DE7F-ED2571BF7CF2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075CF87-6452-82DF-2658-B1DD31DB6569}"/>
              </a:ext>
            </a:extLst>
          </p:cNvPr>
          <p:cNvSpPr txBox="1"/>
          <p:nvPr/>
        </p:nvSpPr>
        <p:spPr>
          <a:xfrm>
            <a:off x="1418892" y="460858"/>
            <a:ext cx="12310871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550" b="0">
                <a:solidFill>
                  <a:srgbClr val="171717"/>
                </a:solidFill>
              </a:defRPr>
            </a:pPr>
            <a:r>
              <a:rPr lang="en-US" sz="4400" dirty="0">
                <a:solidFill>
                  <a:srgbClr val="171717"/>
                </a:solidFill>
              </a:rPr>
              <a:t>Labels are empirical fastest-algorithm measurements</a:t>
            </a:r>
          </a:p>
          <a:p>
            <a:endParaRPr lang="en-TR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E3A93A-11A5-3EDF-16CF-6C49B4FDF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335" y="1440136"/>
            <a:ext cx="11031013" cy="611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883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BB1AE-3C38-A8FF-BCB6-F8400F551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E9EBD9-7E10-F3B4-0756-CE11B0EB6190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3D5C4EF-608B-7F66-343B-8DEAC93957FB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40083DC-886C-67E5-4AC0-FE0DC099A4E1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EA4CA789-589D-C93B-B199-21566AC5BDFC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482DFEF-44A4-5E1A-0127-B497B9B84748}"/>
              </a:ext>
            </a:extLst>
          </p:cNvPr>
          <p:cNvSpPr txBox="1"/>
          <p:nvPr/>
        </p:nvSpPr>
        <p:spPr>
          <a:xfrm>
            <a:off x="4452024" y="480338"/>
            <a:ext cx="6009209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550" b="0">
                <a:solidFill>
                  <a:srgbClr val="171717"/>
                </a:solidFill>
              </a:defRPr>
            </a:pPr>
            <a:r>
              <a:rPr lang="en-US" sz="4400" dirty="0">
                <a:solidFill>
                  <a:srgbClr val="171717"/>
                </a:solidFill>
              </a:rPr>
              <a:t>Training Dataset and Split</a:t>
            </a:r>
          </a:p>
          <a:p>
            <a:pPr algn="ctr"/>
            <a:endParaRPr lang="en-TR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352885-73DF-971F-4982-0E05DD4A4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444" y="1410930"/>
            <a:ext cx="11541512" cy="649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69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14630400" cy="8229600"/>
          </a:xfrm>
          <a:prstGeom prst="rect">
            <a:avLst/>
          </a:prstGeom>
        </p:spPr>
      </p:pic>
      <p:sp>
        <p:nvSpPr>
          <p:cNvPr id="2" name="fix-cover">
            <a:extLst>
              <a:ext uri="{FF2B5EF4-FFF2-40B4-BE49-F238E27FC236}">
                <a16:creationId xmlns:a16="http://schemas.microsoft.com/office/drawing/2014/main" id="{86EE4C41-8242-4321-9AF2-AFCA6E6772B1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" name="native-title-unified">
            <a:extLst>
              <a:ext uri="{FF2B5EF4-FFF2-40B4-BE49-F238E27FC236}">
                <a16:creationId xmlns:a16="http://schemas.microsoft.com/office/drawing/2014/main" id="{478180B8-4FA6-4DA8-8A07-672B9DAFA90B}"/>
              </a:ext>
            </a:extLst>
          </p:cNvPr>
          <p:cNvSpPr>
            <a:spLocks noGrp="1"/>
          </p:cNvSpPr>
          <p:nvPr/>
        </p:nvSpPr>
        <p:spPr>
          <a:xfrm>
            <a:off x="1409700" y="485775"/>
            <a:ext cx="1304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0">
                <a:solidFill>
                  <a:srgbClr val="171717"/>
                </a:solidFill>
              </a:defRPr>
            </a:pP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learns a probability for each sorting choice</a:t>
            </a:r>
          </a:p>
        </p:txBody>
      </p:sp>
      <p:sp>
        <p:nvSpPr>
          <p:cNvPr id="5" name="footer-number-cover">
            <a:extLst>
              <a:ext uri="{FF2B5EF4-FFF2-40B4-BE49-F238E27FC236}">
                <a16:creationId xmlns:a16="http://schemas.microsoft.com/office/drawing/2014/main" id="{2C7218A1-BA7B-491A-9601-F091A52D6610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</p:sp>
      <p:sp>
        <p:nvSpPr>
          <p:cNvPr id="6" name="footer-number-native">
            <a:extLst>
              <a:ext uri="{FF2B5EF4-FFF2-40B4-BE49-F238E27FC236}">
                <a16:creationId xmlns:a16="http://schemas.microsoft.com/office/drawing/2014/main" id="{D664A307-4DD8-4E93-91C4-AA4F046559A7}"/>
              </a:ext>
            </a:extLst>
          </p:cNvPr>
          <p:cNvSpPr>
            <a:spLocks noGrp="1"/>
          </p:cNvSpPr>
          <p:nvPr/>
        </p:nvSpPr>
        <p:spPr>
          <a:xfrm>
            <a:off x="13811250" y="8039100"/>
            <a:ext cx="552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4167" lnSpcReduction="20000"/>
          </a:bodyPr>
          <a:lstStyle/>
          <a:p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13/28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A464B41A-5CC0-812B-3916-037B4D9F498F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771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63" y="0"/>
            <a:ext cx="14630400" cy="8229600"/>
          </a:xfrm>
          <a:prstGeom prst="rect">
            <a:avLst/>
          </a:prstGeom>
        </p:spPr>
      </p:pic>
      <p:sp>
        <p:nvSpPr>
          <p:cNvPr id="2" name="fix-cover">
            <a:extLst>
              <a:ext uri="{FF2B5EF4-FFF2-40B4-BE49-F238E27FC236}">
                <a16:creationId xmlns:a16="http://schemas.microsoft.com/office/drawing/2014/main" id="{1C035EA2-99C0-48AB-9836-2AAA3522790F}"/>
              </a:ext>
            </a:extLst>
          </p:cNvPr>
          <p:cNvSpPr>
            <a:spLocks noGrp="1"/>
          </p:cNvSpPr>
          <p:nvPr/>
        </p:nvSpPr>
        <p:spPr>
          <a:xfrm>
            <a:off x="523875" y="1000125"/>
            <a:ext cx="13573125" cy="666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" name="s15-single-rule">
            <a:extLst>
              <a:ext uri="{FF2B5EF4-FFF2-40B4-BE49-F238E27FC236}">
                <a16:creationId xmlns:a16="http://schemas.microsoft.com/office/drawing/2014/main" id="{D7E6B0C3-7874-44CC-9E3B-71A6DA86BB3A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3373100" cy="0"/>
          </a:xfrm>
          <a:prstGeom prst="line">
            <a:avLst/>
          </a:prstGeom>
          <a:noFill/>
          <a:ln w="14288">
            <a:solidFill>
              <a:srgbClr val="D7DEE8"/>
            </a:solidFill>
            <a:prstDash val="solid"/>
          </a:ln>
        </p:spPr>
      </p:sp>
      <p:sp>
        <p:nvSpPr>
          <p:cNvPr id="5" name="fix-cover">
            <a:extLst>
              <a:ext uri="{FF2B5EF4-FFF2-40B4-BE49-F238E27FC236}">
                <a16:creationId xmlns:a16="http://schemas.microsoft.com/office/drawing/2014/main" id="{FCD711A1-1C03-40C1-891D-DFBDEE1B9019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" name="native-title-unified">
            <a:extLst>
              <a:ext uri="{FF2B5EF4-FFF2-40B4-BE49-F238E27FC236}">
                <a16:creationId xmlns:a16="http://schemas.microsoft.com/office/drawing/2014/main" id="{A1BB40A8-FC45-4836-B0B7-1977BD53D621}"/>
              </a:ext>
            </a:extLst>
          </p:cNvPr>
          <p:cNvSpPr>
            <a:spLocks noGrp="1"/>
          </p:cNvSpPr>
          <p:nvPr/>
        </p:nvSpPr>
        <p:spPr>
          <a:xfrm>
            <a:off x="342900" y="552450"/>
            <a:ext cx="1333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250" b="0">
                <a:solidFill>
                  <a:srgbClr val="171717"/>
                </a:solidFill>
              </a:defRPr>
            </a:pPr>
            <a:r>
              <a:rPr sz="3600" b="0" dirty="0" err="1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36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corrects class scores using first and second order information</a:t>
            </a:r>
          </a:p>
        </p:txBody>
      </p:sp>
      <p:sp>
        <p:nvSpPr>
          <p:cNvPr id="8" name="footer-number-cover">
            <a:extLst>
              <a:ext uri="{FF2B5EF4-FFF2-40B4-BE49-F238E27FC236}">
                <a16:creationId xmlns:a16="http://schemas.microsoft.com/office/drawing/2014/main" id="{8C989133-62C2-41B2-B140-E94036A1F289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</p:sp>
      <p:sp>
        <p:nvSpPr>
          <p:cNvPr id="9" name="footer-number-native">
            <a:extLst>
              <a:ext uri="{FF2B5EF4-FFF2-40B4-BE49-F238E27FC236}">
                <a16:creationId xmlns:a16="http://schemas.microsoft.com/office/drawing/2014/main" id="{4493153C-3E87-46C2-9101-7E1CE89775EA}"/>
              </a:ext>
            </a:extLst>
          </p:cNvPr>
          <p:cNvSpPr>
            <a:spLocks noGrp="1"/>
          </p:cNvSpPr>
          <p:nvPr/>
        </p:nvSpPr>
        <p:spPr>
          <a:xfrm>
            <a:off x="13811250" y="8039100"/>
            <a:ext cx="552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4167" lnSpcReduction="20000"/>
          </a:bodyPr>
          <a:lstStyle/>
          <a:p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15/28</a:t>
            </a:r>
          </a:p>
        </p:txBody>
      </p:sp>
      <p:cxnSp>
        <p:nvCxnSpPr>
          <p:cNvPr id="4" name="Connector 5">
            <a:extLst>
              <a:ext uri="{FF2B5EF4-FFF2-40B4-BE49-F238E27FC236}">
                <a16:creationId xmlns:a16="http://schemas.microsoft.com/office/drawing/2014/main" id="{B8B61855-043F-023A-3157-2E522155369B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76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70864" y="7878470"/>
            <a:ext cx="6035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r"/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1/1</a:t>
            </a:r>
            <a:endParaRPr lang="en-US" sz="1200" dirty="0"/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C10F0435-6F71-3790-BD33-2AE5E653F822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5BF32CF-5139-C8F5-747F-1FA6A5F656C0}"/>
              </a:ext>
            </a:extLst>
          </p:cNvPr>
          <p:cNvSpPr txBox="1"/>
          <p:nvPr/>
        </p:nvSpPr>
        <p:spPr>
          <a:xfrm>
            <a:off x="624468" y="460858"/>
            <a:ext cx="197576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ensemble is constrained so it does not overfit timing noise</a:t>
            </a:r>
          </a:p>
          <a:p>
            <a:endParaRPr lang="en-TR" sz="4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0DEC82D-7925-D9CD-37D5-8CE11BA96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278" y="1558256"/>
            <a:ext cx="10894742" cy="61282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0D3AE-A17C-F50C-564A-E2AE9290C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518D4A-19FF-162B-FF39-5D244D685245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C6F5A97-FF3D-BAA0-47F0-A3F5E9E4EF22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A447D24-3840-6AEB-CE03-DF8B5C4AD3FA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222958C3-E89F-1920-A9BA-0C2ED8DAC234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8A57F1C-31B7-31BF-FB3B-D5119C1C8B0C}"/>
              </a:ext>
            </a:extLst>
          </p:cNvPr>
          <p:cNvSpPr txBox="1"/>
          <p:nvPr/>
        </p:nvSpPr>
        <p:spPr>
          <a:xfrm>
            <a:off x="848118" y="450956"/>
            <a:ext cx="1293379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550" b="0">
                <a:solidFill>
                  <a:srgbClr val="171717"/>
                </a:solidFill>
              </a:defRPr>
            </a:pPr>
            <a:r>
              <a:rPr lang="en-US" sz="4400" dirty="0">
                <a:solidFill>
                  <a:srgbClr val="171717"/>
                </a:solidFill>
              </a:rPr>
              <a:t>Strict checks define the boundary of the reported result</a:t>
            </a:r>
          </a:p>
          <a:p>
            <a:endParaRPr lang="en-TR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9F7331-0E05-BF88-2837-305F6503CB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75" y="1458722"/>
            <a:ext cx="10648021" cy="631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14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18C2E-C96D-1D79-E389-E2177C0A7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F16362-CF27-2407-92D7-487CA271B90B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A2EAFB-87FF-646A-C079-0AABC0738DAF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FBF66A1-5ABB-6C14-B2D1-5715E4A8F4A3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0820857E-AA5A-4972-9279-E0183153E493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1BB1D1F-6752-F784-C9FB-85330947673A}"/>
              </a:ext>
            </a:extLst>
          </p:cNvPr>
          <p:cNvSpPr txBox="1"/>
          <p:nvPr/>
        </p:nvSpPr>
        <p:spPr>
          <a:xfrm>
            <a:off x="451941" y="460858"/>
            <a:ext cx="140997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171717"/>
                </a:solidFill>
              </a:rPr>
              <a:t>Model evolution reduced the problem to its deployable form</a:t>
            </a:r>
          </a:p>
          <a:p>
            <a:endParaRPr lang="en-TR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C4FADA-0DBF-2B1E-5645-A1A9EF499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993" y="1463616"/>
            <a:ext cx="11687723" cy="594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7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subtitle-cover-19">
            <a:extLst>
              <a:ext uri="{FF2B5EF4-FFF2-40B4-BE49-F238E27FC236}">
                <a16:creationId xmlns:a16="http://schemas.microsoft.com/office/drawing/2014/main" id="{753631F8-9B0D-4DB0-801F-4D0DC269C581}"/>
              </a:ext>
            </a:extLst>
          </p:cNvPr>
          <p:cNvSpPr>
            <a:spLocks noGrp="1"/>
          </p:cNvSpPr>
          <p:nvPr/>
        </p:nvSpPr>
        <p:spPr>
          <a:xfrm>
            <a:off x="152400" y="1143000"/>
            <a:ext cx="14325600" cy="647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" name="title-rule-redrawn-19">
            <a:extLst>
              <a:ext uri="{FF2B5EF4-FFF2-40B4-BE49-F238E27FC236}">
                <a16:creationId xmlns:a16="http://schemas.microsoft.com/office/drawing/2014/main" id="{5E534624-EF91-4E64-B353-53C7B16F3634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3716000" cy="0"/>
          </a:xfrm>
          <a:prstGeom prst="line">
            <a:avLst/>
          </a:prstGeom>
          <a:noFill/>
          <a:ln w="11430">
            <a:solidFill>
              <a:srgbClr val="D7DEE8"/>
            </a:solidFill>
            <a:prstDash val="solid"/>
          </a:ln>
        </p:spPr>
      </p:sp>
      <p:sp>
        <p:nvSpPr>
          <p:cNvPr id="5" name="fix-cover">
            <a:extLst>
              <a:ext uri="{FF2B5EF4-FFF2-40B4-BE49-F238E27FC236}">
                <a16:creationId xmlns:a16="http://schemas.microsoft.com/office/drawing/2014/main" id="{E8595C90-566E-4EB2-BD4A-B73A62ED3C57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238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" name="fixed-title">
            <a:extLst>
              <a:ext uri="{FF2B5EF4-FFF2-40B4-BE49-F238E27FC236}">
                <a16:creationId xmlns:a16="http://schemas.microsoft.com/office/drawing/2014/main" id="{9C2030B6-2993-4F11-A527-01E9A3C6E093}"/>
              </a:ext>
            </a:extLst>
          </p:cNvPr>
          <p:cNvSpPr>
            <a:spLocks noGrp="1"/>
          </p:cNvSpPr>
          <p:nvPr/>
        </p:nvSpPr>
        <p:spPr>
          <a:xfrm>
            <a:off x="628650" y="552450"/>
            <a:ext cx="12811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118"/>
          </a:bodyPr>
          <a:lstStyle/>
          <a:p>
            <a:pPr algn="l">
              <a:buNone/>
              <a:defRPr sz="2550" b="0">
                <a:solidFill>
                  <a:srgbClr val="171717"/>
                </a:solidFill>
              </a:defRPr>
            </a:pPr>
            <a:r>
              <a:rPr sz="2550" b="0">
                <a:solidFill>
                  <a:srgbClr val="171717"/>
                </a:solidFill>
              </a:rPr>
              <a:t>Evaluation measures distance from SBS to VBS</a:t>
            </a:r>
          </a:p>
        </p:txBody>
      </p:sp>
      <p:sp>
        <p:nvSpPr>
          <p:cNvPr id="7" name="fixed-title-rule">
            <a:extLst>
              <a:ext uri="{FF2B5EF4-FFF2-40B4-BE49-F238E27FC236}">
                <a16:creationId xmlns:a16="http://schemas.microsoft.com/office/drawing/2014/main" id="{EF98CC93-FBA5-4192-80EB-987E77B2204A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3716000" cy="0"/>
          </a:xfrm>
          <a:prstGeom prst="line">
            <a:avLst/>
          </a:prstGeom>
          <a:noFill/>
          <a:ln w="14288">
            <a:solidFill>
              <a:srgbClr val="D7DEE8"/>
            </a:solidFill>
            <a:prstDash val="solid"/>
          </a:ln>
        </p:spPr>
      </p:sp>
      <p:sp>
        <p:nvSpPr>
          <p:cNvPr id="9" name="fix-cover">
            <a:extLst>
              <a:ext uri="{FF2B5EF4-FFF2-40B4-BE49-F238E27FC236}">
                <a16:creationId xmlns:a16="http://schemas.microsoft.com/office/drawing/2014/main" id="{8710D492-9303-4A5C-8EC4-6511BB798416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0" name="native-title-unified">
            <a:extLst>
              <a:ext uri="{FF2B5EF4-FFF2-40B4-BE49-F238E27FC236}">
                <a16:creationId xmlns:a16="http://schemas.microsoft.com/office/drawing/2014/main" id="{0927ACE3-07A8-4B7D-A38F-C702CF7C225D}"/>
              </a:ext>
            </a:extLst>
          </p:cNvPr>
          <p:cNvSpPr>
            <a:spLocks noGrp="1"/>
          </p:cNvSpPr>
          <p:nvPr/>
        </p:nvSpPr>
        <p:spPr>
          <a:xfrm>
            <a:off x="1581150" y="453599"/>
            <a:ext cx="1304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0">
                <a:solidFill>
                  <a:srgbClr val="171717"/>
                </a:solidFill>
              </a:defRPr>
            </a:pP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measures distance from SBS to VBS</a:t>
            </a:r>
          </a:p>
        </p:txBody>
      </p:sp>
      <p:sp>
        <p:nvSpPr>
          <p:cNvPr id="12" name="footer-number-cover">
            <a:extLst>
              <a:ext uri="{FF2B5EF4-FFF2-40B4-BE49-F238E27FC236}">
                <a16:creationId xmlns:a16="http://schemas.microsoft.com/office/drawing/2014/main" id="{1EDCE646-967F-4BBB-9E20-010F7DBC54BF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</p:sp>
      <p:sp>
        <p:nvSpPr>
          <p:cNvPr id="13" name="footer-number-native">
            <a:extLst>
              <a:ext uri="{FF2B5EF4-FFF2-40B4-BE49-F238E27FC236}">
                <a16:creationId xmlns:a16="http://schemas.microsoft.com/office/drawing/2014/main" id="{80710A9C-4108-439A-93AE-AB9F833C5FB1}"/>
              </a:ext>
            </a:extLst>
          </p:cNvPr>
          <p:cNvSpPr>
            <a:spLocks noGrp="1"/>
          </p:cNvSpPr>
          <p:nvPr/>
        </p:nvSpPr>
        <p:spPr>
          <a:xfrm>
            <a:off x="13811250" y="8039100"/>
            <a:ext cx="552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4167" lnSpcReduction="20000"/>
          </a:bodyPr>
          <a:lstStyle/>
          <a:p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19/28</a:t>
            </a:r>
          </a:p>
        </p:txBody>
      </p:sp>
      <p:cxnSp>
        <p:nvCxnSpPr>
          <p:cNvPr id="4" name="Connector 5">
            <a:extLst>
              <a:ext uri="{FF2B5EF4-FFF2-40B4-BE49-F238E27FC236}">
                <a16:creationId xmlns:a16="http://schemas.microsoft.com/office/drawing/2014/main" id="{333C6390-E086-B654-CCEB-34142CF1A219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670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11988-A78D-6663-A152-0F3A40EBF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93CE37-C36B-23AA-2C18-A90D90637381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E7F5C1-E815-3B15-0FE7-2DDD4AC9C196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0339C7-EE38-E97F-1209-282FD2655C65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63F744ED-0FBE-D360-123B-BDDD67F51E4C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2485688-1250-D5E3-C68B-2336CF3827DA}"/>
              </a:ext>
            </a:extLst>
          </p:cNvPr>
          <p:cNvSpPr txBox="1"/>
          <p:nvPr/>
        </p:nvSpPr>
        <p:spPr>
          <a:xfrm>
            <a:off x="1805966" y="460858"/>
            <a:ext cx="1157252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171717"/>
                </a:solidFill>
              </a:rPr>
              <a:t>The v5 selector closes most of the SBS-to-VBS gap</a:t>
            </a:r>
          </a:p>
          <a:p>
            <a:endParaRPr lang="en-TR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D50D9-32CF-D19B-D01A-FF4CE56022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987" y="1476592"/>
            <a:ext cx="8763465" cy="610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58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subtitle-cover-22">
            <a:extLst>
              <a:ext uri="{FF2B5EF4-FFF2-40B4-BE49-F238E27FC236}">
                <a16:creationId xmlns:a16="http://schemas.microsoft.com/office/drawing/2014/main" id="{12FB82BE-18F3-4D72-92CB-0B57A99BF58E}"/>
              </a:ext>
            </a:extLst>
          </p:cNvPr>
          <p:cNvSpPr>
            <a:spLocks noGrp="1"/>
          </p:cNvSpPr>
          <p:nvPr/>
        </p:nvSpPr>
        <p:spPr>
          <a:xfrm>
            <a:off x="152400" y="1143000"/>
            <a:ext cx="14325600" cy="647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" name="title-rule-redrawn-22">
            <a:extLst>
              <a:ext uri="{FF2B5EF4-FFF2-40B4-BE49-F238E27FC236}">
                <a16:creationId xmlns:a16="http://schemas.microsoft.com/office/drawing/2014/main" id="{AE2F2B2E-BFB0-478F-9D36-83A223BAC589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3716000" cy="0"/>
          </a:xfrm>
          <a:prstGeom prst="line">
            <a:avLst/>
          </a:prstGeom>
          <a:noFill/>
          <a:ln w="11430">
            <a:solidFill>
              <a:srgbClr val="D7DEE8"/>
            </a:solidFill>
            <a:prstDash val="solid"/>
          </a:ln>
        </p:spPr>
      </p:sp>
      <p:sp>
        <p:nvSpPr>
          <p:cNvPr id="5" name="fix-cover">
            <a:extLst>
              <a:ext uri="{FF2B5EF4-FFF2-40B4-BE49-F238E27FC236}">
                <a16:creationId xmlns:a16="http://schemas.microsoft.com/office/drawing/2014/main" id="{03E4494D-A57B-4F19-A0F7-3539E98559AF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238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" name="fixed-title">
            <a:extLst>
              <a:ext uri="{FF2B5EF4-FFF2-40B4-BE49-F238E27FC236}">
                <a16:creationId xmlns:a16="http://schemas.microsoft.com/office/drawing/2014/main" id="{993FEAC7-3587-4BEE-8094-3DFB850A5CB5}"/>
              </a:ext>
            </a:extLst>
          </p:cNvPr>
          <p:cNvSpPr>
            <a:spLocks noGrp="1"/>
          </p:cNvSpPr>
          <p:nvPr/>
        </p:nvSpPr>
        <p:spPr>
          <a:xfrm>
            <a:off x="628650" y="552450"/>
            <a:ext cx="12811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171717"/>
                </a:solidFill>
              </a:defRPr>
            </a:pPr>
            <a:r>
              <a:rPr sz="2325" b="0">
                <a:solidFill>
                  <a:srgbClr val="171717"/>
                </a:solidFill>
              </a:rPr>
              <a:t>Residual error is concentrated at the introsort-heapsort boundary</a:t>
            </a:r>
          </a:p>
        </p:txBody>
      </p:sp>
      <p:sp>
        <p:nvSpPr>
          <p:cNvPr id="7" name="fixed-title-rule">
            <a:extLst>
              <a:ext uri="{FF2B5EF4-FFF2-40B4-BE49-F238E27FC236}">
                <a16:creationId xmlns:a16="http://schemas.microsoft.com/office/drawing/2014/main" id="{2F0EB9F3-4588-4BC2-B5CE-BE2E9A75C130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3716000" cy="0"/>
          </a:xfrm>
          <a:prstGeom prst="line">
            <a:avLst/>
          </a:prstGeom>
          <a:noFill/>
          <a:ln w="14288">
            <a:solidFill>
              <a:srgbClr val="D7DEE8"/>
            </a:solidFill>
            <a:prstDash val="solid"/>
          </a:ln>
        </p:spPr>
      </p:sp>
      <p:sp>
        <p:nvSpPr>
          <p:cNvPr id="9" name="fix-cover">
            <a:extLst>
              <a:ext uri="{FF2B5EF4-FFF2-40B4-BE49-F238E27FC236}">
                <a16:creationId xmlns:a16="http://schemas.microsoft.com/office/drawing/2014/main" id="{4EC19E92-F2D1-4517-B692-0A203DA51079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0" name="native-title-unified">
            <a:extLst>
              <a:ext uri="{FF2B5EF4-FFF2-40B4-BE49-F238E27FC236}">
                <a16:creationId xmlns:a16="http://schemas.microsoft.com/office/drawing/2014/main" id="{AB910F33-A4AA-46EE-94A1-9ED18EEB8847}"/>
              </a:ext>
            </a:extLst>
          </p:cNvPr>
          <p:cNvSpPr>
            <a:spLocks noGrp="1"/>
          </p:cNvSpPr>
          <p:nvPr/>
        </p:nvSpPr>
        <p:spPr>
          <a:xfrm>
            <a:off x="628650" y="552450"/>
            <a:ext cx="14230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250" b="0">
                <a:solidFill>
                  <a:srgbClr val="171717"/>
                </a:solidFill>
              </a:defRPr>
            </a:pP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error is concentrated at the </a:t>
            </a:r>
            <a:r>
              <a:rPr sz="4200" b="0" dirty="0" err="1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introsort</a:t>
            </a: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-heapsort boundary</a:t>
            </a:r>
          </a:p>
        </p:txBody>
      </p:sp>
      <p:sp>
        <p:nvSpPr>
          <p:cNvPr id="12" name="footer-number-cover">
            <a:extLst>
              <a:ext uri="{FF2B5EF4-FFF2-40B4-BE49-F238E27FC236}">
                <a16:creationId xmlns:a16="http://schemas.microsoft.com/office/drawing/2014/main" id="{0462F89A-7C15-456F-896C-FC9997ED85AA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</p:sp>
      <p:sp>
        <p:nvSpPr>
          <p:cNvPr id="13" name="footer-number-native">
            <a:extLst>
              <a:ext uri="{FF2B5EF4-FFF2-40B4-BE49-F238E27FC236}">
                <a16:creationId xmlns:a16="http://schemas.microsoft.com/office/drawing/2014/main" id="{E99C4F71-438D-40A6-9E17-43A8C38F1D07}"/>
              </a:ext>
            </a:extLst>
          </p:cNvPr>
          <p:cNvSpPr>
            <a:spLocks noGrp="1"/>
          </p:cNvSpPr>
          <p:nvPr/>
        </p:nvSpPr>
        <p:spPr>
          <a:xfrm>
            <a:off x="13811250" y="8039100"/>
            <a:ext cx="552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4167" lnSpcReduction="20000"/>
          </a:bodyPr>
          <a:lstStyle/>
          <a:p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22/28</a:t>
            </a:r>
          </a:p>
        </p:txBody>
      </p:sp>
      <p:cxnSp>
        <p:nvCxnSpPr>
          <p:cNvPr id="4" name="Connector 5">
            <a:extLst>
              <a:ext uri="{FF2B5EF4-FFF2-40B4-BE49-F238E27FC236}">
                <a16:creationId xmlns:a16="http://schemas.microsoft.com/office/drawing/2014/main" id="{B39FD8DC-A778-CEA9-95AE-14098ACB6447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145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7753E-4B2C-F8B6-5148-7450CEFC5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DC5AE5-B67F-9609-6DD8-6E68958999CC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D135B45-B644-95BF-EB78-DD5AEC416728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9DA3D76-89AC-94CB-E1D4-3657A8F56682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8701772B-76B0-4CA8-174A-1DB177A9D915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9CFFAF4-E769-7B2F-201B-79267E4D536C}"/>
              </a:ext>
            </a:extLst>
          </p:cNvPr>
          <p:cNvSpPr txBox="1"/>
          <p:nvPr/>
        </p:nvSpPr>
        <p:spPr>
          <a:xfrm>
            <a:off x="1805966" y="460858"/>
            <a:ext cx="11704230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550" b="0">
                <a:solidFill>
                  <a:srgbClr val="171717"/>
                </a:solidFill>
              </a:defRPr>
            </a:pPr>
            <a:r>
              <a:rPr lang="en-US" sz="4400" dirty="0">
                <a:solidFill>
                  <a:srgbClr val="171717"/>
                </a:solidFill>
              </a:rPr>
              <a:t>F1 routing was treated as a separate specialization</a:t>
            </a:r>
          </a:p>
          <a:p>
            <a:endParaRPr lang="en-TR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9FDAEF-7E8F-6C7D-1F71-A621391A1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40" y="1372912"/>
            <a:ext cx="9286120" cy="606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611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" name="top-maroon-strip">
            <a:extLst>
              <a:ext uri="{FF2B5EF4-FFF2-40B4-BE49-F238E27FC236}">
                <a16:creationId xmlns:a16="http://schemas.microsoft.com/office/drawing/2014/main" id="{3AEFA69A-61B4-45E6-B83A-90623CE2E3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4859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</p:sp>
      <p:sp>
        <p:nvSpPr>
          <p:cNvPr id="10001" name="top-orange-strip">
            <a:extLst>
              <a:ext uri="{FF2B5EF4-FFF2-40B4-BE49-F238E27FC236}">
                <a16:creationId xmlns:a16="http://schemas.microsoft.com/office/drawing/2014/main" id="{166BD228-8FFB-4ECB-9AFF-CD73A5DCCFD2}"/>
              </a:ext>
            </a:extLst>
          </p:cNvPr>
          <p:cNvSpPr>
            <a:spLocks noGrp="1"/>
          </p:cNvSpPr>
          <p:nvPr/>
        </p:nvSpPr>
        <p:spPr>
          <a:xfrm>
            <a:off x="0" y="148590"/>
            <a:ext cx="14630400" cy="102870"/>
          </a:xfrm>
          <a:prstGeom prst="rect">
            <a:avLst/>
          </a:prstGeom>
          <a:solidFill>
            <a:srgbClr val="F4511E"/>
          </a:solidFill>
          <a:ln w="0">
            <a:solidFill>
              <a:srgbClr val="F4511E"/>
            </a:solidFill>
            <a:prstDash val="solid"/>
          </a:ln>
        </p:spPr>
      </p:sp>
      <p:sp>
        <p:nvSpPr>
          <p:cNvPr id="10002" name="bottom-maroon-strip">
            <a:extLst>
              <a:ext uri="{FF2B5EF4-FFF2-40B4-BE49-F238E27FC236}">
                <a16:creationId xmlns:a16="http://schemas.microsoft.com/office/drawing/2014/main" id="{691C90BE-27A2-448F-A466-2EFA9B74A950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</p:sp>
      <p:sp>
        <p:nvSpPr>
          <p:cNvPr id="10003" name="title">
            <a:extLst>
              <a:ext uri="{FF2B5EF4-FFF2-40B4-BE49-F238E27FC236}">
                <a16:creationId xmlns:a16="http://schemas.microsoft.com/office/drawing/2014/main" id="{CBE23222-5F4F-4265-B3EF-3FF3B7ECC354}"/>
              </a:ext>
            </a:extLst>
          </p:cNvPr>
          <p:cNvSpPr>
            <a:spLocks noGrp="1"/>
          </p:cNvSpPr>
          <p:nvPr/>
        </p:nvSpPr>
        <p:spPr>
          <a:xfrm>
            <a:off x="982980" y="662940"/>
            <a:ext cx="11887200" cy="617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70" b="1">
                <a:solidFill>
                  <a:srgbClr val="171717"/>
                </a:solidFill>
              </a:defRPr>
            </a:pPr>
            <a:r>
              <a:rPr sz="2970" b="1">
                <a:solidFill>
                  <a:srgbClr val="171717"/>
                </a:solidFill>
              </a:rPr>
              <a:t>Optuna tuning strengthened the F1 channel models</a:t>
            </a:r>
          </a:p>
        </p:txBody>
      </p:sp>
      <p:sp>
        <p:nvSpPr>
          <p:cNvPr id="10006" name="title-rule">
            <a:extLst>
              <a:ext uri="{FF2B5EF4-FFF2-40B4-BE49-F238E27FC236}">
                <a16:creationId xmlns:a16="http://schemas.microsoft.com/office/drawing/2014/main" id="{57C0FB74-80F4-4D61-BE5D-BF760AE83949}"/>
              </a:ext>
            </a:extLst>
          </p:cNvPr>
          <p:cNvSpPr>
            <a:spLocks noGrp="1"/>
          </p:cNvSpPr>
          <p:nvPr/>
        </p:nvSpPr>
        <p:spPr>
          <a:xfrm>
            <a:off x="982980" y="1348740"/>
            <a:ext cx="12275820" cy="0"/>
          </a:xfrm>
          <a:prstGeom prst="line">
            <a:avLst/>
          </a:prstGeom>
          <a:noFill/>
          <a:ln w="18288">
            <a:solidFill>
              <a:srgbClr val="D7DEE8"/>
            </a:solidFill>
            <a:prstDash val="solid"/>
          </a:ln>
        </p:spPr>
      </p:sp>
      <p:sp>
        <p:nvSpPr>
          <p:cNvPr id="10007" name="searched-settings">
            <a:extLst>
              <a:ext uri="{FF2B5EF4-FFF2-40B4-BE49-F238E27FC236}">
                <a16:creationId xmlns:a16="http://schemas.microsoft.com/office/drawing/2014/main" id="{AEE721D8-23D6-4A08-878C-536802875706}"/>
              </a:ext>
            </a:extLst>
          </p:cNvPr>
          <p:cNvSpPr>
            <a:spLocks noGrp="1"/>
          </p:cNvSpPr>
          <p:nvPr/>
        </p:nvSpPr>
        <p:spPr>
          <a:xfrm>
            <a:off x="1440180" y="1760220"/>
            <a:ext cx="117729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1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Optuna searched: </a:t>
            </a:r>
            <a:r>
              <a:rPr>
                <a:solidFill>
                  <a:srgbClr val="F4511E"/>
                </a:solidFill>
              </a:rPr>
              <a:t>tree count, tree depth, learning rate, row/feature sampling, and regularisation</a:t>
            </a:r>
          </a:p>
        </p:txBody>
      </p:sp>
      <p:sp>
        <p:nvSpPr>
          <p:cNvPr id="10011" name="settings-rule">
            <a:extLst>
              <a:ext uri="{FF2B5EF4-FFF2-40B4-BE49-F238E27FC236}">
                <a16:creationId xmlns:a16="http://schemas.microsoft.com/office/drawing/2014/main" id="{63C3823F-8DDA-45FB-9FDF-EF005F99953C}"/>
              </a:ext>
            </a:extLst>
          </p:cNvPr>
          <p:cNvSpPr>
            <a:spLocks noGrp="1"/>
          </p:cNvSpPr>
          <p:nvPr/>
        </p:nvSpPr>
        <p:spPr>
          <a:xfrm>
            <a:off x="1440180" y="2286000"/>
            <a:ext cx="11818620" cy="0"/>
          </a:xfrm>
          <a:prstGeom prst="line">
            <a:avLst/>
          </a:prstGeom>
          <a:noFill/>
          <a:ln w="12573">
            <a:solidFill>
              <a:srgbClr val="E8EDF4"/>
            </a:solidFill>
            <a:prstDash val="solid"/>
          </a:ln>
        </p:spPr>
      </p:sp>
      <p:sp>
        <p:nvSpPr>
          <p:cNvPr id="10012" name="h-metric">
            <a:extLst>
              <a:ext uri="{FF2B5EF4-FFF2-40B4-BE49-F238E27FC236}">
                <a16:creationId xmlns:a16="http://schemas.microsoft.com/office/drawing/2014/main" id="{637707DF-0D98-43C2-8A8B-9BD10E056052}"/>
              </a:ext>
            </a:extLst>
          </p:cNvPr>
          <p:cNvSpPr>
            <a:spLocks noGrp="1"/>
          </p:cNvSpPr>
          <p:nvPr/>
        </p:nvSpPr>
        <p:spPr>
          <a:xfrm>
            <a:off x="1440180" y="2720340"/>
            <a:ext cx="34290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 b="1">
                <a:solidFill>
                  <a:srgbClr val="5C6A7F"/>
                </a:solidFill>
              </a:defRPr>
            </a:pPr>
            <a:r>
              <a:rPr sz="1530" b="1">
                <a:solidFill>
                  <a:srgbClr val="5C6A7F"/>
                </a:solidFill>
              </a:rPr>
              <a:t>Metric</a:t>
            </a:r>
          </a:p>
        </p:txBody>
      </p:sp>
      <p:sp>
        <p:nvSpPr>
          <p:cNvPr id="10015" name="h-before">
            <a:extLst>
              <a:ext uri="{FF2B5EF4-FFF2-40B4-BE49-F238E27FC236}">
                <a16:creationId xmlns:a16="http://schemas.microsoft.com/office/drawing/2014/main" id="{F5DA6A6E-F55A-4C2F-AD6F-CDCEBA4B3447}"/>
              </a:ext>
            </a:extLst>
          </p:cNvPr>
          <p:cNvSpPr>
            <a:spLocks noGrp="1"/>
          </p:cNvSpPr>
          <p:nvPr/>
        </p:nvSpPr>
        <p:spPr>
          <a:xfrm>
            <a:off x="6126480" y="2720340"/>
            <a:ext cx="13716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 b="1">
                <a:solidFill>
                  <a:srgbClr val="5C6A7F"/>
                </a:solidFill>
              </a:defRPr>
            </a:pPr>
            <a:r>
              <a:rPr sz="1530" b="1">
                <a:solidFill>
                  <a:srgbClr val="5C6A7F"/>
                </a:solidFill>
              </a:rPr>
              <a:t>Before</a:t>
            </a:r>
          </a:p>
        </p:txBody>
      </p:sp>
      <p:sp>
        <p:nvSpPr>
          <p:cNvPr id="10018" name="h-after">
            <a:extLst>
              <a:ext uri="{FF2B5EF4-FFF2-40B4-BE49-F238E27FC236}">
                <a16:creationId xmlns:a16="http://schemas.microsoft.com/office/drawing/2014/main" id="{E6B73070-17B6-418F-88FA-5F058AF287C5}"/>
              </a:ext>
            </a:extLst>
          </p:cNvPr>
          <p:cNvSpPr>
            <a:spLocks noGrp="1"/>
          </p:cNvSpPr>
          <p:nvPr/>
        </p:nvSpPr>
        <p:spPr>
          <a:xfrm>
            <a:off x="7840980" y="2720340"/>
            <a:ext cx="150876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 b="1">
                <a:solidFill>
                  <a:srgbClr val="5C6A7F"/>
                </a:solidFill>
              </a:defRPr>
            </a:pPr>
            <a:r>
              <a:rPr sz="1530" b="1">
                <a:solidFill>
                  <a:srgbClr val="5C6A7F"/>
                </a:solidFill>
              </a:rPr>
              <a:t>After Optuna</a:t>
            </a:r>
          </a:p>
        </p:txBody>
      </p:sp>
      <p:sp>
        <p:nvSpPr>
          <p:cNvPr id="10021" name="h-change">
            <a:extLst>
              <a:ext uri="{FF2B5EF4-FFF2-40B4-BE49-F238E27FC236}">
                <a16:creationId xmlns:a16="http://schemas.microsoft.com/office/drawing/2014/main" id="{D953207E-849C-43D0-8028-AA8FE6EB0383}"/>
              </a:ext>
            </a:extLst>
          </p:cNvPr>
          <p:cNvSpPr>
            <a:spLocks noGrp="1"/>
          </p:cNvSpPr>
          <p:nvPr/>
        </p:nvSpPr>
        <p:spPr>
          <a:xfrm>
            <a:off x="9498330" y="2720340"/>
            <a:ext cx="10287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 b="1">
                <a:solidFill>
                  <a:srgbClr val="5C6A7F"/>
                </a:solidFill>
              </a:defRPr>
            </a:pPr>
            <a:r>
              <a:rPr sz="1530" b="1">
                <a:solidFill>
                  <a:srgbClr val="5C6A7F"/>
                </a:solidFill>
              </a:rPr>
              <a:t>Change</a:t>
            </a:r>
          </a:p>
        </p:txBody>
      </p:sp>
      <p:sp>
        <p:nvSpPr>
          <p:cNvPr id="10024" name="table-head-rule">
            <a:extLst>
              <a:ext uri="{FF2B5EF4-FFF2-40B4-BE49-F238E27FC236}">
                <a16:creationId xmlns:a16="http://schemas.microsoft.com/office/drawing/2014/main" id="{97F0466C-AB78-4EEB-8D10-63D50017EB6D}"/>
              </a:ext>
            </a:extLst>
          </p:cNvPr>
          <p:cNvSpPr>
            <a:spLocks noGrp="1"/>
          </p:cNvSpPr>
          <p:nvPr/>
        </p:nvSpPr>
        <p:spPr>
          <a:xfrm>
            <a:off x="1440180" y="3143250"/>
            <a:ext cx="9029700" cy="0"/>
          </a:xfrm>
          <a:prstGeom prst="line">
            <a:avLst/>
          </a:prstGeom>
          <a:noFill/>
          <a:ln w="13716">
            <a:solidFill>
              <a:srgbClr val="D7DEE8"/>
            </a:solidFill>
            <a:prstDash val="solid"/>
          </a:ln>
        </p:spPr>
      </p:sp>
      <p:sp>
        <p:nvSpPr>
          <p:cNvPr id="10025" name="metric-0">
            <a:extLst>
              <a:ext uri="{FF2B5EF4-FFF2-40B4-BE49-F238E27FC236}">
                <a16:creationId xmlns:a16="http://schemas.microsoft.com/office/drawing/2014/main" id="{7E122299-C44D-4F27-8165-8F6DA58E7A31}"/>
              </a:ext>
            </a:extLst>
          </p:cNvPr>
          <p:cNvSpPr>
            <a:spLocks noGrp="1"/>
          </p:cNvSpPr>
          <p:nvPr/>
        </p:nvSpPr>
        <p:spPr>
          <a:xfrm>
            <a:off x="1440180" y="3383280"/>
            <a:ext cx="422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>
                <a:solidFill>
                  <a:srgbClr val="171717"/>
                </a:solidFill>
              </a:defRPr>
            </a:pPr>
            <a:r>
              <a:rPr sz="1620">
                <a:solidFill>
                  <a:srgbClr val="171717"/>
                </a:solidFill>
              </a:rPr>
              <a:t>F1 avg test accuracy</a:t>
            </a:r>
          </a:p>
        </p:txBody>
      </p:sp>
      <p:sp>
        <p:nvSpPr>
          <p:cNvPr id="10028" name="before-0">
            <a:extLst>
              <a:ext uri="{FF2B5EF4-FFF2-40B4-BE49-F238E27FC236}">
                <a16:creationId xmlns:a16="http://schemas.microsoft.com/office/drawing/2014/main" id="{CB97A922-E741-48DB-B60C-41CEF6F4A406}"/>
              </a:ext>
            </a:extLst>
          </p:cNvPr>
          <p:cNvSpPr>
            <a:spLocks noGrp="1"/>
          </p:cNvSpPr>
          <p:nvPr/>
        </p:nvSpPr>
        <p:spPr>
          <a:xfrm>
            <a:off x="6126480" y="3383280"/>
            <a:ext cx="1085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46.0%</a:t>
            </a:r>
          </a:p>
        </p:txBody>
      </p:sp>
      <p:sp>
        <p:nvSpPr>
          <p:cNvPr id="10031" name="after-0">
            <a:extLst>
              <a:ext uri="{FF2B5EF4-FFF2-40B4-BE49-F238E27FC236}">
                <a16:creationId xmlns:a16="http://schemas.microsoft.com/office/drawing/2014/main" id="{79B63F5D-C511-463A-B6C7-BF5414A20A96}"/>
              </a:ext>
            </a:extLst>
          </p:cNvPr>
          <p:cNvSpPr>
            <a:spLocks noGrp="1"/>
          </p:cNvSpPr>
          <p:nvPr/>
        </p:nvSpPr>
        <p:spPr>
          <a:xfrm>
            <a:off x="7840980" y="3383280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53.6%</a:t>
            </a:r>
          </a:p>
        </p:txBody>
      </p:sp>
      <p:sp>
        <p:nvSpPr>
          <p:cNvPr id="10034" name="change-0">
            <a:extLst>
              <a:ext uri="{FF2B5EF4-FFF2-40B4-BE49-F238E27FC236}">
                <a16:creationId xmlns:a16="http://schemas.microsoft.com/office/drawing/2014/main" id="{032BCDA7-0D38-4345-98CC-3CBA624CC4EB}"/>
              </a:ext>
            </a:extLst>
          </p:cNvPr>
          <p:cNvSpPr>
            <a:spLocks noGrp="1"/>
          </p:cNvSpPr>
          <p:nvPr/>
        </p:nvSpPr>
        <p:spPr>
          <a:xfrm>
            <a:off x="9498330" y="3383280"/>
            <a:ext cx="9372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+7.6</a:t>
            </a:r>
          </a:p>
        </p:txBody>
      </p:sp>
      <p:sp>
        <p:nvSpPr>
          <p:cNvPr id="10037" name="table-row-rule-0">
            <a:extLst>
              <a:ext uri="{FF2B5EF4-FFF2-40B4-BE49-F238E27FC236}">
                <a16:creationId xmlns:a16="http://schemas.microsoft.com/office/drawing/2014/main" id="{0135B777-FAB9-42EE-83C7-CE60BCAC6D2A}"/>
              </a:ext>
            </a:extLst>
          </p:cNvPr>
          <p:cNvSpPr>
            <a:spLocks noGrp="1"/>
          </p:cNvSpPr>
          <p:nvPr/>
        </p:nvSpPr>
        <p:spPr>
          <a:xfrm>
            <a:off x="1440180" y="3840480"/>
            <a:ext cx="9029700" cy="0"/>
          </a:xfrm>
          <a:prstGeom prst="line">
            <a:avLst/>
          </a:prstGeom>
          <a:noFill/>
          <a:ln w="12573">
            <a:solidFill>
              <a:srgbClr val="E8EDF4"/>
            </a:solidFill>
            <a:prstDash val="solid"/>
          </a:ln>
        </p:spPr>
      </p:sp>
      <p:sp>
        <p:nvSpPr>
          <p:cNvPr id="10038" name="metric-1">
            <a:extLst>
              <a:ext uri="{FF2B5EF4-FFF2-40B4-BE49-F238E27FC236}">
                <a16:creationId xmlns:a16="http://schemas.microsoft.com/office/drawing/2014/main" id="{53173E1C-9EB8-4A30-8EDF-9F4EA118CE0F}"/>
              </a:ext>
            </a:extLst>
          </p:cNvPr>
          <p:cNvSpPr>
            <a:spLocks noGrp="1"/>
          </p:cNvSpPr>
          <p:nvPr/>
        </p:nvSpPr>
        <p:spPr>
          <a:xfrm>
            <a:off x="1440180" y="4000500"/>
            <a:ext cx="422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>
                <a:solidFill>
                  <a:srgbClr val="171717"/>
                </a:solidFill>
              </a:defRPr>
            </a:pPr>
            <a:r>
              <a:rPr sz="1620">
                <a:solidFill>
                  <a:srgbClr val="171717"/>
                </a:solidFill>
              </a:rPr>
              <a:t>F1 avg balanced accuracy</a:t>
            </a:r>
          </a:p>
        </p:txBody>
      </p:sp>
      <p:sp>
        <p:nvSpPr>
          <p:cNvPr id="10041" name="before-1">
            <a:extLst>
              <a:ext uri="{FF2B5EF4-FFF2-40B4-BE49-F238E27FC236}">
                <a16:creationId xmlns:a16="http://schemas.microsoft.com/office/drawing/2014/main" id="{1FA0EE7E-18C6-4CFD-A726-02542E362BA8}"/>
              </a:ext>
            </a:extLst>
          </p:cNvPr>
          <p:cNvSpPr>
            <a:spLocks noGrp="1"/>
          </p:cNvSpPr>
          <p:nvPr/>
        </p:nvSpPr>
        <p:spPr>
          <a:xfrm>
            <a:off x="6126480" y="4000500"/>
            <a:ext cx="1085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48.2%</a:t>
            </a:r>
          </a:p>
        </p:txBody>
      </p:sp>
      <p:sp>
        <p:nvSpPr>
          <p:cNvPr id="10044" name="after-1">
            <a:extLst>
              <a:ext uri="{FF2B5EF4-FFF2-40B4-BE49-F238E27FC236}">
                <a16:creationId xmlns:a16="http://schemas.microsoft.com/office/drawing/2014/main" id="{9B82D0A9-3DAF-439B-8980-76CED9F252D5}"/>
              </a:ext>
            </a:extLst>
          </p:cNvPr>
          <p:cNvSpPr>
            <a:spLocks noGrp="1"/>
          </p:cNvSpPr>
          <p:nvPr/>
        </p:nvSpPr>
        <p:spPr>
          <a:xfrm>
            <a:off x="7840980" y="4000500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49.8%</a:t>
            </a:r>
          </a:p>
        </p:txBody>
      </p:sp>
      <p:sp>
        <p:nvSpPr>
          <p:cNvPr id="10047" name="change-1">
            <a:extLst>
              <a:ext uri="{FF2B5EF4-FFF2-40B4-BE49-F238E27FC236}">
                <a16:creationId xmlns:a16="http://schemas.microsoft.com/office/drawing/2014/main" id="{0C664B2F-4596-4625-8BC7-72736B780582}"/>
              </a:ext>
            </a:extLst>
          </p:cNvPr>
          <p:cNvSpPr>
            <a:spLocks noGrp="1"/>
          </p:cNvSpPr>
          <p:nvPr/>
        </p:nvSpPr>
        <p:spPr>
          <a:xfrm>
            <a:off x="9498330" y="4000500"/>
            <a:ext cx="9372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+1.6</a:t>
            </a:r>
          </a:p>
        </p:txBody>
      </p:sp>
      <p:sp>
        <p:nvSpPr>
          <p:cNvPr id="10050" name="table-row-rule-1">
            <a:extLst>
              <a:ext uri="{FF2B5EF4-FFF2-40B4-BE49-F238E27FC236}">
                <a16:creationId xmlns:a16="http://schemas.microsoft.com/office/drawing/2014/main" id="{AFE25C8F-F502-4F2B-B24C-1853A6B2E97E}"/>
              </a:ext>
            </a:extLst>
          </p:cNvPr>
          <p:cNvSpPr>
            <a:spLocks noGrp="1"/>
          </p:cNvSpPr>
          <p:nvPr/>
        </p:nvSpPr>
        <p:spPr>
          <a:xfrm>
            <a:off x="1440180" y="4457700"/>
            <a:ext cx="9029700" cy="0"/>
          </a:xfrm>
          <a:prstGeom prst="line">
            <a:avLst/>
          </a:prstGeom>
          <a:noFill/>
          <a:ln w="12573">
            <a:solidFill>
              <a:srgbClr val="E8EDF4"/>
            </a:solidFill>
            <a:prstDash val="solid"/>
          </a:ln>
        </p:spPr>
      </p:sp>
      <p:sp>
        <p:nvSpPr>
          <p:cNvPr id="10051" name="metric-2">
            <a:extLst>
              <a:ext uri="{FF2B5EF4-FFF2-40B4-BE49-F238E27FC236}">
                <a16:creationId xmlns:a16="http://schemas.microsoft.com/office/drawing/2014/main" id="{7EE4EA2A-1F57-47CD-8043-AC0BCB91AEF5}"/>
              </a:ext>
            </a:extLst>
          </p:cNvPr>
          <p:cNvSpPr>
            <a:spLocks noGrp="1"/>
          </p:cNvSpPr>
          <p:nvPr/>
        </p:nvSpPr>
        <p:spPr>
          <a:xfrm>
            <a:off x="1440180" y="4617720"/>
            <a:ext cx="422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>
                <a:solidFill>
                  <a:srgbClr val="171717"/>
                </a:solidFill>
              </a:defRPr>
            </a:pPr>
            <a:r>
              <a:rPr sz="1620">
                <a:solidFill>
                  <a:srgbClr val="171717"/>
                </a:solidFill>
              </a:rPr>
              <a:t>DRS test accuracy</a:t>
            </a:r>
          </a:p>
        </p:txBody>
      </p:sp>
      <p:sp>
        <p:nvSpPr>
          <p:cNvPr id="10054" name="before-2">
            <a:extLst>
              <a:ext uri="{FF2B5EF4-FFF2-40B4-BE49-F238E27FC236}">
                <a16:creationId xmlns:a16="http://schemas.microsoft.com/office/drawing/2014/main" id="{B1D4D975-4BCD-4DB3-82F5-DA4BECDE4D86}"/>
              </a:ext>
            </a:extLst>
          </p:cNvPr>
          <p:cNvSpPr>
            <a:spLocks noGrp="1"/>
          </p:cNvSpPr>
          <p:nvPr/>
        </p:nvSpPr>
        <p:spPr>
          <a:xfrm>
            <a:off x="6126480" y="4617720"/>
            <a:ext cx="1085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55.0%</a:t>
            </a:r>
          </a:p>
        </p:txBody>
      </p:sp>
      <p:sp>
        <p:nvSpPr>
          <p:cNvPr id="10057" name="after-2">
            <a:extLst>
              <a:ext uri="{FF2B5EF4-FFF2-40B4-BE49-F238E27FC236}">
                <a16:creationId xmlns:a16="http://schemas.microsoft.com/office/drawing/2014/main" id="{B476CDF7-C257-4FE9-B677-F5FE41308B0C}"/>
              </a:ext>
            </a:extLst>
          </p:cNvPr>
          <p:cNvSpPr>
            <a:spLocks noGrp="1"/>
          </p:cNvSpPr>
          <p:nvPr/>
        </p:nvSpPr>
        <p:spPr>
          <a:xfrm>
            <a:off x="7840980" y="4617720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76.4%</a:t>
            </a:r>
          </a:p>
        </p:txBody>
      </p:sp>
      <p:sp>
        <p:nvSpPr>
          <p:cNvPr id="10060" name="change-2">
            <a:extLst>
              <a:ext uri="{FF2B5EF4-FFF2-40B4-BE49-F238E27FC236}">
                <a16:creationId xmlns:a16="http://schemas.microsoft.com/office/drawing/2014/main" id="{E919BB89-7C4E-4A37-A5F8-FDD9C83C4D42}"/>
              </a:ext>
            </a:extLst>
          </p:cNvPr>
          <p:cNvSpPr>
            <a:spLocks noGrp="1"/>
          </p:cNvSpPr>
          <p:nvPr/>
        </p:nvSpPr>
        <p:spPr>
          <a:xfrm>
            <a:off x="9498330" y="4617720"/>
            <a:ext cx="9372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+21.4</a:t>
            </a:r>
          </a:p>
        </p:txBody>
      </p:sp>
      <p:sp>
        <p:nvSpPr>
          <p:cNvPr id="10063" name="table-row-rule-2">
            <a:extLst>
              <a:ext uri="{FF2B5EF4-FFF2-40B4-BE49-F238E27FC236}">
                <a16:creationId xmlns:a16="http://schemas.microsoft.com/office/drawing/2014/main" id="{FD9F9E61-7BFC-4BED-96AA-F3101F0C1F20}"/>
              </a:ext>
            </a:extLst>
          </p:cNvPr>
          <p:cNvSpPr>
            <a:spLocks noGrp="1"/>
          </p:cNvSpPr>
          <p:nvPr/>
        </p:nvSpPr>
        <p:spPr>
          <a:xfrm>
            <a:off x="1440180" y="5074920"/>
            <a:ext cx="9029700" cy="0"/>
          </a:xfrm>
          <a:prstGeom prst="line">
            <a:avLst/>
          </a:prstGeom>
          <a:noFill/>
          <a:ln w="12573">
            <a:solidFill>
              <a:srgbClr val="E8EDF4"/>
            </a:solidFill>
            <a:prstDash val="solid"/>
          </a:ln>
        </p:spPr>
      </p:sp>
      <p:sp>
        <p:nvSpPr>
          <p:cNvPr id="10064" name="metric-3">
            <a:extLst>
              <a:ext uri="{FF2B5EF4-FFF2-40B4-BE49-F238E27FC236}">
                <a16:creationId xmlns:a16="http://schemas.microsoft.com/office/drawing/2014/main" id="{CAA76B28-2941-4782-9A09-C8FBE7194DE5}"/>
              </a:ext>
            </a:extLst>
          </p:cNvPr>
          <p:cNvSpPr>
            <a:spLocks noGrp="1"/>
          </p:cNvSpPr>
          <p:nvPr/>
        </p:nvSpPr>
        <p:spPr>
          <a:xfrm>
            <a:off x="1440180" y="5234940"/>
            <a:ext cx="422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>
                <a:solidFill>
                  <a:srgbClr val="171717"/>
                </a:solidFill>
              </a:defRPr>
            </a:pPr>
            <a:r>
              <a:rPr sz="1620">
                <a:solidFill>
                  <a:srgbClr val="171717"/>
                </a:solidFill>
              </a:rPr>
              <a:t>Throttle balanced accuracy</a:t>
            </a:r>
          </a:p>
        </p:txBody>
      </p:sp>
      <p:sp>
        <p:nvSpPr>
          <p:cNvPr id="10067" name="before-3">
            <a:extLst>
              <a:ext uri="{FF2B5EF4-FFF2-40B4-BE49-F238E27FC236}">
                <a16:creationId xmlns:a16="http://schemas.microsoft.com/office/drawing/2014/main" id="{F7463698-B92E-4F74-B233-64FB346A13C7}"/>
              </a:ext>
            </a:extLst>
          </p:cNvPr>
          <p:cNvSpPr>
            <a:spLocks noGrp="1"/>
          </p:cNvSpPr>
          <p:nvPr/>
        </p:nvSpPr>
        <p:spPr>
          <a:xfrm>
            <a:off x="6126480" y="5234940"/>
            <a:ext cx="1085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24.0%</a:t>
            </a:r>
          </a:p>
        </p:txBody>
      </p:sp>
      <p:sp>
        <p:nvSpPr>
          <p:cNvPr id="10070" name="after-3">
            <a:extLst>
              <a:ext uri="{FF2B5EF4-FFF2-40B4-BE49-F238E27FC236}">
                <a16:creationId xmlns:a16="http://schemas.microsoft.com/office/drawing/2014/main" id="{C085AFB8-18A4-425E-8CA2-CA7DB41A8247}"/>
              </a:ext>
            </a:extLst>
          </p:cNvPr>
          <p:cNvSpPr>
            <a:spLocks noGrp="1"/>
          </p:cNvSpPr>
          <p:nvPr/>
        </p:nvSpPr>
        <p:spPr>
          <a:xfrm>
            <a:off x="7840980" y="5234940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47.1%</a:t>
            </a:r>
          </a:p>
        </p:txBody>
      </p:sp>
      <p:sp>
        <p:nvSpPr>
          <p:cNvPr id="10073" name="change-3">
            <a:extLst>
              <a:ext uri="{FF2B5EF4-FFF2-40B4-BE49-F238E27FC236}">
                <a16:creationId xmlns:a16="http://schemas.microsoft.com/office/drawing/2014/main" id="{D3B9FF5E-EFE7-49B9-A0DD-ABDB693A9679}"/>
              </a:ext>
            </a:extLst>
          </p:cNvPr>
          <p:cNvSpPr>
            <a:spLocks noGrp="1"/>
          </p:cNvSpPr>
          <p:nvPr/>
        </p:nvSpPr>
        <p:spPr>
          <a:xfrm>
            <a:off x="9498330" y="5234940"/>
            <a:ext cx="9372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+23.1</a:t>
            </a:r>
          </a:p>
        </p:txBody>
      </p:sp>
      <p:sp>
        <p:nvSpPr>
          <p:cNvPr id="10076" name="table-row-rule-3">
            <a:extLst>
              <a:ext uri="{FF2B5EF4-FFF2-40B4-BE49-F238E27FC236}">
                <a16:creationId xmlns:a16="http://schemas.microsoft.com/office/drawing/2014/main" id="{28DEEFD9-873B-43C3-BC1D-95B9683ECEED}"/>
              </a:ext>
            </a:extLst>
          </p:cNvPr>
          <p:cNvSpPr>
            <a:spLocks noGrp="1"/>
          </p:cNvSpPr>
          <p:nvPr/>
        </p:nvSpPr>
        <p:spPr>
          <a:xfrm>
            <a:off x="1440180" y="5692140"/>
            <a:ext cx="9029700" cy="0"/>
          </a:xfrm>
          <a:prstGeom prst="line">
            <a:avLst/>
          </a:prstGeom>
          <a:noFill/>
          <a:ln w="12573">
            <a:solidFill>
              <a:srgbClr val="E8EDF4"/>
            </a:solidFill>
            <a:prstDash val="solid"/>
          </a:ln>
        </p:spPr>
      </p:sp>
      <p:sp>
        <p:nvSpPr>
          <p:cNvPr id="10077" name="metric-4">
            <a:extLst>
              <a:ext uri="{FF2B5EF4-FFF2-40B4-BE49-F238E27FC236}">
                <a16:creationId xmlns:a16="http://schemas.microsoft.com/office/drawing/2014/main" id="{69178F87-CE21-4BB9-B143-638EB697B8C8}"/>
              </a:ext>
            </a:extLst>
          </p:cNvPr>
          <p:cNvSpPr>
            <a:spLocks noGrp="1"/>
          </p:cNvSpPr>
          <p:nvPr/>
        </p:nvSpPr>
        <p:spPr>
          <a:xfrm>
            <a:off x="1440180" y="5852160"/>
            <a:ext cx="422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>
                <a:solidFill>
                  <a:srgbClr val="171717"/>
                </a:solidFill>
              </a:defRPr>
            </a:pPr>
            <a:r>
              <a:rPr sz="1620">
                <a:solidFill>
                  <a:srgbClr val="171717"/>
                </a:solidFill>
              </a:rPr>
              <a:t>RPM test accuracy</a:t>
            </a:r>
          </a:p>
        </p:txBody>
      </p:sp>
      <p:sp>
        <p:nvSpPr>
          <p:cNvPr id="10080" name="before-4">
            <a:extLst>
              <a:ext uri="{FF2B5EF4-FFF2-40B4-BE49-F238E27FC236}">
                <a16:creationId xmlns:a16="http://schemas.microsoft.com/office/drawing/2014/main" id="{3CB72F0F-A5FB-43E8-9FD8-41F9C93491D6}"/>
              </a:ext>
            </a:extLst>
          </p:cNvPr>
          <p:cNvSpPr>
            <a:spLocks noGrp="1"/>
          </p:cNvSpPr>
          <p:nvPr/>
        </p:nvSpPr>
        <p:spPr>
          <a:xfrm>
            <a:off x="6126480" y="5852160"/>
            <a:ext cx="1085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32.9%</a:t>
            </a:r>
          </a:p>
        </p:txBody>
      </p:sp>
      <p:sp>
        <p:nvSpPr>
          <p:cNvPr id="10083" name="after-4">
            <a:extLst>
              <a:ext uri="{FF2B5EF4-FFF2-40B4-BE49-F238E27FC236}">
                <a16:creationId xmlns:a16="http://schemas.microsoft.com/office/drawing/2014/main" id="{0501A2C9-6326-4DC0-A010-FC0CE6813DC6}"/>
              </a:ext>
            </a:extLst>
          </p:cNvPr>
          <p:cNvSpPr>
            <a:spLocks noGrp="1"/>
          </p:cNvSpPr>
          <p:nvPr/>
        </p:nvSpPr>
        <p:spPr>
          <a:xfrm>
            <a:off x="7840980" y="5852160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44.0%</a:t>
            </a:r>
          </a:p>
        </p:txBody>
      </p:sp>
      <p:sp>
        <p:nvSpPr>
          <p:cNvPr id="10086" name="change-4">
            <a:extLst>
              <a:ext uri="{FF2B5EF4-FFF2-40B4-BE49-F238E27FC236}">
                <a16:creationId xmlns:a16="http://schemas.microsoft.com/office/drawing/2014/main" id="{9ED214A1-11C1-4723-8D03-8DA4C572FA44}"/>
              </a:ext>
            </a:extLst>
          </p:cNvPr>
          <p:cNvSpPr>
            <a:spLocks noGrp="1"/>
          </p:cNvSpPr>
          <p:nvPr/>
        </p:nvSpPr>
        <p:spPr>
          <a:xfrm>
            <a:off x="9498330" y="5852160"/>
            <a:ext cx="9372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+11.1</a:t>
            </a:r>
          </a:p>
        </p:txBody>
      </p:sp>
      <p:sp>
        <p:nvSpPr>
          <p:cNvPr id="10089" name="table-row-rule-4">
            <a:extLst>
              <a:ext uri="{FF2B5EF4-FFF2-40B4-BE49-F238E27FC236}">
                <a16:creationId xmlns:a16="http://schemas.microsoft.com/office/drawing/2014/main" id="{DECF5378-D602-44AC-B7C1-2FFACDFE24DB}"/>
              </a:ext>
            </a:extLst>
          </p:cNvPr>
          <p:cNvSpPr>
            <a:spLocks noGrp="1"/>
          </p:cNvSpPr>
          <p:nvPr/>
        </p:nvSpPr>
        <p:spPr>
          <a:xfrm>
            <a:off x="1440180" y="6309360"/>
            <a:ext cx="9029700" cy="0"/>
          </a:xfrm>
          <a:prstGeom prst="line">
            <a:avLst/>
          </a:prstGeom>
          <a:noFill/>
          <a:ln w="12573">
            <a:solidFill>
              <a:srgbClr val="E8EDF4"/>
            </a:solidFill>
            <a:prstDash val="solid"/>
          </a:ln>
        </p:spPr>
      </p:sp>
      <p:sp>
        <p:nvSpPr>
          <p:cNvPr id="10090" name="chart-divider">
            <a:extLst>
              <a:ext uri="{FF2B5EF4-FFF2-40B4-BE49-F238E27FC236}">
                <a16:creationId xmlns:a16="http://schemas.microsoft.com/office/drawing/2014/main" id="{E0242D83-6F21-4979-BFCF-A34A28B1232A}"/>
              </a:ext>
            </a:extLst>
          </p:cNvPr>
          <p:cNvSpPr>
            <a:spLocks noGrp="1"/>
          </p:cNvSpPr>
          <p:nvPr/>
        </p:nvSpPr>
        <p:spPr>
          <a:xfrm>
            <a:off x="10972800" y="2766060"/>
            <a:ext cx="0" cy="3977640"/>
          </a:xfrm>
          <a:prstGeom prst="line">
            <a:avLst/>
          </a:prstGeom>
          <a:noFill/>
          <a:ln w="12573">
            <a:solidFill>
              <a:srgbClr val="E8EDF4"/>
            </a:solidFill>
            <a:prstDash val="solid"/>
          </a:ln>
        </p:spPr>
      </p:sp>
      <p:sp>
        <p:nvSpPr>
          <p:cNvPr id="10091" name="chart-title">
            <a:extLst>
              <a:ext uri="{FF2B5EF4-FFF2-40B4-BE49-F238E27FC236}">
                <a16:creationId xmlns:a16="http://schemas.microsoft.com/office/drawing/2014/main" id="{59BA7302-82B1-4CB0-9A8F-C56EB9D493AE}"/>
              </a:ext>
            </a:extLst>
          </p:cNvPr>
          <p:cNvSpPr>
            <a:spLocks noGrp="1"/>
          </p:cNvSpPr>
          <p:nvPr/>
        </p:nvSpPr>
        <p:spPr>
          <a:xfrm>
            <a:off x="11430000" y="2926080"/>
            <a:ext cx="2057400" cy="3886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F1 channel average</a:t>
            </a:r>
          </a:p>
        </p:txBody>
      </p:sp>
      <p:sp>
        <p:nvSpPr>
          <p:cNvPr id="10094" name="chart-sub">
            <a:extLst>
              <a:ext uri="{FF2B5EF4-FFF2-40B4-BE49-F238E27FC236}">
                <a16:creationId xmlns:a16="http://schemas.microsoft.com/office/drawing/2014/main" id="{4B1EC806-D288-4FE6-8CEF-447A94DCDD8D}"/>
              </a:ext>
            </a:extLst>
          </p:cNvPr>
          <p:cNvSpPr>
            <a:spLocks noGrp="1"/>
          </p:cNvSpPr>
          <p:nvPr/>
        </p:nvSpPr>
        <p:spPr>
          <a:xfrm>
            <a:off x="11430000" y="3291840"/>
            <a:ext cx="2057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test accuracy</a:t>
            </a:r>
          </a:p>
        </p:txBody>
      </p:sp>
      <p:sp>
        <p:nvSpPr>
          <p:cNvPr id="10097" name="chart-base">
            <a:extLst>
              <a:ext uri="{FF2B5EF4-FFF2-40B4-BE49-F238E27FC236}">
                <a16:creationId xmlns:a16="http://schemas.microsoft.com/office/drawing/2014/main" id="{88CB6916-FCFD-4C6A-A4D7-FA5F4E188A44}"/>
              </a:ext>
            </a:extLst>
          </p:cNvPr>
          <p:cNvSpPr>
            <a:spLocks noGrp="1"/>
          </p:cNvSpPr>
          <p:nvPr/>
        </p:nvSpPr>
        <p:spPr>
          <a:xfrm>
            <a:off x="11315700" y="6035040"/>
            <a:ext cx="2286000" cy="0"/>
          </a:xfrm>
          <a:prstGeom prst="line">
            <a:avLst/>
          </a:prstGeom>
          <a:noFill/>
          <a:ln w="13716">
            <a:solidFill>
              <a:srgbClr val="D7DEE8"/>
            </a:solidFill>
            <a:prstDash val="solid"/>
          </a:ln>
        </p:spPr>
      </p:sp>
      <p:sp>
        <p:nvSpPr>
          <p:cNvPr id="10098" name="before-bar">
            <a:extLst>
              <a:ext uri="{FF2B5EF4-FFF2-40B4-BE49-F238E27FC236}">
                <a16:creationId xmlns:a16="http://schemas.microsoft.com/office/drawing/2014/main" id="{2F97A283-6129-449D-A93C-E736EA4E61F8}"/>
              </a:ext>
            </a:extLst>
          </p:cNvPr>
          <p:cNvSpPr>
            <a:spLocks noGrp="1"/>
          </p:cNvSpPr>
          <p:nvPr/>
        </p:nvSpPr>
        <p:spPr>
          <a:xfrm>
            <a:off x="11681460" y="4416501"/>
            <a:ext cx="594360" cy="1618539"/>
          </a:xfrm>
          <a:prstGeom prst="rect">
            <a:avLst/>
          </a:prstGeom>
          <a:solidFill>
            <a:srgbClr val="7186A6"/>
          </a:solidFill>
          <a:ln w="0">
            <a:solidFill>
              <a:srgbClr val="7186A6"/>
            </a:solidFill>
            <a:prstDash val="solid"/>
          </a:ln>
        </p:spPr>
      </p:sp>
      <p:sp>
        <p:nvSpPr>
          <p:cNvPr id="10099" name="after-bar">
            <a:extLst>
              <a:ext uri="{FF2B5EF4-FFF2-40B4-BE49-F238E27FC236}">
                <a16:creationId xmlns:a16="http://schemas.microsoft.com/office/drawing/2014/main" id="{CA12E2AA-E413-4E41-9223-E96299022178}"/>
              </a:ext>
            </a:extLst>
          </p:cNvPr>
          <p:cNvSpPr>
            <a:spLocks noGrp="1"/>
          </p:cNvSpPr>
          <p:nvPr/>
        </p:nvSpPr>
        <p:spPr>
          <a:xfrm>
            <a:off x="12687300" y="4149090"/>
            <a:ext cx="594360" cy="1885950"/>
          </a:xfrm>
          <a:prstGeom prst="rect">
            <a:avLst/>
          </a:prstGeom>
          <a:solidFill>
            <a:srgbClr val="2FA06F"/>
          </a:solidFill>
          <a:ln w="0">
            <a:solidFill>
              <a:srgbClr val="2FA06F"/>
            </a:solidFill>
            <a:prstDash val="solid"/>
          </a:ln>
        </p:spPr>
      </p:sp>
      <p:sp>
        <p:nvSpPr>
          <p:cNvPr id="10100" name="before-value">
            <a:extLst>
              <a:ext uri="{FF2B5EF4-FFF2-40B4-BE49-F238E27FC236}">
                <a16:creationId xmlns:a16="http://schemas.microsoft.com/office/drawing/2014/main" id="{8D77FC38-0299-4443-A3EE-C3A83F5755D7}"/>
              </a:ext>
            </a:extLst>
          </p:cNvPr>
          <p:cNvSpPr>
            <a:spLocks noGrp="1"/>
          </p:cNvSpPr>
          <p:nvPr/>
        </p:nvSpPr>
        <p:spPr>
          <a:xfrm>
            <a:off x="11452860" y="4096461"/>
            <a:ext cx="10515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40" b="1">
                <a:solidFill>
                  <a:srgbClr val="7186A6"/>
                </a:solidFill>
              </a:defRPr>
            </a:pPr>
            <a:r>
              <a:rPr sz="1440" b="1">
                <a:solidFill>
                  <a:srgbClr val="7186A6"/>
                </a:solidFill>
              </a:rPr>
              <a:t>46.0%</a:t>
            </a:r>
          </a:p>
        </p:txBody>
      </p:sp>
      <p:sp>
        <p:nvSpPr>
          <p:cNvPr id="10103" name="after-value">
            <a:extLst>
              <a:ext uri="{FF2B5EF4-FFF2-40B4-BE49-F238E27FC236}">
                <a16:creationId xmlns:a16="http://schemas.microsoft.com/office/drawing/2014/main" id="{69E5C10D-78BC-45B8-ABC8-412930745993}"/>
              </a:ext>
            </a:extLst>
          </p:cNvPr>
          <p:cNvSpPr>
            <a:spLocks noGrp="1"/>
          </p:cNvSpPr>
          <p:nvPr/>
        </p:nvSpPr>
        <p:spPr>
          <a:xfrm>
            <a:off x="12458700" y="3829050"/>
            <a:ext cx="10515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40" b="1">
                <a:solidFill>
                  <a:srgbClr val="2FA06F"/>
                </a:solidFill>
              </a:defRPr>
            </a:pPr>
            <a:r>
              <a:rPr sz="1440" b="1">
                <a:solidFill>
                  <a:srgbClr val="2FA06F"/>
                </a:solidFill>
              </a:rPr>
              <a:t>53.6%</a:t>
            </a:r>
          </a:p>
        </p:txBody>
      </p:sp>
      <p:sp>
        <p:nvSpPr>
          <p:cNvPr id="10106" name="before-label">
            <a:extLst>
              <a:ext uri="{FF2B5EF4-FFF2-40B4-BE49-F238E27FC236}">
                <a16:creationId xmlns:a16="http://schemas.microsoft.com/office/drawing/2014/main" id="{32C879C2-2A23-465E-9104-D713443FAF00}"/>
              </a:ext>
            </a:extLst>
          </p:cNvPr>
          <p:cNvSpPr>
            <a:spLocks noGrp="1"/>
          </p:cNvSpPr>
          <p:nvPr/>
        </p:nvSpPr>
        <p:spPr>
          <a:xfrm>
            <a:off x="11407140" y="6240780"/>
            <a:ext cx="11430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60">
                <a:solidFill>
                  <a:srgbClr val="5C6A7F"/>
                </a:solidFill>
              </a:defRPr>
            </a:pPr>
            <a:r>
              <a:rPr sz="1260">
                <a:solidFill>
                  <a:srgbClr val="5C6A7F"/>
                </a:solidFill>
              </a:rPr>
              <a:t>Before avg</a:t>
            </a:r>
          </a:p>
        </p:txBody>
      </p:sp>
      <p:sp>
        <p:nvSpPr>
          <p:cNvPr id="10109" name="after-label">
            <a:extLst>
              <a:ext uri="{FF2B5EF4-FFF2-40B4-BE49-F238E27FC236}">
                <a16:creationId xmlns:a16="http://schemas.microsoft.com/office/drawing/2014/main" id="{F7F6C02F-1964-48AA-BDCA-19A7532BE408}"/>
              </a:ext>
            </a:extLst>
          </p:cNvPr>
          <p:cNvSpPr>
            <a:spLocks noGrp="1"/>
          </p:cNvSpPr>
          <p:nvPr/>
        </p:nvSpPr>
        <p:spPr>
          <a:xfrm>
            <a:off x="12435840" y="6240780"/>
            <a:ext cx="11430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60">
                <a:solidFill>
                  <a:srgbClr val="5C6A7F"/>
                </a:solidFill>
              </a:defRPr>
            </a:pPr>
            <a:r>
              <a:rPr sz="1260">
                <a:solidFill>
                  <a:srgbClr val="5C6A7F"/>
                </a:solidFill>
              </a:rPr>
              <a:t>After avg</a:t>
            </a:r>
          </a:p>
        </p:txBody>
      </p:sp>
      <p:sp>
        <p:nvSpPr>
          <p:cNvPr id="10112" name="page-marker">
            <a:extLst>
              <a:ext uri="{FF2B5EF4-FFF2-40B4-BE49-F238E27FC236}">
                <a16:creationId xmlns:a16="http://schemas.microsoft.com/office/drawing/2014/main" id="{E6B9EC1B-86BD-4F0C-9EEC-6E403C2E7029}"/>
              </a:ext>
            </a:extLst>
          </p:cNvPr>
          <p:cNvSpPr>
            <a:spLocks noGrp="1"/>
          </p:cNvSpPr>
          <p:nvPr/>
        </p:nvSpPr>
        <p:spPr>
          <a:xfrm>
            <a:off x="13716000" y="8023860"/>
            <a:ext cx="54864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24/28</a:t>
            </a:r>
          </a:p>
        </p:txBody>
      </p:sp>
      <p:sp>
        <p:nvSpPr>
          <p:cNvPr id="10113" name="subtitle-cover-24">
            <a:extLst>
              <a:ext uri="{FF2B5EF4-FFF2-40B4-BE49-F238E27FC236}">
                <a16:creationId xmlns:a16="http://schemas.microsoft.com/office/drawing/2014/main" id="{21722BDE-659D-4ED7-9067-C232987368EE}"/>
              </a:ext>
            </a:extLst>
          </p:cNvPr>
          <p:cNvSpPr>
            <a:spLocks noGrp="1"/>
          </p:cNvSpPr>
          <p:nvPr/>
        </p:nvSpPr>
        <p:spPr>
          <a:xfrm>
            <a:off x="1047750" y="1762125"/>
            <a:ext cx="1190625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0114" name="fix-cover">
            <a:extLst>
              <a:ext uri="{FF2B5EF4-FFF2-40B4-BE49-F238E27FC236}">
                <a16:creationId xmlns:a16="http://schemas.microsoft.com/office/drawing/2014/main" id="{59D0A1C2-EDF6-44AA-B011-C2CAFDC66090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238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0115" name="fixed-title">
            <a:extLst>
              <a:ext uri="{FF2B5EF4-FFF2-40B4-BE49-F238E27FC236}">
                <a16:creationId xmlns:a16="http://schemas.microsoft.com/office/drawing/2014/main" id="{E36EC129-76E5-43E9-998C-BE298531A00B}"/>
              </a:ext>
            </a:extLst>
          </p:cNvPr>
          <p:cNvSpPr>
            <a:spLocks noGrp="1"/>
          </p:cNvSpPr>
          <p:nvPr/>
        </p:nvSpPr>
        <p:spPr>
          <a:xfrm>
            <a:off x="628650" y="552450"/>
            <a:ext cx="12811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118"/>
          </a:bodyPr>
          <a:lstStyle/>
          <a:p>
            <a:pPr algn="l">
              <a:buNone/>
              <a:defRPr sz="2550" b="0">
                <a:solidFill>
                  <a:srgbClr val="171717"/>
                </a:solidFill>
              </a:defRPr>
            </a:pPr>
            <a:r>
              <a:rPr sz="2550" b="0">
                <a:solidFill>
                  <a:srgbClr val="171717"/>
                </a:solidFill>
              </a:rPr>
              <a:t>Optuna tuning strengthened the F1 channel models</a:t>
            </a:r>
          </a:p>
        </p:txBody>
      </p:sp>
      <p:sp>
        <p:nvSpPr>
          <p:cNvPr id="10116" name="fixed-title-rule">
            <a:extLst>
              <a:ext uri="{FF2B5EF4-FFF2-40B4-BE49-F238E27FC236}">
                <a16:creationId xmlns:a16="http://schemas.microsoft.com/office/drawing/2014/main" id="{50BBAAD8-973A-44EC-BAED-E365318F9CC4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3716000" cy="0"/>
          </a:xfrm>
          <a:prstGeom prst="line">
            <a:avLst/>
          </a:prstGeom>
          <a:noFill/>
          <a:ln w="14288">
            <a:solidFill>
              <a:srgbClr val="D7DEE8"/>
            </a:solidFill>
            <a:prstDash val="solid"/>
          </a:ln>
        </p:spPr>
      </p:sp>
      <p:sp>
        <p:nvSpPr>
          <p:cNvPr id="10117" name="fix-cover">
            <a:extLst>
              <a:ext uri="{FF2B5EF4-FFF2-40B4-BE49-F238E27FC236}">
                <a16:creationId xmlns:a16="http://schemas.microsoft.com/office/drawing/2014/main" id="{7DAE9321-3F3A-4F7F-BFEF-50B738F88CBE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0118" name="native-title-unified">
            <a:extLst>
              <a:ext uri="{FF2B5EF4-FFF2-40B4-BE49-F238E27FC236}">
                <a16:creationId xmlns:a16="http://schemas.microsoft.com/office/drawing/2014/main" id="{EACEE90F-EB7F-4949-AE96-E05901A9D15D}"/>
              </a:ext>
            </a:extLst>
          </p:cNvPr>
          <p:cNvSpPr>
            <a:spLocks noGrp="1"/>
          </p:cNvSpPr>
          <p:nvPr/>
        </p:nvSpPr>
        <p:spPr>
          <a:xfrm>
            <a:off x="1592580" y="519570"/>
            <a:ext cx="1304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0">
                <a:solidFill>
                  <a:srgbClr val="171717"/>
                </a:solidFill>
              </a:defRPr>
            </a:pPr>
            <a:r>
              <a:rPr sz="4200" b="0" dirty="0" err="1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Optuna</a:t>
            </a: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tuning strengthened the F1 channel models</a:t>
            </a:r>
          </a:p>
        </p:txBody>
      </p:sp>
      <p:sp>
        <p:nvSpPr>
          <p:cNvPr id="10120" name="footer-number-cover">
            <a:extLst>
              <a:ext uri="{FF2B5EF4-FFF2-40B4-BE49-F238E27FC236}">
                <a16:creationId xmlns:a16="http://schemas.microsoft.com/office/drawing/2014/main" id="{32B905DB-3CA5-4EFF-89B5-F9759A7333E0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</p:sp>
      <p:sp>
        <p:nvSpPr>
          <p:cNvPr id="10121" name="footer-number-native">
            <a:extLst>
              <a:ext uri="{FF2B5EF4-FFF2-40B4-BE49-F238E27FC236}">
                <a16:creationId xmlns:a16="http://schemas.microsoft.com/office/drawing/2014/main" id="{22D02FCE-58E7-4619-8E93-7ACE985CD3A6}"/>
              </a:ext>
            </a:extLst>
          </p:cNvPr>
          <p:cNvSpPr>
            <a:spLocks noGrp="1"/>
          </p:cNvSpPr>
          <p:nvPr/>
        </p:nvSpPr>
        <p:spPr>
          <a:xfrm>
            <a:off x="13811250" y="8039100"/>
            <a:ext cx="552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4167" lnSpcReduction="20000"/>
          </a:bodyPr>
          <a:lstStyle/>
          <a:p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24/28</a:t>
            </a:r>
          </a:p>
        </p:txBody>
      </p:sp>
      <p:cxnSp>
        <p:nvCxnSpPr>
          <p:cNvPr id="2" name="Connector 5">
            <a:extLst>
              <a:ext uri="{FF2B5EF4-FFF2-40B4-BE49-F238E27FC236}">
                <a16:creationId xmlns:a16="http://schemas.microsoft.com/office/drawing/2014/main" id="{DFF7D99A-5A98-931C-001C-B7BB70708A4D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52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0" name="top-maroon-strip">
            <a:extLst>
              <a:ext uri="{FF2B5EF4-FFF2-40B4-BE49-F238E27FC236}">
                <a16:creationId xmlns:a16="http://schemas.microsoft.com/office/drawing/2014/main" id="{A240452D-57D4-4DCB-A7D5-DECC24FE17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4859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</p:sp>
      <p:sp>
        <p:nvSpPr>
          <p:cNvPr id="11001" name="top-orange-strip">
            <a:extLst>
              <a:ext uri="{FF2B5EF4-FFF2-40B4-BE49-F238E27FC236}">
                <a16:creationId xmlns:a16="http://schemas.microsoft.com/office/drawing/2014/main" id="{85F2B798-782C-4E7B-A250-04E328F9305C}"/>
              </a:ext>
            </a:extLst>
          </p:cNvPr>
          <p:cNvSpPr>
            <a:spLocks noGrp="1"/>
          </p:cNvSpPr>
          <p:nvPr/>
        </p:nvSpPr>
        <p:spPr>
          <a:xfrm>
            <a:off x="0" y="148590"/>
            <a:ext cx="14630400" cy="102870"/>
          </a:xfrm>
          <a:prstGeom prst="rect">
            <a:avLst/>
          </a:prstGeom>
          <a:solidFill>
            <a:srgbClr val="F4511E"/>
          </a:solidFill>
          <a:ln w="0">
            <a:solidFill>
              <a:srgbClr val="F4511E"/>
            </a:solidFill>
            <a:prstDash val="solid"/>
          </a:ln>
        </p:spPr>
      </p:sp>
      <p:sp>
        <p:nvSpPr>
          <p:cNvPr id="11002" name="bottom-maroon-strip">
            <a:extLst>
              <a:ext uri="{FF2B5EF4-FFF2-40B4-BE49-F238E27FC236}">
                <a16:creationId xmlns:a16="http://schemas.microsoft.com/office/drawing/2014/main" id="{FC01AC4E-E6C7-4B3B-8C6F-82B5C7FA7D24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TR" dirty="0"/>
          </a:p>
        </p:txBody>
      </p:sp>
      <p:sp>
        <p:nvSpPr>
          <p:cNvPr id="11003" name="title">
            <a:extLst>
              <a:ext uri="{FF2B5EF4-FFF2-40B4-BE49-F238E27FC236}">
                <a16:creationId xmlns:a16="http://schemas.microsoft.com/office/drawing/2014/main" id="{ACF0B335-4AE3-4AF2-A39E-6986746C9F81}"/>
              </a:ext>
            </a:extLst>
          </p:cNvPr>
          <p:cNvSpPr>
            <a:spLocks noGrp="1"/>
          </p:cNvSpPr>
          <p:nvPr/>
        </p:nvSpPr>
        <p:spPr>
          <a:xfrm>
            <a:off x="982980" y="662940"/>
            <a:ext cx="9944100" cy="617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60" b="1">
                <a:solidFill>
                  <a:srgbClr val="171717"/>
                </a:solidFill>
              </a:defRPr>
            </a:pPr>
            <a:r>
              <a:rPr sz="3060" b="1">
                <a:solidFill>
                  <a:srgbClr val="171717"/>
                </a:solidFill>
              </a:rPr>
              <a:t>Where this selector can be used</a:t>
            </a:r>
          </a:p>
        </p:txBody>
      </p:sp>
      <p:sp>
        <p:nvSpPr>
          <p:cNvPr id="11006" name="title-rule">
            <a:extLst>
              <a:ext uri="{FF2B5EF4-FFF2-40B4-BE49-F238E27FC236}">
                <a16:creationId xmlns:a16="http://schemas.microsoft.com/office/drawing/2014/main" id="{749CA466-6E79-438D-908F-01550D6C75E6}"/>
              </a:ext>
            </a:extLst>
          </p:cNvPr>
          <p:cNvSpPr>
            <a:spLocks noGrp="1"/>
          </p:cNvSpPr>
          <p:nvPr/>
        </p:nvSpPr>
        <p:spPr>
          <a:xfrm>
            <a:off x="982980" y="1348740"/>
            <a:ext cx="12275820" cy="0"/>
          </a:xfrm>
          <a:prstGeom prst="line">
            <a:avLst/>
          </a:prstGeom>
          <a:noFill/>
          <a:ln w="18288">
            <a:solidFill>
              <a:srgbClr val="D7DEE8"/>
            </a:solidFill>
            <a:prstDash val="solid"/>
          </a:ln>
        </p:spPr>
      </p:sp>
      <p:sp>
        <p:nvSpPr>
          <p:cNvPr id="11007" name="row-1-number">
            <a:extLst>
              <a:ext uri="{FF2B5EF4-FFF2-40B4-BE49-F238E27FC236}">
                <a16:creationId xmlns:a16="http://schemas.microsoft.com/office/drawing/2014/main" id="{9144A0AC-42D6-4D35-B610-6C1F6A64B35B}"/>
              </a:ext>
            </a:extLst>
          </p:cNvPr>
          <p:cNvSpPr>
            <a:spLocks noGrp="1"/>
          </p:cNvSpPr>
          <p:nvPr/>
        </p:nvSpPr>
        <p:spPr>
          <a:xfrm>
            <a:off x="1440180" y="1680210"/>
            <a:ext cx="525780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11010" name="row-1-text">
            <a:extLst>
              <a:ext uri="{FF2B5EF4-FFF2-40B4-BE49-F238E27FC236}">
                <a16:creationId xmlns:a16="http://schemas.microsoft.com/office/drawing/2014/main" id="{46F163A3-38EF-481D-B7CC-66D5FA5108D3}"/>
              </a:ext>
            </a:extLst>
          </p:cNvPr>
          <p:cNvSpPr>
            <a:spLocks noGrp="1"/>
          </p:cNvSpPr>
          <p:nvPr/>
        </p:nvSpPr>
        <p:spPr>
          <a:xfrm>
            <a:off x="1965960" y="1668780"/>
            <a:ext cx="11247120" cy="662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Database query engines: </a:t>
            </a:r>
            <a:r>
              <a:rPr>
                <a:solidFill>
                  <a:srgbClr val="F4511E"/>
                </a:solidFill>
              </a:rPr>
              <a:t>choose sorting method for ORDER BY, joins, grouping, and index builds</a:t>
            </a:r>
          </a:p>
        </p:txBody>
      </p:sp>
      <p:sp>
        <p:nvSpPr>
          <p:cNvPr id="11014" name="row-1-rule">
            <a:extLst>
              <a:ext uri="{FF2B5EF4-FFF2-40B4-BE49-F238E27FC236}">
                <a16:creationId xmlns:a16="http://schemas.microsoft.com/office/drawing/2014/main" id="{9C73B8D4-234E-4F62-98EA-EB2A8355CC4D}"/>
              </a:ext>
            </a:extLst>
          </p:cNvPr>
          <p:cNvSpPr>
            <a:spLocks noGrp="1"/>
          </p:cNvSpPr>
          <p:nvPr/>
        </p:nvSpPr>
        <p:spPr>
          <a:xfrm>
            <a:off x="1965960" y="2423160"/>
            <a:ext cx="11247120" cy="0"/>
          </a:xfrm>
          <a:prstGeom prst="line">
            <a:avLst/>
          </a:prstGeom>
          <a:noFill/>
          <a:ln w="12573">
            <a:solidFill>
              <a:srgbClr val="D7DEE8"/>
            </a:solidFill>
            <a:prstDash val="solid"/>
          </a:ln>
        </p:spPr>
      </p:sp>
      <p:sp>
        <p:nvSpPr>
          <p:cNvPr id="11015" name="row-2-number">
            <a:extLst>
              <a:ext uri="{FF2B5EF4-FFF2-40B4-BE49-F238E27FC236}">
                <a16:creationId xmlns:a16="http://schemas.microsoft.com/office/drawing/2014/main" id="{17431AD4-8C16-4698-B11D-47EAD9FDF405}"/>
              </a:ext>
            </a:extLst>
          </p:cNvPr>
          <p:cNvSpPr>
            <a:spLocks noGrp="1"/>
          </p:cNvSpPr>
          <p:nvPr/>
        </p:nvSpPr>
        <p:spPr>
          <a:xfrm>
            <a:off x="1440180" y="2617470"/>
            <a:ext cx="525780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1018" name="row-2-text">
            <a:extLst>
              <a:ext uri="{FF2B5EF4-FFF2-40B4-BE49-F238E27FC236}">
                <a16:creationId xmlns:a16="http://schemas.microsoft.com/office/drawing/2014/main" id="{23B28CC2-C760-4AF4-9D2B-186FFE8588F4}"/>
              </a:ext>
            </a:extLst>
          </p:cNvPr>
          <p:cNvSpPr>
            <a:spLocks noGrp="1"/>
          </p:cNvSpPr>
          <p:nvPr/>
        </p:nvSpPr>
        <p:spPr>
          <a:xfrm>
            <a:off x="1965960" y="2606040"/>
            <a:ext cx="11247120" cy="662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ETL and analytics pipelines: </a:t>
            </a:r>
            <a:r>
              <a:rPr>
                <a:solidFill>
                  <a:srgbClr val="F4511E"/>
                </a:solidFill>
              </a:rPr>
              <a:t>choose sorting method for IDs, timestamps, prices, partitions, and batches</a:t>
            </a:r>
          </a:p>
        </p:txBody>
      </p:sp>
      <p:sp>
        <p:nvSpPr>
          <p:cNvPr id="11022" name="row-2-rule">
            <a:extLst>
              <a:ext uri="{FF2B5EF4-FFF2-40B4-BE49-F238E27FC236}">
                <a16:creationId xmlns:a16="http://schemas.microsoft.com/office/drawing/2014/main" id="{2E04B827-2098-4B47-A2B1-218E54788AF4}"/>
              </a:ext>
            </a:extLst>
          </p:cNvPr>
          <p:cNvSpPr>
            <a:spLocks noGrp="1"/>
          </p:cNvSpPr>
          <p:nvPr/>
        </p:nvSpPr>
        <p:spPr>
          <a:xfrm>
            <a:off x="1965960" y="3360420"/>
            <a:ext cx="11247120" cy="0"/>
          </a:xfrm>
          <a:prstGeom prst="line">
            <a:avLst/>
          </a:prstGeom>
          <a:noFill/>
          <a:ln w="12573">
            <a:solidFill>
              <a:srgbClr val="D7DEE8"/>
            </a:solidFill>
            <a:prstDash val="solid"/>
          </a:ln>
        </p:spPr>
      </p:sp>
      <p:sp>
        <p:nvSpPr>
          <p:cNvPr id="11023" name="row-3-number">
            <a:extLst>
              <a:ext uri="{FF2B5EF4-FFF2-40B4-BE49-F238E27FC236}">
                <a16:creationId xmlns:a16="http://schemas.microsoft.com/office/drawing/2014/main" id="{3FC57826-511F-48D2-AFB7-697445C52FD1}"/>
              </a:ext>
            </a:extLst>
          </p:cNvPr>
          <p:cNvSpPr>
            <a:spLocks noGrp="1"/>
          </p:cNvSpPr>
          <p:nvPr/>
        </p:nvSpPr>
        <p:spPr>
          <a:xfrm>
            <a:off x="1440180" y="3554730"/>
            <a:ext cx="525780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1026" name="row-3-text">
            <a:extLst>
              <a:ext uri="{FF2B5EF4-FFF2-40B4-BE49-F238E27FC236}">
                <a16:creationId xmlns:a16="http://schemas.microsoft.com/office/drawing/2014/main" id="{1F50695A-039D-4DBD-BD3D-D92DCA3784FC}"/>
              </a:ext>
            </a:extLst>
          </p:cNvPr>
          <p:cNvSpPr>
            <a:spLocks noGrp="1"/>
          </p:cNvSpPr>
          <p:nvPr/>
        </p:nvSpPr>
        <p:spPr>
          <a:xfrm>
            <a:off x="1965960" y="3543300"/>
            <a:ext cx="11247120" cy="662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Search and ranking systems: </a:t>
            </a:r>
            <a:r>
              <a:rPr>
                <a:solidFill>
                  <a:srgbClr val="F4511E"/>
                </a:solidFill>
              </a:rPr>
              <a:t>choose sorting method for candidate scores before top-k output</a:t>
            </a:r>
          </a:p>
        </p:txBody>
      </p:sp>
      <p:sp>
        <p:nvSpPr>
          <p:cNvPr id="11030" name="row-3-rule">
            <a:extLst>
              <a:ext uri="{FF2B5EF4-FFF2-40B4-BE49-F238E27FC236}">
                <a16:creationId xmlns:a16="http://schemas.microsoft.com/office/drawing/2014/main" id="{EBE98FC8-B58E-4122-9923-30645DD55795}"/>
              </a:ext>
            </a:extLst>
          </p:cNvPr>
          <p:cNvSpPr>
            <a:spLocks noGrp="1"/>
          </p:cNvSpPr>
          <p:nvPr/>
        </p:nvSpPr>
        <p:spPr>
          <a:xfrm>
            <a:off x="1965960" y="4297680"/>
            <a:ext cx="11247120" cy="0"/>
          </a:xfrm>
          <a:prstGeom prst="line">
            <a:avLst/>
          </a:prstGeom>
          <a:noFill/>
          <a:ln w="12573">
            <a:solidFill>
              <a:srgbClr val="D7DEE8"/>
            </a:solidFill>
            <a:prstDash val="solid"/>
          </a:ln>
        </p:spPr>
      </p:sp>
      <p:sp>
        <p:nvSpPr>
          <p:cNvPr id="11031" name="row-4-number">
            <a:extLst>
              <a:ext uri="{FF2B5EF4-FFF2-40B4-BE49-F238E27FC236}">
                <a16:creationId xmlns:a16="http://schemas.microsoft.com/office/drawing/2014/main" id="{E651EBA3-0F5A-47C6-B05E-4C3EB9ED3B72}"/>
              </a:ext>
            </a:extLst>
          </p:cNvPr>
          <p:cNvSpPr>
            <a:spLocks noGrp="1"/>
          </p:cNvSpPr>
          <p:nvPr/>
        </p:nvSpPr>
        <p:spPr>
          <a:xfrm>
            <a:off x="1440180" y="4491990"/>
            <a:ext cx="525780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04</a:t>
            </a:r>
          </a:p>
        </p:txBody>
      </p:sp>
      <p:sp>
        <p:nvSpPr>
          <p:cNvPr id="11034" name="row-4-text">
            <a:extLst>
              <a:ext uri="{FF2B5EF4-FFF2-40B4-BE49-F238E27FC236}">
                <a16:creationId xmlns:a16="http://schemas.microsoft.com/office/drawing/2014/main" id="{83AE2781-3DFA-4794-93A0-68DE36816B9F}"/>
              </a:ext>
            </a:extLst>
          </p:cNvPr>
          <p:cNvSpPr>
            <a:spLocks noGrp="1"/>
          </p:cNvSpPr>
          <p:nvPr/>
        </p:nvSpPr>
        <p:spPr>
          <a:xfrm>
            <a:off x="1965960" y="4480560"/>
            <a:ext cx="11247120" cy="662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Financial time-series processing: </a:t>
            </a:r>
            <a:r>
              <a:rPr>
                <a:solidFill>
                  <a:srgbClr val="F4511E"/>
                </a:solidFill>
              </a:rPr>
              <a:t>choose sorting method for rolling windows, events, prices, and order-book values</a:t>
            </a:r>
          </a:p>
        </p:txBody>
      </p:sp>
      <p:sp>
        <p:nvSpPr>
          <p:cNvPr id="11038" name="row-4-rule">
            <a:extLst>
              <a:ext uri="{FF2B5EF4-FFF2-40B4-BE49-F238E27FC236}">
                <a16:creationId xmlns:a16="http://schemas.microsoft.com/office/drawing/2014/main" id="{66785B47-56BA-4961-A2E5-3D22C3943DB1}"/>
              </a:ext>
            </a:extLst>
          </p:cNvPr>
          <p:cNvSpPr>
            <a:spLocks noGrp="1"/>
          </p:cNvSpPr>
          <p:nvPr/>
        </p:nvSpPr>
        <p:spPr>
          <a:xfrm>
            <a:off x="1965960" y="5234940"/>
            <a:ext cx="11247120" cy="0"/>
          </a:xfrm>
          <a:prstGeom prst="line">
            <a:avLst/>
          </a:prstGeom>
          <a:noFill/>
          <a:ln w="12573">
            <a:solidFill>
              <a:srgbClr val="D7DEE8"/>
            </a:solidFill>
            <a:prstDash val="solid"/>
          </a:ln>
        </p:spPr>
      </p:sp>
      <p:sp>
        <p:nvSpPr>
          <p:cNvPr id="11039" name="row-5-number">
            <a:extLst>
              <a:ext uri="{FF2B5EF4-FFF2-40B4-BE49-F238E27FC236}">
                <a16:creationId xmlns:a16="http://schemas.microsoft.com/office/drawing/2014/main" id="{DD59DAEC-1E69-4B9B-90CE-EC98573E855F}"/>
              </a:ext>
            </a:extLst>
          </p:cNvPr>
          <p:cNvSpPr>
            <a:spLocks noGrp="1"/>
          </p:cNvSpPr>
          <p:nvPr/>
        </p:nvSpPr>
        <p:spPr>
          <a:xfrm>
            <a:off x="1440180" y="5429250"/>
            <a:ext cx="525780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05</a:t>
            </a:r>
          </a:p>
        </p:txBody>
      </p:sp>
      <p:sp>
        <p:nvSpPr>
          <p:cNvPr id="11042" name="row-5-text">
            <a:extLst>
              <a:ext uri="{FF2B5EF4-FFF2-40B4-BE49-F238E27FC236}">
                <a16:creationId xmlns:a16="http://schemas.microsoft.com/office/drawing/2014/main" id="{CFD12A8D-A218-46BC-B17D-ABA3FCCD306D}"/>
              </a:ext>
            </a:extLst>
          </p:cNvPr>
          <p:cNvSpPr>
            <a:spLocks noGrp="1"/>
          </p:cNvSpPr>
          <p:nvPr/>
        </p:nvSpPr>
        <p:spPr>
          <a:xfrm>
            <a:off x="1965960" y="5417820"/>
            <a:ext cx="11247120" cy="662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Scientific and telemetry processing: </a:t>
            </a:r>
            <a:r>
              <a:rPr>
                <a:solidFill>
                  <a:srgbClr val="F4511E"/>
                </a:solidFill>
              </a:rPr>
              <a:t>choose sorting method for sensor traces, physics logs, weather data, and F1 telemetry</a:t>
            </a:r>
          </a:p>
        </p:txBody>
      </p:sp>
      <p:sp>
        <p:nvSpPr>
          <p:cNvPr id="11046" name="row-5-rule">
            <a:extLst>
              <a:ext uri="{FF2B5EF4-FFF2-40B4-BE49-F238E27FC236}">
                <a16:creationId xmlns:a16="http://schemas.microsoft.com/office/drawing/2014/main" id="{931AC777-A102-4793-B5F1-D6DD7F8E9E3A}"/>
              </a:ext>
            </a:extLst>
          </p:cNvPr>
          <p:cNvSpPr>
            <a:spLocks noGrp="1"/>
          </p:cNvSpPr>
          <p:nvPr/>
        </p:nvSpPr>
        <p:spPr>
          <a:xfrm>
            <a:off x="1965960" y="6172200"/>
            <a:ext cx="11247120" cy="0"/>
          </a:xfrm>
          <a:prstGeom prst="line">
            <a:avLst/>
          </a:prstGeom>
          <a:noFill/>
          <a:ln w="12573">
            <a:solidFill>
              <a:srgbClr val="D7DEE8"/>
            </a:solidFill>
            <a:prstDash val="solid"/>
          </a:ln>
        </p:spPr>
      </p:sp>
      <p:sp>
        <p:nvSpPr>
          <p:cNvPr id="11047" name="row-6-number">
            <a:extLst>
              <a:ext uri="{FF2B5EF4-FFF2-40B4-BE49-F238E27FC236}">
                <a16:creationId xmlns:a16="http://schemas.microsoft.com/office/drawing/2014/main" id="{8D3DDB08-826F-4301-AECE-4E72B6E3B6E2}"/>
              </a:ext>
            </a:extLst>
          </p:cNvPr>
          <p:cNvSpPr>
            <a:spLocks noGrp="1"/>
          </p:cNvSpPr>
          <p:nvPr/>
        </p:nvSpPr>
        <p:spPr>
          <a:xfrm>
            <a:off x="1440180" y="6366510"/>
            <a:ext cx="525780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06</a:t>
            </a:r>
          </a:p>
        </p:txBody>
      </p:sp>
      <p:sp>
        <p:nvSpPr>
          <p:cNvPr id="11050" name="row-6-text">
            <a:extLst>
              <a:ext uri="{FF2B5EF4-FFF2-40B4-BE49-F238E27FC236}">
                <a16:creationId xmlns:a16="http://schemas.microsoft.com/office/drawing/2014/main" id="{BD7823EE-E705-452C-BDFD-2C49C0269DDD}"/>
              </a:ext>
            </a:extLst>
          </p:cNvPr>
          <p:cNvSpPr>
            <a:spLocks noGrp="1"/>
          </p:cNvSpPr>
          <p:nvPr/>
        </p:nvSpPr>
        <p:spPr>
          <a:xfrm>
            <a:off x="1965960" y="6355080"/>
            <a:ext cx="11247120" cy="662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Selector action: </a:t>
            </a:r>
            <a:r>
              <a:rPr>
                <a:solidFill>
                  <a:srgbClr val="F4511E"/>
                </a:solidFill>
              </a:rPr>
              <a:t>extract features first, predict fastest algorithm, choose Introsort / Heapsort / Timsort</a:t>
            </a:r>
          </a:p>
        </p:txBody>
      </p:sp>
      <p:sp>
        <p:nvSpPr>
          <p:cNvPr id="11054" name="row-6-rule">
            <a:extLst>
              <a:ext uri="{FF2B5EF4-FFF2-40B4-BE49-F238E27FC236}">
                <a16:creationId xmlns:a16="http://schemas.microsoft.com/office/drawing/2014/main" id="{90FEE2D6-5DDE-4B49-BB8C-7DF958181361}"/>
              </a:ext>
            </a:extLst>
          </p:cNvPr>
          <p:cNvSpPr>
            <a:spLocks noGrp="1"/>
          </p:cNvSpPr>
          <p:nvPr/>
        </p:nvSpPr>
        <p:spPr>
          <a:xfrm>
            <a:off x="1965960" y="7109460"/>
            <a:ext cx="11247120" cy="0"/>
          </a:xfrm>
          <a:prstGeom prst="line">
            <a:avLst/>
          </a:prstGeom>
          <a:noFill/>
          <a:ln w="12573">
            <a:solidFill>
              <a:srgbClr val="D7DEE8"/>
            </a:solidFill>
            <a:prstDash val="solid"/>
          </a:ln>
        </p:spPr>
      </p:sp>
      <p:sp>
        <p:nvSpPr>
          <p:cNvPr id="11055" name="page-marker">
            <a:extLst>
              <a:ext uri="{FF2B5EF4-FFF2-40B4-BE49-F238E27FC236}">
                <a16:creationId xmlns:a16="http://schemas.microsoft.com/office/drawing/2014/main" id="{F535645A-865E-4C30-8CD3-CF0E32A6A29A}"/>
              </a:ext>
            </a:extLst>
          </p:cNvPr>
          <p:cNvSpPr>
            <a:spLocks noGrp="1"/>
          </p:cNvSpPr>
          <p:nvPr/>
        </p:nvSpPr>
        <p:spPr>
          <a:xfrm>
            <a:off x="13716000" y="8023860"/>
            <a:ext cx="54864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 algn="l" defTabSz="914400" rtl="0">
              <a:buNone/>
              <a:defRPr sz="900" b="1">
                <a:solidFill>
                  <a:srgbClr val="FFFFFF"/>
                </a:solidFill>
              </a:defRPr>
            </a:pP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11056" name="fix-cover">
            <a:extLst>
              <a:ext uri="{FF2B5EF4-FFF2-40B4-BE49-F238E27FC236}">
                <a16:creationId xmlns:a16="http://schemas.microsoft.com/office/drawing/2014/main" id="{6776ECC0-9346-40D2-8640-0014C27A3DB7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238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1057" name="fixed-title">
            <a:extLst>
              <a:ext uri="{FF2B5EF4-FFF2-40B4-BE49-F238E27FC236}">
                <a16:creationId xmlns:a16="http://schemas.microsoft.com/office/drawing/2014/main" id="{68640A59-EBB9-40E1-B84F-D722F0AED173}"/>
              </a:ext>
            </a:extLst>
          </p:cNvPr>
          <p:cNvSpPr>
            <a:spLocks noGrp="1"/>
          </p:cNvSpPr>
          <p:nvPr/>
        </p:nvSpPr>
        <p:spPr>
          <a:xfrm>
            <a:off x="628650" y="552450"/>
            <a:ext cx="12811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118"/>
          </a:bodyPr>
          <a:lstStyle/>
          <a:p>
            <a:pPr algn="l">
              <a:buNone/>
              <a:defRPr sz="2550" b="0">
                <a:solidFill>
                  <a:srgbClr val="171717"/>
                </a:solidFill>
              </a:defRPr>
            </a:pPr>
            <a:r>
              <a:rPr sz="2550" b="0">
                <a:solidFill>
                  <a:srgbClr val="171717"/>
                </a:solidFill>
              </a:rPr>
              <a:t>Where this selector can be used</a:t>
            </a:r>
          </a:p>
        </p:txBody>
      </p:sp>
      <p:sp>
        <p:nvSpPr>
          <p:cNvPr id="11058" name="fixed-title-rule">
            <a:extLst>
              <a:ext uri="{FF2B5EF4-FFF2-40B4-BE49-F238E27FC236}">
                <a16:creationId xmlns:a16="http://schemas.microsoft.com/office/drawing/2014/main" id="{70F514A7-EB73-46A9-A756-C798E3BA6629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3716000" cy="0"/>
          </a:xfrm>
          <a:prstGeom prst="line">
            <a:avLst/>
          </a:prstGeom>
          <a:noFill/>
          <a:ln w="14288">
            <a:solidFill>
              <a:srgbClr val="D7DEE8"/>
            </a:solidFill>
            <a:prstDash val="solid"/>
          </a:ln>
        </p:spPr>
      </p:sp>
      <p:sp>
        <p:nvSpPr>
          <p:cNvPr id="11059" name="fix-cover">
            <a:extLst>
              <a:ext uri="{FF2B5EF4-FFF2-40B4-BE49-F238E27FC236}">
                <a16:creationId xmlns:a16="http://schemas.microsoft.com/office/drawing/2014/main" id="{4CB766B1-25D6-4B5B-8045-DFC9ADCD2FDD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1060" name="native-title-unified">
            <a:extLst>
              <a:ext uri="{FF2B5EF4-FFF2-40B4-BE49-F238E27FC236}">
                <a16:creationId xmlns:a16="http://schemas.microsoft.com/office/drawing/2014/main" id="{8301F4D7-90C0-4827-ACD2-A2EA1F5D02DB}"/>
              </a:ext>
            </a:extLst>
          </p:cNvPr>
          <p:cNvSpPr>
            <a:spLocks noGrp="1"/>
          </p:cNvSpPr>
          <p:nvPr/>
        </p:nvSpPr>
        <p:spPr>
          <a:xfrm>
            <a:off x="3583723" y="497252"/>
            <a:ext cx="1304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0">
                <a:solidFill>
                  <a:srgbClr val="171717"/>
                </a:solidFill>
              </a:defRPr>
            </a:pP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this selector can be used</a:t>
            </a:r>
          </a:p>
        </p:txBody>
      </p:sp>
      <p:sp>
        <p:nvSpPr>
          <p:cNvPr id="11063" name="footer-number-native">
            <a:extLst>
              <a:ext uri="{FF2B5EF4-FFF2-40B4-BE49-F238E27FC236}">
                <a16:creationId xmlns:a16="http://schemas.microsoft.com/office/drawing/2014/main" id="{D9AADA6D-1DB5-4A69-95EB-EF93B20691AA}"/>
              </a:ext>
            </a:extLst>
          </p:cNvPr>
          <p:cNvSpPr>
            <a:spLocks noGrp="1"/>
          </p:cNvSpPr>
          <p:nvPr/>
        </p:nvSpPr>
        <p:spPr>
          <a:xfrm>
            <a:off x="13811250" y="8039100"/>
            <a:ext cx="552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4167" lnSpcReduction="20000"/>
          </a:bodyPr>
          <a:lstStyle/>
          <a:p>
            <a:pPr marL="0" indent="0" algn="l" defTabSz="914400" rtl="0">
              <a:defRPr sz="750" b="1">
                <a:solidFill>
                  <a:srgbClr val="FFFFFF"/>
                </a:solidFill>
              </a:defRPr>
            </a:pPr>
            <a:endParaRPr sz="750" b="1" dirty="0">
              <a:solidFill>
                <a:srgbClr val="FFFFFF"/>
              </a:solidFill>
            </a:endParaRPr>
          </a:p>
        </p:txBody>
      </p:sp>
      <p:cxnSp>
        <p:nvCxnSpPr>
          <p:cNvPr id="2" name="Connector 5">
            <a:extLst>
              <a:ext uri="{FF2B5EF4-FFF2-40B4-BE49-F238E27FC236}">
                <a16:creationId xmlns:a16="http://schemas.microsoft.com/office/drawing/2014/main" id="{9E42CD19-FD30-6FF0-B5FE-5F5A842B8F8B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799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subtitle-cover-26">
            <a:extLst>
              <a:ext uri="{FF2B5EF4-FFF2-40B4-BE49-F238E27FC236}">
                <a16:creationId xmlns:a16="http://schemas.microsoft.com/office/drawing/2014/main" id="{06910568-B30E-4112-9123-FB186F9C964C}"/>
              </a:ext>
            </a:extLst>
          </p:cNvPr>
          <p:cNvSpPr>
            <a:spLocks noGrp="1"/>
          </p:cNvSpPr>
          <p:nvPr/>
        </p:nvSpPr>
        <p:spPr>
          <a:xfrm>
            <a:off x="152400" y="1143000"/>
            <a:ext cx="14325600" cy="647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" name="title-rule-redrawn-26">
            <a:extLst>
              <a:ext uri="{FF2B5EF4-FFF2-40B4-BE49-F238E27FC236}">
                <a16:creationId xmlns:a16="http://schemas.microsoft.com/office/drawing/2014/main" id="{9671EA42-F9EA-41D6-AADA-EF36DB6BE2C1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3716000" cy="0"/>
          </a:xfrm>
          <a:prstGeom prst="line">
            <a:avLst/>
          </a:prstGeom>
          <a:noFill/>
          <a:ln w="11430">
            <a:solidFill>
              <a:srgbClr val="D7DEE8"/>
            </a:solidFill>
            <a:prstDash val="solid"/>
          </a:ln>
        </p:spPr>
      </p:sp>
      <p:sp>
        <p:nvSpPr>
          <p:cNvPr id="5" name="fix-cover">
            <a:extLst>
              <a:ext uri="{FF2B5EF4-FFF2-40B4-BE49-F238E27FC236}">
                <a16:creationId xmlns:a16="http://schemas.microsoft.com/office/drawing/2014/main" id="{2FD6B31B-1D5E-4F37-8009-AC6D6B9B6612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" name="native-title-unified">
            <a:extLst>
              <a:ext uri="{FF2B5EF4-FFF2-40B4-BE49-F238E27FC236}">
                <a16:creationId xmlns:a16="http://schemas.microsoft.com/office/drawing/2014/main" id="{C330E8D2-C8E4-43F3-80FE-DB8B1ED07966}"/>
              </a:ext>
            </a:extLst>
          </p:cNvPr>
          <p:cNvSpPr>
            <a:spLocks noGrp="1"/>
          </p:cNvSpPr>
          <p:nvPr/>
        </p:nvSpPr>
        <p:spPr>
          <a:xfrm>
            <a:off x="1028517" y="483374"/>
            <a:ext cx="1304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0">
                <a:solidFill>
                  <a:srgbClr val="171717"/>
                </a:solidFill>
              </a:defRPr>
            </a:pP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contribution is a selector and an evaluation discipline</a:t>
            </a:r>
          </a:p>
        </p:txBody>
      </p:sp>
      <p:sp>
        <p:nvSpPr>
          <p:cNvPr id="8" name="footer-number-cover">
            <a:extLst>
              <a:ext uri="{FF2B5EF4-FFF2-40B4-BE49-F238E27FC236}">
                <a16:creationId xmlns:a16="http://schemas.microsoft.com/office/drawing/2014/main" id="{DC2FE5CF-5F2B-47F4-8E5E-93AA1860E9E5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</p:sp>
      <p:sp>
        <p:nvSpPr>
          <p:cNvPr id="9" name="footer-number-native">
            <a:extLst>
              <a:ext uri="{FF2B5EF4-FFF2-40B4-BE49-F238E27FC236}">
                <a16:creationId xmlns:a16="http://schemas.microsoft.com/office/drawing/2014/main" id="{FD913EE8-2931-4D59-AE0E-DFE0F3B7E055}"/>
              </a:ext>
            </a:extLst>
          </p:cNvPr>
          <p:cNvSpPr>
            <a:spLocks noGrp="1"/>
          </p:cNvSpPr>
          <p:nvPr/>
        </p:nvSpPr>
        <p:spPr>
          <a:xfrm>
            <a:off x="13811250" y="8039100"/>
            <a:ext cx="552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4167" lnSpcReduction="20000"/>
          </a:bodyPr>
          <a:lstStyle/>
          <a:p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26/28</a:t>
            </a:r>
          </a:p>
        </p:txBody>
      </p:sp>
      <p:sp>
        <p:nvSpPr>
          <p:cNvPr id="10" name="fix-cover">
            <a:extLst>
              <a:ext uri="{FF2B5EF4-FFF2-40B4-BE49-F238E27FC236}">
                <a16:creationId xmlns:a16="http://schemas.microsoft.com/office/drawing/2014/main" id="{402BE22D-6193-4990-9FB7-24041935D6B4}"/>
              </a:ext>
            </a:extLst>
          </p:cNvPr>
          <p:cNvSpPr>
            <a:spLocks noGrp="1"/>
          </p:cNvSpPr>
          <p:nvPr/>
        </p:nvSpPr>
        <p:spPr>
          <a:xfrm>
            <a:off x="428625" y="1381125"/>
            <a:ext cx="13763625" cy="6572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11" name="row-num-1">
            <a:extLst>
              <a:ext uri="{FF2B5EF4-FFF2-40B4-BE49-F238E27FC236}">
                <a16:creationId xmlns:a16="http://schemas.microsoft.com/office/drawing/2014/main" id="{5CCEC4D0-FFB6-49AB-8576-0C2B8059F9E1}"/>
              </a:ext>
            </a:extLst>
          </p:cNvPr>
          <p:cNvSpPr>
            <a:spLocks noGrp="1"/>
          </p:cNvSpPr>
          <p:nvPr/>
        </p:nvSpPr>
        <p:spPr>
          <a:xfrm>
            <a:off x="1447800" y="20002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12" name="row-text-1">
            <a:extLst>
              <a:ext uri="{FF2B5EF4-FFF2-40B4-BE49-F238E27FC236}">
                <a16:creationId xmlns:a16="http://schemas.microsoft.com/office/drawing/2014/main" id="{D31349CD-3B82-4FAC-862A-BF3C1C540802}"/>
              </a:ext>
            </a:extLst>
          </p:cNvPr>
          <p:cNvSpPr>
            <a:spLocks noGrp="1"/>
          </p:cNvSpPr>
          <p:nvPr/>
        </p:nvSpPr>
        <p:spPr>
          <a:xfrm>
            <a:off x="2000250" y="1981200"/>
            <a:ext cx="1123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A deployable selector: </a:t>
            </a:r>
            <a:r>
              <a:rPr sz="1500">
                <a:solidFill>
                  <a:srgbClr val="171717"/>
                </a:solidFill>
              </a:rPr>
              <a:t>compact pipeline combines sixteen O(n) structural features with a gradient-boosted classifier</a:t>
            </a:r>
          </a:p>
        </p:txBody>
      </p:sp>
      <p:sp>
        <p:nvSpPr>
          <p:cNvPr id="13" name="row-rule-1">
            <a:extLst>
              <a:ext uri="{FF2B5EF4-FFF2-40B4-BE49-F238E27FC236}">
                <a16:creationId xmlns:a16="http://schemas.microsoft.com/office/drawing/2014/main" id="{E041DFCE-76CA-46AD-96AF-4A3B3F566F8C}"/>
              </a:ext>
            </a:extLst>
          </p:cNvPr>
          <p:cNvSpPr>
            <a:spLocks noGrp="1"/>
          </p:cNvSpPr>
          <p:nvPr/>
        </p:nvSpPr>
        <p:spPr>
          <a:xfrm>
            <a:off x="2000250" y="2714625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</p:sp>
      <p:sp>
        <p:nvSpPr>
          <p:cNvPr id="14" name="row-num-2">
            <a:extLst>
              <a:ext uri="{FF2B5EF4-FFF2-40B4-BE49-F238E27FC236}">
                <a16:creationId xmlns:a16="http://schemas.microsoft.com/office/drawing/2014/main" id="{26577152-3A3C-4CA6-AF27-3E15FBC68EF3}"/>
              </a:ext>
            </a:extLst>
          </p:cNvPr>
          <p:cNvSpPr>
            <a:spLocks noGrp="1"/>
          </p:cNvSpPr>
          <p:nvPr/>
        </p:nvSpPr>
        <p:spPr>
          <a:xfrm>
            <a:off x="1447800" y="33813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5" name="row-text-2">
            <a:extLst>
              <a:ext uri="{FF2B5EF4-FFF2-40B4-BE49-F238E27FC236}">
                <a16:creationId xmlns:a16="http://schemas.microsoft.com/office/drawing/2014/main" id="{9ACFCF73-35B7-45E5-9224-5345F2747550}"/>
              </a:ext>
            </a:extLst>
          </p:cNvPr>
          <p:cNvSpPr>
            <a:spLocks noGrp="1"/>
          </p:cNvSpPr>
          <p:nvPr/>
        </p:nvSpPr>
        <p:spPr>
          <a:xfrm>
            <a:off x="2000250" y="3362325"/>
            <a:ext cx="1123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A rigorous evaluation framework: </a:t>
            </a:r>
            <a:r>
              <a:rPr sz="1500">
                <a:solidFill>
                  <a:srgbClr val="171717"/>
                </a:solidFill>
              </a:rPr>
              <a:t>source-level separation, near-tie filtering, LODO testing, and regret metrics give a stronger view than accuracy alone</a:t>
            </a:r>
          </a:p>
        </p:txBody>
      </p:sp>
      <p:sp>
        <p:nvSpPr>
          <p:cNvPr id="16" name="row-rule-2">
            <a:extLst>
              <a:ext uri="{FF2B5EF4-FFF2-40B4-BE49-F238E27FC236}">
                <a16:creationId xmlns:a16="http://schemas.microsoft.com/office/drawing/2014/main" id="{9726F0E4-B128-4415-813A-25100A6CD2AA}"/>
              </a:ext>
            </a:extLst>
          </p:cNvPr>
          <p:cNvSpPr>
            <a:spLocks noGrp="1"/>
          </p:cNvSpPr>
          <p:nvPr/>
        </p:nvSpPr>
        <p:spPr>
          <a:xfrm>
            <a:off x="2000250" y="4095750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</p:sp>
      <p:sp>
        <p:nvSpPr>
          <p:cNvPr id="17" name="row-num-3">
            <a:extLst>
              <a:ext uri="{FF2B5EF4-FFF2-40B4-BE49-F238E27FC236}">
                <a16:creationId xmlns:a16="http://schemas.microsoft.com/office/drawing/2014/main" id="{F96F6C41-0DF7-440E-BC67-B3EED65C2803}"/>
              </a:ext>
            </a:extLst>
          </p:cNvPr>
          <p:cNvSpPr>
            <a:spLocks noGrp="1"/>
          </p:cNvSpPr>
          <p:nvPr/>
        </p:nvSpPr>
        <p:spPr>
          <a:xfrm>
            <a:off x="1447800" y="47625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8" name="row-text-3">
            <a:extLst>
              <a:ext uri="{FF2B5EF4-FFF2-40B4-BE49-F238E27FC236}">
                <a16:creationId xmlns:a16="http://schemas.microsoft.com/office/drawing/2014/main" id="{490DE078-8A6F-4185-B0B9-7F29B85CFA29}"/>
              </a:ext>
            </a:extLst>
          </p:cNvPr>
          <p:cNvSpPr>
            <a:spLocks noGrp="1"/>
          </p:cNvSpPr>
          <p:nvPr/>
        </p:nvSpPr>
        <p:spPr>
          <a:xfrm>
            <a:off x="2000250" y="4743450"/>
            <a:ext cx="1123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A reproducible artifact: </a:t>
            </a:r>
            <a:r>
              <a:rPr sz="1500">
                <a:solidFill>
                  <a:srgbClr val="171717"/>
                </a:solidFill>
              </a:rPr>
              <a:t>one source-of-truth feature extractor, data pipeline, and exported XGBoost JSON / ONNX models support replication</a:t>
            </a:r>
          </a:p>
        </p:txBody>
      </p:sp>
      <p:sp>
        <p:nvSpPr>
          <p:cNvPr id="19" name="row-rule-3">
            <a:extLst>
              <a:ext uri="{FF2B5EF4-FFF2-40B4-BE49-F238E27FC236}">
                <a16:creationId xmlns:a16="http://schemas.microsoft.com/office/drawing/2014/main" id="{2F8971ED-B810-4A9C-A634-9A555D0B9121}"/>
              </a:ext>
            </a:extLst>
          </p:cNvPr>
          <p:cNvSpPr>
            <a:spLocks noGrp="1"/>
          </p:cNvSpPr>
          <p:nvPr/>
        </p:nvSpPr>
        <p:spPr>
          <a:xfrm>
            <a:off x="2000250" y="5476875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</p:sp>
      <p:cxnSp>
        <p:nvCxnSpPr>
          <p:cNvPr id="24" name="Connector 5">
            <a:extLst>
              <a:ext uri="{FF2B5EF4-FFF2-40B4-BE49-F238E27FC236}">
                <a16:creationId xmlns:a16="http://schemas.microsoft.com/office/drawing/2014/main" id="{C2C592B8-B2D4-6249-5E57-946BDD80ACF4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973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B0CBBB23-6B25-4037-B1E1-944C1FD331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9C1638"/>
          </a:solidFill>
          <a:ln w="0">
            <a:solidFill>
              <a:srgbClr val="9C163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B3BD31-82EF-49A6-923F-2D2724C525F2}"/>
              </a:ext>
            </a:extLst>
          </p:cNvPr>
          <p:cNvSpPr>
            <a:spLocks noGrp="1"/>
          </p:cNvSpPr>
          <p:nvPr/>
        </p:nvSpPr>
        <p:spPr>
          <a:xfrm>
            <a:off x="0" y="182880"/>
            <a:ext cx="14630400" cy="91440"/>
          </a:xfrm>
          <a:prstGeom prst="rect">
            <a:avLst/>
          </a:prstGeom>
          <a:solidFill>
            <a:srgbClr val="F4511E"/>
          </a:solidFill>
          <a:ln w="0">
            <a:solidFill>
              <a:srgbClr val="F4511E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0D59A4-2829-4BA8-890E-3F5F5CCA6822}"/>
              </a:ext>
            </a:extLst>
          </p:cNvPr>
          <p:cNvSpPr>
            <a:spLocks noGrp="1"/>
          </p:cNvSpPr>
          <p:nvPr/>
        </p:nvSpPr>
        <p:spPr>
          <a:xfrm>
            <a:off x="0" y="7932420"/>
            <a:ext cx="14630400" cy="297180"/>
          </a:xfrm>
          <a:prstGeom prst="rect">
            <a:avLst/>
          </a:prstGeom>
          <a:solidFill>
            <a:srgbClr val="9C1638"/>
          </a:solidFill>
          <a:ln w="0">
            <a:solidFill>
              <a:srgbClr val="9C1638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A37278-E4C3-4D91-9EAE-EC15383C199F}"/>
              </a:ext>
            </a:extLst>
          </p:cNvPr>
          <p:cNvSpPr>
            <a:spLocks noGrp="1"/>
          </p:cNvSpPr>
          <p:nvPr/>
        </p:nvSpPr>
        <p:spPr>
          <a:xfrm>
            <a:off x="891540" y="662940"/>
            <a:ext cx="12847320" cy="617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00" b="1">
                <a:solidFill>
                  <a:srgbClr val="1D1D1F"/>
                </a:solidFill>
              </a:defRPr>
            </a:pPr>
            <a:r>
              <a:rPr sz="3600" b="1">
                <a:solidFill>
                  <a:srgbClr val="1D1D1F"/>
                </a:solidFill>
              </a:rPr>
              <a:t>KFold checks whether the F1 model is stable across splits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5B750B8-708B-4713-80BE-660EF67E7B2C}"/>
              </a:ext>
            </a:extLst>
          </p:cNvPr>
          <p:cNvSpPr>
            <a:spLocks noGrp="1"/>
          </p:cNvSpPr>
          <p:nvPr/>
        </p:nvSpPr>
        <p:spPr>
          <a:xfrm>
            <a:off x="891540" y="18516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7F9FC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EDEC0E-6133-4D30-B166-79A9B58C9728}"/>
              </a:ext>
            </a:extLst>
          </p:cNvPr>
          <p:cNvSpPr>
            <a:spLocks noGrp="1"/>
          </p:cNvSpPr>
          <p:nvPr/>
        </p:nvSpPr>
        <p:spPr>
          <a:xfrm>
            <a:off x="1188720" y="2103120"/>
            <a:ext cx="352044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D1D1F"/>
                </a:solidFill>
              </a:defRPr>
            </a:pPr>
            <a:r>
              <a:rPr sz="2340" b="1">
                <a:solidFill>
                  <a:srgbClr val="1D1D1F"/>
                </a:solidFill>
              </a:rPr>
              <a:t>How the check was run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5966EA-5CB5-4D80-AD68-833A79E11DBE}"/>
              </a:ext>
            </a:extLst>
          </p:cNvPr>
          <p:cNvSpPr>
            <a:spLocks noGrp="1"/>
          </p:cNvSpPr>
          <p:nvPr/>
        </p:nvSpPr>
        <p:spPr>
          <a:xfrm>
            <a:off x="1188720" y="2800350"/>
            <a:ext cx="594360" cy="66294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2D6CD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47F55E-4552-46F3-833C-65DC7375C6AF}"/>
              </a:ext>
            </a:extLst>
          </p:cNvPr>
          <p:cNvSpPr>
            <a:spLocks noGrp="1"/>
          </p:cNvSpPr>
          <p:nvPr/>
        </p:nvSpPr>
        <p:spPr>
          <a:xfrm>
            <a:off x="1188720" y="2983230"/>
            <a:ext cx="5943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D6CDF"/>
                </a:solidFill>
              </a:defRPr>
            </a:pPr>
            <a:r>
              <a:rPr sz="1980" b="1">
                <a:solidFill>
                  <a:srgbClr val="2D6CDF"/>
                </a:solidFill>
              </a:rPr>
              <a:t>F1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2E73BBD-F940-4F24-9229-6B065EF01C7D}"/>
              </a:ext>
            </a:extLst>
          </p:cNvPr>
          <p:cNvSpPr>
            <a:spLocks noGrp="1"/>
          </p:cNvSpPr>
          <p:nvPr/>
        </p:nvSpPr>
        <p:spPr>
          <a:xfrm>
            <a:off x="1920240" y="2800350"/>
            <a:ext cx="594360" cy="662940"/>
          </a:xfrm>
          <a:prstGeom prst="roundRect">
            <a:avLst>
              <a:gd name="adj" fmla="val 15385"/>
            </a:avLst>
          </a:prstGeom>
          <a:solidFill>
            <a:srgbClr val="FFE8DE"/>
          </a:solidFill>
          <a:ln w="11430">
            <a:solidFill>
              <a:srgbClr val="F4511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2C378F-DAE0-45A3-AEFC-45AC065F68B6}"/>
              </a:ext>
            </a:extLst>
          </p:cNvPr>
          <p:cNvSpPr>
            <a:spLocks noGrp="1"/>
          </p:cNvSpPr>
          <p:nvPr/>
        </p:nvSpPr>
        <p:spPr>
          <a:xfrm>
            <a:off x="1920240" y="2983230"/>
            <a:ext cx="5943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4511E"/>
                </a:solidFill>
              </a:defRPr>
            </a:pPr>
            <a:r>
              <a:rPr sz="1980" b="1">
                <a:solidFill>
                  <a:srgbClr val="F4511E"/>
                </a:solidFill>
              </a:rPr>
              <a:t>F2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50756BD-C890-44CB-A2B2-E8C05593B1C3}"/>
              </a:ext>
            </a:extLst>
          </p:cNvPr>
          <p:cNvSpPr>
            <a:spLocks noGrp="1"/>
          </p:cNvSpPr>
          <p:nvPr/>
        </p:nvSpPr>
        <p:spPr>
          <a:xfrm>
            <a:off x="2651760" y="2800350"/>
            <a:ext cx="594360" cy="662940"/>
          </a:xfrm>
          <a:prstGeom prst="roundRect">
            <a:avLst>
              <a:gd name="adj" fmla="val 15385"/>
            </a:avLst>
          </a:prstGeom>
          <a:solidFill>
            <a:srgbClr val="FFE8DE"/>
          </a:solidFill>
          <a:ln w="11430">
            <a:solidFill>
              <a:srgbClr val="F4511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FAA281-2EEC-4784-95E5-AD4E2A7AAA86}"/>
              </a:ext>
            </a:extLst>
          </p:cNvPr>
          <p:cNvSpPr>
            <a:spLocks noGrp="1"/>
          </p:cNvSpPr>
          <p:nvPr/>
        </p:nvSpPr>
        <p:spPr>
          <a:xfrm>
            <a:off x="2651760" y="2983230"/>
            <a:ext cx="5943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4511E"/>
                </a:solidFill>
              </a:defRPr>
            </a:pPr>
            <a:r>
              <a:rPr sz="1980" b="1">
                <a:solidFill>
                  <a:srgbClr val="F4511E"/>
                </a:solidFill>
              </a:rPr>
              <a:t>F3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37AC03C-A588-4947-8168-0E5B48F2CE21}"/>
              </a:ext>
            </a:extLst>
          </p:cNvPr>
          <p:cNvSpPr>
            <a:spLocks noGrp="1"/>
          </p:cNvSpPr>
          <p:nvPr/>
        </p:nvSpPr>
        <p:spPr>
          <a:xfrm>
            <a:off x="3383280" y="2800350"/>
            <a:ext cx="594360" cy="662940"/>
          </a:xfrm>
          <a:prstGeom prst="roundRect">
            <a:avLst>
              <a:gd name="adj" fmla="val 15385"/>
            </a:avLst>
          </a:prstGeom>
          <a:solidFill>
            <a:srgbClr val="FFE8DE"/>
          </a:solidFill>
          <a:ln w="11430">
            <a:solidFill>
              <a:srgbClr val="F4511E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897245-EB34-42DB-B1DB-F8E894685C92}"/>
              </a:ext>
            </a:extLst>
          </p:cNvPr>
          <p:cNvSpPr>
            <a:spLocks noGrp="1"/>
          </p:cNvSpPr>
          <p:nvPr/>
        </p:nvSpPr>
        <p:spPr>
          <a:xfrm>
            <a:off x="3383280" y="2983230"/>
            <a:ext cx="5943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4511E"/>
                </a:solidFill>
              </a:defRPr>
            </a:pPr>
            <a:r>
              <a:rPr sz="1980" b="1">
                <a:solidFill>
                  <a:srgbClr val="F4511E"/>
                </a:solidFill>
              </a:rPr>
              <a:t>F4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E731BAF-5131-4A89-8C71-DB1E7F7C7C3E}"/>
              </a:ext>
            </a:extLst>
          </p:cNvPr>
          <p:cNvSpPr>
            <a:spLocks noGrp="1"/>
          </p:cNvSpPr>
          <p:nvPr/>
        </p:nvSpPr>
        <p:spPr>
          <a:xfrm>
            <a:off x="4114800" y="2800350"/>
            <a:ext cx="594360" cy="662940"/>
          </a:xfrm>
          <a:prstGeom prst="roundRect">
            <a:avLst>
              <a:gd name="adj" fmla="val 15385"/>
            </a:avLst>
          </a:prstGeom>
          <a:solidFill>
            <a:srgbClr val="FFE8DE"/>
          </a:solidFill>
          <a:ln w="11430">
            <a:solidFill>
              <a:srgbClr val="F4511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B1C24-11EE-485E-8D26-231B2468018F}"/>
              </a:ext>
            </a:extLst>
          </p:cNvPr>
          <p:cNvSpPr>
            <a:spLocks noGrp="1"/>
          </p:cNvSpPr>
          <p:nvPr/>
        </p:nvSpPr>
        <p:spPr>
          <a:xfrm>
            <a:off x="4114800" y="2983230"/>
            <a:ext cx="5943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4511E"/>
                </a:solidFill>
              </a:defRPr>
            </a:pPr>
            <a:r>
              <a:rPr sz="1980" b="1">
                <a:solidFill>
                  <a:srgbClr val="F4511E"/>
                </a:solidFill>
              </a:rPr>
              <a:t>F5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03FB5F-C50B-49F8-AB6A-E5F7F5E48F76}"/>
              </a:ext>
            </a:extLst>
          </p:cNvPr>
          <p:cNvSpPr>
            <a:spLocks noGrp="1"/>
          </p:cNvSpPr>
          <p:nvPr/>
        </p:nvSpPr>
        <p:spPr>
          <a:xfrm>
            <a:off x="1188720" y="3634740"/>
            <a:ext cx="3520440" cy="297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5C6B80"/>
                </a:solidFill>
              </a:defRPr>
            </a:pPr>
            <a:r>
              <a:rPr sz="1890">
                <a:solidFill>
                  <a:srgbClr val="5C6B80"/>
                </a:solidFill>
              </a:rPr>
              <a:t>one fold hidden for testing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1C6EC1-5BEF-4918-89F5-D1EC57982E5F}"/>
              </a:ext>
            </a:extLst>
          </p:cNvPr>
          <p:cNvSpPr>
            <a:spLocks noGrp="1"/>
          </p:cNvSpPr>
          <p:nvPr/>
        </p:nvSpPr>
        <p:spPr>
          <a:xfrm>
            <a:off x="1188720" y="4023360"/>
            <a:ext cx="352044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D1D1F"/>
                </a:solidFill>
              </a:defRPr>
            </a:pPr>
            <a:r>
              <a:rPr sz="2160" b="1">
                <a:solidFill>
                  <a:srgbClr val="1D1D1F"/>
                </a:solidFill>
              </a:rPr>
              <a:t>the other four folds train a fresh XGBoost model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7E98EE-3BAB-4207-8DCD-AAACA0BC112F}"/>
              </a:ext>
            </a:extLst>
          </p:cNvPr>
          <p:cNvSpPr>
            <a:spLocks noGrp="1"/>
          </p:cNvSpPr>
          <p:nvPr/>
        </p:nvSpPr>
        <p:spPr>
          <a:xfrm>
            <a:off x="1188720" y="4754880"/>
            <a:ext cx="352044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C6B80"/>
                </a:solidFill>
              </a:defRPr>
            </a:pPr>
            <a:r>
              <a:rPr sz="1980">
                <a:solidFill>
                  <a:srgbClr val="5C6B80"/>
                </a:solidFill>
              </a:rPr>
              <a:t>then the test role moves to the next fold until all five folds are tested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CEFF49-5C1F-417A-9105-D358B85FDFC8}"/>
              </a:ext>
            </a:extLst>
          </p:cNvPr>
          <p:cNvSpPr>
            <a:spLocks noGrp="1"/>
          </p:cNvSpPr>
          <p:nvPr/>
        </p:nvSpPr>
        <p:spPr>
          <a:xfrm>
            <a:off x="5120640" y="3429000"/>
            <a:ext cx="141732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4511E"/>
                </a:solidFill>
              </a:defRPr>
            </a:pPr>
            <a:r>
              <a:rPr b="1">
                <a:solidFill>
                  <a:srgbClr val="F4511E"/>
                </a:solidFill>
              </a:rPr>
              <a:t>F1-only</a:t>
            </a:r>
          </a:p>
          <a:p>
            <a:pPr algn="ctr">
              <a:defRPr sz="1500" b="1">
                <a:solidFill>
                  <a:srgbClr val="F4511E"/>
                </a:solidFill>
              </a:defRPr>
            </a:pPr>
            <a:r>
              <a:rPr b="1">
                <a:solidFill>
                  <a:srgbClr val="F4511E"/>
                </a:solidFill>
              </a:rPr>
              <a:t>balanced sample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E06154F-7CBB-4EE6-B4E1-0D70B9947DDC}"/>
              </a:ext>
            </a:extLst>
          </p:cNvPr>
          <p:cNvSpPr>
            <a:spLocks noGrp="1"/>
          </p:cNvSpPr>
          <p:nvPr/>
        </p:nvSpPr>
        <p:spPr>
          <a:xfrm>
            <a:off x="6629400" y="1851660"/>
            <a:ext cx="71094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5E3308-63C5-44D7-9E6A-A3F50210AC9A}"/>
              </a:ext>
            </a:extLst>
          </p:cNvPr>
          <p:cNvSpPr>
            <a:spLocks noGrp="1"/>
          </p:cNvSpPr>
          <p:nvPr/>
        </p:nvSpPr>
        <p:spPr>
          <a:xfrm>
            <a:off x="6903720" y="2103120"/>
            <a:ext cx="656082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D1D1F"/>
                </a:solidFill>
              </a:defRPr>
            </a:pPr>
            <a:r>
              <a:rPr sz="2520" b="1">
                <a:solidFill>
                  <a:srgbClr val="1D1D1F"/>
                </a:solidFill>
              </a:rPr>
              <a:t>Actual 5-fold result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1BA6A2-717A-44B8-BEAB-F8047C850B3A}"/>
              </a:ext>
            </a:extLst>
          </p:cNvPr>
          <p:cNvSpPr>
            <a:spLocks noGrp="1"/>
          </p:cNvSpPr>
          <p:nvPr/>
        </p:nvSpPr>
        <p:spPr>
          <a:xfrm>
            <a:off x="6903720" y="2503170"/>
            <a:ext cx="6560820" cy="297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C6B80"/>
                </a:solidFill>
              </a:defRPr>
            </a:pPr>
            <a:r>
              <a:rPr sz="1980">
                <a:solidFill>
                  <a:srgbClr val="5C6B80"/>
                </a:solidFill>
              </a:rPr>
              <a:t>mean ± standard deviation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E0A94B8-3ABE-48B8-88A7-3E304A39AF3F}"/>
              </a:ext>
            </a:extLst>
          </p:cNvPr>
          <p:cNvSpPr>
            <a:spLocks noGrp="1"/>
          </p:cNvSpPr>
          <p:nvPr/>
        </p:nvSpPr>
        <p:spPr>
          <a:xfrm>
            <a:off x="7109460" y="3131820"/>
            <a:ext cx="2857500" cy="93726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F7B043-9843-4259-9D55-DC43D914E771}"/>
              </a:ext>
            </a:extLst>
          </p:cNvPr>
          <p:cNvSpPr>
            <a:spLocks noGrp="1"/>
          </p:cNvSpPr>
          <p:nvPr/>
        </p:nvSpPr>
        <p:spPr>
          <a:xfrm>
            <a:off x="7269480" y="3268980"/>
            <a:ext cx="25374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C6B80"/>
                </a:solidFill>
              </a:defRPr>
            </a:pPr>
            <a:r>
              <a:rPr b="1">
                <a:solidFill>
                  <a:srgbClr val="5C6B80"/>
                </a:solidFill>
              </a:rPr>
              <a:t>Accuracy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F4365C-CAD1-4EDE-B280-501A15DDD600}"/>
              </a:ext>
            </a:extLst>
          </p:cNvPr>
          <p:cNvSpPr>
            <a:spLocks noGrp="1"/>
          </p:cNvSpPr>
          <p:nvPr/>
        </p:nvSpPr>
        <p:spPr>
          <a:xfrm>
            <a:off x="7223760" y="3623310"/>
            <a:ext cx="26289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9C1638"/>
                </a:solidFill>
              </a:defRPr>
            </a:pPr>
            <a:r>
              <a:rPr sz="2160" b="1">
                <a:solidFill>
                  <a:srgbClr val="9C1638"/>
                </a:solidFill>
              </a:rPr>
              <a:t>61.61 ± 0.61%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F2E743E-9DF2-4922-A506-123DEDD6E56D}"/>
              </a:ext>
            </a:extLst>
          </p:cNvPr>
          <p:cNvSpPr>
            <a:spLocks noGrp="1"/>
          </p:cNvSpPr>
          <p:nvPr/>
        </p:nvSpPr>
        <p:spPr>
          <a:xfrm>
            <a:off x="10149840" y="3131820"/>
            <a:ext cx="2857500" cy="93726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4A8855-945B-4DD9-A89F-E4E731DF0C28}"/>
              </a:ext>
            </a:extLst>
          </p:cNvPr>
          <p:cNvSpPr>
            <a:spLocks noGrp="1"/>
          </p:cNvSpPr>
          <p:nvPr/>
        </p:nvSpPr>
        <p:spPr>
          <a:xfrm>
            <a:off x="10309860" y="3268980"/>
            <a:ext cx="25374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C6B80"/>
                </a:solidFill>
              </a:defRPr>
            </a:pPr>
            <a:r>
              <a:rPr b="1">
                <a:solidFill>
                  <a:srgbClr val="5C6B80"/>
                </a:solidFill>
              </a:rPr>
              <a:t>Macro F1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36C302-F43A-4333-AE94-3BBB9C09EF21}"/>
              </a:ext>
            </a:extLst>
          </p:cNvPr>
          <p:cNvSpPr>
            <a:spLocks noGrp="1"/>
          </p:cNvSpPr>
          <p:nvPr/>
        </p:nvSpPr>
        <p:spPr>
          <a:xfrm>
            <a:off x="10264140" y="3623310"/>
            <a:ext cx="26289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9C1638"/>
                </a:solidFill>
              </a:defRPr>
            </a:pPr>
            <a:r>
              <a:rPr sz="2160" b="1">
                <a:solidFill>
                  <a:srgbClr val="9C1638"/>
                </a:solidFill>
              </a:rPr>
              <a:t>62.00 ± 0.60%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CDF7141-360D-4367-87A8-7335807F943E}"/>
              </a:ext>
            </a:extLst>
          </p:cNvPr>
          <p:cNvSpPr>
            <a:spLocks noGrp="1"/>
          </p:cNvSpPr>
          <p:nvPr/>
        </p:nvSpPr>
        <p:spPr>
          <a:xfrm>
            <a:off x="7109460" y="4411980"/>
            <a:ext cx="2857500" cy="93726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ABA216-D825-4E02-BCDE-2B415FCE15D8}"/>
              </a:ext>
            </a:extLst>
          </p:cNvPr>
          <p:cNvSpPr>
            <a:spLocks noGrp="1"/>
          </p:cNvSpPr>
          <p:nvPr/>
        </p:nvSpPr>
        <p:spPr>
          <a:xfrm>
            <a:off x="7269480" y="4549140"/>
            <a:ext cx="25374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C6B80"/>
                </a:solidFill>
              </a:defRPr>
            </a:pPr>
            <a:r>
              <a:rPr b="1">
                <a:solidFill>
                  <a:srgbClr val="5C6B80"/>
                </a:solidFill>
              </a:rPr>
              <a:t>Gap closed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2F31427-314A-4E8D-BA2A-34E56A836DD0}"/>
              </a:ext>
            </a:extLst>
          </p:cNvPr>
          <p:cNvSpPr>
            <a:spLocks noGrp="1"/>
          </p:cNvSpPr>
          <p:nvPr/>
        </p:nvSpPr>
        <p:spPr>
          <a:xfrm>
            <a:off x="7223760" y="4903470"/>
            <a:ext cx="26289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4511E"/>
                </a:solidFill>
              </a:defRPr>
            </a:pPr>
            <a:r>
              <a:rPr sz="2160" b="1">
                <a:solidFill>
                  <a:srgbClr val="F4511E"/>
                </a:solidFill>
              </a:rPr>
              <a:t>59.78 ± 0.64%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7298B74-CF2E-4F3B-B51F-701A411A296E}"/>
              </a:ext>
            </a:extLst>
          </p:cNvPr>
          <p:cNvSpPr>
            <a:spLocks noGrp="1"/>
          </p:cNvSpPr>
          <p:nvPr/>
        </p:nvSpPr>
        <p:spPr>
          <a:xfrm>
            <a:off x="10149840" y="4411980"/>
            <a:ext cx="2857500" cy="93726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07DF0D-5694-45CF-B69A-DB74DA28596A}"/>
              </a:ext>
            </a:extLst>
          </p:cNvPr>
          <p:cNvSpPr>
            <a:spLocks noGrp="1"/>
          </p:cNvSpPr>
          <p:nvPr/>
        </p:nvSpPr>
        <p:spPr>
          <a:xfrm>
            <a:off x="10309860" y="4549140"/>
            <a:ext cx="25374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C6B80"/>
                </a:solidFill>
              </a:defRPr>
            </a:pPr>
            <a:r>
              <a:rPr b="1">
                <a:solidFill>
                  <a:srgbClr val="5C6B80"/>
                </a:solidFill>
              </a:rPr>
              <a:t>Zero regret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F63FFB-1399-4C5D-9BD9-71A1B2D8F193}"/>
              </a:ext>
            </a:extLst>
          </p:cNvPr>
          <p:cNvSpPr>
            <a:spLocks noGrp="1"/>
          </p:cNvSpPr>
          <p:nvPr/>
        </p:nvSpPr>
        <p:spPr>
          <a:xfrm>
            <a:off x="10264140" y="4903470"/>
            <a:ext cx="26289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28B5B"/>
                </a:solidFill>
              </a:defRPr>
            </a:pPr>
            <a:r>
              <a:rPr sz="2160" b="1">
                <a:solidFill>
                  <a:srgbClr val="228B5B"/>
                </a:solidFill>
              </a:rPr>
              <a:t>66.87 ± 0.73%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0F8724C-6BF8-48C3-BC7B-BC1BE439FBD9}"/>
              </a:ext>
            </a:extLst>
          </p:cNvPr>
          <p:cNvSpPr>
            <a:spLocks noGrp="1"/>
          </p:cNvSpPr>
          <p:nvPr/>
        </p:nvSpPr>
        <p:spPr>
          <a:xfrm>
            <a:off x="1943100" y="6263640"/>
            <a:ext cx="10744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E66A02C-69D7-4DFE-BE70-0728EFF0D8D4}"/>
              </a:ext>
            </a:extLst>
          </p:cNvPr>
          <p:cNvSpPr>
            <a:spLocks noGrp="1"/>
          </p:cNvSpPr>
          <p:nvPr/>
        </p:nvSpPr>
        <p:spPr>
          <a:xfrm>
            <a:off x="2240280" y="6515100"/>
            <a:ext cx="2720340" cy="525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 algn="l" defTabSz="914400" rtl="0">
              <a:defRPr sz="1800" b="1">
                <a:solidFill>
                  <a:srgbClr val="9C1638"/>
                </a:solidFill>
              </a:defRPr>
            </a:pPr>
            <a:endParaRPr sz="2160" b="1" dirty="0">
              <a:solidFill>
                <a:srgbClr val="9C1638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F638371-1977-42D0-ABE7-0DD617C4EF23}"/>
              </a:ext>
            </a:extLst>
          </p:cNvPr>
          <p:cNvSpPr>
            <a:spLocks noGrp="1"/>
          </p:cNvSpPr>
          <p:nvPr/>
        </p:nvSpPr>
        <p:spPr>
          <a:xfrm>
            <a:off x="2776655" y="6480810"/>
            <a:ext cx="10207826" cy="617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D1D1F"/>
                </a:solidFill>
              </a:defRPr>
            </a:pPr>
            <a:r>
              <a:rPr lang="en-US" sz="1980" dirty="0">
                <a:solidFill>
                  <a:srgbClr val="1D1D1F"/>
                </a:solidFill>
              </a:rPr>
              <a:t>The</a:t>
            </a:r>
            <a:r>
              <a:rPr sz="1980" dirty="0">
                <a:solidFill>
                  <a:srgbClr val="1D1D1F"/>
                </a:solidFill>
              </a:rPr>
              <a:t> folds are close, so this is a row-level stability check;</a:t>
            </a:r>
          </a:p>
          <a:p>
            <a:pPr algn="ctr">
              <a:defRPr sz="1650" b="0">
                <a:solidFill>
                  <a:srgbClr val="1D1D1F"/>
                </a:solidFill>
              </a:defRPr>
            </a:pPr>
            <a:r>
              <a:rPr sz="1980" dirty="0">
                <a:solidFill>
                  <a:srgbClr val="1D1D1F"/>
                </a:solidFill>
              </a:rPr>
              <a:t>source-level generalization is still evaluated separately by domain holdout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579842-4757-42A2-ABCB-E399370F336E}"/>
              </a:ext>
            </a:extLst>
          </p:cNvPr>
          <p:cNvSpPr>
            <a:spLocks noGrp="1"/>
          </p:cNvSpPr>
          <p:nvPr/>
        </p:nvSpPr>
        <p:spPr>
          <a:xfrm>
            <a:off x="12893040" y="7566660"/>
            <a:ext cx="98298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FFFFFF"/>
                </a:solidFill>
              </a:defRPr>
            </a:pPr>
            <a:r>
              <a:rPr sz="1620" b="1">
                <a:solidFill>
                  <a:srgbClr val="FFFFFF"/>
                </a:solidFill>
              </a:rPr>
              <a:t>KFold</a:t>
            </a:r>
          </a:p>
        </p:txBody>
      </p:sp>
      <p:cxnSp>
        <p:nvCxnSpPr>
          <p:cNvPr id="42" name="Connector 5">
            <a:extLst>
              <a:ext uri="{FF2B5EF4-FFF2-40B4-BE49-F238E27FC236}">
                <a16:creationId xmlns:a16="http://schemas.microsoft.com/office/drawing/2014/main" id="{F694C2E0-BFD7-FF43-616B-37BE279994B9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752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subtitle-cover-27">
            <a:extLst>
              <a:ext uri="{FF2B5EF4-FFF2-40B4-BE49-F238E27FC236}">
                <a16:creationId xmlns:a16="http://schemas.microsoft.com/office/drawing/2014/main" id="{20DCB834-1166-45A0-A549-BB2883FE8175}"/>
              </a:ext>
            </a:extLst>
          </p:cNvPr>
          <p:cNvSpPr>
            <a:spLocks noGrp="1"/>
          </p:cNvSpPr>
          <p:nvPr/>
        </p:nvSpPr>
        <p:spPr>
          <a:xfrm>
            <a:off x="152400" y="1143000"/>
            <a:ext cx="14325600" cy="647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" name="title-rule-redrawn-27">
            <a:extLst>
              <a:ext uri="{FF2B5EF4-FFF2-40B4-BE49-F238E27FC236}">
                <a16:creationId xmlns:a16="http://schemas.microsoft.com/office/drawing/2014/main" id="{B0FE0B31-14DE-4B84-B1E4-19CDA0E091A0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3716000" cy="0"/>
          </a:xfrm>
          <a:prstGeom prst="line">
            <a:avLst/>
          </a:prstGeom>
          <a:noFill/>
          <a:ln w="11430">
            <a:solidFill>
              <a:srgbClr val="D7DEE8"/>
            </a:solidFill>
            <a:prstDash val="solid"/>
          </a:ln>
        </p:spPr>
      </p:sp>
      <p:sp>
        <p:nvSpPr>
          <p:cNvPr id="5" name="fix-cover">
            <a:extLst>
              <a:ext uri="{FF2B5EF4-FFF2-40B4-BE49-F238E27FC236}">
                <a16:creationId xmlns:a16="http://schemas.microsoft.com/office/drawing/2014/main" id="{DA798DDA-1600-4A89-9B8C-F5619B5DF8B2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" name="native-title-unified">
            <a:extLst>
              <a:ext uri="{FF2B5EF4-FFF2-40B4-BE49-F238E27FC236}">
                <a16:creationId xmlns:a16="http://schemas.microsoft.com/office/drawing/2014/main" id="{FC54CB4E-5A47-4190-AD5B-968E36CCD938}"/>
              </a:ext>
            </a:extLst>
          </p:cNvPr>
          <p:cNvSpPr>
            <a:spLocks noGrp="1"/>
          </p:cNvSpPr>
          <p:nvPr/>
        </p:nvSpPr>
        <p:spPr>
          <a:xfrm>
            <a:off x="1095375" y="461963"/>
            <a:ext cx="1304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0">
                <a:solidFill>
                  <a:srgbClr val="171717"/>
                </a:solidFill>
              </a:defRPr>
            </a:pP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remaining errors show where the features stop seeing</a:t>
            </a:r>
          </a:p>
        </p:txBody>
      </p:sp>
      <p:sp>
        <p:nvSpPr>
          <p:cNvPr id="8" name="footer-number-cover">
            <a:extLst>
              <a:ext uri="{FF2B5EF4-FFF2-40B4-BE49-F238E27FC236}">
                <a16:creationId xmlns:a16="http://schemas.microsoft.com/office/drawing/2014/main" id="{FE62AF6D-8708-4A67-822A-0DCA50CB77DD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</p:sp>
      <p:sp>
        <p:nvSpPr>
          <p:cNvPr id="9" name="footer-number-native">
            <a:extLst>
              <a:ext uri="{FF2B5EF4-FFF2-40B4-BE49-F238E27FC236}">
                <a16:creationId xmlns:a16="http://schemas.microsoft.com/office/drawing/2014/main" id="{E852D492-593B-4E51-B3B3-C714CF605353}"/>
              </a:ext>
            </a:extLst>
          </p:cNvPr>
          <p:cNvSpPr>
            <a:spLocks noGrp="1"/>
          </p:cNvSpPr>
          <p:nvPr/>
        </p:nvSpPr>
        <p:spPr>
          <a:xfrm>
            <a:off x="13811250" y="8039100"/>
            <a:ext cx="552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4167" lnSpcReduction="20000"/>
          </a:bodyPr>
          <a:lstStyle/>
          <a:p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27/28</a:t>
            </a:r>
          </a:p>
        </p:txBody>
      </p:sp>
      <p:sp>
        <p:nvSpPr>
          <p:cNvPr id="10" name="fix-cover">
            <a:extLst>
              <a:ext uri="{FF2B5EF4-FFF2-40B4-BE49-F238E27FC236}">
                <a16:creationId xmlns:a16="http://schemas.microsoft.com/office/drawing/2014/main" id="{D02E8504-9202-4533-A9A2-5221DE7F08DC}"/>
              </a:ext>
            </a:extLst>
          </p:cNvPr>
          <p:cNvSpPr>
            <a:spLocks noGrp="1"/>
          </p:cNvSpPr>
          <p:nvPr/>
        </p:nvSpPr>
        <p:spPr>
          <a:xfrm>
            <a:off x="228600" y="1266825"/>
            <a:ext cx="13763625" cy="6572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TR" dirty="0"/>
          </a:p>
        </p:txBody>
      </p:sp>
      <p:sp>
        <p:nvSpPr>
          <p:cNvPr id="11" name="row-num-1">
            <a:extLst>
              <a:ext uri="{FF2B5EF4-FFF2-40B4-BE49-F238E27FC236}">
                <a16:creationId xmlns:a16="http://schemas.microsoft.com/office/drawing/2014/main" id="{3F05C6B3-16F5-421E-B494-CAF224F70630}"/>
              </a:ext>
            </a:extLst>
          </p:cNvPr>
          <p:cNvSpPr>
            <a:spLocks noGrp="1"/>
          </p:cNvSpPr>
          <p:nvPr/>
        </p:nvSpPr>
        <p:spPr>
          <a:xfrm>
            <a:off x="1447800" y="15049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12" name="row-text-1">
            <a:extLst>
              <a:ext uri="{FF2B5EF4-FFF2-40B4-BE49-F238E27FC236}">
                <a16:creationId xmlns:a16="http://schemas.microsoft.com/office/drawing/2014/main" id="{F19D5C5D-DA25-4A93-96A9-930CE40AB0FA}"/>
              </a:ext>
            </a:extLst>
          </p:cNvPr>
          <p:cNvSpPr>
            <a:spLocks noGrp="1"/>
          </p:cNvSpPr>
          <p:nvPr/>
        </p:nvSpPr>
        <p:spPr>
          <a:xfrm>
            <a:off x="2000250" y="1485900"/>
            <a:ext cx="1123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Portfolio: </a:t>
            </a:r>
            <a:r>
              <a:rPr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to three C-level comparison sorts</a:t>
            </a:r>
          </a:p>
        </p:txBody>
      </p:sp>
      <p:sp>
        <p:nvSpPr>
          <p:cNvPr id="13" name="row-rule-1">
            <a:extLst>
              <a:ext uri="{FF2B5EF4-FFF2-40B4-BE49-F238E27FC236}">
                <a16:creationId xmlns:a16="http://schemas.microsoft.com/office/drawing/2014/main" id="{F6E21F0B-E059-4E2D-B4B1-6814E6C7BFA9}"/>
              </a:ext>
            </a:extLst>
          </p:cNvPr>
          <p:cNvSpPr>
            <a:spLocks noGrp="1"/>
          </p:cNvSpPr>
          <p:nvPr/>
        </p:nvSpPr>
        <p:spPr>
          <a:xfrm>
            <a:off x="2000250" y="1943100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</p:sp>
      <p:sp>
        <p:nvSpPr>
          <p:cNvPr id="14" name="row-num-2">
            <a:extLst>
              <a:ext uri="{FF2B5EF4-FFF2-40B4-BE49-F238E27FC236}">
                <a16:creationId xmlns:a16="http://schemas.microsoft.com/office/drawing/2014/main" id="{C2EBFBBB-6F53-40E9-B59B-7E44CFC3D4D2}"/>
              </a:ext>
            </a:extLst>
          </p:cNvPr>
          <p:cNvSpPr>
            <a:spLocks noGrp="1"/>
          </p:cNvSpPr>
          <p:nvPr/>
        </p:nvSpPr>
        <p:spPr>
          <a:xfrm>
            <a:off x="1447800" y="22002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5" name="row-text-2">
            <a:extLst>
              <a:ext uri="{FF2B5EF4-FFF2-40B4-BE49-F238E27FC236}">
                <a16:creationId xmlns:a16="http://schemas.microsoft.com/office/drawing/2014/main" id="{CCA85B7B-8CAE-4136-8ECA-4F3CAA07C8BA}"/>
              </a:ext>
            </a:extLst>
          </p:cNvPr>
          <p:cNvSpPr>
            <a:spLocks noGrp="1"/>
          </p:cNvSpPr>
          <p:nvPr/>
        </p:nvSpPr>
        <p:spPr>
          <a:xfrm>
            <a:off x="2000250" y="2181225"/>
            <a:ext cx="1123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</a:t>
            </a:r>
            <a:r>
              <a:rPr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absolute regret is tied to one hardware/software environment</a:t>
            </a:r>
          </a:p>
        </p:txBody>
      </p:sp>
      <p:sp>
        <p:nvSpPr>
          <p:cNvPr id="16" name="row-rule-2">
            <a:extLst>
              <a:ext uri="{FF2B5EF4-FFF2-40B4-BE49-F238E27FC236}">
                <a16:creationId xmlns:a16="http://schemas.microsoft.com/office/drawing/2014/main" id="{48E262E4-8B4C-43EE-ADDE-2B1179297626}"/>
              </a:ext>
            </a:extLst>
          </p:cNvPr>
          <p:cNvSpPr>
            <a:spLocks noGrp="1"/>
          </p:cNvSpPr>
          <p:nvPr/>
        </p:nvSpPr>
        <p:spPr>
          <a:xfrm>
            <a:off x="2000250" y="2638425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</p:sp>
      <p:sp>
        <p:nvSpPr>
          <p:cNvPr id="17" name="row-num-3">
            <a:extLst>
              <a:ext uri="{FF2B5EF4-FFF2-40B4-BE49-F238E27FC236}">
                <a16:creationId xmlns:a16="http://schemas.microsoft.com/office/drawing/2014/main" id="{C28AB472-734E-4E40-B2BD-9C53E7F0D930}"/>
              </a:ext>
            </a:extLst>
          </p:cNvPr>
          <p:cNvSpPr>
            <a:spLocks noGrp="1"/>
          </p:cNvSpPr>
          <p:nvPr/>
        </p:nvSpPr>
        <p:spPr>
          <a:xfrm>
            <a:off x="1447800" y="28956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8" name="row-text-3">
            <a:extLst>
              <a:ext uri="{FF2B5EF4-FFF2-40B4-BE49-F238E27FC236}">
                <a16:creationId xmlns:a16="http://schemas.microsoft.com/office/drawing/2014/main" id="{1027A24F-EAD5-4ADD-A59D-B6770370B495}"/>
              </a:ext>
            </a:extLst>
          </p:cNvPr>
          <p:cNvSpPr>
            <a:spLocks noGrp="1"/>
          </p:cNvSpPr>
          <p:nvPr/>
        </p:nvSpPr>
        <p:spPr>
          <a:xfrm>
            <a:off x="2000250" y="2876550"/>
            <a:ext cx="1123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Source-aware split: </a:t>
            </a:r>
            <a:r>
              <a:rPr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stricter validation lowers performance, so deployment needs domain testing</a:t>
            </a:r>
          </a:p>
        </p:txBody>
      </p:sp>
      <p:sp>
        <p:nvSpPr>
          <p:cNvPr id="19" name="row-rule-3">
            <a:extLst>
              <a:ext uri="{FF2B5EF4-FFF2-40B4-BE49-F238E27FC236}">
                <a16:creationId xmlns:a16="http://schemas.microsoft.com/office/drawing/2014/main" id="{18A689B9-D4AF-42FF-BB62-70131D9428FF}"/>
              </a:ext>
            </a:extLst>
          </p:cNvPr>
          <p:cNvSpPr>
            <a:spLocks noGrp="1"/>
          </p:cNvSpPr>
          <p:nvPr/>
        </p:nvSpPr>
        <p:spPr>
          <a:xfrm>
            <a:off x="2000250" y="3333750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</p:sp>
      <p:sp>
        <p:nvSpPr>
          <p:cNvPr id="20" name="row-num-4">
            <a:extLst>
              <a:ext uri="{FF2B5EF4-FFF2-40B4-BE49-F238E27FC236}">
                <a16:creationId xmlns:a16="http://schemas.microsoft.com/office/drawing/2014/main" id="{DA79162D-A45E-4F08-B7C9-F70A4B8BA0FF}"/>
              </a:ext>
            </a:extLst>
          </p:cNvPr>
          <p:cNvSpPr>
            <a:spLocks noGrp="1"/>
          </p:cNvSpPr>
          <p:nvPr/>
        </p:nvSpPr>
        <p:spPr>
          <a:xfrm>
            <a:off x="1447800" y="359092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04</a:t>
            </a:r>
          </a:p>
        </p:txBody>
      </p:sp>
      <p:sp>
        <p:nvSpPr>
          <p:cNvPr id="21" name="row-text-4">
            <a:extLst>
              <a:ext uri="{FF2B5EF4-FFF2-40B4-BE49-F238E27FC236}">
                <a16:creationId xmlns:a16="http://schemas.microsoft.com/office/drawing/2014/main" id="{0775025C-A7AC-429D-B538-433D2BD760B3}"/>
              </a:ext>
            </a:extLst>
          </p:cNvPr>
          <p:cNvSpPr>
            <a:spLocks noGrp="1"/>
          </p:cNvSpPr>
          <p:nvPr/>
        </p:nvSpPr>
        <p:spPr>
          <a:xfrm>
            <a:off x="2000250" y="3571875"/>
            <a:ext cx="1123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Extraction cost: </a:t>
            </a:r>
            <a:r>
              <a:rPr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becomes unprofitable below about 1,000 elements</a:t>
            </a:r>
          </a:p>
        </p:txBody>
      </p:sp>
      <p:sp>
        <p:nvSpPr>
          <p:cNvPr id="22" name="row-rule-4">
            <a:extLst>
              <a:ext uri="{FF2B5EF4-FFF2-40B4-BE49-F238E27FC236}">
                <a16:creationId xmlns:a16="http://schemas.microsoft.com/office/drawing/2014/main" id="{3F84BDCB-7D7D-48B9-81A9-1F48D8464CC0}"/>
              </a:ext>
            </a:extLst>
          </p:cNvPr>
          <p:cNvSpPr>
            <a:spLocks noGrp="1"/>
          </p:cNvSpPr>
          <p:nvPr/>
        </p:nvSpPr>
        <p:spPr>
          <a:xfrm>
            <a:off x="2000250" y="4029075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</p:sp>
      <p:sp>
        <p:nvSpPr>
          <p:cNvPr id="23" name="row-num-5">
            <a:extLst>
              <a:ext uri="{FF2B5EF4-FFF2-40B4-BE49-F238E27FC236}">
                <a16:creationId xmlns:a16="http://schemas.microsoft.com/office/drawing/2014/main" id="{D1F250EC-EE8F-405F-9D9A-7373068D6A6A}"/>
              </a:ext>
            </a:extLst>
          </p:cNvPr>
          <p:cNvSpPr>
            <a:spLocks noGrp="1"/>
          </p:cNvSpPr>
          <p:nvPr/>
        </p:nvSpPr>
        <p:spPr>
          <a:xfrm>
            <a:off x="1447800" y="42862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05</a:t>
            </a:r>
          </a:p>
        </p:txBody>
      </p:sp>
      <p:sp>
        <p:nvSpPr>
          <p:cNvPr id="24" name="row-text-5">
            <a:extLst>
              <a:ext uri="{FF2B5EF4-FFF2-40B4-BE49-F238E27FC236}">
                <a16:creationId xmlns:a16="http://schemas.microsoft.com/office/drawing/2014/main" id="{1F51D0E5-E9AF-4A92-9091-37986E81C29B}"/>
              </a:ext>
            </a:extLst>
          </p:cNvPr>
          <p:cNvSpPr>
            <a:spLocks noGrp="1"/>
          </p:cNvSpPr>
          <p:nvPr/>
        </p:nvSpPr>
        <p:spPr>
          <a:xfrm>
            <a:off x="2000250" y="4267200"/>
            <a:ext cx="1123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Larger portfolios: </a:t>
            </a:r>
            <a:r>
              <a:rPr sz="2000" dirty="0" err="1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Powersort</a:t>
            </a:r>
            <a:r>
              <a:rPr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radix/bucket/quads, SIMD/GPU sorts</a:t>
            </a:r>
          </a:p>
        </p:txBody>
      </p:sp>
      <p:sp>
        <p:nvSpPr>
          <p:cNvPr id="25" name="row-rule-5">
            <a:extLst>
              <a:ext uri="{FF2B5EF4-FFF2-40B4-BE49-F238E27FC236}">
                <a16:creationId xmlns:a16="http://schemas.microsoft.com/office/drawing/2014/main" id="{1D057B74-69F3-4B0E-BAA4-1E6194FFDC2B}"/>
              </a:ext>
            </a:extLst>
          </p:cNvPr>
          <p:cNvSpPr>
            <a:spLocks noGrp="1"/>
          </p:cNvSpPr>
          <p:nvPr/>
        </p:nvSpPr>
        <p:spPr>
          <a:xfrm>
            <a:off x="2000250" y="4724400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</p:sp>
      <p:sp>
        <p:nvSpPr>
          <p:cNvPr id="26" name="row-num-6">
            <a:extLst>
              <a:ext uri="{FF2B5EF4-FFF2-40B4-BE49-F238E27FC236}">
                <a16:creationId xmlns:a16="http://schemas.microsoft.com/office/drawing/2014/main" id="{39F7514F-109B-4DDC-A2EF-EBFC6FFFAF67}"/>
              </a:ext>
            </a:extLst>
          </p:cNvPr>
          <p:cNvSpPr>
            <a:spLocks noGrp="1"/>
          </p:cNvSpPr>
          <p:nvPr/>
        </p:nvSpPr>
        <p:spPr>
          <a:xfrm>
            <a:off x="1447800" y="49815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06</a:t>
            </a:r>
          </a:p>
        </p:txBody>
      </p:sp>
      <p:sp>
        <p:nvSpPr>
          <p:cNvPr id="27" name="row-text-6">
            <a:extLst>
              <a:ext uri="{FF2B5EF4-FFF2-40B4-BE49-F238E27FC236}">
                <a16:creationId xmlns:a16="http://schemas.microsoft.com/office/drawing/2014/main" id="{10541A91-73F9-4FA6-8B24-39809A7933FF}"/>
              </a:ext>
            </a:extLst>
          </p:cNvPr>
          <p:cNvSpPr>
            <a:spLocks noGrp="1"/>
          </p:cNvSpPr>
          <p:nvPr/>
        </p:nvSpPr>
        <p:spPr>
          <a:xfrm>
            <a:off x="2000250" y="4962525"/>
            <a:ext cx="1123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 validation: </a:t>
            </a:r>
            <a:r>
              <a:rPr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stricter channel-level routing evaluation</a:t>
            </a:r>
          </a:p>
        </p:txBody>
      </p:sp>
      <p:sp>
        <p:nvSpPr>
          <p:cNvPr id="28" name="row-rule-6">
            <a:extLst>
              <a:ext uri="{FF2B5EF4-FFF2-40B4-BE49-F238E27FC236}">
                <a16:creationId xmlns:a16="http://schemas.microsoft.com/office/drawing/2014/main" id="{D04FB501-C197-42DB-A086-E91AE4CB369F}"/>
              </a:ext>
            </a:extLst>
          </p:cNvPr>
          <p:cNvSpPr>
            <a:spLocks noGrp="1"/>
          </p:cNvSpPr>
          <p:nvPr/>
        </p:nvSpPr>
        <p:spPr>
          <a:xfrm>
            <a:off x="2000250" y="5419725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</p:sp>
      <p:sp>
        <p:nvSpPr>
          <p:cNvPr id="29" name="row-num-7">
            <a:extLst>
              <a:ext uri="{FF2B5EF4-FFF2-40B4-BE49-F238E27FC236}">
                <a16:creationId xmlns:a16="http://schemas.microsoft.com/office/drawing/2014/main" id="{4F3638AD-3891-4849-BADD-F5BA4149E97B}"/>
              </a:ext>
            </a:extLst>
          </p:cNvPr>
          <p:cNvSpPr>
            <a:spLocks noGrp="1"/>
          </p:cNvSpPr>
          <p:nvPr/>
        </p:nvSpPr>
        <p:spPr>
          <a:xfrm>
            <a:off x="1447800" y="56769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07</a:t>
            </a:r>
          </a:p>
        </p:txBody>
      </p:sp>
      <p:sp>
        <p:nvSpPr>
          <p:cNvPr id="30" name="row-text-7">
            <a:extLst>
              <a:ext uri="{FF2B5EF4-FFF2-40B4-BE49-F238E27FC236}">
                <a16:creationId xmlns:a16="http://schemas.microsoft.com/office/drawing/2014/main" id="{F7D7C1F4-CEA6-4415-A790-463A1A9A9B32}"/>
              </a:ext>
            </a:extLst>
          </p:cNvPr>
          <p:cNvSpPr>
            <a:spLocks noGrp="1"/>
          </p:cNvSpPr>
          <p:nvPr/>
        </p:nvSpPr>
        <p:spPr>
          <a:xfrm>
            <a:off x="2000250" y="5657850"/>
            <a:ext cx="1123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routing: </a:t>
            </a:r>
            <a:r>
              <a:rPr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embeddings and stricter channel-level routing evaluation</a:t>
            </a:r>
          </a:p>
        </p:txBody>
      </p:sp>
      <p:sp>
        <p:nvSpPr>
          <p:cNvPr id="31" name="row-rule-7">
            <a:extLst>
              <a:ext uri="{FF2B5EF4-FFF2-40B4-BE49-F238E27FC236}">
                <a16:creationId xmlns:a16="http://schemas.microsoft.com/office/drawing/2014/main" id="{1B4C3FBB-743D-44DA-87DB-1097DAB17ED3}"/>
              </a:ext>
            </a:extLst>
          </p:cNvPr>
          <p:cNvSpPr>
            <a:spLocks noGrp="1"/>
          </p:cNvSpPr>
          <p:nvPr/>
        </p:nvSpPr>
        <p:spPr>
          <a:xfrm>
            <a:off x="2000250" y="6115050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</p:sp>
      <p:sp>
        <p:nvSpPr>
          <p:cNvPr id="32" name="row-num-8">
            <a:extLst>
              <a:ext uri="{FF2B5EF4-FFF2-40B4-BE49-F238E27FC236}">
                <a16:creationId xmlns:a16="http://schemas.microsoft.com/office/drawing/2014/main" id="{27C4D2A4-F502-43A5-87AE-641F67FF0A22}"/>
              </a:ext>
            </a:extLst>
          </p:cNvPr>
          <p:cNvSpPr>
            <a:spLocks noGrp="1"/>
          </p:cNvSpPr>
          <p:nvPr/>
        </p:nvSpPr>
        <p:spPr>
          <a:xfrm>
            <a:off x="1447800" y="637222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08</a:t>
            </a:r>
          </a:p>
        </p:txBody>
      </p:sp>
      <p:sp>
        <p:nvSpPr>
          <p:cNvPr id="33" name="row-text-8">
            <a:extLst>
              <a:ext uri="{FF2B5EF4-FFF2-40B4-BE49-F238E27FC236}">
                <a16:creationId xmlns:a16="http://schemas.microsoft.com/office/drawing/2014/main" id="{2D69288F-1A1C-4BC8-A903-48D30837E478}"/>
              </a:ext>
            </a:extLst>
          </p:cNvPr>
          <p:cNvSpPr>
            <a:spLocks noGrp="1"/>
          </p:cNvSpPr>
          <p:nvPr/>
        </p:nvSpPr>
        <p:spPr>
          <a:xfrm>
            <a:off x="2000250" y="6353175"/>
            <a:ext cx="1123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Deployment: </a:t>
            </a:r>
            <a:r>
              <a:rPr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deployment with feature-extraction overhead</a:t>
            </a:r>
          </a:p>
        </p:txBody>
      </p:sp>
      <p:sp>
        <p:nvSpPr>
          <p:cNvPr id="34" name="row-rule-8">
            <a:extLst>
              <a:ext uri="{FF2B5EF4-FFF2-40B4-BE49-F238E27FC236}">
                <a16:creationId xmlns:a16="http://schemas.microsoft.com/office/drawing/2014/main" id="{CE068D31-657D-4AC2-AEEC-355C4DD1A4C9}"/>
              </a:ext>
            </a:extLst>
          </p:cNvPr>
          <p:cNvSpPr>
            <a:spLocks noGrp="1"/>
          </p:cNvSpPr>
          <p:nvPr/>
        </p:nvSpPr>
        <p:spPr>
          <a:xfrm>
            <a:off x="2000250" y="6810375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</p:sp>
      <p:cxnSp>
        <p:nvCxnSpPr>
          <p:cNvPr id="4" name="Connector 5">
            <a:extLst>
              <a:ext uri="{FF2B5EF4-FFF2-40B4-BE49-F238E27FC236}">
                <a16:creationId xmlns:a16="http://schemas.microsoft.com/office/drawing/2014/main" id="{36B6584C-E36C-609E-B212-CA703583D461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8188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footer-number-cover">
            <a:extLst>
              <a:ext uri="{FF2B5EF4-FFF2-40B4-BE49-F238E27FC236}">
                <a16:creationId xmlns:a16="http://schemas.microsoft.com/office/drawing/2014/main" id="{318820F8-B449-424F-8A91-255B2654C79A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</p:sp>
      <p:sp>
        <p:nvSpPr>
          <p:cNvPr id="3" name="footer-number-native">
            <a:extLst>
              <a:ext uri="{FF2B5EF4-FFF2-40B4-BE49-F238E27FC236}">
                <a16:creationId xmlns:a16="http://schemas.microsoft.com/office/drawing/2014/main" id="{3C4FCEED-6B41-4803-BA75-29788A4B7815}"/>
              </a:ext>
            </a:extLst>
          </p:cNvPr>
          <p:cNvSpPr>
            <a:spLocks noGrp="1"/>
          </p:cNvSpPr>
          <p:nvPr/>
        </p:nvSpPr>
        <p:spPr>
          <a:xfrm>
            <a:off x="13811250" y="8039100"/>
            <a:ext cx="552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36667" lnSpcReduction="10000"/>
          </a:bodyPr>
          <a:lstStyle/>
          <a:p>
            <a:pPr algn="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28/28</a:t>
            </a:r>
          </a:p>
        </p:txBody>
      </p:sp>
    </p:spTree>
    <p:extLst>
      <p:ext uri="{BB962C8B-B14F-4D97-AF65-F5344CB8AC3E}">
        <p14:creationId xmlns:p14="http://schemas.microsoft.com/office/powerpoint/2010/main" val="684969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925</Words>
  <Application>Microsoft Macintosh PowerPoint</Application>
  <DocSecurity>0</DocSecurity>
  <PresentationFormat>Custom</PresentationFormat>
  <Paragraphs>185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Salah Abdalhi</cp:lastModifiedBy>
  <cp:revision>4</cp:revision>
  <dcterms:created xsi:type="dcterms:W3CDTF">2026-07-06T08:02:12Z</dcterms:created>
  <dcterms:modified xsi:type="dcterms:W3CDTF">2026-07-06T20:58:49Z</dcterms:modified>
</cp:coreProperties>
</file>