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eb36e613498b2fc.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5a3a281caa8ab9b.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6b3a5509ade863b.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50dfdbd3830f49.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1e8497b2bda05ad.png"/>
  <Relationship Id="rId3" Type="http://schemas.openxmlformats.org/officeDocument/2006/relationships/image" Target="../media/image_3a5a25184408f585.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654c5b359df1c0d.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87fbd70f69357f8.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51fe6b5d661c09a.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07053a62416232d.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aac8b5e72b6c450.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284411"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9151140" y="344329"/>
            <a:ext cx="648561" cy="308039"/>
          </a:xfrm>
          <a:prstGeom prst="rect">
            <a:avLst/>
          </a:prstGeom>
          <a:noFill/>
          <a:ln>
            <a:noFill/>
          </a:ln>
        </p:spPr>
        <p:txBody>
          <a:bodyPr wrap="none" lIns="0" tIns="0" rIns="0" bIns="0" anchor="t" anchorCtr="0">
            <a:spAutoFit/>
          </a:bodyPr>
          <a:lstStyle/>
          <a:p>
            <a:pPr algn="r"/>
            <a:r>
              <a:rPr lang="en-US" sz="1580" dirty="0">
                <a:solidFill>
                  <a:srgbClr val="FFFFFF"/>
                </a:solidFill>
                <a:latin typeface="Anthropic Sans"/>
                <a:ea typeface="Anthropic Sans"/>
                <a:cs typeface="Anthropic Sans"/>
              </a:rPr>
              <a:t>Ahmed</a:t>
            </a:r>
          </a:p>
        </p:txBody>
      </p:sp>
      <p:sp>
        <p:nvSpPr>
          <p:cNvPr id="7" name="TextBox 7"/>
          <p:cNvSpPr txBox="1"/>
          <p:nvPr/>
        </p:nvSpPr>
        <p:spPr>
          <a:xfrm>
            <a:off x="666750" y="1340168"/>
            <a:ext cx="6372492"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Learning When to Use</a:t>
            </a:r>
          </a:p>
        </p:txBody>
      </p:sp>
      <p:sp>
        <p:nvSpPr>
          <p:cNvPr id="8" name="TextBox 8"/>
          <p:cNvSpPr txBox="1"/>
          <p:nvPr/>
        </p:nvSpPr>
        <p:spPr>
          <a:xfrm>
            <a:off x="666750" y="1987868"/>
            <a:ext cx="689017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Each Sorting Algorithm</a:t>
            </a:r>
          </a:p>
        </p:txBody>
      </p:sp>
      <p:sp>
        <p:nvSpPr>
          <p:cNvPr id="9" name="TextBox 9"/>
          <p:cNvSpPr txBox="1"/>
          <p:nvPr/>
        </p:nvSpPr>
        <p:spPr>
          <a:xfrm>
            <a:off x="712470" y="2805112"/>
            <a:ext cx="8680110"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machine learning selector for practical runtime behavior</a:t>
            </a:r>
          </a:p>
        </p:txBody>
      </p:sp>
      <p:sp>
        <p:nvSpPr>
          <p:cNvPr id="10" name="Rectangle 10"/>
          <p:cNvSpPr/>
          <p:nvPr/>
        </p:nvSpPr>
        <p:spPr>
          <a:xfrm>
            <a:off x="685800" y="3829050"/>
            <a:ext cx="3162300" cy="1352550"/>
          </a:xfrm>
          <a:prstGeom prst="roundRect">
            <a:avLst>
              <a:gd name="adj" fmla="val 4225"/>
            </a:avLst>
          </a:prstGeom>
          <a:solidFill>
            <a:srgbClr val="F8FAFC"/>
          </a:solidFill>
          <a:ln w="9525">
            <a:solidFill>
              <a:srgbClr val="E2E8F0"/>
            </a:solidFill>
          </a:ln>
        </p:spPr>
      </p:sp>
      <p:sp>
        <p:nvSpPr>
          <p:cNvPr id="11" name="TextBox 11"/>
          <p:cNvSpPr txBox="1"/>
          <p:nvPr/>
        </p:nvSpPr>
        <p:spPr>
          <a:xfrm>
            <a:off x="895350" y="3873818"/>
            <a:ext cx="1851987" cy="847725"/>
          </a:xfrm>
          <a:prstGeom prst="rect">
            <a:avLst/>
          </a:prstGeom>
          <a:noFill/>
          <a:ln>
            <a:noFill/>
          </a:ln>
        </p:spPr>
        <p:txBody>
          <a:bodyPr wrap="none" lIns="0" tIns="0" rIns="0" bIns="0" anchor="t" anchorCtr="0">
            <a:spAutoFit/>
          </a:bodyPr>
          <a:lstStyle/>
          <a:p>
            <a:pPr algn="l"/>
            <a:r>
              <a:rPr lang="en-US" sz="4350" b="1" dirty="0">
                <a:solidFill>
                  <a:srgbClr val="D97757"/>
                </a:solidFill>
                <a:latin typeface="Styrene A"/>
                <a:ea typeface="Styrene A"/>
                <a:cs typeface="Styrene A"/>
              </a:rPr>
              <a:t>93.1%</a:t>
            </a:r>
          </a:p>
        </p:txBody>
      </p:sp>
      <p:sp>
        <p:nvSpPr>
          <p:cNvPr id="12" name="TextBox 12"/>
          <p:cNvSpPr txBox="1"/>
          <p:nvPr/>
        </p:nvSpPr>
        <p:spPr>
          <a:xfrm>
            <a:off x="925449" y="4554379"/>
            <a:ext cx="194544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runtime gap closed</a:t>
            </a:r>
          </a:p>
        </p:txBody>
      </p:sp>
      <p:sp>
        <p:nvSpPr>
          <p:cNvPr id="13" name="Rectangle 13"/>
          <p:cNvSpPr/>
          <p:nvPr/>
        </p:nvSpPr>
        <p:spPr>
          <a:xfrm>
            <a:off x="4514850" y="3829050"/>
            <a:ext cx="3162300" cy="1352550"/>
          </a:xfrm>
          <a:prstGeom prst="roundRect">
            <a:avLst>
              <a:gd name="adj" fmla="val 4225"/>
            </a:avLst>
          </a:prstGeom>
          <a:solidFill>
            <a:srgbClr val="F8FAFC"/>
          </a:solidFill>
          <a:ln w="9525">
            <a:solidFill>
              <a:srgbClr val="E2E8F0"/>
            </a:solidFill>
          </a:ln>
        </p:spPr>
      </p:sp>
      <p:sp>
        <p:nvSpPr>
          <p:cNvPr id="14" name="TextBox 14"/>
          <p:cNvSpPr txBox="1"/>
          <p:nvPr/>
        </p:nvSpPr>
        <p:spPr>
          <a:xfrm>
            <a:off x="4724400" y="3873818"/>
            <a:ext cx="185198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76.1%</a:t>
            </a:r>
          </a:p>
        </p:txBody>
      </p:sp>
      <p:sp>
        <p:nvSpPr>
          <p:cNvPr id="15" name="TextBox 15"/>
          <p:cNvSpPr txBox="1"/>
          <p:nvPr/>
        </p:nvSpPr>
        <p:spPr>
          <a:xfrm>
            <a:off x="4754499" y="4554379"/>
            <a:ext cx="14789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test accuracy</a:t>
            </a:r>
          </a:p>
        </p:txBody>
      </p:sp>
      <p:sp>
        <p:nvSpPr>
          <p:cNvPr id="16" name="Rectangle 16"/>
          <p:cNvSpPr/>
          <p:nvPr/>
        </p:nvSpPr>
        <p:spPr>
          <a:xfrm>
            <a:off x="8343900" y="3829050"/>
            <a:ext cx="3162300" cy="1352550"/>
          </a:xfrm>
          <a:prstGeom prst="roundRect">
            <a:avLst>
              <a:gd name="adj" fmla="val 4225"/>
            </a:avLst>
          </a:prstGeom>
          <a:solidFill>
            <a:srgbClr val="F8FAFC"/>
          </a:solidFill>
          <a:ln w="9525">
            <a:solidFill>
              <a:srgbClr val="E2E8F0"/>
            </a:solidFill>
          </a:ln>
        </p:spPr>
      </p:sp>
      <p:sp>
        <p:nvSpPr>
          <p:cNvPr id="17" name="TextBox 17"/>
          <p:cNvSpPr txBox="1"/>
          <p:nvPr/>
        </p:nvSpPr>
        <p:spPr>
          <a:xfrm>
            <a:off x="8553450" y="3873818"/>
            <a:ext cx="185198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89.6%</a:t>
            </a:r>
          </a:p>
        </p:txBody>
      </p:sp>
      <p:sp>
        <p:nvSpPr>
          <p:cNvPr id="18" name="TextBox 18"/>
          <p:cNvSpPr txBox="1"/>
          <p:nvPr/>
        </p:nvSpPr>
        <p:spPr>
          <a:xfrm>
            <a:off x="8583549" y="4554379"/>
            <a:ext cx="23058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zero-regret decisions</a:t>
            </a:r>
          </a:p>
        </p:txBody>
      </p:sp>
      <p:sp>
        <p:nvSpPr>
          <p:cNvPr id="19" name="TextBox 19"/>
          <p:cNvSpPr txBox="1"/>
          <p:nvPr/>
        </p:nvSpPr>
        <p:spPr>
          <a:xfrm>
            <a:off x="677799" y="5783104"/>
            <a:ext cx="575314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Cyprus International University · Computer Engineering</a:t>
            </a:r>
          </a:p>
        </p:txBody>
      </p:sp>
      <p:sp>
        <p:nvSpPr>
          <p:cNvPr id="20" name="TextBox 20"/>
          <p:cNvSpPr txBox="1"/>
          <p:nvPr/>
        </p:nvSpPr>
        <p:spPr>
          <a:xfrm>
            <a:off x="677799" y="6097429"/>
            <a:ext cx="248801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Supervisor: Prof. Emre</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06775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How I will defend the work</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38784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I start from the decision problem, then show how the final selector was tested.</a:t>
            </a:r>
          </a:p>
        </p:txBody>
      </p:sp>
      <p:sp>
        <p:nvSpPr>
          <p:cNvPr id="9" name="Rectangle 9"/>
          <p:cNvSpPr/>
          <p:nvPr/>
        </p:nvSpPr>
        <p:spPr>
          <a:xfrm>
            <a:off x="666750" y="1581150"/>
            <a:ext cx="10858500" cy="3905250"/>
          </a:xfrm>
          <a:prstGeom prst="roundRect">
            <a:avLst>
              <a:gd name="adj" fmla="val 1951"/>
            </a:avLst>
          </a:prstGeom>
          <a:solidFill>
            <a:srgbClr val="FFFFFF"/>
          </a:solidFill>
          <a:ln w="9525">
            <a:solidFill>
              <a:srgbClr val="E2E8F0"/>
            </a:solidFill>
          </a:ln>
        </p:spPr>
      </p:sp>
      <p:sp>
        <p:nvSpPr>
          <p:cNvPr id="10" name="Ellipse 10"/>
          <p:cNvSpPr/>
          <p:nvPr/>
        </p:nvSpPr>
        <p:spPr>
          <a:xfrm>
            <a:off x="990600" y="1981200"/>
            <a:ext cx="419100" cy="419100"/>
          </a:xfrm>
          <a:prstGeom prst="ellipse">
            <a:avLst/>
          </a:prstGeom>
          <a:solidFill>
            <a:srgbClr val="D97757"/>
          </a:solidFill>
          <a:ln>
            <a:noFill/>
          </a:ln>
        </p:spPr>
      </p:sp>
      <p:sp>
        <p:nvSpPr>
          <p:cNvPr id="11" name="TextBox 11"/>
          <p:cNvSpPr txBox="1"/>
          <p:nvPr/>
        </p:nvSpPr>
        <p:spPr>
          <a:xfrm>
            <a:off x="1130926" y="20969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1</a:t>
            </a:r>
          </a:p>
        </p:txBody>
      </p:sp>
      <p:sp>
        <p:nvSpPr>
          <p:cNvPr id="12" name="TextBox 12"/>
          <p:cNvSpPr txBox="1"/>
          <p:nvPr/>
        </p:nvSpPr>
        <p:spPr>
          <a:xfrm>
            <a:off x="1607820" y="2033588"/>
            <a:ext cx="318193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Task and importance</a:t>
            </a:r>
          </a:p>
        </p:txBody>
      </p:sp>
      <p:sp>
        <p:nvSpPr>
          <p:cNvPr id="13" name="TextBox 13"/>
          <p:cNvSpPr txBox="1"/>
          <p:nvPr/>
        </p:nvSpPr>
        <p:spPr>
          <a:xfrm>
            <a:off x="5306949" y="2106454"/>
            <a:ext cx="624588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Why one sorting algorithm is not always the practical choice</a:t>
            </a:r>
          </a:p>
        </p:txBody>
      </p:sp>
      <p:sp>
        <p:nvSpPr>
          <p:cNvPr id="14" name="Ellipse 14"/>
          <p:cNvSpPr/>
          <p:nvPr/>
        </p:nvSpPr>
        <p:spPr>
          <a:xfrm>
            <a:off x="990600" y="2762250"/>
            <a:ext cx="419100" cy="419100"/>
          </a:xfrm>
          <a:prstGeom prst="ellipse">
            <a:avLst/>
          </a:prstGeom>
          <a:solidFill>
            <a:srgbClr val="D97757"/>
          </a:solidFill>
          <a:ln>
            <a:noFill/>
          </a:ln>
        </p:spPr>
      </p:sp>
      <p:sp>
        <p:nvSpPr>
          <p:cNvPr id="15" name="TextBox 15"/>
          <p:cNvSpPr txBox="1"/>
          <p:nvPr/>
        </p:nvSpPr>
        <p:spPr>
          <a:xfrm>
            <a:off x="1130926" y="28779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2</a:t>
            </a:r>
          </a:p>
        </p:txBody>
      </p:sp>
      <p:sp>
        <p:nvSpPr>
          <p:cNvPr id="16" name="TextBox 16"/>
          <p:cNvSpPr txBox="1"/>
          <p:nvPr/>
        </p:nvSpPr>
        <p:spPr>
          <a:xfrm>
            <a:off x="1607820" y="2814638"/>
            <a:ext cx="284813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Data and features</a:t>
            </a:r>
          </a:p>
        </p:txBody>
      </p:sp>
      <p:sp>
        <p:nvSpPr>
          <p:cNvPr id="17" name="TextBox 17"/>
          <p:cNvSpPr txBox="1"/>
          <p:nvPr/>
        </p:nvSpPr>
        <p:spPr>
          <a:xfrm>
            <a:off x="5306949" y="2887504"/>
            <a:ext cx="661720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Five domains, measured labels, and cheap structural summaries</a:t>
            </a:r>
          </a:p>
        </p:txBody>
      </p:sp>
      <p:sp>
        <p:nvSpPr>
          <p:cNvPr id="18" name="Ellipse 18"/>
          <p:cNvSpPr/>
          <p:nvPr/>
        </p:nvSpPr>
        <p:spPr>
          <a:xfrm>
            <a:off x="990600" y="3543300"/>
            <a:ext cx="419100" cy="419100"/>
          </a:xfrm>
          <a:prstGeom prst="ellipse">
            <a:avLst/>
          </a:prstGeom>
          <a:solidFill>
            <a:srgbClr val="D97757"/>
          </a:solidFill>
          <a:ln>
            <a:noFill/>
          </a:ln>
        </p:spPr>
      </p:sp>
      <p:sp>
        <p:nvSpPr>
          <p:cNvPr id="19" name="TextBox 19"/>
          <p:cNvSpPr txBox="1"/>
          <p:nvPr/>
        </p:nvSpPr>
        <p:spPr>
          <a:xfrm>
            <a:off x="1130926" y="36590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3</a:t>
            </a:r>
          </a:p>
        </p:txBody>
      </p:sp>
      <p:sp>
        <p:nvSpPr>
          <p:cNvPr id="20" name="TextBox 20"/>
          <p:cNvSpPr txBox="1"/>
          <p:nvPr/>
        </p:nvSpPr>
        <p:spPr>
          <a:xfrm>
            <a:off x="1607820" y="3595688"/>
            <a:ext cx="31973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Model and evaluation</a:t>
            </a:r>
          </a:p>
        </p:txBody>
      </p:sp>
      <p:sp>
        <p:nvSpPr>
          <p:cNvPr id="21" name="TextBox 21"/>
          <p:cNvSpPr txBox="1"/>
          <p:nvPr/>
        </p:nvSpPr>
        <p:spPr>
          <a:xfrm>
            <a:off x="5306949" y="3668554"/>
            <a:ext cx="59102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XGBoost v5, accuracy, regret, SBS, VBS, and gap closed</a:t>
            </a:r>
          </a:p>
        </p:txBody>
      </p:sp>
      <p:sp>
        <p:nvSpPr>
          <p:cNvPr id="22" name="Ellipse 22"/>
          <p:cNvSpPr/>
          <p:nvPr/>
        </p:nvSpPr>
        <p:spPr>
          <a:xfrm>
            <a:off x="990600" y="4324350"/>
            <a:ext cx="419100" cy="419100"/>
          </a:xfrm>
          <a:prstGeom prst="ellipse">
            <a:avLst/>
          </a:prstGeom>
          <a:solidFill>
            <a:srgbClr val="D97757"/>
          </a:solidFill>
          <a:ln>
            <a:noFill/>
          </a:ln>
        </p:spPr>
      </p:sp>
      <p:sp>
        <p:nvSpPr>
          <p:cNvPr id="23" name="TextBox 23"/>
          <p:cNvSpPr txBox="1"/>
          <p:nvPr/>
        </p:nvSpPr>
        <p:spPr>
          <a:xfrm>
            <a:off x="1130926" y="44400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4</a:t>
            </a:r>
          </a:p>
        </p:txBody>
      </p:sp>
      <p:sp>
        <p:nvSpPr>
          <p:cNvPr id="24" name="TextBox 24"/>
          <p:cNvSpPr txBox="1"/>
          <p:nvPr/>
        </p:nvSpPr>
        <p:spPr>
          <a:xfrm>
            <a:off x="1607820" y="4376738"/>
            <a:ext cx="29426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Evidence and limits</a:t>
            </a:r>
          </a:p>
        </p:txBody>
      </p:sp>
      <p:sp>
        <p:nvSpPr>
          <p:cNvPr id="25" name="TextBox 25"/>
          <p:cNvSpPr txBox="1"/>
          <p:nvPr/>
        </p:nvSpPr>
        <p:spPr>
          <a:xfrm>
            <a:off x="5306949" y="4449604"/>
            <a:ext cx="683716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Runtime value, hard cases, strict checks, and what I do not claim</a:t>
            </a:r>
          </a:p>
        </p:txBody>
      </p:sp>
      <p:sp>
        <p:nvSpPr>
          <p:cNvPr id="26" name="Line 2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7" name="TextBox 27"/>
          <p:cNvSpPr txBox="1"/>
          <p:nvPr/>
        </p:nvSpPr>
        <p:spPr>
          <a:xfrm>
            <a:off x="374904" y="6499860"/>
            <a:ext cx="1132103"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Defense route</a:t>
            </a:r>
          </a:p>
        </p:txBody>
      </p:sp>
      <p:sp>
        <p:nvSpPr>
          <p:cNvPr id="28" name="TextBox 28"/>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02 / 22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06005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task is one decision before sorting</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37690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Given one input array, predict which algorithm will finish fastest on that array.</a:t>
            </a:r>
          </a:p>
        </p:txBody>
      </p:sp>
      <p:sp>
        <p:nvSpPr>
          <p:cNvPr id="9" name="Rectangle 9"/>
          <p:cNvSpPr/>
          <p:nvPr/>
        </p:nvSpPr>
        <p:spPr>
          <a:xfrm>
            <a:off x="762000" y="1695450"/>
            <a:ext cx="2952750" cy="2857500"/>
          </a:xfrm>
          <a:prstGeom prst="roundRect">
            <a:avLst>
              <a:gd name="adj" fmla="val 2667"/>
            </a:avLst>
          </a:prstGeom>
          <a:solidFill>
            <a:srgbClr val="F8FAFC"/>
          </a:solidFill>
          <a:ln w="9525">
            <a:solidFill>
              <a:srgbClr val="E2E8F0"/>
            </a:solidFill>
          </a:ln>
        </p:spPr>
      </p:sp>
      <p:sp>
        <p:nvSpPr>
          <p:cNvPr id="10" name="TextBox 10"/>
          <p:cNvSpPr txBox="1"/>
          <p:nvPr/>
        </p:nvSpPr>
        <p:spPr>
          <a:xfrm>
            <a:off x="1036320" y="1871662"/>
            <a:ext cx="179797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Input array</a:t>
            </a:r>
          </a:p>
        </p:txBody>
      </p:sp>
      <p:sp>
        <p:nvSpPr>
          <p:cNvPr id="11" name="Rectangle 11"/>
          <p:cNvSpPr/>
          <p:nvPr/>
        </p:nvSpPr>
        <p:spPr>
          <a:xfrm>
            <a:off x="1066800" y="2514600"/>
            <a:ext cx="2038350" cy="323850"/>
          </a:xfrm>
          <a:prstGeom prst="rect">
            <a:avLst/>
          </a:prstGeom>
          <a:solidFill>
            <a:srgbClr val="FFFFFF"/>
          </a:solidFill>
          <a:ln w="9525">
            <a:solidFill>
              <a:srgbClr val="E2E8F0"/>
            </a:solidFill>
          </a:ln>
        </p:spPr>
      </p:sp>
      <p:sp>
        <p:nvSpPr>
          <p:cNvPr id="12" name="Rectangle 12"/>
          <p:cNvSpPr/>
          <p:nvPr/>
        </p:nvSpPr>
        <p:spPr>
          <a:xfrm>
            <a:off x="1066800" y="3048000"/>
            <a:ext cx="1676400" cy="323850"/>
          </a:xfrm>
          <a:prstGeom prst="rect">
            <a:avLst/>
          </a:prstGeom>
          <a:solidFill>
            <a:srgbClr val="FFFFFF"/>
          </a:solidFill>
          <a:ln w="9525">
            <a:solidFill>
              <a:srgbClr val="E2E8F0"/>
            </a:solidFill>
          </a:ln>
        </p:spPr>
      </p:sp>
      <p:sp>
        <p:nvSpPr>
          <p:cNvPr id="13" name="Rectangle 13"/>
          <p:cNvSpPr/>
          <p:nvPr/>
        </p:nvSpPr>
        <p:spPr>
          <a:xfrm>
            <a:off x="1066800" y="3581400"/>
            <a:ext cx="2247900" cy="323850"/>
          </a:xfrm>
          <a:prstGeom prst="rect">
            <a:avLst/>
          </a:prstGeom>
          <a:solidFill>
            <a:srgbClr val="FFFFFF"/>
          </a:solidFill>
          <a:ln w="9525">
            <a:solidFill>
              <a:srgbClr val="E2E8F0"/>
            </a:solidFill>
          </a:ln>
        </p:spPr>
      </p:sp>
      <p:sp>
        <p:nvSpPr>
          <p:cNvPr id="14" name="TextBox 14"/>
          <p:cNvSpPr txBox="1"/>
          <p:nvPr/>
        </p:nvSpPr>
        <p:spPr>
          <a:xfrm>
            <a:off x="1039749" y="4097179"/>
            <a:ext cx="331301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values, order, duplicates, runs</a:t>
            </a:r>
          </a:p>
        </p:txBody>
      </p:sp>
      <p:sp>
        <p:nvSpPr>
          <p:cNvPr id="15" name="Freeform 15"/>
          <p:cNvSpPr/>
          <p:nvPr/>
        </p:nvSpPr>
        <p:spPr>
          <a:xfrm>
            <a:off x="4095750" y="3105150"/>
            <a:ext cx="914400" cy="9525"/>
          </a:xfrm>
          <a:custGeom>
            <a:avLst/>
            <a:gdLst/>
            <a:ahLst/>
            <a:cxnLst/>
            <a:rect l="l" t="t" r="r" b="b"/>
            <a:pathLst>
              <a:path w="914400" h="9525">
                <a:moveTo>
                  <a:pt x="0" y="0"/>
                </a:moveTo>
                <a:lnTo>
                  <a:pt x="914400" y="0"/>
                </a:lnTo>
              </a:path>
            </a:pathLst>
          </a:custGeom>
          <a:solidFill>
            <a:srgbClr val="000000"/>
          </a:solidFill>
          <a:ln w="38100">
            <a:solidFill>
              <a:srgbClr val="D97757"/>
            </a:solidFill>
          </a:ln>
        </p:spPr>
      </p:sp>
      <p:sp>
        <p:nvSpPr>
          <p:cNvPr id="16" name="Freeform 16"/>
          <p:cNvSpPr/>
          <p:nvPr/>
        </p:nvSpPr>
        <p:spPr>
          <a:xfrm>
            <a:off x="4819650" y="2990850"/>
            <a:ext cx="190500" cy="228600"/>
          </a:xfrm>
          <a:custGeom>
            <a:avLst/>
            <a:gdLst/>
            <a:ahLst/>
            <a:cxnLst/>
            <a:rect l="l" t="t" r="r" b="b"/>
            <a:pathLst>
              <a:path w="190500" h="228600">
                <a:moveTo>
                  <a:pt x="190500" y="114300"/>
                </a:moveTo>
                <a:lnTo>
                  <a:pt x="0" y="0"/>
                </a:lnTo>
                <a:lnTo>
                  <a:pt x="0" y="228600"/>
                </a:lnTo>
                <a:close/>
              </a:path>
            </a:pathLst>
          </a:custGeom>
          <a:solidFill>
            <a:srgbClr val="D97757"/>
          </a:solidFill>
          <a:ln>
            <a:noFill/>
          </a:ln>
        </p:spPr>
      </p:sp>
      <p:sp>
        <p:nvSpPr>
          <p:cNvPr id="17" name="Rectangle 17"/>
          <p:cNvSpPr/>
          <p:nvPr/>
        </p:nvSpPr>
        <p:spPr>
          <a:xfrm>
            <a:off x="5295900" y="1695450"/>
            <a:ext cx="2571750" cy="2857500"/>
          </a:xfrm>
          <a:prstGeom prst="roundRect">
            <a:avLst>
              <a:gd name="adj" fmla="val 2963"/>
            </a:avLst>
          </a:prstGeom>
          <a:solidFill>
            <a:srgbClr val="FFFFFF"/>
          </a:solidFill>
          <a:ln w="9525">
            <a:solidFill>
              <a:srgbClr val="E2E8F0"/>
            </a:solidFill>
          </a:ln>
        </p:spPr>
      </p:sp>
      <p:sp>
        <p:nvSpPr>
          <p:cNvPr id="18" name="TextBox 18"/>
          <p:cNvSpPr txBox="1"/>
          <p:nvPr/>
        </p:nvSpPr>
        <p:spPr>
          <a:xfrm>
            <a:off x="5570220" y="1871662"/>
            <a:ext cx="135206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Selector</a:t>
            </a:r>
          </a:p>
        </p:txBody>
      </p:sp>
      <p:sp>
        <p:nvSpPr>
          <p:cNvPr id="19" name="TextBox 19"/>
          <p:cNvSpPr txBox="1"/>
          <p:nvPr/>
        </p:nvSpPr>
        <p:spPr>
          <a:xfrm>
            <a:off x="5572506" y="2453640"/>
            <a:ext cx="18235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features</a:t>
            </a:r>
          </a:p>
        </p:txBody>
      </p:sp>
      <p:sp>
        <p:nvSpPr>
          <p:cNvPr id="20" name="TextBox 20"/>
          <p:cNvSpPr txBox="1"/>
          <p:nvPr/>
        </p:nvSpPr>
        <p:spPr>
          <a:xfrm>
            <a:off x="5572506" y="2910840"/>
            <a:ext cx="161757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trained model</a:t>
            </a:r>
          </a:p>
        </p:txBody>
      </p:sp>
      <p:sp>
        <p:nvSpPr>
          <p:cNvPr id="21" name="TextBox 21"/>
          <p:cNvSpPr txBox="1"/>
          <p:nvPr/>
        </p:nvSpPr>
        <p:spPr>
          <a:xfrm>
            <a:off x="5572506" y="3368040"/>
            <a:ext cx="196893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one class output</a:t>
            </a:r>
          </a:p>
        </p:txBody>
      </p:sp>
      <p:sp>
        <p:nvSpPr>
          <p:cNvPr id="22" name="Freeform 22"/>
          <p:cNvSpPr/>
          <p:nvPr/>
        </p:nvSpPr>
        <p:spPr>
          <a:xfrm>
            <a:off x="8229600" y="3105150"/>
            <a:ext cx="914400" cy="9525"/>
          </a:xfrm>
          <a:custGeom>
            <a:avLst/>
            <a:gdLst/>
            <a:ahLst/>
            <a:cxnLst/>
            <a:rect l="l" t="t" r="r" b="b"/>
            <a:pathLst>
              <a:path w="914400" h="9525">
                <a:moveTo>
                  <a:pt x="0" y="0"/>
                </a:moveTo>
                <a:lnTo>
                  <a:pt x="914400" y="0"/>
                </a:lnTo>
              </a:path>
            </a:pathLst>
          </a:custGeom>
          <a:solidFill>
            <a:srgbClr val="000000"/>
          </a:solidFill>
          <a:ln w="38100">
            <a:solidFill>
              <a:srgbClr val="D97757"/>
            </a:solidFill>
          </a:ln>
        </p:spPr>
      </p:sp>
      <p:sp>
        <p:nvSpPr>
          <p:cNvPr id="23" name="Freeform 23"/>
          <p:cNvSpPr/>
          <p:nvPr/>
        </p:nvSpPr>
        <p:spPr>
          <a:xfrm>
            <a:off x="8953500" y="2990850"/>
            <a:ext cx="190500" cy="228600"/>
          </a:xfrm>
          <a:custGeom>
            <a:avLst/>
            <a:gdLst/>
            <a:ahLst/>
            <a:cxnLst/>
            <a:rect l="l" t="t" r="r" b="b"/>
            <a:pathLst>
              <a:path w="190500" h="228600">
                <a:moveTo>
                  <a:pt x="190500" y="114300"/>
                </a:moveTo>
                <a:lnTo>
                  <a:pt x="0" y="0"/>
                </a:lnTo>
                <a:lnTo>
                  <a:pt x="0" y="228600"/>
                </a:lnTo>
                <a:close/>
              </a:path>
            </a:pathLst>
          </a:custGeom>
          <a:solidFill>
            <a:srgbClr val="D97757"/>
          </a:solidFill>
          <a:ln>
            <a:noFill/>
          </a:ln>
        </p:spPr>
      </p:sp>
      <p:sp>
        <p:nvSpPr>
          <p:cNvPr id="24" name="Rectangle 24"/>
          <p:cNvSpPr/>
          <p:nvPr/>
        </p:nvSpPr>
        <p:spPr>
          <a:xfrm>
            <a:off x="9429750" y="1695450"/>
            <a:ext cx="2000250" cy="2857500"/>
          </a:xfrm>
          <a:prstGeom prst="roundRect">
            <a:avLst>
              <a:gd name="adj" fmla="val 3810"/>
            </a:avLst>
          </a:prstGeom>
          <a:solidFill>
            <a:srgbClr val="191919"/>
          </a:solidFill>
          <a:ln>
            <a:noFill/>
          </a:ln>
        </p:spPr>
      </p:sp>
      <p:sp>
        <p:nvSpPr>
          <p:cNvPr id="25" name="TextBox 25"/>
          <p:cNvSpPr txBox="1"/>
          <p:nvPr/>
        </p:nvSpPr>
        <p:spPr>
          <a:xfrm>
            <a:off x="9933699" y="2185035"/>
            <a:ext cx="992353" cy="528066"/>
          </a:xfrm>
          <a:prstGeom prst="rect">
            <a:avLst/>
          </a:prstGeom>
          <a:noFill/>
          <a:ln>
            <a:noFill/>
          </a:ln>
        </p:spPr>
        <p:txBody>
          <a:bodyPr wrap="none" lIns="0" tIns="0" rIns="0" bIns="0" anchor="t" anchorCtr="0">
            <a:spAutoFit/>
          </a:bodyPr>
          <a:lstStyle/>
          <a:p>
            <a:pPr algn="ctr"/>
            <a:r>
              <a:rPr lang="en-US" sz="2700" b="1" dirty="0">
                <a:solidFill>
                  <a:srgbClr val="FFFFFF"/>
                </a:solidFill>
                <a:latin typeface="Styrene A"/>
                <a:ea typeface="Styrene A"/>
                <a:cs typeface="Styrene A"/>
              </a:rPr>
              <a:t>Intro</a:t>
            </a:r>
          </a:p>
        </p:txBody>
      </p:sp>
      <p:sp>
        <p:nvSpPr>
          <p:cNvPr id="26" name="TextBox 26"/>
          <p:cNvSpPr txBox="1"/>
          <p:nvPr/>
        </p:nvSpPr>
        <p:spPr>
          <a:xfrm>
            <a:off x="9990406" y="2699385"/>
            <a:ext cx="878938" cy="528066"/>
          </a:xfrm>
          <a:prstGeom prst="rect">
            <a:avLst/>
          </a:prstGeom>
          <a:noFill/>
          <a:ln>
            <a:noFill/>
          </a:ln>
        </p:spPr>
        <p:txBody>
          <a:bodyPr wrap="none" lIns="0" tIns="0" rIns="0" bIns="0" anchor="t" anchorCtr="0">
            <a:spAutoFit/>
          </a:bodyPr>
          <a:lstStyle/>
          <a:p>
            <a:pPr algn="ctr"/>
            <a:r>
              <a:rPr lang="en-US" sz="2700" b="1" dirty="0">
                <a:solidFill>
                  <a:srgbClr val="FFFFFF"/>
                </a:solidFill>
                <a:latin typeface="Styrene A"/>
                <a:ea typeface="Styrene A"/>
                <a:cs typeface="Styrene A"/>
              </a:rPr>
              <a:t>Heap</a:t>
            </a:r>
          </a:p>
        </p:txBody>
      </p:sp>
      <p:sp>
        <p:nvSpPr>
          <p:cNvPr id="27" name="TextBox 27"/>
          <p:cNvSpPr txBox="1"/>
          <p:nvPr/>
        </p:nvSpPr>
        <p:spPr>
          <a:xfrm>
            <a:off x="10105080" y="3213735"/>
            <a:ext cx="649590" cy="528066"/>
          </a:xfrm>
          <a:prstGeom prst="rect">
            <a:avLst/>
          </a:prstGeom>
          <a:noFill/>
          <a:ln>
            <a:noFill/>
          </a:ln>
        </p:spPr>
        <p:txBody>
          <a:bodyPr wrap="none" lIns="0" tIns="0" rIns="0" bIns="0" anchor="t" anchorCtr="0">
            <a:spAutoFit/>
          </a:bodyPr>
          <a:lstStyle/>
          <a:p>
            <a:pPr algn="ctr"/>
            <a:r>
              <a:rPr lang="en-US" sz="2700" b="1" dirty="0">
                <a:solidFill>
                  <a:srgbClr val="D97757"/>
                </a:solidFill>
                <a:latin typeface="Styrene A"/>
                <a:ea typeface="Styrene A"/>
                <a:cs typeface="Styrene A"/>
              </a:rPr>
              <a:t>Tim</a:t>
            </a:r>
          </a:p>
        </p:txBody>
      </p:sp>
      <p:sp>
        <p:nvSpPr>
          <p:cNvPr id="28" name="TextBox 28"/>
          <p:cNvSpPr txBox="1"/>
          <p:nvPr/>
        </p:nvSpPr>
        <p:spPr>
          <a:xfrm>
            <a:off x="750570" y="5091112"/>
            <a:ext cx="434888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not replacing sorting.</a:t>
            </a:r>
          </a:p>
        </p:txBody>
      </p:sp>
      <p:sp>
        <p:nvSpPr>
          <p:cNvPr id="29" name="TextBox 29"/>
          <p:cNvSpPr txBox="1"/>
          <p:nvPr/>
        </p:nvSpPr>
        <p:spPr>
          <a:xfrm>
            <a:off x="750570" y="5472112"/>
            <a:ext cx="827152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choosing the better implementation for this input.</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1" name="TextBox 31"/>
          <p:cNvSpPr txBox="1"/>
          <p:nvPr/>
        </p:nvSpPr>
        <p:spPr>
          <a:xfrm>
            <a:off x="374904" y="6499860"/>
            <a:ext cx="1035156"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Task framing</a:t>
            </a:r>
          </a:p>
        </p:txBody>
      </p:sp>
      <p:sp>
        <p:nvSpPr>
          <p:cNvPr id="32" name="TextBox 32"/>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03 / 22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50185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Why this matters in practice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370126"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9" name="Rectangle 9"/>
          <p:cNvSpPr/>
          <p:nvPr/>
        </p:nvSpPr>
        <p:spPr>
          <a:xfrm>
            <a:off x="781050" y="1619250"/>
            <a:ext cx="4819650" cy="3429000"/>
          </a:xfrm>
          <a:prstGeom prst="roundRect">
            <a:avLst>
              <a:gd name="adj" fmla="val 2222"/>
            </a:avLst>
          </a:prstGeom>
          <a:solidFill>
            <a:srgbClr val="F8FAFC"/>
          </a:solidFill>
          <a:ln w="9525">
            <a:solidFill>
              <a:srgbClr val="E2E8F0"/>
            </a:solidFill>
          </a:ln>
        </p:spPr>
      </p:sp>
      <p:sp>
        <p:nvSpPr>
          <p:cNvPr id="10" name="TextBox 10"/>
          <p:cNvSpPr txBox="1"/>
          <p:nvPr/>
        </p:nvSpPr>
        <p:spPr>
          <a:xfrm>
            <a:off x="1086612" y="1802130"/>
            <a:ext cx="298094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11" name="TextBox 11"/>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2" name="TextBox 12"/>
          <p:cNvSpPr txBox="1"/>
          <p:nvPr/>
        </p:nvSpPr>
        <p:spPr>
          <a:xfrm>
            <a:off x="1093470" y="3186112"/>
            <a:ext cx="556186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3" name="TextBox 13"/>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4" name="TextBox 14"/>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5" name="Rectangle 15"/>
          <p:cNvSpPr/>
          <p:nvPr/>
        </p:nvSpPr>
        <p:spPr>
          <a:xfrm>
            <a:off x="6381750" y="1619250"/>
            <a:ext cx="2381250" cy="3429000"/>
          </a:xfrm>
          <a:prstGeom prst="roundRect">
            <a:avLst>
              <a:gd name="adj" fmla="val 3200"/>
            </a:avLst>
          </a:prstGeom>
          <a:solidFill>
            <a:srgbClr val="FFFFFF"/>
          </a:solidFill>
          <a:ln w="9525">
            <a:solidFill>
              <a:srgbClr val="E2E8F0"/>
            </a:solidFill>
          </a:ln>
        </p:spPr>
      </p:sp>
      <p:sp>
        <p:nvSpPr>
          <p:cNvPr id="16" name="TextBox 16"/>
          <p:cNvSpPr txBox="1"/>
          <p:nvPr/>
        </p:nvSpPr>
        <p:spPr>
          <a:xfrm>
            <a:off x="7087372" y="2110740"/>
            <a:ext cx="970007"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7" name="TextBox 17"/>
          <p:cNvSpPr txBox="1"/>
          <p:nvPr/>
        </p:nvSpPr>
        <p:spPr>
          <a:xfrm>
            <a:off x="7110512" y="2640330"/>
            <a:ext cx="92372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8" name="TextBox 18"/>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9" name="TextBox 19"/>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20" name="Rectangle 20"/>
          <p:cNvSpPr/>
          <p:nvPr/>
        </p:nvSpPr>
        <p:spPr>
          <a:xfrm>
            <a:off x="9124950" y="1619250"/>
            <a:ext cx="2381250" cy="3429000"/>
          </a:xfrm>
          <a:prstGeom prst="roundRect">
            <a:avLst>
              <a:gd name="adj" fmla="val 3200"/>
            </a:avLst>
          </a:prstGeom>
          <a:solidFill>
            <a:srgbClr val="191919"/>
          </a:solidFill>
          <a:ln>
            <a:noFill/>
          </a:ln>
        </p:spPr>
      </p:sp>
      <p:sp>
        <p:nvSpPr>
          <p:cNvPr id="21" name="TextBox 21"/>
          <p:cNvSpPr txBox="1"/>
          <p:nvPr/>
        </p:nvSpPr>
        <p:spPr>
          <a:xfrm>
            <a:off x="9902838" y="2110740"/>
            <a:ext cx="825475"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2" name="TextBox 22"/>
          <p:cNvSpPr txBox="1"/>
          <p:nvPr/>
        </p:nvSpPr>
        <p:spPr>
          <a:xfrm>
            <a:off x="9853712" y="2640330"/>
            <a:ext cx="92372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3" name="TextBox 23"/>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4" name="TextBox 24"/>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5" name="TextBox 25"/>
          <p:cNvSpPr txBox="1"/>
          <p:nvPr/>
        </p:nvSpPr>
        <p:spPr>
          <a:xfrm>
            <a:off x="769620" y="5233988"/>
            <a:ext cx="637907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6" name="TextBox 26"/>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7" name="Line 2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8" name="TextBox 28"/>
          <p:cNvSpPr txBox="1"/>
          <p:nvPr/>
        </p:nvSpPr>
        <p:spPr>
          <a:xfrm>
            <a:off x="374904" y="6499860"/>
            <a:ext cx="856976"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Motivation</a:t>
            </a:r>
          </a:p>
        </p:txBody>
      </p:sp>
      <p:sp>
        <p:nvSpPr>
          <p:cNvPr id="29" name="TextBox 2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04 / 22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44066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What previous work gives us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43351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9" name="Rectangle 9"/>
          <p:cNvSpPr/>
          <p:nvPr/>
        </p:nvSpPr>
        <p:spPr>
          <a:xfrm>
            <a:off x="685800" y="1524000"/>
            <a:ext cx="3276600" cy="3619500"/>
          </a:xfrm>
          <a:prstGeom prst="roundRect">
            <a:avLst>
              <a:gd name="adj" fmla="val 2326"/>
            </a:avLst>
          </a:prstGeom>
          <a:solidFill>
            <a:srgbClr val="F8FAFC"/>
          </a:solidFill>
          <a:ln w="9525">
            <a:solidFill>
              <a:srgbClr val="E2E8F0"/>
            </a:solidFill>
          </a:ln>
        </p:spPr>
      </p:sp>
      <p:sp>
        <p:nvSpPr>
          <p:cNvPr id="10" name="TextBox 10"/>
          <p:cNvSpPr txBox="1"/>
          <p:nvPr/>
        </p:nvSpPr>
        <p:spPr>
          <a:xfrm>
            <a:off x="960120" y="1795462"/>
            <a:ext cx="302183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11" name="TextBox 11"/>
          <p:cNvSpPr txBox="1"/>
          <p:nvPr/>
        </p:nvSpPr>
        <p:spPr>
          <a:xfrm>
            <a:off x="962406" y="2434590"/>
            <a:ext cx="2909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2" name="TextBox 12"/>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3" name="TextBox 13"/>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4" name="TextBox 14"/>
          <p:cNvSpPr txBox="1"/>
          <p:nvPr/>
        </p:nvSpPr>
        <p:spPr>
          <a:xfrm>
            <a:off x="963549" y="4040029"/>
            <a:ext cx="270536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5" name="TextBox 15"/>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6" name="Rectangle 16"/>
          <p:cNvSpPr/>
          <p:nvPr/>
        </p:nvSpPr>
        <p:spPr>
          <a:xfrm>
            <a:off x="4457700" y="1524000"/>
            <a:ext cx="3276600" cy="3619500"/>
          </a:xfrm>
          <a:prstGeom prst="roundRect">
            <a:avLst>
              <a:gd name="adj" fmla="val 2326"/>
            </a:avLst>
          </a:prstGeom>
          <a:solidFill>
            <a:srgbClr val="FFFFFF"/>
          </a:solidFill>
          <a:ln w="9525">
            <a:solidFill>
              <a:srgbClr val="E2E8F0"/>
            </a:solidFill>
          </a:ln>
        </p:spPr>
      </p:sp>
      <p:sp>
        <p:nvSpPr>
          <p:cNvPr id="17" name="TextBox 17"/>
          <p:cNvSpPr txBox="1"/>
          <p:nvPr/>
        </p:nvSpPr>
        <p:spPr>
          <a:xfrm>
            <a:off x="4732020" y="1795462"/>
            <a:ext cx="25927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8" name="TextBox 18"/>
          <p:cNvSpPr txBox="1"/>
          <p:nvPr/>
        </p:nvSpPr>
        <p:spPr>
          <a:xfrm>
            <a:off x="4734306" y="2434590"/>
            <a:ext cx="30189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9" name="TextBox 19"/>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20" name="TextBox 20"/>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21" name="TextBox 21"/>
          <p:cNvSpPr txBox="1"/>
          <p:nvPr/>
        </p:nvSpPr>
        <p:spPr>
          <a:xfrm>
            <a:off x="4735449" y="4040029"/>
            <a:ext cx="30129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2" name="TextBox 22"/>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3" name="Rectangle 23"/>
          <p:cNvSpPr/>
          <p:nvPr/>
        </p:nvSpPr>
        <p:spPr>
          <a:xfrm>
            <a:off x="8229600" y="1524000"/>
            <a:ext cx="3276600" cy="3619500"/>
          </a:xfrm>
          <a:prstGeom prst="roundRect">
            <a:avLst>
              <a:gd name="adj" fmla="val 2326"/>
            </a:avLst>
          </a:prstGeom>
          <a:solidFill>
            <a:srgbClr val="F8FAFC"/>
          </a:solidFill>
          <a:ln w="9525">
            <a:solidFill>
              <a:srgbClr val="E2E8F0"/>
            </a:solidFill>
          </a:ln>
        </p:spPr>
      </p:sp>
      <p:sp>
        <p:nvSpPr>
          <p:cNvPr id="24" name="TextBox 24"/>
          <p:cNvSpPr txBox="1"/>
          <p:nvPr/>
        </p:nvSpPr>
        <p:spPr>
          <a:xfrm>
            <a:off x="8503920" y="1795462"/>
            <a:ext cx="31500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5" name="TextBox 25"/>
          <p:cNvSpPr txBox="1"/>
          <p:nvPr/>
        </p:nvSpPr>
        <p:spPr>
          <a:xfrm>
            <a:off x="8506206" y="2434590"/>
            <a:ext cx="276058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6" name="TextBox 26"/>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7" name="TextBox 27"/>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8" name="TextBox 28"/>
          <p:cNvSpPr txBox="1"/>
          <p:nvPr/>
        </p:nvSpPr>
        <p:spPr>
          <a:xfrm>
            <a:off x="8507349" y="4040029"/>
            <a:ext cx="294985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9" name="TextBox 29"/>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30" name="TextBox 30"/>
          <p:cNvSpPr txBox="1"/>
          <p:nvPr/>
        </p:nvSpPr>
        <p:spPr>
          <a:xfrm>
            <a:off x="674370" y="5233988"/>
            <a:ext cx="600044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31" name="TextBox 31"/>
          <p:cNvSpPr txBox="1"/>
          <p:nvPr/>
        </p:nvSpPr>
        <p:spPr>
          <a:xfrm>
            <a:off x="674370" y="5614988"/>
            <a:ext cx="7514449"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2" name="Line 3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33" name="TextBox 33"/>
          <p:cNvSpPr txBox="1"/>
          <p:nvPr/>
        </p:nvSpPr>
        <p:spPr>
          <a:xfrm>
            <a:off x="374904" y="6499860"/>
            <a:ext cx="260212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Related work inside task framing</a:t>
            </a:r>
          </a:p>
        </p:txBody>
      </p:sp>
      <p:sp>
        <p:nvSpPr>
          <p:cNvPr id="34" name="TextBox 3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05 / 22</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294261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Research objective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80472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9" name="TextBox 9"/>
          <p:cNvSpPr txBox="1"/>
          <p:nvPr/>
        </p:nvSpPr>
        <p:spPr>
          <a:xfrm>
            <a:off x="838962" y="1564005"/>
            <a:ext cx="878005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10" name="TextBox 10"/>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11" name="Rectangle 11"/>
          <p:cNvSpPr/>
          <p:nvPr/>
        </p:nvSpPr>
        <p:spPr>
          <a:xfrm>
            <a:off x="857250" y="3238500"/>
            <a:ext cx="3143250" cy="1428750"/>
          </a:xfrm>
          <a:prstGeom prst="roundRect">
            <a:avLst>
              <a:gd name="adj" fmla="val 5333"/>
            </a:avLst>
          </a:prstGeom>
          <a:solidFill>
            <a:srgbClr val="F8FAFC"/>
          </a:solidFill>
          <a:ln w="9525">
            <a:solidFill>
              <a:srgbClr val="E2E8F0"/>
            </a:solidFill>
          </a:ln>
        </p:spPr>
      </p:sp>
      <p:sp>
        <p:nvSpPr>
          <p:cNvPr id="12" name="TextBox 12"/>
          <p:cNvSpPr txBox="1"/>
          <p:nvPr/>
        </p:nvSpPr>
        <p:spPr>
          <a:xfrm>
            <a:off x="1112520" y="3490912"/>
            <a:ext cx="143213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3" name="TextBox 13"/>
          <p:cNvSpPr txBox="1"/>
          <p:nvPr/>
        </p:nvSpPr>
        <p:spPr>
          <a:xfrm>
            <a:off x="1114806" y="3977640"/>
            <a:ext cx="257107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4" name="Rectangle 14"/>
          <p:cNvSpPr/>
          <p:nvPr/>
        </p:nvSpPr>
        <p:spPr>
          <a:xfrm>
            <a:off x="4524375" y="3238500"/>
            <a:ext cx="3143250" cy="1428750"/>
          </a:xfrm>
          <a:prstGeom prst="roundRect">
            <a:avLst>
              <a:gd name="adj" fmla="val 5333"/>
            </a:avLst>
          </a:prstGeom>
          <a:solidFill>
            <a:srgbClr val="F8FAFC"/>
          </a:solidFill>
          <a:ln w="9525">
            <a:solidFill>
              <a:srgbClr val="E2E8F0"/>
            </a:solidFill>
          </a:ln>
        </p:spPr>
      </p:sp>
      <p:sp>
        <p:nvSpPr>
          <p:cNvPr id="15" name="TextBox 15"/>
          <p:cNvSpPr txBox="1"/>
          <p:nvPr/>
        </p:nvSpPr>
        <p:spPr>
          <a:xfrm>
            <a:off x="4779645" y="3490912"/>
            <a:ext cx="108229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6" name="TextBox 16"/>
          <p:cNvSpPr txBox="1"/>
          <p:nvPr/>
        </p:nvSpPr>
        <p:spPr>
          <a:xfrm>
            <a:off x="4781931" y="3977640"/>
            <a:ext cx="289828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7" name="Rectangle 17"/>
          <p:cNvSpPr/>
          <p:nvPr/>
        </p:nvSpPr>
        <p:spPr>
          <a:xfrm>
            <a:off x="8191500" y="3238500"/>
            <a:ext cx="3143250" cy="1428750"/>
          </a:xfrm>
          <a:prstGeom prst="roundRect">
            <a:avLst>
              <a:gd name="adj" fmla="val 5333"/>
            </a:avLst>
          </a:prstGeom>
          <a:solidFill>
            <a:srgbClr val="191919"/>
          </a:solidFill>
          <a:ln>
            <a:noFill/>
          </a:ln>
        </p:spPr>
      </p:sp>
      <p:sp>
        <p:nvSpPr>
          <p:cNvPr id="18" name="TextBox 18"/>
          <p:cNvSpPr txBox="1"/>
          <p:nvPr/>
        </p:nvSpPr>
        <p:spPr>
          <a:xfrm>
            <a:off x="8446770" y="3490912"/>
            <a:ext cx="213182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9" name="TextBox 19"/>
          <p:cNvSpPr txBox="1"/>
          <p:nvPr/>
        </p:nvSpPr>
        <p:spPr>
          <a:xfrm>
            <a:off x="8449056" y="3977640"/>
            <a:ext cx="2126173"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20" name="TextBox 20"/>
          <p:cNvSpPr txBox="1"/>
          <p:nvPr/>
        </p:nvSpPr>
        <p:spPr>
          <a:xfrm>
            <a:off x="845820" y="5233988"/>
            <a:ext cx="1192184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44691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Research question</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06 / 22</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15756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data was intentionally not from one shape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29342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9" name="TextBox 9"/>
          <p:cNvSpPr txBox="1"/>
          <p:nvPr/>
        </p:nvSpPr>
        <p:spPr>
          <a:xfrm>
            <a:off x="685800" y="1416368"/>
            <a:ext cx="2615542"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10" name="TextBox 10"/>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11" name="Rectangle 11"/>
          <p:cNvSpPr/>
          <p:nvPr/>
        </p:nvSpPr>
        <p:spPr>
          <a:xfrm>
            <a:off x="762000" y="3048000"/>
            <a:ext cx="2381250" cy="952500"/>
          </a:xfrm>
          <a:prstGeom prst="roundRect">
            <a:avLst>
              <a:gd name="adj" fmla="val 8000"/>
            </a:avLst>
          </a:prstGeom>
          <a:solidFill>
            <a:srgbClr val="F8FAFC"/>
          </a:solidFill>
          <a:ln w="9525">
            <a:solidFill>
              <a:srgbClr val="E2E8F0"/>
            </a:solidFill>
          </a:ln>
        </p:spPr>
      </p:sp>
      <p:sp>
        <p:nvSpPr>
          <p:cNvPr id="12" name="TextBox 12"/>
          <p:cNvSpPr txBox="1"/>
          <p:nvPr/>
        </p:nvSpPr>
        <p:spPr>
          <a:xfrm>
            <a:off x="981675" y="3376612"/>
            <a:ext cx="19419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3" name="Rectangle 13"/>
          <p:cNvSpPr/>
          <p:nvPr/>
        </p:nvSpPr>
        <p:spPr>
          <a:xfrm>
            <a:off x="3524250" y="3048000"/>
            <a:ext cx="2381250" cy="952500"/>
          </a:xfrm>
          <a:prstGeom prst="roundRect">
            <a:avLst>
              <a:gd name="adj" fmla="val 8000"/>
            </a:avLst>
          </a:prstGeom>
          <a:solidFill>
            <a:srgbClr val="FFFFFF"/>
          </a:solidFill>
          <a:ln w="9525">
            <a:solidFill>
              <a:srgbClr val="E2E8F0"/>
            </a:solidFill>
          </a:ln>
        </p:spPr>
      </p:sp>
      <p:sp>
        <p:nvSpPr>
          <p:cNvPr id="14" name="TextBox 14"/>
          <p:cNvSpPr txBox="1"/>
          <p:nvPr/>
        </p:nvSpPr>
        <p:spPr>
          <a:xfrm>
            <a:off x="4282250" y="3376612"/>
            <a:ext cx="865251"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5" name="Rectangle 15"/>
          <p:cNvSpPr/>
          <p:nvPr/>
        </p:nvSpPr>
        <p:spPr>
          <a:xfrm>
            <a:off x="6286500" y="3048000"/>
            <a:ext cx="2381250" cy="952500"/>
          </a:xfrm>
          <a:prstGeom prst="roundRect">
            <a:avLst>
              <a:gd name="adj" fmla="val 8000"/>
            </a:avLst>
          </a:prstGeom>
          <a:solidFill>
            <a:srgbClr val="F8FAFC"/>
          </a:solidFill>
          <a:ln w="9525">
            <a:solidFill>
              <a:srgbClr val="E2E8F0"/>
            </a:solidFill>
          </a:ln>
        </p:spPr>
      </p:sp>
      <p:sp>
        <p:nvSpPr>
          <p:cNvPr id="16" name="TextBox 16"/>
          <p:cNvSpPr txBox="1"/>
          <p:nvPr/>
        </p:nvSpPr>
        <p:spPr>
          <a:xfrm>
            <a:off x="6961203" y="3376612"/>
            <a:ext cx="1031843"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7" name="Rectangle 17"/>
          <p:cNvSpPr/>
          <p:nvPr/>
        </p:nvSpPr>
        <p:spPr>
          <a:xfrm>
            <a:off x="9048750" y="3048000"/>
            <a:ext cx="2381250" cy="952500"/>
          </a:xfrm>
          <a:prstGeom prst="roundRect">
            <a:avLst>
              <a:gd name="adj" fmla="val 8000"/>
            </a:avLst>
          </a:prstGeom>
          <a:solidFill>
            <a:srgbClr val="FFFFFF"/>
          </a:solidFill>
          <a:ln w="9525">
            <a:solidFill>
              <a:srgbClr val="E2E8F0"/>
            </a:solidFill>
          </a:ln>
        </p:spPr>
      </p:sp>
      <p:sp>
        <p:nvSpPr>
          <p:cNvPr id="18" name="TextBox 18"/>
          <p:cNvSpPr txBox="1"/>
          <p:nvPr/>
        </p:nvSpPr>
        <p:spPr>
          <a:xfrm>
            <a:off x="9609623" y="3376612"/>
            <a:ext cx="1259504"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9" name="Rectangle 19"/>
          <p:cNvSpPr/>
          <p:nvPr/>
        </p:nvSpPr>
        <p:spPr>
          <a:xfrm>
            <a:off x="4905375" y="4429125"/>
            <a:ext cx="2381250" cy="952500"/>
          </a:xfrm>
          <a:prstGeom prst="roundRect">
            <a:avLst>
              <a:gd name="adj" fmla="val 8000"/>
            </a:avLst>
          </a:prstGeom>
          <a:solidFill>
            <a:srgbClr val="191919"/>
          </a:solidFill>
          <a:ln>
            <a:noFill/>
          </a:ln>
        </p:spPr>
      </p:sp>
      <p:sp>
        <p:nvSpPr>
          <p:cNvPr id="20" name="TextBox 20"/>
          <p:cNvSpPr txBox="1"/>
          <p:nvPr/>
        </p:nvSpPr>
        <p:spPr>
          <a:xfrm>
            <a:off x="5246894" y="4757738"/>
            <a:ext cx="1698212"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21" name="TextBox 21"/>
          <p:cNvSpPr txBox="1"/>
          <p:nvPr/>
        </p:nvSpPr>
        <p:spPr>
          <a:xfrm>
            <a:off x="752856" y="5615940"/>
            <a:ext cx="123120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09152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Dataset scale</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07 / 22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58348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Labels came from measured runtime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97446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9" name="Image 9"/>
          <p:cNvPicPr>
            <a:picLocks noChangeAspect="1"/>
          </p:cNvPicPr>
          <p:nvPr/>
        </p:nvPicPr>
        <p:blipFill>
          <a:blip r:embed="rId2"/>
          <a:stretch>
            <a:fillRect/>
          </a:stretch>
        </p:blipFill>
        <p:spPr>
          <a:xfrm>
            <a:off x="3261759" y="1381125"/>
            <a:ext cx="5668483" cy="3143250"/>
          </a:xfrm>
          <a:prstGeom prst="rect">
            <a:avLst/>
          </a:prstGeom>
        </p:spPr>
      </p:pic>
      <p:sp>
        <p:nvSpPr>
          <p:cNvPr id="10" name="Rectangle 10"/>
          <p:cNvSpPr/>
          <p:nvPr/>
        </p:nvSpPr>
        <p:spPr>
          <a:xfrm>
            <a:off x="762000" y="4810125"/>
            <a:ext cx="1981200" cy="742950"/>
          </a:xfrm>
          <a:prstGeom prst="roundRect">
            <a:avLst>
              <a:gd name="adj" fmla="val 10256"/>
            </a:avLst>
          </a:prstGeom>
          <a:solidFill>
            <a:srgbClr val="F8FAFC"/>
          </a:solidFill>
          <a:ln w="9525">
            <a:solidFill>
              <a:srgbClr val="E2E8F0"/>
            </a:solidFill>
          </a:ln>
        </p:spPr>
      </p:sp>
      <p:sp>
        <p:nvSpPr>
          <p:cNvPr id="11" name="TextBox 11"/>
          <p:cNvSpPr txBox="1"/>
          <p:nvPr/>
        </p:nvSpPr>
        <p:spPr>
          <a:xfrm>
            <a:off x="1506626" y="5063490"/>
            <a:ext cx="49194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2" name="Rectangle 12"/>
          <p:cNvSpPr/>
          <p:nvPr/>
        </p:nvSpPr>
        <p:spPr>
          <a:xfrm>
            <a:off x="3048000" y="4810125"/>
            <a:ext cx="1981200" cy="742950"/>
          </a:xfrm>
          <a:prstGeom prst="roundRect">
            <a:avLst>
              <a:gd name="adj" fmla="val 10256"/>
            </a:avLst>
          </a:prstGeom>
          <a:solidFill>
            <a:srgbClr val="F8FAFC"/>
          </a:solidFill>
          <a:ln w="9525">
            <a:solidFill>
              <a:srgbClr val="E2E8F0"/>
            </a:solidFill>
          </a:ln>
        </p:spPr>
      </p:sp>
      <p:sp>
        <p:nvSpPr>
          <p:cNvPr id="13" name="TextBox 13"/>
          <p:cNvSpPr txBox="1"/>
          <p:nvPr/>
        </p:nvSpPr>
        <p:spPr>
          <a:xfrm>
            <a:off x="3818230" y="5063490"/>
            <a:ext cx="440741"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4" name="Rectangle 14"/>
          <p:cNvSpPr/>
          <p:nvPr/>
        </p:nvSpPr>
        <p:spPr>
          <a:xfrm>
            <a:off x="5334000" y="4810125"/>
            <a:ext cx="1981200" cy="742950"/>
          </a:xfrm>
          <a:prstGeom prst="roundRect">
            <a:avLst>
              <a:gd name="adj" fmla="val 10256"/>
            </a:avLst>
          </a:prstGeom>
          <a:solidFill>
            <a:srgbClr val="F8FAFC"/>
          </a:solidFill>
          <a:ln w="9525">
            <a:solidFill>
              <a:srgbClr val="E2E8F0"/>
            </a:solidFill>
          </a:ln>
        </p:spPr>
      </p:sp>
      <p:sp>
        <p:nvSpPr>
          <p:cNvPr id="15" name="TextBox 15"/>
          <p:cNvSpPr txBox="1"/>
          <p:nvPr/>
        </p:nvSpPr>
        <p:spPr>
          <a:xfrm>
            <a:off x="6033821" y="5063490"/>
            <a:ext cx="58155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6" name="Rectangle 16"/>
          <p:cNvSpPr/>
          <p:nvPr/>
        </p:nvSpPr>
        <p:spPr>
          <a:xfrm>
            <a:off x="7620000" y="4810125"/>
            <a:ext cx="1981200" cy="742950"/>
          </a:xfrm>
          <a:prstGeom prst="roundRect">
            <a:avLst>
              <a:gd name="adj" fmla="val 10256"/>
            </a:avLst>
          </a:prstGeom>
          <a:solidFill>
            <a:srgbClr val="F8FAFC"/>
          </a:solidFill>
          <a:ln w="9525">
            <a:solidFill>
              <a:srgbClr val="E2E8F0"/>
            </a:solidFill>
          </a:ln>
        </p:spPr>
      </p:sp>
      <p:sp>
        <p:nvSpPr>
          <p:cNvPr id="17" name="TextBox 17"/>
          <p:cNvSpPr txBox="1"/>
          <p:nvPr/>
        </p:nvSpPr>
        <p:spPr>
          <a:xfrm>
            <a:off x="8185404" y="5063490"/>
            <a:ext cx="850392"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8" name="Rectangle 18"/>
          <p:cNvSpPr/>
          <p:nvPr/>
        </p:nvSpPr>
        <p:spPr>
          <a:xfrm>
            <a:off x="9906000" y="4810125"/>
            <a:ext cx="1600200" cy="742950"/>
          </a:xfrm>
          <a:prstGeom prst="roundRect">
            <a:avLst>
              <a:gd name="adj" fmla="val 10256"/>
            </a:avLst>
          </a:prstGeom>
          <a:solidFill>
            <a:srgbClr val="191919"/>
          </a:solidFill>
          <a:ln>
            <a:noFill/>
          </a:ln>
        </p:spPr>
      </p:sp>
      <p:sp>
        <p:nvSpPr>
          <p:cNvPr id="19" name="TextBox 19"/>
          <p:cNvSpPr txBox="1"/>
          <p:nvPr/>
        </p:nvSpPr>
        <p:spPr>
          <a:xfrm>
            <a:off x="10178491" y="5063490"/>
            <a:ext cx="1055218"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20" name="TextBox 20"/>
          <p:cNvSpPr txBox="1"/>
          <p:nvPr/>
        </p:nvSpPr>
        <p:spPr>
          <a:xfrm>
            <a:off x="753999" y="5754529"/>
            <a:ext cx="1117593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75396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Transforms and labels</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08 / 22</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52303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Features translate array shape into model input</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191808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9" name="Image 9"/>
          <p:cNvPicPr>
            <a:picLocks noChangeAspect="1"/>
          </p:cNvPicPr>
          <p:nvPr/>
        </p:nvPicPr>
        <p:blipFill>
          <a:blip r:embed="rId2"/>
          <a:stretch>
            <a:fillRect/>
          </a:stretch>
        </p:blipFill>
        <p:spPr>
          <a:xfrm>
            <a:off x="666750" y="1410891"/>
            <a:ext cx="5334000" cy="3750469"/>
          </a:xfrm>
          <a:prstGeom prst="rect">
            <a:avLst/>
          </a:prstGeom>
        </p:spPr>
      </p:pic>
      <p:sp>
        <p:nvSpPr>
          <p:cNvPr id="10" name="Rectangle 10"/>
          <p:cNvSpPr/>
          <p:nvPr/>
        </p:nvSpPr>
        <p:spPr>
          <a:xfrm>
            <a:off x="6477000" y="1524000"/>
            <a:ext cx="2190750" cy="3143250"/>
          </a:xfrm>
          <a:prstGeom prst="roundRect">
            <a:avLst>
              <a:gd name="adj" fmla="val 3478"/>
            </a:avLst>
          </a:prstGeom>
          <a:solidFill>
            <a:srgbClr val="F8FAFC"/>
          </a:solidFill>
          <a:ln w="9525">
            <a:solidFill>
              <a:srgbClr val="E2E8F0"/>
            </a:solidFill>
          </a:ln>
        </p:spPr>
      </p:sp>
      <p:sp>
        <p:nvSpPr>
          <p:cNvPr id="11" name="TextBox 11"/>
          <p:cNvSpPr txBox="1"/>
          <p:nvPr/>
        </p:nvSpPr>
        <p:spPr>
          <a:xfrm>
            <a:off x="6751320" y="1814512"/>
            <a:ext cx="82696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2" name="TextBox 12"/>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3" name="TextBox 13"/>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4" name="TextBox 14"/>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5" name="Rectangle 15"/>
          <p:cNvSpPr/>
          <p:nvPr/>
        </p:nvSpPr>
        <p:spPr>
          <a:xfrm>
            <a:off x="8934450" y="1524000"/>
            <a:ext cx="2190750" cy="3143250"/>
          </a:xfrm>
          <a:prstGeom prst="roundRect">
            <a:avLst>
              <a:gd name="adj" fmla="val 3478"/>
            </a:avLst>
          </a:prstGeom>
          <a:solidFill>
            <a:srgbClr val="FFFFFF"/>
          </a:solidFill>
          <a:ln w="9525">
            <a:solidFill>
              <a:srgbClr val="E2E8F0"/>
            </a:solidFill>
          </a:ln>
        </p:spPr>
      </p:sp>
      <p:sp>
        <p:nvSpPr>
          <p:cNvPr id="16" name="TextBox 16"/>
          <p:cNvSpPr txBox="1"/>
          <p:nvPr/>
        </p:nvSpPr>
        <p:spPr>
          <a:xfrm>
            <a:off x="9208770" y="1814512"/>
            <a:ext cx="90737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7" name="TextBox 17"/>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8" name="TextBox 18"/>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9" name="TextBox 19"/>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20" name="TextBox 20"/>
          <p:cNvSpPr txBox="1"/>
          <p:nvPr/>
        </p:nvSpPr>
        <p:spPr>
          <a:xfrm>
            <a:off x="6465570" y="4948238"/>
            <a:ext cx="572768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21" name="TextBox 21"/>
          <p:cNvSpPr txBox="1"/>
          <p:nvPr/>
        </p:nvSpPr>
        <p:spPr>
          <a:xfrm>
            <a:off x="6465570" y="5329238"/>
            <a:ext cx="628805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535762"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Feature extraction</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09 / 22</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919298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must be cheaper than the decision it improves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206635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9" name="Rectangle 9"/>
          <p:cNvSpPr/>
          <p:nvPr/>
        </p:nvSpPr>
        <p:spPr>
          <a:xfrm>
            <a:off x="857250" y="1619250"/>
            <a:ext cx="4762500" cy="3619500"/>
          </a:xfrm>
          <a:prstGeom prst="roundRect">
            <a:avLst>
              <a:gd name="adj" fmla="val 2105"/>
            </a:avLst>
          </a:prstGeom>
          <a:solidFill>
            <a:srgbClr val="F8FAFC"/>
          </a:solidFill>
          <a:ln w="9525">
            <a:solidFill>
              <a:srgbClr val="E2E8F0"/>
            </a:solidFill>
          </a:ln>
        </p:spPr>
      </p:sp>
      <p:sp>
        <p:nvSpPr>
          <p:cNvPr id="10" name="TextBox 10"/>
          <p:cNvSpPr txBox="1"/>
          <p:nvPr/>
        </p:nvSpPr>
        <p:spPr>
          <a:xfrm>
            <a:off x="1131570" y="1947862"/>
            <a:ext cx="354714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11" name="TextBox 11"/>
          <p:cNvSpPr txBox="1"/>
          <p:nvPr/>
        </p:nvSpPr>
        <p:spPr>
          <a:xfrm>
            <a:off x="1131570" y="2614612"/>
            <a:ext cx="297133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2" name="TextBox 12"/>
          <p:cNvSpPr txBox="1"/>
          <p:nvPr/>
        </p:nvSpPr>
        <p:spPr>
          <a:xfrm>
            <a:off x="1131570" y="3090862"/>
            <a:ext cx="492416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3" name="TextBox 13"/>
          <p:cNvSpPr txBox="1"/>
          <p:nvPr/>
        </p:nvSpPr>
        <p:spPr>
          <a:xfrm>
            <a:off x="1131570" y="3567112"/>
            <a:ext cx="406086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4" name="Rectangle 14"/>
          <p:cNvSpPr/>
          <p:nvPr/>
        </p:nvSpPr>
        <p:spPr>
          <a:xfrm>
            <a:off x="6572250" y="1619250"/>
            <a:ext cx="4762500" cy="3619500"/>
          </a:xfrm>
          <a:prstGeom prst="roundRect">
            <a:avLst>
              <a:gd name="adj" fmla="val 2105"/>
            </a:avLst>
          </a:prstGeom>
          <a:solidFill>
            <a:srgbClr val="FFFFFF"/>
          </a:solidFill>
          <a:ln w="9525">
            <a:solidFill>
              <a:srgbClr val="E2E8F0"/>
            </a:solidFill>
          </a:ln>
        </p:spPr>
      </p:sp>
      <p:sp>
        <p:nvSpPr>
          <p:cNvPr id="15" name="TextBox 15"/>
          <p:cNvSpPr txBox="1"/>
          <p:nvPr/>
        </p:nvSpPr>
        <p:spPr>
          <a:xfrm>
            <a:off x="6846570" y="1947862"/>
            <a:ext cx="46922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6" name="TextBox 16"/>
          <p:cNvSpPr txBox="1"/>
          <p:nvPr/>
        </p:nvSpPr>
        <p:spPr>
          <a:xfrm>
            <a:off x="6846570" y="2614612"/>
            <a:ext cx="295552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7" name="TextBox 17"/>
          <p:cNvSpPr txBox="1"/>
          <p:nvPr/>
        </p:nvSpPr>
        <p:spPr>
          <a:xfrm>
            <a:off x="6846570" y="3090862"/>
            <a:ext cx="286494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8" name="TextBox 18"/>
          <p:cNvSpPr txBox="1"/>
          <p:nvPr/>
        </p:nvSpPr>
        <p:spPr>
          <a:xfrm>
            <a:off x="6846570" y="3567112"/>
            <a:ext cx="2683192"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9" name="TextBox 19"/>
          <p:cNvSpPr txBox="1"/>
          <p:nvPr/>
        </p:nvSpPr>
        <p:spPr>
          <a:xfrm>
            <a:off x="6846570" y="4043362"/>
            <a:ext cx="390945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20" name="TextBox 20"/>
          <p:cNvSpPr txBox="1"/>
          <p:nvPr/>
        </p:nvSpPr>
        <p:spPr>
          <a:xfrm>
            <a:off x="848106" y="5615940"/>
            <a:ext cx="1014304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22867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Prediction cost</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10 / 22</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63317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main system is one general v5 selector</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9" name="Image 9"/>
          <p:cNvPicPr>
            <a:picLocks noChangeAspect="1"/>
          </p:cNvPicPr>
          <p:nvPr/>
        </p:nvPicPr>
        <p:blipFill>
          <a:blip r:embed="rId2"/>
          <a:stretch>
            <a:fillRect/>
          </a:stretch>
        </p:blipFill>
        <p:spPr>
          <a:xfrm>
            <a:off x="698048" y="1381125"/>
            <a:ext cx="7176404" cy="4333875"/>
          </a:xfrm>
          <a:prstGeom prst="rect">
            <a:avLst/>
          </a:prstGeom>
        </p:spPr>
      </p:pic>
      <p:sp>
        <p:nvSpPr>
          <p:cNvPr id="10" name="Rectangle 10"/>
          <p:cNvSpPr/>
          <p:nvPr/>
        </p:nvSpPr>
        <p:spPr>
          <a:xfrm>
            <a:off x="8477250" y="1619250"/>
            <a:ext cx="2762250" cy="762000"/>
          </a:xfrm>
          <a:prstGeom prst="roundRect">
            <a:avLst>
              <a:gd name="adj" fmla="val 10000"/>
            </a:avLst>
          </a:prstGeom>
          <a:solidFill>
            <a:srgbClr val="F8FAFC"/>
          </a:solidFill>
          <a:ln w="9525">
            <a:solidFill>
              <a:srgbClr val="E2E8F0"/>
            </a:solidFill>
          </a:ln>
        </p:spPr>
      </p:sp>
      <p:sp>
        <p:nvSpPr>
          <p:cNvPr id="11" name="TextBox 11"/>
          <p:cNvSpPr txBox="1"/>
          <p:nvPr/>
        </p:nvSpPr>
        <p:spPr>
          <a:xfrm>
            <a:off x="8942674" y="1910715"/>
            <a:ext cx="1831403"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2" name="Rectangle 12"/>
          <p:cNvSpPr/>
          <p:nvPr/>
        </p:nvSpPr>
        <p:spPr>
          <a:xfrm>
            <a:off x="8477250" y="2714625"/>
            <a:ext cx="2762250" cy="762000"/>
          </a:xfrm>
          <a:prstGeom prst="roundRect">
            <a:avLst>
              <a:gd name="adj" fmla="val 10000"/>
            </a:avLst>
          </a:prstGeom>
          <a:solidFill>
            <a:srgbClr val="F8FAFC"/>
          </a:solidFill>
          <a:ln w="9525">
            <a:solidFill>
              <a:srgbClr val="E2E8F0"/>
            </a:solidFill>
          </a:ln>
        </p:spPr>
      </p:sp>
      <p:sp>
        <p:nvSpPr>
          <p:cNvPr id="13" name="TextBox 13"/>
          <p:cNvSpPr txBox="1"/>
          <p:nvPr/>
        </p:nvSpPr>
        <p:spPr>
          <a:xfrm>
            <a:off x="9199650" y="3006090"/>
            <a:ext cx="131745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4" name="Rectangle 14"/>
          <p:cNvSpPr/>
          <p:nvPr/>
        </p:nvSpPr>
        <p:spPr>
          <a:xfrm>
            <a:off x="8477250" y="3810000"/>
            <a:ext cx="2762250" cy="762000"/>
          </a:xfrm>
          <a:prstGeom prst="roundRect">
            <a:avLst>
              <a:gd name="adj" fmla="val 10000"/>
            </a:avLst>
          </a:prstGeom>
          <a:solidFill>
            <a:srgbClr val="191919"/>
          </a:solidFill>
          <a:ln>
            <a:noFill/>
          </a:ln>
        </p:spPr>
      </p:sp>
      <p:sp>
        <p:nvSpPr>
          <p:cNvPr id="15" name="TextBox 15"/>
          <p:cNvSpPr txBox="1"/>
          <p:nvPr/>
        </p:nvSpPr>
        <p:spPr>
          <a:xfrm>
            <a:off x="8615610" y="4101465"/>
            <a:ext cx="2485530"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6" name="TextBox 16"/>
          <p:cNvSpPr txBox="1"/>
          <p:nvPr/>
        </p:nvSpPr>
        <p:spPr>
          <a:xfrm>
            <a:off x="8469249" y="5049679"/>
            <a:ext cx="911582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8" name="TextBox 18"/>
          <p:cNvSpPr txBox="1"/>
          <p:nvPr/>
        </p:nvSpPr>
        <p:spPr>
          <a:xfrm>
            <a:off x="374904" y="6499860"/>
            <a:ext cx="94632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System idea</a:t>
            </a:r>
          </a:p>
        </p:txBody>
      </p:sp>
      <p:sp>
        <p:nvSpPr>
          <p:cNvPr id="19" name="TextBox 19"/>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11 / 22</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61464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portfolio has three real choices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6669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9" name="Rectangle 9"/>
          <p:cNvSpPr/>
          <p:nvPr/>
        </p:nvSpPr>
        <p:spPr>
          <a:xfrm>
            <a:off x="762000" y="1619250"/>
            <a:ext cx="3238500" cy="3333750"/>
          </a:xfrm>
          <a:prstGeom prst="roundRect">
            <a:avLst>
              <a:gd name="adj" fmla="val 2353"/>
            </a:avLst>
          </a:prstGeom>
          <a:solidFill>
            <a:srgbClr val="F8FAFC"/>
          </a:solidFill>
          <a:ln w="9525">
            <a:solidFill>
              <a:srgbClr val="E2E8F0"/>
            </a:solidFill>
          </a:ln>
        </p:spPr>
      </p:sp>
      <p:sp>
        <p:nvSpPr>
          <p:cNvPr id="10" name="TextBox 10"/>
          <p:cNvSpPr txBox="1"/>
          <p:nvPr/>
        </p:nvSpPr>
        <p:spPr>
          <a:xfrm>
            <a:off x="1029462" y="1897380"/>
            <a:ext cx="1323137"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11" name="TextBox 11"/>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2" name="TextBox 12"/>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3" name="Rectangle 13"/>
          <p:cNvSpPr/>
          <p:nvPr/>
        </p:nvSpPr>
        <p:spPr>
          <a:xfrm>
            <a:off x="4476750" y="1619250"/>
            <a:ext cx="3238500" cy="3333750"/>
          </a:xfrm>
          <a:prstGeom prst="roundRect">
            <a:avLst>
              <a:gd name="adj" fmla="val 2353"/>
            </a:avLst>
          </a:prstGeom>
          <a:solidFill>
            <a:srgbClr val="FFFFFF"/>
          </a:solidFill>
          <a:ln w="9525">
            <a:solidFill>
              <a:srgbClr val="E2E8F0"/>
            </a:solidFill>
          </a:ln>
        </p:spPr>
      </p:sp>
      <p:sp>
        <p:nvSpPr>
          <p:cNvPr id="14" name="TextBox 14"/>
          <p:cNvSpPr txBox="1"/>
          <p:nvPr/>
        </p:nvSpPr>
        <p:spPr>
          <a:xfrm>
            <a:off x="4746498" y="1945958"/>
            <a:ext cx="2004991"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5" name="TextBox 15"/>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6" name="TextBox 16"/>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7" name="Rectangle 17"/>
          <p:cNvSpPr/>
          <p:nvPr/>
        </p:nvSpPr>
        <p:spPr>
          <a:xfrm>
            <a:off x="8191500" y="1619250"/>
            <a:ext cx="3238500" cy="3333750"/>
          </a:xfrm>
          <a:prstGeom prst="roundRect">
            <a:avLst>
              <a:gd name="adj" fmla="val 2353"/>
            </a:avLst>
          </a:prstGeom>
          <a:solidFill>
            <a:srgbClr val="191919"/>
          </a:solidFill>
          <a:ln>
            <a:noFill/>
          </a:ln>
        </p:spPr>
      </p:sp>
      <p:sp>
        <p:nvSpPr>
          <p:cNvPr id="18" name="TextBox 18"/>
          <p:cNvSpPr txBox="1"/>
          <p:nvPr/>
        </p:nvSpPr>
        <p:spPr>
          <a:xfrm>
            <a:off x="8458962" y="1897380"/>
            <a:ext cx="866120"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9" name="TextBox 19"/>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20" name="TextBox 20"/>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21" name="TextBox 21"/>
          <p:cNvSpPr txBox="1"/>
          <p:nvPr/>
        </p:nvSpPr>
        <p:spPr>
          <a:xfrm>
            <a:off x="752856" y="5520690"/>
            <a:ext cx="986427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53548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Algorithm portfolio</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12 / 22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62401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v5 was chosen after weaker paths were rejected</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322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9" name="Image 9"/>
          <p:cNvPicPr>
            <a:picLocks noChangeAspect="1"/>
          </p:cNvPicPr>
          <p:nvPr/>
        </p:nvPicPr>
        <p:blipFill>
          <a:blip r:embed="rId2"/>
          <a:stretch>
            <a:fillRect/>
          </a:stretch>
        </p:blipFill>
        <p:spPr>
          <a:xfrm>
            <a:off x="3570632" y="1428750"/>
            <a:ext cx="5050735" cy="2571750"/>
          </a:xfrm>
          <a:prstGeom prst="rect">
            <a:avLst/>
          </a:prstGeom>
        </p:spPr>
      </p:pic>
      <p:sp>
        <p:nvSpPr>
          <p:cNvPr id="10" name="Rectangle 10"/>
          <p:cNvSpPr/>
          <p:nvPr/>
        </p:nvSpPr>
        <p:spPr>
          <a:xfrm>
            <a:off x="876300" y="4333875"/>
            <a:ext cx="2266950" cy="1000125"/>
          </a:xfrm>
          <a:prstGeom prst="roundRect">
            <a:avLst>
              <a:gd name="adj" fmla="val 7619"/>
            </a:avLst>
          </a:prstGeom>
          <a:solidFill>
            <a:srgbClr val="F8FAFC"/>
          </a:solidFill>
          <a:ln w="9525">
            <a:solidFill>
              <a:srgbClr val="E2E8F0"/>
            </a:solidFill>
          </a:ln>
        </p:spPr>
      </p:sp>
      <p:sp>
        <p:nvSpPr>
          <p:cNvPr id="11" name="TextBox 11"/>
          <p:cNvSpPr txBox="1"/>
          <p:nvPr/>
        </p:nvSpPr>
        <p:spPr>
          <a:xfrm>
            <a:off x="1095756" y="4530090"/>
            <a:ext cx="1361616"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2" name="TextBox 12"/>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3" name="Rectangle 13"/>
          <p:cNvSpPr/>
          <p:nvPr/>
        </p:nvSpPr>
        <p:spPr>
          <a:xfrm>
            <a:off x="3524250" y="4333875"/>
            <a:ext cx="2266950" cy="1000125"/>
          </a:xfrm>
          <a:prstGeom prst="roundRect">
            <a:avLst>
              <a:gd name="adj" fmla="val 7619"/>
            </a:avLst>
          </a:prstGeom>
          <a:solidFill>
            <a:srgbClr val="F8FAFC"/>
          </a:solidFill>
          <a:ln w="9525">
            <a:solidFill>
              <a:srgbClr val="E2E8F0"/>
            </a:solidFill>
          </a:ln>
        </p:spPr>
      </p:sp>
      <p:sp>
        <p:nvSpPr>
          <p:cNvPr id="14" name="TextBox 14"/>
          <p:cNvSpPr txBox="1"/>
          <p:nvPr/>
        </p:nvSpPr>
        <p:spPr>
          <a:xfrm>
            <a:off x="3743706" y="4530090"/>
            <a:ext cx="1845396"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5" name="TextBox 15"/>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6" name="Rectangle 16"/>
          <p:cNvSpPr/>
          <p:nvPr/>
        </p:nvSpPr>
        <p:spPr>
          <a:xfrm>
            <a:off x="6172200" y="4333875"/>
            <a:ext cx="2266950" cy="1000125"/>
          </a:xfrm>
          <a:prstGeom prst="roundRect">
            <a:avLst>
              <a:gd name="adj" fmla="val 7619"/>
            </a:avLst>
          </a:prstGeom>
          <a:solidFill>
            <a:srgbClr val="191919"/>
          </a:solidFill>
          <a:ln>
            <a:noFill/>
          </a:ln>
        </p:spPr>
      </p:sp>
      <p:sp>
        <p:nvSpPr>
          <p:cNvPr id="17" name="TextBox 17"/>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8" name="TextBox 18"/>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9" name="Rectangle 19"/>
          <p:cNvSpPr/>
          <p:nvPr/>
        </p:nvSpPr>
        <p:spPr>
          <a:xfrm>
            <a:off x="8820150" y="4333875"/>
            <a:ext cx="2266950" cy="1000125"/>
          </a:xfrm>
          <a:prstGeom prst="roundRect">
            <a:avLst>
              <a:gd name="adj" fmla="val 7619"/>
            </a:avLst>
          </a:prstGeom>
          <a:solidFill>
            <a:srgbClr val="F8FAFC"/>
          </a:solidFill>
          <a:ln w="9525">
            <a:solidFill>
              <a:srgbClr val="E2E8F0"/>
            </a:solidFill>
          </a:ln>
        </p:spPr>
      </p:sp>
      <p:sp>
        <p:nvSpPr>
          <p:cNvPr id="20" name="TextBox 20"/>
          <p:cNvSpPr txBox="1"/>
          <p:nvPr/>
        </p:nvSpPr>
        <p:spPr>
          <a:xfrm>
            <a:off x="9039606" y="4530090"/>
            <a:ext cx="1718240"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21" name="TextBox 21"/>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3" name="TextBox 23"/>
          <p:cNvSpPr txBox="1"/>
          <p:nvPr/>
        </p:nvSpPr>
        <p:spPr>
          <a:xfrm>
            <a:off x="374904" y="6499860"/>
            <a:ext cx="122056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Model evolution</a:t>
            </a:r>
          </a:p>
        </p:txBody>
      </p:sp>
      <p:sp>
        <p:nvSpPr>
          <p:cNvPr id="24" name="TextBox 24"/>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13 / 22</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25311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Evaluation asks how close we are to the oracle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5361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9" name="Rectangle 9"/>
          <p:cNvSpPr/>
          <p:nvPr/>
        </p:nvSpPr>
        <p:spPr>
          <a:xfrm>
            <a:off x="762000" y="1476375"/>
            <a:ext cx="3333750" cy="2571750"/>
          </a:xfrm>
          <a:prstGeom prst="roundRect">
            <a:avLst>
              <a:gd name="adj" fmla="val 2963"/>
            </a:avLst>
          </a:prstGeom>
          <a:solidFill>
            <a:srgbClr val="F8FAFC"/>
          </a:solidFill>
          <a:ln w="9525">
            <a:solidFill>
              <a:srgbClr val="E2E8F0"/>
            </a:solidFill>
          </a:ln>
        </p:spPr>
      </p:sp>
      <p:sp>
        <p:nvSpPr>
          <p:cNvPr id="10" name="TextBox 10"/>
          <p:cNvSpPr txBox="1"/>
          <p:nvPr/>
        </p:nvSpPr>
        <p:spPr>
          <a:xfrm>
            <a:off x="1036320" y="1804988"/>
            <a:ext cx="57732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11" name="TextBox 11"/>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2" name="TextBox 12"/>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3" name="Rectangle 13"/>
          <p:cNvSpPr/>
          <p:nvPr/>
        </p:nvSpPr>
        <p:spPr>
          <a:xfrm>
            <a:off x="4429125" y="1476375"/>
            <a:ext cx="3333750" cy="2571750"/>
          </a:xfrm>
          <a:prstGeom prst="roundRect">
            <a:avLst>
              <a:gd name="adj" fmla="val 2963"/>
            </a:avLst>
          </a:prstGeom>
          <a:solidFill>
            <a:srgbClr val="FFFFFF"/>
          </a:solidFill>
          <a:ln w="9525">
            <a:solidFill>
              <a:srgbClr val="E2E8F0"/>
            </a:solidFill>
          </a:ln>
        </p:spPr>
      </p:sp>
      <p:sp>
        <p:nvSpPr>
          <p:cNvPr id="14" name="TextBox 14"/>
          <p:cNvSpPr txBox="1"/>
          <p:nvPr/>
        </p:nvSpPr>
        <p:spPr>
          <a:xfrm>
            <a:off x="4703445" y="1804988"/>
            <a:ext cx="57732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5" name="TextBox 15"/>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6" name="TextBox 16"/>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7" name="Rectangle 17"/>
          <p:cNvSpPr/>
          <p:nvPr/>
        </p:nvSpPr>
        <p:spPr>
          <a:xfrm>
            <a:off x="8096250" y="1476375"/>
            <a:ext cx="3333750" cy="2571750"/>
          </a:xfrm>
          <a:prstGeom prst="roundRect">
            <a:avLst>
              <a:gd name="adj" fmla="val 2963"/>
            </a:avLst>
          </a:prstGeom>
          <a:solidFill>
            <a:srgbClr val="191919"/>
          </a:solidFill>
          <a:ln>
            <a:noFill/>
          </a:ln>
        </p:spPr>
      </p:sp>
      <p:sp>
        <p:nvSpPr>
          <p:cNvPr id="18" name="TextBox 18"/>
          <p:cNvSpPr txBox="1"/>
          <p:nvPr/>
        </p:nvSpPr>
        <p:spPr>
          <a:xfrm>
            <a:off x="8370570" y="1804988"/>
            <a:ext cx="89128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9" name="TextBox 19"/>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20" name="TextBox 20"/>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21" name="Image 21"/>
          <p:cNvPicPr>
            <a:picLocks noChangeAspect="1"/>
          </p:cNvPicPr>
          <p:nvPr/>
        </p:nvPicPr>
        <p:blipFill>
          <a:blip r:embed="rId2"/>
          <a:stretch>
            <a:fillRect/>
          </a:stretch>
        </p:blipFill>
        <p:spPr>
          <a:xfrm>
            <a:off x="1152612" y="4476750"/>
            <a:ext cx="4267025" cy="904875"/>
          </a:xfrm>
          <a:prstGeom prst="rect">
            <a:avLst/>
          </a:prstGeom>
        </p:spPr>
      </p:pic>
      <p:pic>
        <p:nvPicPr>
          <p:cNvPr id="22" name="Image 22"/>
          <p:cNvPicPr>
            <a:picLocks noChangeAspect="1"/>
          </p:cNvPicPr>
          <p:nvPr/>
        </p:nvPicPr>
        <p:blipFill>
          <a:blip r:embed="rId3"/>
          <a:stretch>
            <a:fillRect/>
          </a:stretch>
        </p:blipFill>
        <p:spPr>
          <a:xfrm>
            <a:off x="6572250" y="4539005"/>
            <a:ext cx="4381500" cy="780365"/>
          </a:xfrm>
          <a:prstGeom prst="rect">
            <a:avLst/>
          </a:prstGeom>
        </p:spPr>
      </p:pic>
      <p:sp>
        <p:nvSpPr>
          <p:cNvPr id="23" name="TextBox 23"/>
          <p:cNvSpPr txBox="1"/>
          <p:nvPr/>
        </p:nvSpPr>
        <p:spPr>
          <a:xfrm>
            <a:off x="1134999" y="5640229"/>
            <a:ext cx="859951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4" name="Line 24"/>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5" name="TextBox 25"/>
          <p:cNvSpPr txBox="1"/>
          <p:nvPr/>
        </p:nvSpPr>
        <p:spPr>
          <a:xfrm>
            <a:off x="374904" y="6499860"/>
            <a:ext cx="1729174"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Evaluation definitions</a:t>
            </a:r>
          </a:p>
        </p:txBody>
      </p:sp>
      <p:sp>
        <p:nvSpPr>
          <p:cNvPr id="26" name="TextBox 26"/>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14 / 22</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88739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closes most of the runtime gap</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08566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9" name="Rectangle 9"/>
          <p:cNvSpPr/>
          <p:nvPr/>
        </p:nvSpPr>
        <p:spPr>
          <a:xfrm>
            <a:off x="762000" y="1571625"/>
            <a:ext cx="4953000" cy="3381375"/>
          </a:xfrm>
          <a:prstGeom prst="roundRect">
            <a:avLst>
              <a:gd name="adj" fmla="val 2254"/>
            </a:avLst>
          </a:prstGeom>
          <a:solidFill>
            <a:srgbClr val="191919"/>
          </a:solidFill>
          <a:ln>
            <a:noFill/>
          </a:ln>
        </p:spPr>
      </p:sp>
      <p:sp>
        <p:nvSpPr>
          <p:cNvPr id="10" name="TextBox 10"/>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11" name="TextBox 11"/>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2" name="TextBox 12"/>
          <p:cNvSpPr txBox="1"/>
          <p:nvPr/>
        </p:nvSpPr>
        <p:spPr>
          <a:xfrm>
            <a:off x="1191006" y="3663315"/>
            <a:ext cx="426681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3" name="TextBox 13"/>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4" name="Rectangle 14"/>
          <p:cNvSpPr/>
          <p:nvPr/>
        </p:nvSpPr>
        <p:spPr>
          <a:xfrm>
            <a:off x="6381750" y="1571625"/>
            <a:ext cx="2286000" cy="1571625"/>
          </a:xfrm>
          <a:prstGeom prst="roundRect">
            <a:avLst>
              <a:gd name="adj" fmla="val 4848"/>
            </a:avLst>
          </a:prstGeom>
          <a:solidFill>
            <a:srgbClr val="F8FAFC"/>
          </a:solidFill>
          <a:ln w="9525">
            <a:solidFill>
              <a:srgbClr val="E2E8F0"/>
            </a:solidFill>
          </a:ln>
        </p:spPr>
      </p:sp>
      <p:sp>
        <p:nvSpPr>
          <p:cNvPr id="15" name="TextBox 15"/>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6" name="TextBox 16"/>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7" name="Rectangle 17"/>
          <p:cNvSpPr/>
          <p:nvPr/>
        </p:nvSpPr>
        <p:spPr>
          <a:xfrm>
            <a:off x="9144000" y="1571625"/>
            <a:ext cx="2286000" cy="1571625"/>
          </a:xfrm>
          <a:prstGeom prst="roundRect">
            <a:avLst>
              <a:gd name="adj" fmla="val 4848"/>
            </a:avLst>
          </a:prstGeom>
          <a:solidFill>
            <a:srgbClr val="F8FAFC"/>
          </a:solidFill>
          <a:ln w="9525">
            <a:solidFill>
              <a:srgbClr val="E2E8F0"/>
            </a:solidFill>
          </a:ln>
        </p:spPr>
      </p:sp>
      <p:sp>
        <p:nvSpPr>
          <p:cNvPr id="18" name="TextBox 18"/>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9" name="TextBox 19"/>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20" name="Image 20"/>
          <p:cNvPicPr>
            <a:picLocks noChangeAspect="1"/>
          </p:cNvPicPr>
          <p:nvPr/>
        </p:nvPicPr>
        <p:blipFill>
          <a:blip r:embed="rId2"/>
          <a:stretch>
            <a:fillRect/>
          </a:stretch>
        </p:blipFill>
        <p:spPr>
          <a:xfrm>
            <a:off x="7504888" y="3429000"/>
            <a:ext cx="2801973" cy="1952625"/>
          </a:xfrm>
          <a:prstGeom prst="rect">
            <a:avLst/>
          </a:prstGeom>
        </p:spPr>
      </p:pic>
      <p:sp>
        <p:nvSpPr>
          <p:cNvPr id="21" name="Line 21"/>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2" name="TextBox 22"/>
          <p:cNvSpPr txBox="1"/>
          <p:nvPr/>
        </p:nvSpPr>
        <p:spPr>
          <a:xfrm>
            <a:off x="374904" y="6499860"/>
            <a:ext cx="156817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Main runtime result</a:t>
            </a:r>
          </a:p>
        </p:txBody>
      </p:sp>
      <p:sp>
        <p:nvSpPr>
          <p:cNvPr id="23" name="TextBox 23"/>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15 / 22</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09359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Accuracy alone does not explain runtime value</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37362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9" name="Image 9"/>
          <p:cNvPicPr>
            <a:picLocks noChangeAspect="1"/>
          </p:cNvPicPr>
          <p:nvPr/>
        </p:nvPicPr>
        <p:blipFill>
          <a:blip r:embed="rId2"/>
          <a:stretch>
            <a:fillRect/>
          </a:stretch>
        </p:blipFill>
        <p:spPr>
          <a:xfrm>
            <a:off x="760177" y="1428750"/>
            <a:ext cx="6480646" cy="4000500"/>
          </a:xfrm>
          <a:prstGeom prst="rect">
            <a:avLst/>
          </a:prstGeom>
        </p:spPr>
      </p:pic>
      <p:sp>
        <p:nvSpPr>
          <p:cNvPr id="10" name="Rectangle 10"/>
          <p:cNvSpPr/>
          <p:nvPr/>
        </p:nvSpPr>
        <p:spPr>
          <a:xfrm>
            <a:off x="7953375" y="1619250"/>
            <a:ext cx="3286125" cy="1238250"/>
          </a:xfrm>
          <a:prstGeom prst="roundRect">
            <a:avLst>
              <a:gd name="adj" fmla="val 6154"/>
            </a:avLst>
          </a:prstGeom>
          <a:solidFill>
            <a:srgbClr val="F8FAFC"/>
          </a:solidFill>
          <a:ln w="9525">
            <a:solidFill>
              <a:srgbClr val="E2E8F0"/>
            </a:solidFill>
          </a:ln>
        </p:spPr>
      </p:sp>
      <p:sp>
        <p:nvSpPr>
          <p:cNvPr id="11" name="TextBox 11"/>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2" name="TextBox 12"/>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3" name="Rectangle 13"/>
          <p:cNvSpPr/>
          <p:nvPr/>
        </p:nvSpPr>
        <p:spPr>
          <a:xfrm>
            <a:off x="7953375" y="3143250"/>
            <a:ext cx="3286125" cy="1238250"/>
          </a:xfrm>
          <a:prstGeom prst="roundRect">
            <a:avLst>
              <a:gd name="adj" fmla="val 6154"/>
            </a:avLst>
          </a:prstGeom>
          <a:solidFill>
            <a:srgbClr val="191919"/>
          </a:solidFill>
          <a:ln>
            <a:noFill/>
          </a:ln>
        </p:spPr>
      </p:sp>
      <p:sp>
        <p:nvSpPr>
          <p:cNvPr id="14" name="TextBox 14"/>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5" name="TextBox 15"/>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6" name="TextBox 16"/>
          <p:cNvSpPr txBox="1"/>
          <p:nvPr/>
        </p:nvSpPr>
        <p:spPr>
          <a:xfrm>
            <a:off x="7944231" y="4758690"/>
            <a:ext cx="387638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7" name="TextBox 17"/>
          <p:cNvSpPr txBox="1"/>
          <p:nvPr/>
        </p:nvSpPr>
        <p:spPr>
          <a:xfrm>
            <a:off x="7944231" y="5092065"/>
            <a:ext cx="475155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374904" y="6499860"/>
            <a:ext cx="242443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Accuracy versus runtime value</a:t>
            </a:r>
          </a:p>
        </p:txBody>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16 / 22</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76164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hardest boundary is between close algorithms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6456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9" name="Image 9"/>
          <p:cNvPicPr>
            <a:picLocks noChangeAspect="1"/>
          </p:cNvPicPr>
          <p:nvPr/>
        </p:nvPicPr>
        <p:blipFill>
          <a:blip r:embed="rId2"/>
          <a:stretch>
            <a:fillRect/>
          </a:stretch>
        </p:blipFill>
        <p:spPr>
          <a:xfrm>
            <a:off x="769937" y="1428750"/>
            <a:ext cx="5413375" cy="4429125"/>
          </a:xfrm>
          <a:prstGeom prst="rect">
            <a:avLst/>
          </a:prstGeom>
        </p:spPr>
      </p:pic>
      <p:sp>
        <p:nvSpPr>
          <p:cNvPr id="10" name="Rectangle 10"/>
          <p:cNvSpPr/>
          <p:nvPr/>
        </p:nvSpPr>
        <p:spPr>
          <a:xfrm>
            <a:off x="6858000" y="1619250"/>
            <a:ext cx="4191000" cy="1143000"/>
          </a:xfrm>
          <a:prstGeom prst="roundRect">
            <a:avLst>
              <a:gd name="adj" fmla="val 6667"/>
            </a:avLst>
          </a:prstGeom>
          <a:solidFill>
            <a:srgbClr val="191919"/>
          </a:solidFill>
          <a:ln>
            <a:noFill/>
          </a:ln>
        </p:spPr>
      </p:sp>
      <p:sp>
        <p:nvSpPr>
          <p:cNvPr id="11" name="TextBox 11"/>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2" name="TextBox 12"/>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3" name="Rectangle 13"/>
          <p:cNvSpPr/>
          <p:nvPr/>
        </p:nvSpPr>
        <p:spPr>
          <a:xfrm>
            <a:off x="6858000" y="3143250"/>
            <a:ext cx="4191000" cy="1762125"/>
          </a:xfrm>
          <a:prstGeom prst="roundRect">
            <a:avLst>
              <a:gd name="adj" fmla="val 4324"/>
            </a:avLst>
          </a:prstGeom>
          <a:solidFill>
            <a:srgbClr val="F8FAFC"/>
          </a:solidFill>
          <a:ln w="9525">
            <a:solidFill>
              <a:srgbClr val="E2E8F0"/>
            </a:solidFill>
          </a:ln>
        </p:spPr>
      </p:sp>
      <p:sp>
        <p:nvSpPr>
          <p:cNvPr id="14" name="TextBox 14"/>
          <p:cNvSpPr txBox="1"/>
          <p:nvPr/>
        </p:nvSpPr>
        <p:spPr>
          <a:xfrm>
            <a:off x="7132320" y="3395662"/>
            <a:ext cx="23220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5" name="TextBox 15"/>
          <p:cNvSpPr txBox="1"/>
          <p:nvPr/>
        </p:nvSpPr>
        <p:spPr>
          <a:xfrm>
            <a:off x="7134606" y="3901440"/>
            <a:ext cx="592682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6" name="TextBox 16"/>
          <p:cNvSpPr txBox="1"/>
          <p:nvPr/>
        </p:nvSpPr>
        <p:spPr>
          <a:xfrm>
            <a:off x="7134606" y="4282440"/>
            <a:ext cx="412201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7" name="TextBox 17"/>
          <p:cNvSpPr txBox="1"/>
          <p:nvPr/>
        </p:nvSpPr>
        <p:spPr>
          <a:xfrm>
            <a:off x="6848856" y="5282565"/>
            <a:ext cx="463018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8" name="TextBox 18"/>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374904" y="6499860"/>
            <a:ext cx="1495549"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Per-class behavior</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17 / 22</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698266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model uses structural signals, not magic</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929925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9" name="Image 9"/>
          <p:cNvPicPr>
            <a:picLocks noChangeAspect="1"/>
          </p:cNvPicPr>
          <p:nvPr/>
        </p:nvPicPr>
        <p:blipFill>
          <a:blip r:embed="rId2"/>
          <a:stretch>
            <a:fillRect/>
          </a:stretch>
        </p:blipFill>
        <p:spPr>
          <a:xfrm>
            <a:off x="1203614" y="1381125"/>
            <a:ext cx="6165273" cy="4238625"/>
          </a:xfrm>
          <a:prstGeom prst="rect">
            <a:avLst/>
          </a:prstGeom>
        </p:spPr>
      </p:pic>
      <p:sp>
        <p:nvSpPr>
          <p:cNvPr id="10" name="Rectangle 10"/>
          <p:cNvSpPr/>
          <p:nvPr/>
        </p:nvSpPr>
        <p:spPr>
          <a:xfrm>
            <a:off x="8382000" y="1619250"/>
            <a:ext cx="2857500" cy="1047750"/>
          </a:xfrm>
          <a:prstGeom prst="roundRect">
            <a:avLst>
              <a:gd name="adj" fmla="val 7273"/>
            </a:avLst>
          </a:prstGeom>
          <a:solidFill>
            <a:srgbClr val="F8FAFC"/>
          </a:solidFill>
          <a:ln w="9525">
            <a:solidFill>
              <a:srgbClr val="E2E8F0"/>
            </a:solidFill>
          </a:ln>
        </p:spPr>
      </p:sp>
      <p:sp>
        <p:nvSpPr>
          <p:cNvPr id="11" name="TextBox 11"/>
          <p:cNvSpPr txBox="1"/>
          <p:nvPr/>
        </p:nvSpPr>
        <p:spPr>
          <a:xfrm>
            <a:off x="8658606" y="1901190"/>
            <a:ext cx="1705459"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2" name="TextBox 12"/>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3" name="Rectangle 13"/>
          <p:cNvSpPr/>
          <p:nvPr/>
        </p:nvSpPr>
        <p:spPr>
          <a:xfrm>
            <a:off x="8382000" y="3000375"/>
            <a:ext cx="2857500" cy="1047750"/>
          </a:xfrm>
          <a:prstGeom prst="roundRect">
            <a:avLst>
              <a:gd name="adj" fmla="val 7273"/>
            </a:avLst>
          </a:prstGeom>
          <a:solidFill>
            <a:srgbClr val="FFFFFF"/>
          </a:solidFill>
          <a:ln w="9525">
            <a:solidFill>
              <a:srgbClr val="E2E8F0"/>
            </a:solidFill>
          </a:ln>
        </p:spPr>
      </p:sp>
      <p:sp>
        <p:nvSpPr>
          <p:cNvPr id="14" name="TextBox 14"/>
          <p:cNvSpPr txBox="1"/>
          <p:nvPr/>
        </p:nvSpPr>
        <p:spPr>
          <a:xfrm>
            <a:off x="8658606" y="3282315"/>
            <a:ext cx="222645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5" name="TextBox 15"/>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6" name="Rectangle 16"/>
          <p:cNvSpPr/>
          <p:nvPr/>
        </p:nvSpPr>
        <p:spPr>
          <a:xfrm>
            <a:off x="8382000" y="4381500"/>
            <a:ext cx="2857500" cy="1047750"/>
          </a:xfrm>
          <a:prstGeom prst="roundRect">
            <a:avLst>
              <a:gd name="adj" fmla="val 7273"/>
            </a:avLst>
          </a:prstGeom>
          <a:solidFill>
            <a:srgbClr val="191919"/>
          </a:solidFill>
          <a:ln>
            <a:noFill/>
          </a:ln>
        </p:spPr>
      </p:sp>
      <p:sp>
        <p:nvSpPr>
          <p:cNvPr id="17" name="TextBox 17"/>
          <p:cNvSpPr txBox="1"/>
          <p:nvPr/>
        </p:nvSpPr>
        <p:spPr>
          <a:xfrm>
            <a:off x="8658606" y="4663440"/>
            <a:ext cx="1578308"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8" name="TextBox 18"/>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0" name="TextBox 20"/>
          <p:cNvSpPr txBox="1"/>
          <p:nvPr/>
        </p:nvSpPr>
        <p:spPr>
          <a:xfrm>
            <a:off x="374904" y="6499860"/>
            <a:ext cx="1568178"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Feature importance</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18 / 22</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823860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The selector still transfers across held-out domains</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1029577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9" name="Image 9"/>
          <p:cNvPicPr>
            <a:picLocks noChangeAspect="1"/>
          </p:cNvPicPr>
          <p:nvPr/>
        </p:nvPicPr>
        <p:blipFill>
          <a:blip r:embed="rId2"/>
          <a:stretch>
            <a:fillRect/>
          </a:stretch>
        </p:blipFill>
        <p:spPr>
          <a:xfrm>
            <a:off x="790238" y="1381125"/>
            <a:ext cx="6992024" cy="4333875"/>
          </a:xfrm>
          <a:prstGeom prst="rect">
            <a:avLst/>
          </a:prstGeom>
        </p:spPr>
      </p:pic>
      <p:sp>
        <p:nvSpPr>
          <p:cNvPr id="10" name="Rectangle 10"/>
          <p:cNvSpPr/>
          <p:nvPr/>
        </p:nvSpPr>
        <p:spPr>
          <a:xfrm>
            <a:off x="8382000" y="1695450"/>
            <a:ext cx="2857500" cy="1476375"/>
          </a:xfrm>
          <a:prstGeom prst="roundRect">
            <a:avLst>
              <a:gd name="adj" fmla="val 5161"/>
            </a:avLst>
          </a:prstGeom>
          <a:solidFill>
            <a:srgbClr val="191919"/>
          </a:solidFill>
          <a:ln>
            <a:noFill/>
          </a:ln>
        </p:spPr>
      </p:sp>
      <p:sp>
        <p:nvSpPr>
          <p:cNvPr id="11" name="TextBox 11"/>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2" name="TextBox 12"/>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3" name="Rectangle 13"/>
          <p:cNvSpPr/>
          <p:nvPr/>
        </p:nvSpPr>
        <p:spPr>
          <a:xfrm>
            <a:off x="8382000" y="3524250"/>
            <a:ext cx="2857500" cy="1809750"/>
          </a:xfrm>
          <a:prstGeom prst="roundRect">
            <a:avLst>
              <a:gd name="adj" fmla="val 4211"/>
            </a:avLst>
          </a:prstGeom>
          <a:solidFill>
            <a:srgbClr val="F8FAFC"/>
          </a:solidFill>
          <a:ln w="9525">
            <a:solidFill>
              <a:srgbClr val="E2E8F0"/>
            </a:solidFill>
          </a:ln>
        </p:spPr>
      </p:sp>
      <p:sp>
        <p:nvSpPr>
          <p:cNvPr id="14" name="TextBox 14"/>
          <p:cNvSpPr txBox="1"/>
          <p:nvPr/>
        </p:nvSpPr>
        <p:spPr>
          <a:xfrm>
            <a:off x="8658606" y="3806190"/>
            <a:ext cx="2189119"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5" name="TextBox 15"/>
          <p:cNvSpPr txBox="1"/>
          <p:nvPr/>
        </p:nvSpPr>
        <p:spPr>
          <a:xfrm>
            <a:off x="8659749" y="4230529"/>
            <a:ext cx="273762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6" name="TextBox 16"/>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7" name="TextBox 17"/>
          <p:cNvSpPr txBox="1"/>
          <p:nvPr/>
        </p:nvSpPr>
        <p:spPr>
          <a:xfrm>
            <a:off x="8659749" y="4840129"/>
            <a:ext cx="285352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19" name="TextBox 19"/>
          <p:cNvSpPr txBox="1"/>
          <p:nvPr/>
        </p:nvSpPr>
        <p:spPr>
          <a:xfrm>
            <a:off x="374904" y="6499860"/>
            <a:ext cx="1172261"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Domain holdout</a:t>
            </a:r>
          </a:p>
        </p:txBody>
      </p:sp>
      <p:sp>
        <p:nvSpPr>
          <p:cNvPr id="20" name="TextBox 20"/>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19 / 22</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759716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Strict checks changed what I was willing to claim</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15765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9" name="Rectangle 9"/>
          <p:cNvSpPr/>
          <p:nvPr/>
        </p:nvSpPr>
        <p:spPr>
          <a:xfrm>
            <a:off x="762000" y="1476375"/>
            <a:ext cx="3238500" cy="3619500"/>
          </a:xfrm>
          <a:prstGeom prst="roundRect">
            <a:avLst>
              <a:gd name="adj" fmla="val 2353"/>
            </a:avLst>
          </a:prstGeom>
          <a:solidFill>
            <a:srgbClr val="F8FAFC"/>
          </a:solidFill>
          <a:ln w="9525">
            <a:solidFill>
              <a:srgbClr val="E2E8F0"/>
            </a:solidFill>
          </a:ln>
        </p:spPr>
      </p:sp>
      <p:sp>
        <p:nvSpPr>
          <p:cNvPr id="10" name="TextBox 10"/>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11" name="TextBox 11"/>
          <p:cNvSpPr txBox="1"/>
          <p:nvPr/>
        </p:nvSpPr>
        <p:spPr>
          <a:xfrm>
            <a:off x="1038606" y="2425065"/>
            <a:ext cx="33612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2" name="TextBox 12"/>
          <p:cNvSpPr txBox="1"/>
          <p:nvPr/>
        </p:nvSpPr>
        <p:spPr>
          <a:xfrm>
            <a:off x="1038606" y="2806065"/>
            <a:ext cx="2970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3" name="TextBox 13"/>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4" name="Rectangle 14"/>
          <p:cNvSpPr/>
          <p:nvPr/>
        </p:nvSpPr>
        <p:spPr>
          <a:xfrm>
            <a:off x="4476750" y="1476375"/>
            <a:ext cx="3238500" cy="3619500"/>
          </a:xfrm>
          <a:prstGeom prst="roundRect">
            <a:avLst>
              <a:gd name="adj" fmla="val 2353"/>
            </a:avLst>
          </a:prstGeom>
          <a:solidFill>
            <a:srgbClr val="FFFFFF"/>
          </a:solidFill>
          <a:ln w="9525">
            <a:solidFill>
              <a:srgbClr val="E2E8F0"/>
            </a:solidFill>
          </a:ln>
        </p:spPr>
      </p:sp>
      <p:sp>
        <p:nvSpPr>
          <p:cNvPr id="15" name="TextBox 15"/>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6" name="TextBox 16"/>
          <p:cNvSpPr txBox="1"/>
          <p:nvPr/>
        </p:nvSpPr>
        <p:spPr>
          <a:xfrm>
            <a:off x="4753356" y="2425065"/>
            <a:ext cx="328512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7" name="TextBox 17"/>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8" name="TextBox 18"/>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9" name="Rectangle 19"/>
          <p:cNvSpPr/>
          <p:nvPr/>
        </p:nvSpPr>
        <p:spPr>
          <a:xfrm>
            <a:off x="8191500" y="1476375"/>
            <a:ext cx="3238500" cy="3619500"/>
          </a:xfrm>
          <a:prstGeom prst="roundRect">
            <a:avLst>
              <a:gd name="adj" fmla="val 2353"/>
            </a:avLst>
          </a:prstGeom>
          <a:solidFill>
            <a:srgbClr val="191919"/>
          </a:solidFill>
          <a:ln>
            <a:noFill/>
          </a:ln>
        </p:spPr>
      </p:sp>
      <p:sp>
        <p:nvSpPr>
          <p:cNvPr id="20" name="TextBox 20"/>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21" name="TextBox 21"/>
          <p:cNvSpPr txBox="1"/>
          <p:nvPr/>
        </p:nvSpPr>
        <p:spPr>
          <a:xfrm>
            <a:off x="8468106" y="2425065"/>
            <a:ext cx="24262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2" name="TextBox 22"/>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3" name="TextBox 23"/>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4" name="TextBox 24"/>
          <p:cNvSpPr txBox="1"/>
          <p:nvPr/>
        </p:nvSpPr>
        <p:spPr>
          <a:xfrm>
            <a:off x="752856" y="5520690"/>
            <a:ext cx="11730537"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6" name="TextBox 26"/>
          <p:cNvSpPr txBox="1"/>
          <p:nvPr/>
        </p:nvSpPr>
        <p:spPr>
          <a:xfrm>
            <a:off x="374904" y="6499860"/>
            <a:ext cx="1366175"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Rigor and lessons</a:t>
            </a:r>
          </a:p>
        </p:txBody>
      </p:sp>
      <p:sp>
        <p:nvSpPr>
          <p:cNvPr id="27" name="TextBox 27"/>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20 / 22</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66750"/>
          </a:xfrm>
          <a:prstGeom prst="rect">
            <a:avLst/>
          </a:prstGeom>
          <a:solidFill>
            <a:srgbClr val="191919"/>
          </a:solidFill>
          <a:ln>
            <a:noFill/>
          </a:ln>
        </p:spPr>
      </p:sp>
      <p:sp>
        <p:nvSpPr>
          <p:cNvPr id="4" name="Rectangle 4"/>
          <p:cNvSpPr/>
          <p:nvPr/>
        </p:nvSpPr>
        <p:spPr>
          <a:xfrm>
            <a:off x="0" y="0"/>
            <a:ext cx="76200" cy="666750"/>
          </a:xfrm>
          <a:prstGeom prst="rect">
            <a:avLst/>
          </a:prstGeom>
          <a:solidFill>
            <a:srgbClr val="D97757"/>
          </a:solidFill>
          <a:ln>
            <a:noFill/>
          </a:ln>
        </p:spPr>
      </p:sp>
      <p:sp>
        <p:nvSpPr>
          <p:cNvPr id="5" name="TextBox 5"/>
          <p:cNvSpPr txBox="1"/>
          <p:nvPr/>
        </p:nvSpPr>
        <p:spPr>
          <a:xfrm>
            <a:off x="369570" y="176212"/>
            <a:ext cx="567030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Styrene A"/>
                <a:ea typeface="Styrene A"/>
                <a:cs typeface="Styrene A"/>
              </a:rPr>
              <a:t>What I claim, and what I do not claim</a:t>
            </a:r>
          </a:p>
        </p:txBody>
      </p:sp>
      <p:sp>
        <p:nvSpPr>
          <p:cNvPr id="6" name="Rectangle 6"/>
          <p:cNvSpPr/>
          <p:nvPr/>
        </p:nvSpPr>
        <p:spPr>
          <a:xfrm>
            <a:off x="0" y="666750"/>
            <a:ext cx="12192000" cy="476250"/>
          </a:xfrm>
          <a:prstGeom prst="rect">
            <a:avLst/>
          </a:prstGeom>
          <a:solidFill>
            <a:srgbClr val="F8FAFC"/>
          </a:solidFill>
          <a:ln>
            <a:noFill/>
          </a:ln>
        </p:spPr>
      </p:sp>
      <p:sp>
        <p:nvSpPr>
          <p:cNvPr id="7" name="Rectangle 7"/>
          <p:cNvSpPr/>
          <p:nvPr/>
        </p:nvSpPr>
        <p:spPr>
          <a:xfrm>
            <a:off x="381000" y="819150"/>
            <a:ext cx="38100" cy="171450"/>
          </a:xfrm>
          <a:prstGeom prst="rect">
            <a:avLst/>
          </a:prstGeom>
          <a:solidFill>
            <a:srgbClr val="D97757"/>
          </a:solidFill>
          <a:ln>
            <a:noFill/>
          </a:ln>
        </p:spPr>
      </p:sp>
      <p:sp>
        <p:nvSpPr>
          <p:cNvPr id="8" name="TextBox 8"/>
          <p:cNvSpPr txBox="1"/>
          <p:nvPr/>
        </p:nvSpPr>
        <p:spPr>
          <a:xfrm>
            <a:off x="544449" y="811054"/>
            <a:ext cx="722145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9" name="Rectangle 9"/>
          <p:cNvSpPr/>
          <p:nvPr/>
        </p:nvSpPr>
        <p:spPr>
          <a:xfrm>
            <a:off x="857250" y="1619250"/>
            <a:ext cx="4762500" cy="3238500"/>
          </a:xfrm>
          <a:prstGeom prst="roundRect">
            <a:avLst>
              <a:gd name="adj" fmla="val 2353"/>
            </a:avLst>
          </a:prstGeom>
          <a:solidFill>
            <a:srgbClr val="191919"/>
          </a:solidFill>
          <a:ln>
            <a:noFill/>
          </a:ln>
        </p:spPr>
      </p:sp>
      <p:sp>
        <p:nvSpPr>
          <p:cNvPr id="10" name="TextBox 10"/>
          <p:cNvSpPr txBox="1"/>
          <p:nvPr/>
        </p:nvSpPr>
        <p:spPr>
          <a:xfrm>
            <a:off x="1179195" y="1947862"/>
            <a:ext cx="100203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11" name="TextBox 11"/>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2" name="TextBox 12"/>
          <p:cNvSpPr txBox="1"/>
          <p:nvPr/>
        </p:nvSpPr>
        <p:spPr>
          <a:xfrm>
            <a:off x="1179195" y="3138488"/>
            <a:ext cx="5742530"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3" name="TextBox 13"/>
          <p:cNvSpPr txBox="1"/>
          <p:nvPr/>
        </p:nvSpPr>
        <p:spPr>
          <a:xfrm>
            <a:off x="1179195" y="3662362"/>
            <a:ext cx="560568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4" name="Rectangle 14"/>
          <p:cNvSpPr/>
          <p:nvPr/>
        </p:nvSpPr>
        <p:spPr>
          <a:xfrm>
            <a:off x="6572250" y="1619250"/>
            <a:ext cx="4762500" cy="3238500"/>
          </a:xfrm>
          <a:prstGeom prst="roundRect">
            <a:avLst>
              <a:gd name="adj" fmla="val 2353"/>
            </a:avLst>
          </a:prstGeom>
          <a:solidFill>
            <a:srgbClr val="F8FAFC"/>
          </a:solidFill>
          <a:ln w="9525">
            <a:solidFill>
              <a:srgbClr val="E2E8F0"/>
            </a:solidFill>
          </a:ln>
        </p:spPr>
      </p:sp>
      <p:sp>
        <p:nvSpPr>
          <p:cNvPr id="15" name="TextBox 15"/>
          <p:cNvSpPr txBox="1"/>
          <p:nvPr/>
        </p:nvSpPr>
        <p:spPr>
          <a:xfrm>
            <a:off x="6894195" y="1947862"/>
            <a:ext cx="206878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6" name="TextBox 16"/>
          <p:cNvSpPr txBox="1"/>
          <p:nvPr/>
        </p:nvSpPr>
        <p:spPr>
          <a:xfrm>
            <a:off x="6894195" y="2614612"/>
            <a:ext cx="321384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7" name="TextBox 17"/>
          <p:cNvSpPr txBox="1"/>
          <p:nvPr/>
        </p:nvSpPr>
        <p:spPr>
          <a:xfrm>
            <a:off x="6894195" y="3138488"/>
            <a:ext cx="534869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8" name="TextBox 18"/>
          <p:cNvSpPr txBox="1"/>
          <p:nvPr/>
        </p:nvSpPr>
        <p:spPr>
          <a:xfrm>
            <a:off x="6894195" y="3662362"/>
            <a:ext cx="4983332"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9" name="TextBox 19"/>
          <p:cNvSpPr txBox="1"/>
          <p:nvPr/>
        </p:nvSpPr>
        <p:spPr>
          <a:xfrm>
            <a:off x="848106" y="5425440"/>
            <a:ext cx="9934137"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sp>
      <p:sp>
        <p:nvSpPr>
          <p:cNvPr id="21" name="TextBox 21"/>
          <p:cNvSpPr txBox="1"/>
          <p:nvPr/>
        </p:nvSpPr>
        <p:spPr>
          <a:xfrm>
            <a:off x="374904" y="6499860"/>
            <a:ext cx="1309769"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Limits and scope</a:t>
            </a:r>
          </a:p>
        </p:txBody>
      </p:sp>
      <p:sp>
        <p:nvSpPr>
          <p:cNvPr id="22" name="TextBox 22"/>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21 / 22</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819150"/>
          </a:xfrm>
          <a:prstGeom prst="rect">
            <a:avLst/>
          </a:prstGeom>
          <a:solidFill>
            <a:srgbClr val="191919"/>
          </a:solidFill>
          <a:ln>
            <a:noFill/>
          </a:ln>
        </p:spPr>
      </p:sp>
      <p:sp>
        <p:nvSpPr>
          <p:cNvPr id="4" name="Rectangle 4"/>
          <p:cNvSpPr/>
          <p:nvPr/>
        </p:nvSpPr>
        <p:spPr>
          <a:xfrm>
            <a:off x="0" y="0"/>
            <a:ext cx="95250" cy="819150"/>
          </a:xfrm>
          <a:prstGeom prst="rect">
            <a:avLst/>
          </a:prstGeom>
          <a:solidFill>
            <a:srgbClr val="D97757"/>
          </a:solidFill>
          <a:ln>
            <a:noFill/>
          </a:ln>
        </p:spPr>
      </p:sp>
      <p:sp>
        <p:nvSpPr>
          <p:cNvPr id="5" name="TextBox 5"/>
          <p:cNvSpPr txBox="1"/>
          <p:nvPr/>
        </p:nvSpPr>
        <p:spPr>
          <a:xfrm>
            <a:off x="411099" y="344329"/>
            <a:ext cx="3284411"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2948469"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827325"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Rectangle 8"/>
          <p:cNvSpPr/>
          <p:nvPr/>
        </p:nvSpPr>
        <p:spPr>
          <a:xfrm>
            <a:off x="685800" y="3143250"/>
            <a:ext cx="3238500" cy="1619250"/>
          </a:xfrm>
          <a:prstGeom prst="roundRect">
            <a:avLst>
              <a:gd name="adj" fmla="val 4706"/>
            </a:avLst>
          </a:prstGeom>
          <a:solidFill>
            <a:srgbClr val="F8FAFC"/>
          </a:solidFill>
          <a:ln w="9525">
            <a:solidFill>
              <a:srgbClr val="E2E8F0"/>
            </a:solidFill>
          </a:ln>
        </p:spPr>
      </p:sp>
      <p:sp>
        <p:nvSpPr>
          <p:cNvPr id="9" name="TextBox 9"/>
          <p:cNvSpPr txBox="1"/>
          <p:nvPr/>
        </p:nvSpPr>
        <p:spPr>
          <a:xfrm>
            <a:off x="979170" y="3424238"/>
            <a:ext cx="22436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73710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Rectangle 12"/>
          <p:cNvSpPr/>
          <p:nvPr/>
        </p:nvSpPr>
        <p:spPr>
          <a:xfrm>
            <a:off x="4476750" y="3143250"/>
            <a:ext cx="3238500" cy="1619250"/>
          </a:xfrm>
          <a:prstGeom prst="roundRect">
            <a:avLst>
              <a:gd name="adj" fmla="val 4706"/>
            </a:avLst>
          </a:prstGeom>
          <a:solidFill>
            <a:srgbClr val="F8FAFC"/>
          </a:solidFill>
          <a:ln w="9525">
            <a:solidFill>
              <a:srgbClr val="E2E8F0"/>
            </a:solidFill>
          </a:ln>
        </p:spPr>
      </p:sp>
      <p:sp>
        <p:nvSpPr>
          <p:cNvPr id="13" name="TextBox 13"/>
          <p:cNvSpPr txBox="1"/>
          <p:nvPr/>
        </p:nvSpPr>
        <p:spPr>
          <a:xfrm>
            <a:off x="4770120" y="3424238"/>
            <a:ext cx="22436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Rectangle 16"/>
          <p:cNvSpPr/>
          <p:nvPr/>
        </p:nvSpPr>
        <p:spPr>
          <a:xfrm>
            <a:off x="8267700" y="3143250"/>
            <a:ext cx="3238500" cy="1619250"/>
          </a:xfrm>
          <a:prstGeom prst="roundRect">
            <a:avLst>
              <a:gd name="adj" fmla="val 4706"/>
            </a:avLst>
          </a:prstGeom>
          <a:solidFill>
            <a:srgbClr val="191919"/>
          </a:solidFill>
          <a:ln>
            <a:noFill/>
          </a:ln>
        </p:spPr>
      </p:sp>
      <p:sp>
        <p:nvSpPr>
          <p:cNvPr id="17" name="TextBox 17"/>
          <p:cNvSpPr txBox="1"/>
          <p:nvPr/>
        </p:nvSpPr>
        <p:spPr>
          <a:xfrm>
            <a:off x="8561070" y="3424238"/>
            <a:ext cx="224366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46546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1" name="TextBox 21"/>
          <p:cNvSpPr txBox="1"/>
          <p:nvPr/>
        </p:nvSpPr>
        <p:spPr>
          <a:xfrm>
            <a:off x="11263732" y="6499860"/>
            <a:ext cx="553364" cy="234696"/>
          </a:xfrm>
          <a:prstGeom prst="rect">
            <a:avLst/>
          </a:prstGeom>
          <a:noFill/>
          <a:ln>
            <a:noFill/>
          </a:ln>
        </p:spPr>
        <p:txBody>
          <a:bodyPr wrap="none" lIns="0" tIns="0" rIns="0" bIns="0" anchor="t" anchorCtr="0">
            <a:spAutoFit/>
          </a:bodyPr>
          <a:lstStyle/>
          <a:p>
            <a:pPr algn="r"/>
            <a:r>
              <a:rPr lang="en-US" sz="1200" dirty="0">
                <a:solidFill>
                  <a:srgbClr val="64748B"/>
                </a:solidFill>
                <a:latin typeface="Anthropic Sans"/>
                <a:ea typeface="Anthropic Sans"/>
                <a:cs typeface="Anthropic Sans"/>
              </a:rPr>
              <a:t>22 / 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2026-06-30T08:32:11Z</dcterms:created>
  <dcterms:modified xsi:type="dcterms:W3CDTF">2026-06-30T08:32:11Z</dcterms:modified>
  <cp:category/>
  <cp:contentStatus/>
</cp:coreProperties>
</file>