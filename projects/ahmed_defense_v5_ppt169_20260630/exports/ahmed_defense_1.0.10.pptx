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502920" y="384048"/>
            <a:ext cx="11186160" cy="41148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wrap="none"/>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Why sorting selection matters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practical question is how much runtime gap remains between a fixed solver and the virtual best solver.</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r>
              <a:rPr sz="1800" b="1">
                <a:solidFill>
                  <a:srgbClr val="191919"/>
                </a:solidFill>
                <a:latin typeface="Aptos"/>
              </a:rPr>
              <a:t>Input structure</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r>
              <a:rPr sz="1800" b="1">
                <a:solidFill>
                  <a:srgbClr val="191919"/>
                </a:solidFill>
                <a:latin typeface="Aptos"/>
              </a:rPr>
              <a:t>changes runtime</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r>
              <a:rPr sz="1500" b="0">
                <a:solidFill>
                  <a:srgbClr val="191919"/>
                </a:solidFill>
                <a:latin typeface="Aptos"/>
              </a:rPr>
              <a:t>Sorted-like, random, and duplicated arrays</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r>
              <a:rPr sz="1500" b="0">
                <a:solidFill>
                  <a:srgbClr val="191919"/>
                </a:solidFill>
                <a:latin typeface="Aptos"/>
              </a:rPr>
              <a:t>can favor different sorting implementations.</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500" dirty="0" b="0">
                <a:solidFill>
                  <a:srgbClr val="566987"/>
                </a:solidFill>
                <a:latin typeface="Apto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2800" b="1" dirty="0">
                <a:solidFill>
                  <a:srgbClr val="191919"/>
                </a:solidFill>
                <a:latin typeface="Aptos Display"/>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500" dirty="0" b="0">
                <a:solidFill>
                  <a:srgbClr val="566987"/>
                </a:solidFill>
                <a:latin typeface="Apto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2800" b="1" dirty="0">
                <a:solidFill>
                  <a:srgbClr val="F94E1F"/>
                </a:solidFill>
                <a:latin typeface="Aptos Display"/>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r>
              <a:rPr sz="1500" b="0">
                <a:solidFill>
                  <a:srgbClr val="191919"/>
                </a:solidFill>
                <a:latin typeface="Aptos"/>
              </a:rPr>
              <a:t>The selector is useful when it approaches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r>
              <a:rPr sz="1500" b="0">
                <a:solidFill>
                  <a:srgbClr val="191919"/>
                </a:solidFill>
                <a:latin typeface="Aptos"/>
              </a:rPr>
              <a:t>without running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Rectangle 2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dirty="0" b="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dirty="0" b="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portfolio contains three comparison-based implementations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model chooses among the three sorting implementations measured throughout the thesis.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r>
              <a:t>introsort</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r>
              <a:t>timsort</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evaluation measures whether this choice reduces regret against the VBS baseline.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dirty="0" b="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dirty="0" b="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dirty="0" b="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dirty="0" b="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dirty="0" b="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dirty="0" b="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dirty="0" b="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900" b="0">
                <a:solidFill>
                  <a:srgbClr val="FFFFFF"/>
                </a:solidFill>
                <a:latin typeface="Aptos"/>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Conclusion</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rIns="0" t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14525" y="3124200"/>
            <a:ext cx="2076450" cy="304800"/>
          </a:xfrm>
          <a:prstGeom prst="rect">
            <a:avLst/>
          </a:prstGeom>
          <a:noFill/>
        </p:spPr>
        <p:txBody>
          <a:bodyPr wrap="none" lIns="0" rIns="0" t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rIns="0" t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4900" y="3124200"/>
            <a:ext cx="2076450" cy="304800"/>
          </a:xfrm>
          <a:prstGeom prst="rect">
            <a:avLst/>
          </a:prstGeom>
          <a:noFill/>
        </p:spPr>
        <p:txBody>
          <a:bodyPr wrap="none" lIns="0" rIns="0" t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rIns="0" t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5275" y="3124200"/>
            <a:ext cx="2076450" cy="304800"/>
          </a:xfrm>
          <a:prstGeom prst="rect">
            <a:avLst/>
          </a:prstGeom>
          <a:noFill/>
        </p:spPr>
        <p:txBody>
          <a:bodyPr wrap="none" lIns="0" rIns="0" t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rIns="0" t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rIns="0" t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rIns="0" t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rIns="0" t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rIns="0" t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rIns="0" t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43250"/>
            <a:ext cx="400050" cy="228600"/>
          </a:xfrm>
          <a:prstGeom prst="rect">
            <a:avLst/>
          </a:prstGeom>
          <a:noFill/>
        </p:spPr>
        <p:txBody>
          <a:bodyPr wrap="none" lIns="0" rIns="0" t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rIns="0" t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rIns="0" t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286250"/>
            <a:ext cx="400050" cy="228600"/>
          </a:xfrm>
          <a:prstGeom prst="rect">
            <a:avLst/>
          </a:prstGeom>
          <a:noFill/>
        </p:spPr>
        <p:txBody>
          <a:bodyPr wrap="none" lIns="0" rIns="0" t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rIns="0" t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rIns="0" t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28750" y="5810250"/>
            <a:ext cx="9334500" cy="209550"/>
          </a:xfrm>
          <a:prstGeom prst="rect">
            <a:avLst/>
          </a:prstGeom>
          <a:noFill/>
        </p:spPr>
        <p:txBody>
          <a:bodyPr wrap="none" lIns="0" rIns="0" tIns="0" bIns="0">
            <a:spAutoFit/>
          </a:bodyPr>
          <a:lstStyle/>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1323320" y="6643116"/>
            <a:ext cx="685800" cy="164592"/>
          </a:xfrm>
          <a:prstGeom prst="rect">
            <a:avLst/>
          </a:prstGeom>
          <a:noFill/>
        </p:spPr>
        <p:txBody>
          <a:bodyPr wrap="none" lIns="0" rIns="0" t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rIns="0" tIns="0" bIns="0">
            <a:spAutoFit/>
          </a:bodyPr>
          <a:lstStyle/>
          <a:p>
            <a:pPr algn="l"/>
            <a:r>
              <a:rPr sz="2400" b="1">
                <a:solidFill>
                  <a:srgbClr val="191919"/>
                </a:solidFill>
                <a:latin typeface="Aptos Display"/>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841248"/>
            <a:ext cx="11186160" cy="365760"/>
          </a:xfrm>
          <a:prstGeom prst="rect">
            <a:avLst/>
          </a:prstGeom>
          <a:noFill/>
        </p:spPr>
        <p:txBody>
          <a:bodyPr wrap="none" lIns="0" rIns="0" t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8275" y="2390775"/>
            <a:ext cx="3886200" cy="228600"/>
          </a:xfrm>
          <a:prstGeom prst="rect">
            <a:avLst/>
          </a:prstGeom>
          <a:noFill/>
        </p:spPr>
        <p:txBody>
          <a:bodyPr wrap="none" lIns="0" rIns="0" t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rIns="0" t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rIns="0" t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rIns="0" t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rIns="0" t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67525" y="2390775"/>
            <a:ext cx="3886200" cy="228600"/>
          </a:xfrm>
          <a:prstGeom prst="rect">
            <a:avLst/>
          </a:prstGeom>
          <a:noFill/>
        </p:spPr>
        <p:txBody>
          <a:bodyPr wrap="none" lIns="0" rIns="0" t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rIns="0" t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rIns="0" t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rIns="0" t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rIns="0" t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rIns="0" tIns="0" bIns="0">
            <a:spAutoFit/>
          </a:bodyPr>
          <a:lstStyle/>
          <a:p>
            <a:r>
              <a:rPr sz="1400" b="0">
                <a:solidFill>
                  <a:srgbClr val="191919"/>
                </a:solidFill>
                <a:latin typeface="Aptos"/>
              </a:rPr>
              <a:t>Future work extends the framework along portfolio, adaptation, and generalisation axes.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