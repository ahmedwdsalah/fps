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80" r:id="rId31"/>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
        <p:nvSpPr>
          <p:cNvPr id="20" name="Rectangle 1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F8FAFC"/>
            </a:solidFill>
            <a:ln w="12700">
              <a:solidFill>
                <a:srgbClr val="DBE4EF"/>
              </a:solid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1B1B1D"/>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9A173D"/>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1B1B1D"/>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526278"/>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4"/>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5_background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B1B1D"/>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1B1B1D"/>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1B1B1D"/>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1_v5_selector_v2.png"/>
          <p:cNvPicPr>
            <a:picLocks noChangeAspect="1"/>
          </p:cNvPicPr>
          <p:nvPr/>
        </p:nvPicPr>
        <p:blipFill>
          <a:blip r:embed="rId5"/>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1B1B1D"/>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14/25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1B1B1D"/>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15/25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4511E"/>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1B1B1D"/>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1B1B1D"/>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16/25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F4511E"/>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1B1B1D"/>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17/25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9A173D"/>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1B1B1D"/>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18/25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545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820000"/>
            <a:ext cx="250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Ordering</a:t>
            </a:r>
          </a:p>
        </p:txBody>
      </p:sp>
      <p:sp>
        <p:nvSpPr>
          <p:cNvPr id="10" name="TextBox 10"/>
          <p:cNvSpPr txBox="1"/>
          <p:nvPr/>
        </p:nvSpPr>
        <p:spPr>
          <a:xfrm>
            <a:off x="8659749" y="224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longest_run_ratio</a:t>
            </a:r>
          </a:p>
          <a:p>
            <a:pPr>
              <a:spcBef>
                <a:spcPts val="0"/>
              </a:spcBef>
              <a:spcAft>
                <a:spcPts val="0"/>
              </a:spcAft>
            </a:pPr>
            <a:r>
              <a:rPr sz="1250">
                <a:solidFill>
                  <a:srgbClr val="526278"/>
                </a:solidFill>
              </a:rPr>
              <a:t>runs_ratio</a:t>
            </a:r>
          </a:p>
          <a:p>
            <a:pPr>
              <a:spcBef>
                <a:spcPts val="0"/>
              </a:spcBef>
              <a:spcAft>
                <a:spcPts val="0"/>
              </a:spcAft>
            </a:pPr>
            <a:r>
              <a:rPr sz="1250">
                <a:solidFill>
                  <a:srgbClr val="526278"/>
                </a:solidFill>
              </a:rPr>
              <a:t>adj_sorted_ratio</a:t>
            </a:r>
          </a:p>
        </p:txBody>
      </p:sp>
      <p:sp>
        <p:nvSpPr>
          <p:cNvPr id="11" name="Freeform 11"/>
          <p:cNvSpPr/>
          <p:nvPr/>
        </p:nvSpPr>
        <p:spPr>
          <a:xfrm>
            <a:off x="8382000" y="3200000"/>
            <a:ext cx="2857500" cy="13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480000"/>
            <a:ext cx="2550000" cy="300000"/>
          </a:xfrm>
          <a:prstGeom prst="rect">
            <a:avLst/>
          </a:prstGeom>
          <a:noFill/>
          <a:ln>
            <a:noFill/>
          </a:ln>
        </p:spPr>
        <p:txBody>
          <a:bodyPr wrap="square" lIns="0" tIns="0" rIns="0" bIns="0" anchor="t" anchorCtr="0">
            <a:spAutoFit/>
          </a:bodyPr>
          <a:lstStyle/>
          <a:p>
            <a:pPr>
              <a:spcBef>
                <a:spcPts val="0"/>
              </a:spcBef>
              <a:spcAft>
                <a:spcPts val="0"/>
              </a:spcAft>
            </a:pPr>
            <a:r>
              <a:rPr sz="1700" b="1">
                <a:solidFill>
                  <a:srgbClr val="1B1B1D"/>
                </a:solidFill>
              </a:rPr>
              <a:t>Repetition / distribution</a:t>
            </a:r>
          </a:p>
        </p:txBody>
      </p:sp>
      <p:sp>
        <p:nvSpPr>
          <p:cNvPr id="13" name="TextBox 13"/>
          <p:cNvSpPr txBox="1"/>
          <p:nvPr/>
        </p:nvSpPr>
        <p:spPr>
          <a:xfrm>
            <a:off x="8659749" y="3900000"/>
            <a:ext cx="2450000" cy="6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top5_freq_ratio</a:t>
            </a:r>
          </a:p>
          <a:p>
            <a:pPr>
              <a:spcBef>
                <a:spcPts val="0"/>
              </a:spcBef>
              <a:spcAft>
                <a:spcPts val="0"/>
              </a:spcAft>
            </a:pPr>
            <a:r>
              <a:rPr sz="1250">
                <a:solidFill>
                  <a:srgbClr val="526278"/>
                </a:solidFill>
              </a:rPr>
              <a:t>duplicate_ratio</a:t>
            </a:r>
          </a:p>
          <a:p>
            <a:pPr>
              <a:spcBef>
                <a:spcPts val="0"/>
              </a:spcBef>
              <a:spcAft>
                <a:spcPts val="0"/>
              </a:spcAft>
            </a:pPr>
            <a:r>
              <a:rPr sz="1250">
                <a:solidFill>
                  <a:srgbClr val="526278"/>
                </a:solidFill>
              </a:rPr>
              <a:t>entropy_ratio</a:t>
            </a:r>
          </a:p>
        </p:txBody>
      </p:sp>
      <p:sp>
        <p:nvSpPr>
          <p:cNvPr id="14" name="Freeform 14"/>
          <p:cNvSpPr/>
          <p:nvPr/>
        </p:nvSpPr>
        <p:spPr>
          <a:xfrm>
            <a:off x="8382000" y="4860000"/>
            <a:ext cx="2857500" cy="118000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5" name="TextBox 15"/>
          <p:cNvSpPr txBox="1"/>
          <p:nvPr/>
        </p:nvSpPr>
        <p:spPr>
          <a:xfrm>
            <a:off x="8658606" y="5120000"/>
            <a:ext cx="2450000" cy="300000"/>
          </a:xfrm>
          <a:prstGeom prst="rect">
            <a:avLst/>
          </a:prstGeom>
          <a:noFill/>
          <a:ln>
            <a:noFill/>
          </a:ln>
        </p:spPr>
        <p:txBody>
          <a:bodyPr wrap="square" lIns="0" tIns="0" rIns="0" bIns="0" anchor="t" anchorCtr="0">
            <a:spAutoFit/>
          </a:bodyPr>
          <a:lstStyle/>
          <a:p>
            <a:pPr>
              <a:spcBef>
                <a:spcPts val="0"/>
              </a:spcBef>
              <a:spcAft>
                <a:spcPts val="0"/>
              </a:spcAft>
            </a:pPr>
            <a:r>
              <a:rPr sz="1800" b="1">
                <a:solidFill>
                  <a:srgbClr val="1B1B1D"/>
                </a:solidFill>
              </a:rPr>
              <a:t>Size / scale</a:t>
            </a:r>
          </a:p>
        </p:txBody>
      </p:sp>
      <p:sp>
        <p:nvSpPr>
          <p:cNvPr id="16" name="TextBox 16"/>
          <p:cNvSpPr txBox="1"/>
          <p:nvPr/>
        </p:nvSpPr>
        <p:spPr>
          <a:xfrm>
            <a:off x="8659749" y="5520000"/>
            <a:ext cx="2450000" cy="420000"/>
          </a:xfrm>
          <a:prstGeom prst="rect">
            <a:avLst/>
          </a:prstGeom>
          <a:noFill/>
          <a:ln>
            <a:noFill/>
          </a:ln>
        </p:spPr>
        <p:txBody>
          <a:bodyPr wrap="square" lIns="0" tIns="0" rIns="0" bIns="0" anchor="t" anchorCtr="0">
            <a:spAutoFit/>
          </a:bodyPr>
          <a:lstStyle/>
          <a:p>
            <a:pPr>
              <a:spcBef>
                <a:spcPts val="0"/>
              </a:spcBef>
              <a:spcAft>
                <a:spcPts val="0"/>
              </a:spcAft>
            </a:pPr>
            <a:r>
              <a:rPr sz="1250">
                <a:solidFill>
                  <a:srgbClr val="526278"/>
                </a:solidFill>
              </a:rPr>
              <a:t>length_norm</a:t>
            </a:r>
          </a:p>
          <a:p>
            <a:pPr>
              <a:spcBef>
                <a:spcPts val="0"/>
              </a:spcBef>
              <a:spcAft>
                <a:spcPts val="0"/>
              </a:spcAft>
            </a:pPr>
            <a:r>
              <a:rPr sz="1250">
                <a:solidFill>
                  <a:srgbClr val="526278"/>
                </a:solidFill>
              </a:rPr>
              <a:t>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19/25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9A173D"/>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1B1B1D"/>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20/25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12700">
            <a:solidFill>
              <a:srgbClr val="DBE4EF"/>
            </a:solid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1B1B1D"/>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1B1B1D"/>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1B1B1D"/>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1B1B1D"/>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21/25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4511E"/>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1B1B1D"/>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22/25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23/25</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F8FAFC"/>
          </a:solidFill>
          <a:ln w="12700">
            <a:solidFill>
              <a:srgbClr val="DBE4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1B1B1D"/>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1B1B1D"/>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1B1B1D"/>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1B1B1D"/>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1B1B1D"/>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24/25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
        <p:nvSpPr>
          <p:cNvPr id="8" name="Rectangle 7"/>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25/25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input_sensitive_runtime_v1.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0" y="6591300"/>
            <a:ext cx="12192000" cy="266700"/>
          </a:xfrm>
          <a:prstGeom prst="rect">
            <a:avLst/>
          </a:prstGeom>
          <a:solidFill>
            <a:srgbClr val="9A1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92000" y="6619875"/>
            <a:ext cx="760000" cy="209550"/>
          </a:xfrm>
          <a:prstGeom prst="rect">
            <a:avLst/>
          </a:prstGeom>
          <a:noFill/>
        </p:spPr>
        <p:txBody>
          <a:bodyPr wrap="none" lIns="0" rIns="0" tIns="0" bIns="0">
            <a:spAutoFit/>
          </a:bodyPr>
          <a:lstStyle/>
          <a:p>
            <a:pPr algn="r"/>
            <a:r>
              <a:rPr sz="1000">
                <a:solidFill>
                  <a:srgbClr val="FFFFFF"/>
                </a:solidFill>
                <a:latin typeface="Arial"/>
              </a:rPr>
              <a:t>3/25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