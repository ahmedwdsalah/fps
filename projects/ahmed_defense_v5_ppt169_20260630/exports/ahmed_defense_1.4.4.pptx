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34b80d61ea4fc9" /><Relationship Type="http://schemas.openxmlformats.org/officeDocument/2006/relationships/extended-properties" Target="/docProps/app.xml" Id="R0b92fd758ce44370" /><Relationship Type="http://schemas.openxmlformats.org/officeDocument/2006/relationships/officeDocument" Target="/ppt/presentation.xml" Id="Rd18da57ec75d44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e69e319e7d4bf9"/>
  </p:sldMasterIdLst>
  <p:notesMasterIdLst>
    <p:notesMasterId xmlns:r="http://schemas.openxmlformats.org/officeDocument/2006/relationships" r:id="Re751a977912147cd"/>
  </p:notesMasterIdLst>
  <p:sldIdLst>
    <p:sldId xmlns:r="http://schemas.openxmlformats.org/officeDocument/2006/relationships" id="256" r:id="R43a34bba9c1f442c"/>
    <p:sldId xmlns:r="http://schemas.openxmlformats.org/officeDocument/2006/relationships" id="257" r:id="Rcf0e59e1fdbf4d58"/>
    <p:sldId xmlns:r="http://schemas.openxmlformats.org/officeDocument/2006/relationships" id="258" r:id="R83d65585d97d4d20"/>
    <p:sldId xmlns:r="http://schemas.openxmlformats.org/officeDocument/2006/relationships" id="259" r:id="R7731addd8b2942f5"/>
    <p:sldId xmlns:r="http://schemas.openxmlformats.org/officeDocument/2006/relationships" id="260" r:id="Rea26fd18f5434c2c"/>
    <p:sldId xmlns:r="http://schemas.openxmlformats.org/officeDocument/2006/relationships" id="261" r:id="R9b46eac685f34b0f"/>
    <p:sldId xmlns:r="http://schemas.openxmlformats.org/officeDocument/2006/relationships" id="262" r:id="R32f84bf409054485"/>
    <p:sldId xmlns:r="http://schemas.openxmlformats.org/officeDocument/2006/relationships" id="263" r:id="R92bf31c5f1c1466c"/>
    <p:sldId xmlns:r="http://schemas.openxmlformats.org/officeDocument/2006/relationships" id="264" r:id="R28e341e6c2ae4a1b"/>
    <p:sldId xmlns:r="http://schemas.openxmlformats.org/officeDocument/2006/relationships" id="265" r:id="R0d88648f7eff4302"/>
    <p:sldId xmlns:r="http://schemas.openxmlformats.org/officeDocument/2006/relationships" id="266" r:id="Re08edec76a7c4981"/>
    <p:sldId xmlns:r="http://schemas.openxmlformats.org/officeDocument/2006/relationships" id="267" r:id="R82207e3cbc5449dc"/>
    <p:sldId xmlns:r="http://schemas.openxmlformats.org/officeDocument/2006/relationships" id="268" r:id="R954a26b6062e4602"/>
    <p:sldId xmlns:r="http://schemas.openxmlformats.org/officeDocument/2006/relationships" id="269" r:id="R335862659e8f4a61"/>
    <p:sldId xmlns:r="http://schemas.openxmlformats.org/officeDocument/2006/relationships" id="270" r:id="R9d062a627f404d92"/>
    <p:sldId xmlns:r="http://schemas.openxmlformats.org/officeDocument/2006/relationships" id="271" r:id="R988d70b9b62245dd"/>
    <p:sldId xmlns:r="http://schemas.openxmlformats.org/officeDocument/2006/relationships" id="272" r:id="Rd9ff42e2b1364180"/>
    <p:sldId xmlns:r="http://schemas.openxmlformats.org/officeDocument/2006/relationships" id="273" r:id="R29186fd3fb8c4f1b"/>
    <p:sldId xmlns:r="http://schemas.openxmlformats.org/officeDocument/2006/relationships" id="274" r:id="Rea236b9a39584ec6"/>
    <p:sldId xmlns:r="http://schemas.openxmlformats.org/officeDocument/2006/relationships" id="275" r:id="R45fa733156f04341"/>
    <p:sldId xmlns:r="http://schemas.openxmlformats.org/officeDocument/2006/relationships" id="276" r:id="Redcaec2c42e64f71"/>
    <p:sldId xmlns:r="http://schemas.openxmlformats.org/officeDocument/2006/relationships" id="277" r:id="Ra910ca8052894ebb"/>
    <p:sldId xmlns:r="http://schemas.openxmlformats.org/officeDocument/2006/relationships" id="278" r:id="R7ddf74c658924c7c"/>
    <p:sldId xmlns:r="http://schemas.openxmlformats.org/officeDocument/2006/relationships" id="279" r:id="Ra8585ba8bbe64455"/>
    <p:sldId xmlns:r="http://schemas.openxmlformats.org/officeDocument/2006/relationships" id="280" r:id="Rf89fc432064b4f82"/>
    <p:sldId xmlns:r="http://schemas.openxmlformats.org/officeDocument/2006/relationships" id="281" r:id="Re8ed65b4cfa249a9"/>
    <p:sldId xmlns:r="http://schemas.openxmlformats.org/officeDocument/2006/relationships" id="282" r:id="R1b75d6b539b343e4"/>
    <p:sldId xmlns:r="http://schemas.openxmlformats.org/officeDocument/2006/relationships" id="283" r:id="R90ef976d8d3341f7"/>
  </p:sldIdLst>
  <p:sldSz cx="14630400" cy="82296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1b008364c34d84" /><Relationship Type="http://schemas.openxmlformats.org/officeDocument/2006/relationships/slideMaster" Target="/ppt/slideMasters/slideMaster1.xml" Id="R49e69e319e7d4bf9" /><Relationship Type="http://schemas.openxmlformats.org/officeDocument/2006/relationships/notesMaster" Target="/ppt/notesMasters/notesMaster1.xml" Id="Re751a977912147cd" /><Relationship Type="http://schemas.openxmlformats.org/officeDocument/2006/relationships/presProps" Target="/ppt/presProps.xml" Id="R0dded98899494540" /><Relationship Type="http://schemas.openxmlformats.org/officeDocument/2006/relationships/tableStyles" Target="/ppt/tableStyles.xml" Id="R9254542f674943c5" /><Relationship Type="http://schemas.openxmlformats.org/officeDocument/2006/relationships/slide" Target="/ppt/slides/slide1.xml" Id="R43a34bba9c1f442c" /><Relationship Type="http://schemas.openxmlformats.org/officeDocument/2006/relationships/slide" Target="/ppt/slides/slide2.xml" Id="Rcf0e59e1fdbf4d58" /><Relationship Type="http://schemas.openxmlformats.org/officeDocument/2006/relationships/slide" Target="/ppt/slides/slide3.xml" Id="R83d65585d97d4d20" /><Relationship Type="http://schemas.openxmlformats.org/officeDocument/2006/relationships/slide" Target="/ppt/slides/slide4.xml" Id="R7731addd8b2942f5" /><Relationship Type="http://schemas.openxmlformats.org/officeDocument/2006/relationships/slide" Target="/ppt/slides/slide5.xml" Id="Rea26fd18f5434c2c" /><Relationship Type="http://schemas.openxmlformats.org/officeDocument/2006/relationships/slide" Target="/ppt/slides/slide6.xml" Id="R9b46eac685f34b0f" /><Relationship Type="http://schemas.openxmlformats.org/officeDocument/2006/relationships/slide" Target="/ppt/slides/slide7.xml" Id="R32f84bf409054485" /><Relationship Type="http://schemas.openxmlformats.org/officeDocument/2006/relationships/slide" Target="/ppt/slides/slide8.xml" Id="R92bf31c5f1c1466c" /><Relationship Type="http://schemas.openxmlformats.org/officeDocument/2006/relationships/slide" Target="/ppt/slides/slide9.xml" Id="R28e341e6c2ae4a1b" /><Relationship Type="http://schemas.openxmlformats.org/officeDocument/2006/relationships/slide" Target="/ppt/slides/slide10.xml" Id="R0d88648f7eff4302" /><Relationship Type="http://schemas.openxmlformats.org/officeDocument/2006/relationships/slide" Target="/ppt/slides/slide11.xml" Id="Re08edec76a7c4981" /><Relationship Type="http://schemas.openxmlformats.org/officeDocument/2006/relationships/slide" Target="/ppt/slides/slide12.xml" Id="R82207e3cbc5449dc" /><Relationship Type="http://schemas.openxmlformats.org/officeDocument/2006/relationships/slide" Target="/ppt/slides/slide13.xml" Id="R954a26b6062e4602" /><Relationship Type="http://schemas.openxmlformats.org/officeDocument/2006/relationships/slide" Target="/ppt/slides/slide14.xml" Id="R335862659e8f4a61" /><Relationship Type="http://schemas.openxmlformats.org/officeDocument/2006/relationships/slide" Target="/ppt/slides/slide15.xml" Id="R9d062a627f404d92" /><Relationship Type="http://schemas.openxmlformats.org/officeDocument/2006/relationships/slide" Target="/ppt/slides/slide16.xml" Id="R988d70b9b62245dd" /><Relationship Type="http://schemas.openxmlformats.org/officeDocument/2006/relationships/slide" Target="/ppt/slides/slide17.xml" Id="Rd9ff42e2b1364180" /><Relationship Type="http://schemas.openxmlformats.org/officeDocument/2006/relationships/slide" Target="/ppt/slides/slide18.xml" Id="R29186fd3fb8c4f1b" /><Relationship Type="http://schemas.openxmlformats.org/officeDocument/2006/relationships/slide" Target="/ppt/slides/slide19.xml" Id="Rea236b9a39584ec6" /><Relationship Type="http://schemas.openxmlformats.org/officeDocument/2006/relationships/slide" Target="/ppt/slides/slide20.xml" Id="R45fa733156f04341" /><Relationship Type="http://schemas.openxmlformats.org/officeDocument/2006/relationships/slide" Target="/ppt/slides/slide21.xml" Id="Redcaec2c42e64f71" /><Relationship Type="http://schemas.openxmlformats.org/officeDocument/2006/relationships/slide" Target="/ppt/slides/slide22.xml" Id="Ra910ca8052894ebb" /><Relationship Type="http://schemas.openxmlformats.org/officeDocument/2006/relationships/slide" Target="/ppt/slides/slide23.xml" Id="R7ddf74c658924c7c" /><Relationship Type="http://schemas.openxmlformats.org/officeDocument/2006/relationships/slide" Target="/ppt/slides/slide24.xml" Id="Ra8585ba8bbe64455" /><Relationship Type="http://schemas.openxmlformats.org/officeDocument/2006/relationships/slide" Target="/ppt/slides/slide25.xml" Id="Rf89fc432064b4f82" /><Relationship Type="http://schemas.openxmlformats.org/officeDocument/2006/relationships/slide" Target="/ppt/slides/slide26.xml" Id="Re8ed65b4cfa249a9" /><Relationship Type="http://schemas.openxmlformats.org/officeDocument/2006/relationships/slide" Target="/ppt/slides/slide27.xml" Id="R1b75d6b539b343e4" /><Relationship Type="http://schemas.openxmlformats.org/officeDocument/2006/relationships/slide" Target="/ppt/slides/slide28.xml" Id="R90ef976d8d3341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1f31e08c284d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196152442d4a77" /><Relationship Type="http://schemas.openxmlformats.org/officeDocument/2006/relationships/notesMaster" Target="/ppt/notesMasters/notesMaster1.xml" Id="R05c399856f204b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86cb07e4f94eb7" /><Relationship Type="http://schemas.openxmlformats.org/officeDocument/2006/relationships/notesMaster" Target="/ppt/notesMasters/notesMaster1.xml" Id="R485f3bbc091c4e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412679b7374c5b" /><Relationship Type="http://schemas.openxmlformats.org/officeDocument/2006/relationships/notesMaster" Target="/ppt/notesMasters/notesMaster1.xml" Id="Rc38eb3d8d78d42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dac1c130cd4975" /><Relationship Type="http://schemas.openxmlformats.org/officeDocument/2006/relationships/notesMaster" Target="/ppt/notesMasters/notesMaster1.xml" Id="R7c3157bfb60246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249f6ea3434944" /><Relationship Type="http://schemas.openxmlformats.org/officeDocument/2006/relationships/notesMaster" Target="/ppt/notesMasters/notesMaster1.xml" Id="Rda88ca40cba741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f455a2192c4f14" /><Relationship Type="http://schemas.openxmlformats.org/officeDocument/2006/relationships/notesMaster" Target="/ppt/notesMasters/notesMaster1.xml" Id="R95d5e26a84d74d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792815dcfd41d0" /><Relationship Type="http://schemas.openxmlformats.org/officeDocument/2006/relationships/notesMaster" Target="/ppt/notesMasters/notesMaster1.xml" Id="R7fdd0d2f7d3843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251abb0c4845d9" /><Relationship Type="http://schemas.openxmlformats.org/officeDocument/2006/relationships/notesMaster" Target="/ppt/notesMasters/notesMaster1.xml" Id="Re4027a4d3efb4d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7001b291ce445a" /><Relationship Type="http://schemas.openxmlformats.org/officeDocument/2006/relationships/notesMaster" Target="/ppt/notesMasters/notesMaster1.xml" Id="R91f0eb927037457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244d60c11ca4478" /><Relationship Type="http://schemas.openxmlformats.org/officeDocument/2006/relationships/notesMaster" Target="/ppt/notesMasters/notesMaster1.xml" Id="R342a54c0c0334a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e4e891851f496d" /><Relationship Type="http://schemas.openxmlformats.org/officeDocument/2006/relationships/notesMaster" Target="/ppt/notesMasters/notesMaster1.xml" Id="R2e10875e0bd2410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e8c9ebef02b4f8f" /><Relationship Type="http://schemas.openxmlformats.org/officeDocument/2006/relationships/notesMaster" Target="/ppt/notesMasters/notesMaster1.xml" Id="R6f199c8a03164db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78aefe70a0547bc" /><Relationship Type="http://schemas.openxmlformats.org/officeDocument/2006/relationships/notesMaster" Target="/ppt/notesMasters/notesMaster1.xml" Id="R40bfe2cfcff5462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eee57a0342a477c" /><Relationship Type="http://schemas.openxmlformats.org/officeDocument/2006/relationships/notesMaster" Target="/ppt/notesMasters/notesMaster1.xml" Id="Rfebaf6cc75f4475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eeb2d577ad446d8" /><Relationship Type="http://schemas.openxmlformats.org/officeDocument/2006/relationships/notesMaster" Target="/ppt/notesMasters/notesMaster1.xml" Id="R43391cbea18b45b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03a7d7754054a60" /><Relationship Type="http://schemas.openxmlformats.org/officeDocument/2006/relationships/notesMaster" Target="/ppt/notesMasters/notesMaster1.xml" Id="R6f905e8ada69407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b9809c09003428b" /><Relationship Type="http://schemas.openxmlformats.org/officeDocument/2006/relationships/notesMaster" Target="/ppt/notesMasters/notesMaster1.xml" Id="Rf66978499f78436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bff4bf896244a04" /><Relationship Type="http://schemas.openxmlformats.org/officeDocument/2006/relationships/notesMaster" Target="/ppt/notesMasters/notesMaster1.xml" Id="Re9ae9b0b2f7b414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bb1ea64a41042fa" /><Relationship Type="http://schemas.openxmlformats.org/officeDocument/2006/relationships/notesMaster" Target="/ppt/notesMasters/notesMaster1.xml" Id="Rd10e619d2cc64b0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8a6d1a1fe9b423c" /><Relationship Type="http://schemas.openxmlformats.org/officeDocument/2006/relationships/notesMaster" Target="/ppt/notesMasters/notesMaster1.xml" Id="Ree56c53be01143d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8e8e1490aeb4b3e" /><Relationship Type="http://schemas.openxmlformats.org/officeDocument/2006/relationships/notesMaster" Target="/ppt/notesMasters/notesMaster1.xml" Id="Rb170f555db2c4c6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9051baaf25e4c4c" /><Relationship Type="http://schemas.openxmlformats.org/officeDocument/2006/relationships/notesMaster" Target="/ppt/notesMasters/notesMaster1.xml" Id="Rbba6f383ef51419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f6b91955b7e4f29" /><Relationship Type="http://schemas.openxmlformats.org/officeDocument/2006/relationships/notesMaster" Target="/ppt/notesMasters/notesMaster1.xml" Id="R33128679206349a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f577bf913aa4d40" /><Relationship Type="http://schemas.openxmlformats.org/officeDocument/2006/relationships/notesMaster" Target="/ppt/notesMasters/notesMaster1.xml" Id="R8210ae73581c404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81ae40852cb4223" /><Relationship Type="http://schemas.openxmlformats.org/officeDocument/2006/relationships/notesMaster" Target="/ppt/notesMasters/notesMaster1.xml" Id="R80eec2c849b0447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d9f0d36836e402f" /><Relationship Type="http://schemas.openxmlformats.org/officeDocument/2006/relationships/notesMaster" Target="/ppt/notesMasters/notesMaster1.xml" Id="Rc37bf728a98e4fe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6f83816dd4543a8" /><Relationship Type="http://schemas.openxmlformats.org/officeDocument/2006/relationships/notesMaster" Target="/ppt/notesMasters/notesMaster1.xml" Id="Rdf18fb51f8a045f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a7aa3baf22b424f" /><Relationship Type="http://schemas.openxmlformats.org/officeDocument/2006/relationships/notesMaster" Target="/ppt/notesMasters/notesMaster1.xml" Id="Re68b2de0d88d41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3a52bb013f46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8b7fdc814e4a6d" /><Relationship Type="http://schemas.openxmlformats.org/officeDocument/2006/relationships/slideLayout" Target="/ppt/slideLayouts/slideLayout1.xml" Id="R912b7bc794b841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2b7bc794b841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5c5fb752f4fb1" /><Relationship Type="http://schemas.openxmlformats.org/officeDocument/2006/relationships/image" Target="/ppt/media/image.png" Id="R6bea57e22b31475c" /><Relationship Type="http://schemas.openxmlformats.org/officeDocument/2006/relationships/notesSlide" Target="/ppt/notesSlides/notesSlide1.xml" Id="Rd647efe4e07140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197ca79b7e4bb3" /><Relationship Type="http://schemas.openxmlformats.org/officeDocument/2006/relationships/notesSlide" Target="/ppt/notesSlides/notesSlide2.xml" Id="Re0cda746e13545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716269fee4404" /><Relationship Type="http://schemas.openxmlformats.org/officeDocument/2006/relationships/notesSlide" Target="/ppt/notesSlides/notesSlide3.xml" Id="R9947320bdb2445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b33be6b6094d20" /><Relationship Type="http://schemas.openxmlformats.org/officeDocument/2006/relationships/notesSlide" Target="/ppt/notesSlides/notesSlide4.xml" Id="Rd074ee5bdb4449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8e7375cb934c98" /><Relationship Type="http://schemas.openxmlformats.org/officeDocument/2006/relationships/notesSlide" Target="/ppt/notesSlides/notesSlide5.xml" Id="R7b9b1d0bfca64e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299f775bdd45a5" /><Relationship Type="http://schemas.openxmlformats.org/officeDocument/2006/relationships/notesSlide" Target="/ppt/notesSlides/notesSlide6.xml" Id="R2be9daa074d849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43134de9e1466b" /><Relationship Type="http://schemas.openxmlformats.org/officeDocument/2006/relationships/notesSlide" Target="/ppt/notesSlides/notesSlide7.xml" Id="Rfc2a8e8d8b9541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43639c4a548e1" /><Relationship Type="http://schemas.openxmlformats.org/officeDocument/2006/relationships/notesSlide" Target="/ppt/notesSlides/notesSlide8.xml" Id="R4db779c41aaf4f1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cab97571f4416" /><Relationship Type="http://schemas.openxmlformats.org/officeDocument/2006/relationships/notesSlide" Target="/ppt/notesSlides/notesSlide9.xml" Id="R6a18073bc9d8419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876b3c5664f25" /><Relationship Type="http://schemas.openxmlformats.org/officeDocument/2006/relationships/notesSlide" Target="/ppt/notesSlides/notesSlide10.xml" Id="Rab811db01573451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a8970796043d9" /><Relationship Type="http://schemas.openxmlformats.org/officeDocument/2006/relationships/notesSlide" Target="/ppt/notesSlides/notesSlide11.xml" Id="R141a8dcef58d404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232e47bed4490" /><Relationship Type="http://schemas.openxmlformats.org/officeDocument/2006/relationships/notesSlide" Target="/ppt/notesSlides/notesSlide12.xml" Id="Raf7c8bee5d004e3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0b6d52c1a4fd1" /><Relationship Type="http://schemas.openxmlformats.org/officeDocument/2006/relationships/notesSlide" Target="/ppt/notesSlides/notesSlide13.xml" Id="R42e946ed8c094f3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174faaa2554887" /><Relationship Type="http://schemas.openxmlformats.org/officeDocument/2006/relationships/notesSlide" Target="/ppt/notesSlides/notesSlide14.xml" Id="R77be9271c1d941e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e7165114b4653" /><Relationship Type="http://schemas.openxmlformats.org/officeDocument/2006/relationships/notesSlide" Target="/ppt/notesSlides/notesSlide15.xml" Id="Rf35708d12f934ac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5b58192ca548c2" /><Relationship Type="http://schemas.openxmlformats.org/officeDocument/2006/relationships/notesSlide" Target="/ppt/notesSlides/notesSlide16.xml" Id="R0cec29b4389240a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47cc82dea42ad" /><Relationship Type="http://schemas.openxmlformats.org/officeDocument/2006/relationships/notesSlide" Target="/ppt/notesSlides/notesSlide17.xml" Id="R25b186171fae42e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51272c83e46dc" /><Relationship Type="http://schemas.openxmlformats.org/officeDocument/2006/relationships/notesSlide" Target="/ppt/notesSlides/notesSlide18.xml" Id="R93e6efe6802e466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3ee2310254268" /><Relationship Type="http://schemas.openxmlformats.org/officeDocument/2006/relationships/notesSlide" Target="/ppt/notesSlides/notesSlide19.xml" Id="R991121ae8f584ae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0b7bf16db45b8" /><Relationship Type="http://schemas.openxmlformats.org/officeDocument/2006/relationships/notesSlide" Target="/ppt/notesSlides/notesSlide20.xml" Id="R48c0c651c0b047d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01d25738440d1" /><Relationship Type="http://schemas.openxmlformats.org/officeDocument/2006/relationships/notesSlide" Target="/ppt/notesSlides/notesSlide21.xml" Id="R8aa494b17f414da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9c3ec871b4660" /><Relationship Type="http://schemas.openxmlformats.org/officeDocument/2006/relationships/notesSlide" Target="/ppt/notesSlides/notesSlide22.xml" Id="R505ea639f729458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97ed5f2e904b1c" /><Relationship Type="http://schemas.openxmlformats.org/officeDocument/2006/relationships/notesSlide" Target="/ppt/notesSlides/notesSlide23.xml" Id="Rccb82bf9ab8c4ba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7aaa14b344ad6" /><Relationship Type="http://schemas.openxmlformats.org/officeDocument/2006/relationships/notesSlide" Target="/ppt/notesSlides/notesSlide24.xml" Id="R7d4aaaa2863f44d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d4709cc7046e8" /><Relationship Type="http://schemas.openxmlformats.org/officeDocument/2006/relationships/notesSlide" Target="/ppt/notesSlides/notesSlide25.xml" Id="Reec0b11c745a43b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5e5b52bf6f42ac" /><Relationship Type="http://schemas.openxmlformats.org/officeDocument/2006/relationships/notesSlide" Target="/ppt/notesSlides/notesSlide26.xml" Id="Ra4170dad4ccb439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3dad0b3874fea" /><Relationship Type="http://schemas.openxmlformats.org/officeDocument/2006/relationships/notesSlide" Target="/ppt/notesSlides/notesSlide27.xml" Id="R8b64ce4e1d1f436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b0ad0358f4479" /><Relationship Type="http://schemas.openxmlformats.org/officeDocument/2006/relationships/notesSlide" Target="/ppt/notesSlides/notesSlide28.xml" Id="Rdf758df3da7e4f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86338188-9078-4D2B-A90F-A0B1A980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2EF031D4-F325-4B46-B529-97F64624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A2168E25-5DBF-4FAD-BE66-8005121C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27F1DEE7-6905-412C-8E09-6288A246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1/28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E184B4A4-28AE-48E9-BC69-B4EAF1A6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314450"/>
            <a:ext cx="9486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MACHINE LEARNING BASED ALGORITHM SELECTION FOR</a:t>
            </a:r>
          </a:p>
        </p:txBody>
      </p:sp>
      <p:sp>
        <p:nvSpPr>
          <p:cNvPr id="6" name="title-2">
            <a:extLst xmlns:a="http://schemas.openxmlformats.org/drawingml/2006/main">
              <a:ext uri="{FF2B5EF4-FFF2-40B4-BE49-F238E27FC236}">
                <a16:creationId xmlns:a16="http://schemas.microsoft.com/office/drawing/2014/main" id="{EE67E0F7-FB93-4252-96A8-DC748A7C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38350"/>
            <a:ext cx="948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SORTING NUMERIC ARRAYS</a:t>
            </a:r>
          </a:p>
        </p:txBody>
      </p:sp>
      <p:sp>
        <p:nvSpPr>
          <p:cNvPr id="7" name="title-main-rule">
            <a:extLst xmlns:a="http://schemas.openxmlformats.org/drawingml/2006/main">
              <a:ext uri="{FF2B5EF4-FFF2-40B4-BE49-F238E27FC236}">
                <a16:creationId xmlns:a16="http://schemas.microsoft.com/office/drawing/2014/main" id="{852EEC96-D144-4A30-9C4B-D6264D60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28950"/>
            <a:ext cx="9486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F1D3A"/>
            </a:solidFill>
            <a:prstDash val="solid"/>
          </a:ln>
        </p:spPr>
      </p:sp>
      <p:sp>
        <p:nvSpPr>
          <p:cNvPr id="8" name="presented-by">
            <a:extLst xmlns:a="http://schemas.openxmlformats.org/drawingml/2006/main">
              <a:ext uri="{FF2B5EF4-FFF2-40B4-BE49-F238E27FC236}">
                <a16:creationId xmlns:a16="http://schemas.microsoft.com/office/drawing/2014/main" id="{A013D371-4DA3-4ED5-8B70-65E6614C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766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7180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718096"/>
                </a:solidFill>
                <a:latin typeface="Times New Roman"/>
                <a:ea typeface="Times New Roman"/>
                <a:cs typeface="Times New Roman"/>
              </a:rPr>
              <a:t>Presented by</a:t>
            </a:r>
          </a:p>
        </p:txBody>
      </p:sp>
      <p:sp>
        <p:nvSpPr>
          <p:cNvPr id="9" name="ahmed">
            <a:extLst xmlns:a="http://schemas.openxmlformats.org/drawingml/2006/main">
              <a:ext uri="{FF2B5EF4-FFF2-40B4-BE49-F238E27FC236}">
                <a16:creationId xmlns:a16="http://schemas.microsoft.com/office/drawing/2014/main" id="{E2C9B84A-324B-4EB3-9D99-25CD42C3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195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AHMED SALAH ABDALHI MOHAMMED</a:t>
            </a:r>
          </a:p>
        </p:txBody>
      </p:sp>
      <p:sp>
        <p:nvSpPr>
          <p:cNvPr id="10" name="supervised-by">
            <a:extLst xmlns:a="http://schemas.openxmlformats.org/drawingml/2006/main">
              <a:ext uri="{FF2B5EF4-FFF2-40B4-BE49-F238E27FC236}">
                <a16:creationId xmlns:a16="http://schemas.microsoft.com/office/drawing/2014/main" id="{9FCF1D41-6757-47C4-BA19-C7FF86E3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5339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7180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718096"/>
                </a:solidFill>
                <a:latin typeface="Times New Roman"/>
                <a:ea typeface="Times New Roman"/>
                <a:cs typeface="Times New Roman"/>
              </a:rPr>
              <a:t>Supervised by</a:t>
            </a:r>
          </a:p>
        </p:txBody>
      </p:sp>
      <p:sp>
        <p:nvSpPr>
          <p:cNvPr id="11" name="supervisor">
            <a:extLst xmlns:a="http://schemas.openxmlformats.org/drawingml/2006/main">
              <a:ext uri="{FF2B5EF4-FFF2-40B4-BE49-F238E27FC236}">
                <a16:creationId xmlns:a16="http://schemas.microsoft.com/office/drawing/2014/main" id="{9CBDC2B1-5871-4D20-B418-6C170FDB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768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Assoc. Prof. Dr. Emre Özbilge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ea57e22b31475c"/>
          <a:stretch xmlns:a="http://schemas.openxmlformats.org/drawingml/2006/main"/>
        </p:blipFill>
        <p:spPr>
          <a:xfrm xmlns:a="http://schemas.openxmlformats.org/drawingml/2006/main">
            <a:off x="12477750" y="190500"/>
            <a:ext cx="438150" cy="438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9495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DF559F26-92CC-4111-9715-73FC441E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758F38A8-2ECE-420B-9D5E-A444B4A2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D7023848-5B53-4609-AFB6-AE115F55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7EF33A5-C015-4F34-BA5F-1573DC65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Research Objective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5230C8FA-D5A1-4966-A878-0E19F2BF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2AB28ADC-59FC-471C-A50E-7D578A5D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2/28</a:t>
            </a:r>
          </a:p>
        </p:txBody>
      </p:sp>
      <p:sp>
        <p:nvSpPr>
          <p:cNvPr id="7" name="formula-band">
            <a:extLst xmlns:a="http://schemas.openxmlformats.org/drawingml/2006/main">
              <a:ext uri="{FF2B5EF4-FFF2-40B4-BE49-F238E27FC236}">
                <a16:creationId xmlns:a16="http://schemas.microsoft.com/office/drawing/2014/main" id="{C4E77197-AC0F-4F2B-B216-9653374F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66850"/>
            <a:ext cx="1196340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objective-formula">
            <a:extLst xmlns:a="http://schemas.openxmlformats.org/drawingml/2006/main">
              <a:ext uri="{FF2B5EF4-FFF2-40B4-BE49-F238E27FC236}">
                <a16:creationId xmlns:a16="http://schemas.microsoft.com/office/drawing/2014/main" id="{CA40A131-1488-46DE-B537-15617380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628775"/>
            <a:ext cx="11315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rPr>
              <a:t>S : f(x) → A</a:t>
            </a:r>
            <a:r>
              <a:rPr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    reduce expected regret with respect to the oracle</a:t>
            </a:r>
          </a:p>
        </p:txBody>
      </p:sp>
      <p:sp>
        <p:nvSpPr>
          <p:cNvPr id="9" name="proof-n-0">
            <a:extLst xmlns:a="http://schemas.openxmlformats.org/drawingml/2006/main">
              <a:ext uri="{FF2B5EF4-FFF2-40B4-BE49-F238E27FC236}">
                <a16:creationId xmlns:a16="http://schemas.microsoft.com/office/drawing/2014/main" id="{A5BCEF99-B07A-45CD-ADBD-DDD18F58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146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10" name="proof-row-0">
            <a:extLst xmlns:a="http://schemas.openxmlformats.org/drawingml/2006/main">
              <a:ext uri="{FF2B5EF4-FFF2-40B4-BE49-F238E27FC236}">
                <a16:creationId xmlns:a16="http://schemas.microsoft.com/office/drawing/2014/main" id="{AD82DD05-CE68-4489-8294-BDEC7824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95575"/>
            <a:ext cx="11410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Compact structural features: </a:t>
            </a:r>
            <a:r>
              <a:rPr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informative for algorithm selection and inexpensive to extract</a:t>
            </a:r>
          </a:p>
        </p:txBody>
      </p:sp>
      <p:sp>
        <p:nvSpPr>
          <p:cNvPr id="11" name="proof-row-line-0">
            <a:extLst xmlns:a="http://schemas.openxmlformats.org/drawingml/2006/main">
              <a:ext uri="{FF2B5EF4-FFF2-40B4-BE49-F238E27FC236}">
                <a16:creationId xmlns:a16="http://schemas.microsoft.com/office/drawing/2014/main" id="{E053ABB2-3E8E-4265-89D9-024E4E9F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95675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  <p:sp>
        <p:nvSpPr>
          <p:cNvPr id="12" name="proof-n-1">
            <a:extLst xmlns:a="http://schemas.openxmlformats.org/drawingml/2006/main">
              <a:ext uri="{FF2B5EF4-FFF2-40B4-BE49-F238E27FC236}">
                <a16:creationId xmlns:a16="http://schemas.microsoft.com/office/drawing/2014/main" id="{91A3EC64-57E1-4C74-B3D4-15816C4B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290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3" name="proof-row-1">
            <a:extLst xmlns:a="http://schemas.openxmlformats.org/drawingml/2006/main">
              <a:ext uri="{FF2B5EF4-FFF2-40B4-BE49-F238E27FC236}">
                <a16:creationId xmlns:a16="http://schemas.microsoft.com/office/drawing/2014/main" id="{046376E9-3016-4EA5-9F70-9EA4AB09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09975"/>
            <a:ext cx="11410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Offline XGBoost model: </a:t>
            </a:r>
            <a:r>
              <a:rPr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train and evaluate per-instance algorithm selection</a:t>
            </a:r>
          </a:p>
        </p:txBody>
      </p:sp>
      <p:sp>
        <p:nvSpPr>
          <p:cNvPr id="14" name="proof-row-line-1">
            <a:extLst xmlns:a="http://schemas.openxmlformats.org/drawingml/2006/main">
              <a:ext uri="{FF2B5EF4-FFF2-40B4-BE49-F238E27FC236}">
                <a16:creationId xmlns:a16="http://schemas.microsoft.com/office/drawing/2014/main" id="{FA703DCF-CCC8-45B2-96F8-1B9D7BE9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10075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  <p:sp>
        <p:nvSpPr>
          <p:cNvPr id="15" name="proof-n-2">
            <a:extLst xmlns:a="http://schemas.openxmlformats.org/drawingml/2006/main">
              <a:ext uri="{FF2B5EF4-FFF2-40B4-BE49-F238E27FC236}">
                <a16:creationId xmlns:a16="http://schemas.microsoft.com/office/drawing/2014/main" id="{5172EEF6-C3E7-4C4E-B94F-320CDD80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434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6" name="proof-row-2">
            <a:extLst xmlns:a="http://schemas.openxmlformats.org/drawingml/2006/main">
              <a:ext uri="{FF2B5EF4-FFF2-40B4-BE49-F238E27FC236}">
                <a16:creationId xmlns:a16="http://schemas.microsoft.com/office/drawing/2014/main" id="{921F7108-DEB3-4746-97DD-F4148F4E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24375"/>
            <a:ext cx="11410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Leakage-resistant evaluation: </a:t>
            </a:r>
            <a:r>
              <a:rPr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valid selection-under-ignorance protocol</a:t>
            </a:r>
          </a:p>
        </p:txBody>
      </p:sp>
      <p:sp>
        <p:nvSpPr>
          <p:cNvPr id="17" name="proof-row-line-2">
            <a:extLst xmlns:a="http://schemas.openxmlformats.org/drawingml/2006/main">
              <a:ext uri="{FF2B5EF4-FFF2-40B4-BE49-F238E27FC236}">
                <a16:creationId xmlns:a16="http://schemas.microsoft.com/office/drawing/2014/main" id="{286C0E25-DE60-436E-A56C-19E7120D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24475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  <p:sp>
        <p:nvSpPr>
          <p:cNvPr id="18" name="proof-n-3">
            <a:extLst xmlns:a="http://schemas.openxmlformats.org/drawingml/2006/main">
              <a:ext uri="{FF2B5EF4-FFF2-40B4-BE49-F238E27FC236}">
                <a16:creationId xmlns:a16="http://schemas.microsoft.com/office/drawing/2014/main" id="{D99E5460-468A-4E53-917C-C540E0C2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578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19" name="proof-row-3">
            <a:extLst xmlns:a="http://schemas.openxmlformats.org/drawingml/2006/main">
              <a:ext uri="{FF2B5EF4-FFF2-40B4-BE49-F238E27FC236}">
                <a16:creationId xmlns:a16="http://schemas.microsoft.com/office/drawing/2014/main" id="{DC31009F-0C22-4CB8-B369-19846257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38775"/>
            <a:ext cx="11410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Reproducible Python library: </a:t>
            </a:r>
            <a:r>
              <a:rPr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package the complete method for deployment and further research</a:t>
            </a:r>
          </a:p>
        </p:txBody>
      </p:sp>
      <p:sp>
        <p:nvSpPr>
          <p:cNvPr id="20" name="proof-row-line-3">
            <a:extLst xmlns:a="http://schemas.openxmlformats.org/drawingml/2006/main">
              <a:ext uri="{FF2B5EF4-FFF2-40B4-BE49-F238E27FC236}">
                <a16:creationId xmlns:a16="http://schemas.microsoft.com/office/drawing/2014/main" id="{871836D2-CEE7-4F93-9328-9BA923F8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238875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825180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F92A1611-DB85-40A9-B4E0-E14B2469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447C542D-A240-40EA-BD4A-A197283A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ED60F375-A8F9-4E87-8CA0-E0FF7EE4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9B615BB-A106-4604-91D2-85EFED89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Prediction is made before any candidate algorithm is executed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4963FCDE-9899-49DF-93B1-58C86869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1AAFA8BA-121F-4BA6-9410-EFF1604B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3/28</a:t>
            </a:r>
          </a:p>
        </p:txBody>
      </p:sp>
      <p:sp>
        <p:nvSpPr>
          <p:cNvPr id="7" name="allowed">
            <a:extLst xmlns:a="http://schemas.openxmlformats.org/drawingml/2006/main">
              <a:ext uri="{FF2B5EF4-FFF2-40B4-BE49-F238E27FC236}">
                <a16:creationId xmlns:a16="http://schemas.microsoft.com/office/drawing/2014/main" id="{9F713F5F-AA6F-4CEB-A7E2-F6FD3DC3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66875"/>
            <a:ext cx="4762500" cy="2524125"/>
          </a:xfrm>
          <a:prstGeom xmlns:a="http://schemas.openxmlformats.org/drawingml/2006/main" prst="roundRect">
            <a:avLst>
              <a:gd name="adj" fmla="val 22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allowed-title">
            <a:extLst xmlns:a="http://schemas.openxmlformats.org/drawingml/2006/main">
              <a:ext uri="{FF2B5EF4-FFF2-40B4-BE49-F238E27FC236}">
                <a16:creationId xmlns:a16="http://schemas.microsoft.com/office/drawing/2014/main" id="{9DA83F87-35EB-479F-99FD-CB735159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19275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Allowed before sorting</a:t>
            </a:r>
          </a:p>
        </p:txBody>
      </p:sp>
      <p:sp>
        <p:nvSpPr>
          <p:cNvPr id="9" name="allowed-body">
            <a:extLst xmlns:a="http://schemas.openxmlformats.org/drawingml/2006/main">
              <a:ext uri="{FF2B5EF4-FFF2-40B4-BE49-F238E27FC236}">
                <a16:creationId xmlns:a16="http://schemas.microsoft.com/office/drawing/2014/main" id="{303139C0-E7B9-4B82-A2C8-37332A5E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3125"/>
            <a:ext cx="441960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Extract O(n) features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Measure order, runs, repetition, distribution, robust scale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Predict introsort, heapsort, or timsort</a:t>
            </a:r>
          </a:p>
        </p:txBody>
      </p:sp>
      <p:sp>
        <p:nvSpPr>
          <p:cNvPr id="10" name="blocked">
            <a:extLst xmlns:a="http://schemas.openxmlformats.org/drawingml/2006/main">
              <a:ext uri="{FF2B5EF4-FFF2-40B4-BE49-F238E27FC236}">
                <a16:creationId xmlns:a16="http://schemas.microsoft.com/office/drawing/2014/main" id="{2E509A0D-7020-467A-B7BA-E6E8D6EB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66875"/>
            <a:ext cx="4762500" cy="2524125"/>
          </a:xfrm>
          <a:prstGeom xmlns:a="http://schemas.openxmlformats.org/drawingml/2006/main" prst="roundRect">
            <a:avLst>
              <a:gd name="adj" fmla="val 22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blocked-title">
            <a:extLst xmlns:a="http://schemas.openxmlformats.org/drawingml/2006/main">
              <a:ext uri="{FF2B5EF4-FFF2-40B4-BE49-F238E27FC236}">
                <a16:creationId xmlns:a16="http://schemas.microsoft.com/office/drawing/2014/main" id="{13D9D575-7B5E-4AAE-9748-8AD4FEF1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819275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Not allowed at prediction time</a:t>
            </a:r>
          </a:p>
        </p:txBody>
      </p:sp>
      <p:sp>
        <p:nvSpPr>
          <p:cNvPr id="12" name="blocked-body">
            <a:extLst xmlns:a="http://schemas.openxmlformats.org/drawingml/2006/main">
              <a:ext uri="{FF2B5EF4-FFF2-40B4-BE49-F238E27FC236}">
                <a16:creationId xmlns:a16="http://schemas.microsoft.com/office/drawing/2014/main" id="{61FE3ACD-697D-411D-9DDA-3939BD7C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143125"/>
            <a:ext cx="441960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Sort with introsort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Sort with heapsort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Sort with timsort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Pick after seeing all times</a:t>
            </a:r>
          </a:p>
        </p:txBody>
      </p:sp>
      <p:sp>
        <p:nvSpPr>
          <p:cNvPr id="13" name="allowed-arrow-from">
            <a:extLst xmlns:a="http://schemas.openxmlformats.org/drawingml/2006/main">
              <a:ext uri="{FF2B5EF4-FFF2-40B4-BE49-F238E27FC236}">
                <a16:creationId xmlns:a16="http://schemas.microsoft.com/office/drawing/2014/main" id="{2F0069AC-BB0B-4540-9E5D-8D16864A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337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llowed-arrow-to">
            <a:extLst xmlns:a="http://schemas.openxmlformats.org/drawingml/2006/main">
              <a:ext uri="{FF2B5EF4-FFF2-40B4-BE49-F238E27FC236}">
                <a16:creationId xmlns:a16="http://schemas.microsoft.com/office/drawing/2014/main" id="{C1299B67-7391-4CC4-96D0-999DA081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337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1" name="allowed-arrow"/>
          <p:cNvCxnSpPr>
            <a:stCxn xmlns:a="http://schemas.openxmlformats.org/drawingml/2006/main" id="13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6543675" y="2943225"/>
            <a:ext cx="13620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16" name="oracle">
            <a:extLst xmlns:a="http://schemas.openxmlformats.org/drawingml/2006/main">
              <a:ext uri="{FF2B5EF4-FFF2-40B4-BE49-F238E27FC236}">
                <a16:creationId xmlns:a16="http://schemas.microsoft.com/office/drawing/2014/main" id="{33298FC3-FB1D-4F6B-B03F-0F3013C7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86375"/>
            <a:ext cx="948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The oracle is used only for evaluation; it is not available at run time.</a:t>
            </a:r>
          </a:p>
        </p:txBody>
      </p:sp>
    </p:spTree>
    <p:extLst>
      <p:ext uri="{BB962C8B-B14F-4D97-AF65-F5344CB8AC3E}">
        <p14:creationId xmlns:p14="http://schemas.microsoft.com/office/powerpoint/2010/main" val="1022616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B43181D9-5793-4534-A543-7D092A24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E9979BAD-F822-4193-A75E-27290038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00706E09-962C-4C19-B71F-DDDB69D1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AF74604-104B-4486-A670-7D045255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Algorithm Selection Problem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72313B9E-6E68-48BD-8EE6-6C67EFCD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20252625-4325-4240-99FF-513DA8CD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4/28</a:t>
            </a:r>
          </a:p>
        </p:txBody>
      </p:sp>
      <p:sp>
        <p:nvSpPr>
          <p:cNvPr id="7" name="problem">
            <a:extLst xmlns:a="http://schemas.openxmlformats.org/drawingml/2006/main">
              <a:ext uri="{FF2B5EF4-FFF2-40B4-BE49-F238E27FC236}">
                <a16:creationId xmlns:a16="http://schemas.microsoft.com/office/drawing/2014/main" id="{1C48C555-33E3-45CA-97B6-68B93E4A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04950"/>
            <a:ext cx="2571750" cy="2952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B4B34737-4643-45E5-AA90-D575397D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573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Problem space P</a:t>
            </a:r>
          </a:p>
        </p:txBody>
      </p:sp>
      <p:sp>
        <p:nvSpPr>
          <p:cNvPr id="9" name="problem-body">
            <a:extLst xmlns:a="http://schemas.openxmlformats.org/drawingml/2006/main">
              <a:ext uri="{FF2B5EF4-FFF2-40B4-BE49-F238E27FC236}">
                <a16:creationId xmlns:a16="http://schemas.microsoft.com/office/drawing/2014/main" id="{8455EFA6-108C-4E32-82E6-349767C5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81200"/>
            <a:ext cx="22288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one numeric array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8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[4, 5, 5, 6, 17, 18,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8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19, 2, 2, 3, 31, 45]</a:t>
            </a:r>
          </a:p>
        </p:txBody>
      </p:sp>
      <p:sp>
        <p:nvSpPr>
          <p:cNvPr id="10" name="features">
            <a:extLst xmlns:a="http://schemas.openxmlformats.org/drawingml/2006/main">
              <a:ext uri="{FF2B5EF4-FFF2-40B4-BE49-F238E27FC236}">
                <a16:creationId xmlns:a16="http://schemas.microsoft.com/office/drawing/2014/main" id="{6667A115-3DF2-4217-9FEA-6E651FDF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04950"/>
            <a:ext cx="2571750" cy="2952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features-title">
            <a:extLst xmlns:a="http://schemas.openxmlformats.org/drawingml/2006/main">
              <a:ext uri="{FF2B5EF4-FFF2-40B4-BE49-F238E27FC236}">
                <a16:creationId xmlns:a16="http://schemas.microsoft.com/office/drawing/2014/main" id="{150AC3B3-058C-44F7-9FB0-B1238D33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573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Feature space F</a:t>
            </a:r>
          </a:p>
        </p:txBody>
      </p:sp>
      <p:sp>
        <p:nvSpPr>
          <p:cNvPr id="12" name="features-body">
            <a:extLst xmlns:a="http://schemas.openxmlformats.org/drawingml/2006/main">
              <a:ext uri="{FF2B5EF4-FFF2-40B4-BE49-F238E27FC236}">
                <a16:creationId xmlns:a16="http://schemas.microsoft.com/office/drawing/2014/main" id="{404E3FFE-EF37-497F-B67D-2E0CB790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81200"/>
            <a:ext cx="22288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structural array features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size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sortedness / disorder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runs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duplicates / entropy</a:t>
            </a:r>
          </a:p>
        </p:txBody>
      </p:sp>
      <p:sp>
        <p:nvSpPr>
          <p:cNvPr id="13" name="selector">
            <a:extLst xmlns:a="http://schemas.openxmlformats.org/drawingml/2006/main">
              <a:ext uri="{FF2B5EF4-FFF2-40B4-BE49-F238E27FC236}">
                <a16:creationId xmlns:a16="http://schemas.microsoft.com/office/drawing/2014/main" id="{2848C68C-4B7D-408A-B741-74D3AA2E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2286000" cy="2667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lector-title">
            <a:extLst xmlns:a="http://schemas.openxmlformats.org/drawingml/2006/main">
              <a:ext uri="{FF2B5EF4-FFF2-40B4-BE49-F238E27FC236}">
                <a16:creationId xmlns:a16="http://schemas.microsoft.com/office/drawing/2014/main" id="{CB023CBB-48C9-4C02-8B5D-89583898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9621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Selector</a:t>
            </a:r>
          </a:p>
        </p:txBody>
      </p:sp>
      <p:sp>
        <p:nvSpPr>
          <p:cNvPr id="15" name="selector-map">
            <a:extLst xmlns:a="http://schemas.openxmlformats.org/drawingml/2006/main">
              <a:ext uri="{FF2B5EF4-FFF2-40B4-BE49-F238E27FC236}">
                <a16:creationId xmlns:a16="http://schemas.microsoft.com/office/drawing/2014/main" id="{B1DFB0E5-24DA-4053-A466-F8487C8C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336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S : F → A</a:t>
            </a:r>
          </a:p>
        </p:txBody>
      </p:sp>
      <p:sp>
        <p:nvSpPr>
          <p:cNvPr id="16" name="selector-rule">
            <a:extLst xmlns:a="http://schemas.openxmlformats.org/drawingml/2006/main">
              <a:ext uri="{FF2B5EF4-FFF2-40B4-BE49-F238E27FC236}">
                <a16:creationId xmlns:a16="http://schemas.microsoft.com/office/drawing/2014/main" id="{98A669BD-EDA2-4FFD-AB1C-517BB01F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7180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FFFFFF"/>
            </a:solidFill>
            <a:prstDash val="solid"/>
          </a:ln>
        </p:spPr>
      </p:sp>
      <p:sp>
        <p:nvSpPr>
          <p:cNvPr id="17" name="selector-model">
            <a:extLst xmlns:a="http://schemas.openxmlformats.org/drawingml/2006/main">
              <a:ext uri="{FF2B5EF4-FFF2-40B4-BE49-F238E27FC236}">
                <a16:creationId xmlns:a16="http://schemas.microsoft.com/office/drawing/2014/main" id="{EC147B65-4397-4ED3-8278-4FC6CE5D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24200"/>
            <a:ext cx="1790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XGBoost classifier</a:t>
            </a:r>
          </a:p>
          <a:p xmlns:a="http://schemas.openxmlformats.org/drawingml/2006/main">
            <a:pPr algn="ctr">
              <a:defRPr sz="16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predicts fastest</a:t>
            </a:r>
          </a:p>
          <a:p xmlns:a="http://schemas.openxmlformats.org/drawingml/2006/main">
            <a:pPr algn="ctr">
              <a:defRPr sz="16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class</a:t>
            </a:r>
          </a:p>
        </p:txBody>
      </p:sp>
      <p:sp>
        <p:nvSpPr>
          <p:cNvPr id="18" name="algos">
            <a:extLst xmlns:a="http://schemas.openxmlformats.org/drawingml/2006/main">
              <a:ext uri="{FF2B5EF4-FFF2-40B4-BE49-F238E27FC236}">
                <a16:creationId xmlns:a16="http://schemas.microsoft.com/office/drawing/2014/main" id="{1CD31C2E-B8B0-40B7-8762-14E462A8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504950"/>
            <a:ext cx="2571750" cy="2952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algos-title">
            <a:extLst xmlns:a="http://schemas.openxmlformats.org/drawingml/2006/main">
              <a:ext uri="{FF2B5EF4-FFF2-40B4-BE49-F238E27FC236}">
                <a16:creationId xmlns:a16="http://schemas.microsoft.com/office/drawing/2014/main" id="{F5E7575D-E74D-4F4C-9BF9-1C48F9D2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6573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Algorithm space A</a:t>
            </a:r>
          </a:p>
        </p:txBody>
      </p:sp>
      <p:sp>
        <p:nvSpPr>
          <p:cNvPr id="20" name="algos-body">
            <a:extLst xmlns:a="http://schemas.openxmlformats.org/drawingml/2006/main">
              <a:ext uri="{FF2B5EF4-FFF2-40B4-BE49-F238E27FC236}">
                <a16:creationId xmlns:a16="http://schemas.microsoft.com/office/drawing/2014/main" id="{07E79567-8016-4EE6-840C-B216DF42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981200"/>
            <a:ext cx="22288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Introsort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1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Heapsort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1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Timsort</a:t>
            </a:r>
          </a:p>
        </p:txBody>
      </p:sp>
      <p:sp>
        <p:nvSpPr>
          <p:cNvPr id="21" name="p-f-from">
            <a:extLst xmlns:a="http://schemas.openxmlformats.org/drawingml/2006/main">
              <a:ext uri="{FF2B5EF4-FFF2-40B4-BE49-F238E27FC236}">
                <a16:creationId xmlns:a16="http://schemas.microsoft.com/office/drawing/2014/main" id="{08F8EC64-D5E4-441A-88F3-D6B61B0F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57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-f-to">
            <a:extLst xmlns:a="http://schemas.openxmlformats.org/drawingml/2006/main">
              <a:ext uri="{FF2B5EF4-FFF2-40B4-BE49-F238E27FC236}">
                <a16:creationId xmlns:a16="http://schemas.microsoft.com/office/drawing/2014/main" id="{9F4AF2CE-E3F1-43F7-BE61-5E8C5F50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57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4" name="p-f"/>
          <p:cNvCxnSpPr>
            <a:stCxn xmlns:a="http://schemas.openxmlformats.org/drawingml/2006/main" id="21" idx="1"/>
            <a:endCxn xmlns:a="http://schemas.openxmlformats.org/drawingml/2006/main" id="22" idx="3"/>
          </p:cNvCxnSpPr>
          <p:nvPr/>
        </p:nvCxnSpPr>
        <p:spPr>
          <a:xfrm xmlns:a="http://schemas.openxmlformats.org/drawingml/2006/main" flipH="1">
            <a:off x="3543300" y="28670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24" name="f-s-from">
            <a:extLst xmlns:a="http://schemas.openxmlformats.org/drawingml/2006/main">
              <a:ext uri="{FF2B5EF4-FFF2-40B4-BE49-F238E27FC236}">
                <a16:creationId xmlns:a16="http://schemas.microsoft.com/office/drawing/2014/main" id="{91C45306-BB9D-477E-910B-1CA1DF46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-s-to">
            <a:extLst xmlns:a="http://schemas.openxmlformats.org/drawingml/2006/main">
              <a:ext uri="{FF2B5EF4-FFF2-40B4-BE49-F238E27FC236}">
                <a16:creationId xmlns:a16="http://schemas.microsoft.com/office/drawing/2014/main" id="{48BC377B-7B3E-4701-A1BF-F7377F43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7" name="f-s"/>
          <p:cNvCxnSpPr>
            <a:stCxn xmlns:a="http://schemas.openxmlformats.org/drawingml/2006/main" id="24" idx="1"/>
            <a:endCxn xmlns:a="http://schemas.openxmlformats.org/drawingml/2006/main" id="25" idx="3"/>
          </p:cNvCxnSpPr>
          <p:nvPr/>
        </p:nvCxnSpPr>
        <p:spPr>
          <a:xfrm xmlns:a="http://schemas.openxmlformats.org/drawingml/2006/main" flipH="1">
            <a:off x="6781800" y="28670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27" name="s-a-from">
            <a:extLst xmlns:a="http://schemas.openxmlformats.org/drawingml/2006/main">
              <a:ext uri="{FF2B5EF4-FFF2-40B4-BE49-F238E27FC236}">
                <a16:creationId xmlns:a16="http://schemas.microsoft.com/office/drawing/2014/main" id="{90EE60B4-A526-4A49-8612-D0B927DF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57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-a-to">
            <a:extLst xmlns:a="http://schemas.openxmlformats.org/drawingml/2006/main">
              <a:ext uri="{FF2B5EF4-FFF2-40B4-BE49-F238E27FC236}">
                <a16:creationId xmlns:a16="http://schemas.microsoft.com/office/drawing/2014/main" id="{6B04DA5C-CF80-4BCD-B676-290228CF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0" name="s-a"/>
          <p:cNvCxnSpPr>
            <a:stCxn xmlns:a="http://schemas.openxmlformats.org/drawingml/2006/main" id="27" idx="1"/>
            <a:endCxn xmlns:a="http://schemas.openxmlformats.org/drawingml/2006/main" id="28" idx="3"/>
          </p:cNvCxnSpPr>
          <p:nvPr/>
        </p:nvCxnSpPr>
        <p:spPr>
          <a:xfrm xmlns:a="http://schemas.openxmlformats.org/drawingml/2006/main" flipH="1">
            <a:off x="9734550" y="28670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30" name="perf">
            <a:extLst xmlns:a="http://schemas.openxmlformats.org/drawingml/2006/main">
              <a:ext uri="{FF2B5EF4-FFF2-40B4-BE49-F238E27FC236}">
                <a16:creationId xmlns:a16="http://schemas.microsoft.com/office/drawing/2014/main" id="{0A2B4F3B-EF50-4362-BAB9-877512AE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38750"/>
            <a:ext cx="11868150" cy="10096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1" name="perf-text">
            <a:extLst xmlns:a="http://schemas.openxmlformats.org/drawingml/2006/main">
              <a:ext uri="{FF2B5EF4-FFF2-40B4-BE49-F238E27FC236}">
                <a16:creationId xmlns:a16="http://schemas.microsoft.com/office/drawing/2014/main" id="{F46FCF18-017D-48DB-B107-6F4616D6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2450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Performance space Y: </a:t>
            </a:r>
            <a:r>
              <a:rPr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label(x) = argmin_a T(a, x), measured from empirical runtime</a:t>
            </a:r>
          </a:p>
        </p:txBody>
      </p:sp>
    </p:spTree>
    <p:extLst>
      <p:ext uri="{BB962C8B-B14F-4D97-AF65-F5344CB8AC3E}">
        <p14:creationId xmlns:p14="http://schemas.microsoft.com/office/powerpoint/2010/main" val="14718864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EA680FFC-7794-499F-AE07-F4BCEB1B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63E90985-654B-4044-92EE-5FA572E5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362EF764-E433-4C06-8044-C226BB66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56811F7-A6E0-4353-9277-09DA7301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System Architecture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7DCA31D3-E4D3-4A48-A866-F65D4E03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6EC46F5C-0D12-4716-8793-DDFE51B5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5/28</a:t>
            </a:r>
          </a:p>
        </p:txBody>
      </p:sp>
      <p:sp>
        <p:nvSpPr>
          <p:cNvPr id="7" name="main">
            <a:extLst xmlns:a="http://schemas.openxmlformats.org/drawingml/2006/main">
              <a:ext uri="{FF2B5EF4-FFF2-40B4-BE49-F238E27FC236}">
                <a16:creationId xmlns:a16="http://schemas.microsoft.com/office/drawing/2014/main" id="{40B71508-4A37-4201-81D0-607AD017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9620250" cy="3857625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arch-node-0">
            <a:extLst xmlns:a="http://schemas.openxmlformats.org/drawingml/2006/main">
              <a:ext uri="{FF2B5EF4-FFF2-40B4-BE49-F238E27FC236}">
                <a16:creationId xmlns:a16="http://schemas.microsoft.com/office/drawing/2014/main" id="{F9FD7C3A-A354-48D9-A5F1-9CD9421B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143250"/>
            <a:ext cx="1143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arch-node-0-title">
            <a:extLst xmlns:a="http://schemas.openxmlformats.org/drawingml/2006/main">
              <a:ext uri="{FF2B5EF4-FFF2-40B4-BE49-F238E27FC236}">
                <a16:creationId xmlns:a16="http://schemas.microsoft.com/office/drawing/2014/main" id="{A87783F3-C0E9-4F8C-BEBA-5DC3DC49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2956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input</a:t>
            </a:r>
          </a:p>
          <a:p xmlns:a="http://schemas.openxmlformats.org/drawingml/2006/main">
            <a:pPr algn="ctr">
              <a:def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array</a:t>
            </a:r>
          </a:p>
        </p:txBody>
      </p:sp>
      <p:sp>
        <p:nvSpPr>
          <p:cNvPr id="10" name="arch-node-1">
            <a:extLst xmlns:a="http://schemas.openxmlformats.org/drawingml/2006/main">
              <a:ext uri="{FF2B5EF4-FFF2-40B4-BE49-F238E27FC236}">
                <a16:creationId xmlns:a16="http://schemas.microsoft.com/office/drawing/2014/main" id="{07B5FCBE-6A2D-4249-A0DD-A909589C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71800"/>
            <a:ext cx="14287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arch-node-1-title">
            <a:extLst xmlns:a="http://schemas.openxmlformats.org/drawingml/2006/main">
              <a:ext uri="{FF2B5EF4-FFF2-40B4-BE49-F238E27FC236}">
                <a16:creationId xmlns:a16="http://schemas.microsoft.com/office/drawing/2014/main" id="{E4AC1060-F8FD-4369-8AE0-5AE6C91E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242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O(n)</a:t>
            </a:r>
          </a:p>
          <a:p xmlns:a="http://schemas.openxmlformats.org/drawingml/2006/main">
            <a:pPr algn="ctr">
              <a:def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features</a:t>
            </a:r>
          </a:p>
        </p:txBody>
      </p:sp>
      <p:sp>
        <p:nvSpPr>
          <p:cNvPr id="12" name="arch-node-2">
            <a:extLst xmlns:a="http://schemas.openxmlformats.org/drawingml/2006/main">
              <a:ext uri="{FF2B5EF4-FFF2-40B4-BE49-F238E27FC236}">
                <a16:creationId xmlns:a16="http://schemas.microsoft.com/office/drawing/2014/main" id="{98B6F848-DE44-49F8-894D-BDF59C18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71750"/>
            <a:ext cx="161925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DDEF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arch-node-2-title">
            <a:extLst xmlns:a="http://schemas.openxmlformats.org/drawingml/2006/main">
              <a:ext uri="{FF2B5EF4-FFF2-40B4-BE49-F238E27FC236}">
                <a16:creationId xmlns:a16="http://schemas.microsoft.com/office/drawing/2014/main" id="{6855161D-CE83-458A-987F-2AE065CB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241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XGBoost</a:t>
            </a:r>
          </a:p>
          <a:p xmlns:a="http://schemas.openxmlformats.org/drawingml/2006/main">
            <a:pPr algn="ctr">
              <a:def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selector</a:t>
            </a:r>
          </a:p>
        </p:txBody>
      </p:sp>
      <p:sp>
        <p:nvSpPr>
          <p:cNvPr id="14" name="arch-node-3">
            <a:extLst xmlns:a="http://schemas.openxmlformats.org/drawingml/2006/main">
              <a:ext uri="{FF2B5EF4-FFF2-40B4-BE49-F238E27FC236}">
                <a16:creationId xmlns:a16="http://schemas.microsoft.com/office/drawing/2014/main" id="{AD233881-044D-4508-AF70-501AB63A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71800"/>
            <a:ext cx="152400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D8F0E5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arch-node-3-title">
            <a:extLst xmlns:a="http://schemas.openxmlformats.org/drawingml/2006/main">
              <a:ext uri="{FF2B5EF4-FFF2-40B4-BE49-F238E27FC236}">
                <a16:creationId xmlns:a16="http://schemas.microsoft.com/office/drawing/2014/main" id="{300A8F10-7B55-408B-B635-6C97DED3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242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chosen</a:t>
            </a:r>
          </a:p>
          <a:p xmlns:a="http://schemas.openxmlformats.org/drawingml/2006/main">
            <a:pPr algn="ctr">
              <a:def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algorithm</a:t>
            </a:r>
          </a:p>
        </p:txBody>
      </p:sp>
      <p:sp>
        <p:nvSpPr>
          <p:cNvPr id="16" name="arch-1-from">
            <a:extLst xmlns:a="http://schemas.openxmlformats.org/drawingml/2006/main">
              <a:ext uri="{FF2B5EF4-FFF2-40B4-BE49-F238E27FC236}">
                <a16:creationId xmlns:a16="http://schemas.microsoft.com/office/drawing/2014/main" id="{D5B9A432-A304-4F2F-B9D2-D5619F45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71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rch-1-to">
            <a:extLst xmlns:a="http://schemas.openxmlformats.org/drawingml/2006/main">
              <a:ext uri="{FF2B5EF4-FFF2-40B4-BE49-F238E27FC236}">
                <a16:creationId xmlns:a16="http://schemas.microsoft.com/office/drawing/2014/main" id="{F88AEBF4-13DC-4EC1-BCA1-BD63C53D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371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1" name="arch-1"/>
          <p:cNvCxnSpPr>
            <a:stCxn xmlns:a="http://schemas.openxmlformats.org/drawingml/2006/main" id="16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3019425" y="338137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19" name="arch-2-from">
            <a:extLst xmlns:a="http://schemas.openxmlformats.org/drawingml/2006/main">
              <a:ext uri="{FF2B5EF4-FFF2-40B4-BE49-F238E27FC236}">
                <a16:creationId xmlns:a16="http://schemas.microsoft.com/office/drawing/2014/main" id="{4BA0A0A1-51F7-4381-B6B0-4044C040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71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rch-2-to">
            <a:extLst xmlns:a="http://schemas.openxmlformats.org/drawingml/2006/main">
              <a:ext uri="{FF2B5EF4-FFF2-40B4-BE49-F238E27FC236}">
                <a16:creationId xmlns:a16="http://schemas.microsoft.com/office/drawing/2014/main" id="{B1F4310D-826C-4BE5-BDF0-9CF3B1DA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371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4" name="arch-2"/>
          <p:cNvCxnSpPr>
            <a:stCxn xmlns:a="http://schemas.openxmlformats.org/drawingml/2006/main" id="19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5114925" y="338137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22" name="arch-3-from">
            <a:extLst xmlns:a="http://schemas.openxmlformats.org/drawingml/2006/main">
              <a:ext uri="{FF2B5EF4-FFF2-40B4-BE49-F238E27FC236}">
                <a16:creationId xmlns:a16="http://schemas.microsoft.com/office/drawing/2014/main" id="{C8E05FB0-D664-42CF-A803-AB60B7FE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71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rch-3-to">
            <a:extLst xmlns:a="http://schemas.openxmlformats.org/drawingml/2006/main">
              <a:ext uri="{FF2B5EF4-FFF2-40B4-BE49-F238E27FC236}">
                <a16:creationId xmlns:a16="http://schemas.microsoft.com/office/drawing/2014/main" id="{D4BAA7C6-930B-4D08-A6BC-25C5C219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71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7" name="arch-3"/>
          <p:cNvCxnSpPr>
            <a:stCxn xmlns:a="http://schemas.openxmlformats.org/drawingml/2006/main" id="22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7372350" y="338137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25" name="main-track">
            <a:extLst xmlns:a="http://schemas.openxmlformats.org/drawingml/2006/main">
              <a:ext uri="{FF2B5EF4-FFF2-40B4-BE49-F238E27FC236}">
                <a16:creationId xmlns:a16="http://schemas.microsoft.com/office/drawing/2014/main" id="{0BC5C198-B663-4A96-A563-4CC5F9E5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581150"/>
            <a:ext cx="2762250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main-track-title">
            <a:extLst xmlns:a="http://schemas.openxmlformats.org/drawingml/2006/main">
              <a:ext uri="{FF2B5EF4-FFF2-40B4-BE49-F238E27FC236}">
                <a16:creationId xmlns:a16="http://schemas.microsoft.com/office/drawing/2014/main" id="{56F5FEBE-4DED-4C51-99D5-6EA29AF6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73355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Main track</a:t>
            </a:r>
          </a:p>
        </p:txBody>
      </p:sp>
      <p:sp>
        <p:nvSpPr>
          <p:cNvPr id="27" name="main-track-body">
            <a:extLst xmlns:a="http://schemas.openxmlformats.org/drawingml/2006/main">
              <a:ext uri="{FF2B5EF4-FFF2-40B4-BE49-F238E27FC236}">
                <a16:creationId xmlns:a16="http://schemas.microsoft.com/office/drawing/2014/main" id="{2267AAAF-6965-42A2-8B34-EA277C05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057400"/>
            <a:ext cx="2419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all domains • 3 algorithms</a:t>
            </a:r>
          </a:p>
        </p:txBody>
      </p:sp>
      <p:sp>
        <p:nvSpPr>
          <p:cNvPr id="28" name="predict">
            <a:extLst xmlns:a="http://schemas.openxmlformats.org/drawingml/2006/main">
              <a:ext uri="{FF2B5EF4-FFF2-40B4-BE49-F238E27FC236}">
                <a16:creationId xmlns:a16="http://schemas.microsoft.com/office/drawing/2014/main" id="{16879316-9CD6-4DAF-8289-8A5C0724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781300"/>
            <a:ext cx="276225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9" name="predict-title">
            <a:extLst xmlns:a="http://schemas.openxmlformats.org/drawingml/2006/main">
              <a:ext uri="{FF2B5EF4-FFF2-40B4-BE49-F238E27FC236}">
                <a16:creationId xmlns:a16="http://schemas.microsoft.com/office/drawing/2014/main" id="{25DD4A05-C232-41C2-B61C-32580CB3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93370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Prediction path</a:t>
            </a:r>
          </a:p>
        </p:txBody>
      </p:sp>
      <p:sp>
        <p:nvSpPr>
          <p:cNvPr id="30" name="predict-body">
            <a:extLst xmlns:a="http://schemas.openxmlformats.org/drawingml/2006/main">
              <a:ext uri="{FF2B5EF4-FFF2-40B4-BE49-F238E27FC236}">
                <a16:creationId xmlns:a16="http://schemas.microsoft.com/office/drawing/2014/main" id="{3B14C624-B6CC-4102-BC50-6F7389D1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257550"/>
            <a:ext cx="241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features → XGBoost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classifier</a:t>
            </a:r>
          </a:p>
        </p:txBody>
      </p:sp>
      <p:sp>
        <p:nvSpPr>
          <p:cNvPr id="31" name="separate">
            <a:extLst xmlns:a="http://schemas.openxmlformats.org/drawingml/2006/main">
              <a:ext uri="{FF2B5EF4-FFF2-40B4-BE49-F238E27FC236}">
                <a16:creationId xmlns:a16="http://schemas.microsoft.com/office/drawing/2014/main" id="{99B9308A-BD91-4909-8D6C-9856A9B9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171950"/>
            <a:ext cx="27622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2" name="separate-title">
            <a:extLst xmlns:a="http://schemas.openxmlformats.org/drawingml/2006/main">
              <a:ext uri="{FF2B5EF4-FFF2-40B4-BE49-F238E27FC236}">
                <a16:creationId xmlns:a16="http://schemas.microsoft.com/office/drawing/2014/main" id="{51803C7C-4883-43A8-B12D-6C6A7237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32435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Separate track</a:t>
            </a:r>
          </a:p>
        </p:txBody>
      </p:sp>
      <p:sp>
        <p:nvSpPr>
          <p:cNvPr id="33" name="separate-body">
            <a:extLst xmlns:a="http://schemas.openxmlformats.org/drawingml/2006/main">
              <a:ext uri="{FF2B5EF4-FFF2-40B4-BE49-F238E27FC236}">
                <a16:creationId xmlns:a16="http://schemas.microsoft.com/office/drawing/2014/main" id="{C9FF462F-3FF0-4D61-93F5-B4A8AAE3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648200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F1-specific routing stays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separate from the main result</a:t>
            </a:r>
          </a:p>
        </p:txBody>
      </p:sp>
    </p:spTree>
    <p:extLst>
      <p:ext uri="{BB962C8B-B14F-4D97-AF65-F5344CB8AC3E}">
        <p14:creationId xmlns:p14="http://schemas.microsoft.com/office/powerpoint/2010/main" val="1924486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AD7820B6-0CFC-4FF0-8A77-659DC025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34BE20AB-26D7-4F90-98CA-F95D9695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F97DE86B-EDE3-402E-8FB1-B86E0BA4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0A87F04-56DA-4819-91FA-37C6738F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The corpus uses five structurally diverse real-world domains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3202C78C-9313-4C62-A160-1DEDA1D4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E87A3930-2489-4438-9939-1BA9F892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6/28</a:t>
            </a:r>
          </a:p>
        </p:txBody>
      </p:sp>
      <p:sp>
        <p:nvSpPr>
          <p:cNvPr id="7" name="metric-1.18M-90">
            <a:extLst xmlns:a="http://schemas.openxmlformats.org/drawingml/2006/main">
              <a:ext uri="{FF2B5EF4-FFF2-40B4-BE49-F238E27FC236}">
                <a16:creationId xmlns:a16="http://schemas.microsoft.com/office/drawing/2014/main" id="{E7152674-623B-4907-9676-5F936E95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24765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1.18M</a:t>
            </a:r>
          </a:p>
        </p:txBody>
      </p:sp>
      <p:sp>
        <p:nvSpPr>
          <p:cNvPr id="8" name="metric-label-1.18M-90">
            <a:extLst xmlns:a="http://schemas.openxmlformats.org/drawingml/2006/main">
              <a:ext uri="{FF2B5EF4-FFF2-40B4-BE49-F238E27FC236}">
                <a16:creationId xmlns:a16="http://schemas.microsoft.com/office/drawing/2014/main" id="{D08AF74E-592B-4D92-B039-6AB02FF7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9810"/>
            <a:ext cx="247650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labeled array instances</a:t>
            </a:r>
          </a:p>
        </p:txBody>
      </p:sp>
      <p:sp>
        <p:nvSpPr>
          <p:cNvPr id="9" name="domain-0">
            <a:extLst xmlns:a="http://schemas.openxmlformats.org/drawingml/2006/main">
              <a:ext uri="{FF2B5EF4-FFF2-40B4-BE49-F238E27FC236}">
                <a16:creationId xmlns:a16="http://schemas.microsoft.com/office/drawing/2014/main" id="{76DAAA9E-A2F7-450E-A365-00979507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2190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domain-0-title">
            <a:extLst xmlns:a="http://schemas.openxmlformats.org/drawingml/2006/main">
              <a:ext uri="{FF2B5EF4-FFF2-40B4-BE49-F238E27FC236}">
                <a16:creationId xmlns:a16="http://schemas.microsoft.com/office/drawing/2014/main" id="{6DDF34BC-840A-4464-A698-7D94A28F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814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Formula 1 telemetry</a:t>
            </a:r>
          </a:p>
        </p:txBody>
      </p:sp>
      <p:sp>
        <p:nvSpPr>
          <p:cNvPr id="11" name="domain-1">
            <a:extLst xmlns:a="http://schemas.openxmlformats.org/drawingml/2006/main">
              <a:ext uri="{FF2B5EF4-FFF2-40B4-BE49-F238E27FC236}">
                <a16:creationId xmlns:a16="http://schemas.microsoft.com/office/drawing/2014/main" id="{0DA39C1C-8EB7-4D02-9B64-E97BE360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29000"/>
            <a:ext cx="2190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domain-1-title">
            <a:extLst xmlns:a="http://schemas.openxmlformats.org/drawingml/2006/main">
              <a:ext uri="{FF2B5EF4-FFF2-40B4-BE49-F238E27FC236}">
                <a16:creationId xmlns:a16="http://schemas.microsoft.com/office/drawing/2014/main" id="{D2E4A5C5-A423-441F-8993-4134FF65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5814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Equity prices</a:t>
            </a:r>
          </a:p>
        </p:txBody>
      </p:sp>
      <p:sp>
        <p:nvSpPr>
          <p:cNvPr id="13" name="domain-2">
            <a:extLst xmlns:a="http://schemas.openxmlformats.org/drawingml/2006/main">
              <a:ext uri="{FF2B5EF4-FFF2-40B4-BE49-F238E27FC236}">
                <a16:creationId xmlns:a16="http://schemas.microsoft.com/office/drawing/2014/main" id="{6390E532-649D-4D80-9736-E0A5B0A6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29000"/>
            <a:ext cx="2190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domain-2-title">
            <a:extLst xmlns:a="http://schemas.openxmlformats.org/drawingml/2006/main">
              <a:ext uri="{FF2B5EF4-FFF2-40B4-BE49-F238E27FC236}">
                <a16:creationId xmlns:a16="http://schemas.microsoft.com/office/drawing/2014/main" id="{01DE25A7-38BF-4E4A-AF74-7DAADBC9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814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Cryptocurrency OHLCV</a:t>
            </a:r>
          </a:p>
        </p:txBody>
      </p:sp>
      <p:sp>
        <p:nvSpPr>
          <p:cNvPr id="15" name="domain-3">
            <a:extLst xmlns:a="http://schemas.openxmlformats.org/drawingml/2006/main">
              <a:ext uri="{FF2B5EF4-FFF2-40B4-BE49-F238E27FC236}">
                <a16:creationId xmlns:a16="http://schemas.microsoft.com/office/drawing/2014/main" id="{CFFFAA4A-1F68-4951-8EBD-F33A69D1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2190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domain-3-title">
            <a:extLst xmlns:a="http://schemas.openxmlformats.org/drawingml/2006/main">
              <a:ext uri="{FF2B5EF4-FFF2-40B4-BE49-F238E27FC236}">
                <a16:creationId xmlns:a16="http://schemas.microsoft.com/office/drawing/2014/main" id="{620A73EF-4383-4666-8A49-48A2D25B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5814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Weather</a:t>
            </a:r>
          </a:p>
        </p:txBody>
      </p:sp>
      <p:sp>
        <p:nvSpPr>
          <p:cNvPr id="17" name="domain-4">
            <a:extLst xmlns:a="http://schemas.openxmlformats.org/drawingml/2006/main">
              <a:ext uri="{FF2B5EF4-FFF2-40B4-BE49-F238E27FC236}">
                <a16:creationId xmlns:a16="http://schemas.microsoft.com/office/drawing/2014/main" id="{373E4B30-E0F8-487F-8D16-7BAD61EC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857750"/>
            <a:ext cx="2190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domain-4-title">
            <a:extLst xmlns:a="http://schemas.openxmlformats.org/drawingml/2006/main">
              <a:ext uri="{FF2B5EF4-FFF2-40B4-BE49-F238E27FC236}">
                <a16:creationId xmlns:a16="http://schemas.microsoft.com/office/drawing/2014/main" id="{2FF567AC-396E-4B58-BF2C-3438C84E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0101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Seismic measurements</a:t>
            </a:r>
          </a:p>
        </p:txBody>
      </p:sp>
      <p:sp>
        <p:nvSpPr>
          <p:cNvPr id="19" name="domain-note">
            <a:extLst xmlns:a="http://schemas.openxmlformats.org/drawingml/2006/main">
              <a:ext uri="{FF2B5EF4-FFF2-40B4-BE49-F238E27FC236}">
                <a16:creationId xmlns:a16="http://schemas.microsoft.com/office/drawing/2014/main" id="{F8862107-166C-45E7-A482-6EBA42D9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334125"/>
            <a:ext cx="948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Real data was preferred because synthetic distributions failed to converge to genuine structure.</a:t>
            </a:r>
          </a:p>
        </p:txBody>
      </p:sp>
    </p:spTree>
    <p:extLst>
      <p:ext uri="{BB962C8B-B14F-4D97-AF65-F5344CB8AC3E}">
        <p14:creationId xmlns:p14="http://schemas.microsoft.com/office/powerpoint/2010/main" val="18897467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819554CD-E85C-4266-9239-A57F6F25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0CE290BE-058D-4D66-BCA7-ED6534B0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ECABA44F-8BD4-4DA0-A5EA-75A1343D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2212A1F-889B-4C0D-8E89-E19AA99B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Leave-one-domain-out testing supports cross-domain robustness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260F651D-DA2C-45C0-8D59-6393FB62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87DA6F8-6E85-42FF-9AD5-ACEBDD3E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7/28</a:t>
            </a:r>
          </a:p>
        </p:txBody>
      </p:sp>
      <p:sp>
        <p:nvSpPr>
          <p:cNvPr id="7" name="chart-frame">
            <a:extLst xmlns:a="http://schemas.openxmlformats.org/drawingml/2006/main">
              <a:ext uri="{FF2B5EF4-FFF2-40B4-BE49-F238E27FC236}">
                <a16:creationId xmlns:a16="http://schemas.microsoft.com/office/drawing/2014/main" id="{E2FF4A82-5018-4139-BB49-0772E17F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12334875" cy="4953000"/>
          </a:xfrm>
          <a:prstGeom xmlns:a="http://schemas.openxmlformats.org/drawingml/2006/main" prst="roundRect">
            <a:avLst>
              <a:gd name="adj" fmla="val 1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holdout-axis">
            <a:extLst xmlns:a="http://schemas.openxmlformats.org/drawingml/2006/main">
              <a:ext uri="{FF2B5EF4-FFF2-40B4-BE49-F238E27FC236}">
                <a16:creationId xmlns:a16="http://schemas.microsoft.com/office/drawing/2014/main" id="{CDC7A1BD-E147-4849-9C23-E1E25ACF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391150"/>
            <a:ext cx="9639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  <p:sp>
        <p:nvSpPr>
          <p:cNvPr id="9" name="holdout-yaxis">
            <a:extLst xmlns:a="http://schemas.openxmlformats.org/drawingml/2006/main">
              <a:ext uri="{FF2B5EF4-FFF2-40B4-BE49-F238E27FC236}">
                <a16:creationId xmlns:a16="http://schemas.microsoft.com/office/drawing/2014/main" id="{7298F0A2-183A-4833-BF07-18CF157A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28600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  <p:sp>
        <p:nvSpPr>
          <p:cNvPr id="10" name="holdout-bar-0-0">
            <a:extLst xmlns:a="http://schemas.openxmlformats.org/drawingml/2006/main">
              <a:ext uri="{FF2B5EF4-FFF2-40B4-BE49-F238E27FC236}">
                <a16:creationId xmlns:a16="http://schemas.microsoft.com/office/drawing/2014/main" id="{308F5C30-F6F0-448D-8772-67C27DDA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890838"/>
            <a:ext cx="419100" cy="2500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holdout-val-0-0">
            <a:extLst xmlns:a="http://schemas.openxmlformats.org/drawingml/2006/main">
              <a:ext uri="{FF2B5EF4-FFF2-40B4-BE49-F238E27FC236}">
                <a16:creationId xmlns:a16="http://schemas.microsoft.com/office/drawing/2014/main" id="{A48D4277-20A5-4B43-B0E5-AC73181F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643188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87.5%</a:t>
            </a:r>
          </a:p>
        </p:txBody>
      </p:sp>
      <p:sp>
        <p:nvSpPr>
          <p:cNvPr id="12" name="holdout-bar-0-1">
            <a:extLst xmlns:a="http://schemas.openxmlformats.org/drawingml/2006/main">
              <a:ext uri="{FF2B5EF4-FFF2-40B4-BE49-F238E27FC236}">
                <a16:creationId xmlns:a16="http://schemas.microsoft.com/office/drawing/2014/main" id="{32CACA63-CCAC-43C2-94E4-A4E0AC50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16543"/>
            <a:ext cx="419100" cy="25746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holdout-val-0-1">
            <a:extLst xmlns:a="http://schemas.openxmlformats.org/drawingml/2006/main">
              <a:ext uri="{FF2B5EF4-FFF2-40B4-BE49-F238E27FC236}">
                <a16:creationId xmlns:a16="http://schemas.microsoft.com/office/drawing/2014/main" id="{0A188A62-6FC8-4D5B-9A6E-3C5A5BD0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568893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90.1%</a:t>
            </a:r>
          </a:p>
        </p:txBody>
      </p:sp>
      <p:sp>
        <p:nvSpPr>
          <p:cNvPr id="14" name="holdout-cat-0">
            <a:extLst xmlns:a="http://schemas.openxmlformats.org/drawingml/2006/main">
              <a:ext uri="{FF2B5EF4-FFF2-40B4-BE49-F238E27FC236}">
                <a16:creationId xmlns:a16="http://schemas.microsoft.com/office/drawing/2014/main" id="{D0383DE1-3B85-401D-8A92-67CE7F8F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467350"/>
            <a:ext cx="18935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Crypto</a:t>
            </a:r>
          </a:p>
        </p:txBody>
      </p:sp>
      <p:sp>
        <p:nvSpPr>
          <p:cNvPr id="15" name="holdout-bar-1-0">
            <a:extLst xmlns:a="http://schemas.openxmlformats.org/drawingml/2006/main">
              <a:ext uri="{FF2B5EF4-FFF2-40B4-BE49-F238E27FC236}">
                <a16:creationId xmlns:a16="http://schemas.microsoft.com/office/drawing/2014/main" id="{B5395441-8485-4DB6-A673-9C955936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3045143"/>
            <a:ext cx="419100" cy="2346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holdout-val-1-0">
            <a:extLst xmlns:a="http://schemas.openxmlformats.org/drawingml/2006/main">
              <a:ext uri="{FF2B5EF4-FFF2-40B4-BE49-F238E27FC236}">
                <a16:creationId xmlns:a16="http://schemas.microsoft.com/office/drawing/2014/main" id="{9AEEAB48-5280-4F37-80BC-CB39435C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7670" y="2797493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82.1%</a:t>
            </a:r>
          </a:p>
        </p:txBody>
      </p:sp>
      <p:sp>
        <p:nvSpPr>
          <p:cNvPr id="17" name="holdout-bar-1-1">
            <a:extLst xmlns:a="http://schemas.openxmlformats.org/drawingml/2006/main">
              <a:ext uri="{FF2B5EF4-FFF2-40B4-BE49-F238E27FC236}">
                <a16:creationId xmlns:a16="http://schemas.microsoft.com/office/drawing/2014/main" id="{7E443590-EF85-4CE7-A9C2-310BCAC0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945" y="2676525"/>
            <a:ext cx="4191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holdout-val-1-1">
            <a:extLst xmlns:a="http://schemas.openxmlformats.org/drawingml/2006/main">
              <a:ext uri="{FF2B5EF4-FFF2-40B4-BE49-F238E27FC236}">
                <a16:creationId xmlns:a16="http://schemas.microsoft.com/office/drawing/2014/main" id="{E92461EE-F7F6-4E2A-A875-407E1F1D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395" y="2428875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95.0%</a:t>
            </a:r>
          </a:p>
        </p:txBody>
      </p:sp>
      <p:sp>
        <p:nvSpPr>
          <p:cNvPr id="19" name="holdout-cat-1">
            <a:extLst xmlns:a="http://schemas.openxmlformats.org/drawingml/2006/main">
              <a:ext uri="{FF2B5EF4-FFF2-40B4-BE49-F238E27FC236}">
                <a16:creationId xmlns:a16="http://schemas.microsoft.com/office/drawing/2014/main" id="{7F3DADA6-61B3-4A20-B47A-50A2ADC7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1020" y="5467350"/>
            <a:ext cx="18935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Earthquake</a:t>
            </a:r>
          </a:p>
        </p:txBody>
      </p:sp>
      <p:sp>
        <p:nvSpPr>
          <p:cNvPr id="20" name="holdout-bar-2-0">
            <a:extLst xmlns:a="http://schemas.openxmlformats.org/drawingml/2006/main">
              <a:ext uri="{FF2B5EF4-FFF2-40B4-BE49-F238E27FC236}">
                <a16:creationId xmlns:a16="http://schemas.microsoft.com/office/drawing/2014/main" id="{EC780B4C-FD50-47AB-BECB-604FC34A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0790" y="2853690"/>
            <a:ext cx="419100" cy="25374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holdout-val-2-0">
            <a:extLst xmlns:a="http://schemas.openxmlformats.org/drawingml/2006/main">
              <a:ext uri="{FF2B5EF4-FFF2-40B4-BE49-F238E27FC236}">
                <a16:creationId xmlns:a16="http://schemas.microsoft.com/office/drawing/2014/main" id="{D57B322E-6756-41FC-90D0-B3F1A312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1240" y="260604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88.8%</a:t>
            </a:r>
          </a:p>
        </p:txBody>
      </p:sp>
      <p:sp>
        <p:nvSpPr>
          <p:cNvPr id="22" name="holdout-bar-2-1">
            <a:extLst xmlns:a="http://schemas.openxmlformats.org/drawingml/2006/main">
              <a:ext uri="{FF2B5EF4-FFF2-40B4-BE49-F238E27FC236}">
                <a16:creationId xmlns:a16="http://schemas.microsoft.com/office/drawing/2014/main" id="{2103A122-F2B5-411A-A14B-E6DF1AAF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7515" y="3233738"/>
            <a:ext cx="419100" cy="21574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holdout-val-2-1">
            <a:extLst xmlns:a="http://schemas.openxmlformats.org/drawingml/2006/main">
              <a:ext uri="{FF2B5EF4-FFF2-40B4-BE49-F238E27FC236}">
                <a16:creationId xmlns:a16="http://schemas.microsoft.com/office/drawing/2014/main" id="{E8FE5655-873B-43F3-ACED-F8F938CF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7965" y="2986088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75.5%</a:t>
            </a:r>
          </a:p>
        </p:txBody>
      </p:sp>
      <p:sp>
        <p:nvSpPr>
          <p:cNvPr id="24" name="holdout-cat-2">
            <a:extLst xmlns:a="http://schemas.openxmlformats.org/drawingml/2006/main">
              <a:ext uri="{FF2B5EF4-FFF2-40B4-BE49-F238E27FC236}">
                <a16:creationId xmlns:a16="http://schemas.microsoft.com/office/drawing/2014/main" id="{864BEABF-D940-4EFF-B7E8-90B5EF12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4590" y="5467350"/>
            <a:ext cx="18935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F1</a:t>
            </a:r>
          </a:p>
        </p:txBody>
      </p:sp>
      <p:sp>
        <p:nvSpPr>
          <p:cNvPr id="25" name="holdout-bar-3-0">
            <a:extLst xmlns:a="http://schemas.openxmlformats.org/drawingml/2006/main">
              <a:ext uri="{FF2B5EF4-FFF2-40B4-BE49-F238E27FC236}">
                <a16:creationId xmlns:a16="http://schemas.microsoft.com/office/drawing/2014/main" id="{45BF33FE-3656-4C1D-A972-04CE8958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360" y="2876550"/>
            <a:ext cx="4191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holdout-val-3-0">
            <a:extLst xmlns:a="http://schemas.openxmlformats.org/drawingml/2006/main">
              <a:ext uri="{FF2B5EF4-FFF2-40B4-BE49-F238E27FC236}">
                <a16:creationId xmlns:a16="http://schemas.microsoft.com/office/drawing/2014/main" id="{10BBBDF5-E278-440B-9301-F9520DE2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4810" y="26289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88.0%</a:t>
            </a:r>
          </a:p>
        </p:txBody>
      </p:sp>
      <p:sp>
        <p:nvSpPr>
          <p:cNvPr id="27" name="holdout-bar-3-1">
            <a:extLst xmlns:a="http://schemas.openxmlformats.org/drawingml/2006/main">
              <a:ext uri="{FF2B5EF4-FFF2-40B4-BE49-F238E27FC236}">
                <a16:creationId xmlns:a16="http://schemas.microsoft.com/office/drawing/2014/main" id="{6B7ED9E3-FA74-41A9-A181-77448271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1085" y="2799398"/>
            <a:ext cx="419100" cy="25917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holdout-val-3-1">
            <a:extLst xmlns:a="http://schemas.openxmlformats.org/drawingml/2006/main">
              <a:ext uri="{FF2B5EF4-FFF2-40B4-BE49-F238E27FC236}">
                <a16:creationId xmlns:a16="http://schemas.microsoft.com/office/drawing/2014/main" id="{47480B14-0742-4508-9776-45AB32D7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1535" y="2551748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90.7%</a:t>
            </a:r>
          </a:p>
        </p:txBody>
      </p:sp>
      <p:sp>
        <p:nvSpPr>
          <p:cNvPr id="29" name="holdout-cat-3">
            <a:extLst xmlns:a="http://schemas.openxmlformats.org/drawingml/2006/main">
              <a:ext uri="{FF2B5EF4-FFF2-40B4-BE49-F238E27FC236}">
                <a16:creationId xmlns:a16="http://schemas.microsoft.com/office/drawing/2014/main" id="{FC48EE2B-07E7-43B9-81D8-50ECDF5D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5467350"/>
            <a:ext cx="18935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Stock</a:t>
            </a:r>
          </a:p>
        </p:txBody>
      </p:sp>
      <p:sp>
        <p:nvSpPr>
          <p:cNvPr id="30" name="holdout-bar-4-0">
            <a:extLst xmlns:a="http://schemas.openxmlformats.org/drawingml/2006/main">
              <a:ext uri="{FF2B5EF4-FFF2-40B4-BE49-F238E27FC236}">
                <a16:creationId xmlns:a16="http://schemas.microsoft.com/office/drawing/2014/main" id="{E7FE20C5-F5DB-4932-AAA9-D51972B1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7930" y="3659505"/>
            <a:ext cx="419100" cy="17316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holdout-val-4-0">
            <a:extLst xmlns:a="http://schemas.openxmlformats.org/drawingml/2006/main">
              <a:ext uri="{FF2B5EF4-FFF2-40B4-BE49-F238E27FC236}">
                <a16:creationId xmlns:a16="http://schemas.microsoft.com/office/drawing/2014/main" id="{FB5B8F9B-EA4D-4D44-824F-4A5EFBEB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8380" y="3411855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60.6%</a:t>
            </a:r>
          </a:p>
        </p:txBody>
      </p:sp>
      <p:sp>
        <p:nvSpPr>
          <p:cNvPr id="32" name="holdout-bar-4-1">
            <a:extLst xmlns:a="http://schemas.openxmlformats.org/drawingml/2006/main">
              <a:ext uri="{FF2B5EF4-FFF2-40B4-BE49-F238E27FC236}">
                <a16:creationId xmlns:a16="http://schemas.microsoft.com/office/drawing/2014/main" id="{09E2D320-353D-4EAC-BD05-3BCC8CBE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4655" y="2827973"/>
            <a:ext cx="419100" cy="25631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holdout-val-4-1">
            <a:extLst xmlns:a="http://schemas.openxmlformats.org/drawingml/2006/main">
              <a:ext uri="{FF2B5EF4-FFF2-40B4-BE49-F238E27FC236}">
                <a16:creationId xmlns:a16="http://schemas.microsoft.com/office/drawing/2014/main" id="{482DAEC6-5AF0-4D58-B110-F3BF52DC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5105" y="2580323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89.7%</a:t>
            </a:r>
          </a:p>
        </p:txBody>
      </p:sp>
      <p:sp>
        <p:nvSpPr>
          <p:cNvPr id="34" name="holdout-cat-4">
            <a:extLst xmlns:a="http://schemas.openxmlformats.org/drawingml/2006/main">
              <a:ext uri="{FF2B5EF4-FFF2-40B4-BE49-F238E27FC236}">
                <a16:creationId xmlns:a16="http://schemas.microsoft.com/office/drawing/2014/main" id="{58E75689-7708-4AF4-95DD-108EBDE4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1730" y="5467350"/>
            <a:ext cx="18935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Weather</a:t>
            </a:r>
          </a:p>
        </p:txBody>
      </p:sp>
      <p:sp>
        <p:nvSpPr>
          <p:cNvPr id="35" name="legend-a">
            <a:extLst xmlns:a="http://schemas.openxmlformats.org/drawingml/2006/main">
              <a:ext uri="{FF2B5EF4-FFF2-40B4-BE49-F238E27FC236}">
                <a16:creationId xmlns:a16="http://schemas.microsoft.com/office/drawing/2014/main" id="{CA6667AF-B3B5-4DD4-8B10-4EF3FAF9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286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blue = accuracy</a:t>
            </a:r>
          </a:p>
        </p:txBody>
      </p:sp>
      <p:sp>
        <p:nvSpPr>
          <p:cNvPr id="36" name="legend-b">
            <a:extLst xmlns:a="http://schemas.openxmlformats.org/drawingml/2006/main">
              <a:ext uri="{FF2B5EF4-FFF2-40B4-BE49-F238E27FC236}">
                <a16:creationId xmlns:a16="http://schemas.microsoft.com/office/drawing/2014/main" id="{C2B34533-B40A-41B5-86F2-022025AD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60985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orange = gap</a:t>
            </a:r>
          </a:p>
          <a:p xmlns:a="http://schemas.openxmlformats.org/drawingml/2006/main">
            <a:pPr algn="l">
              <a:defRPr sz="1500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closed</a:t>
            </a:r>
          </a:p>
        </p:txBody>
      </p:sp>
    </p:spTree>
    <p:extLst>
      <p:ext uri="{BB962C8B-B14F-4D97-AF65-F5344CB8AC3E}">
        <p14:creationId xmlns:p14="http://schemas.microsoft.com/office/powerpoint/2010/main" val="15712215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D04A0BD9-9807-4594-8D7D-3B48B4F2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C33CEE78-DBE8-498E-B9B9-67C29CAD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300D8303-8D5F-49A2-B1DE-5DE2AFFF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F62DB9B-B825-44B0-911F-DC4D513B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Five real domains, five different numeric traces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355A0A79-E2EC-447C-80EB-3C22A852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5D0124A1-0809-4DFE-9B49-67388ADD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8/28</a:t>
            </a:r>
          </a:p>
        </p:txBody>
      </p:sp>
      <p:sp>
        <p:nvSpPr>
          <p:cNvPr id="7" name="sample-n-0">
            <a:extLst xmlns:a="http://schemas.openxmlformats.org/drawingml/2006/main">
              <a:ext uri="{FF2B5EF4-FFF2-40B4-BE49-F238E27FC236}">
                <a16:creationId xmlns:a16="http://schemas.microsoft.com/office/drawing/2014/main" id="{8BCA7EA2-6A94-4E95-988E-EA019884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192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8" name="sample-row-0">
            <a:extLst xmlns:a="http://schemas.openxmlformats.org/drawingml/2006/main">
              <a:ext uri="{FF2B5EF4-FFF2-40B4-BE49-F238E27FC236}">
                <a16:creationId xmlns:a16="http://schemas.microsoft.com/office/drawing/2014/main" id="{0D84D0F9-0F94-4126-826E-4F2E0581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600200"/>
            <a:ext cx="1133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Stock market: </a:t>
            </a:r>
            <a:r>
              <a:rPr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[5.873, 5.919, 5.968, 5.974, 6.021, 6.044, 6.081, 6.114, 6.156, 6.203]</a:t>
            </a:r>
          </a:p>
        </p:txBody>
      </p:sp>
      <p:sp>
        <p:nvSpPr>
          <p:cNvPr id="9" name="sample-line-0">
            <a:extLst xmlns:a="http://schemas.openxmlformats.org/drawingml/2006/main">
              <a:ext uri="{FF2B5EF4-FFF2-40B4-BE49-F238E27FC236}">
                <a16:creationId xmlns:a16="http://schemas.microsoft.com/office/drawing/2014/main" id="{6E2E1C55-761C-47D2-B1CF-FDD30C57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152650"/>
            <a:ext cx="11191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0" name="sample-n-1">
            <a:extLst xmlns:a="http://schemas.openxmlformats.org/drawingml/2006/main">
              <a:ext uri="{FF2B5EF4-FFF2-40B4-BE49-F238E27FC236}">
                <a16:creationId xmlns:a16="http://schemas.microsoft.com/office/drawing/2014/main" id="{63F6A30B-FD0D-4F31-8CA8-F7FE1152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098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1" name="sample-row-1">
            <a:extLst xmlns:a="http://schemas.openxmlformats.org/drawingml/2006/main">
              <a:ext uri="{FF2B5EF4-FFF2-40B4-BE49-F238E27FC236}">
                <a16:creationId xmlns:a16="http://schemas.microsoft.com/office/drawing/2014/main" id="{5A1436D2-E761-409E-A557-25392BDF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590800"/>
            <a:ext cx="1133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Cryptocurrency: </a:t>
            </a:r>
            <a:r>
              <a:rPr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[0.0009, 0.0005, 0.0002, -0.0003, 0.0001, 0.0007, -0.0002, 0.0010, 0.0004, -0.0001]</a:t>
            </a:r>
          </a:p>
        </p:txBody>
      </p:sp>
      <p:sp>
        <p:nvSpPr>
          <p:cNvPr id="12" name="sample-line-1">
            <a:extLst xmlns:a="http://schemas.openxmlformats.org/drawingml/2006/main">
              <a:ext uri="{FF2B5EF4-FFF2-40B4-BE49-F238E27FC236}">
                <a16:creationId xmlns:a16="http://schemas.microsoft.com/office/drawing/2014/main" id="{7A4A611A-9685-4B4E-8D3C-510D20E7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143250"/>
            <a:ext cx="11191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3" name="sample-n-2">
            <a:extLst xmlns:a="http://schemas.openxmlformats.org/drawingml/2006/main">
              <a:ext uri="{FF2B5EF4-FFF2-40B4-BE49-F238E27FC236}">
                <a16:creationId xmlns:a16="http://schemas.microsoft.com/office/drawing/2014/main" id="{7E7E622B-62C5-46EC-BF7C-1943C366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004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4" name="sample-row-2">
            <a:extLst xmlns:a="http://schemas.openxmlformats.org/drawingml/2006/main">
              <a:ext uri="{FF2B5EF4-FFF2-40B4-BE49-F238E27FC236}">
                <a16:creationId xmlns:a16="http://schemas.microsoft.com/office/drawing/2014/main" id="{8E749918-7322-429F-A23C-8996055D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581400"/>
            <a:ext cx="1133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Weather: </a:t>
            </a:r>
            <a:r>
              <a:rPr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[3.389, 3.385, 3.341, 3.269, 3.164, 3.201, 3.244, 3.302, 3.355, 3.410]</a:t>
            </a:r>
          </a:p>
        </p:txBody>
      </p:sp>
      <p:sp>
        <p:nvSpPr>
          <p:cNvPr id="15" name="sample-line-2">
            <a:extLst xmlns:a="http://schemas.openxmlformats.org/drawingml/2006/main">
              <a:ext uri="{FF2B5EF4-FFF2-40B4-BE49-F238E27FC236}">
                <a16:creationId xmlns:a16="http://schemas.microsoft.com/office/drawing/2014/main" id="{40D79EA3-0392-49F9-AACA-33358BC5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133850"/>
            <a:ext cx="11191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6" name="sample-n-3">
            <a:extLst xmlns:a="http://schemas.openxmlformats.org/drawingml/2006/main">
              <a:ext uri="{FF2B5EF4-FFF2-40B4-BE49-F238E27FC236}">
                <a16:creationId xmlns:a16="http://schemas.microsoft.com/office/drawing/2014/main" id="{1CD972AF-DB2F-484E-A959-360C118E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5910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17" name="sample-row-3">
            <a:extLst xmlns:a="http://schemas.openxmlformats.org/drawingml/2006/main">
              <a:ext uri="{FF2B5EF4-FFF2-40B4-BE49-F238E27FC236}">
                <a16:creationId xmlns:a16="http://schemas.microsoft.com/office/drawing/2014/main" id="{ADBC73B0-0F60-48D2-8BC8-9F2E2C99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572000"/>
            <a:ext cx="1133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Formula 1 telemetry: </a:t>
            </a:r>
            <a:r>
              <a:rPr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[0.0797, 12.79, 28.74, 51.06, 79.76, 108.46, 141.30, 172.55, 201.10, 238.42]</a:t>
            </a:r>
          </a:p>
        </p:txBody>
      </p:sp>
      <p:sp>
        <p:nvSpPr>
          <p:cNvPr id="18" name="sample-line-3">
            <a:extLst xmlns:a="http://schemas.openxmlformats.org/drawingml/2006/main">
              <a:ext uri="{FF2B5EF4-FFF2-40B4-BE49-F238E27FC236}">
                <a16:creationId xmlns:a16="http://schemas.microsoft.com/office/drawing/2014/main" id="{EC352D5E-9235-4D03-AEC5-F9774AA5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124450"/>
            <a:ext cx="11191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9" name="sample-n-4">
            <a:extLst xmlns:a="http://schemas.openxmlformats.org/drawingml/2006/main">
              <a:ext uri="{FF2B5EF4-FFF2-40B4-BE49-F238E27FC236}">
                <a16:creationId xmlns:a16="http://schemas.microsoft.com/office/drawing/2014/main" id="{9610DC0F-FD62-419E-938A-D32B428D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5816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20" name="sample-row-4">
            <a:extLst xmlns:a="http://schemas.openxmlformats.org/drawingml/2006/main">
              <a:ext uri="{FF2B5EF4-FFF2-40B4-BE49-F238E27FC236}">
                <a16:creationId xmlns:a16="http://schemas.microsoft.com/office/drawing/2014/main" id="{423A5896-D598-4F9D-B4A0-7F800FA6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562600"/>
            <a:ext cx="1133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Seismic events: </a:t>
            </a:r>
            <a:r>
              <a:rPr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[37.83, 34.02, 36.10, 35.95, 33.54, 36.80, 38.21, 35.12, 34.88, 36.42]</a:t>
            </a:r>
          </a:p>
        </p:txBody>
      </p:sp>
      <p:sp>
        <p:nvSpPr>
          <p:cNvPr id="21" name="sample-line-4">
            <a:extLst xmlns:a="http://schemas.openxmlformats.org/drawingml/2006/main">
              <a:ext uri="{FF2B5EF4-FFF2-40B4-BE49-F238E27FC236}">
                <a16:creationId xmlns:a16="http://schemas.microsoft.com/office/drawing/2014/main" id="{9076C340-57B9-425B-8CF2-9973D49A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6115050"/>
            <a:ext cx="11191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912995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003C5A71-AC35-4980-9054-055D7506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374435BE-72C4-437C-AD9D-3F0C5701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E5D363A9-3279-4271-8374-D3AAA3F6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D0C95B6-064C-46E8-BF0F-A4828337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Sixteen O(n) structural features characterise each array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A2145772-9431-4B36-886F-9FE77449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3CAD7B2F-8993-48E2-9B40-F9987F3B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9/28</a:t>
            </a:r>
          </a:p>
        </p:txBody>
      </p:sp>
      <p:sp>
        <p:nvSpPr>
          <p:cNvPr id="7" name="flow">
            <a:extLst xmlns:a="http://schemas.openxmlformats.org/drawingml/2006/main">
              <a:ext uri="{FF2B5EF4-FFF2-40B4-BE49-F238E27FC236}">
                <a16:creationId xmlns:a16="http://schemas.microsoft.com/office/drawing/2014/main" id="{1551CA98-34AC-496C-AFC8-7E4395A7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66875"/>
            <a:ext cx="3714750" cy="371475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flow-0">
            <a:extLst xmlns:a="http://schemas.openxmlformats.org/drawingml/2006/main">
              <a:ext uri="{FF2B5EF4-FFF2-40B4-BE49-F238E27FC236}">
                <a16:creationId xmlns:a16="http://schemas.microsoft.com/office/drawing/2014/main" id="{D4433B9B-E034-48B0-8465-D60CF6B8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47875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low-0-title">
            <a:extLst xmlns:a="http://schemas.openxmlformats.org/drawingml/2006/main">
              <a:ext uri="{FF2B5EF4-FFF2-40B4-BE49-F238E27FC236}">
                <a16:creationId xmlns:a16="http://schemas.microsoft.com/office/drawing/2014/main" id="{08A70EB8-A313-4761-B4EC-7B5B7613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2002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Raw array</a:t>
            </a:r>
          </a:p>
        </p:txBody>
      </p:sp>
      <p:sp>
        <p:nvSpPr>
          <p:cNvPr id="10" name="flow-arrow-0-from">
            <a:extLst xmlns:a="http://schemas.openxmlformats.org/drawingml/2006/main">
              <a:ext uri="{FF2B5EF4-FFF2-40B4-BE49-F238E27FC236}">
                <a16:creationId xmlns:a16="http://schemas.microsoft.com/office/drawing/2014/main" id="{589A1539-EC6F-456B-A726-672EC499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813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low-arrow-0-to">
            <a:extLst xmlns:a="http://schemas.openxmlformats.org/drawingml/2006/main">
              <a:ext uri="{FF2B5EF4-FFF2-40B4-BE49-F238E27FC236}">
                <a16:creationId xmlns:a16="http://schemas.microsoft.com/office/drawing/2014/main" id="{14140825-4BB9-429C-B34E-06527779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5527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4" name="flow-arrow-0"/>
          <p:cNvCxnSpPr>
            <a:stCxn xmlns:a="http://schemas.openxmlformats.org/drawingml/2006/main" id="10" idx="0"/>
            <a:endCxn xmlns:a="http://schemas.openxmlformats.org/drawingml/2006/main" id="11" idx="2"/>
          </p:cNvCxnSpPr>
          <p:nvPr/>
        </p:nvCxnSpPr>
        <p:spPr>
          <a:xfrm xmlns:a="http://schemas.openxmlformats.org/drawingml/2006/main" flipV="1">
            <a:off x="2343150" y="25717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D7DEE8"/>
            </a:solidFill>
            <a:prstDash val="solid"/>
            <a:round/>
            <a:headEnd type="arrow" w="med" len="med"/>
          </a:ln>
        </p:spPr>
      </p:cxnSp>
      <p:sp>
        <p:nvSpPr>
          <p:cNvPr id="13" name="flow-1">
            <a:extLst xmlns:a="http://schemas.openxmlformats.org/drawingml/2006/main">
              <a:ext uri="{FF2B5EF4-FFF2-40B4-BE49-F238E27FC236}">
                <a16:creationId xmlns:a16="http://schemas.microsoft.com/office/drawing/2014/main" id="{C07514FE-5DB2-465B-BC10-2990A6E5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28925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28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low-1-title">
            <a:extLst xmlns:a="http://schemas.openxmlformats.org/drawingml/2006/main">
              <a:ext uri="{FF2B5EF4-FFF2-40B4-BE49-F238E27FC236}">
                <a16:creationId xmlns:a16="http://schemas.microsoft.com/office/drawing/2014/main" id="{0B86B30D-15D7-4077-8063-EE18F8C1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98132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Structural scan</a:t>
            </a:r>
          </a:p>
        </p:txBody>
      </p:sp>
      <p:sp>
        <p:nvSpPr>
          <p:cNvPr id="15" name="flow-arrow-1-from">
            <a:extLst xmlns:a="http://schemas.openxmlformats.org/drawingml/2006/main">
              <a:ext uri="{FF2B5EF4-FFF2-40B4-BE49-F238E27FC236}">
                <a16:creationId xmlns:a16="http://schemas.microsoft.com/office/drawing/2014/main" id="{AEDFA4DB-AAC5-4543-B3CD-2EE1A082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5623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low-arrow-1-to">
            <a:extLst xmlns:a="http://schemas.openxmlformats.org/drawingml/2006/main">
              <a:ext uri="{FF2B5EF4-FFF2-40B4-BE49-F238E27FC236}">
                <a16:creationId xmlns:a16="http://schemas.microsoft.com/office/drawing/2014/main" id="{23FF5DA0-73F3-4AB6-98A5-569CDABE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333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9" name="flow-arrow-1"/>
          <p:cNvCxnSpPr>
            <a:stCxn xmlns:a="http://schemas.openxmlformats.org/drawingml/2006/main" id="15" idx="0"/>
            <a:endCxn xmlns:a="http://schemas.openxmlformats.org/drawingml/2006/main" id="16" idx="2"/>
          </p:cNvCxnSpPr>
          <p:nvPr/>
        </p:nvCxnSpPr>
        <p:spPr>
          <a:xfrm xmlns:a="http://schemas.openxmlformats.org/drawingml/2006/main" flipV="1">
            <a:off x="2343150" y="335280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D7DEE8"/>
            </a:solidFill>
            <a:prstDash val="solid"/>
            <a:round/>
            <a:headEnd type="arrow" w="med" len="med"/>
          </a:ln>
        </p:spPr>
      </p:cxnSp>
      <p:sp>
        <p:nvSpPr>
          <p:cNvPr id="18" name="flow-2">
            <a:extLst xmlns:a="http://schemas.openxmlformats.org/drawingml/2006/main">
              <a:ext uri="{FF2B5EF4-FFF2-40B4-BE49-F238E27FC236}">
                <a16:creationId xmlns:a16="http://schemas.microsoft.com/office/drawing/2014/main" id="{9EA71E20-8CFF-40FE-ABDE-71C736CE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09975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low-2-title">
            <a:extLst xmlns:a="http://schemas.openxmlformats.org/drawingml/2006/main">
              <a:ext uri="{FF2B5EF4-FFF2-40B4-BE49-F238E27FC236}">
                <a16:creationId xmlns:a16="http://schemas.microsoft.com/office/drawing/2014/main" id="{CA08474A-4322-4E05-B3B8-92AC02E9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623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Feature vector</a:t>
            </a:r>
          </a:p>
        </p:txBody>
      </p:sp>
      <p:sp>
        <p:nvSpPr>
          <p:cNvPr id="20" name="flow-arrow-2-from">
            <a:extLst xmlns:a="http://schemas.openxmlformats.org/drawingml/2006/main">
              <a:ext uri="{FF2B5EF4-FFF2-40B4-BE49-F238E27FC236}">
                <a16:creationId xmlns:a16="http://schemas.microsoft.com/office/drawing/2014/main" id="{80B1D1AC-DD85-4C7C-9700-DAE4A148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3434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low-arrow-2-to">
            <a:extLst xmlns:a="http://schemas.openxmlformats.org/drawingml/2006/main">
              <a:ext uri="{FF2B5EF4-FFF2-40B4-BE49-F238E27FC236}">
                <a16:creationId xmlns:a16="http://schemas.microsoft.com/office/drawing/2014/main" id="{AB306AB7-DD3F-468E-8CDD-C8C73593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1148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4" name="flow-arrow-2"/>
          <p:cNvCxnSpPr>
            <a:stCxn xmlns:a="http://schemas.openxmlformats.org/drawingml/2006/main" id="20" idx="0"/>
            <a:endCxn xmlns:a="http://schemas.openxmlformats.org/drawingml/2006/main" id="21" idx="2"/>
          </p:cNvCxnSpPr>
          <p:nvPr/>
        </p:nvCxnSpPr>
        <p:spPr>
          <a:xfrm xmlns:a="http://schemas.openxmlformats.org/drawingml/2006/main" flipV="1">
            <a:off x="2343150" y="41338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D7DEE8"/>
            </a:solidFill>
            <a:prstDash val="solid"/>
            <a:round/>
            <a:headEnd type="arrow" w="med" len="med"/>
          </a:ln>
        </p:spPr>
      </p:cxnSp>
      <p:sp>
        <p:nvSpPr>
          <p:cNvPr id="23" name="flow-3">
            <a:extLst xmlns:a="http://schemas.openxmlformats.org/drawingml/2006/main">
              <a:ext uri="{FF2B5EF4-FFF2-40B4-BE49-F238E27FC236}">
                <a16:creationId xmlns:a16="http://schemas.microsoft.com/office/drawing/2014/main" id="{EEA7ED29-BE52-4F16-B887-D675181A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91025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FA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low-3-title">
            <a:extLst xmlns:a="http://schemas.openxmlformats.org/drawingml/2006/main">
              <a:ext uri="{FF2B5EF4-FFF2-40B4-BE49-F238E27FC236}">
                <a16:creationId xmlns:a16="http://schemas.microsoft.com/office/drawing/2014/main" id="{9737E347-0A5F-4706-92D6-F88DB47F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54342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Model input</a:t>
            </a:r>
          </a:p>
        </p:txBody>
      </p:sp>
      <p:sp>
        <p:nvSpPr>
          <p:cNvPr id="25" name="feature-core">
            <a:extLst xmlns:a="http://schemas.openxmlformats.org/drawingml/2006/main">
              <a:ext uri="{FF2B5EF4-FFF2-40B4-BE49-F238E27FC236}">
                <a16:creationId xmlns:a16="http://schemas.microsoft.com/office/drawing/2014/main" id="{B93CF75C-C5AF-4723-B582-AFB3CE6B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52750"/>
            <a:ext cx="952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DDEF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feature-core-title">
            <a:extLst xmlns:a="http://schemas.openxmlformats.org/drawingml/2006/main">
              <a:ext uri="{FF2B5EF4-FFF2-40B4-BE49-F238E27FC236}">
                <a16:creationId xmlns:a16="http://schemas.microsoft.com/office/drawing/2014/main" id="{B073D80A-7AE8-40CA-BF41-22DA7837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051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x ∈ R^16</a:t>
            </a:r>
          </a:p>
        </p:txBody>
      </p:sp>
      <p:sp>
        <p:nvSpPr>
          <p:cNvPr id="27" name="flow-core-from">
            <a:extLst xmlns:a="http://schemas.openxmlformats.org/drawingml/2006/main">
              <a:ext uri="{FF2B5EF4-FFF2-40B4-BE49-F238E27FC236}">
                <a16:creationId xmlns:a16="http://schemas.microsoft.com/office/drawing/2014/main" id="{F9B59FAD-7502-4882-AE6F-08573DFE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2861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flow-core-to">
            <a:extLst xmlns:a="http://schemas.openxmlformats.org/drawingml/2006/main">
              <a:ext uri="{FF2B5EF4-FFF2-40B4-BE49-F238E27FC236}">
                <a16:creationId xmlns:a16="http://schemas.microsoft.com/office/drawing/2014/main" id="{9C678F33-ADC2-4FD6-9F43-2F57F773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861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71" name="flow-core"/>
          <p:cNvCxnSpPr>
            <a:stCxn xmlns:a="http://schemas.openxmlformats.org/drawingml/2006/main" id="27" idx="1"/>
            <a:endCxn xmlns:a="http://schemas.openxmlformats.org/drawingml/2006/main" id="28" idx="3"/>
          </p:cNvCxnSpPr>
          <p:nvPr/>
        </p:nvCxnSpPr>
        <p:spPr>
          <a:xfrm xmlns:a="http://schemas.openxmlformats.org/drawingml/2006/main" flipH="1">
            <a:off x="3114675" y="32956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D7DEE8"/>
            </a:solidFill>
            <a:prstDash val="solid"/>
            <a:round/>
            <a:headEnd type="arrow" w="med" len="med"/>
          </a:ln>
        </p:spPr>
      </p:cxnSp>
      <p:sp>
        <p:nvSpPr>
          <p:cNvPr id="30" name="fg-0">
            <a:extLst xmlns:a="http://schemas.openxmlformats.org/drawingml/2006/main">
              <a:ext uri="{FF2B5EF4-FFF2-40B4-BE49-F238E27FC236}">
                <a16:creationId xmlns:a16="http://schemas.microsoft.com/office/drawing/2014/main" id="{AF7A206F-037D-4EA5-8B2F-D80F0C41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62125"/>
            <a:ext cx="2571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1" name="fg-0-title">
            <a:extLst xmlns:a="http://schemas.openxmlformats.org/drawingml/2006/main">
              <a:ext uri="{FF2B5EF4-FFF2-40B4-BE49-F238E27FC236}">
                <a16:creationId xmlns:a16="http://schemas.microsoft.com/office/drawing/2014/main" id="{271C6534-0F74-4855-BD8E-FFDAA4B0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14525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Size</a:t>
            </a:r>
          </a:p>
        </p:txBody>
      </p:sp>
      <p:sp>
        <p:nvSpPr>
          <p:cNvPr id="32" name="fg-0-body">
            <a:extLst xmlns:a="http://schemas.openxmlformats.org/drawingml/2006/main">
              <a:ext uri="{FF2B5EF4-FFF2-40B4-BE49-F238E27FC236}">
                <a16:creationId xmlns:a16="http://schemas.microsoft.com/office/drawing/2014/main" id="{21C72E64-DC46-407A-8FBE-627F597E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38375"/>
            <a:ext cx="22288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length_norm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size effects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cache / constants</a:t>
            </a:r>
          </a:p>
        </p:txBody>
      </p:sp>
      <p:sp>
        <p:nvSpPr>
          <p:cNvPr id="33" name="fg-1">
            <a:extLst xmlns:a="http://schemas.openxmlformats.org/drawingml/2006/main">
              <a:ext uri="{FF2B5EF4-FFF2-40B4-BE49-F238E27FC236}">
                <a16:creationId xmlns:a16="http://schemas.microsoft.com/office/drawing/2014/main" id="{34202135-CF9E-4093-80D9-C45E78A8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62125"/>
            <a:ext cx="2571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4" name="fg-1-title">
            <a:extLst xmlns:a="http://schemas.openxmlformats.org/drawingml/2006/main">
              <a:ext uri="{FF2B5EF4-FFF2-40B4-BE49-F238E27FC236}">
                <a16:creationId xmlns:a16="http://schemas.microsoft.com/office/drawing/2014/main" id="{7BAD665B-7EBB-4EC4-AE72-5567381F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14525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Ordering</a:t>
            </a:r>
          </a:p>
        </p:txBody>
      </p:sp>
      <p:sp>
        <p:nvSpPr>
          <p:cNvPr id="35" name="fg-1-body">
            <a:extLst xmlns:a="http://schemas.openxmlformats.org/drawingml/2006/main">
              <a:ext uri="{FF2B5EF4-FFF2-40B4-BE49-F238E27FC236}">
                <a16:creationId xmlns:a16="http://schemas.microsoft.com/office/drawing/2014/main" id="{5A52362A-9EC2-4722-A298-34A576C8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38375"/>
            <a:ext cx="22288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adj_sorted_ratio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runs_ratio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inversion_ratio</a:t>
            </a:r>
          </a:p>
        </p:txBody>
      </p:sp>
      <p:sp>
        <p:nvSpPr>
          <p:cNvPr id="36" name="fg-2">
            <a:extLst xmlns:a="http://schemas.openxmlformats.org/drawingml/2006/main">
              <a:ext uri="{FF2B5EF4-FFF2-40B4-BE49-F238E27FC236}">
                <a16:creationId xmlns:a16="http://schemas.microsoft.com/office/drawing/2014/main" id="{283E256F-DC3D-40FB-9BD2-D442E7EC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24250"/>
            <a:ext cx="2571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7" name="fg-2-title">
            <a:extLst xmlns:a="http://schemas.openxmlformats.org/drawingml/2006/main">
              <a:ext uri="{FF2B5EF4-FFF2-40B4-BE49-F238E27FC236}">
                <a16:creationId xmlns:a16="http://schemas.microsoft.com/office/drawing/2014/main" id="{26506A2C-ECFC-4010-AC37-05B5CA09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766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Repetition</a:t>
            </a:r>
          </a:p>
        </p:txBody>
      </p:sp>
      <p:sp>
        <p:nvSpPr>
          <p:cNvPr id="38" name="fg-2-body">
            <a:extLst xmlns:a="http://schemas.openxmlformats.org/drawingml/2006/main">
              <a:ext uri="{FF2B5EF4-FFF2-40B4-BE49-F238E27FC236}">
                <a16:creationId xmlns:a16="http://schemas.microsoft.com/office/drawing/2014/main" id="{A389FB64-84DA-4F99-8357-C2676203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00500"/>
            <a:ext cx="22288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duplicate_ratio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top1_freq_ratio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top5_freq_ratio</a:t>
            </a:r>
          </a:p>
        </p:txBody>
      </p:sp>
      <p:sp>
        <p:nvSpPr>
          <p:cNvPr id="39" name="fg-3">
            <a:extLst xmlns:a="http://schemas.openxmlformats.org/drawingml/2006/main">
              <a:ext uri="{FF2B5EF4-FFF2-40B4-BE49-F238E27FC236}">
                <a16:creationId xmlns:a16="http://schemas.microsoft.com/office/drawing/2014/main" id="{EDF8CE57-2AC8-4B95-9077-00F2E711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24250"/>
            <a:ext cx="2571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0" name="fg-3-title">
            <a:extLst xmlns:a="http://schemas.openxmlformats.org/drawingml/2006/main">
              <a:ext uri="{FF2B5EF4-FFF2-40B4-BE49-F238E27FC236}">
                <a16:creationId xmlns:a16="http://schemas.microsoft.com/office/drawing/2014/main" id="{8A741413-3008-45E0-9B1F-48DAE1B3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766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Distribution</a:t>
            </a:r>
          </a:p>
        </p:txBody>
      </p:sp>
      <p:sp>
        <p:nvSpPr>
          <p:cNvPr id="41" name="fg-3-body">
            <a:extLst xmlns:a="http://schemas.openxmlformats.org/drawingml/2006/main">
              <a:ext uri="{FF2B5EF4-FFF2-40B4-BE49-F238E27FC236}">
                <a16:creationId xmlns:a16="http://schemas.microsoft.com/office/drawing/2014/main" id="{152E82B8-3445-4339-A99D-492B5CD0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00500"/>
            <a:ext cx="22288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entropy_ratio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skewness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outlier_ratio</a:t>
            </a:r>
          </a:p>
        </p:txBody>
      </p:sp>
      <p:sp>
        <p:nvSpPr>
          <p:cNvPr id="42" name="feature-note">
            <a:extLst xmlns:a="http://schemas.openxmlformats.org/drawingml/2006/main">
              <a:ext uri="{FF2B5EF4-FFF2-40B4-BE49-F238E27FC236}">
                <a16:creationId xmlns:a16="http://schemas.microsoft.com/office/drawing/2014/main" id="{CA9ABC3C-3E41-4AAE-9B61-81280366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91250"/>
            <a:ext cx="834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 single canonical feature extractor is shared across data generation, training, and inference.</a:t>
            </a:r>
          </a:p>
        </p:txBody>
      </p:sp>
    </p:spTree>
    <p:extLst>
      <p:ext uri="{BB962C8B-B14F-4D97-AF65-F5344CB8AC3E}">
        <p14:creationId xmlns:p14="http://schemas.microsoft.com/office/powerpoint/2010/main" val="3532970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1F7377A4-C9E0-4E7E-89F3-F3FF4993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3A0E572C-8E27-4320-B638-A5478DD4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761A6EBB-5156-4F1F-A119-8ED41F05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54CE7DB-6BB2-4DCA-8F4D-132CC95D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Feature importance follows structural sorting signals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EBA0437F-0D43-4145-B7A0-AB6A20F4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A65ADC4B-044A-4A65-8147-917E2BEF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10/28</a:t>
            </a:r>
          </a:p>
        </p:txBody>
      </p:sp>
      <p:sp>
        <p:nvSpPr>
          <p:cNvPr id="7" name="chart-frame">
            <a:extLst xmlns:a="http://schemas.openxmlformats.org/drawingml/2006/main">
              <a:ext uri="{FF2B5EF4-FFF2-40B4-BE49-F238E27FC236}">
                <a16:creationId xmlns:a16="http://schemas.microsoft.com/office/drawing/2014/main" id="{49F01D87-9AA5-4A33-84FA-ED3F3F2E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524000"/>
            <a:ext cx="12268200" cy="5334000"/>
          </a:xfrm>
          <a:prstGeom xmlns:a="http://schemas.openxmlformats.org/drawingml/2006/main" prst="roundRect">
            <a:avLst>
              <a:gd name="adj" fmla="val 1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fi-name-0">
            <a:extLst xmlns:a="http://schemas.openxmlformats.org/drawingml/2006/main">
              <a:ext uri="{FF2B5EF4-FFF2-40B4-BE49-F238E27FC236}">
                <a16:creationId xmlns:a16="http://schemas.microsoft.com/office/drawing/2014/main" id="{04ABB564-CBDE-434A-A337-71514B76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0025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length_norm</a:t>
            </a:r>
          </a:p>
        </p:txBody>
      </p:sp>
      <p:sp>
        <p:nvSpPr>
          <p:cNvPr id="9" name="fi-bar-0">
            <a:extLst xmlns:a="http://schemas.openxmlformats.org/drawingml/2006/main">
              <a:ext uri="{FF2B5EF4-FFF2-40B4-BE49-F238E27FC236}">
                <a16:creationId xmlns:a16="http://schemas.microsoft.com/office/drawing/2014/main" id="{5B3DFB91-1A5D-4E61-A36A-43044151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47875"/>
            <a:ext cx="6007806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i-val-0">
            <a:extLst xmlns:a="http://schemas.openxmlformats.org/drawingml/2006/main">
              <a:ext uri="{FF2B5EF4-FFF2-40B4-BE49-F238E27FC236}">
                <a16:creationId xmlns:a16="http://schemas.microsoft.com/office/drawing/2014/main" id="{ECC897C5-7FC1-454C-A6AF-8EBE35FB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000250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0.262</a:t>
            </a:r>
          </a:p>
        </p:txBody>
      </p:sp>
      <p:sp>
        <p:nvSpPr>
          <p:cNvPr id="11" name="fi-name-1">
            <a:extLst xmlns:a="http://schemas.openxmlformats.org/drawingml/2006/main">
              <a:ext uri="{FF2B5EF4-FFF2-40B4-BE49-F238E27FC236}">
                <a16:creationId xmlns:a16="http://schemas.microsoft.com/office/drawing/2014/main" id="{6B7786E7-2BC8-421D-9A4C-DA7D14ED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28875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top5_freq_ratio</a:t>
            </a:r>
          </a:p>
        </p:txBody>
      </p:sp>
      <p:sp>
        <p:nvSpPr>
          <p:cNvPr id="12" name="fi-bar-1">
            <a:extLst xmlns:a="http://schemas.openxmlformats.org/drawingml/2006/main">
              <a:ext uri="{FF2B5EF4-FFF2-40B4-BE49-F238E27FC236}">
                <a16:creationId xmlns:a16="http://schemas.microsoft.com/office/drawing/2014/main" id="{65E1BB4C-1F05-4B02-8642-0F3151C6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76500"/>
            <a:ext cx="4219222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i-val-1">
            <a:extLst xmlns:a="http://schemas.openxmlformats.org/drawingml/2006/main">
              <a:ext uri="{FF2B5EF4-FFF2-40B4-BE49-F238E27FC236}">
                <a16:creationId xmlns:a16="http://schemas.microsoft.com/office/drawing/2014/main" id="{E2F9EC76-DB35-4282-83AB-2D5BD08A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428875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0.184</a:t>
            </a:r>
          </a:p>
        </p:txBody>
      </p:sp>
      <p:sp>
        <p:nvSpPr>
          <p:cNvPr id="14" name="fi-name-2">
            <a:extLst xmlns:a="http://schemas.openxmlformats.org/drawingml/2006/main">
              <a:ext uri="{FF2B5EF4-FFF2-40B4-BE49-F238E27FC236}">
                <a16:creationId xmlns:a16="http://schemas.microsoft.com/office/drawing/2014/main" id="{6264EBFC-4312-4661-AA64-81237575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5750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longest_run_ratio</a:t>
            </a:r>
          </a:p>
        </p:txBody>
      </p:sp>
      <p:sp>
        <p:nvSpPr>
          <p:cNvPr id="15" name="fi-bar-2">
            <a:extLst xmlns:a="http://schemas.openxmlformats.org/drawingml/2006/main">
              <a:ext uri="{FF2B5EF4-FFF2-40B4-BE49-F238E27FC236}">
                <a16:creationId xmlns:a16="http://schemas.microsoft.com/office/drawing/2014/main" id="{8E9E0684-D7AB-4F16-A977-CC4658AB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905125"/>
            <a:ext cx="1834444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i-val-2">
            <a:extLst xmlns:a="http://schemas.openxmlformats.org/drawingml/2006/main">
              <a:ext uri="{FF2B5EF4-FFF2-40B4-BE49-F238E27FC236}">
                <a16:creationId xmlns:a16="http://schemas.microsoft.com/office/drawing/2014/main" id="{DC27993E-349D-45D8-8F09-A0C3A97D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0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0.080</a:t>
            </a:r>
          </a:p>
        </p:txBody>
      </p:sp>
      <p:sp>
        <p:nvSpPr>
          <p:cNvPr id="17" name="fi-name-3">
            <a:extLst xmlns:a="http://schemas.openxmlformats.org/drawingml/2006/main">
              <a:ext uri="{FF2B5EF4-FFF2-40B4-BE49-F238E27FC236}">
                <a16:creationId xmlns:a16="http://schemas.microsoft.com/office/drawing/2014/main" id="{A9F862AD-C535-4B8C-9E89-69F20300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86125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duplicate_ratio</a:t>
            </a:r>
          </a:p>
        </p:txBody>
      </p:sp>
      <p:sp>
        <p:nvSpPr>
          <p:cNvPr id="18" name="fi-bar-3">
            <a:extLst xmlns:a="http://schemas.openxmlformats.org/drawingml/2006/main">
              <a:ext uri="{FF2B5EF4-FFF2-40B4-BE49-F238E27FC236}">
                <a16:creationId xmlns:a16="http://schemas.microsoft.com/office/drawing/2014/main" id="{3126C3FC-D3F1-4830-B22C-3E1C71E3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33750"/>
            <a:ext cx="1811514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i-val-3">
            <a:extLst xmlns:a="http://schemas.openxmlformats.org/drawingml/2006/main">
              <a:ext uri="{FF2B5EF4-FFF2-40B4-BE49-F238E27FC236}">
                <a16:creationId xmlns:a16="http://schemas.microsoft.com/office/drawing/2014/main" id="{1932A0DF-9292-41F7-AE1D-A434949D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286125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0.079</a:t>
            </a:r>
          </a:p>
        </p:txBody>
      </p:sp>
      <p:sp>
        <p:nvSpPr>
          <p:cNvPr id="20" name="fi-name-4">
            <a:extLst xmlns:a="http://schemas.openxmlformats.org/drawingml/2006/main">
              <a:ext uri="{FF2B5EF4-FFF2-40B4-BE49-F238E27FC236}">
                <a16:creationId xmlns:a16="http://schemas.microsoft.com/office/drawing/2014/main" id="{73000D36-7E0E-4A95-83F4-BCDC637F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1475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entropy_ratio</a:t>
            </a:r>
          </a:p>
        </p:txBody>
      </p:sp>
      <p:sp>
        <p:nvSpPr>
          <p:cNvPr id="21" name="fi-bar-4">
            <a:extLst xmlns:a="http://schemas.openxmlformats.org/drawingml/2006/main">
              <a:ext uri="{FF2B5EF4-FFF2-40B4-BE49-F238E27FC236}">
                <a16:creationId xmlns:a16="http://schemas.microsoft.com/office/drawing/2014/main" id="{BA52FE98-F9D7-465D-A051-1CBF7C71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762375"/>
            <a:ext cx="1719792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i-val-4">
            <a:extLst xmlns:a="http://schemas.openxmlformats.org/drawingml/2006/main">
              <a:ext uri="{FF2B5EF4-FFF2-40B4-BE49-F238E27FC236}">
                <a16:creationId xmlns:a16="http://schemas.microsoft.com/office/drawing/2014/main" id="{A2C8D33A-B358-4EF9-BEB8-18B3BCFA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714750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0.075</a:t>
            </a:r>
          </a:p>
        </p:txBody>
      </p:sp>
      <p:sp>
        <p:nvSpPr>
          <p:cNvPr id="23" name="fi-name-5">
            <a:extLst xmlns:a="http://schemas.openxmlformats.org/drawingml/2006/main">
              <a:ext uri="{FF2B5EF4-FFF2-40B4-BE49-F238E27FC236}">
                <a16:creationId xmlns:a16="http://schemas.microsoft.com/office/drawing/2014/main" id="{C951BBD8-5AC7-40EC-95C0-E98F72AE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43375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top1_freq_ratio</a:t>
            </a:r>
          </a:p>
        </p:txBody>
      </p:sp>
      <p:sp>
        <p:nvSpPr>
          <p:cNvPr id="24" name="fi-bar-5">
            <a:extLst xmlns:a="http://schemas.openxmlformats.org/drawingml/2006/main">
              <a:ext uri="{FF2B5EF4-FFF2-40B4-BE49-F238E27FC236}">
                <a16:creationId xmlns:a16="http://schemas.microsoft.com/office/drawing/2014/main" id="{EA33859A-E9C9-43F7-86E3-D4B359EC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191000"/>
            <a:ext cx="116945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i-val-5">
            <a:extLst xmlns:a="http://schemas.openxmlformats.org/drawingml/2006/main">
              <a:ext uri="{FF2B5EF4-FFF2-40B4-BE49-F238E27FC236}">
                <a16:creationId xmlns:a16="http://schemas.microsoft.com/office/drawing/2014/main" id="{94C4ECFC-6C3D-4A2B-A198-49FF765D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143375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0.051</a:t>
            </a:r>
          </a:p>
        </p:txBody>
      </p:sp>
      <p:sp>
        <p:nvSpPr>
          <p:cNvPr id="26" name="fi-name-6">
            <a:extLst xmlns:a="http://schemas.openxmlformats.org/drawingml/2006/main">
              <a:ext uri="{FF2B5EF4-FFF2-40B4-BE49-F238E27FC236}">
                <a16:creationId xmlns:a16="http://schemas.microsoft.com/office/drawing/2014/main" id="{216D4F3B-D57D-4F81-B7F2-2ECBCE2E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7200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runs_ratio</a:t>
            </a:r>
          </a:p>
        </p:txBody>
      </p:sp>
      <p:sp>
        <p:nvSpPr>
          <p:cNvPr id="27" name="fi-bar-6">
            <a:extLst xmlns:a="http://schemas.openxmlformats.org/drawingml/2006/main">
              <a:ext uri="{FF2B5EF4-FFF2-40B4-BE49-F238E27FC236}">
                <a16:creationId xmlns:a16="http://schemas.microsoft.com/office/drawing/2014/main" id="{27369C9A-3B8B-4825-93ED-0E9609E3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19625"/>
            <a:ext cx="94015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fi-val-6">
            <a:extLst xmlns:a="http://schemas.openxmlformats.org/drawingml/2006/main">
              <a:ext uri="{FF2B5EF4-FFF2-40B4-BE49-F238E27FC236}">
                <a16:creationId xmlns:a16="http://schemas.microsoft.com/office/drawing/2014/main" id="{81506EDC-7B2E-4A5E-9B97-B2156F17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572000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0.041</a:t>
            </a:r>
          </a:p>
        </p:txBody>
      </p:sp>
      <p:sp>
        <p:nvSpPr>
          <p:cNvPr id="29" name="fi-name-7">
            <a:extLst xmlns:a="http://schemas.openxmlformats.org/drawingml/2006/main">
              <a:ext uri="{FF2B5EF4-FFF2-40B4-BE49-F238E27FC236}">
                <a16:creationId xmlns:a16="http://schemas.microsoft.com/office/drawing/2014/main" id="{F09CF5CE-E359-4E2B-BFD2-031F00A6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00625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adj_sorted_ratio</a:t>
            </a:r>
          </a:p>
        </p:txBody>
      </p:sp>
      <p:sp>
        <p:nvSpPr>
          <p:cNvPr id="30" name="fi-bar-7">
            <a:extLst xmlns:a="http://schemas.openxmlformats.org/drawingml/2006/main">
              <a:ext uri="{FF2B5EF4-FFF2-40B4-BE49-F238E27FC236}">
                <a16:creationId xmlns:a16="http://schemas.microsoft.com/office/drawing/2014/main" id="{D80A297E-FFD9-4A78-91A2-F2DB80CB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048250"/>
            <a:ext cx="94015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fi-val-7">
            <a:extLst xmlns:a="http://schemas.openxmlformats.org/drawingml/2006/main">
              <a:ext uri="{FF2B5EF4-FFF2-40B4-BE49-F238E27FC236}">
                <a16:creationId xmlns:a16="http://schemas.microsoft.com/office/drawing/2014/main" id="{AA37CDF8-BCB0-4843-9CD5-7AE8D539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000625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0.041</a:t>
            </a:r>
          </a:p>
        </p:txBody>
      </p:sp>
      <p:sp>
        <p:nvSpPr>
          <p:cNvPr id="32" name="fi-name-8">
            <a:extLst xmlns:a="http://schemas.openxmlformats.org/drawingml/2006/main">
              <a:ext uri="{FF2B5EF4-FFF2-40B4-BE49-F238E27FC236}">
                <a16:creationId xmlns:a16="http://schemas.microsoft.com/office/drawing/2014/main" id="{54757CC8-DF33-4EF6-A25C-E4897843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2925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mean_abs_diff_norm</a:t>
            </a:r>
          </a:p>
        </p:txBody>
      </p:sp>
      <p:sp>
        <p:nvSpPr>
          <p:cNvPr id="33" name="fi-bar-8">
            <a:extLst xmlns:a="http://schemas.openxmlformats.org/drawingml/2006/main">
              <a:ext uri="{FF2B5EF4-FFF2-40B4-BE49-F238E27FC236}">
                <a16:creationId xmlns:a16="http://schemas.microsoft.com/office/drawing/2014/main" id="{BB963943-9B8C-43FB-BAC6-B0A3B61C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476875"/>
            <a:ext cx="894292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fi-val-8">
            <a:extLst xmlns:a="http://schemas.openxmlformats.org/drawingml/2006/main">
              <a:ext uri="{FF2B5EF4-FFF2-40B4-BE49-F238E27FC236}">
                <a16:creationId xmlns:a16="http://schemas.microsoft.com/office/drawing/2014/main" id="{38A876E2-81F9-44D1-A318-6C84CC0E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429250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0.039</a:t>
            </a:r>
          </a:p>
        </p:txBody>
      </p:sp>
      <p:sp>
        <p:nvSpPr>
          <p:cNvPr id="35" name="fi-name-9">
            <a:extLst xmlns:a="http://schemas.openxmlformats.org/drawingml/2006/main">
              <a:ext uri="{FF2B5EF4-FFF2-40B4-BE49-F238E27FC236}">
                <a16:creationId xmlns:a16="http://schemas.microsoft.com/office/drawing/2014/main" id="{6FF9600D-5C5E-433E-9D74-611677E4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857875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inversion_ratio</a:t>
            </a:r>
          </a:p>
        </p:txBody>
      </p:sp>
      <p:sp>
        <p:nvSpPr>
          <p:cNvPr id="36" name="fi-bar-9">
            <a:extLst xmlns:a="http://schemas.openxmlformats.org/drawingml/2006/main">
              <a:ext uri="{FF2B5EF4-FFF2-40B4-BE49-F238E27FC236}">
                <a16:creationId xmlns:a16="http://schemas.microsoft.com/office/drawing/2014/main" id="{495F18D6-8EE5-4F7B-9AC0-0545B948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905500"/>
            <a:ext cx="802569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fi-val-9">
            <a:extLst xmlns:a="http://schemas.openxmlformats.org/drawingml/2006/main">
              <a:ext uri="{FF2B5EF4-FFF2-40B4-BE49-F238E27FC236}">
                <a16:creationId xmlns:a16="http://schemas.microsoft.com/office/drawing/2014/main" id="{FBD1DF3C-F1EA-4DDD-B90C-4A59A73B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857875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0.035</a:t>
            </a:r>
          </a:p>
        </p:txBody>
      </p:sp>
    </p:spTree>
    <p:extLst>
      <p:ext uri="{BB962C8B-B14F-4D97-AF65-F5344CB8AC3E}">
        <p14:creationId xmlns:p14="http://schemas.microsoft.com/office/powerpoint/2010/main" val="15781899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32EF132D-D928-458A-97E0-26FEF24E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9F1400FA-E06B-4CF2-A899-F981F4D9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B684814D-3B85-43FB-8F87-CC0C091B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2C93121-2011-4A49-8B1A-A40DC516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Labels are empirical fastest-algorithm measurements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714F49D6-4F7A-4104-A3C5-D60DE416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9DA45FB8-00F0-4B16-AB95-51D845C6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11/28</a:t>
            </a:r>
          </a:p>
        </p:txBody>
      </p:sp>
      <p:sp>
        <p:nvSpPr>
          <p:cNvPr id="7" name="pipe">
            <a:extLst xmlns:a="http://schemas.openxmlformats.org/drawingml/2006/main">
              <a:ext uri="{FF2B5EF4-FFF2-40B4-BE49-F238E27FC236}">
                <a16:creationId xmlns:a16="http://schemas.microsoft.com/office/drawing/2014/main" id="{F4EF2D77-67E3-4C05-B6A2-3A8EF113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09750"/>
            <a:ext cx="11239500" cy="3095625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trans-0">
            <a:extLst xmlns:a="http://schemas.openxmlformats.org/drawingml/2006/main">
              <a:ext uri="{FF2B5EF4-FFF2-40B4-BE49-F238E27FC236}">
                <a16:creationId xmlns:a16="http://schemas.microsoft.com/office/drawing/2014/main" id="{B86700C0-3C65-40BE-959E-FD3677CE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57500"/>
            <a:ext cx="1143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rans-0-title">
            <a:extLst xmlns:a="http://schemas.openxmlformats.org/drawingml/2006/main">
              <a:ext uri="{FF2B5EF4-FFF2-40B4-BE49-F238E27FC236}">
                <a16:creationId xmlns:a16="http://schemas.microsoft.com/office/drawing/2014/main" id="{8CAD9169-C68E-485C-B230-EA4631AE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0099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RAW</a:t>
            </a:r>
          </a:p>
        </p:txBody>
      </p:sp>
      <p:sp>
        <p:nvSpPr>
          <p:cNvPr id="10" name="trans-1">
            <a:extLst xmlns:a="http://schemas.openxmlformats.org/drawingml/2006/main">
              <a:ext uri="{FF2B5EF4-FFF2-40B4-BE49-F238E27FC236}">
                <a16:creationId xmlns:a16="http://schemas.microsoft.com/office/drawing/2014/main" id="{A902D289-84C5-4D36-BE71-C18D1E00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1143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rans-1-title">
            <a:extLst xmlns:a="http://schemas.openxmlformats.org/drawingml/2006/main">
              <a:ext uri="{FF2B5EF4-FFF2-40B4-BE49-F238E27FC236}">
                <a16:creationId xmlns:a16="http://schemas.microsoft.com/office/drawing/2014/main" id="{190ED9A6-8CA1-4A8A-AAEF-5EAAF129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099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REV</a:t>
            </a:r>
          </a:p>
        </p:txBody>
      </p:sp>
      <p:sp>
        <p:nvSpPr>
          <p:cNvPr id="12" name="trans-2">
            <a:extLst xmlns:a="http://schemas.openxmlformats.org/drawingml/2006/main">
              <a:ext uri="{FF2B5EF4-FFF2-40B4-BE49-F238E27FC236}">
                <a16:creationId xmlns:a16="http://schemas.microsoft.com/office/drawing/2014/main" id="{B13AA010-B59B-4A12-8522-18C7C16D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57500"/>
            <a:ext cx="1143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FA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rans-2-title">
            <a:extLst xmlns:a="http://schemas.openxmlformats.org/drawingml/2006/main">
              <a:ext uri="{FF2B5EF4-FFF2-40B4-BE49-F238E27FC236}">
                <a16:creationId xmlns:a16="http://schemas.microsoft.com/office/drawing/2014/main" id="{BCA28C8A-152F-4786-B066-29E933DD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099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SHUF</a:t>
            </a:r>
          </a:p>
        </p:txBody>
      </p:sp>
      <p:sp>
        <p:nvSpPr>
          <p:cNvPr id="14" name="trans-3">
            <a:extLst xmlns:a="http://schemas.openxmlformats.org/drawingml/2006/main">
              <a:ext uri="{FF2B5EF4-FFF2-40B4-BE49-F238E27FC236}">
                <a16:creationId xmlns:a16="http://schemas.microsoft.com/office/drawing/2014/main" id="{A802CB48-B5BB-4A20-A04C-C0A415A7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0"/>
            <a:ext cx="1143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7A6F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rans-3-title">
            <a:extLst xmlns:a="http://schemas.openxmlformats.org/drawingml/2006/main">
              <a:ext uri="{FF2B5EF4-FFF2-40B4-BE49-F238E27FC236}">
                <a16:creationId xmlns:a16="http://schemas.microsoft.com/office/drawing/2014/main" id="{CD7BEF09-4BE4-4D43-B84D-0AB7EE6E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099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QBIN50</a:t>
            </a:r>
          </a:p>
        </p:txBody>
      </p:sp>
      <p:sp>
        <p:nvSpPr>
          <p:cNvPr id="16" name="trans-4">
            <a:extLst xmlns:a="http://schemas.openxmlformats.org/drawingml/2006/main">
              <a:ext uri="{FF2B5EF4-FFF2-40B4-BE49-F238E27FC236}">
                <a16:creationId xmlns:a16="http://schemas.microsoft.com/office/drawing/2014/main" id="{A655F0EA-083E-46F8-A9D3-A2B1EA74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0"/>
            <a:ext cx="1143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28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rans-4-title">
            <a:extLst xmlns:a="http://schemas.openxmlformats.org/drawingml/2006/main">
              <a:ext uri="{FF2B5EF4-FFF2-40B4-BE49-F238E27FC236}">
                <a16:creationId xmlns:a16="http://schemas.microsoft.com/office/drawing/2014/main" id="{7420EDDA-0078-434F-8D8C-3B13AEC0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099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PSORT10</a:t>
            </a:r>
          </a:p>
        </p:txBody>
      </p:sp>
      <p:sp>
        <p:nvSpPr>
          <p:cNvPr id="18" name="timer">
            <a:extLst xmlns:a="http://schemas.openxmlformats.org/drawingml/2006/main">
              <a:ext uri="{FF2B5EF4-FFF2-40B4-BE49-F238E27FC236}">
                <a16:creationId xmlns:a16="http://schemas.microsoft.com/office/drawing/2014/main" id="{C017773C-3A06-4432-8B19-6C108808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857625"/>
            <a:ext cx="2524125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DDEF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timer-title">
            <a:extLst xmlns:a="http://schemas.openxmlformats.org/drawingml/2006/main">
              <a:ext uri="{FF2B5EF4-FFF2-40B4-BE49-F238E27FC236}">
                <a16:creationId xmlns:a16="http://schemas.microsoft.com/office/drawing/2014/main" id="{41A3AE25-49A4-4E3A-9EB5-0480D0C9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010025"/>
            <a:ext cx="2181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timed copies</a:t>
            </a:r>
          </a:p>
        </p:txBody>
      </p:sp>
      <p:sp>
        <p:nvSpPr>
          <p:cNvPr id="20" name="timer-body">
            <a:extLst xmlns:a="http://schemas.openxmlformats.org/drawingml/2006/main">
              <a:ext uri="{FF2B5EF4-FFF2-40B4-BE49-F238E27FC236}">
                <a16:creationId xmlns:a16="http://schemas.microsoft.com/office/drawing/2014/main" id="{1DBA78F8-2453-46F8-82A1-EC970B43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333875"/>
            <a:ext cx="21812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Introsort / Heapsort / Timsort</a:t>
            </a:r>
          </a:p>
        </p:txBody>
      </p:sp>
      <p:sp>
        <p:nvSpPr>
          <p:cNvPr id="21" name="label-arr-from">
            <a:extLst xmlns:a="http://schemas.openxmlformats.org/drawingml/2006/main">
              <a:ext uri="{FF2B5EF4-FFF2-40B4-BE49-F238E27FC236}">
                <a16:creationId xmlns:a16="http://schemas.microsoft.com/office/drawing/2014/main" id="{21674E44-6422-4EF0-BCD3-8A89EBB6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label-arr-to">
            <a:extLst xmlns:a="http://schemas.openxmlformats.org/drawingml/2006/main">
              <a:ext uri="{FF2B5EF4-FFF2-40B4-BE49-F238E27FC236}">
                <a16:creationId xmlns:a16="http://schemas.microsoft.com/office/drawing/2014/main" id="{77A2FD5D-A551-4799-9E3B-E69EA302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766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48" name="label-arr"/>
          <p:cNvCxnSpPr>
            <a:stCxn xmlns:a="http://schemas.openxmlformats.org/drawingml/2006/main" id="21" idx="0"/>
            <a:endCxn xmlns:a="http://schemas.openxmlformats.org/drawingml/2006/main" id="22" idx="2"/>
          </p:cNvCxnSpPr>
          <p:nvPr/>
        </p:nvCxnSpPr>
        <p:spPr>
          <a:xfrm xmlns:a="http://schemas.openxmlformats.org/drawingml/2006/main" flipV="1">
            <a:off x="6867525" y="3495675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2286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24" name="label-equation">
            <a:extLst xmlns:a="http://schemas.openxmlformats.org/drawingml/2006/main">
              <a:ext uri="{FF2B5EF4-FFF2-40B4-BE49-F238E27FC236}">
                <a16:creationId xmlns:a16="http://schemas.microsoft.com/office/drawing/2014/main" id="{5A06893C-FBE3-4B95-953A-3320ECA1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8637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label(x) = argmin_a T(a, x)</a:t>
            </a:r>
          </a:p>
        </p:txBody>
      </p:sp>
      <p:sp>
        <p:nvSpPr>
          <p:cNvPr id="25" name="label-note">
            <a:extLst xmlns:a="http://schemas.openxmlformats.org/drawingml/2006/main">
              <a:ext uri="{FF2B5EF4-FFF2-40B4-BE49-F238E27FC236}">
                <a16:creationId xmlns:a16="http://schemas.microsoft.com/office/drawing/2014/main" id="{2A37716F-8B9C-4D66-A1CE-0499FD1F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6191250"/>
            <a:ext cx="1014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RAW, REV, SHUF, QBIN50, and PSORT10 force a non-trivial decision boundary.</a:t>
            </a:r>
          </a:p>
        </p:txBody>
      </p:sp>
    </p:spTree>
    <p:extLst>
      <p:ext uri="{BB962C8B-B14F-4D97-AF65-F5344CB8AC3E}">
        <p14:creationId xmlns:p14="http://schemas.microsoft.com/office/powerpoint/2010/main" val="4998258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094499D7-126F-4741-8166-A73260C5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6960A0A8-6133-4EA8-840A-533B3498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45DEBB09-937F-4DE5-8559-9AB4A61E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C3DE8A8-7F31-4B4D-A42F-536914DE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Training Dataset and Split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3E83BF78-D2A3-45C1-B76E-AE46DF41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8AFAD61D-E6DF-4973-B5CC-0CFC2854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12/28</a:t>
            </a:r>
          </a:p>
        </p:txBody>
      </p:sp>
      <p:sp>
        <p:nvSpPr>
          <p:cNvPr id="7" name="split-0">
            <a:extLst xmlns:a="http://schemas.openxmlformats.org/drawingml/2006/main">
              <a:ext uri="{FF2B5EF4-FFF2-40B4-BE49-F238E27FC236}">
                <a16:creationId xmlns:a16="http://schemas.microsoft.com/office/drawing/2014/main" id="{80ADAC78-33F2-4D23-BB11-6DAED84C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809750"/>
            <a:ext cx="180975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split-0-title">
            <a:extLst xmlns:a="http://schemas.openxmlformats.org/drawingml/2006/main">
              <a:ext uri="{FF2B5EF4-FFF2-40B4-BE49-F238E27FC236}">
                <a16:creationId xmlns:a16="http://schemas.microsoft.com/office/drawing/2014/main" id="{77C497F1-298B-4FC1-A7DF-8CAAD265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19621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1,188,265</a:t>
            </a:r>
          </a:p>
        </p:txBody>
      </p:sp>
      <p:sp>
        <p:nvSpPr>
          <p:cNvPr id="9" name="split-0-body">
            <a:extLst xmlns:a="http://schemas.openxmlformats.org/drawingml/2006/main">
              <a:ext uri="{FF2B5EF4-FFF2-40B4-BE49-F238E27FC236}">
                <a16:creationId xmlns:a16="http://schemas.microsoft.com/office/drawing/2014/main" id="{1ADEACBA-F659-44E0-BB25-6B7AF2B4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286000"/>
            <a:ext cx="1466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collected arrays</a:t>
            </a:r>
          </a:p>
        </p:txBody>
      </p:sp>
      <p:sp>
        <p:nvSpPr>
          <p:cNvPr id="10" name="split-arr-0-from">
            <a:extLst xmlns:a="http://schemas.openxmlformats.org/drawingml/2006/main">
              <a:ext uri="{FF2B5EF4-FFF2-40B4-BE49-F238E27FC236}">
                <a16:creationId xmlns:a16="http://schemas.microsoft.com/office/drawing/2014/main" id="{B962AE40-B0A4-44B8-8245-7E8FF90E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2574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plit-arr-0-to">
            <a:extLst xmlns:a="http://schemas.openxmlformats.org/drawingml/2006/main">
              <a:ext uri="{FF2B5EF4-FFF2-40B4-BE49-F238E27FC236}">
                <a16:creationId xmlns:a16="http://schemas.microsoft.com/office/drawing/2014/main" id="{177DC15C-1B86-4D1D-9F16-61EA20BB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574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7" name="split-arr-0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3448050" y="226695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13" name="split-1">
            <a:extLst xmlns:a="http://schemas.openxmlformats.org/drawingml/2006/main">
              <a:ext uri="{FF2B5EF4-FFF2-40B4-BE49-F238E27FC236}">
                <a16:creationId xmlns:a16="http://schemas.microsoft.com/office/drawing/2014/main" id="{5308A175-2525-4223-BF4B-623752F9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09750"/>
            <a:ext cx="180975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split-1-title">
            <a:extLst xmlns:a="http://schemas.openxmlformats.org/drawingml/2006/main">
              <a:ext uri="{FF2B5EF4-FFF2-40B4-BE49-F238E27FC236}">
                <a16:creationId xmlns:a16="http://schemas.microsoft.com/office/drawing/2014/main" id="{8698C423-4A3A-4D61-A8BD-5A694A1B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9621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1,082,547</a:t>
            </a:r>
          </a:p>
        </p:txBody>
      </p:sp>
      <p:sp>
        <p:nvSpPr>
          <p:cNvPr id="15" name="split-1-body">
            <a:extLst xmlns:a="http://schemas.openxmlformats.org/drawingml/2006/main">
              <a:ext uri="{FF2B5EF4-FFF2-40B4-BE49-F238E27FC236}">
                <a16:creationId xmlns:a16="http://schemas.microsoft.com/office/drawing/2014/main" id="{02922E71-92E5-4B8B-9D4D-0D34CA72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286000"/>
            <a:ext cx="1466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after near-tie filter</a:t>
            </a:r>
          </a:p>
        </p:txBody>
      </p:sp>
      <p:sp>
        <p:nvSpPr>
          <p:cNvPr id="16" name="split-arr-1-from">
            <a:extLst xmlns:a="http://schemas.openxmlformats.org/drawingml/2006/main">
              <a:ext uri="{FF2B5EF4-FFF2-40B4-BE49-F238E27FC236}">
                <a16:creationId xmlns:a16="http://schemas.microsoft.com/office/drawing/2014/main" id="{C031DE16-949B-4C85-A1BD-D5A156FE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574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plit-arr-1-to">
            <a:extLst xmlns:a="http://schemas.openxmlformats.org/drawingml/2006/main">
              <a:ext uri="{FF2B5EF4-FFF2-40B4-BE49-F238E27FC236}">
                <a16:creationId xmlns:a16="http://schemas.microsoft.com/office/drawing/2014/main" id="{85FBC208-E719-4F51-998A-D5A130AE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2574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3" name="split-arr-1"/>
          <p:cNvCxnSpPr>
            <a:stCxn xmlns:a="http://schemas.openxmlformats.org/drawingml/2006/main" id="16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5781675" y="226695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19" name="split-2">
            <a:extLst xmlns:a="http://schemas.openxmlformats.org/drawingml/2006/main">
              <a:ext uri="{FF2B5EF4-FFF2-40B4-BE49-F238E27FC236}">
                <a16:creationId xmlns:a16="http://schemas.microsoft.com/office/drawing/2014/main" id="{EBD1E1E3-49A3-4461-8ED7-ADC0DF46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09750"/>
            <a:ext cx="180975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split-2-title">
            <a:extLst xmlns:a="http://schemas.openxmlformats.org/drawingml/2006/main">
              <a:ext uri="{FF2B5EF4-FFF2-40B4-BE49-F238E27FC236}">
                <a16:creationId xmlns:a16="http://schemas.microsoft.com/office/drawing/2014/main" id="{71406EF2-9360-4B4F-A8ED-D5115836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9621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196,624</a:t>
            </a:r>
          </a:p>
        </p:txBody>
      </p:sp>
      <p:sp>
        <p:nvSpPr>
          <p:cNvPr id="21" name="split-2-body">
            <a:extLst xmlns:a="http://schemas.openxmlformats.org/drawingml/2006/main">
              <a:ext uri="{FF2B5EF4-FFF2-40B4-BE49-F238E27FC236}">
                <a16:creationId xmlns:a16="http://schemas.microsoft.com/office/drawing/2014/main" id="{2F605A43-4C87-4FF9-8168-24116C56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286000"/>
            <a:ext cx="1466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after majority cap</a:t>
            </a:r>
          </a:p>
        </p:txBody>
      </p:sp>
      <p:sp>
        <p:nvSpPr>
          <p:cNvPr id="22" name="split-arr-2-from">
            <a:extLst xmlns:a="http://schemas.openxmlformats.org/drawingml/2006/main">
              <a:ext uri="{FF2B5EF4-FFF2-40B4-BE49-F238E27FC236}">
                <a16:creationId xmlns:a16="http://schemas.microsoft.com/office/drawing/2014/main" id="{0D6AA2A4-D455-44B5-AB4C-F20C5D9F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574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plit-arr-2-to">
            <a:extLst xmlns:a="http://schemas.openxmlformats.org/drawingml/2006/main">
              <a:ext uri="{FF2B5EF4-FFF2-40B4-BE49-F238E27FC236}">
                <a16:creationId xmlns:a16="http://schemas.microsoft.com/office/drawing/2014/main" id="{9A80670E-94FD-44BD-8B37-E1CE986F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574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9" name="split-arr-2"/>
          <p:cNvCxnSpPr>
            <a:stCxn xmlns:a="http://schemas.openxmlformats.org/drawingml/2006/main" id="22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8115300" y="226695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25" name="split-3">
            <a:extLst xmlns:a="http://schemas.openxmlformats.org/drawingml/2006/main">
              <a:ext uri="{FF2B5EF4-FFF2-40B4-BE49-F238E27FC236}">
                <a16:creationId xmlns:a16="http://schemas.microsoft.com/office/drawing/2014/main" id="{C6C36F85-4CB4-4F25-8D4C-82BD22A5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180975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split-3-title">
            <a:extLst xmlns:a="http://schemas.openxmlformats.org/drawingml/2006/main">
              <a:ext uri="{FF2B5EF4-FFF2-40B4-BE49-F238E27FC236}">
                <a16:creationId xmlns:a16="http://schemas.microsoft.com/office/drawing/2014/main" id="{EF4698FD-7891-4FDE-98A6-EC8E2B24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621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137,636</a:t>
            </a:r>
          </a:p>
        </p:txBody>
      </p:sp>
      <p:sp>
        <p:nvSpPr>
          <p:cNvPr id="27" name="split-3-body">
            <a:extLst xmlns:a="http://schemas.openxmlformats.org/drawingml/2006/main">
              <a:ext uri="{FF2B5EF4-FFF2-40B4-BE49-F238E27FC236}">
                <a16:creationId xmlns:a16="http://schemas.microsoft.com/office/drawing/2014/main" id="{2625F0D8-5E1A-4B24-8F28-E474BCD5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86000"/>
            <a:ext cx="1466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train</a:t>
            </a:r>
          </a:p>
        </p:txBody>
      </p:sp>
      <p:sp>
        <p:nvSpPr>
          <p:cNvPr id="28" name="split-arr-3-from">
            <a:extLst xmlns:a="http://schemas.openxmlformats.org/drawingml/2006/main">
              <a:ext uri="{FF2B5EF4-FFF2-40B4-BE49-F238E27FC236}">
                <a16:creationId xmlns:a16="http://schemas.microsoft.com/office/drawing/2014/main" id="{8FAA3D91-44A9-4854-9170-416594C1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574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plit-arr-3-to">
            <a:extLst xmlns:a="http://schemas.openxmlformats.org/drawingml/2006/main">
              <a:ext uri="{FF2B5EF4-FFF2-40B4-BE49-F238E27FC236}">
                <a16:creationId xmlns:a16="http://schemas.microsoft.com/office/drawing/2014/main" id="{41748B46-23D5-4AFB-A820-CD005AFC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2574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75" name="split-arr-3"/>
          <p:cNvCxnSpPr>
            <a:stCxn xmlns:a="http://schemas.openxmlformats.org/drawingml/2006/main" id="28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10448925" y="226695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31" name="split-4">
            <a:extLst xmlns:a="http://schemas.openxmlformats.org/drawingml/2006/main">
              <a:ext uri="{FF2B5EF4-FFF2-40B4-BE49-F238E27FC236}">
                <a16:creationId xmlns:a16="http://schemas.microsoft.com/office/drawing/2014/main" id="{44FAADD8-03E4-45A7-89E7-96802E5F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1809750"/>
            <a:ext cx="180975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2" name="split-4-title">
            <a:extLst xmlns:a="http://schemas.openxmlformats.org/drawingml/2006/main">
              <a:ext uri="{FF2B5EF4-FFF2-40B4-BE49-F238E27FC236}">
                <a16:creationId xmlns:a16="http://schemas.microsoft.com/office/drawing/2014/main" id="{D13C3813-F924-4E4B-90C0-028F7F16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9621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29,494 / 29,494</a:t>
            </a:r>
          </a:p>
        </p:txBody>
      </p:sp>
      <p:sp>
        <p:nvSpPr>
          <p:cNvPr id="33" name="split-4-body">
            <a:extLst xmlns:a="http://schemas.openxmlformats.org/drawingml/2006/main">
              <a:ext uri="{FF2B5EF4-FFF2-40B4-BE49-F238E27FC236}">
                <a16:creationId xmlns:a16="http://schemas.microsoft.com/office/drawing/2014/main" id="{26C9C7AE-A777-4B34-B75D-9F9DEC1C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286000"/>
            <a:ext cx="1466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validation / test</a:t>
            </a:r>
          </a:p>
        </p:txBody>
      </p:sp>
      <p:sp>
        <p:nvSpPr>
          <p:cNvPr id="34" name="control-0">
            <a:extLst xmlns:a="http://schemas.openxmlformats.org/drawingml/2006/main">
              <a:ext uri="{FF2B5EF4-FFF2-40B4-BE49-F238E27FC236}">
                <a16:creationId xmlns:a16="http://schemas.microsoft.com/office/drawing/2014/main" id="{786CEC10-036F-44BA-813B-C27B83F7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2381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5" name="control-0-title">
            <a:extLst xmlns:a="http://schemas.openxmlformats.org/drawingml/2006/main">
              <a:ext uri="{FF2B5EF4-FFF2-40B4-BE49-F238E27FC236}">
                <a16:creationId xmlns:a16="http://schemas.microsoft.com/office/drawing/2014/main" id="{2E03043B-57A1-44FA-BFF7-FAA269ED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529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near-tie filtering</a:t>
            </a:r>
          </a:p>
        </p:txBody>
      </p:sp>
      <p:sp>
        <p:nvSpPr>
          <p:cNvPr id="36" name="control-0-body">
            <a:extLst xmlns:a="http://schemas.openxmlformats.org/drawingml/2006/main">
              <a:ext uri="{FF2B5EF4-FFF2-40B4-BE49-F238E27FC236}">
                <a16:creationId xmlns:a16="http://schemas.microsoft.com/office/drawing/2014/main" id="{1F0B4FE2-966D-45F2-9A8A-0469D6FF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767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remove ambiguous fastest labels</a:t>
            </a:r>
          </a:p>
        </p:txBody>
      </p:sp>
      <p:sp>
        <p:nvSpPr>
          <p:cNvPr id="37" name="control-1">
            <a:extLst xmlns:a="http://schemas.openxmlformats.org/drawingml/2006/main">
              <a:ext uri="{FF2B5EF4-FFF2-40B4-BE49-F238E27FC236}">
                <a16:creationId xmlns:a16="http://schemas.microsoft.com/office/drawing/2014/main" id="{EC2100C1-3281-4AA3-88A3-EA64855B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00500"/>
            <a:ext cx="2381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8" name="control-1-title">
            <a:extLst xmlns:a="http://schemas.openxmlformats.org/drawingml/2006/main">
              <a:ext uri="{FF2B5EF4-FFF2-40B4-BE49-F238E27FC236}">
                <a16:creationId xmlns:a16="http://schemas.microsoft.com/office/drawing/2014/main" id="{42E3FCB9-9027-4094-9FA0-2A89649A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529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3x majority cap</a:t>
            </a:r>
          </a:p>
        </p:txBody>
      </p:sp>
      <p:sp>
        <p:nvSpPr>
          <p:cNvPr id="39" name="control-1-body">
            <a:extLst xmlns:a="http://schemas.openxmlformats.org/drawingml/2006/main">
              <a:ext uri="{FF2B5EF4-FFF2-40B4-BE49-F238E27FC236}">
                <a16:creationId xmlns:a16="http://schemas.microsoft.com/office/drawing/2014/main" id="{F8569EDC-DE1A-486F-9012-5B29D9D3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767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stop Timsort dominance</a:t>
            </a:r>
          </a:p>
        </p:txBody>
      </p:sp>
      <p:sp>
        <p:nvSpPr>
          <p:cNvPr id="40" name="control-2">
            <a:extLst xmlns:a="http://schemas.openxmlformats.org/drawingml/2006/main">
              <a:ext uri="{FF2B5EF4-FFF2-40B4-BE49-F238E27FC236}">
                <a16:creationId xmlns:a16="http://schemas.microsoft.com/office/drawing/2014/main" id="{39667332-5BBC-4872-8B00-1600C50E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00500"/>
            <a:ext cx="2381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1" name="control-2-title">
            <a:extLst xmlns:a="http://schemas.openxmlformats.org/drawingml/2006/main">
              <a:ext uri="{FF2B5EF4-FFF2-40B4-BE49-F238E27FC236}">
                <a16:creationId xmlns:a16="http://schemas.microsoft.com/office/drawing/2014/main" id="{2219064C-7D5D-4321-BEB9-CE623E1A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529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inverse-frequency weights</a:t>
            </a:r>
          </a:p>
        </p:txBody>
      </p:sp>
      <p:sp>
        <p:nvSpPr>
          <p:cNvPr id="42" name="control-2-body">
            <a:extLst xmlns:a="http://schemas.openxmlformats.org/drawingml/2006/main">
              <a:ext uri="{FF2B5EF4-FFF2-40B4-BE49-F238E27FC236}">
                <a16:creationId xmlns:a16="http://schemas.microsoft.com/office/drawing/2014/main" id="{7FAB7C87-77AA-4838-88B7-DBEC5A9A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767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minority classes matter during loss</a:t>
            </a:r>
          </a:p>
        </p:txBody>
      </p:sp>
      <p:sp>
        <p:nvSpPr>
          <p:cNvPr id="43" name="control-3">
            <a:extLst xmlns:a="http://schemas.openxmlformats.org/drawingml/2006/main">
              <a:ext uri="{FF2B5EF4-FFF2-40B4-BE49-F238E27FC236}">
                <a16:creationId xmlns:a16="http://schemas.microsoft.com/office/drawing/2014/main" id="{36EFC40F-558A-47D8-8774-3C4AE3CA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000500"/>
            <a:ext cx="2381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4" name="control-3-title">
            <a:extLst xmlns:a="http://schemas.openxmlformats.org/drawingml/2006/main">
              <a:ext uri="{FF2B5EF4-FFF2-40B4-BE49-F238E27FC236}">
                <a16:creationId xmlns:a16="http://schemas.microsoft.com/office/drawing/2014/main" id="{02F26CAC-BEC1-4736-A20E-F312A2C6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1529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seed 42</a:t>
            </a:r>
          </a:p>
        </p:txBody>
      </p:sp>
      <p:sp>
        <p:nvSpPr>
          <p:cNvPr id="45" name="control-3-body">
            <a:extLst xmlns:a="http://schemas.openxmlformats.org/drawingml/2006/main">
              <a:ext uri="{FF2B5EF4-FFF2-40B4-BE49-F238E27FC236}">
                <a16:creationId xmlns:a16="http://schemas.microsoft.com/office/drawing/2014/main" id="{8C4F71BC-2E38-4973-A16C-B4843D22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4767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stratified 70 / 15 / 15 split</a:t>
            </a:r>
          </a:p>
        </p:txBody>
      </p:sp>
    </p:spTree>
    <p:extLst>
      <p:ext uri="{BB962C8B-B14F-4D97-AF65-F5344CB8AC3E}">
        <p14:creationId xmlns:p14="http://schemas.microsoft.com/office/powerpoint/2010/main" val="9069593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CBC2B021-6573-4E9F-9513-DD2FC74E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40B3C770-0379-43FF-9793-35A0C481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B767BE87-7C5F-4510-8F6E-57A48ED1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0574969-9932-4E54-B4B0-52ABBD38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The model learns a probability for each sorting choice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9B2B5607-200A-4939-AB14-A5060FA6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8A92C704-ED77-46A3-BD46-7BB9EC42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13/28</a:t>
            </a:r>
          </a:p>
        </p:txBody>
      </p:sp>
      <p:sp>
        <p:nvSpPr>
          <p:cNvPr id="7" name="input">
            <a:extLst xmlns:a="http://schemas.openxmlformats.org/drawingml/2006/main">
              <a:ext uri="{FF2B5EF4-FFF2-40B4-BE49-F238E27FC236}">
                <a16:creationId xmlns:a16="http://schemas.microsoft.com/office/drawing/2014/main" id="{8E877C78-F2E9-4286-9A0D-5C0639FC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00250"/>
            <a:ext cx="2095500" cy="295275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input-title">
            <a:extLst xmlns:a="http://schemas.openxmlformats.org/drawingml/2006/main">
              <a:ext uri="{FF2B5EF4-FFF2-40B4-BE49-F238E27FC236}">
                <a16:creationId xmlns:a16="http://schemas.microsoft.com/office/drawing/2014/main" id="{216C9EA2-5008-4471-8EC7-AD70331B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1526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rPr>
              <a:t>f(x) in R^16</a:t>
            </a:r>
          </a:p>
        </p:txBody>
      </p:sp>
      <p:sp>
        <p:nvSpPr>
          <p:cNvPr id="9" name="input-body">
            <a:extLst xmlns:a="http://schemas.openxmlformats.org/drawingml/2006/main">
              <a:ext uri="{FF2B5EF4-FFF2-40B4-BE49-F238E27FC236}">
                <a16:creationId xmlns:a16="http://schemas.microsoft.com/office/drawing/2014/main" id="{DA515664-3D30-454A-9A8A-C2ACD1F1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476500"/>
            <a:ext cx="17526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length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runs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sortedness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duplicates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entropy</a:t>
            </a:r>
          </a:p>
        </p:txBody>
      </p:sp>
      <p:sp>
        <p:nvSpPr>
          <p:cNvPr id="10" name="model">
            <a:extLst xmlns:a="http://schemas.openxmlformats.org/drawingml/2006/main">
              <a:ext uri="{FF2B5EF4-FFF2-40B4-BE49-F238E27FC236}">
                <a16:creationId xmlns:a16="http://schemas.microsoft.com/office/drawing/2014/main" id="{91501302-5869-463C-AE6E-09F6A89A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000250"/>
            <a:ext cx="2857500" cy="295275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model-title">
            <a:extLst xmlns:a="http://schemas.openxmlformats.org/drawingml/2006/main">
              <a:ext uri="{FF2B5EF4-FFF2-40B4-BE49-F238E27FC236}">
                <a16:creationId xmlns:a16="http://schemas.microsoft.com/office/drawing/2014/main" id="{444D5D68-9729-4C83-8748-ADC0B628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1526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class probability model</a:t>
            </a:r>
          </a:p>
        </p:txBody>
      </p:sp>
      <p:sp>
        <p:nvSpPr>
          <p:cNvPr id="12" name="tree-dot-0">
            <a:extLst xmlns:a="http://schemas.openxmlformats.org/drawingml/2006/main">
              <a:ext uri="{FF2B5EF4-FFF2-40B4-BE49-F238E27FC236}">
                <a16:creationId xmlns:a16="http://schemas.microsoft.com/office/drawing/2014/main" id="{6093D00D-93FF-4645-8BDE-31DD95C9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8575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ree-dot-1">
            <a:extLst xmlns:a="http://schemas.openxmlformats.org/drawingml/2006/main">
              <a:ext uri="{FF2B5EF4-FFF2-40B4-BE49-F238E27FC236}">
                <a16:creationId xmlns:a16="http://schemas.microsoft.com/office/drawing/2014/main" id="{0B19E311-5E30-47AF-9EE1-CB00CA15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337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ree-dot-2">
            <a:extLst xmlns:a="http://schemas.openxmlformats.org/drawingml/2006/main">
              <a:ext uri="{FF2B5EF4-FFF2-40B4-BE49-F238E27FC236}">
                <a16:creationId xmlns:a16="http://schemas.microsoft.com/office/drawing/2014/main" id="{FACBB82C-CDCE-4FC9-9565-C04A6E47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575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ree-dot-3">
            <a:extLst xmlns:a="http://schemas.openxmlformats.org/drawingml/2006/main">
              <a:ext uri="{FF2B5EF4-FFF2-40B4-BE49-F238E27FC236}">
                <a16:creationId xmlns:a16="http://schemas.microsoft.com/office/drawing/2014/main" id="{A245D4E7-0AF7-449A-A7DF-DAEDF4A6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8100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ree-dot-4">
            <a:extLst xmlns:a="http://schemas.openxmlformats.org/drawingml/2006/main">
              <a:ext uri="{FF2B5EF4-FFF2-40B4-BE49-F238E27FC236}">
                <a16:creationId xmlns:a16="http://schemas.microsoft.com/office/drawing/2014/main" id="{F21FAE15-2B0E-46D6-BB6F-8137339E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8100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ree-l1">
            <a:extLst xmlns:a="http://schemas.openxmlformats.org/drawingml/2006/main">
              <a:ext uri="{FF2B5EF4-FFF2-40B4-BE49-F238E27FC236}">
                <a16:creationId xmlns:a16="http://schemas.microsoft.com/office/drawing/2014/main" id="{E038A44D-2F91-42C2-9AF9-C31E9179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52750"/>
            <a:ext cx="371475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18" name="tree-l2">
            <a:extLst xmlns:a="http://schemas.openxmlformats.org/drawingml/2006/main">
              <a:ext uri="{FF2B5EF4-FFF2-40B4-BE49-F238E27FC236}">
                <a16:creationId xmlns:a16="http://schemas.microsoft.com/office/drawing/2014/main" id="{B098CF5C-2921-4A5B-BFF0-E4B71AED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52750"/>
            <a:ext cx="-38100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19" name="tree-l3">
            <a:extLst xmlns:a="http://schemas.openxmlformats.org/drawingml/2006/main">
              <a:ext uri="{FF2B5EF4-FFF2-40B4-BE49-F238E27FC236}">
                <a16:creationId xmlns:a16="http://schemas.microsoft.com/office/drawing/2014/main" id="{46F106E8-47CE-4823-A709-5C30E11F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05200"/>
            <a:ext cx="-180975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20" name="tree-l4">
            <a:extLst xmlns:a="http://schemas.openxmlformats.org/drawingml/2006/main">
              <a:ext uri="{FF2B5EF4-FFF2-40B4-BE49-F238E27FC236}">
                <a16:creationId xmlns:a16="http://schemas.microsoft.com/office/drawing/2014/main" id="{596A6965-30FE-48F2-A0E6-CA96C02C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05200"/>
            <a:ext cx="200025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21" name="model-metric">
            <a:extLst xmlns:a="http://schemas.openxmlformats.org/drawingml/2006/main">
              <a:ext uri="{FF2B5EF4-FFF2-40B4-BE49-F238E27FC236}">
                <a16:creationId xmlns:a16="http://schemas.microsoft.com/office/drawing/2014/main" id="{F4CC325F-E6C4-4804-8404-446A02D8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3815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rPr>
              <a:t>objective: multi:softprob</a:t>
            </a:r>
          </a:p>
          <a:p xmlns:a="http://schemas.openxmlformats.org/drawingml/2006/main">
            <a:pPr algn="ctr">
              <a:defRPr sz="150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rPr>
              <a:t>metric: mlogloss</a:t>
            </a:r>
          </a:p>
        </p:txBody>
      </p:sp>
      <p:sp>
        <p:nvSpPr>
          <p:cNvPr id="22" name="output">
            <a:extLst xmlns:a="http://schemas.openxmlformats.org/drawingml/2006/main">
              <a:ext uri="{FF2B5EF4-FFF2-40B4-BE49-F238E27FC236}">
                <a16:creationId xmlns:a16="http://schemas.microsoft.com/office/drawing/2014/main" id="{5C279C7F-F8AD-4225-B448-BF74E574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000250"/>
            <a:ext cx="2952750" cy="2952750"/>
          </a:xfrm>
          <a:prstGeom xmlns:a="http://schemas.openxmlformats.org/drawingml/2006/main" prst="roundRect">
            <a:avLst>
              <a:gd name="adj" fmla="val 1935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output-title">
            <a:extLst xmlns:a="http://schemas.openxmlformats.org/drawingml/2006/main">
              <a:ext uri="{FF2B5EF4-FFF2-40B4-BE49-F238E27FC236}">
                <a16:creationId xmlns:a16="http://schemas.microsoft.com/office/drawing/2014/main" id="{B88925F9-A74B-40F1-89ED-EC0FA8C2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15265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output</a:t>
            </a:r>
          </a:p>
        </p:txBody>
      </p:sp>
      <p:sp>
        <p:nvSpPr>
          <p:cNvPr id="24" name="prob-name-0">
            <a:extLst xmlns:a="http://schemas.openxmlformats.org/drawingml/2006/main">
              <a:ext uri="{FF2B5EF4-FFF2-40B4-BE49-F238E27FC236}">
                <a16:creationId xmlns:a16="http://schemas.microsoft.com/office/drawing/2014/main" id="{256FB261-E822-43D9-98C5-F2A81655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714625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Introsort</a:t>
            </a:r>
          </a:p>
        </p:txBody>
      </p:sp>
      <p:sp>
        <p:nvSpPr>
          <p:cNvPr id="25" name="prob-bar-0">
            <a:extLst xmlns:a="http://schemas.openxmlformats.org/drawingml/2006/main">
              <a:ext uri="{FF2B5EF4-FFF2-40B4-BE49-F238E27FC236}">
                <a16:creationId xmlns:a16="http://schemas.microsoft.com/office/drawing/2014/main" id="{1BE00629-3609-4F78-AB02-213447EB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2771775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rob-name-1">
            <a:extLst xmlns:a="http://schemas.openxmlformats.org/drawingml/2006/main">
              <a:ext uri="{FF2B5EF4-FFF2-40B4-BE49-F238E27FC236}">
                <a16:creationId xmlns:a16="http://schemas.microsoft.com/office/drawing/2014/main" id="{379504CF-12B2-4984-970E-635A4FF1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305175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Heapsort</a:t>
            </a:r>
          </a:p>
        </p:txBody>
      </p:sp>
      <p:sp>
        <p:nvSpPr>
          <p:cNvPr id="27" name="prob-bar-1">
            <a:extLst xmlns:a="http://schemas.openxmlformats.org/drawingml/2006/main">
              <a:ext uri="{FF2B5EF4-FFF2-40B4-BE49-F238E27FC236}">
                <a16:creationId xmlns:a16="http://schemas.microsoft.com/office/drawing/2014/main" id="{BA8F5B68-F03E-4A23-A288-79A1F989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3362325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rob-name-2">
            <a:extLst xmlns:a="http://schemas.openxmlformats.org/drawingml/2006/main">
              <a:ext uri="{FF2B5EF4-FFF2-40B4-BE49-F238E27FC236}">
                <a16:creationId xmlns:a16="http://schemas.microsoft.com/office/drawing/2014/main" id="{8C3EE8F3-A854-4997-A3E5-791E33A9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895725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Timsort</a:t>
            </a:r>
          </a:p>
        </p:txBody>
      </p:sp>
      <p:sp>
        <p:nvSpPr>
          <p:cNvPr id="29" name="prob-bar-2">
            <a:extLst xmlns:a="http://schemas.openxmlformats.org/drawingml/2006/main">
              <a:ext uri="{FF2B5EF4-FFF2-40B4-BE49-F238E27FC236}">
                <a16:creationId xmlns:a16="http://schemas.microsoft.com/office/drawing/2014/main" id="{7CC3155B-1EF3-43A3-8B2E-915E47A5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3952875"/>
            <a:ext cx="9048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hoose">
            <a:extLst xmlns:a="http://schemas.openxmlformats.org/drawingml/2006/main">
              <a:ext uri="{FF2B5EF4-FFF2-40B4-BE49-F238E27FC236}">
                <a16:creationId xmlns:a16="http://schemas.microsoft.com/office/drawing/2014/main" id="{321EFA95-5962-4352-9716-D46E1B6C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333875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choose highest</a:t>
            </a:r>
          </a:p>
          <a:p xmlns:a="http://schemas.openxmlformats.org/drawingml/2006/main"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probability</a:t>
            </a:r>
          </a:p>
        </p:txBody>
      </p:sp>
      <p:sp>
        <p:nvSpPr>
          <p:cNvPr id="31" name="prob-a1-from">
            <a:extLst xmlns:a="http://schemas.openxmlformats.org/drawingml/2006/main">
              <a:ext uri="{FF2B5EF4-FFF2-40B4-BE49-F238E27FC236}">
                <a16:creationId xmlns:a16="http://schemas.microsoft.com/office/drawing/2014/main" id="{9686E3BD-5A94-4C15-AB4F-70DB51CF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4766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rob-a1-to">
            <a:extLst xmlns:a="http://schemas.openxmlformats.org/drawingml/2006/main">
              <a:ext uri="{FF2B5EF4-FFF2-40B4-BE49-F238E27FC236}">
                <a16:creationId xmlns:a16="http://schemas.microsoft.com/office/drawing/2014/main" id="{04B4B90B-365D-4CE4-BE8C-C1F35ABD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766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9" name="prob-a1"/>
          <p:cNvCxnSpPr>
            <a:stCxn xmlns:a="http://schemas.openxmlformats.org/drawingml/2006/main" id="31" idx="1"/>
            <a:endCxn xmlns:a="http://schemas.openxmlformats.org/drawingml/2006/main" id="32" idx="3"/>
          </p:cNvCxnSpPr>
          <p:nvPr/>
        </p:nvCxnSpPr>
        <p:spPr>
          <a:xfrm xmlns:a="http://schemas.openxmlformats.org/drawingml/2006/main" flipH="1">
            <a:off x="3638550" y="3486150"/>
            <a:ext cx="1790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34" name="prob-a2-from">
            <a:extLst xmlns:a="http://schemas.openxmlformats.org/drawingml/2006/main">
              <a:ext uri="{FF2B5EF4-FFF2-40B4-BE49-F238E27FC236}">
                <a16:creationId xmlns:a16="http://schemas.microsoft.com/office/drawing/2014/main" id="{25F6B2D9-F212-4031-A013-460F7D19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766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rob-a2-to">
            <a:extLst xmlns:a="http://schemas.openxmlformats.org/drawingml/2006/main">
              <a:ext uri="{FF2B5EF4-FFF2-40B4-BE49-F238E27FC236}">
                <a16:creationId xmlns:a16="http://schemas.microsoft.com/office/drawing/2014/main" id="{0BEDFB8F-724C-45C9-98EE-2EA3A064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7662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72" name="prob-a2"/>
          <p:cNvCxnSpPr>
            <a:stCxn xmlns:a="http://schemas.openxmlformats.org/drawingml/2006/main" id="34" idx="1"/>
            <a:endCxn xmlns:a="http://schemas.openxmlformats.org/drawingml/2006/main" id="35" idx="3"/>
          </p:cNvCxnSpPr>
          <p:nvPr/>
        </p:nvCxnSpPr>
        <p:spPr>
          <a:xfrm xmlns:a="http://schemas.openxmlformats.org/drawingml/2006/main" flipH="1">
            <a:off x="8543925" y="3486150"/>
            <a:ext cx="11715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</p:spTree>
    <p:extLst>
      <p:ext uri="{BB962C8B-B14F-4D97-AF65-F5344CB8AC3E}">
        <p14:creationId xmlns:p14="http://schemas.microsoft.com/office/powerpoint/2010/main" val="10478730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45B32E72-0ED6-4C5C-A76D-E0948B44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29ADE02F-9F8D-4A1C-8F97-5DE74164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060AD613-F4ED-467B-889F-9786232D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3A54AD0-5467-4F27-999F-FB94025A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The training signal is balanced before the trees learn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5F8CCE1A-C402-45F1-95D2-885783C4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25F1949B-EBE5-4385-8B1D-6980888B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14/28</a:t>
            </a:r>
          </a:p>
        </p:txBody>
      </p:sp>
      <p:sp>
        <p:nvSpPr>
          <p:cNvPr id="7" name="sig-0">
            <a:extLst xmlns:a="http://schemas.openxmlformats.org/drawingml/2006/main">
              <a:ext uri="{FF2B5EF4-FFF2-40B4-BE49-F238E27FC236}">
                <a16:creationId xmlns:a16="http://schemas.microsoft.com/office/drawing/2014/main" id="{8FBB1387-8A1E-4F69-B056-CB77D0C8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809750"/>
            <a:ext cx="2476500" cy="2857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sig-0-title">
            <a:extLst xmlns:a="http://schemas.openxmlformats.org/drawingml/2006/main">
              <a:ext uri="{FF2B5EF4-FFF2-40B4-BE49-F238E27FC236}">
                <a16:creationId xmlns:a16="http://schemas.microsoft.com/office/drawing/2014/main" id="{B0E7D2E0-EFA1-4278-B98C-8ED2AFAA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19621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raw fastest-label signal</a:t>
            </a:r>
          </a:p>
        </p:txBody>
      </p:sp>
      <p:sp>
        <p:nvSpPr>
          <p:cNvPr id="9" name="mini-bar-260-300-0">
            <a:extLst xmlns:a="http://schemas.openxmlformats.org/drawingml/2006/main">
              <a:ext uri="{FF2B5EF4-FFF2-40B4-BE49-F238E27FC236}">
                <a16:creationId xmlns:a16="http://schemas.microsoft.com/office/drawing/2014/main" id="{70B3FF36-69DF-48F0-A3A9-FF51F2D5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03083"/>
            <a:ext cx="152400" cy="173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ini-bar-260-300-1">
            <a:extLst xmlns:a="http://schemas.openxmlformats.org/drawingml/2006/main">
              <a:ext uri="{FF2B5EF4-FFF2-40B4-BE49-F238E27FC236}">
                <a16:creationId xmlns:a16="http://schemas.microsoft.com/office/drawing/2014/main" id="{26DB1AA5-0547-48B7-A117-8505E376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81587"/>
            <a:ext cx="152400" cy="295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ini-bar-260-300-2">
            <a:extLst xmlns:a="http://schemas.openxmlformats.org/drawingml/2006/main">
              <a:ext uri="{FF2B5EF4-FFF2-40B4-BE49-F238E27FC236}">
                <a16:creationId xmlns:a16="http://schemas.microsoft.com/office/drawing/2014/main" id="{ABEF4D67-2F76-40BD-A7D0-E385C2AE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30313"/>
            <a:ext cx="152400" cy="7463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ini-axis-260-300">
            <a:extLst xmlns:a="http://schemas.openxmlformats.org/drawingml/2006/main">
              <a:ext uri="{FF2B5EF4-FFF2-40B4-BE49-F238E27FC236}">
                <a16:creationId xmlns:a16="http://schemas.microsoft.com/office/drawing/2014/main" id="{0B31B52C-B838-4EB5-86BB-1702422F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6766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sig-label-0">
            <a:extLst xmlns:a="http://schemas.openxmlformats.org/drawingml/2006/main">
              <a:ext uri="{FF2B5EF4-FFF2-40B4-BE49-F238E27FC236}">
                <a16:creationId xmlns:a16="http://schemas.microsoft.com/office/drawing/2014/main" id="{A4172CC8-710D-4B93-8F18-3FC3B1EC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05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intro   heap   tim</a:t>
            </a:r>
          </a:p>
        </p:txBody>
      </p:sp>
      <p:sp>
        <p:nvSpPr>
          <p:cNvPr id="14" name="sig-1">
            <a:extLst xmlns:a="http://schemas.openxmlformats.org/drawingml/2006/main">
              <a:ext uri="{FF2B5EF4-FFF2-40B4-BE49-F238E27FC236}">
                <a16:creationId xmlns:a16="http://schemas.microsoft.com/office/drawing/2014/main" id="{F2D1D0AC-4B75-41F9-832A-95561201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09750"/>
            <a:ext cx="2476500" cy="2857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sig-1-title">
            <a:extLst xmlns:a="http://schemas.openxmlformats.org/drawingml/2006/main">
              <a:ext uri="{FF2B5EF4-FFF2-40B4-BE49-F238E27FC236}">
                <a16:creationId xmlns:a16="http://schemas.microsoft.com/office/drawing/2014/main" id="{9735202A-088E-4FE1-B815-A82A4974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9621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training controls</a:t>
            </a:r>
          </a:p>
        </p:txBody>
      </p:sp>
      <p:sp>
        <p:nvSpPr>
          <p:cNvPr id="16" name="mini-bar-675-300-0">
            <a:extLst xmlns:a="http://schemas.openxmlformats.org/drawingml/2006/main">
              <a:ext uri="{FF2B5EF4-FFF2-40B4-BE49-F238E27FC236}">
                <a16:creationId xmlns:a16="http://schemas.microsoft.com/office/drawing/2014/main" id="{87F22C1B-7475-46D9-AF05-564131EC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94803"/>
            <a:ext cx="152400" cy="3818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ini-bar-675-300-1">
            <a:extLst xmlns:a="http://schemas.openxmlformats.org/drawingml/2006/main">
              <a:ext uri="{FF2B5EF4-FFF2-40B4-BE49-F238E27FC236}">
                <a16:creationId xmlns:a16="http://schemas.microsoft.com/office/drawing/2014/main" id="{E5A6155A-BDB0-47BF-91CB-AA709D12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208020"/>
            <a:ext cx="152400" cy="468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ini-bar-675-300-2">
            <a:extLst xmlns:a="http://schemas.openxmlformats.org/drawingml/2006/main">
              <a:ext uri="{FF2B5EF4-FFF2-40B4-BE49-F238E27FC236}">
                <a16:creationId xmlns:a16="http://schemas.microsoft.com/office/drawing/2014/main" id="{7DF5817F-2162-4919-8F0B-254C674F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242733"/>
            <a:ext cx="152400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mini-axis-675-300">
            <a:extLst xmlns:a="http://schemas.openxmlformats.org/drawingml/2006/main">
              <a:ext uri="{FF2B5EF4-FFF2-40B4-BE49-F238E27FC236}">
                <a16:creationId xmlns:a16="http://schemas.microsoft.com/office/drawing/2014/main" id="{2338FEA7-340A-408F-93AE-791F4873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6766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sig-label-1">
            <a:extLst xmlns:a="http://schemas.openxmlformats.org/drawingml/2006/main">
              <a:ext uri="{FF2B5EF4-FFF2-40B4-BE49-F238E27FC236}">
                <a16:creationId xmlns:a16="http://schemas.microsoft.com/office/drawing/2014/main" id="{0B4E359C-3A51-4A26-8D60-38D0C8AD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905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intro   heap   tim</a:t>
            </a:r>
          </a:p>
        </p:txBody>
      </p:sp>
      <p:sp>
        <p:nvSpPr>
          <p:cNvPr id="21" name="sig-2">
            <a:extLst xmlns:a="http://schemas.openxmlformats.org/drawingml/2006/main">
              <a:ext uri="{FF2B5EF4-FFF2-40B4-BE49-F238E27FC236}">
                <a16:creationId xmlns:a16="http://schemas.microsoft.com/office/drawing/2014/main" id="{A6DFFAD2-E0BF-4F4A-B138-E110C1A5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809750"/>
            <a:ext cx="2476500" cy="2857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sig-2-title">
            <a:extLst xmlns:a="http://schemas.openxmlformats.org/drawingml/2006/main">
              <a:ext uri="{FF2B5EF4-FFF2-40B4-BE49-F238E27FC236}">
                <a16:creationId xmlns:a16="http://schemas.microsoft.com/office/drawing/2014/main" id="{CB66155D-1C0B-4F00-9D64-3E236010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9621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balanced loss pressure</a:t>
            </a:r>
          </a:p>
        </p:txBody>
      </p:sp>
      <p:sp>
        <p:nvSpPr>
          <p:cNvPr id="23" name="mini-bar-1090-300-0">
            <a:extLst xmlns:a="http://schemas.openxmlformats.org/drawingml/2006/main">
              <a:ext uri="{FF2B5EF4-FFF2-40B4-BE49-F238E27FC236}">
                <a16:creationId xmlns:a16="http://schemas.microsoft.com/office/drawing/2014/main" id="{1A40BB82-DF0A-4957-AC23-83AA5FFC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42733"/>
            <a:ext cx="152400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mini-bar-1090-300-1">
            <a:extLst xmlns:a="http://schemas.openxmlformats.org/drawingml/2006/main">
              <a:ext uri="{FF2B5EF4-FFF2-40B4-BE49-F238E27FC236}">
                <a16:creationId xmlns:a16="http://schemas.microsoft.com/office/drawing/2014/main" id="{E6429BB3-4E9C-4240-B4CE-80C5E31C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225377"/>
            <a:ext cx="152400" cy="451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8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mini-bar-1090-300-2">
            <a:extLst xmlns:a="http://schemas.openxmlformats.org/drawingml/2006/main">
              <a:ext uri="{FF2B5EF4-FFF2-40B4-BE49-F238E27FC236}">
                <a16:creationId xmlns:a16="http://schemas.microsoft.com/office/drawing/2014/main" id="{A30BD26F-4C8F-4616-BC10-A4E3C42C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234055"/>
            <a:ext cx="152400" cy="4425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mini-axis-1090-300">
            <a:extLst xmlns:a="http://schemas.openxmlformats.org/drawingml/2006/main">
              <a:ext uri="{FF2B5EF4-FFF2-40B4-BE49-F238E27FC236}">
                <a16:creationId xmlns:a16="http://schemas.microsoft.com/office/drawing/2014/main" id="{BA0BC1E7-9F95-4EDF-90D5-85219D4A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6766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7" name="sig-label-2">
            <a:extLst xmlns:a="http://schemas.openxmlformats.org/drawingml/2006/main">
              <a:ext uri="{FF2B5EF4-FFF2-40B4-BE49-F238E27FC236}">
                <a16:creationId xmlns:a16="http://schemas.microsoft.com/office/drawing/2014/main" id="{72BF9FCA-66A6-4B58-A287-74721666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05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intro   heap   tim</a:t>
            </a:r>
          </a:p>
        </p:txBody>
      </p:sp>
      <p:sp>
        <p:nvSpPr>
          <p:cNvPr id="28" name="sig-a1-from">
            <a:extLst xmlns:a="http://schemas.openxmlformats.org/drawingml/2006/main">
              <a:ext uri="{FF2B5EF4-FFF2-40B4-BE49-F238E27FC236}">
                <a16:creationId xmlns:a16="http://schemas.microsoft.com/office/drawing/2014/main" id="{30096F85-290C-4A98-A540-B547864A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238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ig-a1-to">
            <a:extLst xmlns:a="http://schemas.openxmlformats.org/drawingml/2006/main">
              <a:ext uri="{FF2B5EF4-FFF2-40B4-BE49-F238E27FC236}">
                <a16:creationId xmlns:a16="http://schemas.microsoft.com/office/drawing/2014/main" id="{502B5EB1-4477-4242-936C-F7DD253F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38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4" name="sig-a1"/>
          <p:cNvCxnSpPr>
            <a:stCxn xmlns:a="http://schemas.openxmlformats.org/drawingml/2006/main" id="28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4400550" y="3248025"/>
            <a:ext cx="10763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31" name="sig-a2-from">
            <a:extLst xmlns:a="http://schemas.openxmlformats.org/drawingml/2006/main">
              <a:ext uri="{FF2B5EF4-FFF2-40B4-BE49-F238E27FC236}">
                <a16:creationId xmlns:a16="http://schemas.microsoft.com/office/drawing/2014/main" id="{6EE4AFB0-0907-492B-8495-862D20B0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38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ig-a2-to">
            <a:extLst xmlns:a="http://schemas.openxmlformats.org/drawingml/2006/main">
              <a:ext uri="{FF2B5EF4-FFF2-40B4-BE49-F238E27FC236}">
                <a16:creationId xmlns:a16="http://schemas.microsoft.com/office/drawing/2014/main" id="{9D7AADBE-8424-4E06-8385-6880CDF8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385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7" name="sig-a2"/>
          <p:cNvCxnSpPr>
            <a:stCxn xmlns:a="http://schemas.openxmlformats.org/drawingml/2006/main" id="31" idx="1"/>
            <a:endCxn xmlns:a="http://schemas.openxmlformats.org/drawingml/2006/main" id="32" idx="3"/>
          </p:cNvCxnSpPr>
          <p:nvPr/>
        </p:nvCxnSpPr>
        <p:spPr>
          <a:xfrm xmlns:a="http://schemas.openxmlformats.org/drawingml/2006/main" flipH="1">
            <a:off x="8353425" y="3248025"/>
            <a:ext cx="10763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34" name="sig-bottom">
            <a:extLst xmlns:a="http://schemas.openxmlformats.org/drawingml/2006/main">
              <a:ext uri="{FF2B5EF4-FFF2-40B4-BE49-F238E27FC236}">
                <a16:creationId xmlns:a16="http://schemas.microsoft.com/office/drawing/2014/main" id="{21543C86-47DC-4FE8-A78E-89D4E1B0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667375"/>
            <a:ext cx="767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near-tie filtering + majority cap + inverse-frequency sample weights</a:t>
            </a:r>
          </a:p>
        </p:txBody>
      </p:sp>
    </p:spTree>
    <p:extLst>
      <p:ext uri="{BB962C8B-B14F-4D97-AF65-F5344CB8AC3E}">
        <p14:creationId xmlns:p14="http://schemas.microsoft.com/office/powerpoint/2010/main" val="188114379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7089E5ED-A9F1-4095-9636-AF2AF8F3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11910BF5-9E0C-4529-B935-3A35F43A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5E03EFD6-71C7-4ABD-BB5C-FB3BA85D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2DF83DF-836E-4EA7-913C-92751332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XGBoost corrects class scores using first and second order information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D692A06E-8E1B-41A8-8E8D-5DBD6865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2E8B3608-40D5-4F61-96FD-E956C945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15/28</a:t>
            </a:r>
          </a:p>
        </p:txBody>
      </p:sp>
      <p:sp>
        <p:nvSpPr>
          <p:cNvPr id="7" name="gradframe">
            <a:extLst xmlns:a="http://schemas.openxmlformats.org/drawingml/2006/main">
              <a:ext uri="{FF2B5EF4-FFF2-40B4-BE49-F238E27FC236}">
                <a16:creationId xmlns:a16="http://schemas.microsoft.com/office/drawing/2014/main" id="{6CEAA4E7-E80B-49D6-8F22-0481C154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000250"/>
            <a:ext cx="10525125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grad">
            <a:extLst xmlns:a="http://schemas.openxmlformats.org/drawingml/2006/main">
              <a:ext uri="{FF2B5EF4-FFF2-40B4-BE49-F238E27FC236}">
                <a16:creationId xmlns:a16="http://schemas.microsoft.com/office/drawing/2014/main" id="{2FED86CE-33F5-4273-9647-E0B8049C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00375"/>
            <a:ext cx="2857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grad-title">
            <a:extLst xmlns:a="http://schemas.openxmlformats.org/drawingml/2006/main">
              <a:ext uri="{FF2B5EF4-FFF2-40B4-BE49-F238E27FC236}">
                <a16:creationId xmlns:a16="http://schemas.microsoft.com/office/drawing/2014/main" id="{FD30E4FC-F8DA-4F3C-9B85-1D0F7026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5277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rPr>
              <a:t>first-order gradient</a:t>
            </a:r>
          </a:p>
        </p:txBody>
      </p:sp>
      <p:sp>
        <p:nvSpPr>
          <p:cNvPr id="10" name="grad-body">
            <a:extLst xmlns:a="http://schemas.openxmlformats.org/drawingml/2006/main">
              <a:ext uri="{FF2B5EF4-FFF2-40B4-BE49-F238E27FC236}">
                <a16:creationId xmlns:a16="http://schemas.microsoft.com/office/drawing/2014/main" id="{4B19F70B-F7B1-4B60-A76D-324739F8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76625"/>
            <a:ext cx="2514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direction of score correction</a:t>
            </a:r>
          </a:p>
        </p:txBody>
      </p:sp>
      <p:sp>
        <p:nvSpPr>
          <p:cNvPr id="11" name="grad-symbol">
            <a:extLst xmlns:a="http://schemas.openxmlformats.org/drawingml/2006/main">
              <a:ext uri="{FF2B5EF4-FFF2-40B4-BE49-F238E27FC236}">
                <a16:creationId xmlns:a16="http://schemas.microsoft.com/office/drawing/2014/main" id="{862996C9-B37B-43AD-AF84-26E45154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908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rPr>
              <a:t>∂L/∂ŷ</a:t>
            </a:r>
          </a:p>
        </p:txBody>
      </p:sp>
      <p:sp>
        <p:nvSpPr>
          <p:cNvPr id="12" name="hess">
            <a:extLst xmlns:a="http://schemas.openxmlformats.org/drawingml/2006/main">
              <a:ext uri="{FF2B5EF4-FFF2-40B4-BE49-F238E27FC236}">
                <a16:creationId xmlns:a16="http://schemas.microsoft.com/office/drawing/2014/main" id="{A34A0C33-EEEA-4DDB-902E-7220CEA9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0375"/>
            <a:ext cx="2857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hess-title">
            <a:extLst xmlns:a="http://schemas.openxmlformats.org/drawingml/2006/main">
              <a:ext uri="{FF2B5EF4-FFF2-40B4-BE49-F238E27FC236}">
                <a16:creationId xmlns:a16="http://schemas.microsoft.com/office/drawing/2014/main" id="{461A7C20-13D9-41FF-A3A0-97D6E505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5277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rPr>
              <a:t>second-order Hessian</a:t>
            </a:r>
          </a:p>
        </p:txBody>
      </p:sp>
      <p:sp>
        <p:nvSpPr>
          <p:cNvPr id="14" name="hess-body">
            <a:extLst xmlns:a="http://schemas.openxmlformats.org/drawingml/2006/main">
              <a:ext uri="{FF2B5EF4-FFF2-40B4-BE49-F238E27FC236}">
                <a16:creationId xmlns:a16="http://schemas.microsoft.com/office/drawing/2014/main" id="{0862AB49-5858-4B04-93F7-19029BF2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76625"/>
            <a:ext cx="2514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curvature / strength of correction</a:t>
            </a:r>
          </a:p>
        </p:txBody>
      </p:sp>
      <p:sp>
        <p:nvSpPr>
          <p:cNvPr id="15" name="hess-symbol">
            <a:extLst xmlns:a="http://schemas.openxmlformats.org/drawingml/2006/main">
              <a:ext uri="{FF2B5EF4-FFF2-40B4-BE49-F238E27FC236}">
                <a16:creationId xmlns:a16="http://schemas.microsoft.com/office/drawing/2014/main" id="{F5FDA15E-DD90-46B9-AAEF-CFA7B571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908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rPr>
              <a:t>∂²L/∂ŷ²</a:t>
            </a:r>
          </a:p>
        </p:txBody>
      </p:sp>
      <p:sp>
        <p:nvSpPr>
          <p:cNvPr id="16" name="gh-arrow-from">
            <a:extLst xmlns:a="http://schemas.openxmlformats.org/drawingml/2006/main">
              <a:ext uri="{FF2B5EF4-FFF2-40B4-BE49-F238E27FC236}">
                <a16:creationId xmlns:a16="http://schemas.microsoft.com/office/drawing/2014/main" id="{A45B8AB5-BB6F-49B8-B0A3-57E20714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718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h-arrow-to">
            <a:extLst xmlns:a="http://schemas.openxmlformats.org/drawingml/2006/main">
              <a:ext uri="{FF2B5EF4-FFF2-40B4-BE49-F238E27FC236}">
                <a16:creationId xmlns:a16="http://schemas.microsoft.com/office/drawing/2014/main" id="{EB530EBB-3FA8-4A92-9A62-F0E3EEA3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71875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7" name="gh-arrow"/>
          <p:cNvCxnSpPr>
            <a:stCxn xmlns:a="http://schemas.openxmlformats.org/drawingml/2006/main" id="16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6305550" y="3581400"/>
            <a:ext cx="20288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19" name="gh-bottom">
            <a:extLst xmlns:a="http://schemas.openxmlformats.org/drawingml/2006/main">
              <a:ext uri="{FF2B5EF4-FFF2-40B4-BE49-F238E27FC236}">
                <a16:creationId xmlns:a16="http://schemas.microsoft.com/office/drawing/2014/main" id="{A7DC725C-6D90-4A8F-A619-8C83B163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1012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rPr>
              <a:t>multi:softprob + mlogloss</a:t>
            </a:r>
          </a:p>
        </p:txBody>
      </p:sp>
    </p:spTree>
    <p:extLst>
      <p:ext uri="{BB962C8B-B14F-4D97-AF65-F5344CB8AC3E}">
        <p14:creationId xmlns:p14="http://schemas.microsoft.com/office/powerpoint/2010/main" val="88017713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04CD8519-918F-4F90-A71D-E732A506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B9484388-B82E-47AF-9A21-17322BCC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6A2B6CF1-2495-41D8-8870-B0392B0D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395C4D6-7941-4DC8-82E3-936297F0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The ensemble is constrained so it does not overfit timing noise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9588D1A8-5797-4D98-8419-F574C7F8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9F324AE4-175E-4E36-875C-67BA57C9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16/28</a:t>
            </a:r>
          </a:p>
        </p:txBody>
      </p:sp>
      <p:sp>
        <p:nvSpPr>
          <p:cNvPr id="7" name="tree-0">
            <a:extLst xmlns:a="http://schemas.openxmlformats.org/drawingml/2006/main">
              <a:ext uri="{FF2B5EF4-FFF2-40B4-BE49-F238E27FC236}">
                <a16:creationId xmlns:a16="http://schemas.microsoft.com/office/drawing/2014/main" id="{2E4EDABE-BCD6-4F8D-8545-44E54CC6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81250"/>
            <a:ext cx="1095375" cy="1428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tree-root-0">
            <a:extLst xmlns:a="http://schemas.openxmlformats.org/drawingml/2006/main">
              <a:ext uri="{FF2B5EF4-FFF2-40B4-BE49-F238E27FC236}">
                <a16:creationId xmlns:a16="http://schemas.microsoft.com/office/drawing/2014/main" id="{55DEA259-0DEF-4B6F-89C2-6463A74B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574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ree-l-0">
            <a:extLst xmlns:a="http://schemas.openxmlformats.org/drawingml/2006/main">
              <a:ext uri="{FF2B5EF4-FFF2-40B4-BE49-F238E27FC236}">
                <a16:creationId xmlns:a16="http://schemas.microsoft.com/office/drawing/2014/main" id="{9C28739C-942F-4647-85B8-7D8C2F76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257550"/>
            <a:ext cx="16192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ree-r-0">
            <a:extLst xmlns:a="http://schemas.openxmlformats.org/drawingml/2006/main">
              <a:ext uri="{FF2B5EF4-FFF2-40B4-BE49-F238E27FC236}">
                <a16:creationId xmlns:a16="http://schemas.microsoft.com/office/drawing/2014/main" id="{0AC7BBA4-DCAA-4ECB-9D9E-0D96E667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57550"/>
            <a:ext cx="16192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ree-ll-0">
            <a:extLst xmlns:a="http://schemas.openxmlformats.org/drawingml/2006/main">
              <a:ext uri="{FF2B5EF4-FFF2-40B4-BE49-F238E27FC236}">
                <a16:creationId xmlns:a16="http://schemas.microsoft.com/office/drawing/2014/main" id="{FBFCEE35-B9F9-4A78-99B6-6240369A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828925"/>
            <a:ext cx="-238125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12" name="tree-rr-0">
            <a:extLst xmlns:a="http://schemas.openxmlformats.org/drawingml/2006/main">
              <a:ext uri="{FF2B5EF4-FFF2-40B4-BE49-F238E27FC236}">
                <a16:creationId xmlns:a16="http://schemas.microsoft.com/office/drawing/2014/main" id="{BB9055C3-6E71-4F88-BC29-D18D1952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828925"/>
            <a:ext cx="24765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13" name="tree-1">
            <a:extLst xmlns:a="http://schemas.openxmlformats.org/drawingml/2006/main">
              <a:ext uri="{FF2B5EF4-FFF2-40B4-BE49-F238E27FC236}">
                <a16:creationId xmlns:a16="http://schemas.microsoft.com/office/drawing/2014/main" id="{588FC923-91B7-4A8C-B163-74B78551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81250"/>
            <a:ext cx="1095375" cy="1428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tree-root-1">
            <a:extLst xmlns:a="http://schemas.openxmlformats.org/drawingml/2006/main">
              <a:ext uri="{FF2B5EF4-FFF2-40B4-BE49-F238E27FC236}">
                <a16:creationId xmlns:a16="http://schemas.microsoft.com/office/drawing/2014/main" id="{95834E2D-F0C9-42CD-AD29-04156D11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574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ree-l-1">
            <a:extLst xmlns:a="http://schemas.openxmlformats.org/drawingml/2006/main">
              <a:ext uri="{FF2B5EF4-FFF2-40B4-BE49-F238E27FC236}">
                <a16:creationId xmlns:a16="http://schemas.microsoft.com/office/drawing/2014/main" id="{B4B08C1E-969B-4670-9A20-6485B803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257550"/>
            <a:ext cx="16192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ree-r-1">
            <a:extLst xmlns:a="http://schemas.openxmlformats.org/drawingml/2006/main">
              <a:ext uri="{FF2B5EF4-FFF2-40B4-BE49-F238E27FC236}">
                <a16:creationId xmlns:a16="http://schemas.microsoft.com/office/drawing/2014/main" id="{CA07430E-F657-4ABC-A7C7-B60D08AA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57550"/>
            <a:ext cx="16192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ree-ll-1">
            <a:extLst xmlns:a="http://schemas.openxmlformats.org/drawingml/2006/main">
              <a:ext uri="{FF2B5EF4-FFF2-40B4-BE49-F238E27FC236}">
                <a16:creationId xmlns:a16="http://schemas.microsoft.com/office/drawing/2014/main" id="{DBB964CD-73C7-4019-AC50-CA997CC6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828925"/>
            <a:ext cx="-238125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18" name="tree-rr-1">
            <a:extLst xmlns:a="http://schemas.openxmlformats.org/drawingml/2006/main">
              <a:ext uri="{FF2B5EF4-FFF2-40B4-BE49-F238E27FC236}">
                <a16:creationId xmlns:a16="http://schemas.microsoft.com/office/drawing/2014/main" id="{8A162D24-D0D8-4A8C-9315-58C6B661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828925"/>
            <a:ext cx="24765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19" name="tree-2">
            <a:extLst xmlns:a="http://schemas.openxmlformats.org/drawingml/2006/main">
              <a:ext uri="{FF2B5EF4-FFF2-40B4-BE49-F238E27FC236}">
                <a16:creationId xmlns:a16="http://schemas.microsoft.com/office/drawing/2014/main" id="{E8225DD9-3580-47DF-848F-A837262B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81250"/>
            <a:ext cx="1095375" cy="1428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tree-root-2">
            <a:extLst xmlns:a="http://schemas.openxmlformats.org/drawingml/2006/main">
              <a:ext uri="{FF2B5EF4-FFF2-40B4-BE49-F238E27FC236}">
                <a16:creationId xmlns:a16="http://schemas.microsoft.com/office/drawing/2014/main" id="{98D9EA1C-1BE4-4D38-811F-79647D8C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574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ree-l-2">
            <a:extLst xmlns:a="http://schemas.openxmlformats.org/drawingml/2006/main">
              <a:ext uri="{FF2B5EF4-FFF2-40B4-BE49-F238E27FC236}">
                <a16:creationId xmlns:a16="http://schemas.microsoft.com/office/drawing/2014/main" id="{37D741C3-BCC6-4E4A-A02A-70079A28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257550"/>
            <a:ext cx="16192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ree-r-2">
            <a:extLst xmlns:a="http://schemas.openxmlformats.org/drawingml/2006/main">
              <a:ext uri="{FF2B5EF4-FFF2-40B4-BE49-F238E27FC236}">
                <a16:creationId xmlns:a16="http://schemas.microsoft.com/office/drawing/2014/main" id="{2492B42B-826E-4F53-817D-11C910B6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57550"/>
            <a:ext cx="16192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ree-ll-2">
            <a:extLst xmlns:a="http://schemas.openxmlformats.org/drawingml/2006/main">
              <a:ext uri="{FF2B5EF4-FFF2-40B4-BE49-F238E27FC236}">
                <a16:creationId xmlns:a16="http://schemas.microsoft.com/office/drawing/2014/main" id="{482A51E9-586F-44B1-A79F-5B0DDEE2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828925"/>
            <a:ext cx="-238125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24" name="tree-rr-2">
            <a:extLst xmlns:a="http://schemas.openxmlformats.org/drawingml/2006/main">
              <a:ext uri="{FF2B5EF4-FFF2-40B4-BE49-F238E27FC236}">
                <a16:creationId xmlns:a16="http://schemas.microsoft.com/office/drawing/2014/main" id="{6446E8D9-4862-4754-85EB-F4AE19E0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828925"/>
            <a:ext cx="24765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8"/>
            </a:solidFill>
            <a:prstDash val="solid"/>
          </a:ln>
        </p:spPr>
      </p:sp>
      <p:sp>
        <p:nvSpPr>
          <p:cNvPr id="25" name="param-0">
            <a:extLst xmlns:a="http://schemas.openxmlformats.org/drawingml/2006/main">
              <a:ext uri="{FF2B5EF4-FFF2-40B4-BE49-F238E27FC236}">
                <a16:creationId xmlns:a16="http://schemas.microsoft.com/office/drawing/2014/main" id="{CF19791C-954F-45AE-8A95-DAD13A21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09750"/>
            <a:ext cx="295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param-text-0">
            <a:extLst xmlns:a="http://schemas.openxmlformats.org/drawingml/2006/main">
              <a:ext uri="{FF2B5EF4-FFF2-40B4-BE49-F238E27FC236}">
                <a16:creationId xmlns:a16="http://schemas.microsoft.com/office/drawing/2014/main" id="{DAA97085-9B2B-496F-B040-738BF65E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038350"/>
            <a:ext cx="249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Learning rate: </a:t>
            </a:r>
            <a:r>
              <a:rPr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0.05</a:t>
            </a:r>
          </a:p>
        </p:txBody>
      </p:sp>
      <p:sp>
        <p:nvSpPr>
          <p:cNvPr id="27" name="param-1">
            <a:extLst xmlns:a="http://schemas.openxmlformats.org/drawingml/2006/main">
              <a:ext uri="{FF2B5EF4-FFF2-40B4-BE49-F238E27FC236}">
                <a16:creationId xmlns:a16="http://schemas.microsoft.com/office/drawing/2014/main" id="{B9676EAF-B18A-4F85-AF8C-68118471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05125"/>
            <a:ext cx="295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8" name="param-text-1">
            <a:extLst xmlns:a="http://schemas.openxmlformats.org/drawingml/2006/main">
              <a:ext uri="{FF2B5EF4-FFF2-40B4-BE49-F238E27FC236}">
                <a16:creationId xmlns:a16="http://schemas.microsoft.com/office/drawing/2014/main" id="{B617BC85-DDBC-4F52-91EB-765ED410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33725"/>
            <a:ext cx="249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Tree depth: </a:t>
            </a:r>
            <a:r>
              <a:rPr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29" name="param-2">
            <a:extLst xmlns:a="http://schemas.openxmlformats.org/drawingml/2006/main">
              <a:ext uri="{FF2B5EF4-FFF2-40B4-BE49-F238E27FC236}">
                <a16:creationId xmlns:a16="http://schemas.microsoft.com/office/drawing/2014/main" id="{7F164DE8-208C-40FF-AFE5-D35F54B4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00500"/>
            <a:ext cx="295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0" name="param-text-2">
            <a:extLst xmlns:a="http://schemas.openxmlformats.org/drawingml/2006/main">
              <a:ext uri="{FF2B5EF4-FFF2-40B4-BE49-F238E27FC236}">
                <a16:creationId xmlns:a16="http://schemas.microsoft.com/office/drawing/2014/main" id="{FC084E3B-3052-4995-90E0-A9DCA033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29100"/>
            <a:ext cx="249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Number of trees: </a:t>
            </a:r>
            <a:r>
              <a:rPr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500</a:t>
            </a:r>
          </a:p>
        </p:txBody>
      </p:sp>
      <p:sp>
        <p:nvSpPr>
          <p:cNvPr id="31" name="param-3">
            <a:extLst xmlns:a="http://schemas.openxmlformats.org/drawingml/2006/main">
              <a:ext uri="{FF2B5EF4-FFF2-40B4-BE49-F238E27FC236}">
                <a16:creationId xmlns:a16="http://schemas.microsoft.com/office/drawing/2014/main" id="{B7D5E025-77ED-4CE4-A4A9-70504545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809750"/>
            <a:ext cx="295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2" name="param-text-3">
            <a:extLst xmlns:a="http://schemas.openxmlformats.org/drawingml/2006/main">
              <a:ext uri="{FF2B5EF4-FFF2-40B4-BE49-F238E27FC236}">
                <a16:creationId xmlns:a16="http://schemas.microsoft.com/office/drawing/2014/main" id="{FAC3A65E-424D-4DE6-9863-D866F2A0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038350"/>
            <a:ext cx="249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Row sample: </a:t>
            </a:r>
            <a:r>
              <a:rPr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80%</a:t>
            </a:r>
          </a:p>
        </p:txBody>
      </p:sp>
      <p:sp>
        <p:nvSpPr>
          <p:cNvPr id="33" name="param-4">
            <a:extLst xmlns:a="http://schemas.openxmlformats.org/drawingml/2006/main">
              <a:ext uri="{FF2B5EF4-FFF2-40B4-BE49-F238E27FC236}">
                <a16:creationId xmlns:a16="http://schemas.microsoft.com/office/drawing/2014/main" id="{E0590D1B-8D46-47D8-95DC-551C3A97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05125"/>
            <a:ext cx="295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4" name="param-text-4">
            <a:extLst xmlns:a="http://schemas.openxmlformats.org/drawingml/2006/main">
              <a:ext uri="{FF2B5EF4-FFF2-40B4-BE49-F238E27FC236}">
                <a16:creationId xmlns:a16="http://schemas.microsoft.com/office/drawing/2014/main" id="{CBC339FD-7656-4BCD-B546-33CF4DE0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133725"/>
            <a:ext cx="249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Feature sample: </a:t>
            </a:r>
            <a:r>
              <a:rPr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80%</a:t>
            </a:r>
          </a:p>
        </p:txBody>
      </p:sp>
      <p:sp>
        <p:nvSpPr>
          <p:cNvPr id="35" name="param-5">
            <a:extLst xmlns:a="http://schemas.openxmlformats.org/drawingml/2006/main">
              <a:ext uri="{FF2B5EF4-FFF2-40B4-BE49-F238E27FC236}">
                <a16:creationId xmlns:a16="http://schemas.microsoft.com/office/drawing/2014/main" id="{E8DDDAF4-B97F-4F3B-9C0C-2276A692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0"/>
            <a:ext cx="295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6" name="param-text-5">
            <a:extLst xmlns:a="http://schemas.openxmlformats.org/drawingml/2006/main">
              <a:ext uri="{FF2B5EF4-FFF2-40B4-BE49-F238E27FC236}">
                <a16:creationId xmlns:a16="http://schemas.microsoft.com/office/drawing/2014/main" id="{A11258F3-B63F-4C86-95D0-FFFC0666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229100"/>
            <a:ext cx="249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Regularisation: </a:t>
            </a:r>
            <a:r>
              <a:rPr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L1 / L2</a:t>
            </a:r>
          </a:p>
        </p:txBody>
      </p:sp>
      <p:sp>
        <p:nvSpPr>
          <p:cNvPr id="37" name="trees-label">
            <a:extLst xmlns:a="http://schemas.openxmlformats.org/drawingml/2006/main">
              <a:ext uri="{FF2B5EF4-FFF2-40B4-BE49-F238E27FC236}">
                <a16:creationId xmlns:a16="http://schemas.microsoft.com/office/drawing/2014/main" id="{6759278A-DA13-4469-894B-FA43A5DF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338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boosted tree ensemble</a:t>
            </a:r>
          </a:p>
        </p:txBody>
      </p:sp>
    </p:spTree>
    <p:extLst>
      <p:ext uri="{BB962C8B-B14F-4D97-AF65-F5344CB8AC3E}">
        <p14:creationId xmlns:p14="http://schemas.microsoft.com/office/powerpoint/2010/main" val="128579580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8FE5ED61-22AA-4335-AD7E-F6473F29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A8F0D3E6-B0F9-4D57-8575-2AAD0A3F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A3F7E5E5-6CBE-40F6-BB10-62409219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4815A24-7BF6-40D4-817B-EBCEA842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Strict checks define the boundary of the reported result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C7D3D2F6-1FF7-4DBF-B81D-3EBE1C1C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5972A20-2D50-4227-8FF1-C0CFF676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17/28</a:t>
            </a:r>
          </a:p>
        </p:txBody>
      </p:sp>
      <p:sp>
        <p:nvSpPr>
          <p:cNvPr id="7" name="strict-chart">
            <a:extLst xmlns:a="http://schemas.openxmlformats.org/drawingml/2006/main">
              <a:ext uri="{FF2B5EF4-FFF2-40B4-BE49-F238E27FC236}">
                <a16:creationId xmlns:a16="http://schemas.microsoft.com/office/drawing/2014/main" id="{E4316242-96AA-448B-91E7-6D24930C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714500"/>
            <a:ext cx="10858500" cy="4238625"/>
          </a:xfrm>
          <a:prstGeom xmlns:a="http://schemas.openxmlformats.org/drawingml/2006/main" prst="roundRect">
            <a:avLst>
              <a:gd name="adj" fmla="val 1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strict-axis">
            <a:extLst xmlns:a="http://schemas.openxmlformats.org/drawingml/2006/main">
              <a:ext uri="{FF2B5EF4-FFF2-40B4-BE49-F238E27FC236}">
                <a16:creationId xmlns:a16="http://schemas.microsoft.com/office/drawing/2014/main" id="{25C59729-3286-4396-B1DC-12650D08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914900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  <p:sp>
        <p:nvSpPr>
          <p:cNvPr id="9" name="strict-yaxis">
            <a:extLst xmlns:a="http://schemas.openxmlformats.org/drawingml/2006/main">
              <a:ext uri="{FF2B5EF4-FFF2-40B4-BE49-F238E27FC236}">
                <a16:creationId xmlns:a16="http://schemas.microsoft.com/office/drawing/2014/main" id="{A3ADDC3A-4002-488B-87E7-857532B0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81250"/>
            <a:ext cx="0" cy="2533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  <p:sp>
        <p:nvSpPr>
          <p:cNvPr id="10" name="strict-bar-0-0">
            <a:extLst xmlns:a="http://schemas.openxmlformats.org/drawingml/2006/main">
              <a:ext uri="{FF2B5EF4-FFF2-40B4-BE49-F238E27FC236}">
                <a16:creationId xmlns:a16="http://schemas.microsoft.com/office/drawing/2014/main" id="{68BF0628-A68D-4B9B-8C02-4C806D2C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75254"/>
            <a:ext cx="419100" cy="17396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rict-val-0-0">
            <a:extLst xmlns:a="http://schemas.openxmlformats.org/drawingml/2006/main">
              <a:ext uri="{FF2B5EF4-FFF2-40B4-BE49-F238E27FC236}">
                <a16:creationId xmlns:a16="http://schemas.microsoft.com/office/drawing/2014/main" id="{3C489F02-33E7-4849-8081-A5E08109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27604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76.1%</a:t>
            </a:r>
          </a:p>
        </p:txBody>
      </p:sp>
      <p:sp>
        <p:nvSpPr>
          <p:cNvPr id="12" name="strict-bar-0-1">
            <a:extLst xmlns:a="http://schemas.openxmlformats.org/drawingml/2006/main">
              <a:ext uri="{FF2B5EF4-FFF2-40B4-BE49-F238E27FC236}">
                <a16:creationId xmlns:a16="http://schemas.microsoft.com/office/drawing/2014/main" id="{2A4351A9-B728-4BA1-AA4B-A0AB2C6C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12414"/>
            <a:ext cx="419100" cy="16024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rict-val-0-1">
            <a:extLst xmlns:a="http://schemas.openxmlformats.org/drawingml/2006/main">
              <a:ext uri="{FF2B5EF4-FFF2-40B4-BE49-F238E27FC236}">
                <a16:creationId xmlns:a16="http://schemas.microsoft.com/office/drawing/2014/main" id="{98BC41BA-D128-4D78-92E1-41BE0A19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064764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70.1%</a:t>
            </a:r>
          </a:p>
        </p:txBody>
      </p:sp>
      <p:sp>
        <p:nvSpPr>
          <p:cNvPr id="14" name="strict-cat-0">
            <a:extLst xmlns:a="http://schemas.openxmlformats.org/drawingml/2006/main">
              <a:ext uri="{FF2B5EF4-FFF2-40B4-BE49-F238E27FC236}">
                <a16:creationId xmlns:a16="http://schemas.microsoft.com/office/drawing/2014/main" id="{9D42D6ED-C8E5-44F4-81E5-3F1718B5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91100"/>
            <a:ext cx="17478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v5</a:t>
            </a:r>
          </a:p>
        </p:txBody>
      </p:sp>
      <p:sp>
        <p:nvSpPr>
          <p:cNvPr id="15" name="strict-bar-1-0">
            <a:extLst xmlns:a="http://schemas.openxmlformats.org/drawingml/2006/main">
              <a:ext uri="{FF2B5EF4-FFF2-40B4-BE49-F238E27FC236}">
                <a16:creationId xmlns:a16="http://schemas.microsoft.com/office/drawing/2014/main" id="{216E7FB1-63A7-4435-A250-614E38CA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988" y="3287268"/>
            <a:ext cx="419100" cy="16276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rict-val-1-0">
            <a:extLst xmlns:a="http://schemas.openxmlformats.org/drawingml/2006/main">
              <a:ext uri="{FF2B5EF4-FFF2-40B4-BE49-F238E27FC236}">
                <a16:creationId xmlns:a16="http://schemas.microsoft.com/office/drawing/2014/main" id="{D3571504-E200-4D72-BFCC-64BC4AB3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5438" y="3039618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71.2%</a:t>
            </a:r>
          </a:p>
        </p:txBody>
      </p:sp>
      <p:sp>
        <p:nvSpPr>
          <p:cNvPr id="17" name="strict-bar-1-1">
            <a:extLst xmlns:a="http://schemas.openxmlformats.org/drawingml/2006/main">
              <a:ext uri="{FF2B5EF4-FFF2-40B4-BE49-F238E27FC236}">
                <a16:creationId xmlns:a16="http://schemas.microsoft.com/office/drawing/2014/main" id="{1D4CBA9A-C3E3-498A-870C-23CD1490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713" y="3396996"/>
            <a:ext cx="419100" cy="1517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rict-val-1-1">
            <a:extLst xmlns:a="http://schemas.openxmlformats.org/drawingml/2006/main">
              <a:ext uri="{FF2B5EF4-FFF2-40B4-BE49-F238E27FC236}">
                <a16:creationId xmlns:a16="http://schemas.microsoft.com/office/drawing/2014/main" id="{1FC816B9-3AE8-4F06-A8C7-36697EFB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2163" y="3149346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66.4%</a:t>
            </a:r>
          </a:p>
        </p:txBody>
      </p:sp>
      <p:sp>
        <p:nvSpPr>
          <p:cNvPr id="19" name="strict-cat-1">
            <a:extLst xmlns:a="http://schemas.openxmlformats.org/drawingml/2006/main">
              <a:ext uri="{FF2B5EF4-FFF2-40B4-BE49-F238E27FC236}">
                <a16:creationId xmlns:a16="http://schemas.microsoft.com/office/drawing/2014/main" id="{6609C3BF-3AFE-4629-9E5C-E19D353A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8788" y="4991100"/>
            <a:ext cx="17478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v6</a:t>
            </a:r>
          </a:p>
        </p:txBody>
      </p:sp>
      <p:sp>
        <p:nvSpPr>
          <p:cNvPr id="20" name="strict-bar-2-0">
            <a:extLst xmlns:a="http://schemas.openxmlformats.org/drawingml/2006/main">
              <a:ext uri="{FF2B5EF4-FFF2-40B4-BE49-F238E27FC236}">
                <a16:creationId xmlns:a16="http://schemas.microsoft.com/office/drawing/2014/main" id="{C4D792C4-A1A6-4214-B1C2-8940BC79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248406"/>
            <a:ext cx="419100" cy="16664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trict-val-2-0">
            <a:extLst xmlns:a="http://schemas.openxmlformats.org/drawingml/2006/main">
              <a:ext uri="{FF2B5EF4-FFF2-40B4-BE49-F238E27FC236}">
                <a16:creationId xmlns:a16="http://schemas.microsoft.com/office/drawing/2014/main" id="{32B993DD-96CE-47DE-B9DE-36BC50DB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000756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72.9%</a:t>
            </a:r>
          </a:p>
        </p:txBody>
      </p:sp>
      <p:sp>
        <p:nvSpPr>
          <p:cNvPr id="22" name="strict-bar-2-1">
            <a:extLst xmlns:a="http://schemas.openxmlformats.org/drawingml/2006/main">
              <a:ext uri="{FF2B5EF4-FFF2-40B4-BE49-F238E27FC236}">
                <a16:creationId xmlns:a16="http://schemas.microsoft.com/office/drawing/2014/main" id="{A6B94AAF-F7B3-4A75-9EBA-AFD1ED12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99282"/>
            <a:ext cx="419100" cy="15156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trict-val-2-1">
            <a:extLst xmlns:a="http://schemas.openxmlformats.org/drawingml/2006/main">
              <a:ext uri="{FF2B5EF4-FFF2-40B4-BE49-F238E27FC236}">
                <a16:creationId xmlns:a16="http://schemas.microsoft.com/office/drawing/2014/main" id="{8806AE4D-F3ED-4388-AE8B-6E54139C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51632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66.3%</a:t>
            </a:r>
          </a:p>
        </p:txBody>
      </p:sp>
      <p:sp>
        <p:nvSpPr>
          <p:cNvPr id="24" name="strict-cat-2">
            <a:extLst xmlns:a="http://schemas.openxmlformats.org/drawingml/2006/main">
              <a:ext uri="{FF2B5EF4-FFF2-40B4-BE49-F238E27FC236}">
                <a16:creationId xmlns:a16="http://schemas.microsoft.com/office/drawing/2014/main" id="{DBC92A84-60EC-4742-A723-53E6D607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991100"/>
            <a:ext cx="17478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v7</a:t>
            </a:r>
          </a:p>
        </p:txBody>
      </p:sp>
      <p:sp>
        <p:nvSpPr>
          <p:cNvPr id="25" name="strict-bar-3-0">
            <a:extLst xmlns:a="http://schemas.openxmlformats.org/drawingml/2006/main">
              <a:ext uri="{FF2B5EF4-FFF2-40B4-BE49-F238E27FC236}">
                <a16:creationId xmlns:a16="http://schemas.microsoft.com/office/drawing/2014/main" id="{9730F9BE-EEC5-4CAD-93EE-06CF7027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3255264"/>
            <a:ext cx="419100" cy="16596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trict-val-3-0">
            <a:extLst xmlns:a="http://schemas.openxmlformats.org/drawingml/2006/main">
              <a:ext uri="{FF2B5EF4-FFF2-40B4-BE49-F238E27FC236}">
                <a16:creationId xmlns:a16="http://schemas.microsoft.com/office/drawing/2014/main" id="{C7C9F158-9980-49C6-B253-14B1EC55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113" y="3007614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72.6%</a:t>
            </a:r>
          </a:p>
        </p:txBody>
      </p:sp>
      <p:sp>
        <p:nvSpPr>
          <p:cNvPr id="27" name="strict-bar-3-1">
            <a:extLst xmlns:a="http://schemas.openxmlformats.org/drawingml/2006/main">
              <a:ext uri="{FF2B5EF4-FFF2-40B4-BE49-F238E27FC236}">
                <a16:creationId xmlns:a16="http://schemas.microsoft.com/office/drawing/2014/main" id="{246C94F2-C5F3-451D-A809-8C6888E6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7388" y="3536442"/>
            <a:ext cx="419100" cy="13784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trict-val-3-1">
            <a:extLst xmlns:a="http://schemas.openxmlformats.org/drawingml/2006/main">
              <a:ext uri="{FF2B5EF4-FFF2-40B4-BE49-F238E27FC236}">
                <a16:creationId xmlns:a16="http://schemas.microsoft.com/office/drawing/2014/main" id="{78348EFA-1A53-44AE-86A4-32C82E5D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7838" y="3288792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60.3%</a:t>
            </a:r>
          </a:p>
        </p:txBody>
      </p:sp>
      <p:sp>
        <p:nvSpPr>
          <p:cNvPr id="29" name="strict-cat-3">
            <a:extLst xmlns:a="http://schemas.openxmlformats.org/drawingml/2006/main">
              <a:ext uri="{FF2B5EF4-FFF2-40B4-BE49-F238E27FC236}">
                <a16:creationId xmlns:a16="http://schemas.microsoft.com/office/drawing/2014/main" id="{FC4B90AD-BCF5-47D0-BF68-C3B289D3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463" y="4991100"/>
            <a:ext cx="17478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v8</a:t>
            </a:r>
          </a:p>
        </p:txBody>
      </p:sp>
      <p:sp>
        <p:nvSpPr>
          <p:cNvPr id="30" name="strict-legend">
            <a:extLst xmlns:a="http://schemas.openxmlformats.org/drawingml/2006/main">
              <a:ext uri="{FF2B5EF4-FFF2-40B4-BE49-F238E27FC236}">
                <a16:creationId xmlns:a16="http://schemas.microsoft.com/office/drawing/2014/main" id="{7102567E-98D5-4406-A104-DBBEF9E5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812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Accuracy / balanced accuracy</a:t>
            </a:r>
          </a:p>
          <a:p xmlns:a="http://schemas.openxmlformats.org/drawingml/2006/main"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under stricter checks</a:t>
            </a:r>
          </a:p>
        </p:txBody>
      </p:sp>
    </p:spTree>
    <p:extLst>
      <p:ext uri="{BB962C8B-B14F-4D97-AF65-F5344CB8AC3E}">
        <p14:creationId xmlns:p14="http://schemas.microsoft.com/office/powerpoint/2010/main" val="97699204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BBC18A7C-BEE4-4319-B7F1-41D17664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804A6D7B-F0C7-487D-9233-E6A7A693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BCF04B8C-4EF3-4434-A8F2-B79EE635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90FC9B7-63E5-4D30-8CC3-9815F611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Model evolution reduced the problem to its deployable form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256E53D4-A55C-400C-802C-35788F1F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1DAB850E-C891-4145-98CD-6701131F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18/28</a:t>
            </a:r>
          </a:p>
        </p:txBody>
      </p:sp>
      <p:sp>
        <p:nvSpPr>
          <p:cNvPr id="7" name="evo-frame">
            <a:extLst xmlns:a="http://schemas.openxmlformats.org/drawingml/2006/main">
              <a:ext uri="{FF2B5EF4-FFF2-40B4-BE49-F238E27FC236}">
                <a16:creationId xmlns:a16="http://schemas.microsoft.com/office/drawing/2014/main" id="{70CB0C2B-72F8-46D0-832B-48F426D2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66875"/>
            <a:ext cx="11334750" cy="42862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evo-bar-0">
            <a:extLst xmlns:a="http://schemas.openxmlformats.org/drawingml/2006/main">
              <a:ext uri="{FF2B5EF4-FFF2-40B4-BE49-F238E27FC236}">
                <a16:creationId xmlns:a16="http://schemas.microsoft.com/office/drawing/2014/main" id="{D014661C-07A2-4FBF-9CB0-DF2D6B6D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9998"/>
            <a:ext cx="666750" cy="11630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vo-val-0">
            <a:extLst xmlns:a="http://schemas.openxmlformats.org/drawingml/2006/main">
              <a:ext uri="{FF2B5EF4-FFF2-40B4-BE49-F238E27FC236}">
                <a16:creationId xmlns:a16="http://schemas.microsoft.com/office/drawing/2014/main" id="{060DE1DE-E999-4F9B-B5D8-376E8C91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561398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44.4%</a:t>
            </a:r>
          </a:p>
        </p:txBody>
      </p:sp>
      <p:sp>
        <p:nvSpPr>
          <p:cNvPr id="10" name="evo-ver-0">
            <a:extLst xmlns:a="http://schemas.openxmlformats.org/drawingml/2006/main">
              <a:ext uri="{FF2B5EF4-FFF2-40B4-BE49-F238E27FC236}">
                <a16:creationId xmlns:a16="http://schemas.microsoft.com/office/drawing/2014/main" id="{EA694157-24A2-4EBC-933C-6C1AF9AD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67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v1</a:t>
            </a:r>
          </a:p>
        </p:txBody>
      </p:sp>
      <p:sp>
        <p:nvSpPr>
          <p:cNvPr id="11" name="evo-note-0">
            <a:extLst xmlns:a="http://schemas.openxmlformats.org/drawingml/2006/main">
              <a:ext uri="{FF2B5EF4-FFF2-40B4-BE49-F238E27FC236}">
                <a16:creationId xmlns:a16="http://schemas.microsoft.com/office/drawing/2014/main" id="{A2281A82-2471-4D31-BCE6-1D734D52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295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regression</a:t>
            </a:r>
          </a:p>
        </p:txBody>
      </p:sp>
      <p:sp>
        <p:nvSpPr>
          <p:cNvPr id="12" name="evo-bar-1">
            <a:extLst xmlns:a="http://schemas.openxmlformats.org/drawingml/2006/main">
              <a:ext uri="{FF2B5EF4-FFF2-40B4-BE49-F238E27FC236}">
                <a16:creationId xmlns:a16="http://schemas.microsoft.com/office/drawing/2014/main" id="{634C69E1-537E-4385-929D-C11ECB3C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15891"/>
            <a:ext cx="666750" cy="1637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vo-val-1">
            <a:extLst xmlns:a="http://schemas.openxmlformats.org/drawingml/2006/main">
              <a:ext uri="{FF2B5EF4-FFF2-40B4-BE49-F238E27FC236}">
                <a16:creationId xmlns:a16="http://schemas.microsoft.com/office/drawing/2014/main" id="{1743110C-712B-4B9D-B7B2-82D0E372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087291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62.5%</a:t>
            </a:r>
          </a:p>
        </p:txBody>
      </p:sp>
      <p:sp>
        <p:nvSpPr>
          <p:cNvPr id="14" name="evo-ver-1">
            <a:extLst xmlns:a="http://schemas.openxmlformats.org/drawingml/2006/main">
              <a:ext uri="{FF2B5EF4-FFF2-40B4-BE49-F238E27FC236}">
                <a16:creationId xmlns:a16="http://schemas.microsoft.com/office/drawing/2014/main" id="{741D4BA5-DF1D-4718-ADBE-71B10356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067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v2</a:t>
            </a:r>
          </a:p>
        </p:txBody>
      </p:sp>
      <p:sp>
        <p:nvSpPr>
          <p:cNvPr id="15" name="evo-note-1">
            <a:extLst xmlns:a="http://schemas.openxmlformats.org/drawingml/2006/main">
              <a:ext uri="{FF2B5EF4-FFF2-40B4-BE49-F238E27FC236}">
                <a16:creationId xmlns:a16="http://schemas.microsoft.com/office/drawing/2014/main" id="{E7D84E0F-AA20-4A24-8037-4793AED2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95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classifier</a:t>
            </a:r>
          </a:p>
        </p:txBody>
      </p:sp>
      <p:sp>
        <p:nvSpPr>
          <p:cNvPr id="16" name="evo-bar-2">
            <a:extLst xmlns:a="http://schemas.openxmlformats.org/drawingml/2006/main">
              <a:ext uri="{FF2B5EF4-FFF2-40B4-BE49-F238E27FC236}">
                <a16:creationId xmlns:a16="http://schemas.microsoft.com/office/drawing/2014/main" id="{82937A35-87D7-4D8A-BAFF-A1629D9C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33625"/>
            <a:ext cx="66675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vo-val-2">
            <a:extLst xmlns:a="http://schemas.openxmlformats.org/drawingml/2006/main">
              <a:ext uri="{FF2B5EF4-FFF2-40B4-BE49-F238E27FC236}">
                <a16:creationId xmlns:a16="http://schemas.microsoft.com/office/drawing/2014/main" id="{EC0D3873-EBB5-46EE-B3B9-C3677D62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05025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100.0%</a:t>
            </a:r>
          </a:p>
        </p:txBody>
      </p:sp>
      <p:sp>
        <p:nvSpPr>
          <p:cNvPr id="18" name="evo-ver-2">
            <a:extLst xmlns:a="http://schemas.openxmlformats.org/drawingml/2006/main">
              <a:ext uri="{FF2B5EF4-FFF2-40B4-BE49-F238E27FC236}">
                <a16:creationId xmlns:a16="http://schemas.microsoft.com/office/drawing/2014/main" id="{E81977A2-EF32-40E2-BDFC-4B280181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67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v3</a:t>
            </a:r>
          </a:p>
        </p:txBody>
      </p:sp>
      <p:sp>
        <p:nvSpPr>
          <p:cNvPr id="19" name="evo-note-2">
            <a:extLst xmlns:a="http://schemas.openxmlformats.org/drawingml/2006/main">
              <a:ext uri="{FF2B5EF4-FFF2-40B4-BE49-F238E27FC236}">
                <a16:creationId xmlns:a16="http://schemas.microsoft.com/office/drawing/2014/main" id="{F7A163DA-F602-417B-BF48-884BA492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295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leakage</a:t>
            </a:r>
          </a:p>
        </p:txBody>
      </p:sp>
      <p:sp>
        <p:nvSpPr>
          <p:cNvPr id="20" name="evo-bar-3">
            <a:extLst xmlns:a="http://schemas.openxmlformats.org/drawingml/2006/main">
              <a:ext uri="{FF2B5EF4-FFF2-40B4-BE49-F238E27FC236}">
                <a16:creationId xmlns:a16="http://schemas.microsoft.com/office/drawing/2014/main" id="{D792E8B3-8E79-4273-B73D-484BFE4E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59656"/>
            <a:ext cx="666750" cy="19933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evo-val-3">
            <a:extLst xmlns:a="http://schemas.openxmlformats.org/drawingml/2006/main">
              <a:ext uri="{FF2B5EF4-FFF2-40B4-BE49-F238E27FC236}">
                <a16:creationId xmlns:a16="http://schemas.microsoft.com/office/drawing/2014/main" id="{A5266F88-A99A-430D-BD9C-AF86257D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731056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76.1%</a:t>
            </a:r>
          </a:p>
        </p:txBody>
      </p:sp>
      <p:sp>
        <p:nvSpPr>
          <p:cNvPr id="22" name="evo-ver-3">
            <a:extLst xmlns:a="http://schemas.openxmlformats.org/drawingml/2006/main">
              <a:ext uri="{FF2B5EF4-FFF2-40B4-BE49-F238E27FC236}">
                <a16:creationId xmlns:a16="http://schemas.microsoft.com/office/drawing/2014/main" id="{DBC2EE1B-3BE5-48AA-9311-1A7DFB02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067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v5</a:t>
            </a:r>
          </a:p>
        </p:txBody>
      </p:sp>
      <p:sp>
        <p:nvSpPr>
          <p:cNvPr id="23" name="evo-note-3">
            <a:extLst xmlns:a="http://schemas.openxmlformats.org/drawingml/2006/main">
              <a:ext uri="{FF2B5EF4-FFF2-40B4-BE49-F238E27FC236}">
                <a16:creationId xmlns:a16="http://schemas.microsoft.com/office/drawing/2014/main" id="{CE5731B3-DF2C-4499-A7AC-98F6A0E1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95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production</a:t>
            </a:r>
          </a:p>
        </p:txBody>
      </p:sp>
      <p:sp>
        <p:nvSpPr>
          <p:cNvPr id="24" name="evo-bar-4">
            <a:extLst xmlns:a="http://schemas.openxmlformats.org/drawingml/2006/main">
              <a:ext uri="{FF2B5EF4-FFF2-40B4-BE49-F238E27FC236}">
                <a16:creationId xmlns:a16="http://schemas.microsoft.com/office/drawing/2014/main" id="{00C1720D-FAC3-4131-94F7-C014A3DE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88005"/>
            <a:ext cx="666750" cy="186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evo-val-4">
            <a:extLst xmlns:a="http://schemas.openxmlformats.org/drawingml/2006/main">
              <a:ext uri="{FF2B5EF4-FFF2-40B4-BE49-F238E27FC236}">
                <a16:creationId xmlns:a16="http://schemas.microsoft.com/office/drawing/2014/main" id="{101D7420-EF3E-477A-A5D5-360E619B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59405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71.2%</a:t>
            </a:r>
          </a:p>
        </p:txBody>
      </p:sp>
      <p:sp>
        <p:nvSpPr>
          <p:cNvPr id="26" name="evo-ver-4">
            <a:extLst xmlns:a="http://schemas.openxmlformats.org/drawingml/2006/main">
              <a:ext uri="{FF2B5EF4-FFF2-40B4-BE49-F238E27FC236}">
                <a16:creationId xmlns:a16="http://schemas.microsoft.com/office/drawing/2014/main" id="{008BFD44-612D-4DE9-B49E-D958F6F0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67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v6</a:t>
            </a:r>
          </a:p>
        </p:txBody>
      </p:sp>
      <p:sp>
        <p:nvSpPr>
          <p:cNvPr id="27" name="evo-note-4">
            <a:extLst xmlns:a="http://schemas.openxmlformats.org/drawingml/2006/main">
              <a:ext uri="{FF2B5EF4-FFF2-40B4-BE49-F238E27FC236}">
                <a16:creationId xmlns:a16="http://schemas.microsoft.com/office/drawing/2014/main" id="{5757C6B1-9A7B-4E95-ACCD-2BF1504D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295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source-aware</a:t>
            </a:r>
          </a:p>
        </p:txBody>
      </p:sp>
      <p:sp>
        <p:nvSpPr>
          <p:cNvPr id="28" name="evo-bar-5">
            <a:extLst xmlns:a="http://schemas.openxmlformats.org/drawingml/2006/main">
              <a:ext uri="{FF2B5EF4-FFF2-40B4-BE49-F238E27FC236}">
                <a16:creationId xmlns:a16="http://schemas.microsoft.com/office/drawing/2014/main" id="{0DDA3FF7-A719-4835-86B8-C79150F1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43476"/>
            <a:ext cx="666750" cy="19095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evo-val-5">
            <a:extLst xmlns:a="http://schemas.openxmlformats.org/drawingml/2006/main">
              <a:ext uri="{FF2B5EF4-FFF2-40B4-BE49-F238E27FC236}">
                <a16:creationId xmlns:a16="http://schemas.microsoft.com/office/drawing/2014/main" id="{E67B88B9-627F-47E0-957A-27900EA2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814876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72.9%</a:t>
            </a:r>
          </a:p>
        </p:txBody>
      </p:sp>
      <p:sp>
        <p:nvSpPr>
          <p:cNvPr id="30" name="evo-ver-5">
            <a:extLst xmlns:a="http://schemas.openxmlformats.org/drawingml/2006/main">
              <a:ext uri="{FF2B5EF4-FFF2-40B4-BE49-F238E27FC236}">
                <a16:creationId xmlns:a16="http://schemas.microsoft.com/office/drawing/2014/main" id="{CA65DF5D-B429-47A8-B9B9-06EDACBA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067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v7</a:t>
            </a:r>
          </a:p>
        </p:txBody>
      </p:sp>
      <p:sp>
        <p:nvSpPr>
          <p:cNvPr id="31" name="evo-note-5">
            <a:extLst xmlns:a="http://schemas.openxmlformats.org/drawingml/2006/main">
              <a:ext uri="{FF2B5EF4-FFF2-40B4-BE49-F238E27FC236}">
                <a16:creationId xmlns:a16="http://schemas.microsoft.com/office/drawing/2014/main" id="{B597A97C-F286-4D12-9FD7-0A6E6A79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95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regret</a:t>
            </a:r>
          </a:p>
        </p:txBody>
      </p:sp>
      <p:sp>
        <p:nvSpPr>
          <p:cNvPr id="32" name="evo-bar-6">
            <a:extLst xmlns:a="http://schemas.openxmlformats.org/drawingml/2006/main">
              <a:ext uri="{FF2B5EF4-FFF2-40B4-BE49-F238E27FC236}">
                <a16:creationId xmlns:a16="http://schemas.microsoft.com/office/drawing/2014/main" id="{966953C6-C17C-472A-9833-204067F4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51334"/>
            <a:ext cx="666750" cy="19016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evo-val-6">
            <a:extLst xmlns:a="http://schemas.openxmlformats.org/drawingml/2006/main">
              <a:ext uri="{FF2B5EF4-FFF2-40B4-BE49-F238E27FC236}">
                <a16:creationId xmlns:a16="http://schemas.microsoft.com/office/drawing/2014/main" id="{CDA2D3F2-E51C-4AA8-9A85-6A2A096E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22734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72.6%</a:t>
            </a:r>
          </a:p>
        </p:txBody>
      </p:sp>
      <p:sp>
        <p:nvSpPr>
          <p:cNvPr id="34" name="evo-ver-6">
            <a:extLst xmlns:a="http://schemas.openxmlformats.org/drawingml/2006/main">
              <a:ext uri="{FF2B5EF4-FFF2-40B4-BE49-F238E27FC236}">
                <a16:creationId xmlns:a16="http://schemas.microsoft.com/office/drawing/2014/main" id="{76E8AC2D-0E60-40F1-895F-4BD53D2C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67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v8</a:t>
            </a:r>
          </a:p>
        </p:txBody>
      </p:sp>
      <p:sp>
        <p:nvSpPr>
          <p:cNvPr id="35" name="evo-note-6">
            <a:extLst xmlns:a="http://schemas.openxmlformats.org/drawingml/2006/main">
              <a:ext uri="{FF2B5EF4-FFF2-40B4-BE49-F238E27FC236}">
                <a16:creationId xmlns:a16="http://schemas.microsoft.com/office/drawing/2014/main" id="{F19F388E-B617-43E0-BD2E-30ED20FB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295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cascade</a:t>
            </a:r>
          </a:p>
        </p:txBody>
      </p:sp>
      <p:sp>
        <p:nvSpPr>
          <p:cNvPr id="36" name="evo-axis">
            <a:extLst xmlns:a="http://schemas.openxmlformats.org/drawingml/2006/main">
              <a:ext uri="{FF2B5EF4-FFF2-40B4-BE49-F238E27FC236}">
                <a16:creationId xmlns:a16="http://schemas.microsoft.com/office/drawing/2014/main" id="{F3B7059C-DC8B-4730-B21B-D1D4E9B6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530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0779335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3444ABE1-A8FA-493D-983C-A1CA0869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60BF35D0-C51D-4112-A521-137E3386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DF53AFDF-4638-4340-9DF8-77E4D160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6C326A0-09E7-44E2-9E77-79A052A9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Evaluation measures distance from SBS to VBS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7A8B5B21-EC88-465E-93F2-D2219F88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2418FACD-F60B-4507-B6CA-4E0F7C89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19/28</a:t>
            </a:r>
          </a:p>
        </p:txBody>
      </p:sp>
      <p:sp>
        <p:nvSpPr>
          <p:cNvPr id="7" name="eval-0">
            <a:extLst xmlns:a="http://schemas.openxmlformats.org/drawingml/2006/main">
              <a:ext uri="{FF2B5EF4-FFF2-40B4-BE49-F238E27FC236}">
                <a16:creationId xmlns:a16="http://schemas.microsoft.com/office/drawing/2014/main" id="{D4DDEF79-D818-4329-AFE3-B6343F48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57375"/>
            <a:ext cx="3000375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eval-0-title">
            <a:extLst xmlns:a="http://schemas.openxmlformats.org/drawingml/2006/main">
              <a:ext uri="{FF2B5EF4-FFF2-40B4-BE49-F238E27FC236}">
                <a16:creationId xmlns:a16="http://schemas.microsoft.com/office/drawing/2014/main" id="{13DC000A-D649-44FB-9D03-02708571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009775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SBS</a:t>
            </a:r>
          </a:p>
        </p:txBody>
      </p:sp>
      <p:sp>
        <p:nvSpPr>
          <p:cNvPr id="9" name="eval-0-body">
            <a:extLst xmlns:a="http://schemas.openxmlformats.org/drawingml/2006/main">
              <a:ext uri="{FF2B5EF4-FFF2-40B4-BE49-F238E27FC236}">
                <a16:creationId xmlns:a16="http://schemas.microsoft.com/office/drawing/2014/main" id="{2D7DF45D-B6CD-4F75-8597-6BCBEEA3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333625"/>
            <a:ext cx="265747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best fixed algorithm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over the evaluation set</a:t>
            </a:r>
          </a:p>
        </p:txBody>
      </p:sp>
      <p:sp>
        <p:nvSpPr>
          <p:cNvPr id="10" name="eval-1">
            <a:extLst xmlns:a="http://schemas.openxmlformats.org/drawingml/2006/main">
              <a:ext uri="{FF2B5EF4-FFF2-40B4-BE49-F238E27FC236}">
                <a16:creationId xmlns:a16="http://schemas.microsoft.com/office/drawing/2014/main" id="{BB5275C0-E533-4CB0-83C6-833C2910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57375"/>
            <a:ext cx="3000375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eval-1-title">
            <a:extLst xmlns:a="http://schemas.openxmlformats.org/drawingml/2006/main">
              <a:ext uri="{FF2B5EF4-FFF2-40B4-BE49-F238E27FC236}">
                <a16:creationId xmlns:a16="http://schemas.microsoft.com/office/drawing/2014/main" id="{9563D8D8-633D-435B-8F35-4B3399C5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09775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VBS</a:t>
            </a:r>
          </a:p>
        </p:txBody>
      </p:sp>
      <p:sp>
        <p:nvSpPr>
          <p:cNvPr id="12" name="eval-1-body">
            <a:extLst xmlns:a="http://schemas.openxmlformats.org/drawingml/2006/main">
              <a:ext uri="{FF2B5EF4-FFF2-40B4-BE49-F238E27FC236}">
                <a16:creationId xmlns:a16="http://schemas.microsoft.com/office/drawing/2014/main" id="{B5B3A608-D988-4914-9C04-19448A12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33625"/>
            <a:ext cx="265747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oracle fastest algorithm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for each array</a:t>
            </a:r>
          </a:p>
        </p:txBody>
      </p:sp>
      <p:sp>
        <p:nvSpPr>
          <p:cNvPr id="13" name="eval-2">
            <a:extLst xmlns:a="http://schemas.openxmlformats.org/drawingml/2006/main">
              <a:ext uri="{FF2B5EF4-FFF2-40B4-BE49-F238E27FC236}">
                <a16:creationId xmlns:a16="http://schemas.microsoft.com/office/drawing/2014/main" id="{338CAEF1-01E7-474E-8A0E-4AB45865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57375"/>
            <a:ext cx="3000375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eval-2-title">
            <a:extLst xmlns:a="http://schemas.openxmlformats.org/drawingml/2006/main">
              <a:ext uri="{FF2B5EF4-FFF2-40B4-BE49-F238E27FC236}">
                <a16:creationId xmlns:a16="http://schemas.microsoft.com/office/drawing/2014/main" id="{135A5244-41FF-45FC-804F-31F89CF1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09775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Model</a:t>
            </a:r>
          </a:p>
        </p:txBody>
      </p:sp>
      <p:sp>
        <p:nvSpPr>
          <p:cNvPr id="15" name="eval-2-body">
            <a:extLst xmlns:a="http://schemas.openxmlformats.org/drawingml/2006/main">
              <a:ext uri="{FF2B5EF4-FFF2-40B4-BE49-F238E27FC236}">
                <a16:creationId xmlns:a16="http://schemas.microsoft.com/office/drawing/2014/main" id="{7E1F23A1-3CC9-480B-B9D6-F76BE299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33625"/>
            <a:ext cx="265747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choose before execution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using structural features</a:t>
            </a:r>
          </a:p>
        </p:txBody>
      </p:sp>
      <p:sp>
        <p:nvSpPr>
          <p:cNvPr id="16" name="regret">
            <a:extLst xmlns:a="http://schemas.openxmlformats.org/drawingml/2006/main">
              <a:ext uri="{FF2B5EF4-FFF2-40B4-BE49-F238E27FC236}">
                <a16:creationId xmlns:a16="http://schemas.microsoft.com/office/drawing/2014/main" id="{96034382-D65D-4001-8B38-3AD54E73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i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i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Regret = T_model − T_VBS</a:t>
            </a:r>
          </a:p>
        </p:txBody>
      </p:sp>
      <p:sp>
        <p:nvSpPr>
          <p:cNvPr id="17" name="gap">
            <a:extLst xmlns:a="http://schemas.openxmlformats.org/drawingml/2006/main">
              <a:ext uri="{FF2B5EF4-FFF2-40B4-BE49-F238E27FC236}">
                <a16:creationId xmlns:a16="http://schemas.microsoft.com/office/drawing/2014/main" id="{0F8630EA-6315-444A-83FF-E1925A51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7625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i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i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Gap Closed = (T_SBS − T_model) / (T_SBS − T_VBS)</a:t>
            </a:r>
          </a:p>
        </p:txBody>
      </p:sp>
      <p:sp>
        <p:nvSpPr>
          <p:cNvPr id="18" name="eval-note">
            <a:extLst xmlns:a="http://schemas.openxmlformats.org/drawingml/2006/main">
              <a:ext uri="{FF2B5EF4-FFF2-40B4-BE49-F238E27FC236}">
                <a16:creationId xmlns:a16="http://schemas.microsoft.com/office/drawing/2014/main" id="{7E90CF74-2D48-4466-A193-FB429FED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9055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Gap closed gives the fraction of the SBS-to-VBS improvement captured by the selector.</a:t>
            </a:r>
          </a:p>
        </p:txBody>
      </p:sp>
    </p:spTree>
    <p:extLst>
      <p:ext uri="{BB962C8B-B14F-4D97-AF65-F5344CB8AC3E}">
        <p14:creationId xmlns:p14="http://schemas.microsoft.com/office/powerpoint/2010/main" val="129622189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943A6DE1-1265-4756-97DB-A95FCB6D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804B70F4-EF3A-4F3A-BEA6-48A22C6A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9A9762E8-7E9C-4C98-A292-4FBCA598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DB45B00-EA7B-40E1-BC40-044D991E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Accuracy alone is insufficient for algorithm selection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8247090E-7AB8-45BD-90BE-18F626B1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443794C5-7FF4-4627-B9EA-D6B1FE02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20/28</a:t>
            </a:r>
          </a:p>
        </p:txBody>
      </p:sp>
      <p:sp>
        <p:nvSpPr>
          <p:cNvPr id="7" name="acc-frame">
            <a:extLst xmlns:a="http://schemas.openxmlformats.org/drawingml/2006/main">
              <a:ext uri="{FF2B5EF4-FFF2-40B4-BE49-F238E27FC236}">
                <a16:creationId xmlns:a16="http://schemas.microsoft.com/office/drawing/2014/main" id="{E1FBB1A9-BE32-46D1-A2FF-73E15034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666875"/>
            <a:ext cx="10810875" cy="4381500"/>
          </a:xfrm>
          <a:prstGeom xmlns:a="http://schemas.openxmlformats.org/drawingml/2006/main" prst="roundRect">
            <a:avLst>
              <a:gd name="adj" fmla="val 13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accgap-axis">
            <a:extLst xmlns:a="http://schemas.openxmlformats.org/drawingml/2006/main">
              <a:ext uri="{FF2B5EF4-FFF2-40B4-BE49-F238E27FC236}">
                <a16:creationId xmlns:a16="http://schemas.microsoft.com/office/drawing/2014/main" id="{407112F1-39D1-495C-AE5A-BFAC1BE5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962525"/>
            <a:ext cx="773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  <p:sp>
        <p:nvSpPr>
          <p:cNvPr id="9" name="accgap-yaxis">
            <a:extLst xmlns:a="http://schemas.openxmlformats.org/drawingml/2006/main">
              <a:ext uri="{FF2B5EF4-FFF2-40B4-BE49-F238E27FC236}">
                <a16:creationId xmlns:a16="http://schemas.microsoft.com/office/drawing/2014/main" id="{894AD228-BC0D-4CAE-A63E-727B67C2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33625"/>
            <a:ext cx="0" cy="2628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  <p:sp>
        <p:nvSpPr>
          <p:cNvPr id="10" name="accgap-bar-0-0">
            <a:extLst xmlns:a="http://schemas.openxmlformats.org/drawingml/2006/main">
              <a:ext uri="{FF2B5EF4-FFF2-40B4-BE49-F238E27FC236}">
                <a16:creationId xmlns:a16="http://schemas.microsoft.com/office/drawing/2014/main" id="{5B6D4DAE-D59A-4903-B1BE-EF08191A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905250"/>
            <a:ext cx="4191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ccgap-val-0-0">
            <a:extLst xmlns:a="http://schemas.openxmlformats.org/drawingml/2006/main">
              <a:ext uri="{FF2B5EF4-FFF2-40B4-BE49-F238E27FC236}">
                <a16:creationId xmlns:a16="http://schemas.microsoft.com/office/drawing/2014/main" id="{2D33A16C-82BB-4DCD-AD7A-4596393D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576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44.4%</a:t>
            </a:r>
          </a:p>
        </p:txBody>
      </p:sp>
      <p:sp>
        <p:nvSpPr>
          <p:cNvPr id="12" name="accgap-bar-0-1">
            <a:extLst xmlns:a="http://schemas.openxmlformats.org/drawingml/2006/main">
              <a:ext uri="{FF2B5EF4-FFF2-40B4-BE49-F238E27FC236}">
                <a16:creationId xmlns:a16="http://schemas.microsoft.com/office/drawing/2014/main" id="{922F58C8-5362-42BB-B155-D58690E6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128963"/>
            <a:ext cx="419100" cy="1833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ccgap-val-0-1">
            <a:extLst xmlns:a="http://schemas.openxmlformats.org/drawingml/2006/main">
              <a:ext uri="{FF2B5EF4-FFF2-40B4-BE49-F238E27FC236}">
                <a16:creationId xmlns:a16="http://schemas.microsoft.com/office/drawing/2014/main" id="{E2D5F6CB-F098-482D-A250-AD0288B3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881313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77.0%</a:t>
            </a:r>
          </a:p>
        </p:txBody>
      </p:sp>
      <p:sp>
        <p:nvSpPr>
          <p:cNvPr id="14" name="accgap-cat-0">
            <a:extLst xmlns:a="http://schemas.openxmlformats.org/drawingml/2006/main">
              <a:ext uri="{FF2B5EF4-FFF2-40B4-BE49-F238E27FC236}">
                <a16:creationId xmlns:a16="http://schemas.microsoft.com/office/drawing/2014/main" id="{A07EF54B-7D6E-411C-9FD2-621A7E86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038725"/>
            <a:ext cx="1260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v1</a:t>
            </a:r>
          </a:p>
        </p:txBody>
      </p:sp>
      <p:sp>
        <p:nvSpPr>
          <p:cNvPr id="15" name="accgap-bar-1-0">
            <a:extLst xmlns:a="http://schemas.openxmlformats.org/drawingml/2006/main">
              <a:ext uri="{FF2B5EF4-FFF2-40B4-BE49-F238E27FC236}">
                <a16:creationId xmlns:a16="http://schemas.microsoft.com/office/drawing/2014/main" id="{6AF14985-389A-432E-83B0-2BEA1ED2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1375" y="3474244"/>
            <a:ext cx="419100" cy="1488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ccgap-val-1-0">
            <a:extLst xmlns:a="http://schemas.openxmlformats.org/drawingml/2006/main">
              <a:ext uri="{FF2B5EF4-FFF2-40B4-BE49-F238E27FC236}">
                <a16:creationId xmlns:a16="http://schemas.microsoft.com/office/drawing/2014/main" id="{5307E7C1-91B7-4504-9297-F3EAB672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1825" y="3226594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62.5%</a:t>
            </a:r>
          </a:p>
        </p:txBody>
      </p:sp>
      <p:sp>
        <p:nvSpPr>
          <p:cNvPr id="17" name="accgap-bar-1-1">
            <a:extLst xmlns:a="http://schemas.openxmlformats.org/drawingml/2006/main">
              <a:ext uri="{FF2B5EF4-FFF2-40B4-BE49-F238E27FC236}">
                <a16:creationId xmlns:a16="http://schemas.microsoft.com/office/drawing/2014/main" id="{3EB58CC2-28B7-4567-9990-5FEC67CE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100" y="4962525"/>
            <a:ext cx="4191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ccgap-val-1-1">
            <a:extLst xmlns:a="http://schemas.openxmlformats.org/drawingml/2006/main">
              <a:ext uri="{FF2B5EF4-FFF2-40B4-BE49-F238E27FC236}">
                <a16:creationId xmlns:a16="http://schemas.microsoft.com/office/drawing/2014/main" id="{BADC3D10-8717-4FA3-A1AB-F93BBDE9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8550" y="4714875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accgap-cat-1">
            <a:extLst xmlns:a="http://schemas.openxmlformats.org/drawingml/2006/main">
              <a:ext uri="{FF2B5EF4-FFF2-40B4-BE49-F238E27FC236}">
                <a16:creationId xmlns:a16="http://schemas.microsoft.com/office/drawing/2014/main" id="{1373863B-276E-400D-BF20-0CCBF44E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175" y="5038725"/>
            <a:ext cx="1260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v2</a:t>
            </a:r>
          </a:p>
        </p:txBody>
      </p:sp>
      <p:sp>
        <p:nvSpPr>
          <p:cNvPr id="20" name="accgap-bar-2-0">
            <a:extLst xmlns:a="http://schemas.openxmlformats.org/drawingml/2006/main">
              <a:ext uri="{FF2B5EF4-FFF2-40B4-BE49-F238E27FC236}">
                <a16:creationId xmlns:a16="http://schemas.microsoft.com/office/drawing/2014/main" id="{0CEBDDB2-4905-46E1-B4FE-01B0514C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1850" y="3150394"/>
            <a:ext cx="419100" cy="18121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ccgap-val-2-0">
            <a:extLst xmlns:a="http://schemas.openxmlformats.org/drawingml/2006/main">
              <a:ext uri="{FF2B5EF4-FFF2-40B4-BE49-F238E27FC236}">
                <a16:creationId xmlns:a16="http://schemas.microsoft.com/office/drawing/2014/main" id="{FB279580-F9FB-4DD0-B22D-F5F01858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2300" y="2902744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76.1%</a:t>
            </a:r>
          </a:p>
        </p:txBody>
      </p:sp>
      <p:sp>
        <p:nvSpPr>
          <p:cNvPr id="22" name="accgap-bar-2-1">
            <a:extLst xmlns:a="http://schemas.openxmlformats.org/drawingml/2006/main">
              <a:ext uri="{FF2B5EF4-FFF2-40B4-BE49-F238E27FC236}">
                <a16:creationId xmlns:a16="http://schemas.microsoft.com/office/drawing/2014/main" id="{6C4C54D1-894E-4D7D-8A07-AF9713DD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8575" y="2745581"/>
            <a:ext cx="419100" cy="2216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ccgap-val-2-1">
            <a:extLst xmlns:a="http://schemas.openxmlformats.org/drawingml/2006/main">
              <a:ext uri="{FF2B5EF4-FFF2-40B4-BE49-F238E27FC236}">
                <a16:creationId xmlns:a16="http://schemas.microsoft.com/office/drawing/2014/main" id="{3476AF60-DC33-49BE-A638-C0651D05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025" y="2497931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93.1%</a:t>
            </a:r>
          </a:p>
        </p:txBody>
      </p:sp>
      <p:sp>
        <p:nvSpPr>
          <p:cNvPr id="24" name="accgap-cat-2">
            <a:extLst xmlns:a="http://schemas.openxmlformats.org/drawingml/2006/main">
              <a:ext uri="{FF2B5EF4-FFF2-40B4-BE49-F238E27FC236}">
                <a16:creationId xmlns:a16="http://schemas.microsoft.com/office/drawing/2014/main" id="{B040A120-4836-445C-B4A0-9B11DB9B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5650" y="5038725"/>
            <a:ext cx="1260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v5</a:t>
            </a:r>
          </a:p>
        </p:txBody>
      </p:sp>
      <p:sp>
        <p:nvSpPr>
          <p:cNvPr id="25" name="accgap-bar-3-0">
            <a:extLst xmlns:a="http://schemas.openxmlformats.org/drawingml/2006/main">
              <a:ext uri="{FF2B5EF4-FFF2-40B4-BE49-F238E27FC236}">
                <a16:creationId xmlns:a16="http://schemas.microsoft.com/office/drawing/2014/main" id="{26D32031-AC59-4066-BBB7-7914A254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267075"/>
            <a:ext cx="4191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accgap-val-3-0">
            <a:extLst xmlns:a="http://schemas.openxmlformats.org/drawingml/2006/main">
              <a:ext uri="{FF2B5EF4-FFF2-40B4-BE49-F238E27FC236}">
                <a16:creationId xmlns:a16="http://schemas.microsoft.com/office/drawing/2014/main" id="{25989B97-3285-4A6B-AABD-8744C187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019425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71.2%</a:t>
            </a:r>
          </a:p>
        </p:txBody>
      </p:sp>
      <p:sp>
        <p:nvSpPr>
          <p:cNvPr id="27" name="accgap-bar-3-1">
            <a:extLst xmlns:a="http://schemas.openxmlformats.org/drawingml/2006/main">
              <a:ext uri="{FF2B5EF4-FFF2-40B4-BE49-F238E27FC236}">
                <a16:creationId xmlns:a16="http://schemas.microsoft.com/office/drawing/2014/main" id="{0CF9DCAD-EA55-42F0-864C-B7049565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76675"/>
            <a:ext cx="419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accgap-val-3-1">
            <a:extLst xmlns:a="http://schemas.openxmlformats.org/drawingml/2006/main">
              <a:ext uri="{FF2B5EF4-FFF2-40B4-BE49-F238E27FC236}">
                <a16:creationId xmlns:a16="http://schemas.microsoft.com/office/drawing/2014/main" id="{BE4FF5B7-AE52-4A7F-AE0A-A9707126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29025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45.6%</a:t>
            </a:r>
          </a:p>
        </p:txBody>
      </p:sp>
      <p:sp>
        <p:nvSpPr>
          <p:cNvPr id="29" name="accgap-cat-3">
            <a:extLst xmlns:a="http://schemas.openxmlformats.org/drawingml/2006/main">
              <a:ext uri="{FF2B5EF4-FFF2-40B4-BE49-F238E27FC236}">
                <a16:creationId xmlns:a16="http://schemas.microsoft.com/office/drawing/2014/main" id="{B12DF516-C15A-40C4-9539-2C7A384B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038725"/>
            <a:ext cx="1260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v6</a:t>
            </a:r>
          </a:p>
        </p:txBody>
      </p:sp>
      <p:sp>
        <p:nvSpPr>
          <p:cNvPr id="30" name="accgap-bar-4-0">
            <a:extLst xmlns:a="http://schemas.openxmlformats.org/drawingml/2006/main">
              <a:ext uri="{FF2B5EF4-FFF2-40B4-BE49-F238E27FC236}">
                <a16:creationId xmlns:a16="http://schemas.microsoft.com/office/drawing/2014/main" id="{B920CF19-22AA-4198-9F62-BB895BEC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800" y="3226594"/>
            <a:ext cx="419100" cy="17359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accgap-val-4-0">
            <a:extLst xmlns:a="http://schemas.openxmlformats.org/drawingml/2006/main">
              <a:ext uri="{FF2B5EF4-FFF2-40B4-BE49-F238E27FC236}">
                <a16:creationId xmlns:a16="http://schemas.microsoft.com/office/drawing/2014/main" id="{0B1DA0A7-8CE9-4689-A49F-33239687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2978944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72.9%</a:t>
            </a:r>
          </a:p>
        </p:txBody>
      </p:sp>
      <p:sp>
        <p:nvSpPr>
          <p:cNvPr id="32" name="accgap-bar-4-1">
            <a:extLst xmlns:a="http://schemas.openxmlformats.org/drawingml/2006/main">
              <a:ext uri="{FF2B5EF4-FFF2-40B4-BE49-F238E27FC236}">
                <a16:creationId xmlns:a16="http://schemas.microsoft.com/office/drawing/2014/main" id="{489CFBC6-5FB1-4AF9-82AE-DE4F0A48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9525" y="3102769"/>
            <a:ext cx="419100" cy="1859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accgap-val-4-1">
            <a:extLst xmlns:a="http://schemas.openxmlformats.org/drawingml/2006/main">
              <a:ext uri="{FF2B5EF4-FFF2-40B4-BE49-F238E27FC236}">
                <a16:creationId xmlns:a16="http://schemas.microsoft.com/office/drawing/2014/main" id="{DD46841D-561A-46FB-97BC-35A8EA5B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9975" y="2855119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78.1%</a:t>
            </a:r>
          </a:p>
        </p:txBody>
      </p:sp>
      <p:sp>
        <p:nvSpPr>
          <p:cNvPr id="34" name="accgap-cat-4">
            <a:extLst xmlns:a="http://schemas.openxmlformats.org/drawingml/2006/main">
              <a:ext uri="{FF2B5EF4-FFF2-40B4-BE49-F238E27FC236}">
                <a16:creationId xmlns:a16="http://schemas.microsoft.com/office/drawing/2014/main" id="{298FD4FB-1EE0-4A47-A0F5-C6ADFC1A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600" y="5038725"/>
            <a:ext cx="1260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v7</a:t>
            </a:r>
          </a:p>
        </p:txBody>
      </p:sp>
      <p:sp>
        <p:nvSpPr>
          <p:cNvPr id="35" name="accgap-bar-5-0">
            <a:extLst xmlns:a="http://schemas.openxmlformats.org/drawingml/2006/main">
              <a:ext uri="{FF2B5EF4-FFF2-40B4-BE49-F238E27FC236}">
                <a16:creationId xmlns:a16="http://schemas.microsoft.com/office/drawing/2014/main" id="{6CC6A41B-5996-4064-AB17-85527110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275" y="3233738"/>
            <a:ext cx="419100" cy="1728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accgap-val-5-0">
            <a:extLst xmlns:a="http://schemas.openxmlformats.org/drawingml/2006/main">
              <a:ext uri="{FF2B5EF4-FFF2-40B4-BE49-F238E27FC236}">
                <a16:creationId xmlns:a16="http://schemas.microsoft.com/office/drawing/2014/main" id="{4F163024-8D83-4D97-AEC0-C663F7B9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725" y="2986088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5B9BD5"/>
                </a:solidFill>
                <a:latin typeface="Times New Roman"/>
                <a:ea typeface="Times New Roman"/>
                <a:cs typeface="Times New Roman"/>
              </a:rPr>
              <a:t>72.6%</a:t>
            </a:r>
          </a:p>
        </p:txBody>
      </p:sp>
      <p:sp>
        <p:nvSpPr>
          <p:cNvPr id="37" name="accgap-bar-5-1">
            <a:extLst xmlns:a="http://schemas.openxmlformats.org/drawingml/2006/main">
              <a:ext uri="{FF2B5EF4-FFF2-40B4-BE49-F238E27FC236}">
                <a16:creationId xmlns:a16="http://schemas.microsoft.com/office/drawing/2014/main" id="{6B925B2D-AF65-4585-A362-F68F0E03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3098006"/>
            <a:ext cx="419100" cy="1864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accgap-val-5-1">
            <a:extLst xmlns:a="http://schemas.openxmlformats.org/drawingml/2006/main">
              <a:ext uri="{FF2B5EF4-FFF2-40B4-BE49-F238E27FC236}">
                <a16:creationId xmlns:a16="http://schemas.microsoft.com/office/drawing/2014/main" id="{B0EB66B8-A46C-455D-B7F6-CCC6F17D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0450" y="2850356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78.3%</a:t>
            </a:r>
          </a:p>
        </p:txBody>
      </p:sp>
      <p:sp>
        <p:nvSpPr>
          <p:cNvPr id="39" name="accgap-cat-5">
            <a:extLst xmlns:a="http://schemas.openxmlformats.org/drawingml/2006/main">
              <a:ext uri="{FF2B5EF4-FFF2-40B4-BE49-F238E27FC236}">
                <a16:creationId xmlns:a16="http://schemas.microsoft.com/office/drawing/2014/main" id="{B475D5DA-43B2-4A31-82DC-36F106EE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075" y="5038725"/>
            <a:ext cx="1260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v8</a:t>
            </a:r>
          </a:p>
        </p:txBody>
      </p:sp>
    </p:spTree>
    <p:extLst>
      <p:ext uri="{BB962C8B-B14F-4D97-AF65-F5344CB8AC3E}">
        <p14:creationId xmlns:p14="http://schemas.microsoft.com/office/powerpoint/2010/main" val="172870795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E3802AA0-39ED-4C80-9B46-8A3E5DEE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40F9EA7E-D10C-4F77-B7AB-FA25B059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FB66AF30-F534-4ADC-AD2F-C98B8056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8DE0FD4-A784-470A-A9D4-CF53E496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The v5 selector closes most of the SBS-to-VBS gap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418895B0-B669-433F-AB4A-3FE459C8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651C60C3-499A-43D8-8393-D20E7C43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21/28</a:t>
            </a:r>
          </a:p>
        </p:txBody>
      </p:sp>
      <p:sp>
        <p:nvSpPr>
          <p:cNvPr id="7" name="mainres-frame">
            <a:extLst xmlns:a="http://schemas.openxmlformats.org/drawingml/2006/main">
              <a:ext uri="{FF2B5EF4-FFF2-40B4-BE49-F238E27FC236}">
                <a16:creationId xmlns:a16="http://schemas.microsoft.com/office/drawing/2014/main" id="{88EB940E-5A40-4F1E-9AC6-5641FF0F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66875"/>
            <a:ext cx="11668125" cy="4476750"/>
          </a:xfrm>
          <a:prstGeom xmlns:a="http://schemas.openxmlformats.org/drawingml/2006/main" prst="roundRect">
            <a:avLst>
              <a:gd name="adj" fmla="val 12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mainres-axis">
            <a:extLst xmlns:a="http://schemas.openxmlformats.org/drawingml/2006/main">
              <a:ext uri="{FF2B5EF4-FFF2-40B4-BE49-F238E27FC236}">
                <a16:creationId xmlns:a16="http://schemas.microsoft.com/office/drawing/2014/main" id="{B80A3BC7-B24F-4AFE-B6C9-ACD34453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14900"/>
            <a:ext cx="601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  <p:sp>
        <p:nvSpPr>
          <p:cNvPr id="9" name="mainres-yaxis">
            <a:extLst xmlns:a="http://schemas.openxmlformats.org/drawingml/2006/main">
              <a:ext uri="{FF2B5EF4-FFF2-40B4-BE49-F238E27FC236}">
                <a16:creationId xmlns:a16="http://schemas.microsoft.com/office/drawing/2014/main" id="{83D53AD7-96A9-4F9F-8E4F-559F3621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81250"/>
            <a:ext cx="0" cy="2533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DEE8"/>
            </a:solidFill>
            <a:prstDash val="solid"/>
          </a:ln>
        </p:spPr>
      </p:sp>
      <p:sp>
        <p:nvSpPr>
          <p:cNvPr id="10" name="mainres-bar-0-0">
            <a:extLst xmlns:a="http://schemas.openxmlformats.org/drawingml/2006/main">
              <a:ext uri="{FF2B5EF4-FFF2-40B4-BE49-F238E27FC236}">
                <a16:creationId xmlns:a16="http://schemas.microsoft.com/office/drawing/2014/main" id="{3D934A33-1155-4331-9C79-4C0BFE34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29448"/>
            <a:ext cx="419100" cy="15854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ainres-val-0-0">
            <a:extLst xmlns:a="http://schemas.openxmlformats.org/drawingml/2006/main">
              <a:ext uri="{FF2B5EF4-FFF2-40B4-BE49-F238E27FC236}">
                <a16:creationId xmlns:a16="http://schemas.microsoft.com/office/drawing/2014/main" id="{F6F6DA19-6222-4A03-BCAD-593A1510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81798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17.20s</a:t>
            </a:r>
          </a:p>
        </p:txBody>
      </p:sp>
      <p:sp>
        <p:nvSpPr>
          <p:cNvPr id="12" name="mainres-cat-0">
            <a:extLst xmlns:a="http://schemas.openxmlformats.org/drawingml/2006/main">
              <a:ext uri="{FF2B5EF4-FFF2-40B4-BE49-F238E27FC236}">
                <a16:creationId xmlns:a16="http://schemas.microsoft.com/office/drawing/2014/main" id="{2345204B-42A0-4DF4-815D-DFF1DFD7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91100"/>
            <a:ext cx="194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VBS</a:t>
            </a:r>
          </a:p>
          <a:p xmlns:a="http://schemas.openxmlformats.org/drawingml/2006/main">
            <a:pPr algn="ctr">
              <a:def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oracle</a:t>
            </a:r>
          </a:p>
        </p:txBody>
      </p:sp>
      <p:sp>
        <p:nvSpPr>
          <p:cNvPr id="13" name="mainres-bar-1-0">
            <a:extLst xmlns:a="http://schemas.openxmlformats.org/drawingml/2006/main">
              <a:ext uri="{FF2B5EF4-FFF2-40B4-BE49-F238E27FC236}">
                <a16:creationId xmlns:a16="http://schemas.microsoft.com/office/drawing/2014/main" id="{F4667C16-A309-4724-8A93-0848B562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6100" y="3304560"/>
            <a:ext cx="419100" cy="1610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ainres-val-1-0">
            <a:extLst xmlns:a="http://schemas.openxmlformats.org/drawingml/2006/main">
              <a:ext uri="{FF2B5EF4-FFF2-40B4-BE49-F238E27FC236}">
                <a16:creationId xmlns:a16="http://schemas.microsoft.com/office/drawing/2014/main" id="{88FFB7DD-9193-4EBD-AC4F-5A5E61D3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6550" y="305691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17.47s</a:t>
            </a:r>
          </a:p>
        </p:txBody>
      </p:sp>
      <p:sp>
        <p:nvSpPr>
          <p:cNvPr id="15" name="mainres-cat-1">
            <a:extLst xmlns:a="http://schemas.openxmlformats.org/drawingml/2006/main">
              <a:ext uri="{FF2B5EF4-FFF2-40B4-BE49-F238E27FC236}">
                <a16:creationId xmlns:a16="http://schemas.microsoft.com/office/drawing/2014/main" id="{6E0CB153-7CFA-429C-A2FE-33C3A8E4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900" y="4991100"/>
            <a:ext cx="194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Model</a:t>
            </a:r>
          </a:p>
          <a:p xmlns:a="http://schemas.openxmlformats.org/drawingml/2006/main">
            <a:pPr algn="ctr">
              <a:def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selector</a:t>
            </a:r>
          </a:p>
        </p:txBody>
      </p:sp>
      <p:sp>
        <p:nvSpPr>
          <p:cNvPr id="16" name="mainres-bar-2-0">
            <a:extLst xmlns:a="http://schemas.openxmlformats.org/drawingml/2006/main">
              <a:ext uri="{FF2B5EF4-FFF2-40B4-BE49-F238E27FC236}">
                <a16:creationId xmlns:a16="http://schemas.microsoft.com/office/drawing/2014/main" id="{B2498ECB-B59A-451E-9550-9FA91A87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50" y="2954286"/>
            <a:ext cx="419100" cy="19606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ainres-val-2-0">
            <a:extLst xmlns:a="http://schemas.openxmlformats.org/drawingml/2006/main">
              <a:ext uri="{FF2B5EF4-FFF2-40B4-BE49-F238E27FC236}">
                <a16:creationId xmlns:a16="http://schemas.microsoft.com/office/drawing/2014/main" id="{16795753-23A6-4440-B978-550ED1C9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0" y="2706636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21.27s</a:t>
            </a:r>
          </a:p>
        </p:txBody>
      </p:sp>
      <p:sp>
        <p:nvSpPr>
          <p:cNvPr id="18" name="mainres-cat-2">
            <a:extLst xmlns:a="http://schemas.openxmlformats.org/drawingml/2006/main">
              <a:ext uri="{FF2B5EF4-FFF2-40B4-BE49-F238E27FC236}">
                <a16:creationId xmlns:a16="http://schemas.microsoft.com/office/drawing/2014/main" id="{1814DDFE-EC63-4855-8997-A0DAFF25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9350" y="4991100"/>
            <a:ext cx="194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SBS</a:t>
            </a:r>
          </a:p>
          <a:p xmlns:a="http://schemas.openxmlformats.org/drawingml/2006/main">
            <a:pPr algn="ctr">
              <a:def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heapsort</a:t>
            </a:r>
          </a:p>
        </p:txBody>
      </p:sp>
      <p:sp>
        <p:nvSpPr>
          <p:cNvPr id="19" name="metric-93.1%-1035">
            <a:extLst xmlns:a="http://schemas.openxmlformats.org/drawingml/2006/main">
              <a:ext uri="{FF2B5EF4-FFF2-40B4-BE49-F238E27FC236}">
                <a16:creationId xmlns:a16="http://schemas.microsoft.com/office/drawing/2014/main" id="{782152BC-3E0D-4268-B28B-58114E3A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381250"/>
            <a:ext cx="2476500" cy="470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93.1%</a:t>
            </a:r>
          </a:p>
        </p:txBody>
      </p:sp>
      <p:sp>
        <p:nvSpPr>
          <p:cNvPr id="20" name="metric-label-93.1%-1035">
            <a:extLst xmlns:a="http://schemas.openxmlformats.org/drawingml/2006/main">
              <a:ext uri="{FF2B5EF4-FFF2-40B4-BE49-F238E27FC236}">
                <a16:creationId xmlns:a16="http://schemas.microsoft.com/office/drawing/2014/main" id="{5D18A9F6-9778-4E35-9C23-CE843935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51785"/>
            <a:ext cx="2476500" cy="380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SBS-to-VBS gap closed</a:t>
            </a:r>
          </a:p>
        </p:txBody>
      </p:sp>
      <p:sp>
        <p:nvSpPr>
          <p:cNvPr id="21" name="metric-89.6%-1035">
            <a:extLst xmlns:a="http://schemas.openxmlformats.org/drawingml/2006/main">
              <a:ext uri="{FF2B5EF4-FFF2-40B4-BE49-F238E27FC236}">
                <a16:creationId xmlns:a16="http://schemas.microsoft.com/office/drawing/2014/main" id="{2C58FA69-3544-471E-95D5-07A1956C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714750"/>
            <a:ext cx="2476500" cy="470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89.6%</a:t>
            </a:r>
          </a:p>
        </p:txBody>
      </p:sp>
      <p:sp>
        <p:nvSpPr>
          <p:cNvPr id="22" name="metric-label-89.6%-1035">
            <a:extLst xmlns:a="http://schemas.openxmlformats.org/drawingml/2006/main">
              <a:ext uri="{FF2B5EF4-FFF2-40B4-BE49-F238E27FC236}">
                <a16:creationId xmlns:a16="http://schemas.microsoft.com/office/drawing/2014/main" id="{FFBE0BED-16B8-4614-BAA5-58DEC387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185285"/>
            <a:ext cx="2476500" cy="380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zero regret decisions</a:t>
            </a:r>
          </a:p>
        </p:txBody>
      </p:sp>
    </p:spTree>
    <p:extLst>
      <p:ext uri="{BB962C8B-B14F-4D97-AF65-F5344CB8AC3E}">
        <p14:creationId xmlns:p14="http://schemas.microsoft.com/office/powerpoint/2010/main" val="21911995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B2835AFF-73F7-4BBE-8BE1-CEC9005F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988AFC2F-8DEB-4CD2-ABD9-AB4C46AA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23E15B09-0380-4B43-ACC2-DA7EAFD6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67A5052-6C42-4A1D-B85D-3309E1BF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Residual error is concentrated at the introsort-heapsort boundary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C39903A4-5F75-4348-9469-5B9A1046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25517A2A-4E89-4ACD-9ED9-E5F4A3B2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22/28</a:t>
            </a:r>
          </a:p>
        </p:txBody>
      </p:sp>
      <p:sp>
        <p:nvSpPr>
          <p:cNvPr id="7" name="hm-top-0">
            <a:extLst xmlns:a="http://schemas.openxmlformats.org/drawingml/2006/main">
              <a:ext uri="{FF2B5EF4-FFF2-40B4-BE49-F238E27FC236}">
                <a16:creationId xmlns:a16="http://schemas.microsoft.com/office/drawing/2014/main" id="{BC8AF203-0181-4045-A00D-B7A3B552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716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Introsort</a:t>
            </a:r>
          </a:p>
        </p:txBody>
      </p:sp>
      <p:sp>
        <p:nvSpPr>
          <p:cNvPr id="8" name="hm-left-0">
            <a:extLst xmlns:a="http://schemas.openxmlformats.org/drawingml/2006/main">
              <a:ext uri="{FF2B5EF4-FFF2-40B4-BE49-F238E27FC236}">
                <a16:creationId xmlns:a16="http://schemas.microsoft.com/office/drawing/2014/main" id="{319CC004-7A77-4B6C-9356-5BF5552E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8125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Introsort</a:t>
            </a:r>
          </a:p>
        </p:txBody>
      </p:sp>
      <p:sp>
        <p:nvSpPr>
          <p:cNvPr id="9" name="hm-top-1">
            <a:extLst xmlns:a="http://schemas.openxmlformats.org/drawingml/2006/main">
              <a:ext uri="{FF2B5EF4-FFF2-40B4-BE49-F238E27FC236}">
                <a16:creationId xmlns:a16="http://schemas.microsoft.com/office/drawing/2014/main" id="{6ABAE663-6F7E-46C5-8854-85BEEF4F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7716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Heapsort</a:t>
            </a:r>
          </a:p>
        </p:txBody>
      </p:sp>
      <p:sp>
        <p:nvSpPr>
          <p:cNvPr id="10" name="hm-left-1">
            <a:extLst xmlns:a="http://schemas.openxmlformats.org/drawingml/2006/main">
              <a:ext uri="{FF2B5EF4-FFF2-40B4-BE49-F238E27FC236}">
                <a16:creationId xmlns:a16="http://schemas.microsoft.com/office/drawing/2014/main" id="{F991AA1B-F0E2-4CB6-9BE5-2F3C61F9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7660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Heapsort</a:t>
            </a:r>
          </a:p>
        </p:txBody>
      </p:sp>
      <p:sp>
        <p:nvSpPr>
          <p:cNvPr id="11" name="hm-top-2">
            <a:extLst xmlns:a="http://schemas.openxmlformats.org/drawingml/2006/main">
              <a:ext uri="{FF2B5EF4-FFF2-40B4-BE49-F238E27FC236}">
                <a16:creationId xmlns:a16="http://schemas.microsoft.com/office/drawing/2014/main" id="{FBDB693C-12CA-4486-8F9E-97F9D54D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716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Timsort</a:t>
            </a:r>
          </a:p>
        </p:txBody>
      </p:sp>
      <p:sp>
        <p:nvSpPr>
          <p:cNvPr id="12" name="hm-left-2">
            <a:extLst xmlns:a="http://schemas.openxmlformats.org/drawingml/2006/main">
              <a:ext uri="{FF2B5EF4-FFF2-40B4-BE49-F238E27FC236}">
                <a16:creationId xmlns:a16="http://schemas.microsoft.com/office/drawing/2014/main" id="{14A867DF-99FC-4557-B1A8-6E4862FF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7195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Timsort</a:t>
            </a:r>
          </a:p>
        </p:txBody>
      </p:sp>
      <p:sp>
        <p:nvSpPr>
          <p:cNvPr id="13" name="hm-0-0">
            <a:extLst xmlns:a="http://schemas.openxmlformats.org/drawingml/2006/main">
              <a:ext uri="{FF2B5EF4-FFF2-40B4-BE49-F238E27FC236}">
                <a16:creationId xmlns:a16="http://schemas.microsoft.com/office/drawing/2014/main" id="{C82699F6-889A-4BE7-B323-BFDB0422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hm-val-0-0">
            <a:extLst xmlns:a="http://schemas.openxmlformats.org/drawingml/2006/main">
              <a:ext uri="{FF2B5EF4-FFF2-40B4-BE49-F238E27FC236}">
                <a16:creationId xmlns:a16="http://schemas.microsoft.com/office/drawing/2014/main" id="{A5075517-82B5-4393-B817-C66B7343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907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2350</a:t>
            </a:r>
          </a:p>
        </p:txBody>
      </p:sp>
      <p:sp>
        <p:nvSpPr>
          <p:cNvPr id="15" name="hm-0-1">
            <a:extLst xmlns:a="http://schemas.openxmlformats.org/drawingml/2006/main">
              <a:ext uri="{FF2B5EF4-FFF2-40B4-BE49-F238E27FC236}">
                <a16:creationId xmlns:a16="http://schemas.microsoft.com/office/drawing/2014/main" id="{51DD7C35-9781-43E2-83C6-C1E0A275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9550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hm-val-0-1">
            <a:extLst xmlns:a="http://schemas.openxmlformats.org/drawingml/2006/main">
              <a:ext uri="{FF2B5EF4-FFF2-40B4-BE49-F238E27FC236}">
                <a16:creationId xmlns:a16="http://schemas.microsoft.com/office/drawing/2014/main" id="{BDCF6BDB-B755-4BD3-BED5-C5F80B7B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907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1977</a:t>
            </a:r>
          </a:p>
        </p:txBody>
      </p:sp>
      <p:sp>
        <p:nvSpPr>
          <p:cNvPr id="17" name="hm-0-2">
            <a:extLst xmlns:a="http://schemas.openxmlformats.org/drawingml/2006/main">
              <a:ext uri="{FF2B5EF4-FFF2-40B4-BE49-F238E27FC236}">
                <a16:creationId xmlns:a16="http://schemas.microsoft.com/office/drawing/2014/main" id="{DE009CB2-0E55-40B8-89C3-B0CE51B5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9550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hm-val-0-2">
            <a:extLst xmlns:a="http://schemas.openxmlformats.org/drawingml/2006/main">
              <a:ext uri="{FF2B5EF4-FFF2-40B4-BE49-F238E27FC236}">
                <a16:creationId xmlns:a16="http://schemas.microsoft.com/office/drawing/2014/main" id="{BC1933B7-7476-4527-997C-87DC4569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907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182</a:t>
            </a:r>
          </a:p>
        </p:txBody>
      </p:sp>
      <p:sp>
        <p:nvSpPr>
          <p:cNvPr id="19" name="hm-1-0">
            <a:extLst xmlns:a="http://schemas.openxmlformats.org/drawingml/2006/main">
              <a:ext uri="{FF2B5EF4-FFF2-40B4-BE49-F238E27FC236}">
                <a16:creationId xmlns:a16="http://schemas.microsoft.com/office/drawing/2014/main" id="{4173F68C-B7FF-4D8D-AD29-933181E6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9085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6F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hm-val-1-0">
            <a:extLst xmlns:a="http://schemas.openxmlformats.org/drawingml/2006/main">
              <a:ext uri="{FF2B5EF4-FFF2-40B4-BE49-F238E27FC236}">
                <a16:creationId xmlns:a16="http://schemas.microsoft.com/office/drawing/2014/main" id="{2C407298-1A43-4D3A-A795-4938EA10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8612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3805</a:t>
            </a:r>
          </a:p>
        </p:txBody>
      </p:sp>
      <p:sp>
        <p:nvSpPr>
          <p:cNvPr id="21" name="hm-1-1">
            <a:extLst xmlns:a="http://schemas.openxmlformats.org/drawingml/2006/main">
              <a:ext uri="{FF2B5EF4-FFF2-40B4-BE49-F238E27FC236}">
                <a16:creationId xmlns:a16="http://schemas.microsoft.com/office/drawing/2014/main" id="{71AE9C56-8790-4347-922C-282DF31E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9085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AE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hm-val-1-1">
            <a:extLst xmlns:a="http://schemas.openxmlformats.org/drawingml/2006/main">
              <a:ext uri="{FF2B5EF4-FFF2-40B4-BE49-F238E27FC236}">
                <a16:creationId xmlns:a16="http://schemas.microsoft.com/office/drawing/2014/main" id="{2C544CEF-8853-4610-ACED-4B49E20F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8612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7307</a:t>
            </a:r>
          </a:p>
        </p:txBody>
      </p:sp>
      <p:sp>
        <p:nvSpPr>
          <p:cNvPr id="23" name="hm-1-2">
            <a:extLst xmlns:a="http://schemas.openxmlformats.org/drawingml/2006/main">
              <a:ext uri="{FF2B5EF4-FFF2-40B4-BE49-F238E27FC236}">
                <a16:creationId xmlns:a16="http://schemas.microsoft.com/office/drawing/2014/main" id="{EF536C57-7306-4965-BBA4-29BADADF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9085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hm-val-1-2">
            <a:extLst xmlns:a="http://schemas.openxmlformats.org/drawingml/2006/main">
              <a:ext uri="{FF2B5EF4-FFF2-40B4-BE49-F238E27FC236}">
                <a16:creationId xmlns:a16="http://schemas.microsoft.com/office/drawing/2014/main" id="{A31912FA-EF0E-4728-898B-7B7E210F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8612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345</a:t>
            </a:r>
          </a:p>
        </p:txBody>
      </p:sp>
      <p:sp>
        <p:nvSpPr>
          <p:cNvPr id="25" name="hm-2-0">
            <a:extLst xmlns:a="http://schemas.openxmlformats.org/drawingml/2006/main">
              <a:ext uri="{FF2B5EF4-FFF2-40B4-BE49-F238E27FC236}">
                <a16:creationId xmlns:a16="http://schemas.microsoft.com/office/drawing/2014/main" id="{A0F8FDBE-9958-438F-8661-F1E61711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8620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hm-val-2-0">
            <a:extLst xmlns:a="http://schemas.openxmlformats.org/drawingml/2006/main">
              <a:ext uri="{FF2B5EF4-FFF2-40B4-BE49-F238E27FC236}">
                <a16:creationId xmlns:a16="http://schemas.microsoft.com/office/drawing/2014/main" id="{E5A77FB8-CB3C-495F-8530-DE258D62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1814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182</a:t>
            </a:r>
          </a:p>
        </p:txBody>
      </p:sp>
      <p:sp>
        <p:nvSpPr>
          <p:cNvPr id="27" name="hm-2-1">
            <a:extLst xmlns:a="http://schemas.openxmlformats.org/drawingml/2006/main">
              <a:ext uri="{FF2B5EF4-FFF2-40B4-BE49-F238E27FC236}">
                <a16:creationId xmlns:a16="http://schemas.microsoft.com/office/drawing/2014/main" id="{F1C3AF15-D5CD-48EE-BD39-B25290DB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8620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hm-val-2-1">
            <a:extLst xmlns:a="http://schemas.openxmlformats.org/drawingml/2006/main">
              <a:ext uri="{FF2B5EF4-FFF2-40B4-BE49-F238E27FC236}">
                <a16:creationId xmlns:a16="http://schemas.microsoft.com/office/drawing/2014/main" id="{A393D3BD-4E70-4E47-9EBB-45071299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814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565</a:t>
            </a:r>
          </a:p>
        </p:txBody>
      </p:sp>
      <p:sp>
        <p:nvSpPr>
          <p:cNvPr id="29" name="hm-2-2">
            <a:extLst xmlns:a="http://schemas.openxmlformats.org/drawingml/2006/main">
              <a:ext uri="{FF2B5EF4-FFF2-40B4-BE49-F238E27FC236}">
                <a16:creationId xmlns:a16="http://schemas.microsoft.com/office/drawing/2014/main" id="{0071426B-1DAC-4209-98B1-CE84C6B5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86200"/>
            <a:ext cx="895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hm-val-2-2">
            <a:extLst xmlns:a="http://schemas.openxmlformats.org/drawingml/2006/main">
              <a:ext uri="{FF2B5EF4-FFF2-40B4-BE49-F238E27FC236}">
                <a16:creationId xmlns:a16="http://schemas.microsoft.com/office/drawing/2014/main" id="{AF815F39-839A-4E26-9D67-0B2408F5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814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12781</a:t>
            </a:r>
          </a:p>
        </p:txBody>
      </p:sp>
      <p:sp>
        <p:nvSpPr>
          <p:cNvPr id="31" name="metric-94.5%-1010">
            <a:extLst xmlns:a="http://schemas.openxmlformats.org/drawingml/2006/main">
              <a:ext uri="{FF2B5EF4-FFF2-40B4-BE49-F238E27FC236}">
                <a16:creationId xmlns:a16="http://schemas.microsoft.com/office/drawing/2014/main" id="{516A36BD-6FCB-4266-A67A-7ABC9221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90750"/>
            <a:ext cx="2476500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B9152A"/>
                </a:solidFill>
                <a:latin typeface="Times New Roman"/>
                <a:ea typeface="Times New Roman"/>
                <a:cs typeface="Times New Roman"/>
              </a:rPr>
              <a:t>94.5%</a:t>
            </a:r>
          </a:p>
        </p:txBody>
      </p:sp>
      <p:sp>
        <p:nvSpPr>
          <p:cNvPr id="32" name="metric-label-94.5%-1010">
            <a:extLst xmlns:a="http://schemas.openxmlformats.org/drawingml/2006/main">
              <a:ext uri="{FF2B5EF4-FFF2-40B4-BE49-F238E27FC236}">
                <a16:creationId xmlns:a16="http://schemas.microsoft.com/office/drawing/2014/main" id="{50AB429A-265F-436D-B5AA-B88326C9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36520"/>
            <a:ext cx="24765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Timsort recall</a:t>
            </a:r>
          </a:p>
        </p:txBody>
      </p:sp>
      <p:sp>
        <p:nvSpPr>
          <p:cNvPr id="33" name="conf-note">
            <a:extLst xmlns:a="http://schemas.openxmlformats.org/drawingml/2006/main">
              <a:ext uri="{FF2B5EF4-FFF2-40B4-BE49-F238E27FC236}">
                <a16:creationId xmlns:a16="http://schemas.microsoft.com/office/drawing/2014/main" id="{6231F127-51D6-432E-9B79-E45DD726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333375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4" name="conf-note-title">
            <a:extLst xmlns:a="http://schemas.openxmlformats.org/drawingml/2006/main">
              <a:ext uri="{FF2B5EF4-FFF2-40B4-BE49-F238E27FC236}">
                <a16:creationId xmlns:a16="http://schemas.microsoft.com/office/drawing/2014/main" id="{0016BCB6-7673-435F-A956-9BBA0BA3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195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Interpretation</a:t>
            </a:r>
          </a:p>
        </p:txBody>
      </p:sp>
      <p:sp>
        <p:nvSpPr>
          <p:cNvPr id="35" name="conf-note-body">
            <a:extLst xmlns:a="http://schemas.openxmlformats.org/drawingml/2006/main">
              <a:ext uri="{FF2B5EF4-FFF2-40B4-BE49-F238E27FC236}">
                <a16:creationId xmlns:a16="http://schemas.microsoft.com/office/drawing/2014/main" id="{6CE69F3A-98C5-4E7C-AB5D-26BA7A34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143375"/>
            <a:ext cx="2990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Timsort is separable when runs/order are visible.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Introsort and heapsort remain close in the current feature space.</a:t>
            </a:r>
          </a:p>
        </p:txBody>
      </p:sp>
      <p:sp>
        <p:nvSpPr>
          <p:cNvPr id="36" name="conf-bottom">
            <a:extLst xmlns:a="http://schemas.openxmlformats.org/drawingml/2006/main">
              <a:ext uri="{FF2B5EF4-FFF2-40B4-BE49-F238E27FC236}">
                <a16:creationId xmlns:a16="http://schemas.microsoft.com/office/drawing/2014/main" id="{2AB3FFFD-5752-4CBF-929A-0C1ACEBE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57212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Most residual boundary errors carry low measured regret.</a:t>
            </a:r>
          </a:p>
        </p:txBody>
      </p:sp>
    </p:spTree>
    <p:extLst>
      <p:ext uri="{BB962C8B-B14F-4D97-AF65-F5344CB8AC3E}">
        <p14:creationId xmlns:p14="http://schemas.microsoft.com/office/powerpoint/2010/main" val="70829683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4AD7A65A-8CE0-49A1-8AC8-26F81318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BF23A771-99C9-4462-AA63-D3899FC5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DEBD048B-21F8-4979-B63D-7D58C492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B32D325-6B9F-431F-AF3B-FA3438BD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F1 routing was treated as a separate specialization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12622D08-4981-4E4E-8AD4-10E9558F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FD2748F-B215-484C-95E0-CAFBA1AD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23/28</a:t>
            </a:r>
          </a:p>
        </p:txBody>
      </p:sp>
      <p:sp>
        <p:nvSpPr>
          <p:cNvPr id="7" name="f1-fig">
            <a:extLst xmlns:a="http://schemas.openxmlformats.org/drawingml/2006/main">
              <a:ext uri="{FF2B5EF4-FFF2-40B4-BE49-F238E27FC236}">
                <a16:creationId xmlns:a16="http://schemas.microsoft.com/office/drawing/2014/main" id="{C19D3F28-3D56-4AB0-8C5A-6F0484EE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8572500" cy="40005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f1-raw">
            <a:extLst xmlns:a="http://schemas.openxmlformats.org/drawingml/2006/main">
              <a:ext uri="{FF2B5EF4-FFF2-40B4-BE49-F238E27FC236}">
                <a16:creationId xmlns:a16="http://schemas.microsoft.com/office/drawing/2014/main" id="{7BFC9982-9F93-4A17-BEDB-CC84113C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00375"/>
            <a:ext cx="11430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f1-raw-title">
            <a:extLst xmlns:a="http://schemas.openxmlformats.org/drawingml/2006/main">
              <a:ext uri="{FF2B5EF4-FFF2-40B4-BE49-F238E27FC236}">
                <a16:creationId xmlns:a16="http://schemas.microsoft.com/office/drawing/2014/main" id="{C832E2EC-2BE6-47EC-A64F-7F8904B1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1527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F1 arrays</a:t>
            </a:r>
          </a:p>
        </p:txBody>
      </p:sp>
      <p:sp>
        <p:nvSpPr>
          <p:cNvPr id="10" name="f1-router">
            <a:extLst xmlns:a="http://schemas.openxmlformats.org/drawingml/2006/main">
              <a:ext uri="{FF2B5EF4-FFF2-40B4-BE49-F238E27FC236}">
                <a16:creationId xmlns:a16="http://schemas.microsoft.com/office/drawing/2014/main" id="{59083970-8115-477F-B9FF-152D4292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62250"/>
            <a:ext cx="14287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DEF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f1-router-title">
            <a:extLst xmlns:a="http://schemas.openxmlformats.org/drawingml/2006/main">
              <a:ext uri="{FF2B5EF4-FFF2-40B4-BE49-F238E27FC236}">
                <a16:creationId xmlns:a16="http://schemas.microsoft.com/office/drawing/2014/main" id="{D7800063-EA17-4421-A559-AB3C02F8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146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channel</a:t>
            </a:r>
          </a:p>
          <a:p xmlns:a="http://schemas.openxmlformats.org/drawingml/2006/main">
            <a:pPr algn="ctr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router</a:t>
            </a:r>
          </a:p>
        </p:txBody>
      </p:sp>
      <p:sp>
        <p:nvSpPr>
          <p:cNvPr id="12" name="f1-ch-0">
            <a:extLst xmlns:a="http://schemas.openxmlformats.org/drawingml/2006/main">
              <a:ext uri="{FF2B5EF4-FFF2-40B4-BE49-F238E27FC236}">
                <a16:creationId xmlns:a16="http://schemas.microsoft.com/office/drawing/2014/main" id="{7865A098-E64D-4DBA-99BC-677FEBEF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00250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1-ch-0-title">
            <a:extLst xmlns:a="http://schemas.openxmlformats.org/drawingml/2006/main">
              <a:ext uri="{FF2B5EF4-FFF2-40B4-BE49-F238E27FC236}">
                <a16:creationId xmlns:a16="http://schemas.microsoft.com/office/drawing/2014/main" id="{15CE1766-C4BC-4BD4-BA6F-CE03D4A3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1526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Speed</a:t>
            </a:r>
          </a:p>
        </p:txBody>
      </p:sp>
      <p:sp>
        <p:nvSpPr>
          <p:cNvPr id="14" name="f1-ch-1">
            <a:extLst xmlns:a="http://schemas.openxmlformats.org/drawingml/2006/main">
              <a:ext uri="{FF2B5EF4-FFF2-40B4-BE49-F238E27FC236}">
                <a16:creationId xmlns:a16="http://schemas.microsoft.com/office/drawing/2014/main" id="{6ED479CD-2CF8-4D83-B809-6C4A7750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686050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B915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1-ch-1-title">
            <a:extLst xmlns:a="http://schemas.openxmlformats.org/drawingml/2006/main">
              <a:ext uri="{FF2B5EF4-FFF2-40B4-BE49-F238E27FC236}">
                <a16:creationId xmlns:a16="http://schemas.microsoft.com/office/drawing/2014/main" id="{B8BF9B8B-7DAE-4124-98BB-48051ACA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384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RPM</a:t>
            </a:r>
          </a:p>
        </p:txBody>
      </p:sp>
      <p:sp>
        <p:nvSpPr>
          <p:cNvPr id="16" name="f1-ch-2">
            <a:extLst xmlns:a="http://schemas.openxmlformats.org/drawingml/2006/main">
              <a:ext uri="{FF2B5EF4-FFF2-40B4-BE49-F238E27FC236}">
                <a16:creationId xmlns:a16="http://schemas.microsoft.com/office/drawing/2014/main" id="{ED32100C-9E5E-4C03-9D18-2E5BF10E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371850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1-ch-2-title">
            <a:extLst xmlns:a="http://schemas.openxmlformats.org/drawingml/2006/main">
              <a:ext uri="{FF2B5EF4-FFF2-40B4-BE49-F238E27FC236}">
                <a16:creationId xmlns:a16="http://schemas.microsoft.com/office/drawing/2014/main" id="{ABA5AE8D-6AA6-4654-B67A-6F004087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5242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DRS</a:t>
            </a:r>
          </a:p>
        </p:txBody>
      </p:sp>
      <p:sp>
        <p:nvSpPr>
          <p:cNvPr id="18" name="f1-ch-3">
            <a:extLst xmlns:a="http://schemas.openxmlformats.org/drawingml/2006/main">
              <a:ext uri="{FF2B5EF4-FFF2-40B4-BE49-F238E27FC236}">
                <a16:creationId xmlns:a16="http://schemas.microsoft.com/office/drawing/2014/main" id="{503253D4-269A-44B9-B436-84A7DC0C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57650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FA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1-ch-3-title">
            <a:extLst xmlns:a="http://schemas.openxmlformats.org/drawingml/2006/main">
              <a:ext uri="{FF2B5EF4-FFF2-40B4-BE49-F238E27FC236}">
                <a16:creationId xmlns:a16="http://schemas.microsoft.com/office/drawing/2014/main" id="{6DE0C21C-0B36-4CA3-B555-04335BB4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2100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Throttle</a:t>
            </a:r>
          </a:p>
        </p:txBody>
      </p:sp>
      <p:sp>
        <p:nvSpPr>
          <p:cNvPr id="20" name="f1-model">
            <a:extLst xmlns:a="http://schemas.openxmlformats.org/drawingml/2006/main">
              <a:ext uri="{FF2B5EF4-FFF2-40B4-BE49-F238E27FC236}">
                <a16:creationId xmlns:a16="http://schemas.microsoft.com/office/drawing/2014/main" id="{5492B63A-FFAE-4371-8126-7439AEB7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62250"/>
            <a:ext cx="1000125" cy="1143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8F0E5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1" name="f1-model-title">
            <a:extLst xmlns:a="http://schemas.openxmlformats.org/drawingml/2006/main">
              <a:ext uri="{FF2B5EF4-FFF2-40B4-BE49-F238E27FC236}">
                <a16:creationId xmlns:a16="http://schemas.microsoft.com/office/drawing/2014/main" id="{884D3778-FF47-4F33-9271-E10FDD10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914650"/>
            <a:ext cx="657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model</a:t>
            </a:r>
          </a:p>
          <a:p xmlns:a="http://schemas.openxmlformats.org/drawingml/2006/main">
            <a:pPr algn="ctr">
              <a:defRPr sz="10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per channel</a:t>
            </a:r>
          </a:p>
        </p:txBody>
      </p:sp>
      <p:sp>
        <p:nvSpPr>
          <p:cNvPr id="22" name="f1-a1-from">
            <a:extLst xmlns:a="http://schemas.openxmlformats.org/drawingml/2006/main">
              <a:ext uri="{FF2B5EF4-FFF2-40B4-BE49-F238E27FC236}">
                <a16:creationId xmlns:a16="http://schemas.microsoft.com/office/drawing/2014/main" id="{A96CF31D-016A-4C50-849A-CC16E432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33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1-a1-to">
            <a:extLst xmlns:a="http://schemas.openxmlformats.org/drawingml/2006/main">
              <a:ext uri="{FF2B5EF4-FFF2-40B4-BE49-F238E27FC236}">
                <a16:creationId xmlns:a16="http://schemas.microsoft.com/office/drawing/2014/main" id="{82469532-DF34-44B1-8A2A-194319A1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33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3" name="f1-a1"/>
          <p:cNvCxnSpPr>
            <a:stCxn xmlns:a="http://schemas.openxmlformats.org/drawingml/2006/main" id="22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3067050" y="33432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25" name="f1-a2-from">
            <a:extLst xmlns:a="http://schemas.openxmlformats.org/drawingml/2006/main">
              <a:ext uri="{FF2B5EF4-FFF2-40B4-BE49-F238E27FC236}">
                <a16:creationId xmlns:a16="http://schemas.microsoft.com/office/drawing/2014/main" id="{56982B5F-770D-4EB5-906E-0C70669B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333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f1-a2-to">
            <a:extLst xmlns:a="http://schemas.openxmlformats.org/drawingml/2006/main">
              <a:ext uri="{FF2B5EF4-FFF2-40B4-BE49-F238E27FC236}">
                <a16:creationId xmlns:a16="http://schemas.microsoft.com/office/drawing/2014/main" id="{ECF96004-9362-4476-86E5-A7BD7FB7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33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6" name="f1-a2"/>
          <p:cNvCxnSpPr>
            <a:stCxn xmlns:a="http://schemas.openxmlformats.org/drawingml/2006/main" id="25" idx="1"/>
            <a:endCxn xmlns:a="http://schemas.openxmlformats.org/drawingml/2006/main" id="26" idx="3"/>
          </p:cNvCxnSpPr>
          <p:nvPr/>
        </p:nvCxnSpPr>
        <p:spPr>
          <a:xfrm xmlns:a="http://schemas.openxmlformats.org/drawingml/2006/main" flipH="1">
            <a:off x="5257800" y="3343275"/>
            <a:ext cx="7905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28" name="f1-a3-from">
            <a:extLst xmlns:a="http://schemas.openxmlformats.org/drawingml/2006/main">
              <a:ext uri="{FF2B5EF4-FFF2-40B4-BE49-F238E27FC236}">
                <a16:creationId xmlns:a16="http://schemas.microsoft.com/office/drawing/2014/main" id="{09064D95-5C1D-42A3-A936-22FC32BE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333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f1-a3-to">
            <a:extLst xmlns:a="http://schemas.openxmlformats.org/drawingml/2006/main">
              <a:ext uri="{FF2B5EF4-FFF2-40B4-BE49-F238E27FC236}">
                <a16:creationId xmlns:a16="http://schemas.microsoft.com/office/drawing/2014/main" id="{7E6DCC47-E8F7-4365-BC90-2019404B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337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9" name="f1-a3"/>
          <p:cNvCxnSpPr>
            <a:stCxn xmlns:a="http://schemas.openxmlformats.org/drawingml/2006/main" id="28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7686675" y="33432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 cap="rnd">
            <a:solidFill>
              <a:srgbClr val="F4511E"/>
            </a:solidFill>
            <a:prstDash val="solid"/>
            <a:round/>
            <a:headEnd type="arrow" w="med" len="med"/>
          </a:ln>
        </p:spPr>
      </p:cxnSp>
      <p:sp>
        <p:nvSpPr>
          <p:cNvPr id="31" name="f1-main">
            <a:extLst xmlns:a="http://schemas.openxmlformats.org/drawingml/2006/main">
              <a:ext uri="{FF2B5EF4-FFF2-40B4-BE49-F238E27FC236}">
                <a16:creationId xmlns:a16="http://schemas.microsoft.com/office/drawing/2014/main" id="{F26597A1-A695-4B9C-BBA1-6D9DFF7B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809750"/>
            <a:ext cx="285750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2" name="f1-main-title">
            <a:extLst xmlns:a="http://schemas.openxmlformats.org/drawingml/2006/main">
              <a:ext uri="{FF2B5EF4-FFF2-40B4-BE49-F238E27FC236}">
                <a16:creationId xmlns:a16="http://schemas.microsoft.com/office/drawing/2014/main" id="{F8258040-A403-4B2D-A694-FF46E086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9621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Main track</a:t>
            </a:r>
          </a:p>
        </p:txBody>
      </p:sp>
      <p:sp>
        <p:nvSpPr>
          <p:cNvPr id="33" name="f1-main-body">
            <a:extLst xmlns:a="http://schemas.openxmlformats.org/drawingml/2006/main">
              <a:ext uri="{FF2B5EF4-FFF2-40B4-BE49-F238E27FC236}">
                <a16:creationId xmlns:a16="http://schemas.microsoft.com/office/drawing/2014/main" id="{A804E4FB-B891-4000-96D5-6652C1C9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286000"/>
            <a:ext cx="2514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v5 general selector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all domains • 3 algorithms</a:t>
            </a:r>
          </a:p>
        </p:txBody>
      </p:sp>
      <p:sp>
        <p:nvSpPr>
          <p:cNvPr id="34" name="f1-spec">
            <a:extLst xmlns:a="http://schemas.openxmlformats.org/drawingml/2006/main">
              <a:ext uri="{FF2B5EF4-FFF2-40B4-BE49-F238E27FC236}">
                <a16:creationId xmlns:a16="http://schemas.microsoft.com/office/drawing/2014/main" id="{BB916A16-86A0-4677-98EF-CB91EF67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143250"/>
            <a:ext cx="2857500" cy="109537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5" name="f1-spec-title">
            <a:extLst xmlns:a="http://schemas.openxmlformats.org/drawingml/2006/main">
              <a:ext uri="{FF2B5EF4-FFF2-40B4-BE49-F238E27FC236}">
                <a16:creationId xmlns:a16="http://schemas.microsoft.com/office/drawing/2014/main" id="{7A3B0D2B-B4DF-489C-94F4-70C3738A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956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F1 specialization</a:t>
            </a:r>
          </a:p>
        </p:txBody>
      </p:sp>
      <p:sp>
        <p:nvSpPr>
          <p:cNvPr id="36" name="f1-spec-body">
            <a:extLst xmlns:a="http://schemas.openxmlformats.org/drawingml/2006/main">
              <a:ext uri="{FF2B5EF4-FFF2-40B4-BE49-F238E27FC236}">
                <a16:creationId xmlns:a16="http://schemas.microsoft.com/office/drawing/2014/main" id="{EEB80971-1818-472C-8080-70132CF7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619500"/>
            <a:ext cx="2514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channel flag routes F1 arrays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to specialized channel models</a:t>
            </a:r>
          </a:p>
        </p:txBody>
      </p:sp>
      <p:sp>
        <p:nvSpPr>
          <p:cNvPr id="37" name="f1-bound">
            <a:extLst xmlns:a="http://schemas.openxmlformats.org/drawingml/2006/main">
              <a:ext uri="{FF2B5EF4-FFF2-40B4-BE49-F238E27FC236}">
                <a16:creationId xmlns:a16="http://schemas.microsoft.com/office/drawing/2014/main" id="{679E8236-007C-467D-BD9F-B36563D0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0"/>
            <a:ext cx="285750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8" name="f1-bound-title">
            <a:extLst xmlns:a="http://schemas.openxmlformats.org/drawingml/2006/main">
              <a:ext uri="{FF2B5EF4-FFF2-40B4-BE49-F238E27FC236}">
                <a16:creationId xmlns:a16="http://schemas.microsoft.com/office/drawing/2014/main" id="{BF885A04-995D-482C-BFF2-AC15E909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72440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Claim boundary</a:t>
            </a:r>
          </a:p>
        </p:txBody>
      </p:sp>
      <p:sp>
        <p:nvSpPr>
          <p:cNvPr id="39" name="f1-bound-body">
            <a:extLst xmlns:a="http://schemas.openxmlformats.org/drawingml/2006/main">
              <a:ext uri="{FF2B5EF4-FFF2-40B4-BE49-F238E27FC236}">
                <a16:creationId xmlns:a16="http://schemas.microsoft.com/office/drawing/2014/main" id="{859A01BB-B50E-4B0D-A1B2-ECDC15EC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048250"/>
            <a:ext cx="2514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This does not replace v5.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It stays separate from the main result.</a:t>
            </a:r>
          </a:p>
        </p:txBody>
      </p:sp>
    </p:spTree>
    <p:extLst>
      <p:ext uri="{BB962C8B-B14F-4D97-AF65-F5344CB8AC3E}">
        <p14:creationId xmlns:p14="http://schemas.microsoft.com/office/powerpoint/2010/main" val="83482884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1BDC3E3F-9741-47D4-90F7-70CE6135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6DB9B73B-4746-4013-B408-EDEC2B34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C2A2B3D7-FD92-4BAE-B350-F19079B0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8848DE5-7707-4FC5-B521-55C8635A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Optuna tuning strengthened the F1 channel models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D6DC8E8A-7030-4FFE-AD1B-16B8EF3C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29D1EA02-E687-427D-B3A3-887115BE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24/28</a:t>
            </a:r>
          </a:p>
        </p:txBody>
      </p:sp>
      <p:sp>
        <p:nvSpPr>
          <p:cNvPr id="7" name="searched">
            <a:extLst xmlns:a="http://schemas.openxmlformats.org/drawingml/2006/main">
              <a:ext uri="{FF2B5EF4-FFF2-40B4-BE49-F238E27FC236}">
                <a16:creationId xmlns:a16="http://schemas.microsoft.com/office/drawing/2014/main" id="{51515F09-3C81-43D6-AC0D-186924EE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66850"/>
            <a:ext cx="1200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Optuna searched: </a:t>
            </a:r>
            <a:r>
              <a:rPr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tree count, tree depth, learning rate, row/feature sampling, and regularisation</a:t>
            </a:r>
          </a:p>
        </p:txBody>
      </p:sp>
      <p:sp>
        <p:nvSpPr>
          <p:cNvPr id="8" name="searched-rule">
            <a:extLst xmlns:a="http://schemas.openxmlformats.org/drawingml/2006/main">
              <a:ext uri="{FF2B5EF4-FFF2-40B4-BE49-F238E27FC236}">
                <a16:creationId xmlns:a16="http://schemas.microsoft.com/office/drawing/2014/main" id="{F7DD0D98-FCE7-4F01-83E9-A49DA12B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200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8EDF4"/>
            </a:solidFill>
            <a:prstDash val="solid"/>
          </a:ln>
        </p:spPr>
      </p:sp>
      <p:sp>
        <p:nvSpPr>
          <p:cNvPr id="9" name="op-h-0">
            <a:extLst xmlns:a="http://schemas.openxmlformats.org/drawingml/2006/main">
              <a:ext uri="{FF2B5EF4-FFF2-40B4-BE49-F238E27FC236}">
                <a16:creationId xmlns:a16="http://schemas.microsoft.com/office/drawing/2014/main" id="{C69344D8-A4A4-4427-BE13-9A34F7C2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003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Metric</a:t>
            </a:r>
          </a:p>
        </p:txBody>
      </p:sp>
      <p:sp>
        <p:nvSpPr>
          <p:cNvPr id="10" name="op-h-1">
            <a:extLst xmlns:a="http://schemas.openxmlformats.org/drawingml/2006/main">
              <a:ext uri="{FF2B5EF4-FFF2-40B4-BE49-F238E27FC236}">
                <a16:creationId xmlns:a16="http://schemas.microsoft.com/office/drawing/2014/main" id="{45462EFD-688C-4B18-833E-93716292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003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Before</a:t>
            </a:r>
          </a:p>
        </p:txBody>
      </p:sp>
      <p:sp>
        <p:nvSpPr>
          <p:cNvPr id="11" name="op-h-2">
            <a:extLst xmlns:a="http://schemas.openxmlformats.org/drawingml/2006/main">
              <a:ext uri="{FF2B5EF4-FFF2-40B4-BE49-F238E27FC236}">
                <a16:creationId xmlns:a16="http://schemas.microsoft.com/office/drawing/2014/main" id="{0395CB8D-7D91-4583-B81E-5B826415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003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After Optuna</a:t>
            </a:r>
          </a:p>
        </p:txBody>
      </p:sp>
      <p:sp>
        <p:nvSpPr>
          <p:cNvPr id="12" name="op-h-3">
            <a:extLst xmlns:a="http://schemas.openxmlformats.org/drawingml/2006/main">
              <a:ext uri="{FF2B5EF4-FFF2-40B4-BE49-F238E27FC236}">
                <a16:creationId xmlns:a16="http://schemas.microsoft.com/office/drawing/2014/main" id="{6FB393A6-D0FD-44B9-8407-A20D74FD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4003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5C6A7F"/>
                </a:solidFill>
                <a:latin typeface="Times New Roman"/>
                <a:ea typeface="Times New Roman"/>
                <a:cs typeface="Times New Roman"/>
              </a:rPr>
              <a:t>Change</a:t>
            </a:r>
          </a:p>
        </p:txBody>
      </p:sp>
      <p:sp>
        <p:nvSpPr>
          <p:cNvPr id="13" name="op-head">
            <a:extLst xmlns:a="http://schemas.openxmlformats.org/drawingml/2006/main">
              <a:ext uri="{FF2B5EF4-FFF2-40B4-BE49-F238E27FC236}">
                <a16:creationId xmlns:a16="http://schemas.microsoft.com/office/drawing/2014/main" id="{9D975D0D-4886-4C34-9FC7-DB5611BF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2892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EE8"/>
            </a:solidFill>
            <a:prstDash val="solid"/>
          </a:ln>
        </p:spPr>
      </p:sp>
      <p:sp>
        <p:nvSpPr>
          <p:cNvPr id="14" name="op-m-0">
            <a:extLst xmlns:a="http://schemas.openxmlformats.org/drawingml/2006/main">
              <a:ext uri="{FF2B5EF4-FFF2-40B4-BE49-F238E27FC236}">
                <a16:creationId xmlns:a16="http://schemas.microsoft.com/office/drawing/2014/main" id="{7BA1A073-2B29-4268-8496-7BFE6AA1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1467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F1 avg test accuracy</a:t>
            </a:r>
          </a:p>
        </p:txBody>
      </p:sp>
      <p:sp>
        <p:nvSpPr>
          <p:cNvPr id="15" name="op-b-0">
            <a:extLst xmlns:a="http://schemas.openxmlformats.org/drawingml/2006/main">
              <a:ext uri="{FF2B5EF4-FFF2-40B4-BE49-F238E27FC236}">
                <a16:creationId xmlns:a16="http://schemas.microsoft.com/office/drawing/2014/main" id="{95E5D19A-E66A-44F4-BB58-6897737B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11467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46.0%</a:t>
            </a:r>
          </a:p>
        </p:txBody>
      </p:sp>
      <p:sp>
        <p:nvSpPr>
          <p:cNvPr id="16" name="op-a-0">
            <a:extLst xmlns:a="http://schemas.openxmlformats.org/drawingml/2006/main">
              <a:ext uri="{FF2B5EF4-FFF2-40B4-BE49-F238E27FC236}">
                <a16:creationId xmlns:a16="http://schemas.microsoft.com/office/drawing/2014/main" id="{794158A4-A7AB-472E-8749-30C1E2C6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1146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53.6%</a:t>
            </a:r>
          </a:p>
        </p:txBody>
      </p:sp>
      <p:sp>
        <p:nvSpPr>
          <p:cNvPr id="17" name="op-c-0">
            <a:extLst xmlns:a="http://schemas.openxmlformats.org/drawingml/2006/main">
              <a:ext uri="{FF2B5EF4-FFF2-40B4-BE49-F238E27FC236}">
                <a16:creationId xmlns:a16="http://schemas.microsoft.com/office/drawing/2014/main" id="{A13026CB-B013-4A84-B095-191B7855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1146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+7.6</a:t>
            </a:r>
          </a:p>
        </p:txBody>
      </p:sp>
      <p:sp>
        <p:nvSpPr>
          <p:cNvPr id="18" name="op-line-0">
            <a:extLst xmlns:a="http://schemas.openxmlformats.org/drawingml/2006/main">
              <a:ext uri="{FF2B5EF4-FFF2-40B4-BE49-F238E27FC236}">
                <a16:creationId xmlns:a16="http://schemas.microsoft.com/office/drawing/2014/main" id="{1C11CC50-F4F9-4B52-B67C-3C7C2D33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57187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  <p:sp>
        <p:nvSpPr>
          <p:cNvPr id="19" name="op-m-1">
            <a:extLst xmlns:a="http://schemas.openxmlformats.org/drawingml/2006/main">
              <a:ext uri="{FF2B5EF4-FFF2-40B4-BE49-F238E27FC236}">
                <a16:creationId xmlns:a16="http://schemas.microsoft.com/office/drawing/2014/main" id="{99077E3B-C8B6-4177-8832-828C161A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78142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F1 avg balanced accuracy</a:t>
            </a:r>
          </a:p>
        </p:txBody>
      </p:sp>
      <p:sp>
        <p:nvSpPr>
          <p:cNvPr id="20" name="op-b-1">
            <a:extLst xmlns:a="http://schemas.openxmlformats.org/drawingml/2006/main">
              <a:ext uri="{FF2B5EF4-FFF2-40B4-BE49-F238E27FC236}">
                <a16:creationId xmlns:a16="http://schemas.microsoft.com/office/drawing/2014/main" id="{3F9C8C92-218D-4AC8-B964-F14228A1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78142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48.2%</a:t>
            </a:r>
          </a:p>
        </p:txBody>
      </p:sp>
      <p:sp>
        <p:nvSpPr>
          <p:cNvPr id="21" name="op-a-1">
            <a:extLst xmlns:a="http://schemas.openxmlformats.org/drawingml/2006/main">
              <a:ext uri="{FF2B5EF4-FFF2-40B4-BE49-F238E27FC236}">
                <a16:creationId xmlns:a16="http://schemas.microsoft.com/office/drawing/2014/main" id="{31DAA06F-2243-44AD-98FB-FAC7BAB3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7814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49.8%</a:t>
            </a:r>
          </a:p>
        </p:txBody>
      </p:sp>
      <p:sp>
        <p:nvSpPr>
          <p:cNvPr id="22" name="op-c-1">
            <a:extLst xmlns:a="http://schemas.openxmlformats.org/drawingml/2006/main">
              <a:ext uri="{FF2B5EF4-FFF2-40B4-BE49-F238E27FC236}">
                <a16:creationId xmlns:a16="http://schemas.microsoft.com/office/drawing/2014/main" id="{79B076FA-143A-4FF3-86D3-655D5C8E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7814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+1.6</a:t>
            </a:r>
          </a:p>
        </p:txBody>
      </p:sp>
      <p:sp>
        <p:nvSpPr>
          <p:cNvPr id="23" name="op-line-1">
            <a:extLst xmlns:a="http://schemas.openxmlformats.org/drawingml/2006/main">
              <a:ext uri="{FF2B5EF4-FFF2-40B4-BE49-F238E27FC236}">
                <a16:creationId xmlns:a16="http://schemas.microsoft.com/office/drawing/2014/main" id="{71585C73-B693-41D6-B8A6-FF124D15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3862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  <p:sp>
        <p:nvSpPr>
          <p:cNvPr id="24" name="op-m-2">
            <a:extLst xmlns:a="http://schemas.openxmlformats.org/drawingml/2006/main">
              <a:ext uri="{FF2B5EF4-FFF2-40B4-BE49-F238E27FC236}">
                <a16:creationId xmlns:a16="http://schemas.microsoft.com/office/drawing/2014/main" id="{51CF7E8D-A0D8-45AA-A07A-0828FC6C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44817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DRS test accuracy</a:t>
            </a:r>
          </a:p>
        </p:txBody>
      </p:sp>
      <p:sp>
        <p:nvSpPr>
          <p:cNvPr id="25" name="op-b-2">
            <a:extLst xmlns:a="http://schemas.openxmlformats.org/drawingml/2006/main">
              <a:ext uri="{FF2B5EF4-FFF2-40B4-BE49-F238E27FC236}">
                <a16:creationId xmlns:a16="http://schemas.microsoft.com/office/drawing/2014/main" id="{AC44C08F-EB76-4D0F-A3D3-5FF37600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4817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55.0%</a:t>
            </a:r>
          </a:p>
        </p:txBody>
      </p:sp>
      <p:sp>
        <p:nvSpPr>
          <p:cNvPr id="26" name="op-a-2">
            <a:extLst xmlns:a="http://schemas.openxmlformats.org/drawingml/2006/main">
              <a:ext uri="{FF2B5EF4-FFF2-40B4-BE49-F238E27FC236}">
                <a16:creationId xmlns:a16="http://schemas.microsoft.com/office/drawing/2014/main" id="{42C624E3-3D9D-4013-94F8-969BE983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4481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76.4%</a:t>
            </a:r>
          </a:p>
        </p:txBody>
      </p:sp>
      <p:sp>
        <p:nvSpPr>
          <p:cNvPr id="27" name="op-c-2">
            <a:extLst xmlns:a="http://schemas.openxmlformats.org/drawingml/2006/main">
              <a:ext uri="{FF2B5EF4-FFF2-40B4-BE49-F238E27FC236}">
                <a16:creationId xmlns:a16="http://schemas.microsoft.com/office/drawing/2014/main" id="{BFA8ADD7-23C0-4B43-9BA2-19571887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4481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+21.4</a:t>
            </a:r>
          </a:p>
        </p:txBody>
      </p:sp>
      <p:sp>
        <p:nvSpPr>
          <p:cNvPr id="28" name="op-line-2">
            <a:extLst xmlns:a="http://schemas.openxmlformats.org/drawingml/2006/main">
              <a:ext uri="{FF2B5EF4-FFF2-40B4-BE49-F238E27FC236}">
                <a16:creationId xmlns:a16="http://schemas.microsoft.com/office/drawing/2014/main" id="{83A0B09F-DCED-4F31-BBE1-72B194D9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90537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  <p:sp>
        <p:nvSpPr>
          <p:cNvPr id="29" name="op-m-3">
            <a:extLst xmlns:a="http://schemas.openxmlformats.org/drawingml/2006/main">
              <a:ext uri="{FF2B5EF4-FFF2-40B4-BE49-F238E27FC236}">
                <a16:creationId xmlns:a16="http://schemas.microsoft.com/office/drawing/2014/main" id="{7195FAD6-399E-4164-973E-793A22A2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11492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Throttle balanced accuracy</a:t>
            </a:r>
          </a:p>
        </p:txBody>
      </p:sp>
      <p:sp>
        <p:nvSpPr>
          <p:cNvPr id="30" name="op-b-3">
            <a:extLst xmlns:a="http://schemas.openxmlformats.org/drawingml/2006/main">
              <a:ext uri="{FF2B5EF4-FFF2-40B4-BE49-F238E27FC236}">
                <a16:creationId xmlns:a16="http://schemas.microsoft.com/office/drawing/2014/main" id="{2CA932D2-BEAA-404C-B3D1-9FD2EA4C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11492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24.0%</a:t>
            </a:r>
          </a:p>
        </p:txBody>
      </p:sp>
      <p:sp>
        <p:nvSpPr>
          <p:cNvPr id="31" name="op-a-3">
            <a:extLst xmlns:a="http://schemas.openxmlformats.org/drawingml/2006/main">
              <a:ext uri="{FF2B5EF4-FFF2-40B4-BE49-F238E27FC236}">
                <a16:creationId xmlns:a16="http://schemas.microsoft.com/office/drawing/2014/main" id="{B5676A9B-2539-4D14-A589-77A3EBF7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114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47.1%</a:t>
            </a:r>
          </a:p>
        </p:txBody>
      </p:sp>
      <p:sp>
        <p:nvSpPr>
          <p:cNvPr id="32" name="op-c-3">
            <a:extLst xmlns:a="http://schemas.openxmlformats.org/drawingml/2006/main">
              <a:ext uri="{FF2B5EF4-FFF2-40B4-BE49-F238E27FC236}">
                <a16:creationId xmlns:a16="http://schemas.microsoft.com/office/drawing/2014/main" id="{DE3759A1-A838-478C-975E-B3497129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1149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+23.1</a:t>
            </a:r>
          </a:p>
        </p:txBody>
      </p:sp>
      <p:sp>
        <p:nvSpPr>
          <p:cNvPr id="33" name="op-line-3">
            <a:extLst xmlns:a="http://schemas.openxmlformats.org/drawingml/2006/main">
              <a:ext uri="{FF2B5EF4-FFF2-40B4-BE49-F238E27FC236}">
                <a16:creationId xmlns:a16="http://schemas.microsoft.com/office/drawing/2014/main" id="{E96CC0E5-9D7E-4439-89BB-98913F8E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7212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  <p:sp>
        <p:nvSpPr>
          <p:cNvPr id="34" name="op-m-4">
            <a:extLst xmlns:a="http://schemas.openxmlformats.org/drawingml/2006/main">
              <a:ext uri="{FF2B5EF4-FFF2-40B4-BE49-F238E27FC236}">
                <a16:creationId xmlns:a16="http://schemas.microsoft.com/office/drawing/2014/main" id="{45C31FA1-D466-469E-A6A5-489464F1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78167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RPM test accuracy</a:t>
            </a:r>
          </a:p>
        </p:txBody>
      </p:sp>
      <p:sp>
        <p:nvSpPr>
          <p:cNvPr id="35" name="op-b-4">
            <a:extLst xmlns:a="http://schemas.openxmlformats.org/drawingml/2006/main">
              <a:ext uri="{FF2B5EF4-FFF2-40B4-BE49-F238E27FC236}">
                <a16:creationId xmlns:a16="http://schemas.microsoft.com/office/drawing/2014/main" id="{3AB09B70-A0D7-4F7B-B721-23B5C5CD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78167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32.9%</a:t>
            </a:r>
          </a:p>
        </p:txBody>
      </p:sp>
      <p:sp>
        <p:nvSpPr>
          <p:cNvPr id="36" name="op-a-4">
            <a:extLst xmlns:a="http://schemas.openxmlformats.org/drawingml/2006/main">
              <a:ext uri="{FF2B5EF4-FFF2-40B4-BE49-F238E27FC236}">
                <a16:creationId xmlns:a16="http://schemas.microsoft.com/office/drawing/2014/main" id="{FF1BB76A-EDDA-45BB-B47B-90C93706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7816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44.0%</a:t>
            </a:r>
          </a:p>
        </p:txBody>
      </p:sp>
      <p:sp>
        <p:nvSpPr>
          <p:cNvPr id="37" name="op-c-4">
            <a:extLst xmlns:a="http://schemas.openxmlformats.org/drawingml/2006/main">
              <a:ext uri="{FF2B5EF4-FFF2-40B4-BE49-F238E27FC236}">
                <a16:creationId xmlns:a16="http://schemas.microsoft.com/office/drawing/2014/main" id="{924380E4-45D7-432D-8829-E816A549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7816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FA06F"/>
                </a:solidFill>
                <a:latin typeface="Times New Roman"/>
                <a:ea typeface="Times New Roman"/>
                <a:cs typeface="Times New Roman"/>
              </a:rPr>
              <a:t>+11.1</a:t>
            </a:r>
          </a:p>
        </p:txBody>
      </p:sp>
      <p:sp>
        <p:nvSpPr>
          <p:cNvPr id="38" name="op-line-4">
            <a:extLst xmlns:a="http://schemas.openxmlformats.org/drawingml/2006/main">
              <a:ext uri="{FF2B5EF4-FFF2-40B4-BE49-F238E27FC236}">
                <a16:creationId xmlns:a16="http://schemas.microsoft.com/office/drawing/2014/main" id="{CFD98054-C6DD-4A5A-BDB5-0AF17D31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23887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8080898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CE103C3B-80D0-4B4C-9C60-3E221A04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80A54CF6-1F5B-47AF-82AF-0BF25D5A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143EB3E4-79DE-41D4-9F25-1A3637A7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9F82154-6C1F-4A14-9744-7197F0C3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Where this selector can be used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913E22B4-7819-422E-9982-F296801D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B91B6FB2-22FC-4B44-9A9C-66B371C4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25/28</a:t>
            </a:r>
          </a:p>
        </p:txBody>
      </p:sp>
      <p:sp>
        <p:nvSpPr>
          <p:cNvPr id="7" name="proof-n-0">
            <a:extLst xmlns:a="http://schemas.openxmlformats.org/drawingml/2006/main">
              <a:ext uri="{FF2B5EF4-FFF2-40B4-BE49-F238E27FC236}">
                <a16:creationId xmlns:a16="http://schemas.microsoft.com/office/drawing/2014/main" id="{F8907033-C77C-4C6F-BF77-10CEAC21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4287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8" name="proof-row-0">
            <a:extLst xmlns:a="http://schemas.openxmlformats.org/drawingml/2006/main">
              <a:ext uri="{FF2B5EF4-FFF2-40B4-BE49-F238E27FC236}">
                <a16:creationId xmlns:a16="http://schemas.microsoft.com/office/drawing/2014/main" id="{279B441F-775F-490C-91D4-90FD8A91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09700"/>
            <a:ext cx="11410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Database query engines: </a:t>
            </a:r>
            <a:r>
              <a:rPr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choose sorting method for ORDER BY, joins, grouping, and index builds</a:t>
            </a:r>
          </a:p>
        </p:txBody>
      </p:sp>
      <p:sp>
        <p:nvSpPr>
          <p:cNvPr id="9" name="proof-row-line-0">
            <a:extLst xmlns:a="http://schemas.openxmlformats.org/drawingml/2006/main">
              <a:ext uri="{FF2B5EF4-FFF2-40B4-BE49-F238E27FC236}">
                <a16:creationId xmlns:a16="http://schemas.microsoft.com/office/drawing/2014/main" id="{1DEC36EE-0589-448B-861E-389C0810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098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  <p:sp>
        <p:nvSpPr>
          <p:cNvPr id="10" name="proof-n-1">
            <a:extLst xmlns:a="http://schemas.openxmlformats.org/drawingml/2006/main">
              <a:ext uri="{FF2B5EF4-FFF2-40B4-BE49-F238E27FC236}">
                <a16:creationId xmlns:a16="http://schemas.microsoft.com/office/drawing/2014/main" id="{048906A0-A34D-43C1-974B-1DFF123A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1" name="proof-row-1">
            <a:extLst xmlns:a="http://schemas.openxmlformats.org/drawingml/2006/main">
              <a:ext uri="{FF2B5EF4-FFF2-40B4-BE49-F238E27FC236}">
                <a16:creationId xmlns:a16="http://schemas.microsoft.com/office/drawing/2014/main" id="{E91DB63C-C20A-4F11-AB2E-EA7475D9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05050"/>
            <a:ext cx="11410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ETL and analytics pipelines: </a:t>
            </a:r>
            <a:r>
              <a:rPr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choose sorting method for IDs, timestamps, prices, partitions, and batches</a:t>
            </a:r>
          </a:p>
        </p:txBody>
      </p:sp>
      <p:sp>
        <p:nvSpPr>
          <p:cNvPr id="12" name="proof-row-line-1">
            <a:extLst xmlns:a="http://schemas.openxmlformats.org/drawingml/2006/main">
              <a:ext uri="{FF2B5EF4-FFF2-40B4-BE49-F238E27FC236}">
                <a16:creationId xmlns:a16="http://schemas.microsoft.com/office/drawing/2014/main" id="{4396D763-0230-4BC4-8B70-B75576FD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0515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  <p:sp>
        <p:nvSpPr>
          <p:cNvPr id="13" name="proof-n-2">
            <a:extLst xmlns:a="http://schemas.openxmlformats.org/drawingml/2006/main">
              <a:ext uri="{FF2B5EF4-FFF2-40B4-BE49-F238E27FC236}">
                <a16:creationId xmlns:a16="http://schemas.microsoft.com/office/drawing/2014/main" id="{AAFC3E31-B099-4207-AB59-C529E2C1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194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4" name="proof-row-2">
            <a:extLst xmlns:a="http://schemas.openxmlformats.org/drawingml/2006/main">
              <a:ext uri="{FF2B5EF4-FFF2-40B4-BE49-F238E27FC236}">
                <a16:creationId xmlns:a16="http://schemas.microsoft.com/office/drawing/2014/main" id="{2ACCEFAB-25BE-49C9-AD80-B36834EE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00400"/>
            <a:ext cx="11410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Search and ranking systems: </a:t>
            </a:r>
            <a:r>
              <a:rPr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choose sorting method for candidate scores before top-k output</a:t>
            </a:r>
          </a:p>
        </p:txBody>
      </p:sp>
      <p:sp>
        <p:nvSpPr>
          <p:cNvPr id="15" name="proof-row-line-2">
            <a:extLst xmlns:a="http://schemas.openxmlformats.org/drawingml/2006/main">
              <a:ext uri="{FF2B5EF4-FFF2-40B4-BE49-F238E27FC236}">
                <a16:creationId xmlns:a16="http://schemas.microsoft.com/office/drawing/2014/main" id="{1B081428-BF1B-4D9A-BD23-7F68193C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005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  <p:sp>
        <p:nvSpPr>
          <p:cNvPr id="16" name="proof-n-3">
            <a:extLst xmlns:a="http://schemas.openxmlformats.org/drawingml/2006/main">
              <a:ext uri="{FF2B5EF4-FFF2-40B4-BE49-F238E27FC236}">
                <a16:creationId xmlns:a16="http://schemas.microsoft.com/office/drawing/2014/main" id="{DC000560-85A7-4C27-BA95-321FFB43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148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17" name="proof-row-3">
            <a:extLst xmlns:a="http://schemas.openxmlformats.org/drawingml/2006/main">
              <a:ext uri="{FF2B5EF4-FFF2-40B4-BE49-F238E27FC236}">
                <a16:creationId xmlns:a16="http://schemas.microsoft.com/office/drawing/2014/main" id="{FA78E2D6-2ABE-4810-939C-0587E268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95750"/>
            <a:ext cx="11410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Financial time-series processing: </a:t>
            </a:r>
            <a:r>
              <a:rPr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choose sorting method for rolling windows, events, prices, and order-book values</a:t>
            </a:r>
          </a:p>
        </p:txBody>
      </p:sp>
      <p:sp>
        <p:nvSpPr>
          <p:cNvPr id="18" name="proof-row-line-3">
            <a:extLst xmlns:a="http://schemas.openxmlformats.org/drawingml/2006/main">
              <a:ext uri="{FF2B5EF4-FFF2-40B4-BE49-F238E27FC236}">
                <a16:creationId xmlns:a16="http://schemas.microsoft.com/office/drawing/2014/main" id="{CD0A4B3E-DAD4-4CD2-97DC-1E7E4E62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9585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  <p:sp>
        <p:nvSpPr>
          <p:cNvPr id="19" name="proof-n-4">
            <a:extLst xmlns:a="http://schemas.openxmlformats.org/drawingml/2006/main">
              <a:ext uri="{FF2B5EF4-FFF2-40B4-BE49-F238E27FC236}">
                <a16:creationId xmlns:a16="http://schemas.microsoft.com/office/drawing/2014/main" id="{40FE9A2B-1AAC-4571-ACC9-C465E907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01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20" name="proof-row-4">
            <a:extLst xmlns:a="http://schemas.openxmlformats.org/drawingml/2006/main">
              <a:ext uri="{FF2B5EF4-FFF2-40B4-BE49-F238E27FC236}">
                <a16:creationId xmlns:a16="http://schemas.microsoft.com/office/drawing/2014/main" id="{B7FFDE70-E426-45B2-A854-F34B6767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91100"/>
            <a:ext cx="11410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Scientific and telemetry processing: </a:t>
            </a:r>
            <a:r>
              <a:rPr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choose sorting method for sensor traces, physics logs, weather data, and F1 telemetry</a:t>
            </a:r>
          </a:p>
        </p:txBody>
      </p:sp>
      <p:sp>
        <p:nvSpPr>
          <p:cNvPr id="21" name="proof-row-line-4">
            <a:extLst xmlns:a="http://schemas.openxmlformats.org/drawingml/2006/main">
              <a:ext uri="{FF2B5EF4-FFF2-40B4-BE49-F238E27FC236}">
                <a16:creationId xmlns:a16="http://schemas.microsoft.com/office/drawing/2014/main" id="{33132D9A-D5B3-41A4-A1DB-826E31CF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9120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  <p:sp>
        <p:nvSpPr>
          <p:cNvPr id="22" name="proof-n-5">
            <a:extLst xmlns:a="http://schemas.openxmlformats.org/drawingml/2006/main">
              <a:ext uri="{FF2B5EF4-FFF2-40B4-BE49-F238E27FC236}">
                <a16:creationId xmlns:a16="http://schemas.microsoft.com/office/drawing/2014/main" id="{11781322-D18A-4529-BC9B-67C3B5F4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9055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sp>
        <p:nvSpPr>
          <p:cNvPr id="23" name="proof-row-5">
            <a:extLst xmlns:a="http://schemas.openxmlformats.org/drawingml/2006/main">
              <a:ext uri="{FF2B5EF4-FFF2-40B4-BE49-F238E27FC236}">
                <a16:creationId xmlns:a16="http://schemas.microsoft.com/office/drawing/2014/main" id="{71129B28-798D-4810-837B-51F738BD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86450"/>
            <a:ext cx="11410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Selector action: </a:t>
            </a:r>
            <a:r>
              <a:rPr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extract features first, predict fastest algorithm, choose Introsort / Heapsort / Timsort</a:t>
            </a:r>
          </a:p>
        </p:txBody>
      </p:sp>
      <p:sp>
        <p:nvSpPr>
          <p:cNvPr id="24" name="proof-row-line-5">
            <a:extLst xmlns:a="http://schemas.openxmlformats.org/drawingml/2006/main">
              <a:ext uri="{FF2B5EF4-FFF2-40B4-BE49-F238E27FC236}">
                <a16:creationId xmlns:a16="http://schemas.microsoft.com/office/drawing/2014/main" id="{150ED5C0-86BA-40F9-B6BC-61488915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686550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8EDF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9746507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BEB04448-9585-453A-B007-709B652D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D6CAF0F9-0CDF-4569-B0C7-87431D3C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DBDB18F4-531C-4C65-8331-4E641023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8451130-2EE9-4517-8F70-F702BAAE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Contributions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5D6C8D38-DC62-4F80-927D-97732307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16DCA55-DA59-40E0-A43B-0DA1D858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26/28</a:t>
            </a:r>
          </a:p>
        </p:txBody>
      </p:sp>
      <p:sp>
        <p:nvSpPr>
          <p:cNvPr id="7" name="list-n-0">
            <a:extLst xmlns:a="http://schemas.openxmlformats.org/drawingml/2006/main">
              <a:ext uri="{FF2B5EF4-FFF2-40B4-BE49-F238E27FC236}">
                <a16:creationId xmlns:a16="http://schemas.microsoft.com/office/drawing/2014/main" id="{B8068143-B7E4-4609-AD94-A3DEBCC3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955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8" name="list-row-0">
            <a:extLst xmlns:a="http://schemas.openxmlformats.org/drawingml/2006/main">
              <a:ext uri="{FF2B5EF4-FFF2-40B4-BE49-F238E27FC236}">
                <a16:creationId xmlns:a16="http://schemas.microsoft.com/office/drawing/2014/main" id="{BF83C8FB-C8B4-4572-A7AA-D3855649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066925"/>
            <a:ext cx="1122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Deployable selector: </a:t>
            </a:r>
            <a:r>
              <a:rPr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compact pipeline combines sixteen O(n) structural features with a gradient-boosted classifier</a:t>
            </a:r>
          </a:p>
        </p:txBody>
      </p:sp>
      <p:sp>
        <p:nvSpPr>
          <p:cNvPr id="9" name="list-line-0">
            <a:extLst xmlns:a="http://schemas.openxmlformats.org/drawingml/2006/main">
              <a:ext uri="{FF2B5EF4-FFF2-40B4-BE49-F238E27FC236}">
                <a16:creationId xmlns:a16="http://schemas.microsoft.com/office/drawing/2014/main" id="{C370036A-779C-4EFD-B010-DE8ECF79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686050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0" name="list-n-1">
            <a:extLst xmlns:a="http://schemas.openxmlformats.org/drawingml/2006/main">
              <a:ext uri="{FF2B5EF4-FFF2-40B4-BE49-F238E27FC236}">
                <a16:creationId xmlns:a16="http://schemas.microsoft.com/office/drawing/2014/main" id="{02B7A7BB-AAE6-49B2-A26F-E976866D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52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1" name="list-row-1">
            <a:extLst xmlns:a="http://schemas.openxmlformats.org/drawingml/2006/main">
              <a:ext uri="{FF2B5EF4-FFF2-40B4-BE49-F238E27FC236}">
                <a16:creationId xmlns:a16="http://schemas.microsoft.com/office/drawing/2014/main" id="{29DD7E43-C75A-409A-8310-34771DBF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324225"/>
            <a:ext cx="1122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Evaluation discipline: </a:t>
            </a:r>
            <a:r>
              <a:rPr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source-level separation, near-tie filtering, LODO testing, and regret metrics give a stronger view than accuracy alone</a:t>
            </a:r>
          </a:p>
        </p:txBody>
      </p:sp>
      <p:sp>
        <p:nvSpPr>
          <p:cNvPr id="12" name="list-line-1">
            <a:extLst xmlns:a="http://schemas.openxmlformats.org/drawingml/2006/main">
              <a:ext uri="{FF2B5EF4-FFF2-40B4-BE49-F238E27FC236}">
                <a16:creationId xmlns:a16="http://schemas.microsoft.com/office/drawing/2014/main" id="{ED880AFF-39F0-44F0-8918-29F74791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943350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3" name="list-n-2">
            <a:extLst xmlns:a="http://schemas.openxmlformats.org/drawingml/2006/main">
              <a:ext uri="{FF2B5EF4-FFF2-40B4-BE49-F238E27FC236}">
                <a16:creationId xmlns:a16="http://schemas.microsoft.com/office/drawing/2014/main" id="{FA443C9E-07AC-48E1-916D-F1A07238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101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4" name="list-row-2">
            <a:extLst xmlns:a="http://schemas.openxmlformats.org/drawingml/2006/main">
              <a:ext uri="{FF2B5EF4-FFF2-40B4-BE49-F238E27FC236}">
                <a16:creationId xmlns:a16="http://schemas.microsoft.com/office/drawing/2014/main" id="{EB78113F-DE7F-4A55-8738-ED027F97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581525"/>
            <a:ext cx="1122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Reproducible artifact: </a:t>
            </a:r>
            <a:r>
              <a:rPr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one source-of-truth feature extractor, data pipeline, and exported XGBoost JSON / ONNX models support replication</a:t>
            </a:r>
          </a:p>
        </p:txBody>
      </p:sp>
      <p:sp>
        <p:nvSpPr>
          <p:cNvPr id="15" name="list-line-2">
            <a:extLst xmlns:a="http://schemas.openxmlformats.org/drawingml/2006/main">
              <a:ext uri="{FF2B5EF4-FFF2-40B4-BE49-F238E27FC236}">
                <a16:creationId xmlns:a16="http://schemas.microsoft.com/office/drawing/2014/main" id="{69B423AB-78C1-4C03-A526-B8A3F86C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5200650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7049598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8A6B0DFD-2630-45E5-B0DD-1CB65B8A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76047AA0-1937-4CEC-91DE-3A5E85F0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D8498AB8-292B-4D8C-806E-3F963BA7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C875134-7E05-40CF-9F8E-5B430B20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Limitations and Future Work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636C03DB-77D2-485F-B641-ED643910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11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7DEE8"/>
            </a:solidFill>
            <a:prstDash val="solid"/>
          </a:ln>
        </p:spPr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BD6075F3-E6DE-4657-84A7-B6068ECA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27/28</a:t>
            </a:r>
          </a:p>
        </p:txBody>
      </p:sp>
      <p:sp>
        <p:nvSpPr>
          <p:cNvPr id="7" name="list-n-0">
            <a:extLst xmlns:a="http://schemas.openxmlformats.org/drawingml/2006/main">
              <a:ext uri="{FF2B5EF4-FFF2-40B4-BE49-F238E27FC236}">
                <a16:creationId xmlns:a16="http://schemas.microsoft.com/office/drawing/2014/main" id="{20BE1489-A035-4CFB-9A99-B5BD436F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5049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8" name="list-row-0">
            <a:extLst xmlns:a="http://schemas.openxmlformats.org/drawingml/2006/main">
              <a:ext uri="{FF2B5EF4-FFF2-40B4-BE49-F238E27FC236}">
                <a16:creationId xmlns:a16="http://schemas.microsoft.com/office/drawing/2014/main" id="{F98EB1F6-A5A6-4A75-8AE7-9DE0C006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1476375"/>
            <a:ext cx="1122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Portfolio: </a:t>
            </a:r>
            <a:r>
              <a:rPr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limited to three C-level comparison sorts</a:t>
            </a:r>
          </a:p>
        </p:txBody>
      </p:sp>
      <p:sp>
        <p:nvSpPr>
          <p:cNvPr id="9" name="list-line-0">
            <a:extLst xmlns:a="http://schemas.openxmlformats.org/drawingml/2006/main">
              <a:ext uri="{FF2B5EF4-FFF2-40B4-BE49-F238E27FC236}">
                <a16:creationId xmlns:a16="http://schemas.microsoft.com/office/drawing/2014/main" id="{DDDD1891-4932-4999-92F8-29472E88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095500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0" name="list-n-1">
            <a:extLst xmlns:a="http://schemas.openxmlformats.org/drawingml/2006/main">
              <a:ext uri="{FF2B5EF4-FFF2-40B4-BE49-F238E27FC236}">
                <a16:creationId xmlns:a16="http://schemas.microsoft.com/office/drawing/2014/main" id="{DE54A158-7E44-4CC5-B849-EDD2FC61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05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1" name="list-row-1">
            <a:extLst xmlns:a="http://schemas.openxmlformats.org/drawingml/2006/main">
              <a:ext uri="{FF2B5EF4-FFF2-40B4-BE49-F238E27FC236}">
                <a16:creationId xmlns:a16="http://schemas.microsoft.com/office/drawing/2014/main" id="{15A4758C-63EE-4287-9135-5A0DB0EA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276475"/>
            <a:ext cx="1122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Environment: </a:t>
            </a:r>
            <a:r>
              <a:rPr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absolute regret is tied to one hardware/software environment</a:t>
            </a:r>
          </a:p>
        </p:txBody>
      </p:sp>
      <p:sp>
        <p:nvSpPr>
          <p:cNvPr id="12" name="list-line-1">
            <a:extLst xmlns:a="http://schemas.openxmlformats.org/drawingml/2006/main">
              <a:ext uri="{FF2B5EF4-FFF2-40B4-BE49-F238E27FC236}">
                <a16:creationId xmlns:a16="http://schemas.microsoft.com/office/drawing/2014/main" id="{64285734-76AD-4CAB-BF82-C7A42D92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895600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3" name="list-n-2">
            <a:extLst xmlns:a="http://schemas.openxmlformats.org/drawingml/2006/main">
              <a:ext uri="{FF2B5EF4-FFF2-40B4-BE49-F238E27FC236}">
                <a16:creationId xmlns:a16="http://schemas.microsoft.com/office/drawing/2014/main" id="{64DDEEF6-D905-42A5-A089-2E991D48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05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4" name="list-row-2">
            <a:extLst xmlns:a="http://schemas.openxmlformats.org/drawingml/2006/main">
              <a:ext uri="{FF2B5EF4-FFF2-40B4-BE49-F238E27FC236}">
                <a16:creationId xmlns:a16="http://schemas.microsoft.com/office/drawing/2014/main" id="{37FA32FE-4F99-436A-9A64-CDE919FE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076575"/>
            <a:ext cx="1122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Source-aware split: </a:t>
            </a:r>
            <a:r>
              <a:rPr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stricter validation lowers performance, so deployment needs domain testing</a:t>
            </a:r>
          </a:p>
        </p:txBody>
      </p:sp>
      <p:sp>
        <p:nvSpPr>
          <p:cNvPr id="15" name="list-line-2">
            <a:extLst xmlns:a="http://schemas.openxmlformats.org/drawingml/2006/main">
              <a:ext uri="{FF2B5EF4-FFF2-40B4-BE49-F238E27FC236}">
                <a16:creationId xmlns:a16="http://schemas.microsoft.com/office/drawing/2014/main" id="{4FFA0E0A-4E17-44C0-9A25-E16BBE0C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695700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6" name="list-n-3">
            <a:extLst xmlns:a="http://schemas.openxmlformats.org/drawingml/2006/main">
              <a:ext uri="{FF2B5EF4-FFF2-40B4-BE49-F238E27FC236}">
                <a16:creationId xmlns:a16="http://schemas.microsoft.com/office/drawing/2014/main" id="{D2F6BAAC-139D-4EC6-B87F-43AE95CF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05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17" name="list-row-3">
            <a:extLst xmlns:a="http://schemas.openxmlformats.org/drawingml/2006/main">
              <a:ext uri="{FF2B5EF4-FFF2-40B4-BE49-F238E27FC236}">
                <a16:creationId xmlns:a16="http://schemas.microsoft.com/office/drawing/2014/main" id="{50BB6530-C644-42E4-8945-9589A6DD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876675"/>
            <a:ext cx="1122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Extraction cost: </a:t>
            </a:r>
            <a:r>
              <a:rPr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feature extraction becomes unprofitable below about 1,000 elements</a:t>
            </a:r>
          </a:p>
        </p:txBody>
      </p:sp>
      <p:sp>
        <p:nvSpPr>
          <p:cNvPr id="18" name="list-line-3">
            <a:extLst xmlns:a="http://schemas.openxmlformats.org/drawingml/2006/main">
              <a:ext uri="{FF2B5EF4-FFF2-40B4-BE49-F238E27FC236}">
                <a16:creationId xmlns:a16="http://schemas.microsoft.com/office/drawing/2014/main" id="{4B30558B-E64E-425A-B259-856AF65C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495800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19" name="list-n-4">
            <a:extLst xmlns:a="http://schemas.openxmlformats.org/drawingml/2006/main">
              <a:ext uri="{FF2B5EF4-FFF2-40B4-BE49-F238E27FC236}">
                <a16:creationId xmlns:a16="http://schemas.microsoft.com/office/drawing/2014/main" id="{B9609ED8-00E5-4741-8946-787974F1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053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20" name="list-row-4">
            <a:extLst xmlns:a="http://schemas.openxmlformats.org/drawingml/2006/main">
              <a:ext uri="{FF2B5EF4-FFF2-40B4-BE49-F238E27FC236}">
                <a16:creationId xmlns:a16="http://schemas.microsoft.com/office/drawing/2014/main" id="{9462BAB0-0351-4BAA-AEE1-7D29B333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676775"/>
            <a:ext cx="1122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Larger portfolios: </a:t>
            </a:r>
            <a:r>
              <a:rPr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Powersort, radix/bucket/quads, SIMD/GPU sorts</a:t>
            </a:r>
          </a:p>
        </p:txBody>
      </p:sp>
      <p:sp>
        <p:nvSpPr>
          <p:cNvPr id="21" name="list-line-4">
            <a:extLst xmlns:a="http://schemas.openxmlformats.org/drawingml/2006/main">
              <a:ext uri="{FF2B5EF4-FFF2-40B4-BE49-F238E27FC236}">
                <a16:creationId xmlns:a16="http://schemas.microsoft.com/office/drawing/2014/main" id="{FCF2FAF4-9F5A-42C2-8D3C-E2E96031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5295900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  <p:sp>
        <p:nvSpPr>
          <p:cNvPr id="22" name="list-n-5">
            <a:extLst xmlns:a="http://schemas.openxmlformats.org/drawingml/2006/main">
              <a:ext uri="{FF2B5EF4-FFF2-40B4-BE49-F238E27FC236}">
                <a16:creationId xmlns:a16="http://schemas.microsoft.com/office/drawing/2014/main" id="{B37871E4-A5BA-4136-85CF-1C44D7B4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505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4511E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sp>
        <p:nvSpPr>
          <p:cNvPr id="23" name="list-row-5">
            <a:extLst xmlns:a="http://schemas.openxmlformats.org/drawingml/2006/main">
              <a:ext uri="{FF2B5EF4-FFF2-40B4-BE49-F238E27FC236}">
                <a16:creationId xmlns:a16="http://schemas.microsoft.com/office/drawing/2014/main" id="{47599F19-0B42-42A9-85AC-5E5495F0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5476875"/>
            <a:ext cx="11220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Deployment: </a:t>
            </a:r>
            <a:r>
              <a:rPr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cross-platform validation with feature-extraction overhead</a:t>
            </a:r>
          </a:p>
        </p:txBody>
      </p:sp>
      <p:sp>
        <p:nvSpPr>
          <p:cNvPr id="24" name="list-line-5">
            <a:extLst xmlns:a="http://schemas.openxmlformats.org/drawingml/2006/main">
              <a:ext uri="{FF2B5EF4-FFF2-40B4-BE49-F238E27FC236}">
                <a16:creationId xmlns:a16="http://schemas.microsoft.com/office/drawing/2014/main" id="{7122DEE5-6DFD-463B-9BE0-6E4F11DC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6096000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EDF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391708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">
            <a:extLst xmlns:a="http://schemas.openxmlformats.org/drawingml/2006/main">
              <a:ext uri="{FF2B5EF4-FFF2-40B4-BE49-F238E27FC236}">
                <a16:creationId xmlns:a16="http://schemas.microsoft.com/office/drawing/2014/main" id="{1F4FDB40-9BD8-4673-8DDF-124CC8A7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orange">
            <a:extLst xmlns:a="http://schemas.openxmlformats.org/drawingml/2006/main">
              <a:ext uri="{FF2B5EF4-FFF2-40B4-BE49-F238E27FC236}">
                <a16:creationId xmlns:a16="http://schemas.microsoft.com/office/drawing/2014/main" id="{EABD8ABE-3FA5-48E0-8C5E-5C0C5049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463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ttom-maroon">
            <a:extLst xmlns:a="http://schemas.openxmlformats.org/drawingml/2006/main">
              <a:ext uri="{FF2B5EF4-FFF2-40B4-BE49-F238E27FC236}">
                <a16:creationId xmlns:a16="http://schemas.microsoft.com/office/drawing/2014/main" id="{AB25825F-F371-4C31-A568-55F1A3C8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51BAD72-8283-4ABE-85C3-11E566EA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0105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28/28</a:t>
            </a:r>
          </a:p>
        </p:txBody>
      </p:sp>
      <p:sp>
        <p:nvSpPr>
          <p:cNvPr id="5" name="thanks">
            <a:extLst xmlns:a="http://schemas.openxmlformats.org/drawingml/2006/main">
              <a:ext uri="{FF2B5EF4-FFF2-40B4-BE49-F238E27FC236}">
                <a16:creationId xmlns:a16="http://schemas.microsoft.com/office/drawing/2014/main" id="{25799E7F-747E-4C22-9B32-EC0CC282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33750"/>
            <a:ext cx="647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826623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2026-07-06T09:23:20.2050000Z</dcterms:created>
  <dcterms:modified xsi:type="dcterms:W3CDTF">2026-07-06T09:23:20.2050000Z</dcterms:modified>
</coreProperties>
</file>