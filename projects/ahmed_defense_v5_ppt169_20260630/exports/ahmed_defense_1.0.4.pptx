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0"/>
    <p:restoredTop sz="94658"/>
  </p:normalViewPr>
  <p:slideViewPr>
    <p:cSldViewPr snapToGrid="0" snapToObjects="1">
      <p:cViewPr varScale="1">
        <p:scale>
          <a:sx n="120" d="100"/>
          <a:sy n="120" d="100"/>
        </p:scale>
        <p:origin x="92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1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pPr algn="l"/>
            <a:r>
              <a:rPr sz="2800" b="1">
                <a:solidFill>
                  <a:srgbClr val="191919"/>
                </a:solidFill>
                <a:latin typeface="Arial"/>
              </a:rPr>
              <a:t>Presentation Outline</a:t>
            </a:r>
          </a:p>
        </p:txBody>
      </p:sp>
      <p:sp>
        <p:nvSpPr>
          <p:cNvPr id="29" name="Outline horizontal rule"/>
          <p:cNvSpPr/>
          <p:nvPr/>
        </p:nvSpPr>
        <p:spPr>
          <a:xfrm>
            <a:off x="647700" y="1123950"/>
            <a:ext cx="10896600" cy="13335"/>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pPr algn="l"/>
            <a:r>
              <a:rPr sz="2000" b="1">
                <a:solidFill>
                  <a:srgbClr val="191919"/>
                </a:solidFill>
                <a:latin typeface="Arial"/>
              </a:rPr>
              <a:t>Introduction and Motivation</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pPr algn="l"/>
            <a:r>
              <a:rPr sz="2000" b="1">
                <a:solidFill>
                  <a:srgbClr val="191919"/>
                </a:solidFill>
                <a:latin typeface="Arial"/>
              </a:rPr>
              <a:t>Algorithm Selection Problem</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pPr algn="l"/>
            <a:r>
              <a:rPr sz="2000" b="1">
                <a:solidFill>
                  <a:srgbClr val="191919"/>
                </a:solidFill>
                <a:latin typeface="Arial"/>
              </a:rPr>
              <a:t>Dataset and Feature Extraction</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pPr algn="l"/>
            <a:r>
              <a:rPr sz="2000" b="1">
                <a:solidFill>
                  <a:srgbClr val="191919"/>
                </a:solidFill>
                <a:latin typeface="Arial"/>
              </a:rPr>
              <a:t>Model Development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pPr algn="l"/>
            <a:r>
              <a:rPr sz="2000" b="1">
                <a:solidFill>
                  <a:srgbClr val="191919"/>
                </a:solidFill>
                <a:latin typeface="Arial"/>
              </a:rPr>
              <a:t>Evaluation and Results</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pPr algn="l"/>
            <a:r>
              <a:rPr sz="2000" b="1">
                <a:solidFill>
                  <a:srgbClr val="191919"/>
                </a:solidFill>
                <a:latin typeface="Arial"/>
              </a:rPr>
              <a:t>Limitations and Future Work</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a:solidFill>
                  <a:srgbClr val="FFFFFF"/>
                </a:solidFill>
                <a:latin typeface="Arial"/>
              </a:rPr>
              <a:t>2/22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Freeform 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grpSp>
        <p:nvGrpSpPr>
          <p:cNvPr id="23" name="Group 23"/>
          <p:cNvGrpSpPr/>
          <p:nvPr/>
        </p:nvGrpSpPr>
        <p:grpSpPr>
          <a:xfrm>
            <a:off x="552450" y="11049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1049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3525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191919"/>
            </a:solidFill>
            <a:ln>
              <a:no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FFFFFF"/>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F4511E"/>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FFFFFF"/>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CBD5E1"/>
                  </a:solidFill>
                  <a:latin typeface="Anthropic Sans"/>
                  <a:ea typeface="Anthropic Sans"/>
                  <a:cs typeface="Anthropic Sans"/>
                </a:rPr>
                <a:t>predict fastest class</a:t>
              </a:r>
            </a:p>
          </p:txBody>
        </p:sp>
      </p:grpSp>
      <p:grpSp>
        <p:nvGrpSpPr>
          <p:cNvPr id="56" name="Group 56"/>
          <p:cNvGrpSpPr/>
          <p:nvPr/>
        </p:nvGrpSpPr>
        <p:grpSpPr>
          <a:xfrm>
            <a:off x="9201150" y="11049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6289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3624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0"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3/22</a:t>
            </a:r>
          </a:p>
        </p:txBody>
      </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2" name="Slide 3 added title rule"/>
          <p:cNvSpPr/>
          <p:nvPr/>
        </p:nvSpPr>
        <p:spPr>
          <a:xfrm>
            <a:off x="647700" y="104775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455455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Why this matters in practice</a:t>
            </a:r>
          </a:p>
        </p:txBody>
      </p:sp>
      <p:sp>
        <p:nvSpPr>
          <p:cNvPr id="6" name="TextBox 6"/>
          <p:cNvSpPr txBox="1"/>
          <p:nvPr/>
        </p:nvSpPr>
        <p:spPr>
          <a:xfrm>
            <a:off x="601599" y="858679"/>
            <a:ext cx="104062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useful question is not only correctness; it is how much avoidable runtime we leave on the table.</a:t>
            </a:r>
          </a:p>
        </p:txBody>
      </p:sp>
      <p:sp>
        <p:nvSpPr>
          <p:cNvPr id="7" name="Freeform 7"/>
          <p:cNvSpPr/>
          <p:nvPr/>
        </p:nvSpPr>
        <p:spPr>
          <a:xfrm>
            <a:off x="781050" y="1619250"/>
            <a:ext cx="4819650" cy="3429000"/>
          </a:xfrm>
          <a:custGeom>
            <a:avLst/>
            <a:gdLst/>
            <a:ahLst/>
            <a:cxnLst/>
            <a:rect l="l" t="t" r="r" b="b"/>
            <a:pathLst>
              <a:path w="4819650" h="3429000">
                <a:moveTo>
                  <a:pt x="76200" y="0"/>
                </a:moveTo>
                <a:lnTo>
                  <a:pt x="4743450" y="0"/>
                </a:lnTo>
                <a:cubicBezTo>
                  <a:pt x="4785534" y="0"/>
                  <a:pt x="4819650" y="34116"/>
                  <a:pt x="4819650" y="76200"/>
                </a:cubicBezTo>
                <a:lnTo>
                  <a:pt x="4819650" y="3352800"/>
                </a:lnTo>
                <a:cubicBezTo>
                  <a:pt x="4819650" y="3394884"/>
                  <a:pt x="4785534" y="3429000"/>
                  <a:pt x="4743450" y="3429000"/>
                </a:cubicBezTo>
                <a:lnTo>
                  <a:pt x="76200" y="3429000"/>
                </a:lnTo>
                <a:cubicBezTo>
                  <a:pt x="34116" y="3429000"/>
                  <a:pt x="0" y="3394884"/>
                  <a:pt x="0" y="3352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86612" y="1802130"/>
            <a:ext cx="3072956"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Same input,</a:t>
            </a:r>
          </a:p>
        </p:txBody>
      </p:sp>
      <p:sp>
        <p:nvSpPr>
          <p:cNvPr id="9" name="TextBox 9"/>
          <p:cNvSpPr txBox="1"/>
          <p:nvPr/>
        </p:nvSpPr>
        <p:spPr>
          <a:xfrm>
            <a:off x="1086612" y="2373630"/>
            <a:ext cx="3700394"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different cost</a:t>
            </a:r>
          </a:p>
        </p:txBody>
      </p:sp>
      <p:sp>
        <p:nvSpPr>
          <p:cNvPr id="10" name="TextBox 10"/>
          <p:cNvSpPr txBox="1"/>
          <p:nvPr/>
        </p:nvSpPr>
        <p:spPr>
          <a:xfrm>
            <a:off x="1093470" y="3186112"/>
            <a:ext cx="56177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 sorted-like array, a random array,</a:t>
            </a:r>
          </a:p>
        </p:txBody>
      </p:sp>
      <p:sp>
        <p:nvSpPr>
          <p:cNvPr id="11" name="TextBox 11"/>
          <p:cNvSpPr txBox="1"/>
          <p:nvPr/>
        </p:nvSpPr>
        <p:spPr>
          <a:xfrm>
            <a:off x="1093470" y="3567112"/>
            <a:ext cx="5050917"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and a duplicated array can reward</a:t>
            </a:r>
          </a:p>
        </p:txBody>
      </p:sp>
      <p:sp>
        <p:nvSpPr>
          <p:cNvPr id="12" name="TextBox 12"/>
          <p:cNvSpPr txBox="1"/>
          <p:nvPr/>
        </p:nvSpPr>
        <p:spPr>
          <a:xfrm>
            <a:off x="1093470" y="3948112"/>
            <a:ext cx="5278088"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different implementation behavior.</a:t>
            </a:r>
          </a:p>
        </p:txBody>
      </p:sp>
      <p:sp>
        <p:nvSpPr>
          <p:cNvPr id="13" name="Freeform 13"/>
          <p:cNvSpPr/>
          <p:nvPr/>
        </p:nvSpPr>
        <p:spPr>
          <a:xfrm>
            <a:off x="6381750" y="1619250"/>
            <a:ext cx="2381250" cy="3429000"/>
          </a:xfrm>
          <a:custGeom>
            <a:avLst/>
            <a:gdLst/>
            <a:ahLst/>
            <a:cxnLst/>
            <a:rect l="l" t="t" r="r" b="b"/>
            <a:pathLst>
              <a:path w="2381250" h="3429000">
                <a:moveTo>
                  <a:pt x="76200" y="0"/>
                </a:moveTo>
                <a:lnTo>
                  <a:pt x="2305050" y="0"/>
                </a:lnTo>
                <a:cubicBezTo>
                  <a:pt x="2347134" y="0"/>
                  <a:pt x="2381250" y="34116"/>
                  <a:pt x="2381250" y="76200"/>
                </a:cubicBezTo>
                <a:lnTo>
                  <a:pt x="2381250" y="3352800"/>
                </a:lnTo>
                <a:cubicBezTo>
                  <a:pt x="2381250" y="3394884"/>
                  <a:pt x="2347134" y="3429000"/>
                  <a:pt x="2305050" y="3429000"/>
                </a:cubicBezTo>
                <a:lnTo>
                  <a:pt x="76200" y="3429000"/>
                </a:lnTo>
                <a:cubicBezTo>
                  <a:pt x="34116" y="3429000"/>
                  <a:pt x="0" y="3394884"/>
                  <a:pt x="0" y="33528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7070655" y="2110740"/>
            <a:ext cx="1003440" cy="352044"/>
          </a:xfrm>
          <a:prstGeom prst="rect">
            <a:avLst/>
          </a:prstGeom>
          <a:noFill/>
          <a:ln>
            <a:noFill/>
          </a:ln>
        </p:spPr>
        <p:txBody>
          <a:bodyPr wrap="none" lIns="0" tIns="0" rIns="0" bIns="0" anchor="t" anchorCtr="0">
            <a:spAutoFit/>
          </a:bodyPr>
          <a:lstStyle/>
          <a:p>
            <a:pPr algn="ctr"/>
            <a:r>
              <a:rPr lang="en-US" sz="1800" dirty="0">
                <a:solidFill>
                  <a:srgbClr val="64748B"/>
                </a:solidFill>
                <a:latin typeface="Anthropic Sans"/>
                <a:ea typeface="Anthropic Sans"/>
                <a:cs typeface="Anthropic Sans"/>
              </a:rPr>
              <a:t>Baseline</a:t>
            </a:r>
          </a:p>
        </p:txBody>
      </p:sp>
      <p:sp>
        <p:nvSpPr>
          <p:cNvPr id="15" name="TextBox 15"/>
          <p:cNvSpPr txBox="1"/>
          <p:nvPr/>
        </p:nvSpPr>
        <p:spPr>
          <a:xfrm>
            <a:off x="6991697" y="2640330"/>
            <a:ext cx="1161357" cy="704088"/>
          </a:xfrm>
          <a:prstGeom prst="rect">
            <a:avLst/>
          </a:prstGeom>
          <a:noFill/>
          <a:ln>
            <a:noFill/>
          </a:ln>
        </p:spPr>
        <p:txBody>
          <a:bodyPr wrap="none" lIns="0" tIns="0" rIns="0" bIns="0" anchor="t" anchorCtr="0">
            <a:spAutoFit/>
          </a:bodyPr>
          <a:lstStyle/>
          <a:p>
            <a:pPr algn="ctr"/>
            <a:r>
              <a:rPr lang="en-US" sz="3600" b="1" dirty="0">
                <a:solidFill>
                  <a:srgbClr val="191919"/>
                </a:solidFill>
                <a:latin typeface="Styrene A"/>
                <a:ea typeface="Styrene A"/>
                <a:cs typeface="Styrene A"/>
              </a:rPr>
              <a:t>SBS</a:t>
            </a:r>
          </a:p>
        </p:txBody>
      </p:sp>
      <p:sp>
        <p:nvSpPr>
          <p:cNvPr id="16" name="TextBox 16"/>
          <p:cNvSpPr txBox="1"/>
          <p:nvPr/>
        </p:nvSpPr>
        <p:spPr>
          <a:xfrm>
            <a:off x="6864687" y="3487579"/>
            <a:ext cx="1415377"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one algorithm</a:t>
            </a:r>
          </a:p>
        </p:txBody>
      </p:sp>
      <p:sp>
        <p:nvSpPr>
          <p:cNvPr id="17" name="TextBox 17"/>
          <p:cNvSpPr txBox="1"/>
          <p:nvPr/>
        </p:nvSpPr>
        <p:spPr>
          <a:xfrm>
            <a:off x="6880589" y="3773329"/>
            <a:ext cx="138357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for all inputs</a:t>
            </a:r>
          </a:p>
        </p:txBody>
      </p:sp>
      <p:sp>
        <p:nvSpPr>
          <p:cNvPr id="18" name="Freeform 18"/>
          <p:cNvSpPr/>
          <p:nvPr/>
        </p:nvSpPr>
        <p:spPr>
          <a:xfrm>
            <a:off x="9124950" y="1619250"/>
            <a:ext cx="2381250" cy="3429000"/>
          </a:xfrm>
          <a:custGeom>
            <a:avLst/>
            <a:gdLst/>
            <a:ahLst/>
            <a:cxnLst/>
            <a:rect l="l" t="t" r="r" b="b"/>
            <a:pathLst>
              <a:path w="2381250" h="3429000">
                <a:moveTo>
                  <a:pt x="76200" y="0"/>
                </a:moveTo>
                <a:lnTo>
                  <a:pt x="2305050" y="0"/>
                </a:lnTo>
                <a:cubicBezTo>
                  <a:pt x="2347134" y="0"/>
                  <a:pt x="2381250" y="34116"/>
                  <a:pt x="2381250" y="76200"/>
                </a:cubicBezTo>
                <a:lnTo>
                  <a:pt x="2381250" y="3352800"/>
                </a:lnTo>
                <a:cubicBezTo>
                  <a:pt x="2381250" y="3394884"/>
                  <a:pt x="2347134" y="3429000"/>
                  <a:pt x="2305050" y="3429000"/>
                </a:cubicBezTo>
                <a:lnTo>
                  <a:pt x="76200" y="3429000"/>
                </a:lnTo>
                <a:cubicBezTo>
                  <a:pt x="34116" y="3429000"/>
                  <a:pt x="0" y="3394884"/>
                  <a:pt x="0" y="3352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9" name="TextBox 19"/>
          <p:cNvSpPr txBox="1"/>
          <p:nvPr/>
        </p:nvSpPr>
        <p:spPr>
          <a:xfrm>
            <a:off x="9883978" y="2110740"/>
            <a:ext cx="863194"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Target</a:t>
            </a:r>
          </a:p>
        </p:txBody>
      </p:sp>
      <p:sp>
        <p:nvSpPr>
          <p:cNvPr id="20" name="TextBox 20"/>
          <p:cNvSpPr txBox="1"/>
          <p:nvPr/>
        </p:nvSpPr>
        <p:spPr>
          <a:xfrm>
            <a:off x="9734897" y="2640330"/>
            <a:ext cx="1161357" cy="704088"/>
          </a:xfrm>
          <a:prstGeom prst="rect">
            <a:avLst/>
          </a:prstGeom>
          <a:noFill/>
          <a:ln>
            <a:noFill/>
          </a:ln>
        </p:spPr>
        <p:txBody>
          <a:bodyPr wrap="none" lIns="0" tIns="0" rIns="0" bIns="0" anchor="t" anchorCtr="0">
            <a:spAutoFit/>
          </a:bodyPr>
          <a:lstStyle/>
          <a:p>
            <a:pPr algn="ctr"/>
            <a:r>
              <a:rPr lang="en-US" sz="3600" b="1" dirty="0">
                <a:solidFill>
                  <a:srgbClr val="D97757"/>
                </a:solidFill>
                <a:latin typeface="Styrene A"/>
                <a:ea typeface="Styrene A"/>
                <a:cs typeface="Styrene A"/>
              </a:rPr>
              <a:t>VBS</a:t>
            </a:r>
          </a:p>
        </p:txBody>
      </p:sp>
      <p:sp>
        <p:nvSpPr>
          <p:cNvPr id="21" name="TextBox 21"/>
          <p:cNvSpPr txBox="1"/>
          <p:nvPr/>
        </p:nvSpPr>
        <p:spPr>
          <a:xfrm>
            <a:off x="9549579" y="3487579"/>
            <a:ext cx="1531991"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best algorithm</a:t>
            </a:r>
          </a:p>
        </p:txBody>
      </p:sp>
      <p:sp>
        <p:nvSpPr>
          <p:cNvPr id="22" name="TextBox 22"/>
          <p:cNvSpPr txBox="1"/>
          <p:nvPr/>
        </p:nvSpPr>
        <p:spPr>
          <a:xfrm>
            <a:off x="9835815" y="3773329"/>
            <a:ext cx="959520"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per input</a:t>
            </a:r>
          </a:p>
        </p:txBody>
      </p:sp>
      <p:sp>
        <p:nvSpPr>
          <p:cNvPr id="23" name="TextBox 23"/>
          <p:cNvSpPr txBox="1"/>
          <p:nvPr/>
        </p:nvSpPr>
        <p:spPr>
          <a:xfrm>
            <a:off x="769620" y="5233988"/>
            <a:ext cx="6583345"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 model is useful if it moves close to VBS</a:t>
            </a:r>
          </a:p>
        </p:txBody>
      </p:sp>
      <p:sp>
        <p:nvSpPr>
          <p:cNvPr id="24" name="TextBox 24"/>
          <p:cNvSpPr txBox="1"/>
          <p:nvPr/>
        </p:nvSpPr>
        <p:spPr>
          <a:xfrm>
            <a:off x="769620" y="5614988"/>
            <a:ext cx="477831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without trying every algorithm.</a:t>
            </a:r>
          </a:p>
        </p:txBody>
      </p:sp>
      <p:sp>
        <p:nvSpPr>
          <p:cNvPr id="25" name="Line 2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7" name="Freeform 2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4/22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446048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What previous work gives us</a:t>
            </a:r>
          </a:p>
        </p:txBody>
      </p:sp>
      <p:sp>
        <p:nvSpPr>
          <p:cNvPr id="6" name="TextBox 6"/>
          <p:cNvSpPr txBox="1"/>
          <p:nvPr/>
        </p:nvSpPr>
        <p:spPr>
          <a:xfrm>
            <a:off x="601599" y="858679"/>
            <a:ext cx="1046859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idea is connected to algorithm selection, adaptive sorting, and learned performance prediction.</a:t>
            </a:r>
          </a:p>
        </p:txBody>
      </p:sp>
      <p:sp>
        <p:nvSpPr>
          <p:cNvPr id="7" name="Freeform 7"/>
          <p:cNvSpPr/>
          <p:nvPr/>
        </p:nvSpPr>
        <p:spPr>
          <a:xfrm>
            <a:off x="6858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960120" y="1795462"/>
            <a:ext cx="306884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Algorithm selection</a:t>
            </a:r>
          </a:p>
        </p:txBody>
      </p:sp>
      <p:sp>
        <p:nvSpPr>
          <p:cNvPr id="9" name="TextBox 9"/>
          <p:cNvSpPr txBox="1"/>
          <p:nvPr/>
        </p:nvSpPr>
        <p:spPr>
          <a:xfrm>
            <a:off x="962406" y="2434590"/>
            <a:ext cx="294636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Rice formalized choosing</a:t>
            </a:r>
          </a:p>
        </p:txBody>
      </p:sp>
      <p:sp>
        <p:nvSpPr>
          <p:cNvPr id="10" name="TextBox 10"/>
          <p:cNvSpPr txBox="1"/>
          <p:nvPr/>
        </p:nvSpPr>
        <p:spPr>
          <a:xfrm>
            <a:off x="962406" y="2758440"/>
            <a:ext cx="26110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 solver from problem</a:t>
            </a:r>
          </a:p>
        </p:txBody>
      </p:sp>
      <p:sp>
        <p:nvSpPr>
          <p:cNvPr id="11" name="TextBox 11"/>
          <p:cNvSpPr txBox="1"/>
          <p:nvPr/>
        </p:nvSpPr>
        <p:spPr>
          <a:xfrm>
            <a:off x="962406" y="3082290"/>
            <a:ext cx="121775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features.</a:t>
            </a:r>
          </a:p>
        </p:txBody>
      </p:sp>
      <p:sp>
        <p:nvSpPr>
          <p:cNvPr id="12" name="TextBox 12"/>
          <p:cNvSpPr txBox="1"/>
          <p:nvPr/>
        </p:nvSpPr>
        <p:spPr>
          <a:xfrm>
            <a:off x="963549" y="4040029"/>
            <a:ext cx="274151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sorting algorithm</a:t>
            </a:r>
          </a:p>
        </p:txBody>
      </p:sp>
      <p:sp>
        <p:nvSpPr>
          <p:cNvPr id="13" name="TextBox 13"/>
          <p:cNvSpPr txBox="1"/>
          <p:nvPr/>
        </p:nvSpPr>
        <p:spPr>
          <a:xfrm>
            <a:off x="963549" y="4344829"/>
            <a:ext cx="296317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choice as a supervised task.</a:t>
            </a:r>
          </a:p>
        </p:txBody>
      </p:sp>
      <p:sp>
        <p:nvSpPr>
          <p:cNvPr id="14" name="Freeform 14"/>
          <p:cNvSpPr/>
          <p:nvPr/>
        </p:nvSpPr>
        <p:spPr>
          <a:xfrm>
            <a:off x="44577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5" name="TextBox 15"/>
          <p:cNvSpPr txBox="1"/>
          <p:nvPr/>
        </p:nvSpPr>
        <p:spPr>
          <a:xfrm>
            <a:off x="4732020" y="1795462"/>
            <a:ext cx="264104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Adaptive sorting</a:t>
            </a:r>
          </a:p>
        </p:txBody>
      </p:sp>
      <p:sp>
        <p:nvSpPr>
          <p:cNvPr id="16" name="TextBox 16"/>
          <p:cNvSpPr txBox="1"/>
          <p:nvPr/>
        </p:nvSpPr>
        <p:spPr>
          <a:xfrm>
            <a:off x="4734306" y="2434590"/>
            <a:ext cx="305928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Timsort and related work</a:t>
            </a:r>
          </a:p>
        </p:txBody>
      </p:sp>
      <p:sp>
        <p:nvSpPr>
          <p:cNvPr id="17" name="TextBox 17"/>
          <p:cNvSpPr txBox="1"/>
          <p:nvPr/>
        </p:nvSpPr>
        <p:spPr>
          <a:xfrm>
            <a:off x="4734306" y="2758440"/>
            <a:ext cx="292608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exploit runs and existing</a:t>
            </a:r>
          </a:p>
        </p:txBody>
      </p:sp>
      <p:sp>
        <p:nvSpPr>
          <p:cNvPr id="18" name="TextBox 18"/>
          <p:cNvSpPr txBox="1"/>
          <p:nvPr/>
        </p:nvSpPr>
        <p:spPr>
          <a:xfrm>
            <a:off x="4734306" y="30822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order in data.</a:t>
            </a:r>
          </a:p>
        </p:txBody>
      </p:sp>
      <p:sp>
        <p:nvSpPr>
          <p:cNvPr id="19" name="TextBox 19"/>
          <p:cNvSpPr txBox="1"/>
          <p:nvPr/>
        </p:nvSpPr>
        <p:spPr>
          <a:xfrm>
            <a:off x="4735449" y="4040029"/>
            <a:ext cx="304972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expose these signals</a:t>
            </a:r>
          </a:p>
        </p:txBody>
      </p:sp>
      <p:sp>
        <p:nvSpPr>
          <p:cNvPr id="20" name="TextBox 20"/>
          <p:cNvSpPr txBox="1"/>
          <p:nvPr/>
        </p:nvSpPr>
        <p:spPr>
          <a:xfrm>
            <a:off x="4735449" y="4344829"/>
            <a:ext cx="258152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as measurable features.</a:t>
            </a:r>
          </a:p>
        </p:txBody>
      </p:sp>
      <p:sp>
        <p:nvSpPr>
          <p:cNvPr id="21" name="Freeform 21"/>
          <p:cNvSpPr/>
          <p:nvPr/>
        </p:nvSpPr>
        <p:spPr>
          <a:xfrm>
            <a:off x="82296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22" name="TextBox 22"/>
          <p:cNvSpPr txBox="1"/>
          <p:nvPr/>
        </p:nvSpPr>
        <p:spPr>
          <a:xfrm>
            <a:off x="8503920" y="1795462"/>
            <a:ext cx="320191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Performance models</a:t>
            </a:r>
          </a:p>
        </p:txBody>
      </p:sp>
      <p:sp>
        <p:nvSpPr>
          <p:cNvPr id="23" name="TextBox 23"/>
          <p:cNvSpPr txBox="1"/>
          <p:nvPr/>
        </p:nvSpPr>
        <p:spPr>
          <a:xfrm>
            <a:off x="8506206" y="2434590"/>
            <a:ext cx="284179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ML can predict runtime</a:t>
            </a:r>
          </a:p>
        </p:txBody>
      </p:sp>
      <p:sp>
        <p:nvSpPr>
          <p:cNvPr id="24" name="TextBox 24"/>
          <p:cNvSpPr txBox="1"/>
          <p:nvPr/>
        </p:nvSpPr>
        <p:spPr>
          <a:xfrm>
            <a:off x="8506206" y="2758440"/>
            <a:ext cx="328955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behavior when features are</a:t>
            </a:r>
          </a:p>
        </p:txBody>
      </p:sp>
      <p:sp>
        <p:nvSpPr>
          <p:cNvPr id="25" name="TextBox 25"/>
          <p:cNvSpPr txBox="1"/>
          <p:nvPr/>
        </p:nvSpPr>
        <p:spPr>
          <a:xfrm>
            <a:off x="8506206" y="3082290"/>
            <a:ext cx="16902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cheap enough.</a:t>
            </a:r>
          </a:p>
        </p:txBody>
      </p:sp>
      <p:sp>
        <p:nvSpPr>
          <p:cNvPr id="26" name="TextBox 26"/>
          <p:cNvSpPr txBox="1"/>
          <p:nvPr/>
        </p:nvSpPr>
        <p:spPr>
          <a:xfrm>
            <a:off x="8507349" y="4040029"/>
            <a:ext cx="298928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evaluate by regret,</a:t>
            </a:r>
          </a:p>
        </p:txBody>
      </p:sp>
      <p:sp>
        <p:nvSpPr>
          <p:cNvPr id="27" name="TextBox 27"/>
          <p:cNvSpPr txBox="1"/>
          <p:nvPr/>
        </p:nvSpPr>
        <p:spPr>
          <a:xfrm>
            <a:off x="8507349" y="4344829"/>
            <a:ext cx="2496712"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not only label accuracy.</a:t>
            </a:r>
          </a:p>
        </p:txBody>
      </p:sp>
      <p:sp>
        <p:nvSpPr>
          <p:cNvPr id="28" name="TextBox 28"/>
          <p:cNvSpPr txBox="1"/>
          <p:nvPr/>
        </p:nvSpPr>
        <p:spPr>
          <a:xfrm>
            <a:off x="674370" y="5233988"/>
            <a:ext cx="605322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So the contribution is not a new sorter.</a:t>
            </a:r>
          </a:p>
        </p:txBody>
      </p:sp>
      <p:sp>
        <p:nvSpPr>
          <p:cNvPr id="29" name="TextBox 29"/>
          <p:cNvSpPr txBox="1"/>
          <p:nvPr/>
        </p:nvSpPr>
        <p:spPr>
          <a:xfrm>
            <a:off x="674370" y="5614988"/>
            <a:ext cx="7564864"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It is a measured selector around existing sorters.</a:t>
            </a:r>
          </a:p>
        </p:txBody>
      </p:sp>
      <p:sp>
        <p:nvSpPr>
          <p:cNvPr id="30" name="Line 3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32" name="Freeform 3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3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5/22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299106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Research objective</a:t>
            </a:r>
          </a:p>
        </p:txBody>
      </p:sp>
      <p:sp>
        <p:nvSpPr>
          <p:cNvPr id="6" name="TextBox 6"/>
          <p:cNvSpPr txBox="1"/>
          <p:nvPr/>
        </p:nvSpPr>
        <p:spPr>
          <a:xfrm>
            <a:off x="601599" y="858679"/>
            <a:ext cx="1084062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Build a selector that is cheap enough to run before sorting and close most of the practical runtime gap.</a:t>
            </a:r>
          </a:p>
        </p:txBody>
      </p:sp>
      <p:sp>
        <p:nvSpPr>
          <p:cNvPr id="7" name="TextBox 7"/>
          <p:cNvSpPr txBox="1"/>
          <p:nvPr/>
        </p:nvSpPr>
        <p:spPr>
          <a:xfrm>
            <a:off x="838962" y="1564005"/>
            <a:ext cx="8862383"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Can simple array structure predict</a:t>
            </a:r>
          </a:p>
        </p:txBody>
      </p:sp>
      <p:sp>
        <p:nvSpPr>
          <p:cNvPr id="8" name="TextBox 8"/>
          <p:cNvSpPr txBox="1"/>
          <p:nvPr/>
        </p:nvSpPr>
        <p:spPr>
          <a:xfrm>
            <a:off x="838962" y="2087880"/>
            <a:ext cx="6931678"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the best sorting algorithm?</a:t>
            </a:r>
          </a:p>
        </p:txBody>
      </p:sp>
      <p:sp>
        <p:nvSpPr>
          <p:cNvPr id="9" name="Freeform 9"/>
          <p:cNvSpPr/>
          <p:nvPr/>
        </p:nvSpPr>
        <p:spPr>
          <a:xfrm>
            <a:off x="85725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1112520" y="3490912"/>
            <a:ext cx="148164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Accuracy</a:t>
            </a:r>
          </a:p>
        </p:txBody>
      </p:sp>
      <p:sp>
        <p:nvSpPr>
          <p:cNvPr id="11" name="TextBox 11"/>
          <p:cNvSpPr txBox="1"/>
          <p:nvPr/>
        </p:nvSpPr>
        <p:spPr>
          <a:xfrm>
            <a:off x="1114806" y="3977640"/>
            <a:ext cx="261343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Does the label match?</a:t>
            </a:r>
          </a:p>
        </p:txBody>
      </p:sp>
      <p:sp>
        <p:nvSpPr>
          <p:cNvPr id="12" name="Freeform 12"/>
          <p:cNvSpPr/>
          <p:nvPr/>
        </p:nvSpPr>
        <p:spPr>
          <a:xfrm>
            <a:off x="4524375"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4779645" y="3490912"/>
            <a:ext cx="113179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Regret</a:t>
            </a:r>
          </a:p>
        </p:txBody>
      </p:sp>
      <p:sp>
        <p:nvSpPr>
          <p:cNvPr id="14" name="TextBox 14"/>
          <p:cNvSpPr txBox="1"/>
          <p:nvPr/>
        </p:nvSpPr>
        <p:spPr>
          <a:xfrm>
            <a:off x="4781931" y="3977640"/>
            <a:ext cx="29410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How costly is a mistake?</a:t>
            </a:r>
          </a:p>
        </p:txBody>
      </p:sp>
      <p:sp>
        <p:nvSpPr>
          <p:cNvPr id="15" name="Freeform 15"/>
          <p:cNvSpPr/>
          <p:nvPr/>
        </p:nvSpPr>
        <p:spPr>
          <a:xfrm>
            <a:off x="819150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446770" y="3490912"/>
            <a:ext cx="2181330"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Runtime value</a:t>
            </a:r>
          </a:p>
        </p:txBody>
      </p:sp>
      <p:sp>
        <p:nvSpPr>
          <p:cNvPr id="17" name="TextBox 17"/>
          <p:cNvSpPr txBox="1"/>
          <p:nvPr/>
        </p:nvSpPr>
        <p:spPr>
          <a:xfrm>
            <a:off x="8449056" y="3977640"/>
            <a:ext cx="230659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How close to VBS?</a:t>
            </a:r>
          </a:p>
        </p:txBody>
      </p:sp>
      <p:sp>
        <p:nvSpPr>
          <p:cNvPr id="18" name="TextBox 18"/>
          <p:cNvSpPr txBox="1"/>
          <p:nvPr/>
        </p:nvSpPr>
        <p:spPr>
          <a:xfrm>
            <a:off x="845820" y="5233988"/>
            <a:ext cx="119736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This is why the result is defended with both model accuracy and runtime regret.</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6/22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21062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data was intentionally not from one shape</a:t>
            </a:r>
          </a:p>
        </p:txBody>
      </p:sp>
      <p:sp>
        <p:nvSpPr>
          <p:cNvPr id="6" name="TextBox 6"/>
          <p:cNvSpPr txBox="1"/>
          <p:nvPr/>
        </p:nvSpPr>
        <p:spPr>
          <a:xfrm>
            <a:off x="601599" y="858679"/>
            <a:ext cx="73709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final dataset contains 1.18M arrays from five real-data domains.</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937629" y="3376612"/>
            <a:ext cx="107899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8" name="TextBox 18"/>
          <p:cNvSpPr txBox="1"/>
          <p:nvPr/>
        </p:nvSpPr>
        <p:spPr>
          <a:xfrm>
            <a:off x="5223320" y="4757738"/>
            <a:ext cx="1745361" cy="440055"/>
          </a:xfrm>
          <a:prstGeom prst="rect">
            <a:avLst/>
          </a:prstGeom>
          <a:noFill/>
          <a:ln>
            <a:noFill/>
          </a:ln>
        </p:spPr>
        <p:txBody>
          <a:bodyPr wrap="none" lIns="0" tIns="0" rIns="0" bIns="0" anchor="t" anchorCtr="0">
            <a:spAutoFit/>
          </a:bodyPr>
          <a:lstStyle/>
          <a:p>
            <a:pPr algn="ctr"/>
            <a:r>
              <a:rPr lang="en-US" sz="2250" dirty="0">
                <a:solidFill>
                  <a:srgbClr val="FFFFFF"/>
                </a:solidFill>
                <a:latin typeface="Anthropic Sans"/>
                <a:ea typeface="Anthropic Sans"/>
                <a:cs typeface="Anthropic Sans"/>
              </a:rPr>
              <a:t>Earthquake</a:t>
            </a:r>
          </a:p>
        </p:txBody>
      </p:sp>
      <p:sp>
        <p:nvSpPr>
          <p:cNvPr id="19" name="TextBox 19"/>
          <p:cNvSpPr txBox="1"/>
          <p:nvPr/>
        </p:nvSpPr>
        <p:spPr>
          <a:xfrm>
            <a:off x="752856" y="5615940"/>
            <a:ext cx="1235397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The point was to make the selector face different numeric patterns, not memorize one dataset family.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7/22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56376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Labels came from measured runtime</a:t>
            </a:r>
          </a:p>
        </p:txBody>
      </p:sp>
      <p:sp>
        <p:nvSpPr>
          <p:cNvPr id="6" name="TextBox 6"/>
          <p:cNvSpPr txBox="1"/>
          <p:nvPr/>
        </p:nvSpPr>
        <p:spPr>
          <a:xfrm>
            <a:off x="601599" y="858679"/>
            <a:ext cx="11010927"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Each array was transformed, timed across the portfolio, and labeled by the fastest observed algorithm.</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Transforms forced the model to see sorted, reversed, shuffled, quantized, and partially sorted behavior.</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8/22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57473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Features translate array shape into model input</a:t>
            </a:r>
          </a:p>
        </p:txBody>
      </p:sp>
      <p:sp>
        <p:nvSpPr>
          <p:cNvPr id="6" name="TextBox 6"/>
          <p:cNvSpPr txBox="1"/>
          <p:nvPr/>
        </p:nvSpPr>
        <p:spPr>
          <a:xfrm>
            <a:off x="601599" y="858679"/>
            <a:ext cx="1195508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16 features describe structure that sorting algorithms react to: size, order, duplicates, and local disorder.</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87196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Scale</a:t>
            </a:r>
          </a:p>
        </p:txBody>
      </p:sp>
      <p:sp>
        <p:nvSpPr>
          <p:cNvPr id="10" name="TextBox 10"/>
          <p:cNvSpPr txBox="1"/>
          <p:nvPr/>
        </p:nvSpPr>
        <p:spPr>
          <a:xfrm>
            <a:off x="6753606" y="2453640"/>
            <a:ext cx="75735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length</a:t>
            </a:r>
          </a:p>
        </p:txBody>
      </p:sp>
      <p:sp>
        <p:nvSpPr>
          <p:cNvPr id="11" name="TextBox 11"/>
          <p:cNvSpPr txBox="1"/>
          <p:nvPr/>
        </p:nvSpPr>
        <p:spPr>
          <a:xfrm>
            <a:off x="6753606" y="2796540"/>
            <a:ext cx="68465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range</a:t>
            </a:r>
          </a:p>
        </p:txBody>
      </p:sp>
      <p:sp>
        <p:nvSpPr>
          <p:cNvPr id="12" name="TextBox 12"/>
          <p:cNvSpPr txBox="1"/>
          <p:nvPr/>
        </p:nvSpPr>
        <p:spPr>
          <a:xfrm>
            <a:off x="6753606" y="3139440"/>
            <a:ext cx="817931"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spread</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95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Shape</a:t>
            </a:r>
          </a:p>
        </p:txBody>
      </p:sp>
      <p:sp>
        <p:nvSpPr>
          <p:cNvPr id="15" name="TextBox 15"/>
          <p:cNvSpPr txBox="1"/>
          <p:nvPr/>
        </p:nvSpPr>
        <p:spPr>
          <a:xfrm>
            <a:off x="9211056" y="2453640"/>
            <a:ext cx="12298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inversions</a:t>
            </a:r>
          </a:p>
        </p:txBody>
      </p:sp>
      <p:sp>
        <p:nvSpPr>
          <p:cNvPr id="16" name="TextBox 16"/>
          <p:cNvSpPr txBox="1"/>
          <p:nvPr/>
        </p:nvSpPr>
        <p:spPr>
          <a:xfrm>
            <a:off x="9211056" y="2796540"/>
            <a:ext cx="55138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runs</a:t>
            </a:r>
          </a:p>
        </p:txBody>
      </p:sp>
      <p:sp>
        <p:nvSpPr>
          <p:cNvPr id="17" name="TextBox 17"/>
          <p:cNvSpPr txBox="1"/>
          <p:nvPr/>
        </p:nvSpPr>
        <p:spPr>
          <a:xfrm>
            <a:off x="9211056" y="3139440"/>
            <a:ext cx="12298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duplicates</a:t>
            </a:r>
          </a:p>
        </p:txBody>
      </p:sp>
      <p:sp>
        <p:nvSpPr>
          <p:cNvPr id="18" name="TextBox 18"/>
          <p:cNvSpPr txBox="1"/>
          <p:nvPr/>
        </p:nvSpPr>
        <p:spPr>
          <a:xfrm>
            <a:off x="6465570" y="4948238"/>
            <a:ext cx="577967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 features are not timing features.</a:t>
            </a:r>
          </a:p>
        </p:txBody>
      </p:sp>
      <p:sp>
        <p:nvSpPr>
          <p:cNvPr id="19" name="TextBox 19"/>
          <p:cNvSpPr txBox="1"/>
          <p:nvPr/>
        </p:nvSpPr>
        <p:spPr>
          <a:xfrm>
            <a:off x="6465570" y="5329238"/>
            <a:ext cx="6340120"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They are cheap summaries before sorting.</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9/22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924589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must be cheaper than the decision it improves</a:t>
            </a:r>
          </a:p>
        </p:txBody>
      </p:sp>
      <p:sp>
        <p:nvSpPr>
          <p:cNvPr id="6" name="TextBox 6"/>
          <p:cNvSpPr txBox="1"/>
          <p:nvPr/>
        </p:nvSpPr>
        <p:spPr>
          <a:xfrm>
            <a:off x="601599" y="858679"/>
            <a:ext cx="12102619"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Features are computed from the input structure; the system does not benchmark all algorithms at prediction time.</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1570" y="2614612"/>
            <a:ext cx="30233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0" name="TextBox 10"/>
          <p:cNvSpPr txBox="1"/>
          <p:nvPr/>
        </p:nvSpPr>
        <p:spPr>
          <a:xfrm>
            <a:off x="1131570" y="3090862"/>
            <a:ext cx="497190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1" name="TextBox 11"/>
          <p:cNvSpPr txBox="1"/>
          <p:nvPr/>
        </p:nvSpPr>
        <p:spPr>
          <a:xfrm>
            <a:off x="1131570" y="3567112"/>
            <a:ext cx="410837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3004191"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5" name="TextBox 15"/>
          <p:cNvSpPr txBox="1"/>
          <p:nvPr/>
        </p:nvSpPr>
        <p:spPr>
          <a:xfrm>
            <a:off x="6846570" y="3090862"/>
            <a:ext cx="29150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6" name="TextBox 16"/>
          <p:cNvSpPr txBox="1"/>
          <p:nvPr/>
        </p:nvSpPr>
        <p:spPr>
          <a:xfrm>
            <a:off x="6846570" y="3567112"/>
            <a:ext cx="273319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7" name="TextBox 17"/>
          <p:cNvSpPr txBox="1"/>
          <p:nvPr/>
        </p:nvSpPr>
        <p:spPr>
          <a:xfrm>
            <a:off x="6846570" y="4043362"/>
            <a:ext cx="395716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18" name="TextBox 18"/>
          <p:cNvSpPr txBox="1"/>
          <p:nvPr/>
        </p:nvSpPr>
        <p:spPr>
          <a:xfrm>
            <a:off x="848106" y="5615940"/>
            <a:ext cx="10183373"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This is the difference between a real selector and an oracle used only for evaluation.</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10/22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668810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main system is one general v5 selector</a:t>
            </a:r>
          </a:p>
        </p:txBody>
      </p:sp>
      <p:sp>
        <p:nvSpPr>
          <p:cNvPr id="6" name="TextBox 6"/>
          <p:cNvSpPr txBox="1"/>
          <p:nvPr/>
        </p:nvSpPr>
        <p:spPr>
          <a:xfrm>
            <a:off x="601599" y="858679"/>
            <a:ext cx="899532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v5 is trained across all domains and predicts among introsort, heapsort, and timsort.</a:t>
            </a:r>
          </a:p>
        </p:txBody>
      </p:sp>
      <p:pic>
        <p:nvPicPr>
          <p:cNvPr id="7" name="Image 7"/>
          <p:cNvPicPr>
            <a:picLocks noChangeAspect="1"/>
          </p:cNvPicPr>
          <p:nvPr/>
        </p:nvPicPr>
        <p:blipFill>
          <a:blip r:embed="rId3"/>
          <a:stretch>
            <a:fillRect/>
          </a:stretch>
        </p:blipFill>
        <p:spPr>
          <a:xfrm>
            <a:off x="698373" y="1381125"/>
            <a:ext cx="7175754" cy="4333875"/>
          </a:xfrm>
          <a:prstGeom prst="rect">
            <a:avLst/>
          </a:prstGeom>
        </p:spPr>
      </p:pic>
      <p:sp>
        <p:nvSpPr>
          <p:cNvPr id="8" name="Freeform 8"/>
          <p:cNvSpPr/>
          <p:nvPr/>
        </p:nvSpPr>
        <p:spPr>
          <a:xfrm>
            <a:off x="8477250" y="161925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923023" y="1910715"/>
            <a:ext cx="187070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Array features</a:t>
            </a:r>
          </a:p>
        </p:txBody>
      </p:sp>
      <p:sp>
        <p:nvSpPr>
          <p:cNvPr id="10" name="Freeform 10"/>
          <p:cNvSpPr/>
          <p:nvPr/>
        </p:nvSpPr>
        <p:spPr>
          <a:xfrm>
            <a:off x="8477250" y="2714625"/>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9132141" y="3006090"/>
            <a:ext cx="145246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XGBoost v5</a:t>
            </a:r>
          </a:p>
        </p:txBody>
      </p:sp>
      <p:sp>
        <p:nvSpPr>
          <p:cNvPr id="12" name="Freeform 12"/>
          <p:cNvSpPr/>
          <p:nvPr/>
        </p:nvSpPr>
        <p:spPr>
          <a:xfrm>
            <a:off x="8477250" y="381000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3" name="TextBox 13"/>
          <p:cNvSpPr txBox="1"/>
          <p:nvPr/>
        </p:nvSpPr>
        <p:spPr>
          <a:xfrm>
            <a:off x="8596274" y="4101465"/>
            <a:ext cx="2524201"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One algorithm choice</a:t>
            </a:r>
          </a:p>
        </p:txBody>
      </p:sp>
      <p:sp>
        <p:nvSpPr>
          <p:cNvPr id="14" name="TextBox 14"/>
          <p:cNvSpPr txBox="1"/>
          <p:nvPr/>
        </p:nvSpPr>
        <p:spPr>
          <a:xfrm>
            <a:off x="8469249" y="5049679"/>
            <a:ext cx="918825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The F1-specific route exists, but it is a separate specialization and not the main claim.</a:t>
            </a:r>
          </a:p>
        </p:txBody>
      </p:sp>
      <p:sp>
        <p:nvSpPr>
          <p:cNvPr id="15" name="Line 1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7" name="Freeform 1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8"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11/22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566560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portfolio has three real choices</a:t>
            </a:r>
          </a:p>
        </p:txBody>
      </p:sp>
      <p:sp>
        <p:nvSpPr>
          <p:cNvPr id="6" name="TextBox 6"/>
          <p:cNvSpPr txBox="1"/>
          <p:nvPr/>
        </p:nvSpPr>
        <p:spPr>
          <a:xfrm>
            <a:off x="601599" y="858679"/>
            <a:ext cx="10703285"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model does not rank every possible sorter; it chooses among the three measured implementations.</a:t>
            </a:r>
          </a:p>
        </p:txBody>
      </p:sp>
      <p:sp>
        <p:nvSpPr>
          <p:cNvPr id="7" name="Freeform 7"/>
          <p:cNvSpPr/>
          <p:nvPr/>
        </p:nvSpPr>
        <p:spPr>
          <a:xfrm>
            <a:off x="7620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29462" y="1897380"/>
            <a:ext cx="1395146"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Intro</a:t>
            </a:r>
          </a:p>
        </p:txBody>
      </p:sp>
      <p:sp>
        <p:nvSpPr>
          <p:cNvPr id="9" name="TextBox 9"/>
          <p:cNvSpPr txBox="1"/>
          <p:nvPr/>
        </p:nvSpPr>
        <p:spPr>
          <a:xfrm>
            <a:off x="1038606" y="2758440"/>
            <a:ext cx="2768575"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general-purpose hybrid</a:t>
            </a:r>
          </a:p>
        </p:txBody>
      </p:sp>
      <p:sp>
        <p:nvSpPr>
          <p:cNvPr id="10" name="TextBox 10"/>
          <p:cNvSpPr txBox="1"/>
          <p:nvPr/>
        </p:nvSpPr>
        <p:spPr>
          <a:xfrm>
            <a:off x="1038606" y="3139440"/>
            <a:ext cx="28412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strong default behavior</a:t>
            </a:r>
          </a:p>
        </p:txBody>
      </p:sp>
      <p:sp>
        <p:nvSpPr>
          <p:cNvPr id="11" name="Freeform 11"/>
          <p:cNvSpPr/>
          <p:nvPr/>
        </p:nvSpPr>
        <p:spPr>
          <a:xfrm>
            <a:off x="447675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46498" y="1945958"/>
            <a:ext cx="2074299" cy="616077"/>
          </a:xfrm>
          <a:prstGeom prst="rect">
            <a:avLst/>
          </a:prstGeom>
          <a:noFill/>
          <a:ln>
            <a:noFill/>
          </a:ln>
        </p:spPr>
        <p:txBody>
          <a:bodyPr wrap="none" lIns="0" tIns="0" rIns="0" bIns="0" anchor="t" anchorCtr="0">
            <a:spAutoFit/>
          </a:bodyPr>
          <a:lstStyle/>
          <a:p>
            <a:pPr algn="l"/>
            <a:r>
              <a:rPr lang="en-US" sz="3150" b="1" dirty="0">
                <a:solidFill>
                  <a:srgbClr val="191919"/>
                </a:solidFill>
                <a:latin typeface="Styrene A"/>
                <a:ea typeface="Styrene A"/>
                <a:cs typeface="Styrene A"/>
              </a:rPr>
              <a:t>Heapsort</a:t>
            </a:r>
          </a:p>
        </p:txBody>
      </p:sp>
      <p:sp>
        <p:nvSpPr>
          <p:cNvPr id="13" name="TextBox 13"/>
          <p:cNvSpPr txBox="1"/>
          <p:nvPr/>
        </p:nvSpPr>
        <p:spPr>
          <a:xfrm>
            <a:off x="4753356" y="2758440"/>
            <a:ext cx="348340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consistent worst-case bound</a:t>
            </a:r>
          </a:p>
        </p:txBody>
      </p:sp>
      <p:sp>
        <p:nvSpPr>
          <p:cNvPr id="14" name="TextBox 14"/>
          <p:cNvSpPr txBox="1"/>
          <p:nvPr/>
        </p:nvSpPr>
        <p:spPr>
          <a:xfrm>
            <a:off x="4753356" y="3139440"/>
            <a:ext cx="29866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often hard to distinguish</a:t>
            </a:r>
          </a:p>
        </p:txBody>
      </p:sp>
      <p:sp>
        <p:nvSpPr>
          <p:cNvPr id="15" name="Freeform 15"/>
          <p:cNvSpPr/>
          <p:nvPr/>
        </p:nvSpPr>
        <p:spPr>
          <a:xfrm>
            <a:off x="81915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458962" y="1897380"/>
            <a:ext cx="942929" cy="704088"/>
          </a:xfrm>
          <a:prstGeom prst="rect">
            <a:avLst/>
          </a:prstGeom>
          <a:noFill/>
          <a:ln>
            <a:noFill/>
          </a:ln>
        </p:spPr>
        <p:txBody>
          <a:bodyPr wrap="none" lIns="0" tIns="0" rIns="0" bIns="0" anchor="t" anchorCtr="0">
            <a:spAutoFit/>
          </a:bodyPr>
          <a:lstStyle/>
          <a:p>
            <a:pPr algn="l"/>
            <a:r>
              <a:rPr lang="en-US" sz="3600" b="1" dirty="0">
                <a:solidFill>
                  <a:srgbClr val="D97757"/>
                </a:solidFill>
                <a:latin typeface="Styrene A"/>
                <a:ea typeface="Styrene A"/>
                <a:cs typeface="Styrene A"/>
              </a:rPr>
              <a:t>Tim</a:t>
            </a:r>
          </a:p>
        </p:txBody>
      </p:sp>
      <p:sp>
        <p:nvSpPr>
          <p:cNvPr id="17" name="TextBox 17"/>
          <p:cNvSpPr txBox="1"/>
          <p:nvPr/>
        </p:nvSpPr>
        <p:spPr>
          <a:xfrm>
            <a:off x="8468106" y="275844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adaptive to runs</a:t>
            </a:r>
          </a:p>
        </p:txBody>
      </p:sp>
      <p:sp>
        <p:nvSpPr>
          <p:cNvPr id="18" name="TextBox 18"/>
          <p:cNvSpPr txBox="1"/>
          <p:nvPr/>
        </p:nvSpPr>
        <p:spPr>
          <a:xfrm>
            <a:off x="8468106" y="3139440"/>
            <a:ext cx="3834765"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often clear when data has order</a:t>
            </a:r>
          </a:p>
        </p:txBody>
      </p:sp>
      <p:sp>
        <p:nvSpPr>
          <p:cNvPr id="19" name="TextBox 19"/>
          <p:cNvSpPr txBox="1"/>
          <p:nvPr/>
        </p:nvSpPr>
        <p:spPr>
          <a:xfrm>
            <a:off x="752856" y="5520690"/>
            <a:ext cx="990404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The defense is about learning this choice reliably enough to reduce runtime regret.</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12/22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62401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v5 was chosen after weaker paths were rejected</a:t>
            </a:r>
          </a:p>
        </p:txBody>
      </p:sp>
      <p:sp>
        <p:nvSpPr>
          <p:cNvPr id="6" name="TextBox 6"/>
          <p:cNvSpPr txBox="1"/>
          <p:nvPr/>
        </p:nvSpPr>
        <p:spPr>
          <a:xfrm>
            <a:off x="601599" y="858679"/>
            <a:ext cx="1026788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research journey matters because it explains why the final model is measured, not accidental.</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8763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Regression</a:t>
            </a:r>
          </a:p>
        </p:txBody>
      </p:sp>
      <p:sp>
        <p:nvSpPr>
          <p:cNvPr id="10" name="TextBox 10"/>
          <p:cNvSpPr txBox="1"/>
          <p:nvPr/>
        </p:nvSpPr>
        <p:spPr>
          <a:xfrm>
            <a:off x="1096899" y="4897279"/>
            <a:ext cx="1129141"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not enough</a:t>
            </a:r>
          </a:p>
        </p:txBody>
      </p:sp>
      <p:sp>
        <p:nvSpPr>
          <p:cNvPr id="11" name="Freeform 11"/>
          <p:cNvSpPr/>
          <p:nvPr/>
        </p:nvSpPr>
        <p:spPr>
          <a:xfrm>
            <a:off x="35242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Timing feature</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not deployable</a:t>
            </a:r>
          </a:p>
        </p:txBody>
      </p:sp>
      <p:sp>
        <p:nvSpPr>
          <p:cNvPr id="14" name="Freeform 14"/>
          <p:cNvSpPr/>
          <p:nvPr/>
        </p:nvSpPr>
        <p:spPr>
          <a:xfrm>
            <a:off x="61722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191919"/>
          </a:solidFill>
          <a:ln>
            <a:no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nthropic Sans"/>
                <a:ea typeface="Anthropic Sans"/>
                <a:cs typeface="Anthropic Sans"/>
              </a:rPr>
              <a:t>v5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580" dirty="0">
                <a:solidFill>
                  <a:srgbClr val="D97757"/>
                </a:solidFill>
                <a:latin typeface="Anthropic Sans"/>
                <a:ea typeface="Anthropic Sans"/>
                <a:cs typeface="Anthropic Sans"/>
              </a:rPr>
              <a:t>final main model</a:t>
            </a:r>
          </a:p>
        </p:txBody>
      </p:sp>
      <p:sp>
        <p:nvSpPr>
          <p:cNvPr id="17" name="Freeform 17"/>
          <p:cNvSpPr/>
          <p:nvPr/>
        </p:nvSpPr>
        <p:spPr>
          <a:xfrm>
            <a:off x="88201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Strict checks</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kept as evidence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13/22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3068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Evaluation asks how close we are to the oracle</a:t>
            </a:r>
          </a:p>
        </p:txBody>
      </p:sp>
      <p:sp>
        <p:nvSpPr>
          <p:cNvPr id="6" name="TextBox 6"/>
          <p:cNvSpPr txBox="1"/>
          <p:nvPr/>
        </p:nvSpPr>
        <p:spPr>
          <a:xfrm>
            <a:off x="601599" y="858679"/>
            <a:ext cx="1029026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Accuracy says whether the class is right; regret says whether the runtime consequence matters.</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choose before sorting</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using features only</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These formulas make the runtime result defensible, not just the classifier result.</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14/22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694127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closes most of the runtime gap</a:t>
            </a:r>
          </a:p>
        </p:txBody>
      </p:sp>
      <p:sp>
        <p:nvSpPr>
          <p:cNvPr id="6" name="TextBox 6"/>
          <p:cNvSpPr txBox="1"/>
          <p:nvPr/>
        </p:nvSpPr>
        <p:spPr>
          <a:xfrm>
            <a:off x="601599" y="858679"/>
            <a:ext cx="937832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most important result is runtime value: v5 recovers 93.1% of the SBS-to-VBS gap.</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191919"/>
          </a:solidFill>
          <a:ln>
            <a:no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2550" dirty="0">
                <a:solidFill>
                  <a:srgbClr val="FFFFFF"/>
                </a:solidFill>
                <a:latin typeface="Anthropic Sans"/>
                <a:ea typeface="Anthropic Sans"/>
                <a:cs typeface="Anthropic Sans"/>
              </a:rPr>
              <a:t>runtime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This is the headline because a wrong</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label is not always an expensive mistake.</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4350" b="1" dirty="0">
                <a:solidFill>
                  <a:srgbClr val="191919"/>
                </a:solidFill>
                <a:latin typeface="Styrene A"/>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test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4350" b="1" dirty="0">
                <a:solidFill>
                  <a:srgbClr val="191919"/>
                </a:solidFill>
                <a:latin typeface="Styrene A"/>
                <a:ea typeface="Styrene A"/>
                <a:cs typeface="Styrene A"/>
              </a:rPr>
              <a:t>89.6%</a:t>
            </a:r>
          </a:p>
        </p:txBody>
      </p:sp>
      <p:sp>
        <p:nvSpPr>
          <p:cNvPr id="17" name="TextBox 17"/>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zero regret</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15/22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14482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Accuracy alone does not explain runtime value</a:t>
            </a:r>
          </a:p>
        </p:txBody>
      </p:sp>
      <p:sp>
        <p:nvSpPr>
          <p:cNvPr id="6" name="TextBox 6"/>
          <p:cNvSpPr txBox="1"/>
          <p:nvPr/>
        </p:nvSpPr>
        <p:spPr>
          <a:xfrm>
            <a:off x="601599" y="858679"/>
            <a:ext cx="9409872"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Some wrong labels are cheap because two algorithms finish almost the same on that input.</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gap closed</a:t>
            </a:r>
          </a:p>
        </p:txBody>
      </p:sp>
      <p:sp>
        <p:nvSpPr>
          <p:cNvPr id="14" name="TextBox 14"/>
          <p:cNvSpPr txBox="1"/>
          <p:nvPr/>
        </p:nvSpPr>
        <p:spPr>
          <a:xfrm>
            <a:off x="7944231" y="4758690"/>
            <a:ext cx="3963348"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So I do not defend the model as a</a:t>
            </a:r>
          </a:p>
        </p:txBody>
      </p:sp>
      <p:sp>
        <p:nvSpPr>
          <p:cNvPr id="15" name="TextBox 15"/>
          <p:cNvSpPr txBox="1"/>
          <p:nvPr/>
        </p:nvSpPr>
        <p:spPr>
          <a:xfrm>
            <a:off x="7944231" y="5092065"/>
            <a:ext cx="4792079"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perfect classifier. I defend its regret.</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16/22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81371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hardest boundary is between close algorithms</a:t>
            </a:r>
          </a:p>
        </p:txBody>
      </p:sp>
      <p:sp>
        <p:nvSpPr>
          <p:cNvPr id="6" name="TextBox 6"/>
          <p:cNvSpPr txBox="1"/>
          <p:nvPr/>
        </p:nvSpPr>
        <p:spPr>
          <a:xfrm>
            <a:off x="601599" y="858679"/>
            <a:ext cx="106814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confusion matrix shows strong timsort behavior and weaker separation where runtimes are close.</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timsort recall</a:t>
            </a:r>
          </a:p>
        </p:txBody>
      </p:sp>
      <p:sp>
        <p:nvSpPr>
          <p:cNvPr id="11" name="Freeform 11"/>
          <p:cNvSpPr/>
          <p:nvPr/>
        </p:nvSpPr>
        <p:spPr>
          <a:xfrm>
            <a:off x="6858000" y="3143250"/>
            <a:ext cx="4191000"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Interpretation</a:t>
            </a:r>
          </a:p>
        </p:txBody>
      </p:sp>
      <p:sp>
        <p:nvSpPr>
          <p:cNvPr id="13" name="TextBox 13"/>
          <p:cNvSpPr txBox="1"/>
          <p:nvPr/>
        </p:nvSpPr>
        <p:spPr>
          <a:xfrm>
            <a:off x="7134606" y="3901440"/>
            <a:ext cx="596755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Timsort is easier when order signals are present.</a:t>
            </a:r>
          </a:p>
        </p:txBody>
      </p:sp>
      <p:sp>
        <p:nvSpPr>
          <p:cNvPr id="14" name="TextBox 14"/>
          <p:cNvSpPr txBox="1"/>
          <p:nvPr/>
        </p:nvSpPr>
        <p:spPr>
          <a:xfrm>
            <a:off x="7134606" y="4282440"/>
            <a:ext cx="416494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Intro and heap can be much closer.</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This is a limitation, but regret tells us</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many of these errors are low cost.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17/22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03581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model uses structural signals, not magic</a:t>
            </a:r>
          </a:p>
        </p:txBody>
      </p:sp>
      <p:sp>
        <p:nvSpPr>
          <p:cNvPr id="6" name="TextBox 6"/>
          <p:cNvSpPr txBox="1"/>
          <p:nvPr/>
        </p:nvSpPr>
        <p:spPr>
          <a:xfrm>
            <a:off x="601599" y="858679"/>
            <a:ext cx="933473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Feature importance links the learned choices back to the array properties we extracted.</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61925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901190"/>
            <a:ext cx="1745064"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Order signals</a:t>
            </a:r>
          </a:p>
        </p:txBody>
      </p:sp>
      <p:sp>
        <p:nvSpPr>
          <p:cNvPr id="10" name="TextBox 10"/>
          <p:cNvSpPr txBox="1"/>
          <p:nvPr/>
        </p:nvSpPr>
        <p:spPr>
          <a:xfrm>
            <a:off x="8659749" y="2230279"/>
            <a:ext cx="323880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runs, inversions, monotonicity</a:t>
            </a:r>
          </a:p>
        </p:txBody>
      </p:sp>
      <p:sp>
        <p:nvSpPr>
          <p:cNvPr id="11" name="Freeform 11"/>
          <p:cNvSpPr/>
          <p:nvPr/>
        </p:nvSpPr>
        <p:spPr>
          <a:xfrm>
            <a:off x="8382000" y="3000375"/>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282315"/>
            <a:ext cx="226309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Value distribution</a:t>
            </a:r>
          </a:p>
        </p:txBody>
      </p:sp>
      <p:sp>
        <p:nvSpPr>
          <p:cNvPr id="13" name="TextBox 13"/>
          <p:cNvSpPr txBox="1"/>
          <p:nvPr/>
        </p:nvSpPr>
        <p:spPr>
          <a:xfrm>
            <a:off x="8659749" y="3611404"/>
            <a:ext cx="2835954"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duplicates, range, entropy</a:t>
            </a:r>
          </a:p>
        </p:txBody>
      </p:sp>
      <p:sp>
        <p:nvSpPr>
          <p:cNvPr id="14" name="Freeform 14"/>
          <p:cNvSpPr/>
          <p:nvPr/>
        </p:nvSpPr>
        <p:spPr>
          <a:xfrm>
            <a:off x="8382000" y="438150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5" name="TextBox 15"/>
          <p:cNvSpPr txBox="1"/>
          <p:nvPr/>
        </p:nvSpPr>
        <p:spPr>
          <a:xfrm>
            <a:off x="8658606" y="4663440"/>
            <a:ext cx="1618241"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nthropic Sans"/>
                <a:ea typeface="Anthropic Sans"/>
                <a:cs typeface="Anthropic Sans"/>
              </a:rPr>
              <a:t>Size context</a:t>
            </a:r>
          </a:p>
        </p:txBody>
      </p:sp>
      <p:sp>
        <p:nvSpPr>
          <p:cNvPr id="16" name="TextBox 16"/>
          <p:cNvSpPr txBox="1"/>
          <p:nvPr/>
        </p:nvSpPr>
        <p:spPr>
          <a:xfrm>
            <a:off x="8659749" y="4992529"/>
            <a:ext cx="2316490"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Anthropic Sans"/>
                <a:ea typeface="Anthropic Sans"/>
                <a:cs typeface="Anthropic Sans"/>
              </a:rPr>
              <a:t>array length and scale</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18/22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829021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still transfers across held-out domains</a:t>
            </a:r>
          </a:p>
        </p:txBody>
      </p:sp>
      <p:sp>
        <p:nvSpPr>
          <p:cNvPr id="6" name="TextBox 6"/>
          <p:cNvSpPr txBox="1"/>
          <p:nvPr/>
        </p:nvSpPr>
        <p:spPr>
          <a:xfrm>
            <a:off x="601599" y="858679"/>
            <a:ext cx="1033123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Domain holdout is stricter than a random split because the test domain was unseen during training.</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191919"/>
          </a:solidFill>
          <a:ln>
            <a:no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D97757"/>
                </a:solidFill>
                <a:latin typeface="Styrene A"/>
                <a:ea typeface="Styrene A"/>
                <a:cs typeface="Styrene A"/>
              </a:rPr>
              <a:t>79.7%</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weighted gap closed</a:t>
            </a:r>
          </a:p>
        </p:txBody>
      </p:sp>
      <p:sp>
        <p:nvSpPr>
          <p:cNvPr id="11" name="Freeform 11"/>
          <p:cNvSpPr/>
          <p:nvPr/>
        </p:nvSpPr>
        <p:spPr>
          <a:xfrm>
            <a:off x="8382000" y="3524250"/>
            <a:ext cx="28575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Important caveat</a:t>
            </a:r>
          </a:p>
        </p:txBody>
      </p:sp>
      <p:sp>
        <p:nvSpPr>
          <p:cNvPr id="13" name="TextBox 13"/>
          <p:cNvSpPr txBox="1"/>
          <p:nvPr/>
        </p:nvSpPr>
        <p:spPr>
          <a:xfrm>
            <a:off x="8659749" y="4230529"/>
            <a:ext cx="277602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4" name="TextBox 14"/>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5" name="TextBox 15"/>
          <p:cNvSpPr txBox="1"/>
          <p:nvPr/>
        </p:nvSpPr>
        <p:spPr>
          <a:xfrm>
            <a:off x="8659749" y="4840129"/>
            <a:ext cx="288835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19/22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70144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Strict checks changed what I was willing to claim</a:t>
            </a:r>
          </a:p>
        </p:txBody>
      </p:sp>
      <p:sp>
        <p:nvSpPr>
          <p:cNvPr id="6" name="TextBox 6"/>
          <p:cNvSpPr txBox="1"/>
          <p:nvPr/>
        </p:nvSpPr>
        <p:spPr>
          <a:xfrm>
            <a:off x="601599" y="858679"/>
            <a:ext cx="719247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Several experiments were useful because they reduced overclaiming.</a:t>
            </a:r>
          </a:p>
        </p:txBody>
      </p:sp>
      <p:sp>
        <p:nvSpPr>
          <p:cNvPr id="7" name="Freeform 7"/>
          <p:cNvSpPr/>
          <p:nvPr/>
        </p:nvSpPr>
        <p:spPr>
          <a:xfrm>
            <a:off x="7620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Accuracy dropped to 71.2%.</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This made leakage checks</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part of the defense.</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Optimizing the wrong signal</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reduced gap closed to</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78.1%.</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Stage 2 stayed weak</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when intro and heap</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were too close.</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So the final claim stays focused: v5 works well under the submitted evaluation, with known limits.</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20/22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584052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What I claim, and what I do not claim</a:t>
            </a:r>
          </a:p>
        </p:txBody>
      </p:sp>
      <p:sp>
        <p:nvSpPr>
          <p:cNvPr id="6" name="TextBox 6"/>
          <p:cNvSpPr txBox="1"/>
          <p:nvPr/>
        </p:nvSpPr>
        <p:spPr>
          <a:xfrm>
            <a:off x="601599" y="858679"/>
            <a:ext cx="725719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contribution is strong, but it is not a universal sorting theorem.</a:t>
            </a:r>
          </a:p>
        </p:txBody>
      </p:sp>
      <p:sp>
        <p:nvSpPr>
          <p:cNvPr id="7" name="Freeform 7"/>
          <p:cNvSpPr/>
          <p:nvPr/>
        </p:nvSpPr>
        <p:spPr>
          <a:xfrm>
            <a:off x="857250" y="1619250"/>
            <a:ext cx="4762500" cy="3238500"/>
          </a:xfrm>
          <a:custGeom>
            <a:avLst/>
            <a:gdLst/>
            <a:ahLst/>
            <a:cxnLst/>
            <a:rect l="l" t="t" r="r" b="b"/>
            <a:pathLst>
              <a:path w="4762500" h="3238500">
                <a:moveTo>
                  <a:pt x="76200" y="0"/>
                </a:moveTo>
                <a:lnTo>
                  <a:pt x="4686300" y="0"/>
                </a:lnTo>
                <a:cubicBezTo>
                  <a:pt x="4728384" y="0"/>
                  <a:pt x="4762500" y="34116"/>
                  <a:pt x="4762500" y="76200"/>
                </a:cubicBezTo>
                <a:lnTo>
                  <a:pt x="4762500" y="3162300"/>
                </a:lnTo>
                <a:cubicBezTo>
                  <a:pt x="4762500" y="3204384"/>
                  <a:pt x="4728384" y="3238500"/>
                  <a:pt x="4686300" y="3238500"/>
                </a:cubicBezTo>
                <a:lnTo>
                  <a:pt x="76200" y="3238500"/>
                </a:lnTo>
                <a:cubicBezTo>
                  <a:pt x="34116" y="3238500"/>
                  <a:pt x="0" y="3204384"/>
                  <a:pt x="0" y="3162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8" name="TextBox 8"/>
          <p:cNvSpPr txBox="1"/>
          <p:nvPr/>
        </p:nvSpPr>
        <p:spPr>
          <a:xfrm>
            <a:off x="1179195" y="1947862"/>
            <a:ext cx="1047788"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I claim</a:t>
            </a:r>
          </a:p>
        </p:txBody>
      </p:sp>
      <p:sp>
        <p:nvSpPr>
          <p:cNvPr id="9" name="TextBox 9"/>
          <p:cNvSpPr txBox="1"/>
          <p:nvPr/>
        </p:nvSpPr>
        <p:spPr>
          <a:xfrm>
            <a:off x="1179195" y="2614612"/>
            <a:ext cx="5671852"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v5 closes most measured runtime gap.</a:t>
            </a:r>
          </a:p>
        </p:txBody>
      </p:sp>
      <p:sp>
        <p:nvSpPr>
          <p:cNvPr id="10" name="TextBox 10"/>
          <p:cNvSpPr txBox="1"/>
          <p:nvPr/>
        </p:nvSpPr>
        <p:spPr>
          <a:xfrm>
            <a:off x="1179195" y="3138488"/>
            <a:ext cx="5793028"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Cheap structural features are useful.</a:t>
            </a:r>
          </a:p>
        </p:txBody>
      </p:sp>
      <p:sp>
        <p:nvSpPr>
          <p:cNvPr id="11" name="TextBox 11"/>
          <p:cNvSpPr txBox="1"/>
          <p:nvPr/>
        </p:nvSpPr>
        <p:spPr>
          <a:xfrm>
            <a:off x="1179195" y="3662362"/>
            <a:ext cx="5653486"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Limitations are visible in the results.</a:t>
            </a:r>
          </a:p>
        </p:txBody>
      </p:sp>
      <p:sp>
        <p:nvSpPr>
          <p:cNvPr id="12" name="Freeform 12"/>
          <p:cNvSpPr/>
          <p:nvPr/>
        </p:nvSpPr>
        <p:spPr>
          <a:xfrm>
            <a:off x="6572250" y="1619250"/>
            <a:ext cx="4762500" cy="3238500"/>
          </a:xfrm>
          <a:custGeom>
            <a:avLst/>
            <a:gdLst/>
            <a:ahLst/>
            <a:cxnLst/>
            <a:rect l="l" t="t" r="r" b="b"/>
            <a:pathLst>
              <a:path w="4762500" h="3238500">
                <a:moveTo>
                  <a:pt x="76200" y="0"/>
                </a:moveTo>
                <a:lnTo>
                  <a:pt x="4686300" y="0"/>
                </a:lnTo>
                <a:cubicBezTo>
                  <a:pt x="4728384" y="0"/>
                  <a:pt x="4762500" y="34116"/>
                  <a:pt x="4762500" y="76200"/>
                </a:cubicBezTo>
                <a:lnTo>
                  <a:pt x="4762500" y="3162300"/>
                </a:lnTo>
                <a:cubicBezTo>
                  <a:pt x="4762500" y="3204384"/>
                  <a:pt x="4728384" y="3238500"/>
                  <a:pt x="4686300" y="3238500"/>
                </a:cubicBezTo>
                <a:lnTo>
                  <a:pt x="76200" y="3238500"/>
                </a:lnTo>
                <a:cubicBezTo>
                  <a:pt x="34116" y="3238500"/>
                  <a:pt x="0" y="3204384"/>
                  <a:pt x="0" y="3162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894195" y="1947862"/>
            <a:ext cx="212115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I do not claim</a:t>
            </a:r>
          </a:p>
        </p:txBody>
      </p:sp>
      <p:sp>
        <p:nvSpPr>
          <p:cNvPr id="14" name="TextBox 14"/>
          <p:cNvSpPr txBox="1"/>
          <p:nvPr/>
        </p:nvSpPr>
        <p:spPr>
          <a:xfrm>
            <a:off x="6894195" y="2614612"/>
            <a:ext cx="326679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The model is perfect.</a:t>
            </a:r>
          </a:p>
        </p:txBody>
      </p:sp>
      <p:sp>
        <p:nvSpPr>
          <p:cNvPr id="15" name="TextBox 15"/>
          <p:cNvSpPr txBox="1"/>
          <p:nvPr/>
        </p:nvSpPr>
        <p:spPr>
          <a:xfrm>
            <a:off x="6894195" y="3138488"/>
            <a:ext cx="5398846"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F1 specialization is the main result.</a:t>
            </a:r>
          </a:p>
        </p:txBody>
      </p:sp>
      <p:sp>
        <p:nvSpPr>
          <p:cNvPr id="16" name="TextBox 16"/>
          <p:cNvSpPr txBox="1"/>
          <p:nvPr/>
        </p:nvSpPr>
        <p:spPr>
          <a:xfrm>
            <a:off x="6894195" y="3662362"/>
            <a:ext cx="5175474"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LinUCB is validated in this thesis.</a:t>
            </a:r>
          </a:p>
        </p:txBody>
      </p:sp>
      <p:sp>
        <p:nvSpPr>
          <p:cNvPr id="17" name="TextBox 17"/>
          <p:cNvSpPr txBox="1"/>
          <p:nvPr/>
        </p:nvSpPr>
        <p:spPr>
          <a:xfrm>
            <a:off x="848106" y="5425440"/>
            <a:ext cx="10020336"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The F1 route is a separate specialization: useful to discuss, but not mixed with v5.</a:t>
            </a:r>
          </a:p>
        </p:txBody>
      </p:sp>
      <p:sp>
        <p:nvSpPr>
          <p:cNvPr id="18" name="Line 18"/>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0" name="Freeform 20"/>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1"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21/22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Rectangle 3"/>
          <p:cNvSpPr/>
          <p:nvPr/>
        </p:nvSpPr>
        <p:spPr>
          <a:xfrm>
            <a:off x="0" y="0"/>
            <a:ext cx="12192000" cy="819150"/>
          </a:xfrm>
          <a:prstGeom prst="rect">
            <a:avLst/>
          </a:prstGeom>
          <a:solidFill>
            <a:srgbClr val="191919"/>
          </a:solidFill>
          <a:ln>
            <a:noFill/>
          </a:ln>
        </p:spPr>
        <p:txBody>
          <a:bodyPr/>
          <a:lstStyle/>
          <a:p>
            <a:endParaRPr/>
          </a:p>
        </p:txBody>
      </p:sp>
      <p:sp>
        <p:nvSpPr>
          <p:cNvPr id="4" name="Rectangle 4"/>
          <p:cNvSpPr/>
          <p:nvPr/>
        </p:nvSpPr>
        <p:spPr>
          <a:xfrm>
            <a:off x="0" y="0"/>
            <a:ext cx="95250" cy="819150"/>
          </a:xfrm>
          <a:prstGeom prst="rect">
            <a:avLst/>
          </a:prstGeom>
          <a:solidFill>
            <a:srgbClr val="D97757"/>
          </a:solidFill>
          <a:ln>
            <a:noFill/>
          </a:ln>
        </p:spPr>
        <p:txBody>
          <a:bodyPr/>
          <a:lstStyle/>
          <a:p>
            <a:endParaRPr/>
          </a:p>
        </p:txBody>
      </p:sp>
      <p:sp>
        <p:nvSpPr>
          <p:cNvPr id="5" name="TextBox 5"/>
          <p:cNvSpPr txBox="1"/>
          <p:nvPr/>
        </p:nvSpPr>
        <p:spPr>
          <a:xfrm>
            <a:off x="411099" y="344329"/>
            <a:ext cx="3512439"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Anthropic Sans"/>
                <a:ea typeface="Anthropic Sans"/>
                <a:cs typeface="Anthropic Sans"/>
              </a:rPr>
              <a:t>MSc Thesis Defense · June 2026</a:t>
            </a:r>
          </a:p>
        </p:txBody>
      </p:sp>
      <p:sp>
        <p:nvSpPr>
          <p:cNvPr id="6" name="TextBox 6"/>
          <p:cNvSpPr txBox="1"/>
          <p:nvPr/>
        </p:nvSpPr>
        <p:spPr>
          <a:xfrm>
            <a:off x="666750" y="1244918"/>
            <a:ext cx="3050707" cy="847725"/>
          </a:xfrm>
          <a:prstGeom prst="rect">
            <a:avLst/>
          </a:prstGeom>
          <a:noFill/>
          <a:ln>
            <a:noFill/>
          </a:ln>
        </p:spPr>
        <p:txBody>
          <a:bodyPr wrap="none" lIns="0" tIns="0" rIns="0" bIns="0" anchor="t" anchorCtr="0">
            <a:spAutoFit/>
          </a:bodyPr>
          <a:lstStyle/>
          <a:p>
            <a:pPr algn="l"/>
            <a:r>
              <a:rPr lang="en-US" sz="4350" b="1" dirty="0">
                <a:solidFill>
                  <a:srgbClr val="191919"/>
                </a:solidFill>
                <a:latin typeface="Styrene A"/>
                <a:ea typeface="Styrene A"/>
                <a:cs typeface="Styrene A"/>
              </a:rPr>
              <a:t>Thank you</a:t>
            </a:r>
          </a:p>
        </p:txBody>
      </p:sp>
      <p:sp>
        <p:nvSpPr>
          <p:cNvPr id="7" name="TextBox 7"/>
          <p:cNvSpPr txBox="1"/>
          <p:nvPr/>
        </p:nvSpPr>
        <p:spPr>
          <a:xfrm>
            <a:off x="667512" y="1945005"/>
            <a:ext cx="2914536" cy="704088"/>
          </a:xfrm>
          <a:prstGeom prst="rect">
            <a:avLst/>
          </a:prstGeom>
          <a:noFill/>
          <a:ln>
            <a:noFill/>
          </a:ln>
        </p:spPr>
        <p:txBody>
          <a:bodyPr wrap="none" lIns="0" tIns="0" rIns="0" bIns="0" anchor="t" anchorCtr="0">
            <a:spAutoFit/>
          </a:bodyPr>
          <a:lstStyle/>
          <a:p>
            <a:pPr algn="l"/>
            <a:r>
              <a:rPr lang="en-US" sz="3600" b="1" dirty="0">
                <a:solidFill>
                  <a:srgbClr val="D97757"/>
                </a:solidFill>
                <a:latin typeface="Styrene A"/>
                <a:ea typeface="Styrene A"/>
                <a:cs typeface="Styrene A"/>
              </a:rPr>
              <a:t>Questions?</a:t>
            </a:r>
          </a:p>
        </p:txBody>
      </p:sp>
      <p:sp>
        <p:nvSpPr>
          <p:cNvPr id="8" name="Freeform 8"/>
          <p:cNvSpPr/>
          <p:nvPr/>
        </p:nvSpPr>
        <p:spPr>
          <a:xfrm>
            <a:off x="685800" y="3143250"/>
            <a:ext cx="3238500" cy="1619250"/>
          </a:xfrm>
          <a:custGeom>
            <a:avLst/>
            <a:gdLst/>
            <a:ahLst/>
            <a:cxnLst/>
            <a:rect l="l" t="t" r="r" b="b"/>
            <a:pathLst>
              <a:path w="3238500" h="1619250">
                <a:moveTo>
                  <a:pt x="76200" y="0"/>
                </a:moveTo>
                <a:lnTo>
                  <a:pt x="3162300" y="0"/>
                </a:lnTo>
                <a:cubicBezTo>
                  <a:pt x="3204384" y="0"/>
                  <a:pt x="3238500" y="34116"/>
                  <a:pt x="3238500" y="76200"/>
                </a:cubicBezTo>
                <a:lnTo>
                  <a:pt x="3238500" y="1543050"/>
                </a:lnTo>
                <a:cubicBezTo>
                  <a:pt x="3238500" y="1585134"/>
                  <a:pt x="3204384" y="1619250"/>
                  <a:pt x="3162300" y="1619250"/>
                </a:cubicBezTo>
                <a:lnTo>
                  <a:pt x="76200" y="1619250"/>
                </a:lnTo>
                <a:cubicBezTo>
                  <a:pt x="34116" y="1619250"/>
                  <a:pt x="0" y="1585134"/>
                  <a:pt x="0" y="1543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979170" y="3424238"/>
            <a:ext cx="229579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Contribution 1</a:t>
            </a:r>
          </a:p>
        </p:txBody>
      </p:sp>
      <p:sp>
        <p:nvSpPr>
          <p:cNvPr id="10" name="TextBox 10"/>
          <p:cNvSpPr txBox="1"/>
          <p:nvPr/>
        </p:nvSpPr>
        <p:spPr>
          <a:xfrm>
            <a:off x="981456" y="3901440"/>
            <a:ext cx="330167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sorting selection framed as</a:t>
            </a:r>
          </a:p>
        </p:txBody>
      </p:sp>
      <p:sp>
        <p:nvSpPr>
          <p:cNvPr id="11" name="TextBox 11"/>
          <p:cNvSpPr txBox="1"/>
          <p:nvPr/>
        </p:nvSpPr>
        <p:spPr>
          <a:xfrm>
            <a:off x="981456" y="4225290"/>
            <a:ext cx="282206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 measured ML problem</a:t>
            </a:r>
          </a:p>
        </p:txBody>
      </p:sp>
      <p:sp>
        <p:nvSpPr>
          <p:cNvPr id="12" name="Freeform 12"/>
          <p:cNvSpPr/>
          <p:nvPr/>
        </p:nvSpPr>
        <p:spPr>
          <a:xfrm>
            <a:off x="4476750" y="3143250"/>
            <a:ext cx="3238500" cy="1619250"/>
          </a:xfrm>
          <a:custGeom>
            <a:avLst/>
            <a:gdLst/>
            <a:ahLst/>
            <a:cxnLst/>
            <a:rect l="l" t="t" r="r" b="b"/>
            <a:pathLst>
              <a:path w="3238500" h="1619250">
                <a:moveTo>
                  <a:pt x="76200" y="0"/>
                </a:moveTo>
                <a:lnTo>
                  <a:pt x="3162300" y="0"/>
                </a:lnTo>
                <a:cubicBezTo>
                  <a:pt x="3204384" y="0"/>
                  <a:pt x="3238500" y="34116"/>
                  <a:pt x="3238500" y="76200"/>
                </a:cubicBezTo>
                <a:lnTo>
                  <a:pt x="3238500" y="1543050"/>
                </a:lnTo>
                <a:cubicBezTo>
                  <a:pt x="3238500" y="1585134"/>
                  <a:pt x="3204384" y="1619250"/>
                  <a:pt x="3162300" y="1619250"/>
                </a:cubicBezTo>
                <a:lnTo>
                  <a:pt x="76200" y="1619250"/>
                </a:lnTo>
                <a:cubicBezTo>
                  <a:pt x="34116" y="1619250"/>
                  <a:pt x="0" y="1585134"/>
                  <a:pt x="0" y="1543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4770120" y="3424238"/>
            <a:ext cx="229579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Contribution 2</a:t>
            </a:r>
          </a:p>
        </p:txBody>
      </p:sp>
      <p:sp>
        <p:nvSpPr>
          <p:cNvPr id="14" name="TextBox 14"/>
          <p:cNvSpPr txBox="1"/>
          <p:nvPr/>
        </p:nvSpPr>
        <p:spPr>
          <a:xfrm>
            <a:off x="4772406" y="3901440"/>
            <a:ext cx="316839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cheap structural features</a:t>
            </a:r>
          </a:p>
        </p:txBody>
      </p:sp>
      <p:sp>
        <p:nvSpPr>
          <p:cNvPr id="15" name="TextBox 15"/>
          <p:cNvSpPr txBox="1"/>
          <p:nvPr/>
        </p:nvSpPr>
        <p:spPr>
          <a:xfrm>
            <a:off x="4772406" y="4225290"/>
            <a:ext cx="235663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across five domains</a:t>
            </a:r>
          </a:p>
        </p:txBody>
      </p:sp>
      <p:sp>
        <p:nvSpPr>
          <p:cNvPr id="16" name="Freeform 16"/>
          <p:cNvSpPr/>
          <p:nvPr/>
        </p:nvSpPr>
        <p:spPr>
          <a:xfrm>
            <a:off x="8267700" y="3143250"/>
            <a:ext cx="3238500" cy="1619250"/>
          </a:xfrm>
          <a:custGeom>
            <a:avLst/>
            <a:gdLst/>
            <a:ahLst/>
            <a:cxnLst/>
            <a:rect l="l" t="t" r="r" b="b"/>
            <a:pathLst>
              <a:path w="3238500" h="1619250">
                <a:moveTo>
                  <a:pt x="76200" y="0"/>
                </a:moveTo>
                <a:lnTo>
                  <a:pt x="3162300" y="0"/>
                </a:lnTo>
                <a:cubicBezTo>
                  <a:pt x="3204384" y="0"/>
                  <a:pt x="3238500" y="34116"/>
                  <a:pt x="3238500" y="76200"/>
                </a:cubicBezTo>
                <a:lnTo>
                  <a:pt x="3238500" y="1543050"/>
                </a:lnTo>
                <a:cubicBezTo>
                  <a:pt x="3238500" y="1585134"/>
                  <a:pt x="3204384" y="1619250"/>
                  <a:pt x="3162300" y="1619250"/>
                </a:cubicBezTo>
                <a:lnTo>
                  <a:pt x="76200" y="1619250"/>
                </a:lnTo>
                <a:cubicBezTo>
                  <a:pt x="34116" y="1619250"/>
                  <a:pt x="0" y="1585134"/>
                  <a:pt x="0" y="15430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7" name="TextBox 17"/>
          <p:cNvSpPr txBox="1"/>
          <p:nvPr/>
        </p:nvSpPr>
        <p:spPr>
          <a:xfrm>
            <a:off x="8561070" y="3424238"/>
            <a:ext cx="2295794"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Contribution 3</a:t>
            </a:r>
          </a:p>
        </p:txBody>
      </p:sp>
      <p:sp>
        <p:nvSpPr>
          <p:cNvPr id="18" name="TextBox 18"/>
          <p:cNvSpPr txBox="1"/>
          <p:nvPr/>
        </p:nvSpPr>
        <p:spPr>
          <a:xfrm>
            <a:off x="8563356" y="3901440"/>
            <a:ext cx="2611069"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93.1% gap closed with</a:t>
            </a:r>
          </a:p>
        </p:txBody>
      </p:sp>
      <p:sp>
        <p:nvSpPr>
          <p:cNvPr id="19" name="TextBox 19"/>
          <p:cNvSpPr txBox="1"/>
          <p:nvPr/>
        </p:nvSpPr>
        <p:spPr>
          <a:xfrm>
            <a:off x="8563356" y="422529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clear limitations</a:t>
            </a:r>
          </a:p>
        </p:txBody>
      </p:sp>
      <p:sp>
        <p:nvSpPr>
          <p:cNvPr id="20" name="TextBox 20"/>
          <p:cNvSpPr txBox="1"/>
          <p:nvPr/>
        </p:nvSpPr>
        <p:spPr>
          <a:xfrm>
            <a:off x="676656" y="5520690"/>
            <a:ext cx="1254728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Future work: stronger domain adaptation, validated online selection, and deeper F1-specific evaluation.</a:t>
            </a: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22/22</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2333</Words>
  <Application>Microsoft Macintosh PowerPoint</Application>
  <PresentationFormat>Widescreen</PresentationFormat>
  <Paragraphs>308</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Anthropic Sans</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2</cp:revision>
  <dcterms:created xsi:type="dcterms:W3CDTF">2026-06-30T17:56:25Z</dcterms:created>
  <dcterms:modified xsi:type="dcterms:W3CDTF">2026-07-01T08:28:38Z</dcterms:modified>
  <cp:category/>
  <cp:contentStatus/>
  <dc:language/>
</cp:coreProperties>
</file>