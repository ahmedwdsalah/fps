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9"/>
    <p:sldId id="27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0"/>
    <p:restoredTop sz="94658"/>
  </p:normalViewPr>
  <p:slideViewPr>
    <p:cSldViewPr snapToGrid="0" snapToObjects="1">
      <p:cViewPr varScale="1">
        <p:scale>
          <a:sx n="120" d="100"/>
          <a:sy n="120" d="100"/>
        </p:scale>
        <p:origin x="92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3.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Freeform 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grpSp>
        <p:nvGrpSpPr>
          <p:cNvPr id="23" name="Group 23"/>
          <p:cNvGrpSpPr/>
          <p:nvPr/>
        </p:nvGrpSpPr>
        <p:grpSpPr>
          <a:xfrm>
            <a:off x="552450" y="11049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1049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3525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1049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6289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3624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2" name="Slide 3 added title rule"/>
          <p:cNvSpPr/>
          <p:nvPr/>
        </p:nvSpPr>
        <p:spPr>
          <a:xfrm>
            <a:off x="647700" y="104775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3/24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455455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Why this matters in practice</a:t>
            </a:r>
          </a:p>
        </p:txBody>
      </p:sp>
      <p:sp>
        <p:nvSpPr>
          <p:cNvPr id="6" name="TextBox 6"/>
          <p:cNvSpPr txBox="1"/>
          <p:nvPr/>
        </p:nvSpPr>
        <p:spPr>
          <a:xfrm>
            <a:off x="601599" y="858679"/>
            <a:ext cx="104062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useful question is not only correctness; it is how much avoidable runtime we leave on the table.</a:t>
            </a:r>
          </a:p>
        </p:txBody>
      </p:sp>
      <p:sp>
        <p:nvSpPr>
          <p:cNvPr id="7" name="Freeform 7"/>
          <p:cNvSpPr/>
          <p:nvPr/>
        </p:nvSpPr>
        <p:spPr>
          <a:xfrm>
            <a:off x="781050" y="1619250"/>
            <a:ext cx="4819650" cy="3429000"/>
          </a:xfrm>
          <a:custGeom>
            <a:avLst/>
            <a:gdLst/>
            <a:ahLst/>
            <a:cxnLst/>
            <a:rect l="l" t="t" r="r" b="b"/>
            <a:pathLst>
              <a:path w="4819650" h="3429000">
                <a:moveTo>
                  <a:pt x="76200" y="0"/>
                </a:moveTo>
                <a:lnTo>
                  <a:pt x="4743450" y="0"/>
                </a:lnTo>
                <a:cubicBezTo>
                  <a:pt x="4785534" y="0"/>
                  <a:pt x="4819650" y="34116"/>
                  <a:pt x="4819650" y="76200"/>
                </a:cubicBezTo>
                <a:lnTo>
                  <a:pt x="4819650" y="3352800"/>
                </a:lnTo>
                <a:cubicBezTo>
                  <a:pt x="4819650" y="3394884"/>
                  <a:pt x="4785534" y="3429000"/>
                  <a:pt x="47434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86612" y="1802130"/>
            <a:ext cx="307295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Same input,</a:t>
            </a:r>
          </a:p>
        </p:txBody>
      </p:sp>
      <p:sp>
        <p:nvSpPr>
          <p:cNvPr id="9" name="TextBox 9"/>
          <p:cNvSpPr txBox="1"/>
          <p:nvPr/>
        </p:nvSpPr>
        <p:spPr>
          <a:xfrm>
            <a:off x="1086612" y="2373630"/>
            <a:ext cx="3700394"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different cost</a:t>
            </a:r>
          </a:p>
        </p:txBody>
      </p:sp>
      <p:sp>
        <p:nvSpPr>
          <p:cNvPr id="10" name="TextBox 10"/>
          <p:cNvSpPr txBox="1"/>
          <p:nvPr/>
        </p:nvSpPr>
        <p:spPr>
          <a:xfrm>
            <a:off x="1093470" y="3186112"/>
            <a:ext cx="56177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 sorted-like array, a random array,</a:t>
            </a:r>
          </a:p>
        </p:txBody>
      </p:sp>
      <p:sp>
        <p:nvSpPr>
          <p:cNvPr id="11" name="TextBox 11"/>
          <p:cNvSpPr txBox="1"/>
          <p:nvPr/>
        </p:nvSpPr>
        <p:spPr>
          <a:xfrm>
            <a:off x="1093470" y="3567112"/>
            <a:ext cx="505091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and a duplicated array can reward</a:t>
            </a:r>
          </a:p>
        </p:txBody>
      </p:sp>
      <p:sp>
        <p:nvSpPr>
          <p:cNvPr id="12" name="TextBox 12"/>
          <p:cNvSpPr txBox="1"/>
          <p:nvPr/>
        </p:nvSpPr>
        <p:spPr>
          <a:xfrm>
            <a:off x="1093470" y="3948112"/>
            <a:ext cx="5278088"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different implementation behavior.</a:t>
            </a:r>
          </a:p>
        </p:txBody>
      </p:sp>
      <p:sp>
        <p:nvSpPr>
          <p:cNvPr id="13" name="Freeform 13"/>
          <p:cNvSpPr/>
          <p:nvPr/>
        </p:nvSpPr>
        <p:spPr>
          <a:xfrm>
            <a:off x="63817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7070655" y="2110740"/>
            <a:ext cx="1003440" cy="352044"/>
          </a:xfrm>
          <a:prstGeom prst="rect">
            <a:avLst/>
          </a:prstGeom>
          <a:noFill/>
          <a:ln>
            <a:noFill/>
          </a:ln>
        </p:spPr>
        <p:txBody>
          <a:bodyPr wrap="none" lIns="0" tIns="0" rIns="0" bIns="0" anchor="t" anchorCtr="0">
            <a:spAutoFit/>
          </a:bodyPr>
          <a:lstStyle/>
          <a:p>
            <a:pPr algn="ctr"/>
            <a:r>
              <a:rPr lang="en-US" sz="1800" dirty="0">
                <a:solidFill>
                  <a:srgbClr val="64748B"/>
                </a:solidFill>
                <a:latin typeface="Anthropic Sans"/>
                <a:ea typeface="Anthropic Sans"/>
                <a:cs typeface="Anthropic Sans"/>
              </a:rPr>
              <a:t>Baseline</a:t>
            </a:r>
          </a:p>
        </p:txBody>
      </p:sp>
      <p:sp>
        <p:nvSpPr>
          <p:cNvPr id="15" name="TextBox 15"/>
          <p:cNvSpPr txBox="1"/>
          <p:nvPr/>
        </p:nvSpPr>
        <p:spPr>
          <a:xfrm>
            <a:off x="6991697" y="2640330"/>
            <a:ext cx="1161357" cy="704088"/>
          </a:xfrm>
          <a:prstGeom prst="rect">
            <a:avLst/>
          </a:prstGeom>
          <a:noFill/>
          <a:ln>
            <a:noFill/>
          </a:ln>
        </p:spPr>
        <p:txBody>
          <a:bodyPr wrap="none" lIns="0" tIns="0" rIns="0" bIns="0" anchor="t" anchorCtr="0">
            <a:spAutoFit/>
          </a:bodyPr>
          <a:lstStyle/>
          <a:p>
            <a:pPr algn="ctr"/>
            <a:r>
              <a:rPr lang="en-US" sz="3600" b="1" dirty="0">
                <a:solidFill>
                  <a:srgbClr val="191919"/>
                </a:solidFill>
                <a:latin typeface="Styrene A"/>
                <a:ea typeface="Styrene A"/>
                <a:cs typeface="Styrene A"/>
              </a:rPr>
              <a:t>SBS</a:t>
            </a:r>
          </a:p>
        </p:txBody>
      </p:sp>
      <p:sp>
        <p:nvSpPr>
          <p:cNvPr id="16" name="TextBox 16"/>
          <p:cNvSpPr txBox="1"/>
          <p:nvPr/>
        </p:nvSpPr>
        <p:spPr>
          <a:xfrm>
            <a:off x="6864687" y="3487579"/>
            <a:ext cx="1415377"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one algorithm</a:t>
            </a:r>
          </a:p>
        </p:txBody>
      </p:sp>
      <p:sp>
        <p:nvSpPr>
          <p:cNvPr id="17" name="TextBox 17"/>
          <p:cNvSpPr txBox="1"/>
          <p:nvPr/>
        </p:nvSpPr>
        <p:spPr>
          <a:xfrm>
            <a:off x="6880589" y="3773329"/>
            <a:ext cx="138357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for all inputs</a:t>
            </a:r>
          </a:p>
        </p:txBody>
      </p:sp>
      <p:sp>
        <p:nvSpPr>
          <p:cNvPr id="18" name="Freeform 18"/>
          <p:cNvSpPr/>
          <p:nvPr/>
        </p:nvSpPr>
        <p:spPr>
          <a:xfrm>
            <a:off x="91249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9" name="TextBox 19"/>
          <p:cNvSpPr txBox="1"/>
          <p:nvPr/>
        </p:nvSpPr>
        <p:spPr>
          <a:xfrm>
            <a:off x="9883978" y="2110740"/>
            <a:ext cx="863194"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Target</a:t>
            </a:r>
          </a:p>
        </p:txBody>
      </p:sp>
      <p:sp>
        <p:nvSpPr>
          <p:cNvPr id="20" name="TextBox 20"/>
          <p:cNvSpPr txBox="1"/>
          <p:nvPr/>
        </p:nvSpPr>
        <p:spPr>
          <a:xfrm>
            <a:off x="9734897" y="2640330"/>
            <a:ext cx="1161357" cy="704088"/>
          </a:xfrm>
          <a:prstGeom prst="rect">
            <a:avLst/>
          </a:prstGeom>
          <a:noFill/>
          <a:ln>
            <a:noFill/>
          </a:ln>
        </p:spPr>
        <p:txBody>
          <a:bodyPr wrap="none" lIns="0" tIns="0" rIns="0" bIns="0" anchor="t" anchorCtr="0">
            <a:spAutoFit/>
          </a:bodyPr>
          <a:lstStyle/>
          <a:p>
            <a:pPr algn="ctr"/>
            <a:r>
              <a:rPr lang="en-US" sz="3600" b="1" dirty="0">
                <a:solidFill>
                  <a:srgbClr val="D97757"/>
                </a:solidFill>
                <a:latin typeface="Styrene A"/>
                <a:ea typeface="Styrene A"/>
                <a:cs typeface="Styrene A"/>
              </a:rPr>
              <a:t>VBS</a:t>
            </a:r>
          </a:p>
        </p:txBody>
      </p:sp>
      <p:sp>
        <p:nvSpPr>
          <p:cNvPr id="21" name="TextBox 21"/>
          <p:cNvSpPr txBox="1"/>
          <p:nvPr/>
        </p:nvSpPr>
        <p:spPr>
          <a:xfrm>
            <a:off x="9549579" y="3487579"/>
            <a:ext cx="1531991"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best algorithm</a:t>
            </a:r>
          </a:p>
        </p:txBody>
      </p:sp>
      <p:sp>
        <p:nvSpPr>
          <p:cNvPr id="22" name="TextBox 22"/>
          <p:cNvSpPr txBox="1"/>
          <p:nvPr/>
        </p:nvSpPr>
        <p:spPr>
          <a:xfrm>
            <a:off x="9835815" y="3773329"/>
            <a:ext cx="959520"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per input</a:t>
            </a:r>
          </a:p>
        </p:txBody>
      </p:sp>
      <p:sp>
        <p:nvSpPr>
          <p:cNvPr id="23" name="TextBox 23"/>
          <p:cNvSpPr txBox="1"/>
          <p:nvPr/>
        </p:nvSpPr>
        <p:spPr>
          <a:xfrm>
            <a:off x="769620" y="5233988"/>
            <a:ext cx="6583345"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model is useful if it moves close to VBS</a:t>
            </a:r>
          </a:p>
        </p:txBody>
      </p:sp>
      <p:sp>
        <p:nvSpPr>
          <p:cNvPr id="24" name="TextBox 24"/>
          <p:cNvSpPr txBox="1"/>
          <p:nvPr/>
        </p:nvSpPr>
        <p:spPr>
          <a:xfrm>
            <a:off x="769620" y="5614988"/>
            <a:ext cx="477831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without trying every algorithm.</a:t>
            </a:r>
          </a:p>
        </p:txBody>
      </p:sp>
      <p:sp>
        <p:nvSpPr>
          <p:cNvPr id="25" name="Line 2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7" name="Freeform 2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Rectangle 27"/>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4/24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446048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previous work gives us</a:t>
            </a:r>
          </a:p>
        </p:txBody>
      </p:sp>
      <p:sp>
        <p:nvSpPr>
          <p:cNvPr id="6" name="TextBox 6"/>
          <p:cNvSpPr txBox="1"/>
          <p:nvPr/>
        </p:nvSpPr>
        <p:spPr>
          <a:xfrm>
            <a:off x="601599" y="858679"/>
            <a:ext cx="1046859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idea is connected to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sorting algorithm</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choice as a supervised task.</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expose these signals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as measurable features.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evaluate by regret,</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So the contribution is not a new sorter.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It is a measured selector around existing sorters.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33" name="Rectangle 3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5/24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299106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Research objective</a:t>
            </a:r>
          </a:p>
        </p:txBody>
      </p:sp>
      <p:sp>
        <p:nvSpPr>
          <p:cNvPr id="6" name="TextBox 6"/>
          <p:cNvSpPr txBox="1"/>
          <p:nvPr/>
        </p:nvSpPr>
        <p:spPr>
          <a:xfrm>
            <a:off x="601599" y="858679"/>
            <a:ext cx="1084062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Can simple array structure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the best sorting algorithm?</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r>
              <a:t>This is why the result is evaluated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6/24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21062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data was intentionally not from one shape</a:t>
            </a:r>
          </a:p>
        </p:txBody>
      </p:sp>
      <p:sp>
        <p:nvSpPr>
          <p:cNvPr id="6" name="TextBox 6"/>
          <p:cNvSpPr txBox="1"/>
          <p:nvPr/>
        </p:nvSpPr>
        <p:spPr>
          <a:xfrm>
            <a:off x="601599" y="858679"/>
            <a:ext cx="73709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final dataset contains 1.18M arrays from five real-data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point was to make the selector face different numeric patterns, not memorize one dataset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7/24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56376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Labels came from measured runtime</a:t>
            </a:r>
          </a:p>
        </p:txBody>
      </p:sp>
      <p:sp>
        <p:nvSpPr>
          <p:cNvPr id="6" name="TextBox 6"/>
          <p:cNvSpPr txBox="1"/>
          <p:nvPr/>
        </p:nvSpPr>
        <p:spPr>
          <a:xfrm>
            <a:off x="601599" y="858679"/>
            <a:ext cx="1101092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Transforms forced the model to see sorted, reversed, shuffled, quantized, and partially sorted behavior.</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8/24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57473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Features translate array shape into model input</a:t>
            </a:r>
          </a:p>
        </p:txBody>
      </p:sp>
      <p:sp>
        <p:nvSpPr>
          <p:cNvPr id="6" name="TextBox 6"/>
          <p:cNvSpPr txBox="1"/>
          <p:nvPr/>
        </p:nvSpPr>
        <p:spPr>
          <a:xfrm>
            <a:off x="601599" y="858679"/>
            <a:ext cx="1195508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16 features describe structure that sorting algorithms react to: size, order, duplicates, and local disorder.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87196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Scale</a:t>
            </a:r>
          </a:p>
        </p:txBody>
      </p:sp>
      <p:sp>
        <p:nvSpPr>
          <p:cNvPr id="10" name="TextBox 10"/>
          <p:cNvSpPr txBox="1"/>
          <p:nvPr/>
        </p:nvSpPr>
        <p:spPr>
          <a:xfrm>
            <a:off x="6753606" y="2453640"/>
            <a:ext cx="7573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length</a:t>
            </a:r>
          </a:p>
        </p:txBody>
      </p:sp>
      <p:sp>
        <p:nvSpPr>
          <p:cNvPr id="11" name="TextBox 11"/>
          <p:cNvSpPr txBox="1"/>
          <p:nvPr/>
        </p:nvSpPr>
        <p:spPr>
          <a:xfrm>
            <a:off x="6753606" y="2796540"/>
            <a:ext cx="68465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range</a:t>
            </a:r>
          </a:p>
        </p:txBody>
      </p:sp>
      <p:sp>
        <p:nvSpPr>
          <p:cNvPr id="12" name="TextBox 12"/>
          <p:cNvSpPr txBox="1"/>
          <p:nvPr/>
        </p:nvSpPr>
        <p:spPr>
          <a:xfrm>
            <a:off x="6753606" y="3139440"/>
            <a:ext cx="817931"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95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Shape</a:t>
            </a:r>
          </a:p>
        </p:txBody>
      </p:sp>
      <p:sp>
        <p:nvSpPr>
          <p:cNvPr id="15" name="TextBox 15"/>
          <p:cNvSpPr txBox="1"/>
          <p:nvPr/>
        </p:nvSpPr>
        <p:spPr>
          <a:xfrm>
            <a:off x="9211056" y="24536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inversions</a:t>
            </a:r>
          </a:p>
        </p:txBody>
      </p:sp>
      <p:sp>
        <p:nvSpPr>
          <p:cNvPr id="16" name="TextBox 16"/>
          <p:cNvSpPr txBox="1"/>
          <p:nvPr/>
        </p:nvSpPr>
        <p:spPr>
          <a:xfrm>
            <a:off x="9211056" y="2796540"/>
            <a:ext cx="55138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runs</a:t>
            </a:r>
          </a:p>
        </p:txBody>
      </p:sp>
      <p:sp>
        <p:nvSpPr>
          <p:cNvPr id="17" name="TextBox 17"/>
          <p:cNvSpPr txBox="1"/>
          <p:nvPr/>
        </p:nvSpPr>
        <p:spPr>
          <a:xfrm>
            <a:off x="9211056" y="31394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duplicates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features are not timing features.</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They are cheap summaries before sorting.</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9/24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924589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must be cheaper than the decision it improves</a:t>
            </a:r>
          </a:p>
        </p:txBody>
      </p:sp>
      <p:sp>
        <p:nvSpPr>
          <p:cNvPr id="6" name="TextBox 6"/>
          <p:cNvSpPr txBox="1"/>
          <p:nvPr/>
        </p:nvSpPr>
        <p:spPr>
          <a:xfrm>
            <a:off x="601599" y="858679"/>
            <a:ext cx="12102619"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Features are computed from the input structure; the system does not benchmark all algorithms at prediction time.</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the difference between a real selector and an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10/24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668810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main system is one general v5 selector</a:t>
            </a:r>
          </a:p>
        </p:txBody>
      </p:sp>
      <p:sp>
        <p:nvSpPr>
          <p:cNvPr id="6" name="TextBox 6"/>
          <p:cNvSpPr txBox="1"/>
          <p:nvPr/>
        </p:nvSpPr>
        <p:spPr>
          <a:xfrm>
            <a:off x="601599" y="858679"/>
            <a:ext cx="899532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r>
              <a:t>The F1-specific route exists, but it is a separate specialization outside the main v5 result.</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8" name="Rectangle 17"/>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566560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portfolio has three real choices</a:t>
            </a:r>
          </a:p>
        </p:txBody>
      </p:sp>
      <p:sp>
        <p:nvSpPr>
          <p:cNvPr id="6" name="TextBox 6"/>
          <p:cNvSpPr txBox="1"/>
          <p:nvPr/>
        </p:nvSpPr>
        <p:spPr>
          <a:xfrm>
            <a:off x="601599" y="858679"/>
            <a:ext cx="10703285"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model does not rank every possible sorter; it chooses among the three measured implementations.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Intro</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Tim</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r>
              <a:t>The study measures whether this choice can be learned well enough to reduce runtime regret.</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12/24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624010" cy="440055"/>
          </a:xfrm>
          <a:prstGeom prst="rect">
            <a:avLst/>
          </a:prstGeom>
          <a:noFill/>
          <a:ln>
            <a:noFill/>
          </a:ln>
        </p:spPr>
        <p:txBody>
          <a:bodyPr wrap="none" lIns="0" tIns="0" rIns="0" bIns="0" anchor="t" anchorCtr="0">
            <a:spAutoFit/>
          </a:bodyPr>
          <a:lstStyle/>
          <a:p>
            <a:r>
              <a:t>v5 was chosen after earlier designs were tested</a:t>
            </a:r>
          </a:p>
        </p:txBody>
      </p:sp>
      <p:sp>
        <p:nvSpPr>
          <p:cNvPr id="6" name="TextBox 6"/>
          <p:cNvSpPr txBox="1"/>
          <p:nvPr/>
        </p:nvSpPr>
        <p:spPr>
          <a:xfrm>
            <a:off x="601599" y="858679"/>
            <a:ext cx="10267883" cy="308039"/>
          </a:xfrm>
          <a:prstGeom prst="rect">
            <a:avLst/>
          </a:prstGeom>
          <a:noFill/>
          <a:ln>
            <a:noFill/>
          </a:ln>
        </p:spPr>
        <p:txBody>
          <a:bodyPr wrap="none" lIns="0" tIns="0" rIns="0" bIns="0" anchor="t" anchorCtr="0">
            <a:spAutoFit/>
          </a:bodyPr>
          <a:lstStyle/>
          <a:p>
            <a:r>
              <a:t>The model history shows how the final design was selected through empirical checks.</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t>insufficient</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Timing feature</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deployable</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580" dirty="0">
                <a:solidFill>
                  <a:srgbClr val="D97757"/>
                </a:solidFill>
                <a:latin typeface="Anthropic San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Strict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t>scope evidence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13/24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3068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Evaluation asks how close we are to the oracle</a:t>
            </a:r>
          </a:p>
        </p:txBody>
      </p:sp>
      <p:sp>
        <p:nvSpPr>
          <p:cNvPr id="6" name="TextBox 6"/>
          <p:cNvSpPr txBox="1"/>
          <p:nvPr/>
        </p:nvSpPr>
        <p:spPr>
          <a:xfrm>
            <a:off x="601599" y="858679"/>
            <a:ext cx="1029026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Accuracy says whether the class is right; regret says whether the runtime consequence matters.</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These formulas connect classifier output to measured runtime value.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14/24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694127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closes most of the runtime gap</a:t>
            </a:r>
          </a:p>
        </p:txBody>
      </p:sp>
      <p:sp>
        <p:nvSpPr>
          <p:cNvPr id="6" name="TextBox 6"/>
          <p:cNvSpPr txBox="1"/>
          <p:nvPr/>
        </p:nvSpPr>
        <p:spPr>
          <a:xfrm>
            <a:off x="601599" y="858679"/>
            <a:ext cx="93783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2550" dirty="0">
                <a:solidFill>
                  <a:srgbClr val="FFFFFF"/>
                </a:solidFill>
                <a:latin typeface="Anthropic San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This is the headline because a wrong</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label is not always an expensive mistake.</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15/24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14482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Accuracy alone does not explain runtime value</a:t>
            </a:r>
          </a:p>
        </p:txBody>
      </p:sp>
      <p:sp>
        <p:nvSpPr>
          <p:cNvPr id="6" name="TextBox 6"/>
          <p:cNvSpPr txBox="1"/>
          <p:nvPr/>
        </p:nvSpPr>
        <p:spPr>
          <a:xfrm>
            <a:off x="601599" y="858679"/>
            <a:ext cx="940987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Some wrong labels are cheap because two algorithms finish almost the same on that input.</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16/24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81371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hardest boundary is between close algorithms</a:t>
            </a:r>
          </a:p>
        </p:txBody>
      </p:sp>
      <p:sp>
        <p:nvSpPr>
          <p:cNvPr id="6" name="TextBox 6"/>
          <p:cNvSpPr txBox="1"/>
          <p:nvPr/>
        </p:nvSpPr>
        <p:spPr>
          <a:xfrm>
            <a:off x="601599" y="858679"/>
            <a:ext cx="106814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Intro and heap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a limitation, but regret tells us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many of these errors are low cost.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17/24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035815" cy="440055"/>
          </a:xfrm>
          <a:prstGeom prst="rect">
            <a:avLst/>
          </a:prstGeom>
          <a:noFill/>
          <a:ln>
            <a:noFill/>
          </a:ln>
        </p:spPr>
        <p:txBody>
          <a:bodyPr wrap="none" lIns="0" tIns="0" rIns="0" bIns="0" anchor="t" anchorCtr="0">
            <a:spAutoFit/>
          </a:bodyPr>
          <a:lstStyle/>
          <a:p>
            <a:r>
              <a:t>The model uses structural array signals</a:t>
            </a:r>
          </a:p>
        </p:txBody>
      </p:sp>
      <p:sp>
        <p:nvSpPr>
          <p:cNvPr id="6" name="TextBox 6"/>
          <p:cNvSpPr txBox="1"/>
          <p:nvPr/>
        </p:nvSpPr>
        <p:spPr>
          <a:xfrm>
            <a:off x="601599" y="858679"/>
            <a:ext cx="933473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 importance links the learned choices back to the array properties we extracted.</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Order signals</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runs, inversions, monotonicity</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Value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duplicates, range, entropy</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Size context</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array length and scale</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18/24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829021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still transfers across held-out domains</a:t>
            </a:r>
          </a:p>
        </p:txBody>
      </p:sp>
      <p:sp>
        <p:nvSpPr>
          <p:cNvPr id="6" name="TextBox 6"/>
          <p:cNvSpPr txBox="1"/>
          <p:nvPr/>
        </p:nvSpPr>
        <p:spPr>
          <a:xfrm>
            <a:off x="601599" y="858679"/>
            <a:ext cx="1033123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Domain holdout is stricter than a random split because the test domain was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Important caveat</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19/24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701442" cy="440055"/>
          </a:xfrm>
          <a:prstGeom prst="rect">
            <a:avLst/>
          </a:prstGeom>
          <a:noFill/>
          <a:ln>
            <a:noFill/>
          </a:ln>
        </p:spPr>
        <p:txBody>
          <a:bodyPr wrap="none" lIns="0" tIns="0" rIns="0" bIns="0" anchor="t" anchorCtr="0">
            <a:spAutoFit/>
          </a:bodyPr>
          <a:lstStyle/>
          <a:p>
            <a:r>
              <a:t>Strict checks defined the final scope</a:t>
            </a:r>
          </a:p>
        </p:txBody>
      </p:sp>
      <p:sp>
        <p:nvSpPr>
          <p:cNvPr id="6" name="TextBox 6"/>
          <p:cNvSpPr txBox="1"/>
          <p:nvPr/>
        </p:nvSpPr>
        <p:spPr>
          <a:xfrm>
            <a:off x="601599" y="858679"/>
            <a:ext cx="7192471" cy="308039"/>
          </a:xfrm>
          <a:prstGeom prst="rect">
            <a:avLst/>
          </a:prstGeom>
          <a:noFill/>
          <a:ln>
            <a:noFill/>
          </a:ln>
        </p:spPr>
        <p:txBody>
          <a:bodyPr wrap="none" lIns="0" tIns="0" rIns="0" bIns="0" anchor="t" anchorCtr="0">
            <a:spAutoFit/>
          </a:bodyPr>
          <a:lstStyle/>
          <a:p>
            <a:r>
              <a:t>Several experiments were useful because they clarified the limits of the result.</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part of the defense.</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when intro and heap</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t>The final result stays focused: v5 performs well under the submitted evaluation, with known limits.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20/24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21/24</a:t>
            </a:r>
          </a:p>
        </p:txBody>
      </p:sp>
      <p:sp>
        <p:nvSpPr>
          <p:cNvPr id="6" name="TextBox 5"/>
          <p:cNvSpPr txBox="1"/>
          <p:nvPr/>
        </p:nvSpPr>
        <p:spPr>
          <a:xfrm>
            <a:off x="647700" y="533400"/>
            <a:ext cx="9715500" cy="361950"/>
          </a:xfrm>
          <a:prstGeom prst="rect">
            <a:avLst/>
          </a:prstGeom>
          <a:noFill/>
        </p:spPr>
        <p:txBody>
          <a:bodyPr wrap="none" lIns="0" rIns="0" tIns="0" bIns="0">
            <a:spAutoFit/>
          </a:bodyPr>
          <a:lstStyle/>
          <a:p>
            <a:pPr algn="l"/>
            <a:r>
              <a:rPr sz="2700" b="1">
                <a:solidFill>
                  <a:srgbClr val="191919"/>
                </a:solidFill>
                <a:latin typeface="Arial"/>
              </a:rPr>
              <a:t>Conclusion</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 y="1200150"/>
            <a:ext cx="10287000" cy="209550"/>
          </a:xfrm>
          <a:prstGeom prst="rect">
            <a:avLst/>
          </a:prstGeom>
          <a:noFill/>
        </p:spPr>
        <p:txBody>
          <a:bodyPr wrap="none" lIns="0" rIns="0" tIns="0" bIns="0">
            <a:spAutoFit/>
          </a:bodyPr>
          <a:lstStyle/>
          <a:p>
            <a:r>
              <a:t>The final result supports structural-feature-based sorting algorithm selection on realistic numeric arrays.</a:t>
            </a:r>
          </a:p>
        </p:txBody>
      </p:sp>
      <p:sp>
        <p:nvSpPr>
          <p:cNvPr id="9" name="TextBox 8"/>
          <p:cNvSpPr txBox="1"/>
          <p:nvPr/>
        </p:nvSpPr>
        <p:spPr>
          <a:xfrm>
            <a:off x="1238250" y="2000250"/>
            <a:ext cx="9715500" cy="400050"/>
          </a:xfrm>
          <a:prstGeom prst="rect">
            <a:avLst/>
          </a:prstGeom>
          <a:noFill/>
        </p:spPr>
        <p:txBody>
          <a:bodyPr wrap="square" lIns="0" rIns="0" tIns="0" bIns="0">
            <a:spAutoFit/>
          </a:bodyPr>
          <a:lstStyle/>
          <a:p>
            <a:pPr algn="ctr"/>
            <a:r>
              <a:rPr sz="2500" b="1">
                <a:solidFill>
                  <a:srgbClr val="191919"/>
                </a:solidFill>
                <a:latin typeface="Arial"/>
              </a:rPr>
              <a:t>A feature-based selector can reduce sorting runtime on realistic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14525" y="3124200"/>
            <a:ext cx="2076450" cy="304800"/>
          </a:xfrm>
          <a:prstGeom prst="rect">
            <a:avLst/>
          </a:prstGeom>
          <a:noFill/>
        </p:spPr>
        <p:txBody>
          <a:bodyPr wrap="none" lIns="0" rIns="0" tIns="0" bIns="0">
            <a:spAutoFit/>
          </a:bodyPr>
          <a:lstStyle/>
          <a:p>
            <a:pPr algn="ctr"/>
            <a:r>
              <a:rPr sz="2400" b="1">
                <a:solidFill>
                  <a:srgbClr val="8F1D3A"/>
                </a:solidFill>
                <a:latin typeface="Arial"/>
              </a:rPr>
              <a:t>76.1%</a:t>
            </a:r>
          </a:p>
        </p:txBody>
      </p:sp>
      <p:sp>
        <p:nvSpPr>
          <p:cNvPr id="12" name="TextBox 11"/>
          <p:cNvSpPr txBox="1"/>
          <p:nvPr/>
        </p:nvSpPr>
        <p:spPr>
          <a:xfrm>
            <a:off x="1933575" y="3543300"/>
            <a:ext cx="2038350" cy="190500"/>
          </a:xfrm>
          <a:prstGeom prst="rect">
            <a:avLst/>
          </a:prstGeom>
          <a:noFill/>
        </p:spPr>
        <p:txBody>
          <a:bodyPr wrap="none" lIns="0" rIns="0" tIns="0" bIns="0">
            <a:spAutoFit/>
          </a:bodyPr>
          <a:lstStyle/>
          <a:p>
            <a:pPr algn="ctr"/>
            <a:r>
              <a:rPr sz="1150" b="0">
                <a:solidFill>
                  <a:srgbClr val="566682"/>
                </a:solidFill>
                <a:latin typeface="Arial"/>
              </a:rPr>
              <a:t>top-1 accuracy</a:t>
            </a:r>
          </a:p>
        </p:txBody>
      </p:sp>
      <p:sp>
        <p:nvSpPr>
          <p:cNvPr id="13" name="Rectangle 12"/>
          <p:cNvSpPr/>
          <p:nvPr/>
        </p:nvSpPr>
        <p:spPr>
          <a:xfrm>
            <a:off x="4762500" y="2905125"/>
            <a:ext cx="2381250" cy="1095375"/>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14900" y="3124200"/>
            <a:ext cx="2076450" cy="304800"/>
          </a:xfrm>
          <a:prstGeom prst="rect">
            <a:avLst/>
          </a:prstGeom>
          <a:noFill/>
        </p:spPr>
        <p:txBody>
          <a:bodyPr wrap="none" lIns="0" rIns="0" tIns="0" bIns="0">
            <a:spAutoFit/>
          </a:bodyPr>
          <a:lstStyle/>
          <a:p>
            <a:pPr algn="ctr"/>
            <a:r>
              <a:rPr sz="2400" b="1">
                <a:solidFill>
                  <a:srgbClr val="F4511E"/>
                </a:solidFill>
                <a:latin typeface="Arial"/>
              </a:rPr>
              <a:t>93.1%</a:t>
            </a:r>
          </a:p>
        </p:txBody>
      </p:sp>
      <p:sp>
        <p:nvSpPr>
          <p:cNvPr id="15" name="TextBox 14"/>
          <p:cNvSpPr txBox="1"/>
          <p:nvPr/>
        </p:nvSpPr>
        <p:spPr>
          <a:xfrm>
            <a:off x="4933950" y="3543300"/>
            <a:ext cx="2038350" cy="190500"/>
          </a:xfrm>
          <a:prstGeom prst="rect">
            <a:avLst/>
          </a:prstGeom>
          <a:noFill/>
        </p:spPr>
        <p:txBody>
          <a:bodyPr wrap="none" lIns="0" rIns="0" tIns="0" bIns="0">
            <a:spAutoFit/>
          </a:bodyPr>
          <a:lstStyle/>
          <a:p>
            <a:pPr algn="ctr"/>
            <a:r>
              <a:rPr sz="1150" b="0">
                <a:solidFill>
                  <a:srgbClr val="FFFFFF"/>
                </a:solidFill>
                <a:latin typeface="Arial"/>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15275" y="3124200"/>
            <a:ext cx="2076450" cy="304800"/>
          </a:xfrm>
          <a:prstGeom prst="rect">
            <a:avLst/>
          </a:prstGeom>
          <a:noFill/>
        </p:spPr>
        <p:txBody>
          <a:bodyPr wrap="none" lIns="0" rIns="0" tIns="0" bIns="0">
            <a:spAutoFit/>
          </a:bodyPr>
          <a:lstStyle/>
          <a:p>
            <a:pPr algn="ctr"/>
            <a:r>
              <a:rPr sz="2400" b="1">
                <a:solidFill>
                  <a:srgbClr val="8F1D3A"/>
                </a:solidFill>
                <a:latin typeface="Arial"/>
              </a:rPr>
              <a:t>89.6%</a:t>
            </a:r>
          </a:p>
        </p:txBody>
      </p:sp>
      <p:sp>
        <p:nvSpPr>
          <p:cNvPr id="18" name="TextBox 17"/>
          <p:cNvSpPr txBox="1"/>
          <p:nvPr/>
        </p:nvSpPr>
        <p:spPr>
          <a:xfrm>
            <a:off x="7934325" y="3543300"/>
            <a:ext cx="2038350" cy="190500"/>
          </a:xfrm>
          <a:prstGeom prst="rect">
            <a:avLst/>
          </a:prstGeom>
          <a:noFill/>
        </p:spPr>
        <p:txBody>
          <a:bodyPr wrap="none" lIns="0" rIns="0" tIns="0" bIns="0">
            <a:spAutoFit/>
          </a:bodyPr>
          <a:lstStyle/>
          <a:p>
            <a:pPr algn="ctr"/>
            <a:r>
              <a:rPr sz="1150" b="0">
                <a:solidFill>
                  <a:srgbClr val="566682"/>
                </a:solidFill>
                <a:latin typeface="Arial"/>
              </a:rPr>
              <a:t>zero-regret predictions</a:t>
            </a:r>
          </a:p>
        </p:txBody>
      </p:sp>
      <p:sp>
        <p:nvSpPr>
          <p:cNvPr id="19" name="TextBox 18"/>
          <p:cNvSpPr txBox="1"/>
          <p:nvPr/>
        </p:nvSpPr>
        <p:spPr>
          <a:xfrm>
            <a:off x="1571625" y="4572000"/>
            <a:ext cx="9048750" cy="323850"/>
          </a:xfrm>
          <a:prstGeom prst="rect">
            <a:avLst/>
          </a:prstGeom>
          <a:noFill/>
        </p:spPr>
        <p:txBody>
          <a:bodyPr wrap="square" lIns="0" rIns="0" tIns="0" bIns="0">
            <a:spAutoFit/>
          </a:bodyPr>
          <a:lstStyle/>
          <a:p>
            <a:pPr algn="ctr"/>
            <a:r>
              <a:rPr sz="1600" b="0">
                <a:solidFill>
                  <a:srgbClr val="566682"/>
                </a:solidFill>
                <a:latin typeface="Arial"/>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rIns="0" tIns="0" bIns="0">
            <a:spAutoFit/>
          </a:bodyPr>
          <a:lstStyle/>
          <a:p>
            <a:pPr algn="ctr"/>
            <a:r>
              <a:rPr sz="1600" b="1">
                <a:solidFill>
                  <a:srgbClr val="8F1D3A"/>
                </a:solidFill>
                <a:latin typeface="Arial"/>
              </a:rPr>
              <a:t>The main residual weakness is the introsort/heapsort boundary, where the current feature space often cannot see enough difference.</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22/24</a:t>
            </a:r>
          </a:p>
        </p:txBody>
      </p:sp>
      <p:sp>
        <p:nvSpPr>
          <p:cNvPr id="6" name="TextBox 5"/>
          <p:cNvSpPr txBox="1"/>
          <p:nvPr/>
        </p:nvSpPr>
        <p:spPr>
          <a:xfrm>
            <a:off x="647700" y="533400"/>
            <a:ext cx="9715500" cy="361950"/>
          </a:xfrm>
          <a:prstGeom prst="rect">
            <a:avLst/>
          </a:prstGeom>
          <a:noFill/>
        </p:spPr>
        <p:txBody>
          <a:bodyPr wrap="none" lIns="0" rIns="0" tIns="0" bIns="0">
            <a:spAutoFit/>
          </a:bodyPr>
          <a:lstStyle/>
          <a:p>
            <a:pPr algn="l"/>
            <a:r>
              <a:rPr sz="2700" b="1">
                <a:solidFill>
                  <a:srgbClr val="191919"/>
                </a:solidFill>
                <a:latin typeface="Arial"/>
              </a:rPr>
              <a:t>Contributions</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 y="1200150"/>
            <a:ext cx="10287000" cy="209550"/>
          </a:xfrm>
          <a:prstGeom prst="rect">
            <a:avLst/>
          </a:prstGeom>
          <a:noFill/>
        </p:spPr>
        <p:txBody>
          <a:bodyPr wrap="none" lIns="0" rIns="0" tIns="0" bIns="0">
            <a:spAutoFit/>
          </a:bodyPr>
          <a:lstStyle/>
          <a:p>
            <a:r>
              <a:t>The thesis contribution combines the selector design, the feature representation, and the runtime evaluation.</a:t>
            </a:r>
          </a:p>
        </p:txBody>
      </p:sp>
      <p:sp>
        <p:nvSpPr>
          <p:cNvPr id="9" name="TextBox 8"/>
          <p:cNvSpPr txBox="1"/>
          <p:nvPr/>
        </p:nvSpPr>
        <p:spPr>
          <a:xfrm>
            <a:off x="1143000" y="2000250"/>
            <a:ext cx="400050" cy="228600"/>
          </a:xfrm>
          <a:prstGeom prst="rect">
            <a:avLst/>
          </a:prstGeom>
          <a:noFill/>
        </p:spPr>
        <p:txBody>
          <a:bodyPr wrap="none" lIns="0" rIns="0" tIns="0" bIns="0">
            <a:spAutoFit/>
          </a:bodyPr>
          <a:lstStyle/>
          <a:p>
            <a:pPr algn="ctr"/>
            <a:r>
              <a:rPr sz="1600" b="1">
                <a:solidFill>
                  <a:srgbClr val="8F1D3A"/>
                </a:solidFill>
                <a:latin typeface="Arial"/>
              </a:rPr>
              <a:t>01</a:t>
            </a:r>
          </a:p>
        </p:txBody>
      </p:sp>
      <p:sp>
        <p:nvSpPr>
          <p:cNvPr id="10" name="TextBox 9"/>
          <p:cNvSpPr txBox="1"/>
          <p:nvPr/>
        </p:nvSpPr>
        <p:spPr>
          <a:xfrm>
            <a:off x="1714500" y="2000250"/>
            <a:ext cx="9334500" cy="228600"/>
          </a:xfrm>
          <a:prstGeom prst="rect">
            <a:avLst/>
          </a:prstGeom>
          <a:noFill/>
        </p:spPr>
        <p:txBody>
          <a:bodyPr wrap="none" lIns="0" rIns="0" tIns="0" bIns="0">
            <a:spAutoFit/>
          </a:bodyPr>
          <a:lstStyle/>
          <a:p>
            <a:pPr algn="l"/>
            <a:r>
              <a:rPr sz="1600" b="1">
                <a:solidFill>
                  <a:srgbClr val="191919"/>
                </a:solidFill>
                <a:latin typeface="Arial"/>
              </a:rPr>
              <a:t>Measured problem formulation</a:t>
            </a:r>
          </a:p>
        </p:txBody>
      </p:sp>
      <p:sp>
        <p:nvSpPr>
          <p:cNvPr id="11" name="TextBox 10"/>
          <p:cNvSpPr txBox="1"/>
          <p:nvPr/>
        </p:nvSpPr>
        <p:spPr>
          <a:xfrm>
            <a:off x="1714500" y="2324100"/>
            <a:ext cx="9334500" cy="361950"/>
          </a:xfrm>
          <a:prstGeom prst="rect">
            <a:avLst/>
          </a:prstGeom>
          <a:noFill/>
        </p:spPr>
        <p:txBody>
          <a:bodyPr wrap="square" lIns="0" rIns="0" tIns="0" bIns="0">
            <a:spAutoFit/>
          </a:bodyPr>
          <a:lstStyle/>
          <a:p>
            <a:pPr algn="l"/>
            <a:r>
              <a:rPr sz="1250" b="0">
                <a:solidFill>
                  <a:srgbClr val="566682"/>
                </a:solidFill>
                <a:latin typeface="Arial"/>
              </a:rPr>
              <a:t>Per-instance sorting algorithm selection was formulated as a supervised machine-learning task on real numeric arrays.</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143250"/>
            <a:ext cx="400050" cy="228600"/>
          </a:xfrm>
          <a:prstGeom prst="rect">
            <a:avLst/>
          </a:prstGeom>
          <a:noFill/>
        </p:spPr>
        <p:txBody>
          <a:bodyPr wrap="none" lIns="0" rIns="0" tIns="0" bIns="0">
            <a:spAutoFit/>
          </a:bodyPr>
          <a:lstStyle/>
          <a:p>
            <a:pPr algn="ctr"/>
            <a:r>
              <a:rPr sz="1600" b="1">
                <a:solidFill>
                  <a:srgbClr val="8F1D3A"/>
                </a:solidFill>
                <a:latin typeface="Arial"/>
              </a:rPr>
              <a:t>02</a:t>
            </a:r>
          </a:p>
        </p:txBody>
      </p:sp>
      <p:sp>
        <p:nvSpPr>
          <p:cNvPr id="14" name="TextBox 13"/>
          <p:cNvSpPr txBox="1"/>
          <p:nvPr/>
        </p:nvSpPr>
        <p:spPr>
          <a:xfrm>
            <a:off x="1714500" y="3143250"/>
            <a:ext cx="9334500" cy="228600"/>
          </a:xfrm>
          <a:prstGeom prst="rect">
            <a:avLst/>
          </a:prstGeom>
          <a:noFill/>
        </p:spPr>
        <p:txBody>
          <a:bodyPr wrap="none" lIns="0" rIns="0" tIns="0" bIns="0">
            <a:spAutoFit/>
          </a:bodyPr>
          <a:lstStyle/>
          <a:p>
            <a:pPr algn="l"/>
            <a:r>
              <a:rPr sz="1600" b="1">
                <a:solidFill>
                  <a:srgbClr val="191919"/>
                </a:solidFill>
                <a:latin typeface="Arial"/>
              </a:rPr>
              <a:t>Structural feature representation</a:t>
            </a:r>
          </a:p>
        </p:txBody>
      </p:sp>
      <p:sp>
        <p:nvSpPr>
          <p:cNvPr id="15" name="TextBox 14"/>
          <p:cNvSpPr txBox="1"/>
          <p:nvPr/>
        </p:nvSpPr>
        <p:spPr>
          <a:xfrm>
            <a:off x="1714500" y="3467100"/>
            <a:ext cx="9334500" cy="361950"/>
          </a:xfrm>
          <a:prstGeom prst="rect">
            <a:avLst/>
          </a:prstGeom>
          <a:noFill/>
        </p:spPr>
        <p:txBody>
          <a:bodyPr wrap="square" lIns="0" rIns="0" tIns="0" bIns="0">
            <a:spAutoFit/>
          </a:bodyPr>
          <a:lstStyle/>
          <a:p>
            <a:pPr algn="l"/>
            <a:r>
              <a:rPr sz="1250" b="0">
                <a:solidFill>
                  <a:srgbClr val="566682"/>
                </a:solidFill>
                <a:latin typeface="Arial"/>
              </a:rPr>
              <a:t>A 16-feature O(n) representation was used to describe size, order, duplicate density, value distribution, and local disorder across five domains.</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4286250"/>
            <a:ext cx="400050" cy="228600"/>
          </a:xfrm>
          <a:prstGeom prst="rect">
            <a:avLst/>
          </a:prstGeom>
          <a:noFill/>
        </p:spPr>
        <p:txBody>
          <a:bodyPr wrap="none" lIns="0" rIns="0" tIns="0" bIns="0">
            <a:spAutoFit/>
          </a:bodyPr>
          <a:lstStyle/>
          <a:p>
            <a:pPr algn="ctr"/>
            <a:r>
              <a:rPr sz="1600" b="1">
                <a:solidFill>
                  <a:srgbClr val="8F1D3A"/>
                </a:solidFill>
                <a:latin typeface="Arial"/>
              </a:rPr>
              <a:t>03</a:t>
            </a:r>
          </a:p>
        </p:txBody>
      </p:sp>
      <p:sp>
        <p:nvSpPr>
          <p:cNvPr id="18" name="TextBox 17"/>
          <p:cNvSpPr txBox="1"/>
          <p:nvPr/>
        </p:nvSpPr>
        <p:spPr>
          <a:xfrm>
            <a:off x="1714500" y="4286250"/>
            <a:ext cx="9334500" cy="228600"/>
          </a:xfrm>
          <a:prstGeom prst="rect">
            <a:avLst/>
          </a:prstGeom>
          <a:noFill/>
        </p:spPr>
        <p:txBody>
          <a:bodyPr wrap="none" lIns="0" rIns="0" tIns="0" bIns="0">
            <a:spAutoFit/>
          </a:bodyPr>
          <a:lstStyle/>
          <a:p>
            <a:pPr algn="l"/>
            <a:r>
              <a:rPr sz="1600" b="1">
                <a:solidFill>
                  <a:srgbClr val="191919"/>
                </a:solidFill>
                <a:latin typeface="Arial"/>
              </a:rPr>
              <a:t>Runtime-sensitive evaluation discipline</a:t>
            </a:r>
          </a:p>
        </p:txBody>
      </p:sp>
      <p:sp>
        <p:nvSpPr>
          <p:cNvPr id="19" name="TextBox 18"/>
          <p:cNvSpPr txBox="1"/>
          <p:nvPr/>
        </p:nvSpPr>
        <p:spPr>
          <a:xfrm>
            <a:off x="1714500" y="4610100"/>
            <a:ext cx="9334500" cy="361950"/>
          </a:xfrm>
          <a:prstGeom prst="rect">
            <a:avLst/>
          </a:prstGeom>
          <a:noFill/>
        </p:spPr>
        <p:txBody>
          <a:bodyPr wrap="square" lIns="0" rIns="0" tIns="0" bIns="0">
            <a:spAutoFit/>
          </a:bodyPr>
          <a:lstStyle/>
          <a:p>
            <a:pPr algn="l"/>
            <a:r>
              <a:rPr sz="1250" b="0">
                <a:solidFill>
                  <a:srgbClr val="566682"/>
                </a:solidFill>
                <a:latin typeface="Arial"/>
              </a:rPr>
              <a:t>The final evaluation combined accuracy with regret, SBS/VBS, gap closed, zero-regret rate, source-aware checks, and leave-one-domain-out testing.</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28750" y="5810250"/>
            <a:ext cx="9334500" cy="209550"/>
          </a:xfrm>
          <a:prstGeom prst="rect">
            <a:avLst/>
          </a:prstGeom>
          <a:noFill/>
        </p:spPr>
        <p:txBody>
          <a:bodyPr wrap="none" lIns="0" rIns="0" tIns="0" bIns="0">
            <a:spAutoFit/>
          </a:bodyPr>
          <a:lstStyle/>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23/24</a:t>
            </a:r>
          </a:p>
        </p:txBody>
      </p:sp>
      <p:sp>
        <p:nvSpPr>
          <p:cNvPr id="6" name="TextBox 5"/>
          <p:cNvSpPr txBox="1"/>
          <p:nvPr/>
        </p:nvSpPr>
        <p:spPr>
          <a:xfrm>
            <a:off x="647700" y="533400"/>
            <a:ext cx="9715500" cy="361950"/>
          </a:xfrm>
          <a:prstGeom prst="rect">
            <a:avLst/>
          </a:prstGeom>
          <a:noFill/>
        </p:spPr>
        <p:txBody>
          <a:bodyPr wrap="none" lIns="0" rIns="0" tIns="0" bIns="0">
            <a:spAutoFit/>
          </a:bodyPr>
          <a:lstStyle/>
          <a:p>
            <a:pPr algn="l"/>
            <a:r>
              <a:rPr sz="2700" b="1">
                <a:solidFill>
                  <a:srgbClr val="191919"/>
                </a:solidFill>
                <a:latin typeface="Arial"/>
              </a:rPr>
              <a:t>Limitations and Future Work</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 y="1200150"/>
            <a:ext cx="10287000" cy="209550"/>
          </a:xfrm>
          <a:prstGeom prst="rect">
            <a:avLst/>
          </a:prstGeom>
          <a:noFill/>
        </p:spPr>
        <p:txBody>
          <a:bodyPr wrap="none" lIns="0" rIns="0" tIns="0" bIns="0">
            <a:spAutoFit/>
          </a:bodyPr>
          <a:lstStyle/>
          <a:p>
            <a:r>
              <a:t>The result is limited by the experimental scope of the thesis.</a:t>
            </a:r>
          </a:p>
        </p:txBody>
      </p:sp>
      <p:sp>
        <p:nvSpPr>
          <p:cNvPr id="9" name="Rectangle 8"/>
          <p:cNvSpPr/>
          <p:nvPr/>
        </p:nvSpPr>
        <p:spPr>
          <a:xfrm>
            <a:off x="1190625" y="2143125"/>
            <a:ext cx="4381500" cy="28575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38275" y="2390775"/>
            <a:ext cx="3886200" cy="228600"/>
          </a:xfrm>
          <a:prstGeom prst="rect">
            <a:avLst/>
          </a:prstGeom>
          <a:noFill/>
        </p:spPr>
        <p:txBody>
          <a:bodyPr wrap="none" lIns="0" rIns="0" tIns="0" bIns="0">
            <a:spAutoFit/>
          </a:bodyPr>
          <a:lstStyle/>
          <a:p>
            <a:pPr algn="l"/>
            <a:r>
              <a:rPr sz="1800" b="1">
                <a:solidFill>
                  <a:srgbClr val="F4511E"/>
                </a:solidFill>
                <a:latin typeface="Arial"/>
              </a:rPr>
              <a:t>Limitations</a:t>
            </a:r>
          </a:p>
        </p:txBody>
      </p:sp>
      <p:sp>
        <p:nvSpPr>
          <p:cNvPr id="11" name="TextBox 10"/>
          <p:cNvSpPr txBox="1"/>
          <p:nvPr/>
        </p:nvSpPr>
        <p:spPr>
          <a:xfrm>
            <a:off x="1514475" y="2867025"/>
            <a:ext cx="3733800" cy="285750"/>
          </a:xfrm>
          <a:prstGeom prst="rect">
            <a:avLst/>
          </a:prstGeom>
          <a:noFill/>
        </p:spPr>
        <p:txBody>
          <a:bodyPr wrap="square" lIns="0" rIns="0" tIns="0" bIns="0">
            <a:spAutoFit/>
          </a:bodyPr>
          <a:lstStyle/>
          <a:p>
            <a:pPr algn="l"/>
            <a:r>
              <a:rPr sz="1250" b="0">
                <a:solidFill>
                  <a:srgbClr val="FFFFFF"/>
                </a:solidFill>
                <a:latin typeface="Arial"/>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rIns="0" tIns="0" bIns="0">
            <a:spAutoFit/>
          </a:bodyPr>
          <a:lstStyle/>
          <a:p>
            <a:pPr algn="l"/>
            <a:r>
              <a:rPr sz="1250" b="0">
                <a:solidFill>
                  <a:srgbClr val="FFFFFF"/>
                </a:solidFill>
                <a:latin typeface="Arial"/>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rIns="0" tIns="0" bIns="0">
            <a:spAutoFit/>
          </a:bodyPr>
          <a:lstStyle/>
          <a:p>
            <a:pPr algn="l"/>
            <a:r>
              <a:rPr sz="1250" b="0">
                <a:solidFill>
                  <a:srgbClr val="FFFFFF"/>
                </a:solidFill>
                <a:latin typeface="Arial"/>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rIns="0" tIns="0" bIns="0">
            <a:spAutoFit/>
          </a:bodyPr>
          <a:lstStyle/>
          <a:p>
            <a:pPr algn="l"/>
            <a:r>
              <a:rPr sz="1250" b="0">
                <a:solidFill>
                  <a:srgbClr val="FFFFFF"/>
                </a:solidFill>
                <a:latin typeface="Arial"/>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67525" y="2390775"/>
            <a:ext cx="3886200" cy="228600"/>
          </a:xfrm>
          <a:prstGeom prst="rect">
            <a:avLst/>
          </a:prstGeom>
          <a:noFill/>
        </p:spPr>
        <p:txBody>
          <a:bodyPr wrap="none" lIns="0" rIns="0" tIns="0" bIns="0">
            <a:spAutoFit/>
          </a:bodyPr>
          <a:lstStyle/>
          <a:p>
            <a:pPr algn="l"/>
            <a:r>
              <a:rPr sz="1800" b="1">
                <a:solidFill>
                  <a:srgbClr val="191919"/>
                </a:solidFill>
                <a:latin typeface="Arial"/>
              </a:rPr>
              <a:t>Future work</a:t>
            </a:r>
          </a:p>
        </p:txBody>
      </p:sp>
      <p:sp>
        <p:nvSpPr>
          <p:cNvPr id="17" name="TextBox 16"/>
          <p:cNvSpPr txBox="1"/>
          <p:nvPr/>
        </p:nvSpPr>
        <p:spPr>
          <a:xfrm>
            <a:off x="6943725" y="2867025"/>
            <a:ext cx="3733800" cy="285750"/>
          </a:xfrm>
          <a:prstGeom prst="rect">
            <a:avLst/>
          </a:prstGeom>
          <a:noFill/>
        </p:spPr>
        <p:txBody>
          <a:bodyPr wrap="square" lIns="0" rIns="0" tIns="0" bIns="0">
            <a:spAutoFit/>
          </a:bodyPr>
          <a:lstStyle/>
          <a:p>
            <a:pPr algn="l"/>
            <a:r>
              <a:rPr sz="1250" b="0">
                <a:solidFill>
                  <a:srgbClr val="566682"/>
                </a:solidFill>
                <a:latin typeface="Arial"/>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rIns="0" tIns="0" bIns="0">
            <a:spAutoFit/>
          </a:bodyPr>
          <a:lstStyle/>
          <a:p>
            <a:pPr algn="l"/>
            <a:r>
              <a:rPr sz="1250" b="0">
                <a:solidFill>
                  <a:srgbClr val="566682"/>
                </a:solidFill>
                <a:latin typeface="Arial"/>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rIns="0" tIns="0" bIns="0">
            <a:spAutoFit/>
          </a:bodyPr>
          <a:lstStyle/>
          <a:p>
            <a:pPr algn="l"/>
            <a:r>
              <a:rPr sz="1250" b="0">
                <a:solidFill>
                  <a:srgbClr val="566682"/>
                </a:solidFill>
                <a:latin typeface="Arial"/>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rIns="0" tIns="0" bIns="0">
            <a:spAutoFit/>
          </a:bodyPr>
          <a:lstStyle/>
          <a:p>
            <a:pPr algn="l"/>
            <a:r>
              <a:rPr sz="1250" b="0">
                <a:solidFill>
                  <a:srgbClr val="566682"/>
                </a:solidFill>
                <a:latin typeface="Arial"/>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rIns="0" tIns="0" bIns="0">
            <a:spAutoFit/>
          </a:bodyPr>
          <a:lstStyle/>
          <a:p>
            <a:r>
              <a:t>The next step is broader validation under realistic deployment conditions.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2333</Words>
  <Application>Microsoft Macintosh PowerPoint</Application>
  <PresentationFormat>Widescreen</PresentationFormat>
  <Paragraphs>308</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 Sans</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2</cp:revision>
  <dcterms:created xsi:type="dcterms:W3CDTF">2026-06-30T17:56:25Z</dcterms:created>
  <dcterms:modified xsi:type="dcterms:W3CDTF">2026-07-01T08:28:38Z</dcterms:modified>
  <cp:category/>
  <cp:contentStatus/>
  <dc:language/>
</cp:coreProperties>
</file>