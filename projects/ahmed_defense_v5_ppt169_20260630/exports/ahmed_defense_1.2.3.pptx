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63" r:id="rId8"/>
    <p:sldId id="264" r:id="rId9"/>
    <p:sldId id="265" r:id="rId10"/>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3/25</a:t>
            </a:r>
            <a:endParaRPr sz="600"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04234" y="6620256"/>
            <a:ext cx="447558" cy="253916"/>
          </a:xfrm>
          <a:prstGeom prst="rect">
            <a:avLst/>
          </a:prstGeom>
          <a:noFill/>
        </p:spPr>
        <p:txBody>
          <a:bodyPr wrap="none">
            <a:spAutoFit/>
          </a:bodyPr>
          <a:lstStyle/>
          <a:p>
            <a:pPr algn="r"/>
            <a:r>
              <a:rPr sz="1000" dirty="0">
                <a:solidFill>
                  <a:srgbClr val="FFFFFF"/>
                </a:solidFill>
                <a:latin typeface="Arial"/>
              </a:rPr>
              <a:t>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10/25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14/25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15/25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16/25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8892" y="6620256"/>
            <a:ext cx="522900" cy="253916"/>
          </a:xfrm>
          <a:prstGeom prst="rect">
            <a:avLst/>
          </a:prstGeom>
          <a:noFill/>
        </p:spPr>
        <p:txBody>
          <a:bodyPr wrap="none">
            <a:spAutoFit/>
          </a:bodyPr>
          <a:lstStyle/>
          <a:p>
            <a:pPr algn="r"/>
            <a:r>
              <a:rPr sz="1050" dirty="0">
                <a:solidFill>
                  <a:srgbClr val="FFFFFF"/>
                </a:solidFill>
                <a:latin typeface="Arial"/>
              </a:rPr>
              <a:t>19/25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20/25</a:t>
            </a:r>
            <a:endParaRPr sz="600" dirty="0">
              <a:solidFill>
                <a:srgbClr val="FFFFFF"/>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t>A compact pipeline combines sixteen O(n) structural features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dirty="0"/>
              <a:t>Source-level separation, near-tie filtering, LODO testing, and regret metrics give a stronger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t>One source-of-truth feature extractor,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23/25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9" name="Rectangle 8"/>
          <p:cNvSpPr/>
          <p:nvPr/>
        </p:nvSpPr>
        <p:spPr>
          <a:xfrm>
            <a:off x="1190625" y="2143125"/>
            <a:ext cx="4381500" cy="3001518"/>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r>
              <a:t>portfolio limited to three C-level comparison sorts</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r>
              <a:t>absolute regret tied to one hardware/software environment</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r>
              <a:rPr dirty="0" err="1"/>
              <a:t>LinUCB</a:t>
            </a:r>
            <a:r>
              <a:rPr dirty="0"/>
              <a:t> contextual bandit designed but not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r>
              <a:rPr dirty="0"/>
              <a:t>feature extraction becomes unprofitable below about 1,000 elements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r>
              <a:t>larger portfolios: Powersort, radix/bucket guards, SIMD/GPU sorts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r>
              <a:t>validated LinUCB under gradual and abrupt distribution shift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r>
              <a:t>domain embeddings and stricter channel-level routing evaluation</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r>
              <a:t>cross-platform deployment with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t>Future work extends the portfolio, adaptation, and generalisation axes while preserving cost-aware evaluation.</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24/25</a:t>
            </a:r>
            <a:endParaRPr sz="600" dirty="0">
              <a:solidFill>
                <a:srgbClr val="FFFFFF"/>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25/25</a:t>
            </a:r>
            <a:endParaRPr sz="600" dirty="0">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