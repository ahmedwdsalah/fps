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9" r:id="rId5"/>
    <p:sldId id="265" r:id="rId10"/>
    <p:sldId id="258" r:id="rId12"/>
    <p:sldId id="266" r:id="rId13"/>
    <p:sldId id="262" r:id="rId7"/>
    <p:sldId id="274" r:id="rId20"/>
    <p:sldId id="282" r:id="rId32"/>
    <p:sldId id="264" r:id="rId9"/>
    <p:sldId id="273" r:id="rId19"/>
    <p:sldId id="263" r:id="rId8"/>
    <p:sldId id="284" r:id="rId34"/>
    <p:sldId id="283" r:id="rId33"/>
    <p:sldId id="285" r:id="rId35"/>
    <p:sldId id="286" r:id="rId36"/>
    <p:sldId id="275" r:id="rId22"/>
    <p:sldId id="268" r:id="rId14"/>
    <p:sldId id="269" r:id="rId15"/>
    <p:sldId id="271" r:id="rId17"/>
    <p:sldId id="270" r:id="rId16"/>
    <p:sldId id="272" r:id="rId18"/>
    <p:sldId id="281" r:id="rId21"/>
    <p:sldId id="277" r:id="rId24"/>
    <p:sldId id="278" r:id="rId25"/>
    <p:sldId id="276" r:id="rId23"/>
    <p:sldId id="279"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442"/>
    <p:restoredTop sz="94659"/>
  </p:normalViewPr>
  <p:slideViewPr>
    <p:cSldViewPr snapToGrid="0" snapToObjects="1">
      <p:cViewPr varScale="1">
        <p:scale>
          <a:sx n="146" d="100"/>
          <a:sy n="146" d="100"/>
        </p:scale>
        <p:origin x="118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5.xml"/><Relationship Id="rId12" Type="http://schemas.openxmlformats.org/officeDocument/2006/relationships/slide" Target="slides/slide16.xml"/><Relationship Id="rId13" Type="http://schemas.openxmlformats.org/officeDocument/2006/relationships/slide" Target="slides/slide17.xml"/><Relationship Id="rId14" Type="http://schemas.openxmlformats.org/officeDocument/2006/relationships/slide" Target="slides/slide18.xml"/><Relationship Id="rId15" Type="http://schemas.openxmlformats.org/officeDocument/2006/relationships/slide" Target="slides/slide19.xml"/><Relationship Id="rId16" Type="http://schemas.openxmlformats.org/officeDocument/2006/relationships/slide" Target="slides/slide20.xml"/><Relationship Id="rId17" Type="http://schemas.openxmlformats.org/officeDocument/2006/relationships/slide" Target="slides/slide21.xml"/><Relationship Id="rId18" Type="http://schemas.openxmlformats.org/officeDocument/2006/relationships/slide" Target="slides/slide22.xml"/><Relationship Id="rId19" Type="http://schemas.openxmlformats.org/officeDocument/2006/relationships/slide" Target="slides/slide23.xml"/><Relationship Id="rId20" Type="http://schemas.openxmlformats.org/officeDocument/2006/relationships/slide" Target="slides/slide24.xml"/><Relationship Id="rId21" Type="http://schemas.openxmlformats.org/officeDocument/2006/relationships/slide" Target="slides/slide25.xml"/><Relationship Id="rId22" Type="http://schemas.openxmlformats.org/officeDocument/2006/relationships/slide" Target="slides/slide26.xml"/><Relationship Id="rId23" Type="http://schemas.openxmlformats.org/officeDocument/2006/relationships/slide" Target="slides/slide27.xml"/><Relationship Id="rId24" Type="http://schemas.openxmlformats.org/officeDocument/2006/relationships/slide" Target="slides/slide28.xml"/><Relationship Id="rId25" Type="http://schemas.openxmlformats.org/officeDocument/2006/relationships/slide" Target="slides/slide29.xml"/><Relationship Id="rId26" Type="http://schemas.openxmlformats.org/officeDocument/2006/relationships/slide" Target="slides/slide30.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openxmlformats.org/officeDocument/2006/relationships/slide" Target="slides/slide7.xml"/><Relationship Id="rId33" Type="http://schemas.openxmlformats.org/officeDocument/2006/relationships/slide" Target="slides/slide11.xml"/><Relationship Id="rId34" Type="http://schemas.openxmlformats.org/officeDocument/2006/relationships/slide" Target="slides/slide12.xml"/><Relationship Id="rId35" Type="http://schemas.openxmlformats.org/officeDocument/2006/relationships/slide" Target="slides/slide13.xml"/><Relationship Id="rId36"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thesis is about a small decision that happens before sorting: which implementation should we use for this input array. I will keep coming back to three numbers: the model closes 93.1 percent of the runtime gap, reaches 76.1 percent test accuracy, and makes zero-regret decisions for 89.6 percent of the test cases.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first explain the task and why it matters. Then I will explain the data, the extracted features, and the model. After that I will defend the result with runtime metrics, then show the limits and what I do not claim.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matters because the same input size can have different structure. A sorted-like array, random array, and duplicated array can reward different algorithms. So the useful target is not only classification accuracy; it is how much runtime loss we avoid compared with the best per-input choice.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connects to algorithm selection, adaptive sorting, and learned performance prediction. I am not presenting literature as a separate survey. I use it to position the task: previous work gives the idea of selecting from features, and this thesis applies that idea to measured sorting behavior.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built from five domains: F1 telemetry, stock, crypto, earthquake, and weather. The reason for using multiple domains was to avoid building a selector that only understands one family of arrays.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domain, I generated transformed arrays and measured runtime across the three sorting algorithms. The label is not guessed; it is the fastest measured algorithm for that instance. The transformations create raw, reversed, shuffled, quantized, and partially sorted cases.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features are the bridge between the raw array and the model. They describe scale, order, duplicates, runs, inversions, and distribution. The important point is that these are structural features, not timing features.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prediction time, the selector cannot sort the array with all three algorithms and then choose the fastest. That would be the oracle, not a usable method. The selector must use cheaper information from the input before sorting.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is deliberately limited to three real implementations: introsort, heapsort, and timsort. The model is not choosing from every sorting algorithm in theory. It is choosing from the measured implementations in this experiment.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not to invent a new sorting algorithm. The task is: given one array before sorting, choose introsort, heapsort, or timsort. The model sees cheap structural features and outputs one algorithm choice.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system is v5. It is one general XGBoost classifier trained across all domains and choosing among the three algorithms. The F1-specific route is separate and I will only mention it as a specialization, not the main result.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came after earlier paths were rejected. Regression was not strong enough, timing features were not deployable, and strict checks changed the interpretation. v5 became the main model because it gave the best practical balance under the submitted evaluation.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SBS means one algorithm used for all test inputs. VBS means the fastest measured algorithm per input, which is an oracle for evaluation. The model is judged by how close it gets to VBS without having oracle information at prediction time.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is runtime value: v5 closes 93.1 percent of the gap between SBS and VBS. Accuracy is 76.1 percent, but this does not tell the whole story. The zero-regret rate is 89.6 percent, which shows many decisions are either correct or not costly.</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I do not defend the model only as a classifier. Some label mistakes happen between algorithms whose measured runtimes are very close. In those cases, the label is wrong, but the runtime regret is small.</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that timsort is often easier to identify when order signals are strong. The harder boundary is between introsort and heapsort because their runtime behavior is often closer. This is a limitation, but it is also why regret is necessary.</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shows that the model is using structural signals. This supports the method because the important features relate back to the properties that sorting algorithms react to: order, duplicates, distribution, and size.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holdout is stricter because the held-out domain is unseen during training. The weighted gap closed is 79.7 percent. F1 is harder than the other domains, and that is why the F1-specific route exists separately.</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 results are part of the rigor. v6 checked source-awareness, v7 showed that a regret-aware attempt did not improve the final result, and v8 showed that the intro-versus-heap boundary remains difficult. These results keep the claim measured.</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claim is that v5 closes most of the measured runtime gap with cheap structural features and known limitations. I do not claim a perfect classifier, I do not claim the F1 route is the main result, and I do not claim LinUCB is validated in this thesis.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framing, the data and feature pipeline, and the measured selector result. The future work is stronger domain adaptation, validated online selection, and deeper F1-specific evaluation.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grpSp>
        <p:nvGrpSpPr>
          <p:cNvPr id="7" name="Group 7"/>
          <p:cNvGrpSpPr/>
          <p:nvPr/>
        </p:nvGrpSpPr>
        <p:grpSpPr>
          <a:xfrm>
            <a:off x="0" y="19812"/>
            <a:ext cx="12192000" cy="6858000"/>
            <a:chOff x="0" y="0"/>
            <a:chExt cx="12192000" cy="6858000"/>
          </a:xfrm>
        </p:grpSpPr>
        <p:sp>
          <p:nvSpPr>
            <p:cNvPr id="3" name="Rectangle 3"/>
            <p:cNvSpPr/>
            <p:nvPr/>
          </p:nvSpPr>
          <p:spPr>
            <a:xfrm>
              <a:off x="0" y="0"/>
              <a:ext cx="12192000" cy="6858000"/>
            </a:xfrm>
            <a:prstGeom prst="rect">
              <a:avLst/>
            </a:prstGeom>
            <a:solidFill>
              <a:srgbClr val="FFFFFF"/>
            </a:solidFill>
            <a:ln>
              <a:noFill/>
            </a:ln>
          </p:spPr>
        </p:sp>
        <p:sp>
          <p:nvSpPr>
            <p:cNvPr id="4" name="Freeform 4"/>
            <p:cNvSpPr/>
            <p:nvPr/>
          </p:nvSpPr>
          <p:spPr>
            <a:xfrm>
              <a:off x="0" y="0"/>
              <a:ext cx="12192000" cy="819150"/>
            </a:xfrm>
            <a:custGeom>
              <a:avLst/>
              <a:gdLst/>
              <a:ahLst/>
              <a:cxnLst/>
              <a:rect l="l" t="t" r="r" b="b"/>
              <a:pathLst>
                <a:path w="12192000" h="819150">
                  <a:moveTo>
                    <a:pt x="0" y="0"/>
                  </a:moveTo>
                  <a:lnTo>
                    <a:pt x="12192000" y="0"/>
                  </a:lnTo>
                  <a:lnTo>
                    <a:pt x="12192000" y="819150"/>
                  </a:lnTo>
                  <a:lnTo>
                    <a:pt x="0" y="819150"/>
                  </a:lnTo>
                  <a:close/>
                </a:path>
              </a:pathLst>
            </a:custGeom>
            <a:solidFill>
              <a:srgbClr val="8F1D3A"/>
            </a:solidFill>
            <a:ln>
              <a:noFill/>
            </a:ln>
          </p:spPr>
        </p:sp>
        <p:sp>
          <p:nvSpPr>
            <p:cNvPr id="5" name="Freeform 5"/>
            <p:cNvSpPr/>
            <p:nvPr/>
          </p:nvSpPr>
          <p:spPr>
            <a:xfrm>
              <a:off x="0" y="819150"/>
              <a:ext cx="12192000" cy="133350"/>
            </a:xfrm>
            <a:custGeom>
              <a:avLst/>
              <a:gdLst/>
              <a:ahLst/>
              <a:cxnLst/>
              <a:rect l="l" t="t" r="r" b="b"/>
              <a:pathLst>
                <a:path w="12192000" h="133350">
                  <a:moveTo>
                    <a:pt x="0" y="0"/>
                  </a:moveTo>
                  <a:lnTo>
                    <a:pt x="12192000" y="0"/>
                  </a:lnTo>
                  <a:lnTo>
                    <a:pt x="12192000" y="133350"/>
                  </a:lnTo>
                  <a:lnTo>
                    <a:pt x="0" y="133350"/>
                  </a:lnTo>
                  <a:close/>
                </a:path>
              </a:pathLst>
            </a:custGeom>
            <a:solidFill>
              <a:srgbClr val="F4511E"/>
            </a:solidFill>
            <a:ln>
              <a:noFill/>
            </a:ln>
          </p:spPr>
        </p:sp>
        <p:sp>
          <p:nvSpPr>
            <p:cNvPr id="6" name="Freeform 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grpSp>
      <p:pic>
        <p:nvPicPr>
          <p:cNvPr id="8" name="Image 8"/>
          <p:cNvPicPr>
            <a:picLocks noChangeAspect="1"/>
          </p:cNvPicPr>
          <p:nvPr/>
        </p:nvPicPr>
        <p:blipFill>
          <a:blip r:embed="rId3"/>
          <a:stretch>
            <a:fillRect/>
          </a:stretch>
        </p:blipFill>
        <p:spPr>
          <a:xfrm>
            <a:off x="10515600" y="114300"/>
            <a:ext cx="590550" cy="590550"/>
          </a:xfrm>
          <a:prstGeom prst="rect">
            <a:avLst/>
          </a:prstGeom>
        </p:spPr>
      </p:pic>
      <p:grpSp>
        <p:nvGrpSpPr>
          <p:cNvPr id="13" name="Group 13"/>
          <p:cNvGrpSpPr/>
          <p:nvPr/>
        </p:nvGrpSpPr>
        <p:grpSpPr>
          <a:xfrm>
            <a:off x="1066799" y="1658112"/>
            <a:ext cx="10058400" cy="1554194"/>
            <a:chOff x="1066800" y="2179606"/>
            <a:chExt cx="10058400" cy="1554194"/>
          </a:xfrm>
        </p:grpSpPr>
        <p:sp>
          <p:nvSpPr>
            <p:cNvPr id="9" name="TextBox 9"/>
            <p:cNvSpPr txBox="1"/>
            <p:nvPr/>
          </p:nvSpPr>
          <p:spPr>
            <a:xfrm>
              <a:off x="1691011" y="2179606"/>
              <a:ext cx="8809912" cy="738664"/>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MACHINE LEARNING BASED ALGORITHM SELECTION FOR</a:t>
              </a:r>
            </a:p>
            <a:p>
              <a:pPr algn="ctr"/>
              <a:endParaRPr lang="en-US" sz="2400" b="1" dirty="0">
                <a:solidFill>
                  <a:srgbClr val="191919"/>
                </a:solidFill>
                <a:latin typeface="Arial"/>
                <a:ea typeface="Arial"/>
                <a:cs typeface="Arial"/>
              </a:endParaRPr>
            </a:p>
          </p:txBody>
        </p:sp>
        <p:sp>
          <p:nvSpPr>
            <p:cNvPr id="10" name="TextBox 10"/>
            <p:cNvSpPr txBox="1"/>
            <p:nvPr/>
          </p:nvSpPr>
          <p:spPr>
            <a:xfrm>
              <a:off x="6095967" y="2407920"/>
              <a:ext cx="64" cy="369332"/>
            </a:xfrm>
            <a:prstGeom prst="rect">
              <a:avLst/>
            </a:prstGeom>
            <a:noFill/>
            <a:ln>
              <a:noFill/>
            </a:ln>
          </p:spPr>
          <p:txBody>
            <a:bodyPr wrap="none" lIns="0" tIns="0" rIns="0" bIns="0" anchor="t" anchorCtr="0">
              <a:spAutoFit/>
            </a:bodyPr>
            <a:lstStyle/>
            <a:p>
              <a:pPr algn="ctr"/>
              <a:endParaRPr lang="en-US" sz="2400" b="1" dirty="0">
                <a:solidFill>
                  <a:srgbClr val="191919"/>
                </a:solidFill>
                <a:latin typeface="Arial"/>
                <a:ea typeface="Arial"/>
                <a:cs typeface="Arial"/>
              </a:endParaRPr>
            </a:p>
          </p:txBody>
        </p:sp>
        <p:sp>
          <p:nvSpPr>
            <p:cNvPr id="11" name="TextBox 11"/>
            <p:cNvSpPr txBox="1"/>
            <p:nvPr/>
          </p:nvSpPr>
          <p:spPr>
            <a:xfrm>
              <a:off x="3470648" y="2817829"/>
              <a:ext cx="5250637" cy="469392"/>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SORTING NUMERIC ARRAYS</a:t>
              </a:r>
            </a:p>
          </p:txBody>
        </p:sp>
        <p:sp>
          <p:nvSpPr>
            <p:cNvPr id="12" name="Rectangle 12"/>
            <p:cNvSpPr/>
            <p:nvPr/>
          </p:nvSpPr>
          <p:spPr>
            <a:xfrm>
              <a:off x="1066800" y="3714750"/>
              <a:ext cx="10058400" cy="19050"/>
            </a:xfrm>
            <a:prstGeom prst="rect">
              <a:avLst/>
            </a:prstGeom>
            <a:solidFill>
              <a:srgbClr val="8F1D3A"/>
            </a:solidFill>
            <a:ln>
              <a:noFill/>
            </a:ln>
          </p:spPr>
        </p:sp>
      </p:grpSp>
      <p:grpSp>
        <p:nvGrpSpPr>
          <p:cNvPr id="18" name="Group 18"/>
          <p:cNvGrpSpPr/>
          <p:nvPr/>
        </p:nvGrpSpPr>
        <p:grpSpPr>
          <a:xfrm>
            <a:off x="3234551" y="3728513"/>
            <a:ext cx="5486733" cy="1496377"/>
            <a:chOff x="3352633" y="4649629"/>
            <a:chExt cx="5486733" cy="1496377"/>
          </a:xfrm>
        </p:grpSpPr>
        <p:sp>
          <p:nvSpPr>
            <p:cNvPr id="14" name="TextBox 14"/>
            <p:cNvSpPr txBox="1"/>
            <p:nvPr/>
          </p:nvSpPr>
          <p:spPr>
            <a:xfrm>
              <a:off x="5394030" y="4649629"/>
              <a:ext cx="1403939"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Presented by</a:t>
              </a:r>
            </a:p>
          </p:txBody>
        </p:sp>
        <p:sp>
          <p:nvSpPr>
            <p:cNvPr id="15" name="TextBox 15"/>
            <p:cNvSpPr txBox="1"/>
            <p:nvPr/>
          </p:nvSpPr>
          <p:spPr>
            <a:xfrm>
              <a:off x="3352633" y="4941094"/>
              <a:ext cx="5486733"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AHMED SALAH ABDALHI MOHAMMED</a:t>
              </a:r>
            </a:p>
          </p:txBody>
        </p:sp>
        <p:sp>
          <p:nvSpPr>
            <p:cNvPr id="16" name="TextBox 16"/>
            <p:cNvSpPr txBox="1"/>
            <p:nvPr/>
          </p:nvSpPr>
          <p:spPr>
            <a:xfrm>
              <a:off x="5363058" y="5487829"/>
              <a:ext cx="146588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Supervised by</a:t>
              </a:r>
            </a:p>
          </p:txBody>
        </p:sp>
        <p:sp>
          <p:nvSpPr>
            <p:cNvPr id="17" name="TextBox 17"/>
            <p:cNvSpPr txBox="1"/>
            <p:nvPr/>
          </p:nvSpPr>
          <p:spPr>
            <a:xfrm>
              <a:off x="3995259" y="5779294"/>
              <a:ext cx="4201482"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Assoc. Prof. Dr. Emre Özbilge</a:t>
              </a:r>
            </a:p>
          </p:txBody>
        </p:sp>
      </p:grpSp>
      <p:sp>
        <p:nvSpPr>
          <p:cNvPr id="20" name="Rectangle 1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1250000" y="6619000"/>
            <a:ext cx="640000" cy="180000"/>
          </a:xfrm>
          <a:prstGeom prst="rect">
            <a:avLst/>
          </a:prstGeom>
          <a:noFill/>
        </p:spPr>
        <p:txBody>
          <a:bodyPr wrap="none" lIns="0" rIns="0" tIns="0" bIns="0" anchor="ctr">
            <a:spAutoFit/>
          </a:bodyPr>
          <a:lstStyle/>
          <a:p>
            <a:pPr algn="r"/>
            <a:r>
              <a:rPr sz="1000">
                <a:solidFill>
                  <a:srgbClr val="FFFFFF"/>
                </a:solidFill>
              </a:rPr>
              <a:t>1/26</a:t>
            </a:r>
          </a:p>
        </p:txBody>
      </p:sp>
      <p:sp>
        <p:nvSpPr>
          <p:cNvPr id="28" name="Rectangle 27"/>
          <p:cNvSpPr/>
          <p:nvPr/>
        </p:nvSpPr>
        <p:spPr>
          <a:xfrm>
            <a:off x="11387328" y="6611112"/>
            <a:ext cx="685800" cy="201168"/>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387328" y="6611112"/>
            <a:ext cx="685800" cy="201168"/>
          </a:xfrm>
          <a:prstGeom prst="rect">
            <a:avLst/>
          </a:prstGeom>
          <a:noFill/>
        </p:spPr>
        <p:txBody>
          <a:bodyPr wrap="none" lIns="0" rIns="0" tIns="0" bIns="0" anchor="ctr">
            <a:spAutoFit/>
          </a:bodyPr>
          <a:lstStyle/>
          <a:p>
            <a:pPr algn="r"/>
            <a:r>
              <a:rPr sz="1000">
                <a:solidFill>
                  <a:srgbClr val="FFFFFF"/>
                </a:solidFill>
                <a:latin typeface="Arial"/>
              </a:rPr>
              <a:t>1/26</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par>
                          <p:cTn id="8" fill="hold">
                            <p:stCondLst>
                              <p:cond delay="47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26" name="Freeform 2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8" name="Slide title - Presentation Outline"/>
          <p:cNvSpPr txBox="1"/>
          <p:nvPr/>
        </p:nvSpPr>
        <p:spPr>
          <a:xfrm>
            <a:off x="647700" y="533400"/>
            <a:ext cx="5905500" cy="457200"/>
          </a:xfrm>
          <a:prstGeom prst="rect">
            <a:avLst/>
          </a:prstGeom>
          <a:noFill/>
        </p:spPr>
        <p:txBody>
          <a:bodyPr wrap="none" lIns="0" tIns="0" rIns="0" bIns="0">
            <a:spAutoFit/>
          </a:bodyPr>
          <a:lstStyle/>
          <a:p>
            <a:r>
              <a:t>Presentation Outline</a:t>
            </a:r>
          </a:p>
        </p:txBody>
      </p:sp>
      <p:sp>
        <p:nvSpPr>
          <p:cNvPr id="29" name="Outline horizontal rule"/>
          <p:cNvSpPr/>
          <p:nvPr/>
        </p:nvSpPr>
        <p:spPr>
          <a:xfrm>
            <a:off x="647700" y="1123950"/>
            <a:ext cx="10896600" cy="13335"/>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utline number 01"/>
          <p:cNvSpPr txBox="1"/>
          <p:nvPr/>
        </p:nvSpPr>
        <p:spPr>
          <a:xfrm>
            <a:off x="1123950" y="1733550"/>
            <a:ext cx="552450" cy="285750"/>
          </a:xfrm>
          <a:prstGeom prst="rect">
            <a:avLst/>
          </a:prstGeom>
          <a:noFill/>
        </p:spPr>
        <p:txBody>
          <a:bodyPr wrap="none" lIns="0" tIns="0" rIns="0" bIns="0">
            <a:spAutoFit/>
          </a:bodyPr>
          <a:lstStyle/>
          <a:p>
            <a:pPr algn="l"/>
            <a:r>
              <a:rPr sz="1500" b="1">
                <a:solidFill>
                  <a:srgbClr val="8F1D3A"/>
                </a:solidFill>
                <a:latin typeface="Arial"/>
              </a:rPr>
              <a:t>01</a:t>
            </a:r>
          </a:p>
        </p:txBody>
      </p:sp>
      <p:sp>
        <p:nvSpPr>
          <p:cNvPr id="31" name="Outline item 01"/>
          <p:cNvSpPr txBox="1"/>
          <p:nvPr/>
        </p:nvSpPr>
        <p:spPr>
          <a:xfrm>
            <a:off x="1809750" y="1695450"/>
            <a:ext cx="4191000" cy="400050"/>
          </a:xfrm>
          <a:prstGeom prst="rect">
            <a:avLst/>
          </a:prstGeom>
          <a:noFill/>
        </p:spPr>
        <p:txBody>
          <a:bodyPr wrap="none" lIns="0" tIns="0" rIns="0" bIns="0">
            <a:spAutoFit/>
          </a:bodyPr>
          <a:lstStyle/>
          <a:p>
            <a:r>
              <a:t>Problem, Motivation, and Prior Work</a:t>
            </a:r>
          </a:p>
        </p:txBody>
      </p:sp>
      <p:sp>
        <p:nvSpPr>
          <p:cNvPr id="32" name="Outline item rule 01"/>
          <p:cNvSpPr/>
          <p:nvPr/>
        </p:nvSpPr>
        <p:spPr>
          <a:xfrm>
            <a:off x="18097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utline number 02"/>
          <p:cNvSpPr txBox="1"/>
          <p:nvPr/>
        </p:nvSpPr>
        <p:spPr>
          <a:xfrm>
            <a:off x="1123950" y="2857500"/>
            <a:ext cx="552450" cy="285750"/>
          </a:xfrm>
          <a:prstGeom prst="rect">
            <a:avLst/>
          </a:prstGeom>
          <a:noFill/>
        </p:spPr>
        <p:txBody>
          <a:bodyPr wrap="none" lIns="0" tIns="0" rIns="0" bIns="0">
            <a:spAutoFit/>
          </a:bodyPr>
          <a:lstStyle/>
          <a:p>
            <a:pPr algn="l"/>
            <a:r>
              <a:rPr sz="1500" b="1">
                <a:solidFill>
                  <a:srgbClr val="8F1D3A"/>
                </a:solidFill>
                <a:latin typeface="Arial"/>
              </a:rPr>
              <a:t>02</a:t>
            </a:r>
          </a:p>
        </p:txBody>
      </p:sp>
      <p:sp>
        <p:nvSpPr>
          <p:cNvPr id="34" name="Outline item 02"/>
          <p:cNvSpPr txBox="1"/>
          <p:nvPr/>
        </p:nvSpPr>
        <p:spPr>
          <a:xfrm>
            <a:off x="1809750" y="2819400"/>
            <a:ext cx="4191000" cy="400050"/>
          </a:xfrm>
          <a:prstGeom prst="rect">
            <a:avLst/>
          </a:prstGeom>
          <a:noFill/>
        </p:spPr>
        <p:txBody>
          <a:bodyPr wrap="none" lIns="0" tIns="0" rIns="0" bIns="0">
            <a:spAutoFit/>
          </a:bodyPr>
          <a:lstStyle/>
          <a:p>
            <a:r>
              <a:t>Data Collection, Labels, and Features</a:t>
            </a:r>
          </a:p>
        </p:txBody>
      </p:sp>
      <p:sp>
        <p:nvSpPr>
          <p:cNvPr id="35" name="Outline item rule 02"/>
          <p:cNvSpPr/>
          <p:nvPr/>
        </p:nvSpPr>
        <p:spPr>
          <a:xfrm>
            <a:off x="18097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utline number 03"/>
          <p:cNvSpPr txBox="1"/>
          <p:nvPr/>
        </p:nvSpPr>
        <p:spPr>
          <a:xfrm>
            <a:off x="1123950" y="3981450"/>
            <a:ext cx="552450" cy="285750"/>
          </a:xfrm>
          <a:prstGeom prst="rect">
            <a:avLst/>
          </a:prstGeom>
          <a:noFill/>
        </p:spPr>
        <p:txBody>
          <a:bodyPr wrap="none" lIns="0" tIns="0" rIns="0" bIns="0">
            <a:spAutoFit/>
          </a:bodyPr>
          <a:lstStyle/>
          <a:p>
            <a:pPr algn="l"/>
            <a:r>
              <a:rPr sz="1500" b="1">
                <a:solidFill>
                  <a:srgbClr val="8F1D3A"/>
                </a:solidFill>
                <a:latin typeface="Arial"/>
              </a:rPr>
              <a:t>03</a:t>
            </a:r>
          </a:p>
        </p:txBody>
      </p:sp>
      <p:sp>
        <p:nvSpPr>
          <p:cNvPr id="37" name="Outline item 03"/>
          <p:cNvSpPr txBox="1"/>
          <p:nvPr/>
        </p:nvSpPr>
        <p:spPr>
          <a:xfrm>
            <a:off x="1809750" y="3943350"/>
            <a:ext cx="4191000" cy="400050"/>
          </a:xfrm>
          <a:prstGeom prst="rect">
            <a:avLst/>
          </a:prstGeom>
          <a:noFill/>
        </p:spPr>
        <p:txBody>
          <a:bodyPr wrap="none" lIns="0" tIns="0" rIns="0" bIns="0">
            <a:spAutoFit/>
          </a:bodyPr>
          <a:lstStyle/>
          <a:p>
            <a:r>
              <a:t>Algorithm Selection Task and v5 Selector</a:t>
            </a:r>
          </a:p>
        </p:txBody>
      </p:sp>
      <p:sp>
        <p:nvSpPr>
          <p:cNvPr id="38" name="Outline item rule 03"/>
          <p:cNvSpPr/>
          <p:nvPr/>
        </p:nvSpPr>
        <p:spPr>
          <a:xfrm>
            <a:off x="18097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utline number 04"/>
          <p:cNvSpPr txBox="1"/>
          <p:nvPr/>
        </p:nvSpPr>
        <p:spPr>
          <a:xfrm>
            <a:off x="6496050" y="1733550"/>
            <a:ext cx="552450" cy="285750"/>
          </a:xfrm>
          <a:prstGeom prst="rect">
            <a:avLst/>
          </a:prstGeom>
          <a:noFill/>
        </p:spPr>
        <p:txBody>
          <a:bodyPr wrap="none" lIns="0" tIns="0" rIns="0" bIns="0">
            <a:spAutoFit/>
          </a:bodyPr>
          <a:lstStyle/>
          <a:p>
            <a:pPr algn="l"/>
            <a:r>
              <a:rPr sz="1500" b="1">
                <a:solidFill>
                  <a:srgbClr val="8F1D3A"/>
                </a:solidFill>
                <a:latin typeface="Arial"/>
              </a:rPr>
              <a:t>04</a:t>
            </a:r>
          </a:p>
        </p:txBody>
      </p:sp>
      <p:sp>
        <p:nvSpPr>
          <p:cNvPr id="40" name="Outline item 04"/>
          <p:cNvSpPr txBox="1"/>
          <p:nvPr/>
        </p:nvSpPr>
        <p:spPr>
          <a:xfrm>
            <a:off x="7181850" y="1695450"/>
            <a:ext cx="4191000" cy="400050"/>
          </a:xfrm>
          <a:prstGeom prst="rect">
            <a:avLst/>
          </a:prstGeom>
          <a:noFill/>
        </p:spPr>
        <p:txBody>
          <a:bodyPr wrap="none" lIns="0" tIns="0" rIns="0" bIns="0">
            <a:spAutoFit/>
          </a:bodyPr>
          <a:lstStyle/>
          <a:p>
            <a:r>
              <a:t>Evaluation: SBS, VBS, Regret</a:t>
            </a:r>
          </a:p>
        </p:txBody>
      </p:sp>
      <p:sp>
        <p:nvSpPr>
          <p:cNvPr id="41" name="Outline item rule 04"/>
          <p:cNvSpPr/>
          <p:nvPr/>
        </p:nvSpPr>
        <p:spPr>
          <a:xfrm>
            <a:off x="71818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utline number 05"/>
          <p:cNvSpPr txBox="1"/>
          <p:nvPr/>
        </p:nvSpPr>
        <p:spPr>
          <a:xfrm>
            <a:off x="6496050" y="2857500"/>
            <a:ext cx="552450" cy="285750"/>
          </a:xfrm>
          <a:prstGeom prst="rect">
            <a:avLst/>
          </a:prstGeom>
          <a:noFill/>
        </p:spPr>
        <p:txBody>
          <a:bodyPr wrap="none" lIns="0" tIns="0" rIns="0" bIns="0">
            <a:spAutoFit/>
          </a:bodyPr>
          <a:lstStyle/>
          <a:p>
            <a:pPr algn="l"/>
            <a:r>
              <a:rPr sz="1500" b="1">
                <a:solidFill>
                  <a:srgbClr val="8F1D3A"/>
                </a:solidFill>
                <a:latin typeface="Arial"/>
              </a:rPr>
              <a:t>05</a:t>
            </a:r>
          </a:p>
        </p:txBody>
      </p:sp>
      <p:sp>
        <p:nvSpPr>
          <p:cNvPr id="43" name="Outline item 05"/>
          <p:cNvSpPr txBox="1"/>
          <p:nvPr/>
        </p:nvSpPr>
        <p:spPr>
          <a:xfrm>
            <a:off x="7181850" y="2819400"/>
            <a:ext cx="4191000" cy="400050"/>
          </a:xfrm>
          <a:prstGeom prst="rect">
            <a:avLst/>
          </a:prstGeom>
          <a:noFill/>
        </p:spPr>
        <p:txBody>
          <a:bodyPr wrap="none" lIns="0" tIns="0" rIns="0" bIns="0">
            <a:spAutoFit/>
          </a:bodyPr>
          <a:lstStyle/>
          <a:p>
            <a:r>
              <a:t>Rigor, Generalisation, and Scope</a:t>
            </a:r>
          </a:p>
        </p:txBody>
      </p:sp>
      <p:sp>
        <p:nvSpPr>
          <p:cNvPr id="44" name="Outline item rule 05"/>
          <p:cNvSpPr/>
          <p:nvPr/>
        </p:nvSpPr>
        <p:spPr>
          <a:xfrm>
            <a:off x="71818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utline number 06"/>
          <p:cNvSpPr txBox="1"/>
          <p:nvPr/>
        </p:nvSpPr>
        <p:spPr>
          <a:xfrm>
            <a:off x="6496050" y="3981450"/>
            <a:ext cx="552450" cy="285750"/>
          </a:xfrm>
          <a:prstGeom prst="rect">
            <a:avLst/>
          </a:prstGeom>
          <a:noFill/>
        </p:spPr>
        <p:txBody>
          <a:bodyPr wrap="none" lIns="0" tIns="0" rIns="0" bIns="0">
            <a:spAutoFit/>
          </a:bodyPr>
          <a:lstStyle/>
          <a:p>
            <a:pPr algn="l"/>
            <a:r>
              <a:rPr sz="1500" b="1">
                <a:solidFill>
                  <a:srgbClr val="8F1D3A"/>
                </a:solidFill>
                <a:latin typeface="Arial"/>
              </a:rPr>
              <a:t>06</a:t>
            </a:r>
          </a:p>
        </p:txBody>
      </p:sp>
      <p:sp>
        <p:nvSpPr>
          <p:cNvPr id="46" name="Outline item 06"/>
          <p:cNvSpPr txBox="1"/>
          <p:nvPr/>
        </p:nvSpPr>
        <p:spPr>
          <a:xfrm>
            <a:off x="7181850" y="3943350"/>
            <a:ext cx="4191000" cy="400050"/>
          </a:xfrm>
          <a:prstGeom prst="rect">
            <a:avLst/>
          </a:prstGeom>
          <a:noFill/>
        </p:spPr>
        <p:txBody>
          <a:bodyPr wrap="none" lIns="0" tIns="0" rIns="0" bIns="0">
            <a:spAutoFit/>
          </a:bodyPr>
          <a:lstStyle/>
          <a:p>
            <a:r>
              <a:t>Contributions, Limits, and Q&amp;A</a:t>
            </a:r>
          </a:p>
        </p:txBody>
      </p:sp>
      <p:sp>
        <p:nvSpPr>
          <p:cNvPr id="47" name="Outline item rule 06"/>
          <p:cNvSpPr/>
          <p:nvPr/>
        </p:nvSpPr>
        <p:spPr>
          <a:xfrm>
            <a:off x="71818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utline research spine"/>
          <p:cNvSpPr/>
          <p:nvPr/>
        </p:nvSpPr>
        <p:spPr>
          <a:xfrm>
            <a:off x="762000" y="1676400"/>
            <a:ext cx="28575" cy="28003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utline spine marker"/>
          <p:cNvSpPr/>
          <p:nvPr/>
        </p:nvSpPr>
        <p:spPr>
          <a:xfrm>
            <a:off x="704850" y="17716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utline spine marker"/>
          <p:cNvSpPr/>
          <p:nvPr/>
        </p:nvSpPr>
        <p:spPr>
          <a:xfrm>
            <a:off x="704850" y="289560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utline spine marker"/>
          <p:cNvSpPr/>
          <p:nvPr/>
        </p:nvSpPr>
        <p:spPr>
          <a:xfrm>
            <a:off x="704850" y="40195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6134100" y="1676400"/>
            <a:ext cx="28575" cy="2800350"/>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6076950" y="17716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6076950" y="289560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6076950" y="40195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11250000" y="6619000"/>
            <a:ext cx="640000" cy="180000"/>
          </a:xfrm>
          <a:prstGeom prst="rect">
            <a:avLst/>
          </a:prstGeom>
          <a:noFill/>
        </p:spPr>
        <p:txBody>
          <a:bodyPr wrap="none" lIns="0" rIns="0" tIns="0" bIns="0" anchor="ctr">
            <a:spAutoFit/>
          </a:bodyPr>
          <a:lstStyle/>
          <a:p>
            <a:pPr algn="r"/>
            <a:r>
              <a:rPr sz="1000" b="0">
                <a:solidFill>
                  <a:srgbClr val="FFFFFF"/>
                </a:solidFill>
                <a:latin typeface="Arial"/>
              </a:rPr>
              <a:t>2/30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3_input_sensitive_runtime_v1.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50000" y="6619000"/>
            <a:ext cx="640000" cy="180000"/>
          </a:xfrm>
          <a:prstGeom prst="rect">
            <a:avLst/>
          </a:prstGeom>
          <a:noFill/>
        </p:spPr>
        <p:txBody>
          <a:bodyPr wrap="none" lIns="0" rIns="0" tIns="0" bIns="0" anchor="ctr">
            <a:spAutoFit/>
          </a:bodyPr>
          <a:lstStyle/>
          <a:p>
            <a:pPr algn="r"/>
            <a:r>
              <a:rPr sz="1000" b="0">
                <a:solidFill>
                  <a:srgbClr val="FFFFFF"/>
                </a:solidFill>
                <a:latin typeface="Arial"/>
              </a:rPr>
              <a:t>3/30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4_runtime_gap_v7.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250000" y="6619000"/>
            <a:ext cx="640000" cy="180000"/>
          </a:xfrm>
          <a:prstGeom prst="rect">
            <a:avLst/>
          </a:prstGeom>
          <a:noFill/>
        </p:spPr>
        <p:txBody>
          <a:bodyPr wrap="none" lIns="0" rIns="0" tIns="0" bIns="0" anchor="ctr">
            <a:spAutoFit/>
          </a:bodyPr>
          <a:lstStyle/>
          <a:p>
            <a:pPr algn="r"/>
            <a:r>
              <a:rPr sz="1000">
                <a:solidFill>
                  <a:srgbClr val="FFFFFF"/>
                </a:solidFill>
              </a:rPr>
              <a:t>2/26</a:t>
            </a:r>
          </a:p>
        </p:txBody>
      </p:sp>
      <p:sp>
        <p:nvSpPr>
          <p:cNvPr id="11" name="Rectangle 10"/>
          <p:cNvSpPr/>
          <p:nvPr/>
        </p:nvSpPr>
        <p:spPr>
          <a:xfrm>
            <a:off x="11387328" y="6611112"/>
            <a:ext cx="685800" cy="201168"/>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387328" y="6611112"/>
            <a:ext cx="685800" cy="201168"/>
          </a:xfrm>
          <a:prstGeom prst="rect">
            <a:avLst/>
          </a:prstGeom>
          <a:noFill/>
        </p:spPr>
        <p:txBody>
          <a:bodyPr wrap="none" lIns="0" rIns="0" tIns="0" bIns="0" anchor="ctr">
            <a:spAutoFit/>
          </a:bodyPr>
          <a:lstStyle/>
          <a:p>
            <a:pPr algn="r"/>
            <a:r>
              <a:rPr sz="1000">
                <a:solidFill>
                  <a:srgbClr val="FFFFFF"/>
                </a:solidFill>
                <a:latin typeface="Arial"/>
              </a:rPr>
              <a:t>2/26</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5_prior_work_task_framing_v1.png"/>
          <p:cNvPicPr>
            <a:picLocks noChangeAspect="1"/>
          </p:cNvPicPr>
          <p:nvPr/>
        </p:nvPicPr>
        <p:blipFill>
          <a:blip r:embed="rId3"/>
          <a:stretch>
            <a:fillRect/>
          </a:stretch>
        </p:blipFill>
        <p:spPr>
          <a:xfrm>
            <a:off x="8709" y="0"/>
            <a:ext cx="12192000" cy="6858000"/>
          </a:xfrm>
          <a:prstGeom prst="rect">
            <a:avLst/>
          </a:prstGeom>
        </p:spPr>
      </p:pic>
      <p:sp>
        <p:nvSpPr>
          <p:cNvPr id="3" name="TextBox 2"/>
          <p:cNvSpPr txBox="1"/>
          <p:nvPr/>
        </p:nvSpPr>
        <p:spPr>
          <a:xfrm>
            <a:off x="11250000" y="6619000"/>
            <a:ext cx="640000" cy="180000"/>
          </a:xfrm>
          <a:prstGeom prst="rect">
            <a:avLst/>
          </a:prstGeom>
          <a:noFill/>
        </p:spPr>
        <p:txBody>
          <a:bodyPr wrap="none" lIns="0" rIns="0" tIns="0" bIns="0" anchor="ctr">
            <a:spAutoFit/>
          </a:bodyPr>
          <a:lstStyle/>
          <a:p>
            <a:pPr algn="r"/>
            <a:r>
              <a:rPr sz="1000" b="0">
                <a:solidFill>
                  <a:srgbClr val="FFFFFF"/>
                </a:solidFill>
                <a:latin typeface="Arial"/>
              </a:rPr>
              <a:t>5/30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The corpus uses five structurally diverse real-world domains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1,188,265 numeric arrays were extracted to maximise structural diversity.</a:t>
            </a:r>
          </a:p>
        </p:txBody>
      </p:sp>
      <p:sp>
        <p:nvSpPr>
          <p:cNvPr id="7" name="TextBox 7"/>
          <p:cNvSpPr txBox="1"/>
          <p:nvPr/>
        </p:nvSpPr>
        <p:spPr>
          <a:xfrm>
            <a:off x="685800" y="1416368"/>
            <a:ext cx="3305928"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1.18M</a:t>
            </a:r>
          </a:p>
        </p:txBody>
      </p:sp>
      <p:sp>
        <p:nvSpPr>
          <p:cNvPr id="8" name="TextBox 8"/>
          <p:cNvSpPr txBox="1"/>
          <p:nvPr/>
        </p:nvSpPr>
        <p:spPr>
          <a:xfrm>
            <a:off x="750570" y="2252662"/>
            <a:ext cx="3475863"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labeled array instances</a:t>
            </a:r>
          </a:p>
        </p:txBody>
      </p:sp>
      <p:sp>
        <p:nvSpPr>
          <p:cNvPr id="9" name="Freeform 9"/>
          <p:cNvSpPr/>
          <p:nvPr/>
        </p:nvSpPr>
        <p:spPr>
          <a:xfrm>
            <a:off x="7620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954672" y="3376612"/>
            <a:ext cx="1995907" cy="440055"/>
          </a:xfrm>
          <a:prstGeom prst="rect">
            <a:avLst/>
          </a:prstGeom>
          <a:noFill/>
          <a:ln>
            <a:noFill/>
          </a:ln>
        </p:spPr>
        <p:txBody>
          <a:bodyPr wrap="none" lIns="0" tIns="0" rIns="0" bIns="0" anchor="t" anchorCtr="0">
            <a:spAutoFit/>
          </a:bodyPr>
          <a:lstStyle/>
          <a:p>
            <a:r>
              <a:t>Formula 1 telemetry</a:t>
            </a:r>
          </a:p>
        </p:txBody>
      </p:sp>
      <p:sp>
        <p:nvSpPr>
          <p:cNvPr id="11" name="Freeform 11"/>
          <p:cNvSpPr/>
          <p:nvPr/>
        </p:nvSpPr>
        <p:spPr>
          <a:xfrm>
            <a:off x="35242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258675" y="3376612"/>
            <a:ext cx="912400" cy="440055"/>
          </a:xfrm>
          <a:prstGeom prst="rect">
            <a:avLst/>
          </a:prstGeom>
          <a:noFill/>
          <a:ln>
            <a:noFill/>
          </a:ln>
        </p:spPr>
        <p:txBody>
          <a:bodyPr wrap="none" lIns="0" tIns="0" rIns="0" bIns="0" anchor="t" anchorCtr="0">
            <a:spAutoFit/>
          </a:bodyPr>
          <a:lstStyle/>
          <a:p>
            <a:r>
              <a:t>Equity prices</a:t>
            </a:r>
          </a:p>
        </p:txBody>
      </p:sp>
      <p:sp>
        <p:nvSpPr>
          <p:cNvPr id="13" name="Freeform 13"/>
          <p:cNvSpPr/>
          <p:nvPr/>
        </p:nvSpPr>
        <p:spPr>
          <a:xfrm>
            <a:off x="62865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4" name="TextBox 14"/>
          <p:cNvSpPr txBox="1"/>
          <p:nvPr/>
        </p:nvSpPr>
        <p:spPr>
          <a:xfrm>
            <a:off x="6441574" y="3368720"/>
            <a:ext cx="1078992" cy="440055"/>
          </a:xfrm>
          <a:prstGeom prst="rect">
            <a:avLst/>
          </a:prstGeom>
          <a:noFill/>
          <a:ln>
            <a:noFill/>
          </a:ln>
        </p:spPr>
        <p:txBody>
          <a:bodyPr wrap="none" lIns="0" tIns="0" rIns="0" bIns="0" anchor="t" anchorCtr="0">
            <a:spAutoFit/>
          </a:bodyPr>
          <a:lstStyle/>
          <a:p>
            <a:r>
              <a:rPr dirty="0"/>
              <a:t>Cryptocurrency OHLCV</a:t>
            </a:r>
          </a:p>
        </p:txBody>
      </p:sp>
      <p:sp>
        <p:nvSpPr>
          <p:cNvPr id="15" name="Freeform 15"/>
          <p:cNvSpPr/>
          <p:nvPr/>
        </p:nvSpPr>
        <p:spPr>
          <a:xfrm>
            <a:off x="90487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6" name="TextBox 16"/>
          <p:cNvSpPr txBox="1"/>
          <p:nvPr/>
        </p:nvSpPr>
        <p:spPr>
          <a:xfrm>
            <a:off x="9584824" y="3376612"/>
            <a:ext cx="130910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Weather</a:t>
            </a:r>
          </a:p>
        </p:txBody>
      </p:sp>
      <p:sp>
        <p:nvSpPr>
          <p:cNvPr id="17" name="Freeform 17"/>
          <p:cNvSpPr/>
          <p:nvPr/>
        </p:nvSpPr>
        <p:spPr>
          <a:xfrm>
            <a:off x="4905375" y="4429125"/>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8" name="TextBox 18"/>
          <p:cNvSpPr txBox="1"/>
          <p:nvPr/>
        </p:nvSpPr>
        <p:spPr>
          <a:xfrm>
            <a:off x="5032819" y="4800219"/>
            <a:ext cx="1745361" cy="440055"/>
          </a:xfrm>
          <a:prstGeom prst="rect">
            <a:avLst/>
          </a:prstGeom>
          <a:noFill/>
          <a:ln>
            <a:noFill/>
          </a:ln>
        </p:spPr>
        <p:txBody>
          <a:bodyPr wrap="none" lIns="0" tIns="0" rIns="0" bIns="0" anchor="t" anchorCtr="0">
            <a:spAutoFit/>
          </a:bodyPr>
          <a:lstStyle/>
          <a:p>
            <a:r>
              <a:rPr dirty="0"/>
              <a:t>Seismic measurements</a:t>
            </a:r>
          </a:p>
        </p:txBody>
      </p:sp>
      <p:sp>
        <p:nvSpPr>
          <p:cNvPr id="19" name="TextBox 19"/>
          <p:cNvSpPr txBox="1"/>
          <p:nvPr/>
        </p:nvSpPr>
        <p:spPr>
          <a:xfrm>
            <a:off x="1629039" y="5637645"/>
            <a:ext cx="8933921" cy="276999"/>
          </a:xfrm>
          <a:prstGeom prst="rect">
            <a:avLst/>
          </a:prstGeom>
          <a:noFill/>
          <a:ln>
            <a:noFill/>
          </a:ln>
        </p:spPr>
        <p:txBody>
          <a:bodyPr wrap="none" lIns="0" tIns="0" rIns="0" bIns="0" anchor="t" anchorCtr="0">
            <a:spAutoFit/>
          </a:bodyPr>
          <a:lstStyle/>
          <a:p>
            <a:r>
              <a:rPr dirty="0"/>
              <a:t>Real data was preferred because synthetic distributions failed to </a:t>
            </a:r>
            <a:r>
              <a:rPr lang="en-US" dirty="0"/>
              <a:t>converge</a:t>
            </a:r>
            <a:r>
              <a:rPr dirty="0"/>
              <a:t> to genuine structure.</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02920" y="1226820"/>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1250000" y="6619000"/>
            <a:ext cx="640000" cy="180000"/>
          </a:xfrm>
          <a:prstGeom prst="rect">
            <a:avLst/>
          </a:prstGeom>
          <a:noFill/>
        </p:spPr>
        <p:txBody>
          <a:bodyPr wrap="none" lIns="0" rIns="0" tIns="0" bIns="0" anchor="ctr">
            <a:spAutoFit/>
          </a:bodyPr>
          <a:lstStyle/>
          <a:p>
            <a:pPr algn="r"/>
            <a:r>
              <a:rPr sz="1000">
                <a:solidFill>
                  <a:srgbClr val="FFFFFF"/>
                </a:solidFill>
              </a:rPr>
              <a:t>6/26</a:t>
            </a:r>
          </a:p>
        </p:txBody>
      </p:sp>
      <p:sp>
        <p:nvSpPr>
          <p:cNvPr id="36" name="Rectangle 35"/>
          <p:cNvSpPr/>
          <p:nvPr/>
        </p:nvSpPr>
        <p:spPr>
          <a:xfrm>
            <a:off x="11387328" y="6611112"/>
            <a:ext cx="685800" cy="201168"/>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387328" y="6611112"/>
            <a:ext cx="685800" cy="201168"/>
          </a:xfrm>
          <a:prstGeom prst="rect">
            <a:avLst/>
          </a:prstGeom>
          <a:noFill/>
        </p:spPr>
        <p:txBody>
          <a:bodyPr wrap="none" lIns="0" rIns="0" tIns="0" bIns="0" anchor="ctr">
            <a:spAutoFit/>
          </a:bodyPr>
          <a:lstStyle/>
          <a:p>
            <a:pPr algn="r"/>
            <a:r>
              <a:rPr sz="1000">
                <a:solidFill>
                  <a:srgbClr val="FFFFFF"/>
                </a:solidFill>
                <a:latin typeface="Arial"/>
              </a:rPr>
              <a:t>6/26</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domain_samples_v1.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11387328" y="6611112"/>
            <a:ext cx="685800" cy="201168"/>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387328" y="6611112"/>
            <a:ext cx="685800" cy="201168"/>
          </a:xfrm>
          <a:prstGeom prst="rect">
            <a:avLst/>
          </a:prstGeom>
          <a:noFill/>
        </p:spPr>
        <p:txBody>
          <a:bodyPr wrap="none" lIns="0" rIns="0" tIns="0" bIns="0" anchor="ctr">
            <a:spAutoFit/>
          </a:bodyPr>
          <a:lstStyle/>
          <a:p>
            <a:pPr algn="r"/>
            <a:r>
              <a:rPr sz="1000">
                <a:solidFill>
                  <a:srgbClr val="FFFFFF"/>
                </a:solidFill>
                <a:latin typeface="Arial"/>
              </a:rPr>
              <a:t>8/26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Labels are empirical fastest-algorithm measurements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Each candidate algorithm is timed on a fresh copy; the minimum observed runtime becomes the label.</a:t>
            </a:r>
          </a:p>
        </p:txBody>
      </p:sp>
      <p:pic>
        <p:nvPicPr>
          <p:cNvPr id="7" name="Image 7"/>
          <p:cNvPicPr>
            <a:picLocks noChangeAspect="1"/>
          </p:cNvPicPr>
          <p:nvPr/>
        </p:nvPicPr>
        <p:blipFill>
          <a:blip r:embed="rId3"/>
          <a:stretch>
            <a:fillRect/>
          </a:stretch>
        </p:blipFill>
        <p:spPr>
          <a:xfrm>
            <a:off x="3261455" y="1381125"/>
            <a:ext cx="5669089" cy="3143250"/>
          </a:xfrm>
          <a:prstGeom prst="rect">
            <a:avLst/>
          </a:prstGeom>
        </p:spPr>
      </p:pic>
      <p:sp>
        <p:nvSpPr>
          <p:cNvPr id="8" name="Freeform 8"/>
          <p:cNvSpPr/>
          <p:nvPr/>
        </p:nvSpPr>
        <p:spPr>
          <a:xfrm>
            <a:off x="762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443190" y="5063490"/>
            <a:ext cx="618820"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RAW</a:t>
            </a:r>
          </a:p>
        </p:txBody>
      </p:sp>
      <p:sp>
        <p:nvSpPr>
          <p:cNvPr id="10" name="Freeform 10"/>
          <p:cNvSpPr/>
          <p:nvPr/>
        </p:nvSpPr>
        <p:spPr>
          <a:xfrm>
            <a:off x="3048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1" name="TextBox 11"/>
          <p:cNvSpPr txBox="1"/>
          <p:nvPr/>
        </p:nvSpPr>
        <p:spPr>
          <a:xfrm>
            <a:off x="3761651" y="5063490"/>
            <a:ext cx="553898"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REV</a:t>
            </a:r>
          </a:p>
        </p:txBody>
      </p:sp>
      <p:sp>
        <p:nvSpPr>
          <p:cNvPr id="12" name="Freeform 12"/>
          <p:cNvSpPr/>
          <p:nvPr/>
        </p:nvSpPr>
        <p:spPr>
          <a:xfrm>
            <a:off x="5334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5958383" y="5063490"/>
            <a:ext cx="73243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SHUF</a:t>
            </a:r>
          </a:p>
        </p:txBody>
      </p:sp>
      <p:sp>
        <p:nvSpPr>
          <p:cNvPr id="14" name="Freeform 14"/>
          <p:cNvSpPr/>
          <p:nvPr/>
        </p:nvSpPr>
        <p:spPr>
          <a:xfrm>
            <a:off x="7620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5" name="TextBox 15"/>
          <p:cNvSpPr txBox="1"/>
          <p:nvPr/>
        </p:nvSpPr>
        <p:spPr>
          <a:xfrm>
            <a:off x="8073962" y="5063490"/>
            <a:ext cx="107327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QBIN50</a:t>
            </a:r>
          </a:p>
        </p:txBody>
      </p:sp>
      <p:sp>
        <p:nvSpPr>
          <p:cNvPr id="16" name="Freeform 16"/>
          <p:cNvSpPr/>
          <p:nvPr/>
        </p:nvSpPr>
        <p:spPr>
          <a:xfrm>
            <a:off x="9906000" y="4810125"/>
            <a:ext cx="1600200" cy="742950"/>
          </a:xfrm>
          <a:custGeom>
            <a:avLst/>
            <a:gdLst/>
            <a:ahLst/>
            <a:cxnLst/>
            <a:rect l="l" t="t" r="r" b="b"/>
            <a:pathLst>
              <a:path w="1600200" h="742950">
                <a:moveTo>
                  <a:pt x="76200" y="0"/>
                </a:moveTo>
                <a:lnTo>
                  <a:pt x="1524000" y="0"/>
                </a:lnTo>
                <a:cubicBezTo>
                  <a:pt x="1566084" y="0"/>
                  <a:pt x="1600200" y="34116"/>
                  <a:pt x="1600200" y="76200"/>
                </a:cubicBezTo>
                <a:lnTo>
                  <a:pt x="1600200" y="666750"/>
                </a:lnTo>
                <a:cubicBezTo>
                  <a:pt x="1600200" y="708834"/>
                  <a:pt x="1566084" y="742950"/>
                  <a:pt x="1524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7" name="TextBox 17"/>
          <p:cNvSpPr txBox="1"/>
          <p:nvPr/>
        </p:nvSpPr>
        <p:spPr>
          <a:xfrm>
            <a:off x="10039617" y="5063490"/>
            <a:ext cx="1332967" cy="352044"/>
          </a:xfrm>
          <a:prstGeom prst="rect">
            <a:avLst/>
          </a:prstGeom>
          <a:noFill/>
          <a:ln>
            <a:noFill/>
          </a:ln>
        </p:spPr>
        <p:txBody>
          <a:bodyPr wrap="none" lIns="0" tIns="0" rIns="0" bIns="0" anchor="t" anchorCtr="0">
            <a:spAutoFit/>
          </a:bodyPr>
          <a:lstStyle/>
          <a:p>
            <a:pPr algn="ctr"/>
            <a:r>
              <a:rPr lang="en-US" sz="1800" dirty="0">
                <a:solidFill>
                  <a:srgbClr val="1B1B1D"/>
                </a:solidFill>
                <a:latin typeface="Anthropic Sans"/>
                <a:ea typeface="Anthropic Sans"/>
                <a:cs typeface="Anthropic Sans"/>
              </a:rPr>
              <a:t>PSORT10</a:t>
            </a:r>
          </a:p>
        </p:txBody>
      </p:sp>
      <p:sp>
        <p:nvSpPr>
          <p:cNvPr id="18" name="TextBox 18"/>
          <p:cNvSpPr txBox="1"/>
          <p:nvPr/>
        </p:nvSpPr>
        <p:spPr>
          <a:xfrm>
            <a:off x="753999" y="5754529"/>
            <a:ext cx="11212639" cy="308039"/>
          </a:xfrm>
          <a:prstGeom prst="rect">
            <a:avLst/>
          </a:prstGeom>
          <a:noFill/>
          <a:ln>
            <a:noFill/>
          </a:ln>
        </p:spPr>
        <p:txBody>
          <a:bodyPr wrap="none" lIns="0" tIns="0" rIns="0" bIns="0" anchor="t" anchorCtr="0">
            <a:spAutoFit/>
          </a:bodyPr>
          <a:lstStyle/>
          <a:p>
            <a:r>
              <a:t>RAW, REV, SHUF, QBIN50, and PSORT10 force a non-trivial decision boundary.</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02920" y="1223153"/>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1250000" y="6619000"/>
            <a:ext cx="640000" cy="180000"/>
          </a:xfrm>
          <a:prstGeom prst="rect">
            <a:avLst/>
          </a:prstGeom>
          <a:noFill/>
        </p:spPr>
        <p:txBody>
          <a:bodyPr wrap="none" lIns="0" rIns="0" tIns="0" bIns="0" anchor="ctr">
            <a:spAutoFit/>
          </a:bodyPr>
          <a:lstStyle/>
          <a:p>
            <a:pPr algn="r"/>
            <a:r>
              <a:rPr sz="1000">
                <a:solidFill>
                  <a:srgbClr val="FFFFFF"/>
                </a:solidFill>
              </a:rPr>
              <a:t>11/26</a:t>
            </a:r>
          </a:p>
        </p:txBody>
      </p:sp>
      <p:sp>
        <p:nvSpPr>
          <p:cNvPr id="35" name="Rectangle 34"/>
          <p:cNvSpPr/>
          <p:nvPr/>
        </p:nvSpPr>
        <p:spPr>
          <a:xfrm>
            <a:off x="11387328" y="6611112"/>
            <a:ext cx="685800" cy="201168"/>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387328" y="6611112"/>
            <a:ext cx="685800" cy="201168"/>
          </a:xfrm>
          <a:prstGeom prst="rect">
            <a:avLst/>
          </a:prstGeom>
          <a:noFill/>
        </p:spPr>
        <p:txBody>
          <a:bodyPr wrap="none" lIns="0" rIns="0" tIns="0" bIns="0" anchor="ctr">
            <a:spAutoFit/>
          </a:bodyPr>
          <a:lstStyle/>
          <a:p>
            <a:pPr algn="r"/>
            <a:r>
              <a:rPr sz="1000">
                <a:solidFill>
                  <a:srgbClr val="FFFFFF"/>
                </a:solidFill>
                <a:latin typeface="Arial"/>
              </a:rPr>
              <a:t>11/26</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Sixteen O(n) structural features characterise each array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Every feature must be cheap to compute and linked to differential sorting behaviour.</a:t>
            </a:r>
          </a:p>
        </p:txBody>
      </p:sp>
      <p:pic>
        <p:nvPicPr>
          <p:cNvPr id="7" name="Image 7"/>
          <p:cNvPicPr>
            <a:picLocks noChangeAspect="1"/>
          </p:cNvPicPr>
          <p:nvPr/>
        </p:nvPicPr>
        <p:blipFill>
          <a:blip r:embed="rId3"/>
          <a:stretch>
            <a:fillRect/>
          </a:stretch>
        </p:blipFill>
        <p:spPr>
          <a:xfrm>
            <a:off x="666750" y="1411319"/>
            <a:ext cx="5334000" cy="3749612"/>
          </a:xfrm>
          <a:prstGeom prst="rect">
            <a:avLst/>
          </a:prstGeom>
        </p:spPr>
      </p:pic>
      <p:sp>
        <p:nvSpPr>
          <p:cNvPr id="8" name="Freeform 8"/>
          <p:cNvSpPr/>
          <p:nvPr/>
        </p:nvSpPr>
        <p:spPr>
          <a:xfrm>
            <a:off x="647700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6751320" y="1814512"/>
            <a:ext cx="1554480" cy="440055"/>
          </a:xfrm>
          <a:prstGeom prst="rect">
            <a:avLst/>
          </a:prstGeom>
          <a:noFill/>
          <a:ln>
            <a:noFill/>
          </a:ln>
        </p:spPr>
        <p:txBody>
          <a:bodyPr wrap="none" lIns="0" tIns="0" rIns="0" bIns="0" anchor="t" anchorCtr="0">
            <a:spAutoFit/>
          </a:bodyPr>
          <a:lstStyle/>
          <a:p>
            <a:r>
              <a:t>Size</a:t>
            </a:r>
          </a:p>
        </p:txBody>
      </p:sp>
      <p:sp>
        <p:nvSpPr>
          <p:cNvPr id="10" name="TextBox 10"/>
          <p:cNvSpPr txBox="1"/>
          <p:nvPr/>
        </p:nvSpPr>
        <p:spPr>
          <a:xfrm>
            <a:off x="6753606" y="2453640"/>
            <a:ext cx="1554480" cy="352044"/>
          </a:xfrm>
          <a:prstGeom prst="rect">
            <a:avLst/>
          </a:prstGeom>
          <a:noFill/>
          <a:ln>
            <a:noFill/>
          </a:ln>
        </p:spPr>
        <p:txBody>
          <a:bodyPr wrap="none" lIns="0" tIns="0" rIns="0" bIns="0" anchor="t" anchorCtr="0">
            <a:spAutoFit/>
          </a:bodyPr>
          <a:lstStyle/>
          <a:p>
            <a:r>
              <a:t>length_norm</a:t>
            </a:r>
          </a:p>
        </p:txBody>
      </p:sp>
      <p:sp>
        <p:nvSpPr>
          <p:cNvPr id="11" name="TextBox 11"/>
          <p:cNvSpPr txBox="1"/>
          <p:nvPr/>
        </p:nvSpPr>
        <p:spPr>
          <a:xfrm>
            <a:off x="6753606" y="2796540"/>
            <a:ext cx="1554480" cy="352044"/>
          </a:xfrm>
          <a:prstGeom prst="rect">
            <a:avLst/>
          </a:prstGeom>
          <a:noFill/>
          <a:ln>
            <a:noFill/>
          </a:ln>
        </p:spPr>
        <p:txBody>
          <a:bodyPr wrap="none" lIns="0" tIns="0" rIns="0" bIns="0" anchor="t" anchorCtr="0">
            <a:spAutoFit/>
          </a:bodyPr>
          <a:lstStyle/>
          <a:p>
            <a:r>
              <a:t>size effects</a:t>
            </a:r>
          </a:p>
        </p:txBody>
      </p:sp>
      <p:sp>
        <p:nvSpPr>
          <p:cNvPr id="12" name="TextBox 12"/>
          <p:cNvSpPr txBox="1"/>
          <p:nvPr/>
        </p:nvSpPr>
        <p:spPr>
          <a:xfrm>
            <a:off x="6753606" y="3139440"/>
            <a:ext cx="1554480" cy="352044"/>
          </a:xfrm>
          <a:prstGeom prst="rect">
            <a:avLst/>
          </a:prstGeom>
          <a:noFill/>
          <a:ln>
            <a:noFill/>
          </a:ln>
        </p:spPr>
        <p:txBody>
          <a:bodyPr wrap="none" lIns="0" tIns="0" rIns="0" bIns="0" anchor="t" anchorCtr="0">
            <a:spAutoFit/>
          </a:bodyPr>
          <a:lstStyle/>
          <a:p>
            <a:r>
              <a:t>cache / constants</a:t>
            </a:r>
          </a:p>
        </p:txBody>
      </p:sp>
      <p:sp>
        <p:nvSpPr>
          <p:cNvPr id="13" name="Freeform 13"/>
          <p:cNvSpPr/>
          <p:nvPr/>
        </p:nvSpPr>
        <p:spPr>
          <a:xfrm>
            <a:off x="893445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4" name="TextBox 14"/>
          <p:cNvSpPr txBox="1"/>
          <p:nvPr/>
        </p:nvSpPr>
        <p:spPr>
          <a:xfrm>
            <a:off x="9208770" y="1814512"/>
            <a:ext cx="1554480" cy="440055"/>
          </a:xfrm>
          <a:prstGeom prst="rect">
            <a:avLst/>
          </a:prstGeom>
          <a:noFill/>
          <a:ln>
            <a:noFill/>
          </a:ln>
        </p:spPr>
        <p:txBody>
          <a:bodyPr wrap="none" lIns="0" tIns="0" rIns="0" bIns="0" anchor="t" anchorCtr="0">
            <a:spAutoFit/>
          </a:bodyPr>
          <a:lstStyle/>
          <a:p>
            <a:r>
              <a:t>Ordering</a:t>
            </a:r>
          </a:p>
        </p:txBody>
      </p:sp>
      <p:sp>
        <p:nvSpPr>
          <p:cNvPr id="15" name="TextBox 15"/>
          <p:cNvSpPr txBox="1"/>
          <p:nvPr/>
        </p:nvSpPr>
        <p:spPr>
          <a:xfrm>
            <a:off x="9211056" y="2453640"/>
            <a:ext cx="1554480" cy="352044"/>
          </a:xfrm>
          <a:prstGeom prst="rect">
            <a:avLst/>
          </a:prstGeom>
          <a:noFill/>
          <a:ln>
            <a:noFill/>
          </a:ln>
        </p:spPr>
        <p:txBody>
          <a:bodyPr wrap="none" lIns="0" tIns="0" rIns="0" bIns="0" anchor="t" anchorCtr="0">
            <a:spAutoFit/>
          </a:bodyPr>
          <a:lstStyle/>
          <a:p>
            <a:r>
              <a:t>adj_sorted_ratio</a:t>
            </a:r>
          </a:p>
        </p:txBody>
      </p:sp>
      <p:sp>
        <p:nvSpPr>
          <p:cNvPr id="16" name="TextBox 16"/>
          <p:cNvSpPr txBox="1"/>
          <p:nvPr/>
        </p:nvSpPr>
        <p:spPr>
          <a:xfrm>
            <a:off x="9211056" y="2796540"/>
            <a:ext cx="1554480" cy="352044"/>
          </a:xfrm>
          <a:prstGeom prst="rect">
            <a:avLst/>
          </a:prstGeom>
          <a:noFill/>
          <a:ln>
            <a:noFill/>
          </a:ln>
        </p:spPr>
        <p:txBody>
          <a:bodyPr wrap="none" lIns="0" tIns="0" rIns="0" bIns="0" anchor="t" anchorCtr="0">
            <a:spAutoFit/>
          </a:bodyPr>
          <a:lstStyle/>
          <a:p>
            <a:r>
              <a:t>runs_ratio</a:t>
            </a:r>
          </a:p>
        </p:txBody>
      </p:sp>
      <p:sp>
        <p:nvSpPr>
          <p:cNvPr id="17" name="TextBox 17"/>
          <p:cNvSpPr txBox="1"/>
          <p:nvPr/>
        </p:nvSpPr>
        <p:spPr>
          <a:xfrm>
            <a:off x="9211056" y="3139440"/>
            <a:ext cx="1554480" cy="352044"/>
          </a:xfrm>
          <a:prstGeom prst="rect">
            <a:avLst/>
          </a:prstGeom>
          <a:noFill/>
          <a:ln>
            <a:noFill/>
          </a:ln>
        </p:spPr>
        <p:txBody>
          <a:bodyPr wrap="none" lIns="0" tIns="0" rIns="0" bIns="0" anchor="t" anchorCtr="0">
            <a:spAutoFit/>
          </a:bodyPr>
          <a:lstStyle/>
          <a:p>
            <a:r>
              <a:t>inversion_ratio</a:t>
            </a:r>
          </a:p>
        </p:txBody>
      </p:sp>
      <p:sp>
        <p:nvSpPr>
          <p:cNvPr id="18" name="TextBox 18"/>
          <p:cNvSpPr txBox="1"/>
          <p:nvPr/>
        </p:nvSpPr>
        <p:spPr>
          <a:xfrm>
            <a:off x="3450620" y="5369338"/>
            <a:ext cx="4494371" cy="276999"/>
          </a:xfrm>
          <a:prstGeom prst="rect">
            <a:avLst/>
          </a:prstGeom>
          <a:noFill/>
          <a:ln>
            <a:noFill/>
          </a:ln>
        </p:spPr>
        <p:txBody>
          <a:bodyPr wrap="none" lIns="0" tIns="0" rIns="0" bIns="0" anchor="t" anchorCtr="0">
            <a:spAutoFit/>
          </a:bodyPr>
          <a:lstStyle/>
          <a:p>
            <a:pPr algn="ctr"/>
            <a:r>
              <a:rPr dirty="0"/>
              <a:t>Timing features are excluded at prediction time.</a:t>
            </a:r>
          </a:p>
        </p:txBody>
      </p:sp>
      <p:sp>
        <p:nvSpPr>
          <p:cNvPr id="19" name="TextBox 19"/>
          <p:cNvSpPr txBox="1"/>
          <p:nvPr/>
        </p:nvSpPr>
        <p:spPr>
          <a:xfrm>
            <a:off x="1696880" y="5849969"/>
            <a:ext cx="8653459" cy="276999"/>
          </a:xfrm>
          <a:prstGeom prst="rect">
            <a:avLst/>
          </a:prstGeom>
          <a:noFill/>
          <a:ln>
            <a:noFill/>
          </a:ln>
        </p:spPr>
        <p:txBody>
          <a:bodyPr wrap="none" lIns="0" tIns="0" rIns="0" bIns="0" anchor="t" anchorCtr="0">
            <a:spAutoFit/>
          </a:bodyPr>
          <a:lstStyle/>
          <a:p>
            <a:pPr algn="ctr"/>
            <a:r>
              <a:rPr dirty="0"/>
              <a:t>A single canonical feature extractor is shared across data generation, training, and inference.</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1250000" y="6619000"/>
            <a:ext cx="640000" cy="180000"/>
          </a:xfrm>
          <a:prstGeom prst="rect">
            <a:avLst/>
          </a:prstGeom>
          <a:noFill/>
        </p:spPr>
        <p:txBody>
          <a:bodyPr wrap="none" lIns="0" rIns="0" tIns="0" bIns="0" anchor="ctr">
            <a:spAutoFit/>
          </a:bodyPr>
          <a:lstStyle/>
          <a:p>
            <a:pPr algn="r"/>
            <a:r>
              <a:rPr sz="1000">
                <a:solidFill>
                  <a:srgbClr val="FFFFFF"/>
                </a:solidFill>
              </a:rPr>
              <a:t>9/26</a:t>
            </a:r>
          </a:p>
        </p:txBody>
      </p:sp>
      <p:sp>
        <p:nvSpPr>
          <p:cNvPr id="36" name="Rectangle 35"/>
          <p:cNvSpPr/>
          <p:nvPr/>
        </p:nvSpPr>
        <p:spPr>
          <a:xfrm>
            <a:off x="11387328" y="6611112"/>
            <a:ext cx="685800" cy="201168"/>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387328" y="6611112"/>
            <a:ext cx="685800" cy="201168"/>
          </a:xfrm>
          <a:prstGeom prst="rect">
            <a:avLst/>
          </a:prstGeom>
          <a:noFill/>
        </p:spPr>
        <p:txBody>
          <a:bodyPr wrap="none" lIns="0" rIns="0" tIns="0" bIns="0" anchor="ctr">
            <a:spAutoFit/>
          </a:bodyPr>
          <a:lstStyle/>
          <a:p>
            <a:pPr algn="r"/>
            <a:r>
              <a:rPr sz="1000">
                <a:solidFill>
                  <a:srgbClr val="FFFFFF"/>
                </a:solidFill>
                <a:latin typeface="Arial"/>
              </a:rPr>
              <a:t>9/26</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45274"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Prediction is made before any candidate algorithm is executed</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The selector extracts features once, runs one XGBoost prediction, and chooses one portfolio member.</a:t>
            </a:r>
          </a:p>
        </p:txBody>
      </p:sp>
      <p:sp>
        <p:nvSpPr>
          <p:cNvPr id="7" name="Freeform 7"/>
          <p:cNvSpPr/>
          <p:nvPr/>
        </p:nvSpPr>
        <p:spPr>
          <a:xfrm>
            <a:off x="857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131570" y="1947862"/>
            <a:ext cx="359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Allowed before sorting</a:t>
            </a:r>
          </a:p>
        </p:txBody>
      </p:sp>
      <p:sp>
        <p:nvSpPr>
          <p:cNvPr id="9" name="TextBox 9"/>
          <p:cNvSpPr txBox="1"/>
          <p:nvPr/>
        </p:nvSpPr>
        <p:spPr>
          <a:xfrm>
            <a:off x="1135498" y="2576131"/>
            <a:ext cx="3023306" cy="440055"/>
          </a:xfrm>
          <a:prstGeom prst="rect">
            <a:avLst/>
          </a:prstGeom>
          <a:noFill/>
          <a:ln>
            <a:noFill/>
          </a:ln>
        </p:spPr>
        <p:txBody>
          <a:bodyPr wrap="none" lIns="0" tIns="0" rIns="0" bIns="0" anchor="t" anchorCtr="0">
            <a:spAutoFit/>
          </a:bodyPr>
          <a:lstStyle/>
          <a:p>
            <a:r>
              <a:t>Extract O(n) features</a:t>
            </a:r>
          </a:p>
        </p:txBody>
      </p:sp>
      <p:sp>
        <p:nvSpPr>
          <p:cNvPr id="10" name="TextBox 10"/>
          <p:cNvSpPr txBox="1"/>
          <p:nvPr/>
        </p:nvSpPr>
        <p:spPr>
          <a:xfrm>
            <a:off x="1148592" y="3062695"/>
            <a:ext cx="4529398" cy="553998"/>
          </a:xfrm>
          <a:prstGeom prst="rect">
            <a:avLst/>
          </a:prstGeom>
          <a:noFill/>
          <a:ln>
            <a:noFill/>
          </a:ln>
        </p:spPr>
        <p:txBody>
          <a:bodyPr wrap="square" lIns="0" tIns="0" rIns="0" bIns="0" anchor="t" anchorCtr="0">
            <a:spAutoFit/>
          </a:bodyPr>
          <a:lstStyle/>
          <a:p>
            <a:r>
              <a:rPr dirty="0"/>
              <a:t>Measure order, runs, repetition, distribution, robust scale</a:t>
            </a:r>
          </a:p>
        </p:txBody>
      </p:sp>
      <p:sp>
        <p:nvSpPr>
          <p:cNvPr id="11" name="TextBox 11"/>
          <p:cNvSpPr txBox="1"/>
          <p:nvPr/>
        </p:nvSpPr>
        <p:spPr>
          <a:xfrm>
            <a:off x="1131570" y="3841815"/>
            <a:ext cx="4108371" cy="440055"/>
          </a:xfrm>
          <a:prstGeom prst="rect">
            <a:avLst/>
          </a:prstGeom>
          <a:noFill/>
          <a:ln>
            <a:noFill/>
          </a:ln>
        </p:spPr>
        <p:txBody>
          <a:bodyPr wrap="none" lIns="0" tIns="0" rIns="0" bIns="0" anchor="t" anchorCtr="0">
            <a:spAutoFit/>
          </a:bodyPr>
          <a:lstStyle/>
          <a:p>
            <a:r>
              <a:rPr dirty="0"/>
              <a:t>Predict </a:t>
            </a:r>
            <a:r>
              <a:rPr dirty="0" err="1"/>
              <a:t>introsort</a:t>
            </a:r>
            <a:r>
              <a:rPr dirty="0"/>
              <a:t>, heapsort, or </a:t>
            </a:r>
            <a:r>
              <a:rPr dirty="0" err="1"/>
              <a:t>timsort</a:t>
            </a:r>
            <a:endParaRPr dirty="0"/>
          </a:p>
        </p:txBody>
      </p:sp>
      <p:sp>
        <p:nvSpPr>
          <p:cNvPr id="12" name="Freeform 12"/>
          <p:cNvSpPr/>
          <p:nvPr/>
        </p:nvSpPr>
        <p:spPr>
          <a:xfrm>
            <a:off x="6572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6846570" y="1947862"/>
            <a:ext cx="474300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Not allowed at prediction time</a:t>
            </a:r>
          </a:p>
        </p:txBody>
      </p:sp>
      <p:sp>
        <p:nvSpPr>
          <p:cNvPr id="14" name="TextBox 14"/>
          <p:cNvSpPr txBox="1"/>
          <p:nvPr/>
        </p:nvSpPr>
        <p:spPr>
          <a:xfrm>
            <a:off x="6846570" y="2614612"/>
            <a:ext cx="2156681" cy="346249"/>
          </a:xfrm>
          <a:prstGeom prst="rect">
            <a:avLst/>
          </a:prstGeom>
          <a:noFill/>
          <a:ln>
            <a:noFill/>
          </a:ln>
        </p:spPr>
        <p:txBody>
          <a:bodyPr wrap="none" lIns="0" tIns="0" rIns="0" bIns="0" anchor="t" anchorCtr="0">
            <a:spAutoFit/>
          </a:bodyPr>
          <a:lstStyle/>
          <a:p>
            <a:pPr algn="l"/>
            <a:r>
              <a:rPr lang="en-US" sz="2250" dirty="0">
                <a:latin typeface="Anthropic Sans"/>
                <a:ea typeface="Anthropic Sans"/>
                <a:cs typeface="Anthropic Sans"/>
              </a:rPr>
              <a:t>Sort with introsort</a:t>
            </a:r>
          </a:p>
        </p:txBody>
      </p:sp>
      <p:sp>
        <p:nvSpPr>
          <p:cNvPr id="15" name="TextBox 15"/>
          <p:cNvSpPr txBox="1"/>
          <p:nvPr/>
        </p:nvSpPr>
        <p:spPr>
          <a:xfrm>
            <a:off x="6846570" y="3090862"/>
            <a:ext cx="2181879" cy="346249"/>
          </a:xfrm>
          <a:prstGeom prst="rect">
            <a:avLst/>
          </a:prstGeom>
          <a:noFill/>
          <a:ln>
            <a:noFill/>
          </a:ln>
        </p:spPr>
        <p:txBody>
          <a:bodyPr wrap="none" lIns="0" tIns="0" rIns="0" bIns="0" anchor="t" anchorCtr="0">
            <a:spAutoFit/>
          </a:bodyPr>
          <a:lstStyle/>
          <a:p>
            <a:pPr algn="l"/>
            <a:r>
              <a:rPr lang="en-US" sz="2250" dirty="0">
                <a:latin typeface="Anthropic Sans"/>
                <a:ea typeface="Anthropic Sans"/>
                <a:cs typeface="Anthropic Sans"/>
              </a:rPr>
              <a:t>Sort with heapsort</a:t>
            </a:r>
          </a:p>
        </p:txBody>
      </p:sp>
      <p:sp>
        <p:nvSpPr>
          <p:cNvPr id="16" name="TextBox 16"/>
          <p:cNvSpPr txBox="1"/>
          <p:nvPr/>
        </p:nvSpPr>
        <p:spPr>
          <a:xfrm>
            <a:off x="6846570" y="3567112"/>
            <a:ext cx="1989327" cy="346249"/>
          </a:xfrm>
          <a:prstGeom prst="rect">
            <a:avLst/>
          </a:prstGeom>
          <a:noFill/>
          <a:ln>
            <a:noFill/>
          </a:ln>
        </p:spPr>
        <p:txBody>
          <a:bodyPr wrap="none" lIns="0" tIns="0" rIns="0" bIns="0" anchor="t" anchorCtr="0">
            <a:spAutoFit/>
          </a:bodyPr>
          <a:lstStyle/>
          <a:p>
            <a:pPr algn="l"/>
            <a:r>
              <a:rPr lang="en-US" sz="2250" dirty="0">
                <a:latin typeface="Anthropic Sans"/>
                <a:ea typeface="Anthropic Sans"/>
                <a:cs typeface="Anthropic Sans"/>
              </a:rPr>
              <a:t>Sort with timsort</a:t>
            </a:r>
          </a:p>
        </p:txBody>
      </p:sp>
      <p:sp>
        <p:nvSpPr>
          <p:cNvPr id="17" name="TextBox 17"/>
          <p:cNvSpPr txBox="1"/>
          <p:nvPr/>
        </p:nvSpPr>
        <p:spPr>
          <a:xfrm>
            <a:off x="6846570" y="4043362"/>
            <a:ext cx="2967223" cy="346249"/>
          </a:xfrm>
          <a:prstGeom prst="rect">
            <a:avLst/>
          </a:prstGeom>
          <a:noFill/>
          <a:ln>
            <a:noFill/>
          </a:ln>
        </p:spPr>
        <p:txBody>
          <a:bodyPr wrap="none" lIns="0" tIns="0" rIns="0" bIns="0" anchor="t" anchorCtr="0">
            <a:spAutoFit/>
          </a:bodyPr>
          <a:lstStyle/>
          <a:p>
            <a:pPr algn="l"/>
            <a:r>
              <a:rPr lang="en-US" sz="2250" dirty="0">
                <a:latin typeface="Anthropic Sans"/>
                <a:ea typeface="Anthropic Sans"/>
                <a:cs typeface="Anthropic Sans"/>
              </a:rPr>
              <a:t>Pick after seeing all times</a:t>
            </a:r>
          </a:p>
        </p:txBody>
      </p:sp>
      <p:sp>
        <p:nvSpPr>
          <p:cNvPr id="18" name="TextBox 18"/>
          <p:cNvSpPr txBox="1"/>
          <p:nvPr/>
        </p:nvSpPr>
        <p:spPr>
          <a:xfrm>
            <a:off x="1963353" y="5765673"/>
            <a:ext cx="6330259" cy="276999"/>
          </a:xfrm>
          <a:prstGeom prst="rect">
            <a:avLst/>
          </a:prstGeom>
          <a:noFill/>
          <a:ln>
            <a:noFill/>
          </a:ln>
        </p:spPr>
        <p:txBody>
          <a:bodyPr wrap="none" lIns="0" tIns="0" rIns="0" bIns="0" anchor="t" anchorCtr="0">
            <a:spAutoFit/>
          </a:bodyPr>
          <a:lstStyle/>
          <a:p>
            <a:r>
              <a:rPr dirty="0"/>
              <a:t>The oracle is used only for evaluation; it is not available at </a:t>
            </a:r>
            <a:r>
              <a:rPr lang="en-US" dirty="0"/>
              <a:t>run</a:t>
            </a:r>
            <a:r>
              <a:rPr dirty="0"/>
              <a:t> time.</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1250000" y="6619000"/>
            <a:ext cx="640000" cy="180000"/>
          </a:xfrm>
          <a:prstGeom prst="rect">
            <a:avLst/>
          </a:prstGeom>
          <a:noFill/>
        </p:spPr>
        <p:txBody>
          <a:bodyPr wrap="none" lIns="0" rIns="0" tIns="0" bIns="0" anchor="ctr">
            <a:spAutoFit/>
          </a:bodyPr>
          <a:lstStyle/>
          <a:p>
            <a:pPr algn="r"/>
            <a:r>
              <a:rPr sz="1000">
                <a:solidFill>
                  <a:srgbClr val="FFFFFF"/>
                </a:solidFill>
              </a:rPr>
              <a:t>3/26</a:t>
            </a:r>
          </a:p>
        </p:txBody>
      </p:sp>
      <p:sp>
        <p:nvSpPr>
          <p:cNvPr id="35" name="Rectangle 34"/>
          <p:cNvSpPr/>
          <p:nvPr/>
        </p:nvSpPr>
        <p:spPr>
          <a:xfrm>
            <a:off x="11387328" y="6611112"/>
            <a:ext cx="685800" cy="201168"/>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387328" y="6611112"/>
            <a:ext cx="685800" cy="201168"/>
          </a:xfrm>
          <a:prstGeom prst="rect">
            <a:avLst/>
          </a:prstGeom>
          <a:noFill/>
        </p:spPr>
        <p:txBody>
          <a:bodyPr wrap="none" lIns="0" rIns="0" tIns="0" bIns="0" anchor="ctr">
            <a:spAutoFit/>
          </a:bodyPr>
          <a:lstStyle/>
          <a:p>
            <a:pPr algn="r"/>
            <a:r>
              <a:rPr sz="1000">
                <a:solidFill>
                  <a:srgbClr val="FFFFFF"/>
                </a:solidFill>
                <a:latin typeface="Arial"/>
              </a:rPr>
              <a:t>3/26</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odel_slide_11.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11387328" y="6611112"/>
            <a:ext cx="685800" cy="201168"/>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387328" y="6611112"/>
            <a:ext cx="685800" cy="201168"/>
          </a:xfrm>
          <a:prstGeom prst="rect">
            <a:avLst/>
          </a:prstGeom>
          <a:noFill/>
        </p:spPr>
        <p:txBody>
          <a:bodyPr wrap="none" lIns="0" rIns="0" tIns="0" bIns="0" anchor="ctr">
            <a:spAutoFit/>
          </a:bodyPr>
          <a:lstStyle/>
          <a:p>
            <a:pPr algn="r"/>
            <a:r>
              <a:rPr sz="1000">
                <a:solidFill>
                  <a:srgbClr val="FFFFFF"/>
                </a:solidFill>
                <a:latin typeface="Arial"/>
              </a:rPr>
              <a:t>13/26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odel_slide_12.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11387328" y="6611112"/>
            <a:ext cx="685800" cy="201168"/>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387328" y="6611112"/>
            <a:ext cx="685800" cy="201168"/>
          </a:xfrm>
          <a:prstGeom prst="rect">
            <a:avLst/>
          </a:prstGeom>
          <a:noFill/>
        </p:spPr>
        <p:txBody>
          <a:bodyPr wrap="none" lIns="0" rIns="0" tIns="0" bIns="0" anchor="ctr">
            <a:spAutoFit/>
          </a:bodyPr>
          <a:lstStyle/>
          <a:p>
            <a:pPr algn="r"/>
            <a:r>
              <a:rPr sz="1000">
                <a:solidFill>
                  <a:srgbClr val="FFFFFF"/>
                </a:solidFill>
                <a:latin typeface="Arial"/>
              </a:rPr>
              <a:t>12/26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odel_slide_13.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11387328" y="6611112"/>
            <a:ext cx="685800" cy="201168"/>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387328" y="6611112"/>
            <a:ext cx="685800" cy="201168"/>
          </a:xfrm>
          <a:prstGeom prst="rect">
            <a:avLst/>
          </a:prstGeom>
          <a:noFill/>
        </p:spPr>
        <p:txBody>
          <a:bodyPr wrap="none" lIns="0" rIns="0" tIns="0" bIns="0" anchor="ctr">
            <a:spAutoFit/>
          </a:bodyPr>
          <a:lstStyle/>
          <a:p>
            <a:pPr algn="r"/>
            <a:r>
              <a:rPr sz="1000">
                <a:solidFill>
                  <a:srgbClr val="FFFFFF"/>
                </a:solidFill>
                <a:latin typeface="Arial"/>
              </a:rPr>
              <a:t>14/26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odel_slide_14.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11387328" y="6611112"/>
            <a:ext cx="685800" cy="201168"/>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387328" y="6611112"/>
            <a:ext cx="685800" cy="201168"/>
          </a:xfrm>
          <a:prstGeom prst="rect">
            <a:avLst/>
          </a:prstGeom>
          <a:noFill/>
        </p:spPr>
        <p:txBody>
          <a:bodyPr wrap="none" lIns="0" rIns="0" tIns="0" bIns="0" anchor="ctr">
            <a:spAutoFit/>
          </a:bodyPr>
          <a:lstStyle/>
          <a:p>
            <a:pPr algn="r"/>
            <a:r>
              <a:rPr sz="1000">
                <a:solidFill>
                  <a:srgbClr val="FFFFFF"/>
                </a:solidFill>
                <a:latin typeface="Arial"/>
              </a:rPr>
              <a:t>15/26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2_algorithm_portfolio_v2.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250000" y="6619000"/>
            <a:ext cx="640000" cy="180000"/>
          </a:xfrm>
          <a:prstGeom prst="rect">
            <a:avLst/>
          </a:prstGeom>
          <a:noFill/>
        </p:spPr>
        <p:txBody>
          <a:bodyPr wrap="none" lIns="0" rIns="0" tIns="0" bIns="0" anchor="ctr">
            <a:spAutoFit/>
          </a:bodyPr>
          <a:lstStyle/>
          <a:p>
            <a:pPr algn="r"/>
            <a:r>
              <a:rPr sz="1000" b="0">
                <a:solidFill>
                  <a:srgbClr val="FFFFFF"/>
                </a:solidFill>
                <a:latin typeface="Arial"/>
              </a:rPr>
              <a:t>15/30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grpSp>
        <p:nvGrpSpPr>
          <p:cNvPr id="23" name="Group 23"/>
          <p:cNvGrpSpPr/>
          <p:nvPr/>
        </p:nvGrpSpPr>
        <p:grpSpPr>
          <a:xfrm>
            <a:off x="552450" y="1295400"/>
            <a:ext cx="2844241" cy="3257550"/>
            <a:chOff x="552450" y="1104900"/>
            <a:chExt cx="2844241" cy="3257550"/>
          </a:xfrm>
        </p:grpSpPr>
        <p:sp>
          <p:nvSpPr>
            <p:cNvPr id="6" name="Freeform 6"/>
            <p:cNvSpPr/>
            <p:nvPr/>
          </p:nvSpPr>
          <p:spPr>
            <a:xfrm>
              <a:off x="552450" y="1104900"/>
              <a:ext cx="2381250" cy="3257550"/>
            </a:xfrm>
            <a:custGeom>
              <a:avLst/>
              <a:gdLst/>
              <a:ahLst/>
              <a:cxnLst/>
              <a:rect l="l" t="t" r="r" b="b"/>
              <a:pathLst>
                <a:path w="2381250" h="3257550">
                  <a:moveTo>
                    <a:pt x="95250" y="0"/>
                  </a:moveTo>
                  <a:lnTo>
                    <a:pt x="2286000" y="0"/>
                  </a:lnTo>
                  <a:cubicBezTo>
                    <a:pt x="2338605" y="0"/>
                    <a:pt x="2381250" y="42645"/>
                    <a:pt x="2381250" y="95250"/>
                  </a:cubicBezTo>
                  <a:lnTo>
                    <a:pt x="2381250" y="3162300"/>
                  </a:lnTo>
                  <a:cubicBezTo>
                    <a:pt x="2381250" y="3214905"/>
                    <a:pt x="2338605" y="3257550"/>
                    <a:pt x="228600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txBody>
            <a:bodyPr/>
            <a:lstStyle/>
            <a:p>
              <a:endParaRPr lang="en-TR" dirty="0"/>
            </a:p>
          </p:txBody>
        </p:sp>
        <p:sp>
          <p:nvSpPr>
            <p:cNvPr id="7" name="Rectangle 7"/>
            <p:cNvSpPr/>
            <p:nvPr/>
          </p:nvSpPr>
          <p:spPr>
            <a:xfrm>
              <a:off x="552450" y="1104900"/>
              <a:ext cx="2381250" cy="476250"/>
            </a:xfrm>
            <a:prstGeom prst="rect">
              <a:avLst/>
            </a:prstGeom>
            <a:solidFill>
              <a:srgbClr val="F8FAFC"/>
            </a:solidFill>
            <a:ln w="9525">
              <a:solidFill>
                <a:srgbClr val="CBD5E1"/>
              </a:solidFill>
            </a:ln>
          </p:spPr>
        </p:sp>
        <p:sp>
          <p:nvSpPr>
            <p:cNvPr id="8" name="TextBox 8"/>
            <p:cNvSpPr txBox="1"/>
            <p:nvPr/>
          </p:nvSpPr>
          <p:spPr>
            <a:xfrm>
              <a:off x="876501" y="1257300"/>
              <a:ext cx="173314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Problem space P</a:t>
              </a:r>
            </a:p>
          </p:txBody>
        </p:sp>
        <p:sp>
          <p:nvSpPr>
            <p:cNvPr id="9" name="TextBox 9"/>
            <p:cNvSpPr txBox="1"/>
            <p:nvPr/>
          </p:nvSpPr>
          <p:spPr>
            <a:xfrm>
              <a:off x="831342" y="1778318"/>
              <a:ext cx="1258614"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numeric array</a:t>
              </a:r>
            </a:p>
          </p:txBody>
        </p:sp>
        <p:sp>
          <p:nvSpPr>
            <p:cNvPr id="10" name="TextBox 10"/>
            <p:cNvSpPr txBox="1"/>
            <p:nvPr/>
          </p:nvSpPr>
          <p:spPr>
            <a:xfrm>
              <a:off x="832485" y="21264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[4, 5, 5, 6, 17, 18,</a:t>
              </a:r>
            </a:p>
          </p:txBody>
        </p:sp>
        <p:sp>
          <p:nvSpPr>
            <p:cNvPr id="11" name="TextBox 11"/>
            <p:cNvSpPr txBox="1"/>
            <p:nvPr/>
          </p:nvSpPr>
          <p:spPr>
            <a:xfrm>
              <a:off x="832485" y="23550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19, 2, 2, 3, 31, 45]</a:t>
              </a:r>
            </a:p>
          </p:txBody>
        </p:sp>
        <p:sp>
          <p:nvSpPr>
            <p:cNvPr id="12" name="Line 12"/>
            <p:cNvSpPr/>
            <p:nvPr/>
          </p:nvSpPr>
          <p:spPr>
            <a:xfrm>
              <a:off x="838200" y="2886075"/>
              <a:ext cx="1809750" cy="9525"/>
            </a:xfrm>
            <a:custGeom>
              <a:avLst/>
              <a:gdLst/>
              <a:ahLst/>
              <a:cxnLst/>
              <a:rect l="l" t="t" r="r" b="b"/>
              <a:pathLst>
                <a:path w="1809750" h="9525">
                  <a:moveTo>
                    <a:pt x="0" y="0"/>
                  </a:moveTo>
                  <a:lnTo>
                    <a:pt x="1809750" y="0"/>
                  </a:lnTo>
                </a:path>
              </a:pathLst>
            </a:custGeom>
            <a:noFill/>
            <a:ln w="9525">
              <a:solidFill>
                <a:srgbClr val="E2E8F0"/>
              </a:solidFill>
            </a:ln>
          </p:spPr>
        </p:sp>
        <p:sp>
          <p:nvSpPr>
            <p:cNvPr id="13" name="Rectangle 13"/>
            <p:cNvSpPr/>
            <p:nvPr/>
          </p:nvSpPr>
          <p:spPr>
            <a:xfrm>
              <a:off x="857250" y="3105150"/>
              <a:ext cx="142875" cy="209550"/>
            </a:xfrm>
            <a:prstGeom prst="rect">
              <a:avLst/>
            </a:prstGeom>
            <a:solidFill>
              <a:srgbClr val="E2E8F0"/>
            </a:solidFill>
            <a:ln>
              <a:noFill/>
            </a:ln>
          </p:spPr>
        </p:sp>
        <p:sp>
          <p:nvSpPr>
            <p:cNvPr id="14" name="Rectangle 14"/>
            <p:cNvSpPr/>
            <p:nvPr/>
          </p:nvSpPr>
          <p:spPr>
            <a:xfrm>
              <a:off x="1066800" y="3067050"/>
              <a:ext cx="142875" cy="247650"/>
            </a:xfrm>
            <a:prstGeom prst="rect">
              <a:avLst/>
            </a:prstGeom>
            <a:solidFill>
              <a:srgbClr val="E2E8F0"/>
            </a:solidFill>
            <a:ln>
              <a:noFill/>
            </a:ln>
          </p:spPr>
        </p:sp>
        <p:sp>
          <p:nvSpPr>
            <p:cNvPr id="15" name="Rectangle 15"/>
            <p:cNvSpPr/>
            <p:nvPr/>
          </p:nvSpPr>
          <p:spPr>
            <a:xfrm>
              <a:off x="1276350" y="3067050"/>
              <a:ext cx="142875" cy="247650"/>
            </a:xfrm>
            <a:prstGeom prst="rect">
              <a:avLst/>
            </a:prstGeom>
            <a:solidFill>
              <a:srgbClr val="E2E8F0"/>
            </a:solidFill>
            <a:ln>
              <a:noFill/>
            </a:ln>
          </p:spPr>
        </p:sp>
        <p:sp>
          <p:nvSpPr>
            <p:cNvPr id="16" name="Rectangle 16"/>
            <p:cNvSpPr/>
            <p:nvPr/>
          </p:nvSpPr>
          <p:spPr>
            <a:xfrm>
              <a:off x="1485900" y="3009900"/>
              <a:ext cx="142875" cy="304800"/>
            </a:xfrm>
            <a:prstGeom prst="rect">
              <a:avLst/>
            </a:prstGeom>
            <a:solidFill>
              <a:srgbClr val="E2E8F0"/>
            </a:solidFill>
            <a:ln>
              <a:noFill/>
            </a:ln>
          </p:spPr>
        </p:sp>
        <p:sp>
          <p:nvSpPr>
            <p:cNvPr id="17" name="Rectangle 17"/>
            <p:cNvSpPr/>
            <p:nvPr/>
          </p:nvSpPr>
          <p:spPr>
            <a:xfrm>
              <a:off x="1695450" y="2571750"/>
              <a:ext cx="142875" cy="742950"/>
            </a:xfrm>
            <a:prstGeom prst="rect">
              <a:avLst/>
            </a:prstGeom>
            <a:solidFill>
              <a:srgbClr val="D97757"/>
            </a:solidFill>
            <a:ln>
              <a:noFill/>
            </a:ln>
          </p:spPr>
        </p:sp>
        <p:sp>
          <p:nvSpPr>
            <p:cNvPr id="18" name="Rectangle 18"/>
            <p:cNvSpPr/>
            <p:nvPr/>
          </p:nvSpPr>
          <p:spPr>
            <a:xfrm>
              <a:off x="1905000" y="2533650"/>
              <a:ext cx="142875" cy="781050"/>
            </a:xfrm>
            <a:prstGeom prst="rect">
              <a:avLst/>
            </a:prstGeom>
            <a:solidFill>
              <a:srgbClr val="D97757"/>
            </a:solidFill>
            <a:ln>
              <a:noFill/>
            </a:ln>
          </p:spPr>
        </p:sp>
        <p:sp>
          <p:nvSpPr>
            <p:cNvPr id="19" name="Rectangle 19"/>
            <p:cNvSpPr/>
            <p:nvPr/>
          </p:nvSpPr>
          <p:spPr>
            <a:xfrm>
              <a:off x="2114550" y="2495550"/>
              <a:ext cx="142875" cy="819150"/>
            </a:xfrm>
            <a:prstGeom prst="rect">
              <a:avLst/>
            </a:prstGeom>
            <a:solidFill>
              <a:srgbClr val="D97757"/>
            </a:solidFill>
            <a:ln>
              <a:noFill/>
            </a:ln>
          </p:spPr>
        </p:sp>
        <p:sp>
          <p:nvSpPr>
            <p:cNvPr id="20" name="Rectangle 20"/>
            <p:cNvSpPr/>
            <p:nvPr/>
          </p:nvSpPr>
          <p:spPr>
            <a:xfrm>
              <a:off x="2324100" y="3219450"/>
              <a:ext cx="142875" cy="95250"/>
            </a:xfrm>
            <a:prstGeom prst="rect">
              <a:avLst/>
            </a:prstGeom>
            <a:solidFill>
              <a:srgbClr val="BA1D2C"/>
            </a:solidFill>
            <a:ln>
              <a:noFill/>
            </a:ln>
          </p:spPr>
        </p:sp>
        <p:sp>
          <p:nvSpPr>
            <p:cNvPr id="21" name="Rectangle 21"/>
            <p:cNvSpPr/>
            <p:nvPr/>
          </p:nvSpPr>
          <p:spPr>
            <a:xfrm>
              <a:off x="2533650" y="3219450"/>
              <a:ext cx="142875" cy="95250"/>
            </a:xfrm>
            <a:prstGeom prst="rect">
              <a:avLst/>
            </a:prstGeom>
            <a:solidFill>
              <a:srgbClr val="BA1D2C"/>
            </a:solidFill>
            <a:ln>
              <a:noFill/>
            </a:ln>
          </p:spPr>
        </p:sp>
        <p:sp>
          <p:nvSpPr>
            <p:cNvPr id="22" name="TextBox 22"/>
            <p:cNvSpPr txBox="1"/>
            <p:nvPr/>
          </p:nvSpPr>
          <p:spPr>
            <a:xfrm>
              <a:off x="832104" y="3680460"/>
              <a:ext cx="2564587"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order, runs, duplicates, spread</a:t>
              </a:r>
            </a:p>
          </p:txBody>
        </p:sp>
      </p:grpSp>
      <p:grpSp>
        <p:nvGrpSpPr>
          <p:cNvPr id="39" name="Group 39"/>
          <p:cNvGrpSpPr/>
          <p:nvPr/>
        </p:nvGrpSpPr>
        <p:grpSpPr>
          <a:xfrm>
            <a:off x="3524250" y="1295400"/>
            <a:ext cx="2655189" cy="3257550"/>
            <a:chOff x="3524250" y="1104900"/>
            <a:chExt cx="2655189" cy="3257550"/>
          </a:xfrm>
        </p:grpSpPr>
        <p:sp>
          <p:nvSpPr>
            <p:cNvPr id="24" name="Freeform 24"/>
            <p:cNvSpPr/>
            <p:nvPr/>
          </p:nvSpPr>
          <p:spPr>
            <a:xfrm>
              <a:off x="3524250" y="1104900"/>
              <a:ext cx="2476500" cy="3257550"/>
            </a:xfrm>
            <a:custGeom>
              <a:avLst/>
              <a:gdLst/>
              <a:ahLst/>
              <a:cxnLst/>
              <a:rect l="l" t="t" r="r" b="b"/>
              <a:pathLst>
                <a:path w="2476500" h="3257550">
                  <a:moveTo>
                    <a:pt x="95250" y="0"/>
                  </a:moveTo>
                  <a:lnTo>
                    <a:pt x="2381250" y="0"/>
                  </a:lnTo>
                  <a:cubicBezTo>
                    <a:pt x="2433855" y="0"/>
                    <a:pt x="2476500" y="42645"/>
                    <a:pt x="2476500" y="95250"/>
                  </a:cubicBezTo>
                  <a:lnTo>
                    <a:pt x="2476500" y="3162300"/>
                  </a:lnTo>
                  <a:cubicBezTo>
                    <a:pt x="2476500" y="3214905"/>
                    <a:pt x="2433855" y="3257550"/>
                    <a:pt x="23812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25" name="Rectangle 25"/>
            <p:cNvSpPr/>
            <p:nvPr/>
          </p:nvSpPr>
          <p:spPr>
            <a:xfrm>
              <a:off x="3524250" y="1104900"/>
              <a:ext cx="2476500" cy="476250"/>
            </a:xfrm>
            <a:prstGeom prst="rect">
              <a:avLst/>
            </a:prstGeom>
            <a:solidFill>
              <a:srgbClr val="F8FAFC"/>
            </a:solidFill>
            <a:ln w="9525">
              <a:solidFill>
                <a:srgbClr val="CBD5E1"/>
              </a:solidFill>
            </a:ln>
          </p:spPr>
        </p:sp>
        <p:sp>
          <p:nvSpPr>
            <p:cNvPr id="26" name="TextBox 26"/>
            <p:cNvSpPr txBox="1"/>
            <p:nvPr/>
          </p:nvSpPr>
          <p:spPr>
            <a:xfrm>
              <a:off x="3890349" y="1257300"/>
              <a:ext cx="1744302"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Feature space F</a:t>
              </a:r>
            </a:p>
          </p:txBody>
        </p:sp>
        <p:sp>
          <p:nvSpPr>
            <p:cNvPr id="27" name="TextBox 27"/>
            <p:cNvSpPr txBox="1"/>
            <p:nvPr/>
          </p:nvSpPr>
          <p:spPr>
            <a:xfrm>
              <a:off x="3803142" y="1778318"/>
              <a:ext cx="2376297"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structural array features</a:t>
              </a:r>
            </a:p>
          </p:txBody>
        </p:sp>
        <p:sp>
          <p:nvSpPr>
            <p:cNvPr id="28" name="Rectangle 28"/>
            <p:cNvSpPr/>
            <p:nvPr/>
          </p:nvSpPr>
          <p:spPr>
            <a:xfrm>
              <a:off x="3810000" y="2209800"/>
              <a:ext cx="1905000" cy="1524000"/>
            </a:xfrm>
            <a:prstGeom prst="rect">
              <a:avLst/>
            </a:prstGeom>
            <a:solidFill>
              <a:srgbClr val="FFFFFF"/>
            </a:solidFill>
            <a:ln w="9525">
              <a:solidFill>
                <a:srgbClr val="E2E8F0"/>
              </a:solidFill>
            </a:ln>
          </p:spPr>
        </p:sp>
        <p:sp>
          <p:nvSpPr>
            <p:cNvPr id="29" name="Line 29"/>
            <p:cNvSpPr/>
            <p:nvPr/>
          </p:nvSpPr>
          <p:spPr>
            <a:xfrm>
              <a:off x="3810000" y="25146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0" name="Line 30"/>
            <p:cNvSpPr/>
            <p:nvPr/>
          </p:nvSpPr>
          <p:spPr>
            <a:xfrm>
              <a:off x="3810000" y="28194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1" name="Line 31"/>
            <p:cNvSpPr/>
            <p:nvPr/>
          </p:nvSpPr>
          <p:spPr>
            <a:xfrm>
              <a:off x="3810000" y="31242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2" name="Line 32"/>
            <p:cNvSpPr/>
            <p:nvPr/>
          </p:nvSpPr>
          <p:spPr>
            <a:xfrm>
              <a:off x="3810000" y="34290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3" name="TextBox 33"/>
            <p:cNvSpPr txBox="1"/>
            <p:nvPr/>
          </p:nvSpPr>
          <p:spPr>
            <a:xfrm>
              <a:off x="3975735" y="2297906"/>
              <a:ext cx="30675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size</a:t>
              </a:r>
            </a:p>
          </p:txBody>
        </p:sp>
        <p:sp>
          <p:nvSpPr>
            <p:cNvPr id="34" name="TextBox 34"/>
            <p:cNvSpPr txBox="1"/>
            <p:nvPr/>
          </p:nvSpPr>
          <p:spPr>
            <a:xfrm>
              <a:off x="3975735" y="2602706"/>
              <a:ext cx="164706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sortedness / disorder</a:t>
              </a:r>
            </a:p>
          </p:txBody>
        </p:sp>
        <p:sp>
          <p:nvSpPr>
            <p:cNvPr id="35" name="TextBox 35"/>
            <p:cNvSpPr txBox="1"/>
            <p:nvPr/>
          </p:nvSpPr>
          <p:spPr>
            <a:xfrm>
              <a:off x="3975735" y="2907506"/>
              <a:ext cx="34461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runs</a:t>
              </a:r>
            </a:p>
          </p:txBody>
        </p:sp>
        <p:sp>
          <p:nvSpPr>
            <p:cNvPr id="36" name="TextBox 36"/>
            <p:cNvSpPr txBox="1"/>
            <p:nvPr/>
          </p:nvSpPr>
          <p:spPr>
            <a:xfrm>
              <a:off x="3975735" y="3212306"/>
              <a:ext cx="152590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duplicates / entropy</a:t>
              </a:r>
            </a:p>
          </p:txBody>
        </p:sp>
        <p:sp>
          <p:nvSpPr>
            <p:cNvPr id="37" name="TextBox 37"/>
            <p:cNvSpPr txBox="1"/>
            <p:nvPr/>
          </p:nvSpPr>
          <p:spPr>
            <a:xfrm>
              <a:off x="3975735" y="3517106"/>
              <a:ext cx="1276017"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spread / outliers</a:t>
              </a:r>
            </a:p>
          </p:txBody>
        </p:sp>
        <p:sp>
          <p:nvSpPr>
            <p:cNvPr id="38" name="TextBox 38"/>
            <p:cNvSpPr txBox="1"/>
            <p:nvPr/>
          </p:nvSpPr>
          <p:spPr>
            <a:xfrm>
              <a:off x="4341076" y="3911918"/>
              <a:ext cx="842848" cy="264033"/>
            </a:xfrm>
            <a:prstGeom prst="rect">
              <a:avLst/>
            </a:prstGeom>
            <a:noFill/>
            <a:ln>
              <a:noFill/>
            </a:ln>
          </p:spPr>
          <p:txBody>
            <a:bodyPr wrap="none" lIns="0" tIns="0" rIns="0" bIns="0" anchor="t" anchorCtr="0">
              <a:spAutoFit/>
            </a:bodyPr>
            <a:lstStyle/>
            <a:p>
              <a:pPr algn="ctr"/>
              <a:r>
                <a:rPr lang="en-US" sz="1350" dirty="0">
                  <a:solidFill>
                    <a:srgbClr val="8F1D3A"/>
                  </a:solidFill>
                  <a:latin typeface="Consolas"/>
                  <a:ea typeface="Consolas"/>
                  <a:cs typeface="Consolas"/>
                </a:rPr>
                <a:t>x ∈ R^16</a:t>
              </a:r>
            </a:p>
          </p:txBody>
        </p:sp>
      </p:grpSp>
      <p:grpSp>
        <p:nvGrpSpPr>
          <p:cNvPr id="46" name="Group 46"/>
          <p:cNvGrpSpPr/>
          <p:nvPr/>
        </p:nvGrpSpPr>
        <p:grpSpPr>
          <a:xfrm>
            <a:off x="6496050" y="1543050"/>
            <a:ext cx="2190750" cy="2762250"/>
            <a:chOff x="6496050" y="1352550"/>
            <a:chExt cx="2190750" cy="2762250"/>
          </a:xfrm>
        </p:grpSpPr>
        <p:sp>
          <p:nvSpPr>
            <p:cNvPr id="40" name="Freeform 40"/>
            <p:cNvSpPr/>
            <p:nvPr/>
          </p:nvSpPr>
          <p:spPr>
            <a:xfrm>
              <a:off x="6496050" y="1352550"/>
              <a:ext cx="2190750" cy="2762250"/>
            </a:xfrm>
            <a:custGeom>
              <a:avLst/>
              <a:gdLst/>
              <a:ahLst/>
              <a:cxnLst/>
              <a:rect l="l" t="t" r="r" b="b"/>
              <a:pathLst>
                <a:path w="2190750" h="2762250">
                  <a:moveTo>
                    <a:pt x="114300" y="0"/>
                  </a:moveTo>
                  <a:lnTo>
                    <a:pt x="2076450" y="0"/>
                  </a:lnTo>
                  <a:cubicBezTo>
                    <a:pt x="2139576" y="0"/>
                    <a:pt x="2190750" y="51174"/>
                    <a:pt x="2190750" y="114300"/>
                  </a:cubicBezTo>
                  <a:lnTo>
                    <a:pt x="2190750" y="2647950"/>
                  </a:lnTo>
                  <a:cubicBezTo>
                    <a:pt x="2190750" y="2711076"/>
                    <a:pt x="2139576" y="2762250"/>
                    <a:pt x="2076450" y="2762250"/>
                  </a:cubicBezTo>
                  <a:lnTo>
                    <a:pt x="114300" y="2762250"/>
                  </a:lnTo>
                  <a:cubicBezTo>
                    <a:pt x="51174" y="2762250"/>
                    <a:pt x="0" y="2711076"/>
                    <a:pt x="0" y="2647950"/>
                  </a:cubicBezTo>
                  <a:lnTo>
                    <a:pt x="0" y="114300"/>
                  </a:lnTo>
                  <a:cubicBezTo>
                    <a:pt x="0" y="51174"/>
                    <a:pt x="51174" y="0"/>
                    <a:pt x="114300" y="0"/>
                  </a:cubicBezTo>
                  <a:close/>
                </a:path>
              </a:pathLst>
            </a:custGeom>
            <a:solidFill>
              <a:srgbClr val="F8FAFC"/>
            </a:solidFill>
            <a:ln w="12700">
              <a:solidFill>
                <a:srgbClr val="DBE4EF"/>
              </a:solidFill>
            </a:ln>
          </p:spPr>
        </p:sp>
        <p:sp>
          <p:nvSpPr>
            <p:cNvPr id="41" name="TextBox 41"/>
            <p:cNvSpPr txBox="1"/>
            <p:nvPr/>
          </p:nvSpPr>
          <p:spPr>
            <a:xfrm>
              <a:off x="7008610" y="1750219"/>
              <a:ext cx="1165631" cy="366712"/>
            </a:xfrm>
            <a:prstGeom prst="rect">
              <a:avLst/>
            </a:prstGeom>
            <a:noFill/>
            <a:ln>
              <a:noFill/>
            </a:ln>
          </p:spPr>
          <p:txBody>
            <a:bodyPr wrap="none" lIns="0" tIns="0" rIns="0" bIns="0" anchor="t" anchorCtr="0">
              <a:spAutoFit/>
            </a:bodyPr>
            <a:lstStyle/>
            <a:p>
              <a:pPr algn="ctr"/>
              <a:r>
                <a:rPr lang="en-US" sz="1880" b="1" dirty="0">
                  <a:solidFill>
                    <a:srgbClr val="1B1B1D"/>
                  </a:solidFill>
                  <a:latin typeface="Anthropic Sans"/>
                  <a:ea typeface="Anthropic Sans"/>
                  <a:cs typeface="Anthropic Sans"/>
                </a:rPr>
                <a:t>Selector</a:t>
              </a:r>
            </a:p>
          </p:txBody>
        </p:sp>
        <p:sp>
          <p:nvSpPr>
            <p:cNvPr id="42" name="TextBox 42"/>
            <p:cNvSpPr txBox="1"/>
            <p:nvPr/>
          </p:nvSpPr>
          <p:spPr>
            <a:xfrm>
              <a:off x="6995360" y="2174558"/>
              <a:ext cx="1192130" cy="322707"/>
            </a:xfrm>
            <a:prstGeom prst="rect">
              <a:avLst/>
            </a:prstGeom>
            <a:noFill/>
            <a:ln>
              <a:noFill/>
            </a:ln>
          </p:spPr>
          <p:txBody>
            <a:bodyPr wrap="none" lIns="0" tIns="0" rIns="0" bIns="0" anchor="t" anchorCtr="0">
              <a:spAutoFit/>
            </a:bodyPr>
            <a:lstStyle/>
            <a:p>
              <a:pPr algn="ctr"/>
              <a:r>
                <a:rPr lang="en-US" sz="1650" dirty="0">
                  <a:solidFill>
                    <a:srgbClr val="9A173D"/>
                  </a:solidFill>
                  <a:latin typeface="Consolas"/>
                  <a:ea typeface="Consolas"/>
                  <a:cs typeface="Consolas"/>
                </a:rPr>
                <a:t>S : F → A</a:t>
              </a:r>
            </a:p>
          </p:txBody>
        </p:sp>
        <p:sp>
          <p:nvSpPr>
            <p:cNvPr id="43" name="Line 43"/>
            <p:cNvSpPr/>
            <p:nvPr/>
          </p:nvSpPr>
          <p:spPr>
            <a:xfrm>
              <a:off x="6934200" y="2724150"/>
              <a:ext cx="1314450" cy="9525"/>
            </a:xfrm>
            <a:custGeom>
              <a:avLst/>
              <a:gdLst/>
              <a:ahLst/>
              <a:cxnLst/>
              <a:rect l="l" t="t" r="r" b="b"/>
              <a:pathLst>
                <a:path w="1314450" h="9525">
                  <a:moveTo>
                    <a:pt x="0" y="0"/>
                  </a:moveTo>
                  <a:lnTo>
                    <a:pt x="1314450" y="0"/>
                  </a:lnTo>
                </a:path>
              </a:pathLst>
            </a:custGeom>
            <a:noFill/>
            <a:ln w="9525">
              <a:solidFill>
                <a:srgbClr val="64748B"/>
              </a:solidFill>
            </a:ln>
          </p:spPr>
        </p:sp>
        <p:sp>
          <p:nvSpPr>
            <p:cNvPr id="44" name="TextBox 44"/>
            <p:cNvSpPr txBox="1"/>
            <p:nvPr/>
          </p:nvSpPr>
          <p:spPr>
            <a:xfrm>
              <a:off x="6634123" y="2989421"/>
              <a:ext cx="1914604" cy="278702"/>
            </a:xfrm>
            <a:prstGeom prst="rect">
              <a:avLst/>
            </a:prstGeom>
            <a:noFill/>
            <a:ln>
              <a:noFill/>
            </a:ln>
          </p:spPr>
          <p:txBody>
            <a:bodyPr wrap="none" lIns="0" tIns="0" rIns="0" bIns="0" anchor="t" anchorCtr="0">
              <a:spAutoFit/>
            </a:bodyPr>
            <a:lstStyle/>
            <a:p>
              <a:pPr algn="ctr"/>
              <a:r>
                <a:rPr lang="en-US" sz="1420" b="1" dirty="0">
                  <a:solidFill>
                    <a:srgbClr val="1B1B1D"/>
                  </a:solidFill>
                  <a:latin typeface="Anthropic Sans"/>
                  <a:ea typeface="Anthropic Sans"/>
                  <a:cs typeface="Anthropic Sans"/>
                </a:rPr>
                <a:t>XGBoost classifier</a:t>
              </a:r>
            </a:p>
          </p:txBody>
        </p:sp>
        <p:sp>
          <p:nvSpPr>
            <p:cNvPr id="45" name="TextBox 45"/>
            <p:cNvSpPr txBox="1"/>
            <p:nvPr/>
          </p:nvSpPr>
          <p:spPr>
            <a:xfrm>
              <a:off x="6733184" y="3318510"/>
              <a:ext cx="1716481" cy="234696"/>
            </a:xfrm>
            <a:prstGeom prst="rect">
              <a:avLst/>
            </a:prstGeom>
            <a:noFill/>
            <a:ln>
              <a:noFill/>
            </a:ln>
          </p:spPr>
          <p:txBody>
            <a:bodyPr wrap="none" lIns="0" tIns="0" rIns="0" bIns="0" anchor="t" anchorCtr="0">
              <a:spAutoFit/>
            </a:bodyPr>
            <a:lstStyle/>
            <a:p>
              <a:pPr algn="ctr"/>
              <a:r>
                <a:rPr lang="en-US" sz="1200" dirty="0">
                  <a:solidFill>
                    <a:srgbClr val="526278"/>
                  </a:solidFill>
                  <a:latin typeface="Anthropic Sans"/>
                  <a:ea typeface="Anthropic Sans"/>
                  <a:cs typeface="Anthropic Sans"/>
                </a:rPr>
                <a:t>predict fastest class</a:t>
              </a:r>
            </a:p>
          </p:txBody>
        </p:sp>
      </p:grpSp>
      <p:grpSp>
        <p:nvGrpSpPr>
          <p:cNvPr id="56" name="Group 56"/>
          <p:cNvGrpSpPr/>
          <p:nvPr/>
        </p:nvGrpSpPr>
        <p:grpSpPr>
          <a:xfrm>
            <a:off x="9201150" y="1295400"/>
            <a:ext cx="2438400" cy="3257550"/>
            <a:chOff x="9201150" y="1104900"/>
            <a:chExt cx="2438400" cy="3257550"/>
          </a:xfrm>
        </p:grpSpPr>
        <p:sp>
          <p:nvSpPr>
            <p:cNvPr id="47" name="Freeform 47"/>
            <p:cNvSpPr/>
            <p:nvPr/>
          </p:nvSpPr>
          <p:spPr>
            <a:xfrm>
              <a:off x="9201150" y="1104900"/>
              <a:ext cx="2438400" cy="3257550"/>
            </a:xfrm>
            <a:custGeom>
              <a:avLst/>
              <a:gdLst/>
              <a:ahLst/>
              <a:cxnLst/>
              <a:rect l="l" t="t" r="r" b="b"/>
              <a:pathLst>
                <a:path w="2438400" h="3257550">
                  <a:moveTo>
                    <a:pt x="95250" y="0"/>
                  </a:moveTo>
                  <a:lnTo>
                    <a:pt x="2343150" y="0"/>
                  </a:lnTo>
                  <a:cubicBezTo>
                    <a:pt x="2395755" y="0"/>
                    <a:pt x="2438400" y="42645"/>
                    <a:pt x="2438400" y="95250"/>
                  </a:cubicBezTo>
                  <a:lnTo>
                    <a:pt x="2438400" y="3162300"/>
                  </a:lnTo>
                  <a:cubicBezTo>
                    <a:pt x="2438400" y="3214905"/>
                    <a:pt x="2395755" y="3257550"/>
                    <a:pt x="23431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48" name="Rectangle 48"/>
            <p:cNvSpPr/>
            <p:nvPr/>
          </p:nvSpPr>
          <p:spPr>
            <a:xfrm>
              <a:off x="9201150" y="1104900"/>
              <a:ext cx="2438400" cy="476250"/>
            </a:xfrm>
            <a:prstGeom prst="rect">
              <a:avLst/>
            </a:prstGeom>
            <a:solidFill>
              <a:srgbClr val="F8FAFC"/>
            </a:solidFill>
            <a:ln w="9525">
              <a:solidFill>
                <a:srgbClr val="CBD5E1"/>
              </a:solidFill>
            </a:ln>
          </p:spPr>
        </p:sp>
        <p:sp>
          <p:nvSpPr>
            <p:cNvPr id="49" name="TextBox 49"/>
            <p:cNvSpPr txBox="1"/>
            <p:nvPr/>
          </p:nvSpPr>
          <p:spPr>
            <a:xfrm>
              <a:off x="9465272" y="1257300"/>
              <a:ext cx="191015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Algorithm space A</a:t>
              </a:r>
            </a:p>
          </p:txBody>
        </p:sp>
        <p:sp>
          <p:nvSpPr>
            <p:cNvPr id="50" name="Freeform 50"/>
            <p:cNvSpPr/>
            <p:nvPr/>
          </p:nvSpPr>
          <p:spPr>
            <a:xfrm>
              <a:off x="9544050" y="20764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8F1D3A"/>
              </a:solidFill>
            </a:ln>
          </p:spPr>
        </p:sp>
        <p:sp>
          <p:nvSpPr>
            <p:cNvPr id="51" name="TextBox 51"/>
            <p:cNvSpPr txBox="1"/>
            <p:nvPr/>
          </p:nvSpPr>
          <p:spPr>
            <a:xfrm>
              <a:off x="9948134" y="2216468"/>
              <a:ext cx="944432"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Introsort</a:t>
              </a:r>
            </a:p>
          </p:txBody>
        </p:sp>
        <p:sp>
          <p:nvSpPr>
            <p:cNvPr id="52" name="Freeform 52"/>
            <p:cNvSpPr/>
            <p:nvPr/>
          </p:nvSpPr>
          <p:spPr>
            <a:xfrm>
              <a:off x="9544050" y="278130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BA1D2C"/>
              </a:solidFill>
            </a:ln>
          </p:spPr>
        </p:sp>
        <p:sp>
          <p:nvSpPr>
            <p:cNvPr id="53" name="TextBox 53"/>
            <p:cNvSpPr txBox="1"/>
            <p:nvPr/>
          </p:nvSpPr>
          <p:spPr>
            <a:xfrm>
              <a:off x="9975857" y="2921318"/>
              <a:ext cx="888985"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Heapsort</a:t>
              </a:r>
            </a:p>
          </p:txBody>
        </p:sp>
        <p:sp>
          <p:nvSpPr>
            <p:cNvPr id="54" name="Freeform 54"/>
            <p:cNvSpPr/>
            <p:nvPr/>
          </p:nvSpPr>
          <p:spPr>
            <a:xfrm>
              <a:off x="9544050" y="34861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4511E"/>
            </a:solidFill>
            <a:ln>
              <a:noFill/>
            </a:ln>
          </p:spPr>
        </p:sp>
        <p:sp>
          <p:nvSpPr>
            <p:cNvPr id="55" name="TextBox 55"/>
            <p:cNvSpPr txBox="1"/>
            <p:nvPr/>
          </p:nvSpPr>
          <p:spPr>
            <a:xfrm>
              <a:off x="10033336" y="3626168"/>
              <a:ext cx="774028"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nthropic Sans"/>
                  <a:ea typeface="Anthropic Sans"/>
                  <a:cs typeface="Anthropic Sans"/>
                </a:rPr>
                <a:t>Timsort</a:t>
              </a:r>
            </a:p>
          </p:txBody>
        </p:sp>
      </p:grpSp>
      <p:grpSp>
        <p:nvGrpSpPr>
          <p:cNvPr id="63" name="Group 63"/>
          <p:cNvGrpSpPr/>
          <p:nvPr/>
        </p:nvGrpSpPr>
        <p:grpSpPr>
          <a:xfrm>
            <a:off x="2933700" y="2819400"/>
            <a:ext cx="6267450" cy="209550"/>
            <a:chOff x="2933700" y="2628900"/>
            <a:chExt cx="6267450" cy="209550"/>
          </a:xfrm>
        </p:grpSpPr>
        <p:sp>
          <p:nvSpPr>
            <p:cNvPr id="57" name="Freeform 57"/>
            <p:cNvSpPr/>
            <p:nvPr/>
          </p:nvSpPr>
          <p:spPr>
            <a:xfrm>
              <a:off x="2933700" y="2733675"/>
              <a:ext cx="590550" cy="9525"/>
            </a:xfrm>
            <a:custGeom>
              <a:avLst/>
              <a:gdLst/>
              <a:ahLst/>
              <a:cxnLst/>
              <a:rect l="l" t="t" r="r" b="b"/>
              <a:pathLst>
                <a:path w="590550" h="9525">
                  <a:moveTo>
                    <a:pt x="0" y="0"/>
                  </a:moveTo>
                  <a:lnTo>
                    <a:pt x="590550" y="0"/>
                  </a:lnTo>
                </a:path>
              </a:pathLst>
            </a:custGeom>
            <a:solidFill>
              <a:srgbClr val="000000"/>
            </a:solidFill>
            <a:ln w="38100">
              <a:solidFill>
                <a:srgbClr val="D97757"/>
              </a:solidFill>
            </a:ln>
          </p:spPr>
        </p:sp>
        <p:sp>
          <p:nvSpPr>
            <p:cNvPr id="58" name="Freeform 58"/>
            <p:cNvSpPr/>
            <p:nvPr/>
          </p:nvSpPr>
          <p:spPr>
            <a:xfrm>
              <a:off x="33528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59" name="Freeform 59"/>
            <p:cNvSpPr/>
            <p:nvPr/>
          </p:nvSpPr>
          <p:spPr>
            <a:xfrm>
              <a:off x="6000750" y="2733675"/>
              <a:ext cx="495300" cy="9525"/>
            </a:xfrm>
            <a:custGeom>
              <a:avLst/>
              <a:gdLst/>
              <a:ahLst/>
              <a:cxnLst/>
              <a:rect l="l" t="t" r="r" b="b"/>
              <a:pathLst>
                <a:path w="495300" h="9525">
                  <a:moveTo>
                    <a:pt x="0" y="0"/>
                  </a:moveTo>
                  <a:lnTo>
                    <a:pt x="495300" y="0"/>
                  </a:lnTo>
                </a:path>
              </a:pathLst>
            </a:custGeom>
            <a:solidFill>
              <a:srgbClr val="000000"/>
            </a:solidFill>
            <a:ln w="38100">
              <a:solidFill>
                <a:srgbClr val="D97757"/>
              </a:solidFill>
            </a:ln>
          </p:spPr>
        </p:sp>
        <p:sp>
          <p:nvSpPr>
            <p:cNvPr id="60" name="Freeform 60"/>
            <p:cNvSpPr/>
            <p:nvPr/>
          </p:nvSpPr>
          <p:spPr>
            <a:xfrm>
              <a:off x="63246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61" name="Freeform 61"/>
            <p:cNvSpPr/>
            <p:nvPr/>
          </p:nvSpPr>
          <p:spPr>
            <a:xfrm>
              <a:off x="8686800" y="2733675"/>
              <a:ext cx="514350" cy="9525"/>
            </a:xfrm>
            <a:custGeom>
              <a:avLst/>
              <a:gdLst/>
              <a:ahLst/>
              <a:cxnLst/>
              <a:rect l="l" t="t" r="r" b="b"/>
              <a:pathLst>
                <a:path w="514350" h="9525">
                  <a:moveTo>
                    <a:pt x="0" y="0"/>
                  </a:moveTo>
                  <a:lnTo>
                    <a:pt x="514350" y="0"/>
                  </a:lnTo>
                </a:path>
              </a:pathLst>
            </a:custGeom>
            <a:solidFill>
              <a:srgbClr val="000000"/>
            </a:solidFill>
            <a:ln w="38100">
              <a:solidFill>
                <a:srgbClr val="D97757"/>
              </a:solidFill>
            </a:ln>
          </p:spPr>
        </p:sp>
        <p:sp>
          <p:nvSpPr>
            <p:cNvPr id="62" name="Freeform 62"/>
            <p:cNvSpPr/>
            <p:nvPr/>
          </p:nvSpPr>
          <p:spPr>
            <a:xfrm>
              <a:off x="90297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grpSp>
      <p:grpSp>
        <p:nvGrpSpPr>
          <p:cNvPr id="79" name="Group 79"/>
          <p:cNvGrpSpPr/>
          <p:nvPr/>
        </p:nvGrpSpPr>
        <p:grpSpPr>
          <a:xfrm>
            <a:off x="1866900" y="4552950"/>
            <a:ext cx="8553450" cy="1847850"/>
            <a:chOff x="1866900" y="4362450"/>
            <a:chExt cx="8553450" cy="1847850"/>
          </a:xfrm>
        </p:grpSpPr>
        <p:sp>
          <p:nvSpPr>
            <p:cNvPr id="64" name="Freeform 64"/>
            <p:cNvSpPr/>
            <p:nvPr/>
          </p:nvSpPr>
          <p:spPr>
            <a:xfrm>
              <a:off x="1866900" y="5029200"/>
              <a:ext cx="8458200" cy="1181100"/>
            </a:xfrm>
            <a:custGeom>
              <a:avLst/>
              <a:gdLst/>
              <a:ahLst/>
              <a:cxnLst/>
              <a:rect l="l" t="t" r="r" b="b"/>
              <a:pathLst>
                <a:path w="8458200" h="1181100">
                  <a:moveTo>
                    <a:pt x="114300" y="0"/>
                  </a:moveTo>
                  <a:lnTo>
                    <a:pt x="8343900" y="0"/>
                  </a:lnTo>
                  <a:cubicBezTo>
                    <a:pt x="8407026" y="0"/>
                    <a:pt x="8458200" y="51174"/>
                    <a:pt x="8458200" y="114300"/>
                  </a:cubicBezTo>
                  <a:lnTo>
                    <a:pt x="8458200" y="1066800"/>
                  </a:lnTo>
                  <a:cubicBezTo>
                    <a:pt x="8458200" y="1129926"/>
                    <a:pt x="8407026" y="1181100"/>
                    <a:pt x="8343900" y="1181100"/>
                  </a:cubicBezTo>
                  <a:lnTo>
                    <a:pt x="114300" y="1181100"/>
                  </a:lnTo>
                  <a:cubicBezTo>
                    <a:pt x="51174" y="1181100"/>
                    <a:pt x="0" y="1129926"/>
                    <a:pt x="0" y="1066800"/>
                  </a:cubicBezTo>
                  <a:lnTo>
                    <a:pt x="0" y="114300"/>
                  </a:lnTo>
                  <a:cubicBezTo>
                    <a:pt x="0" y="51174"/>
                    <a:pt x="51174" y="0"/>
                    <a:pt x="114300" y="0"/>
                  </a:cubicBezTo>
                  <a:close/>
                </a:path>
              </a:pathLst>
            </a:custGeom>
            <a:solidFill>
              <a:srgbClr val="F8FAFC"/>
            </a:solidFill>
            <a:ln w="9525">
              <a:solidFill>
                <a:srgbClr val="CBD5E1"/>
              </a:solidFill>
            </a:ln>
          </p:spPr>
        </p:sp>
        <p:sp>
          <p:nvSpPr>
            <p:cNvPr id="65" name="TextBox 65"/>
            <p:cNvSpPr txBox="1"/>
            <p:nvPr/>
          </p:nvSpPr>
          <p:spPr>
            <a:xfrm>
              <a:off x="2183130" y="5248275"/>
              <a:ext cx="2253296" cy="293370"/>
            </a:xfrm>
            <a:prstGeom prst="rect">
              <a:avLst/>
            </a:prstGeom>
            <a:noFill/>
            <a:ln>
              <a:noFill/>
            </a:ln>
          </p:spPr>
          <p:txBody>
            <a:bodyPr wrap="none" lIns="0" tIns="0" rIns="0" bIns="0" anchor="t" anchorCtr="0">
              <a:spAutoFit/>
            </a:bodyPr>
            <a:lstStyle/>
            <a:p>
              <a:pPr algn="l"/>
              <a:r>
                <a:rPr lang="en-US" sz="1500" b="1" dirty="0">
                  <a:solidFill>
                    <a:srgbClr val="191919"/>
                  </a:solidFill>
                  <a:latin typeface="Anthropic Sans"/>
                  <a:ea typeface="Anthropic Sans"/>
                  <a:cs typeface="Anthropic Sans"/>
                </a:rPr>
                <a:t>Performance space Y</a:t>
              </a:r>
            </a:p>
          </p:txBody>
        </p:sp>
        <p:sp>
          <p:nvSpPr>
            <p:cNvPr id="66" name="TextBox 66"/>
            <p:cNvSpPr txBox="1"/>
            <p:nvPr/>
          </p:nvSpPr>
          <p:spPr>
            <a:xfrm>
              <a:off x="2184273" y="5586889"/>
              <a:ext cx="2407339" cy="249364"/>
            </a:xfrm>
            <a:prstGeom prst="rect">
              <a:avLst/>
            </a:prstGeom>
            <a:noFill/>
            <a:ln>
              <a:noFill/>
            </a:ln>
          </p:spPr>
          <p:txBody>
            <a:bodyPr wrap="none" lIns="0" tIns="0" rIns="0" bIns="0" anchor="t" anchorCtr="0">
              <a:spAutoFit/>
            </a:bodyPr>
            <a:lstStyle/>
            <a:p>
              <a:pPr algn="l"/>
              <a:r>
                <a:rPr lang="en-US" sz="1280" dirty="0">
                  <a:solidFill>
                    <a:srgbClr val="64748B"/>
                  </a:solidFill>
                  <a:latin typeface="Anthropic Sans"/>
                  <a:ea typeface="Anthropic Sans"/>
                  <a:cs typeface="Anthropic Sans"/>
                </a:rPr>
                <a:t>label from measured runtime</a:t>
              </a:r>
            </a:p>
          </p:txBody>
        </p:sp>
        <p:sp>
          <p:nvSpPr>
            <p:cNvPr id="67" name="TextBox 67"/>
            <p:cNvSpPr txBox="1"/>
            <p:nvPr/>
          </p:nvSpPr>
          <p:spPr>
            <a:xfrm>
              <a:off x="2184273" y="5882164"/>
              <a:ext cx="2344229" cy="249364"/>
            </a:xfrm>
            <a:prstGeom prst="rect">
              <a:avLst/>
            </a:prstGeom>
            <a:noFill/>
            <a:ln>
              <a:noFill/>
            </a:ln>
          </p:spPr>
          <p:txBody>
            <a:bodyPr wrap="none" lIns="0" tIns="0" rIns="0" bIns="0" anchor="t" anchorCtr="0">
              <a:spAutoFit/>
            </a:bodyPr>
            <a:lstStyle/>
            <a:p>
              <a:pPr algn="l"/>
              <a:r>
                <a:rPr lang="en-US" sz="1280" dirty="0">
                  <a:solidFill>
                    <a:srgbClr val="191919"/>
                  </a:solidFill>
                  <a:latin typeface="Consolas"/>
                  <a:ea typeface="Consolas"/>
                  <a:cs typeface="Consolas"/>
                </a:rPr>
                <a:t>label(x) = argmin_a T(a, x)</a:t>
              </a:r>
            </a:p>
          </p:txBody>
        </p:sp>
        <p:sp>
          <p:nvSpPr>
            <p:cNvPr id="68" name="Rectangle 68"/>
            <p:cNvSpPr/>
            <p:nvPr/>
          </p:nvSpPr>
          <p:spPr>
            <a:xfrm>
              <a:off x="6572250" y="5295900"/>
              <a:ext cx="3124200" cy="666750"/>
            </a:xfrm>
            <a:prstGeom prst="rect">
              <a:avLst/>
            </a:prstGeom>
            <a:solidFill>
              <a:srgbClr val="FFFFFF"/>
            </a:solidFill>
            <a:ln w="9525">
              <a:solidFill>
                <a:srgbClr val="E2E8F0"/>
              </a:solidFill>
            </a:ln>
          </p:spPr>
        </p:sp>
        <p:sp>
          <p:nvSpPr>
            <p:cNvPr id="69" name="Line 69"/>
            <p:cNvSpPr/>
            <p:nvPr/>
          </p:nvSpPr>
          <p:spPr>
            <a:xfrm>
              <a:off x="762000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0" name="Line 70"/>
            <p:cNvSpPr/>
            <p:nvPr/>
          </p:nvSpPr>
          <p:spPr>
            <a:xfrm>
              <a:off x="866775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1" name="TextBox 71"/>
            <p:cNvSpPr txBox="1"/>
            <p:nvPr/>
          </p:nvSpPr>
          <p:spPr>
            <a:xfrm>
              <a:off x="6721078" y="5412581"/>
              <a:ext cx="750094"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Introsort</a:t>
              </a:r>
            </a:p>
          </p:txBody>
        </p:sp>
        <p:sp>
          <p:nvSpPr>
            <p:cNvPr id="72" name="TextBox 72"/>
            <p:cNvSpPr txBox="1"/>
            <p:nvPr/>
          </p:nvSpPr>
          <p:spPr>
            <a:xfrm>
              <a:off x="7790831" y="5412581"/>
              <a:ext cx="706088"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Heapsort</a:t>
              </a:r>
            </a:p>
          </p:txBody>
        </p:sp>
        <p:sp>
          <p:nvSpPr>
            <p:cNvPr id="73" name="TextBox 73"/>
            <p:cNvSpPr txBox="1"/>
            <p:nvPr/>
          </p:nvSpPr>
          <p:spPr>
            <a:xfrm>
              <a:off x="8884199" y="5412581"/>
              <a:ext cx="614852" cy="220028"/>
            </a:xfrm>
            <a:prstGeom prst="rect">
              <a:avLst/>
            </a:prstGeom>
            <a:noFill/>
            <a:ln>
              <a:noFill/>
            </a:ln>
          </p:spPr>
          <p:txBody>
            <a:bodyPr wrap="none" lIns="0" tIns="0" rIns="0" bIns="0" anchor="t" anchorCtr="0">
              <a:spAutoFit/>
            </a:bodyPr>
            <a:lstStyle/>
            <a:p>
              <a:pPr algn="ctr"/>
              <a:r>
                <a:rPr lang="en-US" sz="1120" dirty="0">
                  <a:solidFill>
                    <a:srgbClr val="F4511E"/>
                  </a:solidFill>
                  <a:latin typeface="Anthropic Sans"/>
                  <a:ea typeface="Anthropic Sans"/>
                  <a:cs typeface="Anthropic Sans"/>
                </a:rPr>
                <a:t>Timsort</a:t>
              </a:r>
            </a:p>
          </p:txBody>
        </p:sp>
        <p:sp>
          <p:nvSpPr>
            <p:cNvPr id="74" name="TextBox 74"/>
            <p:cNvSpPr txBox="1"/>
            <p:nvPr/>
          </p:nvSpPr>
          <p:spPr>
            <a:xfrm>
              <a:off x="681780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18.7 μs</a:t>
              </a:r>
            </a:p>
          </p:txBody>
        </p:sp>
        <p:sp>
          <p:nvSpPr>
            <p:cNvPr id="75" name="TextBox 75"/>
            <p:cNvSpPr txBox="1"/>
            <p:nvPr/>
          </p:nvSpPr>
          <p:spPr>
            <a:xfrm>
              <a:off x="786555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24.5 μs</a:t>
              </a:r>
            </a:p>
          </p:txBody>
        </p:sp>
        <p:sp>
          <p:nvSpPr>
            <p:cNvPr id="76" name="TextBox 76"/>
            <p:cNvSpPr txBox="1"/>
            <p:nvPr/>
          </p:nvSpPr>
          <p:spPr>
            <a:xfrm>
              <a:off x="8899674" y="5707856"/>
              <a:ext cx="583902" cy="220028"/>
            </a:xfrm>
            <a:prstGeom prst="rect">
              <a:avLst/>
            </a:prstGeom>
            <a:noFill/>
            <a:ln>
              <a:noFill/>
            </a:ln>
          </p:spPr>
          <p:txBody>
            <a:bodyPr wrap="none" lIns="0" tIns="0" rIns="0" bIns="0" anchor="t" anchorCtr="0">
              <a:spAutoFit/>
            </a:bodyPr>
            <a:lstStyle/>
            <a:p>
              <a:pPr algn="ctr"/>
              <a:r>
                <a:rPr lang="en-US" sz="1120" b="1" dirty="0">
                  <a:solidFill>
                    <a:srgbClr val="F4511E"/>
                  </a:solidFill>
                  <a:latin typeface="Consolas"/>
                  <a:ea typeface="Consolas"/>
                  <a:cs typeface="Consolas"/>
                </a:rPr>
                <a:t>13.2 μs</a:t>
              </a:r>
            </a:p>
          </p:txBody>
        </p:sp>
        <p:sp>
          <p:nvSpPr>
            <p:cNvPr id="77" name="Freeform 77"/>
            <p:cNvSpPr/>
            <p:nvPr/>
          </p:nvSpPr>
          <p:spPr>
            <a:xfrm>
              <a:off x="9191625" y="4362450"/>
              <a:ext cx="1228725" cy="933450"/>
            </a:xfrm>
            <a:custGeom>
              <a:avLst/>
              <a:gdLst/>
              <a:ahLst/>
              <a:cxnLst/>
              <a:rect l="l" t="t" r="r" b="b"/>
              <a:pathLst>
                <a:path w="1228725" h="933450">
                  <a:moveTo>
                    <a:pt x="1228725" y="0"/>
                  </a:moveTo>
                  <a:cubicBezTo>
                    <a:pt x="1228725" y="400050"/>
                    <a:pt x="571500" y="533400"/>
                    <a:pt x="0" y="933450"/>
                  </a:cubicBezTo>
                </a:path>
              </a:pathLst>
            </a:custGeom>
            <a:noFill/>
            <a:ln w="28575">
              <a:solidFill>
                <a:srgbClr val="D97757"/>
              </a:solidFill>
            </a:ln>
          </p:spPr>
        </p:sp>
        <p:sp>
          <p:nvSpPr>
            <p:cNvPr id="78" name="Freeform 78"/>
            <p:cNvSpPr/>
            <p:nvPr/>
          </p:nvSpPr>
          <p:spPr>
            <a:xfrm>
              <a:off x="9191625" y="5219700"/>
              <a:ext cx="209550" cy="209550"/>
            </a:xfrm>
            <a:custGeom>
              <a:avLst/>
              <a:gdLst/>
              <a:ahLst/>
              <a:cxnLst/>
              <a:rect l="l" t="t" r="r" b="b"/>
              <a:pathLst>
                <a:path w="209550" h="209550">
                  <a:moveTo>
                    <a:pt x="0" y="76200"/>
                  </a:moveTo>
                  <a:lnTo>
                    <a:pt x="209550" y="0"/>
                  </a:lnTo>
                  <a:lnTo>
                    <a:pt x="133350" y="209550"/>
                  </a:lnTo>
                  <a:close/>
                </a:path>
              </a:pathLst>
            </a:custGeom>
            <a:solidFill>
              <a:srgbClr val="D97757"/>
            </a:solidFill>
            <a:ln>
              <a:noFill/>
            </a:ln>
          </p:spPr>
        </p:sp>
      </p:grpSp>
      <p:sp>
        <p:nvSpPr>
          <p:cNvPr id="81" name="Slide 3 added title"/>
          <p:cNvSpPr txBox="1"/>
          <p:nvPr/>
        </p:nvSpPr>
        <p:spPr>
          <a:xfrm>
            <a:off x="647700" y="552450"/>
            <a:ext cx="5905500" cy="361950"/>
          </a:xfrm>
          <a:prstGeom prst="rect">
            <a:avLst/>
          </a:prstGeom>
          <a:noFill/>
        </p:spPr>
        <p:txBody>
          <a:bodyPr wrap="none" lIns="0" tIns="0" rIns="0" bIns="0">
            <a:spAutoFit/>
          </a:bodyPr>
          <a:lstStyle/>
          <a:p>
            <a:pPr algn="l"/>
            <a:r>
              <a:rPr sz="2800" b="1">
                <a:solidFill>
                  <a:srgbClr val="191919"/>
                </a:solidFill>
                <a:latin typeface="Arial"/>
              </a:rPr>
              <a:t>Algorithm Selection Problem</a:t>
            </a:r>
          </a:p>
        </p:txBody>
      </p:sp>
      <p:sp>
        <p:nvSpPr>
          <p:cNvPr id="83" name="Rectangle 8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p:cNvSpPr/>
          <p:nvPr/>
        </p:nvSpPr>
        <p:spPr>
          <a:xfrm>
            <a:off x="641972" y="1067514"/>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ectangle 9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ectangle 9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11250000" y="6619000"/>
            <a:ext cx="640000" cy="180000"/>
          </a:xfrm>
          <a:prstGeom prst="rect">
            <a:avLst/>
          </a:prstGeom>
          <a:noFill/>
        </p:spPr>
        <p:txBody>
          <a:bodyPr wrap="none" lIns="0" rIns="0" tIns="0" bIns="0" anchor="ctr">
            <a:spAutoFit/>
          </a:bodyPr>
          <a:lstStyle/>
          <a:p>
            <a:pPr algn="r"/>
            <a:r>
              <a:rPr sz="1000">
                <a:solidFill>
                  <a:srgbClr val="FFFFFF"/>
                </a:solidFill>
              </a:rPr>
              <a:t>4/26</a:t>
            </a:r>
          </a:p>
        </p:txBody>
      </p:sp>
      <p:sp>
        <p:nvSpPr>
          <p:cNvPr id="96" name="Rectangle 95"/>
          <p:cNvSpPr/>
          <p:nvPr/>
        </p:nvSpPr>
        <p:spPr>
          <a:xfrm>
            <a:off x="11387328" y="6611112"/>
            <a:ext cx="685800" cy="201168"/>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1387328" y="6611112"/>
            <a:ext cx="685800" cy="201168"/>
          </a:xfrm>
          <a:prstGeom prst="rect">
            <a:avLst/>
          </a:prstGeom>
          <a:noFill/>
        </p:spPr>
        <p:txBody>
          <a:bodyPr wrap="none" lIns="0" rIns="0" tIns="0" bIns="0" anchor="ctr">
            <a:spAutoFit/>
          </a:bodyPr>
          <a:lstStyle/>
          <a:p>
            <a:pPr algn="r"/>
            <a:r>
              <a:rPr sz="1000">
                <a:solidFill>
                  <a:srgbClr val="FFFFFF"/>
                </a:solidFill>
                <a:latin typeface="Arial"/>
              </a:rPr>
              <a:t>4/26</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lide(fromBottom)">
                                      <p:cBhvr>
                                        <p:cTn id="7" dur="350"/>
                                        <p:tgtEl>
                                          <p:spTgt spid="23"/>
                                        </p:tgtEl>
                                      </p:cBhvr>
                                    </p:animEffect>
                                  </p:childTnLst>
                                </p:cTn>
                              </p:par>
                            </p:childTnLst>
                          </p:cTn>
                        </p:par>
                        <p:par>
                          <p:cTn id="8" fill="hold">
                            <p:stCondLst>
                              <p:cond delay="470"/>
                            </p:stCondLst>
                            <p:childTnLst>
                              <p:par>
                                <p:cTn id="9" presetID="23" presetClass="entr" presetSubtype="0"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image">
                                      <p:cBhvr>
                                        <p:cTn id="11" dur="350"/>
                                        <p:tgtEl>
                                          <p:spTgt spid="39"/>
                                        </p:tgtEl>
                                      </p:cBhvr>
                                    </p:animEffect>
                                  </p:childTnLst>
                                </p:cTn>
                              </p:par>
                            </p:childTnLst>
                          </p:cTn>
                        </p:par>
                        <p:par>
                          <p:cTn id="12" fill="hold">
                            <p:stCondLst>
                              <p:cond delay="940"/>
                            </p:stCondLst>
                            <p:childTnLst>
                              <p:par>
                                <p:cTn id="13" presetID="10" presetClass="entr" presetSubtype="0"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350"/>
                                        <p:tgtEl>
                                          <p:spTgt spid="46"/>
                                        </p:tgtEl>
                                      </p:cBhvr>
                                    </p:animEffect>
                                  </p:childTnLst>
                                </p:cTn>
                              </p:par>
                            </p:childTnLst>
                          </p:cTn>
                        </p:par>
                        <p:par>
                          <p:cTn id="16" fill="hold">
                            <p:stCondLst>
                              <p:cond delay="1410"/>
                            </p:stCondLst>
                            <p:childTnLst>
                              <p:par>
                                <p:cTn id="17" presetID="22" presetClass="entr" presetSubtype="1" fill="hold"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wipe(left)">
                                      <p:cBhvr>
                                        <p:cTn id="19" dur="350"/>
                                        <p:tgtEl>
                                          <p:spTgt spid="56"/>
                                        </p:tgtEl>
                                      </p:cBhvr>
                                    </p:animEffect>
                                  </p:childTnLst>
                                </p:cTn>
                              </p:par>
                            </p:childTnLst>
                          </p:cTn>
                        </p:par>
                        <p:par>
                          <p:cTn id="20" fill="hold">
                            <p:stCondLst>
                              <p:cond delay="1880"/>
                            </p:stCondLst>
                            <p:childTnLst>
                              <p:par>
                                <p:cTn id="21" presetID="2" presetClass="entr" presetSubtype="4" fill="hold"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slide(fromBottom)">
                                      <p:cBhvr>
                                        <p:cTn id="23" dur="350"/>
                                        <p:tgtEl>
                                          <p:spTgt spid="63"/>
                                        </p:tgtEl>
                                      </p:cBhvr>
                                    </p:animEffect>
                                  </p:childTnLst>
                                </p:cTn>
                              </p:par>
                            </p:childTnLst>
                          </p:cTn>
                        </p:par>
                        <p:par>
                          <p:cTn id="24" fill="hold">
                            <p:stCondLst>
                              <p:cond delay="2350"/>
                            </p:stCondLst>
                            <p:childTnLst>
                              <p:par>
                                <p:cTn id="25" presetID="23" presetClass="entr" presetSubtype="0" fill="hold" nodeType="after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image">
                                      <p:cBhvr>
                                        <p:cTn id="27" dur="35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9" grpId="0"/>
      <p:bldP spid="46" grpId="0"/>
      <p:bldP spid="56" grpId="0"/>
      <p:bldP spid="63" grpId="0"/>
      <p:bldP spid="7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1_v5_selector_v2.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250000" y="6619000"/>
            <a:ext cx="640000" cy="180000"/>
          </a:xfrm>
          <a:prstGeom prst="rect">
            <a:avLst/>
          </a:prstGeom>
          <a:noFill/>
        </p:spPr>
        <p:txBody>
          <a:bodyPr wrap="none" lIns="0" rIns="0" tIns="0" bIns="0" anchor="ctr">
            <a:spAutoFit/>
          </a:bodyPr>
          <a:lstStyle/>
          <a:p>
            <a:pPr algn="r"/>
            <a:r>
              <a:rPr sz="1000">
                <a:solidFill>
                  <a:srgbClr val="FFFFFF"/>
                </a:solidFill>
              </a:rPr>
              <a:t>5/26</a:t>
            </a:r>
          </a:p>
        </p:txBody>
      </p:sp>
      <p:sp>
        <p:nvSpPr>
          <p:cNvPr id="11" name="Rectangle 10"/>
          <p:cNvSpPr/>
          <p:nvPr/>
        </p:nvSpPr>
        <p:spPr>
          <a:xfrm>
            <a:off x="11387328" y="6611112"/>
            <a:ext cx="685800" cy="201168"/>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387328" y="6611112"/>
            <a:ext cx="685800" cy="201168"/>
          </a:xfrm>
          <a:prstGeom prst="rect">
            <a:avLst/>
          </a:prstGeom>
          <a:noFill/>
        </p:spPr>
        <p:txBody>
          <a:bodyPr wrap="none" lIns="0" rIns="0" tIns="0" bIns="0" anchor="ctr">
            <a:spAutoFit/>
          </a:bodyPr>
          <a:lstStyle/>
          <a:p>
            <a:pPr algn="r"/>
            <a:r>
              <a:rPr sz="1000">
                <a:solidFill>
                  <a:srgbClr val="FFFFFF"/>
                </a:solidFill>
                <a:latin typeface="Arial"/>
              </a:rPr>
              <a:t>5/26</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Model evolution reduced the problem to its deployable form</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Regression, timing features, source-aware checks, regret-aware loss, and cascade tests define why v5 is retained.</a:t>
            </a:r>
          </a:p>
        </p:txBody>
      </p:sp>
      <p:pic>
        <p:nvPicPr>
          <p:cNvPr id="7" name="Image 7"/>
          <p:cNvPicPr>
            <a:picLocks noChangeAspect="1"/>
          </p:cNvPicPr>
          <p:nvPr/>
        </p:nvPicPr>
        <p:blipFill>
          <a:blip r:embed="rId3"/>
          <a:stretch>
            <a:fillRect/>
          </a:stretch>
        </p:blipFill>
        <p:spPr>
          <a:xfrm>
            <a:off x="3570160" y="1428750"/>
            <a:ext cx="5051584" cy="2571750"/>
          </a:xfrm>
          <a:prstGeom prst="rect">
            <a:avLst/>
          </a:prstGeom>
        </p:spPr>
      </p:pic>
      <p:sp>
        <p:nvSpPr>
          <p:cNvPr id="8" name="Freeform 8"/>
          <p:cNvSpPr/>
          <p:nvPr/>
        </p:nvSpPr>
        <p:spPr>
          <a:xfrm>
            <a:off x="502920" y="4333875"/>
            <a:ext cx="264033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095756" y="4530090"/>
            <a:ext cx="1399421" cy="352044"/>
          </a:xfrm>
          <a:prstGeom prst="rect">
            <a:avLst/>
          </a:prstGeom>
          <a:noFill/>
          <a:ln>
            <a:noFill/>
          </a:ln>
        </p:spPr>
        <p:txBody>
          <a:bodyPr wrap="none" lIns="0" tIns="0" rIns="0" bIns="0" anchor="t" anchorCtr="0">
            <a:spAutoFit/>
          </a:bodyPr>
          <a:lstStyle/>
          <a:p>
            <a:r>
              <a:t>v1 regressor</a:t>
            </a:r>
          </a:p>
        </p:txBody>
      </p:sp>
      <p:sp>
        <p:nvSpPr>
          <p:cNvPr id="10" name="TextBox 10"/>
          <p:cNvSpPr txBox="1"/>
          <p:nvPr/>
        </p:nvSpPr>
        <p:spPr>
          <a:xfrm>
            <a:off x="863865" y="4924329"/>
            <a:ext cx="1129141" cy="308039"/>
          </a:xfrm>
          <a:prstGeom prst="rect">
            <a:avLst/>
          </a:prstGeom>
          <a:noFill/>
          <a:ln>
            <a:noFill/>
          </a:ln>
        </p:spPr>
        <p:txBody>
          <a:bodyPr wrap="none" lIns="0" tIns="0" rIns="0" bIns="0" anchor="t" anchorCtr="0">
            <a:spAutoFit/>
          </a:bodyPr>
          <a:lstStyle/>
          <a:p>
            <a:r>
              <a:rPr dirty="0"/>
              <a:t>44.4%; size dominated</a:t>
            </a:r>
          </a:p>
        </p:txBody>
      </p:sp>
      <p:sp>
        <p:nvSpPr>
          <p:cNvPr id="11" name="Freeform 11"/>
          <p:cNvSpPr/>
          <p:nvPr/>
        </p:nvSpPr>
        <p:spPr>
          <a:xfrm>
            <a:off x="3524249" y="4333875"/>
            <a:ext cx="2358601"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3743706" y="4530090"/>
            <a:ext cx="1885001" cy="352044"/>
          </a:xfrm>
          <a:prstGeom prst="rect">
            <a:avLst/>
          </a:prstGeom>
          <a:noFill/>
          <a:ln>
            <a:noFill/>
          </a:ln>
        </p:spPr>
        <p:txBody>
          <a:bodyPr wrap="none" lIns="0" tIns="0" rIns="0" bIns="0" anchor="t" anchorCtr="0">
            <a:spAutoFit/>
          </a:bodyPr>
          <a:lstStyle/>
          <a:p>
            <a:r>
              <a:t>timing-feature model</a:t>
            </a:r>
          </a:p>
        </p:txBody>
      </p:sp>
      <p:sp>
        <p:nvSpPr>
          <p:cNvPr id="13" name="TextBox 13"/>
          <p:cNvSpPr txBox="1"/>
          <p:nvPr/>
        </p:nvSpPr>
        <p:spPr>
          <a:xfrm>
            <a:off x="3744849" y="4897279"/>
            <a:ext cx="1489586" cy="308039"/>
          </a:xfrm>
          <a:prstGeom prst="rect">
            <a:avLst/>
          </a:prstGeom>
          <a:noFill/>
          <a:ln>
            <a:noFill/>
          </a:ln>
        </p:spPr>
        <p:txBody>
          <a:bodyPr wrap="none" lIns="0" tIns="0" rIns="0" bIns="0" anchor="t" anchorCtr="0">
            <a:spAutoFit/>
          </a:bodyPr>
          <a:lstStyle/>
          <a:p>
            <a:r>
              <a:rPr dirty="0"/>
              <a:t>100%; non-deployable</a:t>
            </a:r>
          </a:p>
        </p:txBody>
      </p:sp>
      <p:sp>
        <p:nvSpPr>
          <p:cNvPr id="14" name="Freeform 14"/>
          <p:cNvSpPr/>
          <p:nvPr/>
        </p:nvSpPr>
        <p:spPr>
          <a:xfrm>
            <a:off x="6172199" y="4333875"/>
            <a:ext cx="2393807"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5" name="TextBox 15"/>
          <p:cNvSpPr txBox="1"/>
          <p:nvPr/>
        </p:nvSpPr>
        <p:spPr>
          <a:xfrm>
            <a:off x="6391656" y="4530090"/>
            <a:ext cx="1583044" cy="352044"/>
          </a:xfrm>
          <a:prstGeom prst="rect">
            <a:avLst/>
          </a:prstGeom>
          <a:noFill/>
          <a:ln>
            <a:noFill/>
          </a:ln>
        </p:spPr>
        <p:txBody>
          <a:bodyPr wrap="none" lIns="0" tIns="0" rIns="0" bIns="0" anchor="t" anchorCtr="0">
            <a:spAutoFit/>
          </a:bodyPr>
          <a:lstStyle/>
          <a:p>
            <a:r>
              <a:t>v5 XGBoost classifier</a:t>
            </a:r>
          </a:p>
        </p:txBody>
      </p:sp>
      <p:sp>
        <p:nvSpPr>
          <p:cNvPr id="16" name="TextBox 16"/>
          <p:cNvSpPr txBox="1"/>
          <p:nvPr/>
        </p:nvSpPr>
        <p:spPr>
          <a:xfrm>
            <a:off x="6392799" y="4897279"/>
            <a:ext cx="1648606" cy="308039"/>
          </a:xfrm>
          <a:prstGeom prst="rect">
            <a:avLst/>
          </a:prstGeom>
          <a:noFill/>
          <a:ln>
            <a:noFill/>
          </a:ln>
        </p:spPr>
        <p:txBody>
          <a:bodyPr wrap="none" lIns="0" tIns="0" rIns="0" bIns="0" anchor="t" anchorCtr="0">
            <a:spAutoFit/>
          </a:bodyPr>
          <a:lstStyle/>
          <a:p>
            <a:r>
              <a:rPr dirty="0"/>
              <a:t>main reported selector</a:t>
            </a:r>
          </a:p>
        </p:txBody>
      </p:sp>
      <p:sp>
        <p:nvSpPr>
          <p:cNvPr id="17" name="Freeform 17"/>
          <p:cNvSpPr/>
          <p:nvPr/>
        </p:nvSpPr>
        <p:spPr>
          <a:xfrm>
            <a:off x="8820150" y="4333875"/>
            <a:ext cx="29908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8" name="TextBox 18"/>
          <p:cNvSpPr txBox="1"/>
          <p:nvPr/>
        </p:nvSpPr>
        <p:spPr>
          <a:xfrm>
            <a:off x="9039606" y="4530090"/>
            <a:ext cx="1758145" cy="352044"/>
          </a:xfrm>
          <a:prstGeom prst="rect">
            <a:avLst/>
          </a:prstGeom>
          <a:noFill/>
          <a:ln>
            <a:noFill/>
          </a:ln>
        </p:spPr>
        <p:txBody>
          <a:bodyPr wrap="none" lIns="0" tIns="0" rIns="0" bIns="0" anchor="t" anchorCtr="0">
            <a:spAutoFit/>
          </a:bodyPr>
          <a:lstStyle/>
          <a:p>
            <a:r>
              <a:t>v6 / v7 / v8 checks</a:t>
            </a:r>
          </a:p>
        </p:txBody>
      </p:sp>
      <p:sp>
        <p:nvSpPr>
          <p:cNvPr id="19" name="TextBox 19"/>
          <p:cNvSpPr txBox="1"/>
          <p:nvPr/>
        </p:nvSpPr>
        <p:spPr>
          <a:xfrm>
            <a:off x="9040749" y="4897279"/>
            <a:ext cx="1722815" cy="308039"/>
          </a:xfrm>
          <a:prstGeom prst="rect">
            <a:avLst/>
          </a:prstGeom>
          <a:noFill/>
          <a:ln>
            <a:noFill/>
          </a:ln>
        </p:spPr>
        <p:txBody>
          <a:bodyPr wrap="none" lIns="0" tIns="0" rIns="0" bIns="0" anchor="t" anchorCtr="0">
            <a:spAutoFit/>
          </a:bodyPr>
          <a:lstStyle/>
          <a:p>
            <a:r>
              <a:rPr dirty="0"/>
              <a:t>leakage, objective, boundary</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1250000" y="6619000"/>
            <a:ext cx="640000" cy="180000"/>
          </a:xfrm>
          <a:prstGeom prst="rect">
            <a:avLst/>
          </a:prstGeom>
          <a:noFill/>
        </p:spPr>
        <p:txBody>
          <a:bodyPr wrap="none" lIns="0" rIns="0" tIns="0" bIns="0" anchor="ctr">
            <a:spAutoFit/>
          </a:bodyPr>
          <a:lstStyle/>
          <a:p>
            <a:pPr algn="r"/>
            <a:r>
              <a:rPr sz="1000">
                <a:solidFill>
                  <a:srgbClr val="FFFFFF"/>
                </a:solidFill>
              </a:rPr>
              <a:t>17/26</a:t>
            </a:r>
          </a:p>
        </p:txBody>
      </p:sp>
      <p:sp>
        <p:nvSpPr>
          <p:cNvPr id="36" name="Rectangle 35"/>
          <p:cNvSpPr/>
          <p:nvPr/>
        </p:nvSpPr>
        <p:spPr>
          <a:xfrm>
            <a:off x="11387328" y="6611112"/>
            <a:ext cx="685800" cy="201168"/>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387328" y="6611112"/>
            <a:ext cx="685800" cy="201168"/>
          </a:xfrm>
          <a:prstGeom prst="rect">
            <a:avLst/>
          </a:prstGeom>
          <a:noFill/>
        </p:spPr>
        <p:txBody>
          <a:bodyPr wrap="none" lIns="0" rIns="0" tIns="0" bIns="0" anchor="ctr">
            <a:spAutoFit/>
          </a:bodyPr>
          <a:lstStyle/>
          <a:p>
            <a:pPr algn="r"/>
            <a:r>
              <a:rPr sz="1000">
                <a:solidFill>
                  <a:srgbClr val="FFFFFF"/>
                </a:solidFill>
                <a:latin typeface="Arial"/>
              </a:rPr>
              <a:t>17/26</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Evaluation measures distance from SBS to VBS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Accuracy is reported, but selector quality is judged by regret and gap closed.</a:t>
            </a:r>
          </a:p>
        </p:txBody>
      </p:sp>
      <p:sp>
        <p:nvSpPr>
          <p:cNvPr id="7" name="Freeform 7"/>
          <p:cNvSpPr/>
          <p:nvPr/>
        </p:nvSpPr>
        <p:spPr>
          <a:xfrm>
            <a:off x="76200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SBS</a:t>
            </a:r>
          </a:p>
        </p:txBody>
      </p:sp>
      <p:sp>
        <p:nvSpPr>
          <p:cNvPr id="9" name="TextBox 9"/>
          <p:cNvSpPr txBox="1"/>
          <p:nvPr/>
        </p:nvSpPr>
        <p:spPr>
          <a:xfrm>
            <a:off x="1038606" y="2377440"/>
            <a:ext cx="2502027" cy="352044"/>
          </a:xfrm>
          <a:prstGeom prst="rect">
            <a:avLst/>
          </a:prstGeom>
          <a:noFill/>
          <a:ln>
            <a:noFill/>
          </a:ln>
        </p:spPr>
        <p:txBody>
          <a:bodyPr wrap="none" lIns="0" tIns="0" rIns="0" bIns="0" anchor="t" anchorCtr="0">
            <a:spAutoFit/>
          </a:bodyPr>
          <a:lstStyle/>
          <a:p>
            <a:r>
              <a:t>best fixed algorithm</a:t>
            </a:r>
          </a:p>
        </p:txBody>
      </p:sp>
      <p:sp>
        <p:nvSpPr>
          <p:cNvPr id="10" name="TextBox 10"/>
          <p:cNvSpPr txBox="1"/>
          <p:nvPr/>
        </p:nvSpPr>
        <p:spPr>
          <a:xfrm>
            <a:off x="1038606" y="2720340"/>
            <a:ext cx="2102206" cy="352044"/>
          </a:xfrm>
          <a:prstGeom prst="rect">
            <a:avLst/>
          </a:prstGeom>
          <a:noFill/>
          <a:ln>
            <a:noFill/>
          </a:ln>
        </p:spPr>
        <p:txBody>
          <a:bodyPr wrap="none" lIns="0" tIns="0" rIns="0" bIns="0" anchor="t" anchorCtr="0">
            <a:spAutoFit/>
          </a:bodyPr>
          <a:lstStyle/>
          <a:p>
            <a:r>
              <a:t>over the evaluation set</a:t>
            </a:r>
          </a:p>
        </p:txBody>
      </p:sp>
      <p:sp>
        <p:nvSpPr>
          <p:cNvPr id="11" name="Freeform 11"/>
          <p:cNvSpPr/>
          <p:nvPr/>
        </p:nvSpPr>
        <p:spPr>
          <a:xfrm>
            <a:off x="4429125"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703445"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VBS</a:t>
            </a:r>
          </a:p>
        </p:txBody>
      </p:sp>
      <p:sp>
        <p:nvSpPr>
          <p:cNvPr id="13" name="TextBox 13"/>
          <p:cNvSpPr txBox="1"/>
          <p:nvPr/>
        </p:nvSpPr>
        <p:spPr>
          <a:xfrm>
            <a:off x="4705731" y="2377440"/>
            <a:ext cx="3338017" cy="352044"/>
          </a:xfrm>
          <a:prstGeom prst="rect">
            <a:avLst/>
          </a:prstGeom>
          <a:noFill/>
          <a:ln>
            <a:noFill/>
          </a:ln>
        </p:spPr>
        <p:txBody>
          <a:bodyPr wrap="none" lIns="0" tIns="0" rIns="0" bIns="0" anchor="t" anchorCtr="0">
            <a:spAutoFit/>
          </a:bodyPr>
          <a:lstStyle/>
          <a:p>
            <a:r>
              <a:t>oracle fastest algorithm</a:t>
            </a:r>
          </a:p>
        </p:txBody>
      </p:sp>
      <p:sp>
        <p:nvSpPr>
          <p:cNvPr id="14" name="TextBox 14"/>
          <p:cNvSpPr txBox="1"/>
          <p:nvPr/>
        </p:nvSpPr>
        <p:spPr>
          <a:xfrm>
            <a:off x="4705731" y="2720340"/>
            <a:ext cx="1702384" cy="352044"/>
          </a:xfrm>
          <a:prstGeom prst="rect">
            <a:avLst/>
          </a:prstGeom>
          <a:noFill/>
          <a:ln>
            <a:noFill/>
          </a:ln>
        </p:spPr>
        <p:txBody>
          <a:bodyPr wrap="none" lIns="0" tIns="0" rIns="0" bIns="0" anchor="t" anchorCtr="0">
            <a:spAutoFit/>
          </a:bodyPr>
          <a:lstStyle/>
          <a:p>
            <a:r>
              <a:t>for each array</a:t>
            </a:r>
          </a:p>
        </p:txBody>
      </p:sp>
      <p:sp>
        <p:nvSpPr>
          <p:cNvPr id="15" name="Freeform 15"/>
          <p:cNvSpPr/>
          <p:nvPr/>
        </p:nvSpPr>
        <p:spPr>
          <a:xfrm>
            <a:off x="809625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6" name="TextBox 16"/>
          <p:cNvSpPr txBox="1"/>
          <p:nvPr/>
        </p:nvSpPr>
        <p:spPr>
          <a:xfrm>
            <a:off x="8370570" y="1804988"/>
            <a:ext cx="939895" cy="440055"/>
          </a:xfrm>
          <a:prstGeom prst="rect">
            <a:avLst/>
          </a:prstGeom>
          <a:noFill/>
          <a:ln>
            <a:noFill/>
          </a:ln>
        </p:spPr>
        <p:txBody>
          <a:bodyPr wrap="none" lIns="0" tIns="0" rIns="0" bIns="0" anchor="t" anchorCtr="0">
            <a:spAutoFit/>
          </a:bodyPr>
          <a:lstStyle/>
          <a:p>
            <a:pPr algn="l"/>
            <a:r>
              <a:rPr lang="en-US" sz="2250" b="1" dirty="0">
                <a:solidFill>
                  <a:srgbClr val="1B1B1D"/>
                </a:solidFill>
                <a:latin typeface="Anthropic Sans"/>
                <a:ea typeface="Anthropic Sans"/>
                <a:cs typeface="Anthropic Sans"/>
              </a:rPr>
              <a:t>Model</a:t>
            </a:r>
          </a:p>
        </p:txBody>
      </p:sp>
      <p:sp>
        <p:nvSpPr>
          <p:cNvPr id="17" name="TextBox 17"/>
          <p:cNvSpPr txBox="1"/>
          <p:nvPr/>
        </p:nvSpPr>
        <p:spPr>
          <a:xfrm>
            <a:off x="8372856" y="2377440"/>
            <a:ext cx="2635301" cy="352044"/>
          </a:xfrm>
          <a:prstGeom prst="rect">
            <a:avLst/>
          </a:prstGeom>
          <a:noFill/>
          <a:ln>
            <a:noFill/>
          </a:ln>
        </p:spPr>
        <p:txBody>
          <a:bodyPr wrap="none" lIns="0" tIns="0" rIns="0" bIns="0" anchor="t" anchorCtr="0">
            <a:spAutoFit/>
          </a:bodyPr>
          <a:lstStyle/>
          <a:p>
            <a:r>
              <a:t>choose before execution</a:t>
            </a:r>
          </a:p>
        </p:txBody>
      </p:sp>
      <p:sp>
        <p:nvSpPr>
          <p:cNvPr id="18" name="TextBox 18"/>
          <p:cNvSpPr txBox="1"/>
          <p:nvPr/>
        </p:nvSpPr>
        <p:spPr>
          <a:xfrm>
            <a:off x="8372856" y="2720340"/>
            <a:ext cx="2308174" cy="352044"/>
          </a:xfrm>
          <a:prstGeom prst="rect">
            <a:avLst/>
          </a:prstGeom>
          <a:noFill/>
          <a:ln>
            <a:noFill/>
          </a:ln>
        </p:spPr>
        <p:txBody>
          <a:bodyPr wrap="none" lIns="0" tIns="0" rIns="0" bIns="0" anchor="t" anchorCtr="0">
            <a:spAutoFit/>
          </a:bodyPr>
          <a:lstStyle/>
          <a:p>
            <a:r>
              <a:t>using structural features</a:t>
            </a:r>
          </a:p>
        </p:txBody>
      </p:sp>
      <p:pic>
        <p:nvPicPr>
          <p:cNvPr id="19" name="Image 19"/>
          <p:cNvPicPr>
            <a:picLocks noChangeAspect="1"/>
          </p:cNvPicPr>
          <p:nvPr/>
        </p:nvPicPr>
        <p:blipFill>
          <a:blip r:embed="rId3"/>
          <a:stretch>
            <a:fillRect/>
          </a:stretch>
        </p:blipFill>
        <p:spPr>
          <a:xfrm>
            <a:off x="1152620" y="4476750"/>
            <a:ext cx="4267010" cy="904875"/>
          </a:xfrm>
          <a:prstGeom prst="rect">
            <a:avLst/>
          </a:prstGeom>
        </p:spPr>
      </p:pic>
      <p:pic>
        <p:nvPicPr>
          <p:cNvPr id="20" name="Image 20"/>
          <p:cNvPicPr>
            <a:picLocks noChangeAspect="1"/>
          </p:cNvPicPr>
          <p:nvPr/>
        </p:nvPicPr>
        <p:blipFill>
          <a:blip r:embed="rId4"/>
          <a:stretch>
            <a:fillRect/>
          </a:stretch>
        </p:blipFill>
        <p:spPr>
          <a:xfrm>
            <a:off x="6572250" y="4539044"/>
            <a:ext cx="4381500" cy="780383"/>
          </a:xfrm>
          <a:prstGeom prst="rect">
            <a:avLst/>
          </a:prstGeom>
        </p:spPr>
      </p:pic>
      <p:sp>
        <p:nvSpPr>
          <p:cNvPr id="21" name="TextBox 21"/>
          <p:cNvSpPr txBox="1"/>
          <p:nvPr/>
        </p:nvSpPr>
        <p:spPr>
          <a:xfrm>
            <a:off x="1134999" y="5640229"/>
            <a:ext cx="8634688" cy="308039"/>
          </a:xfrm>
          <a:prstGeom prst="rect">
            <a:avLst/>
          </a:prstGeom>
          <a:noFill/>
          <a:ln>
            <a:noFill/>
          </a:ln>
        </p:spPr>
        <p:txBody>
          <a:bodyPr wrap="none" lIns="0" tIns="0" rIns="0" bIns="0" anchor="t" anchorCtr="0">
            <a:spAutoFit/>
          </a:bodyPr>
          <a:lstStyle/>
          <a:p>
            <a:r>
              <a:t>Gap closed gives the fraction of the SBS-to-VBS improvement captured by the selector.</a:t>
            </a:r>
          </a:p>
        </p:txBody>
      </p:sp>
      <p:sp>
        <p:nvSpPr>
          <p:cNvPr id="22" name="Line 2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4" name="Freeform 24"/>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5" name="Rectangle 24"/>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1250000" y="6619000"/>
            <a:ext cx="640000" cy="180000"/>
          </a:xfrm>
          <a:prstGeom prst="rect">
            <a:avLst/>
          </a:prstGeom>
          <a:noFill/>
        </p:spPr>
        <p:txBody>
          <a:bodyPr wrap="none" lIns="0" rIns="0" tIns="0" bIns="0" anchor="ctr">
            <a:spAutoFit/>
          </a:bodyPr>
          <a:lstStyle/>
          <a:p>
            <a:pPr algn="r"/>
            <a:r>
              <a:rPr sz="1000">
                <a:solidFill>
                  <a:srgbClr val="FFFFFF"/>
                </a:solidFill>
              </a:rPr>
              <a:t>18/26</a:t>
            </a:r>
          </a:p>
        </p:txBody>
      </p:sp>
      <p:sp>
        <p:nvSpPr>
          <p:cNvPr id="38" name="Rectangle 37"/>
          <p:cNvSpPr/>
          <p:nvPr/>
        </p:nvSpPr>
        <p:spPr>
          <a:xfrm>
            <a:off x="11387328" y="6611112"/>
            <a:ext cx="685800" cy="201168"/>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387328" y="6611112"/>
            <a:ext cx="685800" cy="201168"/>
          </a:xfrm>
          <a:prstGeom prst="rect">
            <a:avLst/>
          </a:prstGeom>
          <a:noFill/>
        </p:spPr>
        <p:txBody>
          <a:bodyPr wrap="none" lIns="0" rIns="0" tIns="0" bIns="0" anchor="ctr">
            <a:spAutoFit/>
          </a:bodyPr>
          <a:lstStyle/>
          <a:p>
            <a:pPr algn="r"/>
            <a:r>
              <a:rPr sz="1000">
                <a:solidFill>
                  <a:srgbClr val="FFFFFF"/>
                </a:solidFill>
                <a:latin typeface="Arial"/>
              </a:rPr>
              <a:t>18/26</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The v5 selector closes most of the SBS-to-VBS gap</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The reported result is 76.1% top-1 accuracy, 93.1% gap closed, and 89.6% zero regret.</a:t>
            </a:r>
          </a:p>
        </p:txBody>
      </p:sp>
      <p:sp>
        <p:nvSpPr>
          <p:cNvPr id="7" name="Freeform 7"/>
          <p:cNvSpPr/>
          <p:nvPr/>
        </p:nvSpPr>
        <p:spPr>
          <a:xfrm>
            <a:off x="762000" y="1571625"/>
            <a:ext cx="4953000" cy="3381375"/>
          </a:xfrm>
          <a:custGeom>
            <a:avLst/>
            <a:gdLst/>
            <a:ahLst/>
            <a:cxnLst/>
            <a:rect l="l" t="t" r="r" b="b"/>
            <a:pathLst>
              <a:path w="4953000" h="3381375">
                <a:moveTo>
                  <a:pt x="76200" y="0"/>
                </a:moveTo>
                <a:lnTo>
                  <a:pt x="4876800" y="0"/>
                </a:lnTo>
                <a:cubicBezTo>
                  <a:pt x="4918884" y="0"/>
                  <a:pt x="4953000" y="34116"/>
                  <a:pt x="4953000" y="76200"/>
                </a:cubicBezTo>
                <a:lnTo>
                  <a:pt x="4953000" y="3305175"/>
                </a:lnTo>
                <a:cubicBezTo>
                  <a:pt x="4953000" y="3347259"/>
                  <a:pt x="4918884" y="3381375"/>
                  <a:pt x="4876800" y="3381375"/>
                </a:cubicBezTo>
                <a:lnTo>
                  <a:pt x="76200" y="3381375"/>
                </a:lnTo>
                <a:cubicBezTo>
                  <a:pt x="34116" y="3381375"/>
                  <a:pt x="0" y="3347259"/>
                  <a:pt x="0" y="330517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8" name="TextBox 8"/>
          <p:cNvSpPr txBox="1"/>
          <p:nvPr/>
        </p:nvSpPr>
        <p:spPr>
          <a:xfrm>
            <a:off x="1143000" y="2130742"/>
            <a:ext cx="2477465" cy="1133475"/>
          </a:xfrm>
          <a:prstGeom prst="rect">
            <a:avLst/>
          </a:prstGeom>
          <a:noFill/>
          <a:ln>
            <a:noFill/>
          </a:ln>
        </p:spPr>
        <p:txBody>
          <a:bodyPr wrap="none" lIns="0" tIns="0" rIns="0" bIns="0" anchor="t" anchorCtr="0">
            <a:spAutoFit/>
          </a:bodyPr>
          <a:lstStyle/>
          <a:p>
            <a:pPr algn="l"/>
            <a:r>
              <a:rPr lang="en-US" sz="2800" b="1" dirty="0">
                <a:solidFill>
                  <a:srgbClr val="F4511E"/>
                </a:solidFill>
                <a:latin typeface="Aptos Display"/>
                <a:ea typeface="Styrene A"/>
                <a:cs typeface="Styrene A"/>
              </a:rPr>
              <a:t>93.1%</a:t>
            </a:r>
          </a:p>
        </p:txBody>
      </p:sp>
      <p:sp>
        <p:nvSpPr>
          <p:cNvPr id="9" name="TextBox 9"/>
          <p:cNvSpPr txBox="1"/>
          <p:nvPr/>
        </p:nvSpPr>
        <p:spPr>
          <a:xfrm>
            <a:off x="1187196" y="3058478"/>
            <a:ext cx="3149765" cy="498729"/>
          </a:xfrm>
          <a:prstGeom prst="rect">
            <a:avLst/>
          </a:prstGeom>
          <a:noFill/>
          <a:ln>
            <a:noFill/>
          </a:ln>
        </p:spPr>
        <p:txBody>
          <a:bodyPr wrap="none" lIns="0" tIns="0" rIns="0" bIns="0" anchor="t" anchorCtr="0">
            <a:spAutoFit/>
          </a:bodyPr>
          <a:lstStyle/>
          <a:p>
            <a:r>
              <a:t>SBS-to-VBS gap closed</a:t>
            </a:r>
          </a:p>
        </p:txBody>
      </p:sp>
      <p:sp>
        <p:nvSpPr>
          <p:cNvPr id="10" name="TextBox 10"/>
          <p:cNvSpPr txBox="1"/>
          <p:nvPr/>
        </p:nvSpPr>
        <p:spPr>
          <a:xfrm>
            <a:off x="1191006" y="3663315"/>
            <a:ext cx="4306824" cy="352044"/>
          </a:xfrm>
          <a:prstGeom prst="rect">
            <a:avLst/>
          </a:prstGeom>
          <a:noFill/>
          <a:ln>
            <a:noFill/>
          </a:ln>
        </p:spPr>
        <p:txBody>
          <a:bodyPr wrap="none" lIns="0" tIns="0" rIns="0" bIns="0" anchor="t" anchorCtr="0">
            <a:spAutoFit/>
          </a:bodyPr>
          <a:lstStyle/>
          <a:p>
            <a:r>
              <a:t>Regret, not only accuracy,</a:t>
            </a:r>
          </a:p>
        </p:txBody>
      </p:sp>
      <p:sp>
        <p:nvSpPr>
          <p:cNvPr id="11" name="TextBox 11"/>
          <p:cNvSpPr txBox="1"/>
          <p:nvPr/>
        </p:nvSpPr>
        <p:spPr>
          <a:xfrm>
            <a:off x="1191006" y="3977640"/>
            <a:ext cx="4852492" cy="352044"/>
          </a:xfrm>
          <a:prstGeom prst="rect">
            <a:avLst/>
          </a:prstGeom>
          <a:noFill/>
          <a:ln>
            <a:noFill/>
          </a:ln>
        </p:spPr>
        <p:txBody>
          <a:bodyPr wrap="none" lIns="0" tIns="0" rIns="0" bIns="0" anchor="t" anchorCtr="0">
            <a:spAutoFit/>
          </a:bodyPr>
          <a:lstStyle/>
          <a:p>
            <a:r>
              <a:t>is the main evaluation signal.</a:t>
            </a:r>
          </a:p>
        </p:txBody>
      </p:sp>
      <p:sp>
        <p:nvSpPr>
          <p:cNvPr id="12" name="Freeform 12"/>
          <p:cNvSpPr/>
          <p:nvPr/>
        </p:nvSpPr>
        <p:spPr>
          <a:xfrm>
            <a:off x="638175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659875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76.1%</a:t>
            </a:r>
          </a:p>
        </p:txBody>
      </p:sp>
      <p:sp>
        <p:nvSpPr>
          <p:cNvPr id="14" name="TextBox 14"/>
          <p:cNvSpPr txBox="1"/>
          <p:nvPr/>
        </p:nvSpPr>
        <p:spPr>
          <a:xfrm>
            <a:off x="6785258" y="2516029"/>
            <a:ext cx="1478985" cy="308039"/>
          </a:xfrm>
          <a:prstGeom prst="rect">
            <a:avLst/>
          </a:prstGeom>
          <a:noFill/>
          <a:ln>
            <a:noFill/>
          </a:ln>
        </p:spPr>
        <p:txBody>
          <a:bodyPr wrap="none" lIns="0" tIns="0" rIns="0" bIns="0" anchor="t" anchorCtr="0">
            <a:spAutoFit/>
          </a:bodyPr>
          <a:lstStyle/>
          <a:p>
            <a:r>
              <a:t>top-1 accuracy</a:t>
            </a:r>
          </a:p>
        </p:txBody>
      </p:sp>
      <p:sp>
        <p:nvSpPr>
          <p:cNvPr id="15" name="Freeform 15"/>
          <p:cNvSpPr/>
          <p:nvPr/>
        </p:nvSpPr>
        <p:spPr>
          <a:xfrm>
            <a:off x="914400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6" name="TextBox 16"/>
          <p:cNvSpPr txBox="1"/>
          <p:nvPr/>
        </p:nvSpPr>
        <p:spPr>
          <a:xfrm>
            <a:off x="936100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89.6%</a:t>
            </a:r>
          </a:p>
        </p:txBody>
      </p:sp>
      <p:sp>
        <p:nvSpPr>
          <p:cNvPr id="17" name="TextBox 17"/>
          <p:cNvSpPr txBox="1"/>
          <p:nvPr/>
        </p:nvSpPr>
        <p:spPr>
          <a:xfrm>
            <a:off x="9334500" y="2558700"/>
            <a:ext cx="1245756" cy="308039"/>
          </a:xfrm>
          <a:prstGeom prst="rect">
            <a:avLst/>
          </a:prstGeom>
          <a:noFill/>
          <a:ln>
            <a:noFill/>
          </a:ln>
        </p:spPr>
        <p:txBody>
          <a:bodyPr wrap="none" lIns="0" tIns="0" rIns="0" bIns="0" anchor="t" anchorCtr="0">
            <a:spAutoFit/>
          </a:bodyPr>
          <a:lstStyle/>
          <a:p>
            <a:r>
              <a:rPr dirty="0"/>
              <a:t>zero-regret predictions</a:t>
            </a:r>
          </a:p>
        </p:txBody>
      </p:sp>
      <p:pic>
        <p:nvPicPr>
          <p:cNvPr id="18" name="Image 18"/>
          <p:cNvPicPr>
            <a:picLocks noChangeAspect="1"/>
          </p:cNvPicPr>
          <p:nvPr/>
        </p:nvPicPr>
        <p:blipFill>
          <a:blip r:embed="rId3"/>
          <a:stretch>
            <a:fillRect/>
          </a:stretch>
        </p:blipFill>
        <p:spPr>
          <a:xfrm>
            <a:off x="7505033" y="3429000"/>
            <a:ext cx="2801779" cy="1952625"/>
          </a:xfrm>
          <a:prstGeom prst="rect">
            <a:avLst/>
          </a:prstGeom>
        </p:spPr>
      </p:pic>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1250000" y="6619000"/>
            <a:ext cx="640000" cy="180000"/>
          </a:xfrm>
          <a:prstGeom prst="rect">
            <a:avLst/>
          </a:prstGeom>
          <a:noFill/>
        </p:spPr>
        <p:txBody>
          <a:bodyPr wrap="none" lIns="0" rIns="0" tIns="0" bIns="0" anchor="ctr">
            <a:spAutoFit/>
          </a:bodyPr>
          <a:lstStyle/>
          <a:p>
            <a:pPr algn="r"/>
            <a:r>
              <a:rPr sz="1000">
                <a:solidFill>
                  <a:srgbClr val="FFFFFF"/>
                </a:solidFill>
              </a:rPr>
              <a:t>20/26</a:t>
            </a:r>
          </a:p>
        </p:txBody>
      </p:sp>
      <p:sp>
        <p:nvSpPr>
          <p:cNvPr id="35" name="Rectangle 34"/>
          <p:cNvSpPr/>
          <p:nvPr/>
        </p:nvSpPr>
        <p:spPr>
          <a:xfrm>
            <a:off x="11387328" y="6611112"/>
            <a:ext cx="685800" cy="201168"/>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387328" y="6611112"/>
            <a:ext cx="685800" cy="201168"/>
          </a:xfrm>
          <a:prstGeom prst="rect">
            <a:avLst/>
          </a:prstGeom>
          <a:noFill/>
        </p:spPr>
        <p:txBody>
          <a:bodyPr wrap="none" lIns="0" rIns="0" tIns="0" bIns="0" anchor="ctr">
            <a:spAutoFit/>
          </a:bodyPr>
          <a:lstStyle/>
          <a:p>
            <a:pPr algn="r"/>
            <a:r>
              <a:rPr sz="1000">
                <a:solidFill>
                  <a:srgbClr val="FFFFFF"/>
                </a:solidFill>
                <a:latin typeface="Arial"/>
              </a:rPr>
              <a:t>20/26</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Accuracy alone is insufficient for algorithm selection</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A wrong label can be harmless when the selected and optimal algorithms have nearly equal runtimes.</a:t>
            </a:r>
          </a:p>
        </p:txBody>
      </p:sp>
      <p:pic>
        <p:nvPicPr>
          <p:cNvPr id="7" name="Image 7"/>
          <p:cNvPicPr>
            <a:picLocks noChangeAspect="1"/>
          </p:cNvPicPr>
          <p:nvPr/>
        </p:nvPicPr>
        <p:blipFill>
          <a:blip r:embed="rId3"/>
          <a:stretch>
            <a:fillRect/>
          </a:stretch>
        </p:blipFill>
        <p:spPr>
          <a:xfrm>
            <a:off x="760190" y="1428750"/>
            <a:ext cx="6480620" cy="4000500"/>
          </a:xfrm>
          <a:prstGeom prst="rect">
            <a:avLst/>
          </a:prstGeom>
        </p:spPr>
      </p:pic>
      <p:sp>
        <p:nvSpPr>
          <p:cNvPr id="8" name="Freeform 8"/>
          <p:cNvSpPr/>
          <p:nvPr/>
        </p:nvSpPr>
        <p:spPr>
          <a:xfrm>
            <a:off x="7953375" y="1619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225409" y="1804035"/>
            <a:ext cx="1153293" cy="528066"/>
          </a:xfrm>
          <a:prstGeom prst="rect">
            <a:avLst/>
          </a:prstGeom>
          <a:noFill/>
          <a:ln>
            <a:noFill/>
          </a:ln>
        </p:spPr>
        <p:txBody>
          <a:bodyPr wrap="none" lIns="0" tIns="0" rIns="0" bIns="0" anchor="t" anchorCtr="0">
            <a:spAutoFit/>
          </a:bodyPr>
          <a:lstStyle/>
          <a:p>
            <a:pPr algn="l"/>
            <a:r>
              <a:rPr lang="en-US" sz="2700" b="1" dirty="0">
                <a:solidFill>
                  <a:srgbClr val="191919"/>
                </a:solidFill>
                <a:latin typeface="Styrene A"/>
                <a:ea typeface="Styrene A"/>
                <a:cs typeface="Styrene A"/>
              </a:rPr>
              <a:t>76.1%</a:t>
            </a:r>
          </a:p>
        </p:txBody>
      </p:sp>
      <p:sp>
        <p:nvSpPr>
          <p:cNvPr id="10" name="TextBox 10"/>
          <p:cNvSpPr txBox="1"/>
          <p:nvPr/>
        </p:nvSpPr>
        <p:spPr>
          <a:xfrm>
            <a:off x="8229981" y="2282190"/>
            <a:ext cx="1702384" cy="352044"/>
          </a:xfrm>
          <a:prstGeom prst="rect">
            <a:avLst/>
          </a:prstGeom>
          <a:noFill/>
          <a:ln>
            <a:noFill/>
          </a:ln>
        </p:spPr>
        <p:txBody>
          <a:bodyPr wrap="none" lIns="0" tIns="0" rIns="0" bIns="0" anchor="t" anchorCtr="0">
            <a:spAutoFit/>
          </a:bodyPr>
          <a:lstStyle/>
          <a:p>
            <a:r>
              <a:t>top-1 accuracy</a:t>
            </a:r>
          </a:p>
        </p:txBody>
      </p:sp>
      <p:sp>
        <p:nvSpPr>
          <p:cNvPr id="11" name="Freeform 11"/>
          <p:cNvSpPr/>
          <p:nvPr/>
        </p:nvSpPr>
        <p:spPr>
          <a:xfrm>
            <a:off x="7953375" y="3143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2" name="TextBox 12"/>
          <p:cNvSpPr txBox="1"/>
          <p:nvPr/>
        </p:nvSpPr>
        <p:spPr>
          <a:xfrm>
            <a:off x="8225409" y="3328035"/>
            <a:ext cx="1153293" cy="528066"/>
          </a:xfrm>
          <a:prstGeom prst="rect">
            <a:avLst/>
          </a:prstGeom>
          <a:noFill/>
          <a:ln>
            <a:noFill/>
          </a:ln>
        </p:spPr>
        <p:txBody>
          <a:bodyPr wrap="none" lIns="0" tIns="0" rIns="0" bIns="0" anchor="t" anchorCtr="0">
            <a:spAutoFit/>
          </a:bodyPr>
          <a:lstStyle/>
          <a:p>
            <a:pPr algn="l"/>
            <a:r>
              <a:rPr lang="en-US" sz="2700" b="1" dirty="0">
                <a:solidFill>
                  <a:srgbClr val="F4511E"/>
                </a:solidFill>
                <a:latin typeface="Styrene A"/>
                <a:ea typeface="Styrene A"/>
                <a:cs typeface="Styrene A"/>
              </a:rPr>
              <a:t>93.1%</a:t>
            </a:r>
          </a:p>
        </p:txBody>
      </p:sp>
      <p:sp>
        <p:nvSpPr>
          <p:cNvPr id="13" name="TextBox 13"/>
          <p:cNvSpPr txBox="1"/>
          <p:nvPr/>
        </p:nvSpPr>
        <p:spPr>
          <a:xfrm>
            <a:off x="8229981" y="3806190"/>
            <a:ext cx="1229868" cy="352044"/>
          </a:xfrm>
          <a:prstGeom prst="rect">
            <a:avLst/>
          </a:prstGeom>
          <a:noFill/>
          <a:ln>
            <a:noFill/>
          </a:ln>
        </p:spPr>
        <p:txBody>
          <a:bodyPr wrap="none" lIns="0" tIns="0" rIns="0" bIns="0" anchor="t" anchorCtr="0">
            <a:spAutoFit/>
          </a:bodyPr>
          <a:lstStyle/>
          <a:p>
            <a:r>
              <a:t>SBS-to-VBS gap closed</a:t>
            </a:r>
          </a:p>
        </p:txBody>
      </p:sp>
      <p:sp>
        <p:nvSpPr>
          <p:cNvPr id="14" name="TextBox 14"/>
          <p:cNvSpPr txBox="1"/>
          <p:nvPr/>
        </p:nvSpPr>
        <p:spPr>
          <a:xfrm>
            <a:off x="3006471" y="5814822"/>
            <a:ext cx="3963348" cy="352044"/>
          </a:xfrm>
          <a:prstGeom prst="rect">
            <a:avLst/>
          </a:prstGeom>
          <a:noFill/>
          <a:ln>
            <a:noFill/>
          </a:ln>
        </p:spPr>
        <p:txBody>
          <a:bodyPr wrap="none" lIns="0" tIns="0" rIns="0" bIns="0" anchor="t" anchorCtr="0">
            <a:spAutoFit/>
          </a:bodyPr>
          <a:lstStyle/>
          <a:p>
            <a:r>
              <a:rPr dirty="0"/>
              <a:t>The result is evaluated by regret and gap closed, not accuracy alone.</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1250000" y="6619000"/>
            <a:ext cx="640000" cy="180000"/>
          </a:xfrm>
          <a:prstGeom prst="rect">
            <a:avLst/>
          </a:prstGeom>
          <a:noFill/>
        </p:spPr>
        <p:txBody>
          <a:bodyPr wrap="none" lIns="0" rIns="0" tIns="0" bIns="0" anchor="ctr">
            <a:spAutoFit/>
          </a:bodyPr>
          <a:lstStyle/>
          <a:p>
            <a:pPr algn="r"/>
            <a:r>
              <a:rPr sz="1000">
                <a:solidFill>
                  <a:srgbClr val="FFFFFF"/>
                </a:solidFill>
              </a:rPr>
              <a:t>19/26</a:t>
            </a:r>
          </a:p>
        </p:txBody>
      </p:sp>
      <p:sp>
        <p:nvSpPr>
          <p:cNvPr id="32" name="Rectangle 31"/>
          <p:cNvSpPr/>
          <p:nvPr/>
        </p:nvSpPr>
        <p:spPr>
          <a:xfrm>
            <a:off x="11387328" y="6611112"/>
            <a:ext cx="685800" cy="201168"/>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387328" y="6611112"/>
            <a:ext cx="685800" cy="201168"/>
          </a:xfrm>
          <a:prstGeom prst="rect">
            <a:avLst/>
          </a:prstGeom>
          <a:noFill/>
        </p:spPr>
        <p:txBody>
          <a:bodyPr wrap="none" lIns="0" rIns="0" tIns="0" bIns="0" anchor="ctr">
            <a:spAutoFit/>
          </a:bodyPr>
          <a:lstStyle/>
          <a:p>
            <a:pPr algn="r"/>
            <a:r>
              <a:rPr sz="1000">
                <a:solidFill>
                  <a:srgbClr val="FFFFFF"/>
                </a:solidFill>
                <a:latin typeface="Arial"/>
              </a:rPr>
              <a:t>19/26</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Residual error is concentrated at the introsort-heapsort boundary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Timsort has a strong structural trace; introsort and heapsort often depend on lower-level effects.</a:t>
            </a:r>
          </a:p>
        </p:txBody>
      </p:sp>
      <p:pic>
        <p:nvPicPr>
          <p:cNvPr id="7" name="Image 7"/>
          <p:cNvPicPr>
            <a:picLocks noChangeAspect="1"/>
          </p:cNvPicPr>
          <p:nvPr/>
        </p:nvPicPr>
        <p:blipFill>
          <a:blip r:embed="rId3"/>
          <a:stretch>
            <a:fillRect/>
          </a:stretch>
        </p:blipFill>
        <p:spPr>
          <a:xfrm>
            <a:off x="769906" y="1428750"/>
            <a:ext cx="5413343" cy="4429125"/>
          </a:xfrm>
          <a:prstGeom prst="rect">
            <a:avLst/>
          </a:prstGeom>
        </p:spPr>
      </p:pic>
      <p:sp>
        <p:nvSpPr>
          <p:cNvPr id="8" name="Freeform 8"/>
          <p:cNvSpPr/>
          <p:nvPr/>
        </p:nvSpPr>
        <p:spPr>
          <a:xfrm>
            <a:off x="6858000" y="1619250"/>
            <a:ext cx="4191000" cy="1143000"/>
          </a:xfrm>
          <a:custGeom>
            <a:avLst/>
            <a:gdLst/>
            <a:ahLst/>
            <a:cxnLst/>
            <a:rect l="l" t="t" r="r" b="b"/>
            <a:pathLst>
              <a:path w="4191000" h="1143000">
                <a:moveTo>
                  <a:pt x="76200" y="0"/>
                </a:moveTo>
                <a:lnTo>
                  <a:pt x="4114800" y="0"/>
                </a:lnTo>
                <a:cubicBezTo>
                  <a:pt x="4156884" y="0"/>
                  <a:pt x="4191000" y="34116"/>
                  <a:pt x="4191000" y="76200"/>
                </a:cubicBezTo>
                <a:lnTo>
                  <a:pt x="4191000" y="1066800"/>
                </a:lnTo>
                <a:cubicBezTo>
                  <a:pt x="4191000" y="1108884"/>
                  <a:pt x="4156884" y="1143000"/>
                  <a:pt x="4114800" y="1143000"/>
                </a:cubicBezTo>
                <a:lnTo>
                  <a:pt x="76200" y="1143000"/>
                </a:lnTo>
                <a:cubicBezTo>
                  <a:pt x="34116" y="1143000"/>
                  <a:pt x="0" y="1108884"/>
                  <a:pt x="0" y="10668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9" name="TextBox 9"/>
          <p:cNvSpPr txBox="1"/>
          <p:nvPr/>
        </p:nvSpPr>
        <p:spPr>
          <a:xfrm>
            <a:off x="7130034" y="1804035"/>
            <a:ext cx="1153293" cy="528066"/>
          </a:xfrm>
          <a:prstGeom prst="rect">
            <a:avLst/>
          </a:prstGeom>
          <a:noFill/>
          <a:ln>
            <a:noFill/>
          </a:ln>
        </p:spPr>
        <p:txBody>
          <a:bodyPr wrap="none" lIns="0" tIns="0" rIns="0" bIns="0" anchor="t" anchorCtr="0">
            <a:spAutoFit/>
          </a:bodyPr>
          <a:lstStyle/>
          <a:p>
            <a:pPr algn="l"/>
            <a:r>
              <a:rPr lang="en-US" sz="3000" b="1" dirty="0">
                <a:solidFill>
                  <a:srgbClr val="9A173D"/>
                </a:solidFill>
                <a:latin typeface="Aptos Display"/>
                <a:ea typeface="Styrene A"/>
                <a:cs typeface="Styrene A"/>
              </a:rPr>
              <a:t>94.5%</a:t>
            </a:r>
          </a:p>
        </p:txBody>
      </p:sp>
      <p:sp>
        <p:nvSpPr>
          <p:cNvPr id="10" name="TextBox 10"/>
          <p:cNvSpPr txBox="1"/>
          <p:nvPr/>
        </p:nvSpPr>
        <p:spPr>
          <a:xfrm>
            <a:off x="7134606" y="2282190"/>
            <a:ext cx="1690268" cy="352044"/>
          </a:xfrm>
          <a:prstGeom prst="rect">
            <a:avLst/>
          </a:prstGeom>
          <a:noFill/>
          <a:ln>
            <a:noFill/>
          </a:ln>
        </p:spPr>
        <p:txBody>
          <a:bodyPr wrap="none" lIns="0" tIns="0" rIns="0" bIns="0" anchor="t" anchorCtr="0">
            <a:spAutoFit/>
          </a:bodyPr>
          <a:lstStyle/>
          <a:p>
            <a:pPr algn="l"/>
            <a:r>
              <a:rPr lang="en-US" sz="1400" b="0" dirty="0">
                <a:solidFill>
                  <a:srgbClr val="1B1B1D"/>
                </a:solidFill>
                <a:latin typeface="Aptos"/>
                <a:ea typeface="Anthropic Sans"/>
                <a:cs typeface="Anthropic Sans"/>
              </a:rPr>
              <a:t>timsort recall</a:t>
            </a:r>
          </a:p>
        </p:txBody>
      </p:sp>
      <p:sp>
        <p:nvSpPr>
          <p:cNvPr id="11" name="Freeform 11"/>
          <p:cNvSpPr/>
          <p:nvPr/>
        </p:nvSpPr>
        <p:spPr>
          <a:xfrm>
            <a:off x="6858000" y="3143250"/>
            <a:ext cx="5193792" cy="1762125"/>
          </a:xfrm>
          <a:custGeom>
            <a:avLst/>
            <a:gdLst/>
            <a:ahLst/>
            <a:cxnLst/>
            <a:rect l="l" t="t" r="r" b="b"/>
            <a:pathLst>
              <a:path w="4191000" h="1762125">
                <a:moveTo>
                  <a:pt x="76200" y="0"/>
                </a:moveTo>
                <a:lnTo>
                  <a:pt x="4114800" y="0"/>
                </a:lnTo>
                <a:cubicBezTo>
                  <a:pt x="4156884" y="0"/>
                  <a:pt x="4191000" y="34116"/>
                  <a:pt x="4191000" y="76200"/>
                </a:cubicBezTo>
                <a:lnTo>
                  <a:pt x="4191000" y="1685925"/>
                </a:lnTo>
                <a:cubicBezTo>
                  <a:pt x="4191000" y="1728009"/>
                  <a:pt x="4156884" y="1762125"/>
                  <a:pt x="4114800" y="1762125"/>
                </a:cubicBezTo>
                <a:lnTo>
                  <a:pt x="76200" y="1762125"/>
                </a:lnTo>
                <a:cubicBezTo>
                  <a:pt x="34116" y="1762125"/>
                  <a:pt x="0" y="1728009"/>
                  <a:pt x="0" y="1685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7132320" y="3395662"/>
            <a:ext cx="2368296" cy="440055"/>
          </a:xfrm>
          <a:prstGeom prst="rect">
            <a:avLst/>
          </a:prstGeom>
          <a:noFill/>
          <a:ln>
            <a:noFill/>
          </a:ln>
        </p:spPr>
        <p:txBody>
          <a:bodyPr wrap="none" lIns="0" tIns="0" rIns="0" bIns="0" anchor="t" anchorCtr="0">
            <a:spAutoFit/>
          </a:bodyPr>
          <a:lstStyle/>
          <a:p>
            <a:pPr algn="l"/>
            <a:r>
              <a:rPr lang="en-US" sz="1400" b="1" dirty="0">
                <a:solidFill>
                  <a:srgbClr val="191919"/>
                </a:solidFill>
                <a:latin typeface="Aptos"/>
                <a:ea typeface="Anthropic Sans"/>
                <a:cs typeface="Anthropic Sans"/>
              </a:rPr>
              <a:t>Interpretation</a:t>
            </a:r>
          </a:p>
        </p:txBody>
      </p:sp>
      <p:sp>
        <p:nvSpPr>
          <p:cNvPr id="13" name="TextBox 13"/>
          <p:cNvSpPr txBox="1"/>
          <p:nvPr/>
        </p:nvSpPr>
        <p:spPr>
          <a:xfrm>
            <a:off x="7130034" y="3675098"/>
            <a:ext cx="5967558" cy="352044"/>
          </a:xfrm>
          <a:prstGeom prst="rect">
            <a:avLst/>
          </a:prstGeom>
          <a:noFill/>
          <a:ln>
            <a:noFill/>
          </a:ln>
        </p:spPr>
        <p:txBody>
          <a:bodyPr wrap="none" lIns="0" tIns="0" rIns="0" bIns="0" anchor="t" anchorCtr="0">
            <a:spAutoFit/>
          </a:bodyPr>
          <a:lstStyle/>
          <a:p>
            <a:r>
              <a:rPr dirty="0" err="1"/>
              <a:t>timsort</a:t>
            </a:r>
            <a:r>
              <a:rPr dirty="0"/>
              <a:t> is separable when runs/order are visible.</a:t>
            </a:r>
          </a:p>
        </p:txBody>
      </p:sp>
      <p:sp>
        <p:nvSpPr>
          <p:cNvPr id="14" name="TextBox 14"/>
          <p:cNvSpPr txBox="1"/>
          <p:nvPr/>
        </p:nvSpPr>
        <p:spPr>
          <a:xfrm>
            <a:off x="7130034" y="4089630"/>
            <a:ext cx="4624143" cy="553998"/>
          </a:xfrm>
          <a:prstGeom prst="rect">
            <a:avLst/>
          </a:prstGeom>
          <a:noFill/>
          <a:ln>
            <a:noFill/>
          </a:ln>
        </p:spPr>
        <p:txBody>
          <a:bodyPr wrap="square" lIns="0" tIns="0" rIns="0" bIns="0" anchor="t" anchorCtr="0">
            <a:spAutoFit/>
          </a:bodyPr>
          <a:lstStyle/>
          <a:p>
            <a:r>
              <a:rPr dirty="0" err="1"/>
              <a:t>introsort</a:t>
            </a:r>
            <a:r>
              <a:rPr dirty="0"/>
              <a:t> and heapsort remain close in the current feature space.</a:t>
            </a:r>
          </a:p>
        </p:txBody>
      </p:sp>
      <p:sp>
        <p:nvSpPr>
          <p:cNvPr id="15" name="TextBox 15"/>
          <p:cNvSpPr txBox="1"/>
          <p:nvPr/>
        </p:nvSpPr>
        <p:spPr>
          <a:xfrm>
            <a:off x="6848856" y="5282565"/>
            <a:ext cx="4669675" cy="352044"/>
          </a:xfrm>
          <a:prstGeom prst="rect">
            <a:avLst/>
          </a:prstGeom>
          <a:noFill/>
          <a:ln>
            <a:noFill/>
          </a:ln>
        </p:spPr>
        <p:txBody>
          <a:bodyPr wrap="none" lIns="0" tIns="0" rIns="0" bIns="0" anchor="t" anchorCtr="0">
            <a:spAutoFit/>
          </a:bodyPr>
          <a:lstStyle/>
          <a:p>
            <a:r>
              <a:t>Most residual boundary errors</a:t>
            </a:r>
          </a:p>
        </p:txBody>
      </p:sp>
      <p:sp>
        <p:nvSpPr>
          <p:cNvPr id="16" name="TextBox 16"/>
          <p:cNvSpPr txBox="1"/>
          <p:nvPr/>
        </p:nvSpPr>
        <p:spPr>
          <a:xfrm>
            <a:off x="6848856" y="5615940"/>
            <a:ext cx="4222471" cy="352044"/>
          </a:xfrm>
          <a:prstGeom prst="rect">
            <a:avLst/>
          </a:prstGeom>
          <a:noFill/>
          <a:ln>
            <a:noFill/>
          </a:ln>
        </p:spPr>
        <p:txBody>
          <a:bodyPr wrap="none" lIns="0" tIns="0" rIns="0" bIns="0" anchor="t" anchorCtr="0">
            <a:spAutoFit/>
          </a:bodyPr>
          <a:lstStyle/>
          <a:p>
            <a:r>
              <a:t>carry low measured regret.</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1250000" y="6619000"/>
            <a:ext cx="640000" cy="180000"/>
          </a:xfrm>
          <a:prstGeom prst="rect">
            <a:avLst/>
          </a:prstGeom>
          <a:noFill/>
        </p:spPr>
        <p:txBody>
          <a:bodyPr wrap="none" lIns="0" rIns="0" tIns="0" bIns="0" anchor="ctr">
            <a:spAutoFit/>
          </a:bodyPr>
          <a:lstStyle/>
          <a:p>
            <a:pPr algn="r"/>
            <a:r>
              <a:rPr sz="1000">
                <a:solidFill>
                  <a:srgbClr val="FFFFFF"/>
                </a:solidFill>
              </a:rPr>
              <a:t>21/26</a:t>
            </a:r>
          </a:p>
        </p:txBody>
      </p:sp>
      <p:sp>
        <p:nvSpPr>
          <p:cNvPr id="33" name="Rectangle 32"/>
          <p:cNvSpPr/>
          <p:nvPr/>
        </p:nvSpPr>
        <p:spPr>
          <a:xfrm>
            <a:off x="11387328" y="6611112"/>
            <a:ext cx="685800" cy="201168"/>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387328" y="6611112"/>
            <a:ext cx="685800" cy="201168"/>
          </a:xfrm>
          <a:prstGeom prst="rect">
            <a:avLst/>
          </a:prstGeom>
          <a:noFill/>
        </p:spPr>
        <p:txBody>
          <a:bodyPr wrap="none" lIns="0" rIns="0" tIns="0" bIns="0" anchor="ctr">
            <a:spAutoFit/>
          </a:bodyPr>
          <a:lstStyle/>
          <a:p>
            <a:pPr algn="r"/>
            <a:r>
              <a:rPr sz="1000">
                <a:solidFill>
                  <a:srgbClr val="FFFFFF"/>
                </a:solidFill>
                <a:latin typeface="Arial"/>
              </a:rPr>
              <a:t>21/26</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Feature importance follows structural sorting signals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Length, repetition, and ordering account for most of the discriminative signal.</a:t>
            </a:r>
          </a:p>
        </p:txBody>
      </p:sp>
      <p:pic>
        <p:nvPicPr>
          <p:cNvPr id="7" name="Image 7"/>
          <p:cNvPicPr>
            <a:picLocks noChangeAspect="1"/>
          </p:cNvPicPr>
          <p:nvPr/>
        </p:nvPicPr>
        <p:blipFill>
          <a:blip r:embed="rId3"/>
          <a:stretch>
            <a:fillRect/>
          </a:stretch>
        </p:blipFill>
        <p:spPr>
          <a:xfrm>
            <a:off x="1203579" y="1381125"/>
            <a:ext cx="6165247" cy="4238625"/>
          </a:xfrm>
          <a:prstGeom prst="rect">
            <a:avLst/>
          </a:prstGeom>
        </p:spPr>
      </p:pic>
      <p:sp>
        <p:nvSpPr>
          <p:cNvPr id="8" name="Freeform 8"/>
          <p:cNvSpPr/>
          <p:nvPr/>
        </p:nvSpPr>
        <p:spPr>
          <a:xfrm>
            <a:off x="8382000" y="1545000"/>
            <a:ext cx="2857500" cy="138000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658606" y="1820000"/>
            <a:ext cx="2500000" cy="300000"/>
          </a:xfrm>
          <a:prstGeom prst="rect">
            <a:avLst/>
          </a:prstGeom>
          <a:noFill/>
          <a:ln>
            <a:noFill/>
          </a:ln>
        </p:spPr>
        <p:txBody>
          <a:bodyPr wrap="square" lIns="0" tIns="0" rIns="0" bIns="0" anchor="t" anchorCtr="0">
            <a:spAutoFit/>
          </a:bodyPr>
          <a:lstStyle/>
          <a:p>
            <a:r>
              <a:t>Ordering</a:t>
            </a:r>
          </a:p>
        </p:txBody>
      </p:sp>
      <p:sp>
        <p:nvSpPr>
          <p:cNvPr id="10" name="TextBox 10"/>
          <p:cNvSpPr txBox="1"/>
          <p:nvPr/>
        </p:nvSpPr>
        <p:spPr>
          <a:xfrm>
            <a:off x="8659749" y="2240000"/>
            <a:ext cx="2450000" cy="620000"/>
          </a:xfrm>
          <a:prstGeom prst="rect">
            <a:avLst/>
          </a:prstGeom>
          <a:noFill/>
          <a:ln>
            <a:noFill/>
          </a:ln>
        </p:spPr>
        <p:txBody>
          <a:bodyPr wrap="square" lIns="0" tIns="0" rIns="0" bIns="0" anchor="t" anchorCtr="0">
            <a:spAutoFit/>
          </a:bodyPr>
          <a:lstStyle/>
          <a:p>
            <a:pPr>
              <a:spcBef>
                <a:spcPts val="0"/>
              </a:spcBef>
              <a:spcAft>
                <a:spcPts val="0"/>
              </a:spcAft>
            </a:pPr>
            <a:r>
              <a:rPr sz="1250">
                <a:solidFill>
                  <a:srgbClr val="526278"/>
                </a:solidFill>
              </a:rPr>
              <a:t>longest_run_ratio</a:t>
            </a:r>
          </a:p>
          <a:p>
            <a:pPr>
              <a:spcBef>
                <a:spcPts val="0"/>
              </a:spcBef>
              <a:spcAft>
                <a:spcPts val="0"/>
              </a:spcAft>
            </a:pPr>
            <a:r>
              <a:rPr sz="1250">
                <a:solidFill>
                  <a:srgbClr val="526278"/>
                </a:solidFill>
              </a:rPr>
              <a:t>runs_ratio</a:t>
            </a:r>
          </a:p>
          <a:p>
            <a:pPr>
              <a:spcBef>
                <a:spcPts val="0"/>
              </a:spcBef>
              <a:spcAft>
                <a:spcPts val="0"/>
              </a:spcAft>
            </a:pPr>
            <a:r>
              <a:rPr sz="1250">
                <a:solidFill>
                  <a:srgbClr val="526278"/>
                </a:solidFill>
              </a:rPr>
              <a:t>adj_sorted_ratio</a:t>
            </a:r>
          </a:p>
        </p:txBody>
      </p:sp>
      <p:sp>
        <p:nvSpPr>
          <p:cNvPr id="11" name="Freeform 11"/>
          <p:cNvSpPr/>
          <p:nvPr/>
        </p:nvSpPr>
        <p:spPr>
          <a:xfrm>
            <a:off x="8382000" y="3200000"/>
            <a:ext cx="2857500" cy="138000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8658606" y="3480000"/>
            <a:ext cx="2550000" cy="300000"/>
          </a:xfrm>
          <a:prstGeom prst="rect">
            <a:avLst/>
          </a:prstGeom>
          <a:noFill/>
          <a:ln>
            <a:noFill/>
          </a:ln>
        </p:spPr>
        <p:txBody>
          <a:bodyPr wrap="square" lIns="0" tIns="0" rIns="0" bIns="0" anchor="t" anchorCtr="0">
            <a:spAutoFit/>
          </a:bodyPr>
          <a:lstStyle/>
          <a:p>
            <a:r>
              <a:t>Repetition / diversity</a:t>
            </a:r>
          </a:p>
        </p:txBody>
      </p:sp>
      <p:sp>
        <p:nvSpPr>
          <p:cNvPr id="13" name="TextBox 13"/>
          <p:cNvSpPr txBox="1"/>
          <p:nvPr/>
        </p:nvSpPr>
        <p:spPr>
          <a:xfrm>
            <a:off x="8659749" y="3900000"/>
            <a:ext cx="2450000" cy="620000"/>
          </a:xfrm>
          <a:prstGeom prst="rect">
            <a:avLst/>
          </a:prstGeom>
          <a:noFill/>
          <a:ln>
            <a:noFill/>
          </a:ln>
        </p:spPr>
        <p:txBody>
          <a:bodyPr wrap="square" lIns="0" tIns="0" rIns="0" bIns="0" anchor="t" anchorCtr="0">
            <a:spAutoFit/>
          </a:bodyPr>
          <a:lstStyle/>
          <a:p>
            <a:pPr>
              <a:spcBef>
                <a:spcPts val="0"/>
              </a:spcBef>
              <a:spcAft>
                <a:spcPts val="0"/>
              </a:spcAft>
            </a:pPr>
            <a:r>
              <a:rPr sz="1250">
                <a:solidFill>
                  <a:srgbClr val="526278"/>
                </a:solidFill>
              </a:rPr>
              <a:t>top5_freq_ratio</a:t>
            </a:r>
          </a:p>
          <a:p>
            <a:pPr>
              <a:spcBef>
                <a:spcPts val="0"/>
              </a:spcBef>
              <a:spcAft>
                <a:spcPts val="0"/>
              </a:spcAft>
            </a:pPr>
            <a:r>
              <a:rPr sz="1250">
                <a:solidFill>
                  <a:srgbClr val="526278"/>
                </a:solidFill>
              </a:rPr>
              <a:t>duplicate_ratio</a:t>
            </a:r>
          </a:p>
          <a:p>
            <a:pPr>
              <a:spcBef>
                <a:spcPts val="0"/>
              </a:spcBef>
              <a:spcAft>
                <a:spcPts val="0"/>
              </a:spcAft>
            </a:pPr>
            <a:r>
              <a:rPr sz="1250">
                <a:solidFill>
                  <a:srgbClr val="526278"/>
                </a:solidFill>
              </a:rPr>
              <a:t>entropy_ratio</a:t>
            </a:r>
          </a:p>
        </p:txBody>
      </p:sp>
      <p:sp>
        <p:nvSpPr>
          <p:cNvPr id="14" name="Freeform 14"/>
          <p:cNvSpPr/>
          <p:nvPr/>
        </p:nvSpPr>
        <p:spPr>
          <a:xfrm>
            <a:off x="8382000" y="4860000"/>
            <a:ext cx="2857500" cy="118000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5" name="TextBox 15"/>
          <p:cNvSpPr txBox="1"/>
          <p:nvPr/>
        </p:nvSpPr>
        <p:spPr>
          <a:xfrm>
            <a:off x="8658606" y="5120000"/>
            <a:ext cx="2450000" cy="300000"/>
          </a:xfrm>
          <a:prstGeom prst="rect">
            <a:avLst/>
          </a:prstGeom>
          <a:noFill/>
          <a:ln>
            <a:noFill/>
          </a:ln>
        </p:spPr>
        <p:txBody>
          <a:bodyPr wrap="square" lIns="0" tIns="0" rIns="0" bIns="0" anchor="t" anchorCtr="0">
            <a:spAutoFit/>
          </a:bodyPr>
          <a:lstStyle/>
          <a:p>
            <a:pPr>
              <a:spcBef>
                <a:spcPts val="0"/>
              </a:spcBef>
              <a:spcAft>
                <a:spcPts val="0"/>
              </a:spcAft>
            </a:pPr>
            <a:r>
              <a:rPr sz="1800" b="1">
                <a:solidFill>
                  <a:srgbClr val="1B1B1D"/>
                </a:solidFill>
              </a:rPr>
              <a:t>Size / scale</a:t>
            </a:r>
          </a:p>
        </p:txBody>
      </p:sp>
      <p:sp>
        <p:nvSpPr>
          <p:cNvPr id="16" name="TextBox 16"/>
          <p:cNvSpPr txBox="1"/>
          <p:nvPr/>
        </p:nvSpPr>
        <p:spPr>
          <a:xfrm>
            <a:off x="8659749" y="5520000"/>
            <a:ext cx="2450000" cy="420000"/>
          </a:xfrm>
          <a:prstGeom prst="rect">
            <a:avLst/>
          </a:prstGeom>
          <a:noFill/>
          <a:ln>
            <a:noFill/>
          </a:ln>
        </p:spPr>
        <p:txBody>
          <a:bodyPr wrap="square" lIns="0" tIns="0" rIns="0" bIns="0" anchor="t" anchorCtr="0">
            <a:spAutoFit/>
          </a:bodyPr>
          <a:lstStyle/>
          <a:p>
            <a:pPr>
              <a:spcBef>
                <a:spcPts val="0"/>
              </a:spcBef>
              <a:spcAft>
                <a:spcPts val="0"/>
              </a:spcAft>
            </a:pPr>
            <a:r>
              <a:rPr sz="1250">
                <a:solidFill>
                  <a:srgbClr val="526278"/>
                </a:solidFill>
              </a:rPr>
              <a:t>length_norm</a:t>
            </a:r>
          </a:p>
          <a:p>
            <a:pPr>
              <a:spcBef>
                <a:spcPts val="0"/>
              </a:spcBef>
              <a:spcAft>
                <a:spcPts val="0"/>
              </a:spcAft>
            </a:pPr>
            <a:r>
              <a:rPr sz="1250">
                <a:solidFill>
                  <a:srgbClr val="526278"/>
                </a:solidFill>
              </a:rPr>
              <a:t>robust scale descriptors</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1250000" y="6619000"/>
            <a:ext cx="640000" cy="180000"/>
          </a:xfrm>
          <a:prstGeom prst="rect">
            <a:avLst/>
          </a:prstGeom>
          <a:noFill/>
        </p:spPr>
        <p:txBody>
          <a:bodyPr wrap="none" lIns="0" rIns="0" tIns="0" bIns="0" anchor="ctr">
            <a:spAutoFit/>
          </a:bodyPr>
          <a:lstStyle/>
          <a:p>
            <a:pPr algn="r"/>
            <a:r>
              <a:rPr sz="1000">
                <a:solidFill>
                  <a:srgbClr val="FFFFFF"/>
                </a:solidFill>
              </a:rPr>
              <a:t>10/26</a:t>
            </a:r>
          </a:p>
        </p:txBody>
      </p:sp>
      <p:sp>
        <p:nvSpPr>
          <p:cNvPr id="33" name="Rectangle 32"/>
          <p:cNvSpPr/>
          <p:nvPr/>
        </p:nvSpPr>
        <p:spPr>
          <a:xfrm>
            <a:off x="11387328" y="6611112"/>
            <a:ext cx="685800" cy="201168"/>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387328" y="6611112"/>
            <a:ext cx="685800" cy="201168"/>
          </a:xfrm>
          <a:prstGeom prst="rect">
            <a:avLst/>
          </a:prstGeom>
          <a:noFill/>
        </p:spPr>
        <p:txBody>
          <a:bodyPr wrap="none" lIns="0" rIns="0" tIns="0" bIns="0" anchor="ctr">
            <a:spAutoFit/>
          </a:bodyPr>
          <a:lstStyle/>
          <a:p>
            <a:pPr algn="r"/>
            <a:r>
              <a:rPr sz="1000">
                <a:solidFill>
                  <a:srgbClr val="FFFFFF"/>
                </a:solidFill>
                <a:latin typeface="Arial"/>
              </a:rPr>
              <a:t>10/26</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16172"/>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Leave-one-domain-out testing supports cross-domain robustness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Each fold trains on four domains and tests on the unseen fifth domain.</a:t>
            </a:r>
          </a:p>
        </p:txBody>
      </p:sp>
      <p:pic>
        <p:nvPicPr>
          <p:cNvPr id="7" name="Image 7"/>
          <p:cNvPicPr>
            <a:picLocks noChangeAspect="1"/>
          </p:cNvPicPr>
          <p:nvPr/>
        </p:nvPicPr>
        <p:blipFill>
          <a:blip r:embed="rId3"/>
          <a:stretch>
            <a:fillRect/>
          </a:stretch>
        </p:blipFill>
        <p:spPr>
          <a:xfrm>
            <a:off x="790194" y="1381125"/>
            <a:ext cx="6992017" cy="4333875"/>
          </a:xfrm>
          <a:prstGeom prst="rect">
            <a:avLst/>
          </a:prstGeom>
        </p:spPr>
      </p:pic>
      <p:sp>
        <p:nvSpPr>
          <p:cNvPr id="8" name="Freeform 8"/>
          <p:cNvSpPr/>
          <p:nvPr/>
        </p:nvSpPr>
        <p:spPr>
          <a:xfrm>
            <a:off x="8382000" y="1695450"/>
            <a:ext cx="2857500" cy="1476375"/>
          </a:xfrm>
          <a:custGeom>
            <a:avLst/>
            <a:gdLst/>
            <a:ahLst/>
            <a:cxnLst/>
            <a:rect l="l" t="t" r="r" b="b"/>
            <a:pathLst>
              <a:path w="2857500" h="1476375">
                <a:moveTo>
                  <a:pt x="76200" y="0"/>
                </a:moveTo>
                <a:lnTo>
                  <a:pt x="2781300" y="0"/>
                </a:lnTo>
                <a:cubicBezTo>
                  <a:pt x="2823384" y="0"/>
                  <a:pt x="2857500" y="34116"/>
                  <a:pt x="2857500" y="76200"/>
                </a:cubicBezTo>
                <a:lnTo>
                  <a:pt x="2857500" y="1400175"/>
                </a:lnTo>
                <a:cubicBezTo>
                  <a:pt x="2857500" y="1442259"/>
                  <a:pt x="2823384" y="1476375"/>
                  <a:pt x="2781300" y="1476375"/>
                </a:cubicBezTo>
                <a:lnTo>
                  <a:pt x="76200" y="1476375"/>
                </a:lnTo>
                <a:cubicBezTo>
                  <a:pt x="34116" y="1476375"/>
                  <a:pt x="0" y="1442259"/>
                  <a:pt x="0" y="140017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9" name="TextBox 9"/>
          <p:cNvSpPr txBox="1"/>
          <p:nvPr/>
        </p:nvSpPr>
        <p:spPr>
          <a:xfrm>
            <a:off x="8884757" y="1959292"/>
            <a:ext cx="1851987" cy="847725"/>
          </a:xfrm>
          <a:prstGeom prst="rect">
            <a:avLst/>
          </a:prstGeom>
          <a:noFill/>
          <a:ln>
            <a:noFill/>
          </a:ln>
        </p:spPr>
        <p:txBody>
          <a:bodyPr wrap="none" lIns="0" tIns="0" rIns="0" bIns="0" anchor="t" anchorCtr="0">
            <a:spAutoFit/>
          </a:bodyPr>
          <a:lstStyle/>
          <a:p>
            <a:r>
              <a:t>&gt;75%</a:t>
            </a:r>
          </a:p>
        </p:txBody>
      </p:sp>
      <p:sp>
        <p:nvSpPr>
          <p:cNvPr id="10" name="TextBox 10"/>
          <p:cNvSpPr txBox="1"/>
          <p:nvPr/>
        </p:nvSpPr>
        <p:spPr>
          <a:xfrm>
            <a:off x="8779721" y="2639854"/>
            <a:ext cx="2062058" cy="308039"/>
          </a:xfrm>
          <a:prstGeom prst="rect">
            <a:avLst/>
          </a:prstGeom>
          <a:noFill/>
          <a:ln>
            <a:noFill/>
          </a:ln>
        </p:spPr>
        <p:txBody>
          <a:bodyPr wrap="none" lIns="0" tIns="0" rIns="0" bIns="0" anchor="t" anchorCtr="0">
            <a:spAutoFit/>
          </a:bodyPr>
          <a:lstStyle/>
          <a:p>
            <a:r>
              <a:t>gap closed in every fold</a:t>
            </a:r>
          </a:p>
        </p:txBody>
      </p:sp>
      <p:sp>
        <p:nvSpPr>
          <p:cNvPr id="11" name="Freeform 11"/>
          <p:cNvSpPr/>
          <p:nvPr/>
        </p:nvSpPr>
        <p:spPr>
          <a:xfrm>
            <a:off x="8382000" y="3524250"/>
            <a:ext cx="3162300" cy="1809750"/>
          </a:xfrm>
          <a:custGeom>
            <a:avLst/>
            <a:gdLst/>
            <a:ahLst/>
            <a:cxnLst/>
            <a:rect l="l" t="t" r="r" b="b"/>
            <a:pathLst>
              <a:path w="2857500" h="1809750">
                <a:moveTo>
                  <a:pt x="76200" y="0"/>
                </a:moveTo>
                <a:lnTo>
                  <a:pt x="2781300" y="0"/>
                </a:lnTo>
                <a:cubicBezTo>
                  <a:pt x="2823384" y="0"/>
                  <a:pt x="2857500" y="34116"/>
                  <a:pt x="2857500" y="76200"/>
                </a:cubicBezTo>
                <a:lnTo>
                  <a:pt x="2857500" y="1733550"/>
                </a:lnTo>
                <a:cubicBezTo>
                  <a:pt x="2857500" y="1775634"/>
                  <a:pt x="2823384" y="1809750"/>
                  <a:pt x="2781300" y="1809750"/>
                </a:cubicBezTo>
                <a:lnTo>
                  <a:pt x="76200" y="1809750"/>
                </a:lnTo>
                <a:cubicBezTo>
                  <a:pt x="34116" y="1809750"/>
                  <a:pt x="0" y="1775634"/>
                  <a:pt x="0" y="1733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8658606" y="3806190"/>
            <a:ext cx="2229924" cy="352044"/>
          </a:xfrm>
          <a:prstGeom prst="rect">
            <a:avLst/>
          </a:prstGeom>
          <a:noFill/>
          <a:ln>
            <a:noFill/>
          </a:ln>
        </p:spPr>
        <p:txBody>
          <a:bodyPr wrap="none" lIns="0" tIns="0" rIns="0" bIns="0" anchor="t" anchorCtr="0">
            <a:spAutoFit/>
          </a:bodyPr>
          <a:lstStyle/>
          <a:p>
            <a:r>
              <a:t>F1 sensitivity</a:t>
            </a:r>
          </a:p>
        </p:txBody>
      </p:sp>
      <p:sp>
        <p:nvSpPr>
          <p:cNvPr id="13" name="TextBox 13"/>
          <p:cNvSpPr txBox="1"/>
          <p:nvPr/>
        </p:nvSpPr>
        <p:spPr>
          <a:xfrm>
            <a:off x="8504210" y="4240489"/>
            <a:ext cx="2776027" cy="308039"/>
          </a:xfrm>
          <a:prstGeom prst="rect">
            <a:avLst/>
          </a:prstGeom>
          <a:noFill/>
          <a:ln>
            <a:noFill/>
          </a:ln>
        </p:spPr>
        <p:txBody>
          <a:bodyPr wrap="none" lIns="0" tIns="0" rIns="0" bIns="0" anchor="t" anchorCtr="0">
            <a:spAutoFit/>
          </a:bodyPr>
          <a:lstStyle/>
          <a:p>
            <a:r>
              <a:rPr dirty="0"/>
              <a:t>F1 telemetry is the weakest</a:t>
            </a:r>
          </a:p>
        </p:txBody>
      </p:sp>
      <p:sp>
        <p:nvSpPr>
          <p:cNvPr id="14" name="TextBox 14"/>
          <p:cNvSpPr txBox="1"/>
          <p:nvPr/>
        </p:nvSpPr>
        <p:spPr>
          <a:xfrm>
            <a:off x="8500219" y="4543452"/>
            <a:ext cx="2973772" cy="308039"/>
          </a:xfrm>
          <a:prstGeom prst="rect">
            <a:avLst/>
          </a:prstGeom>
          <a:noFill/>
          <a:ln>
            <a:noFill/>
          </a:ln>
        </p:spPr>
        <p:txBody>
          <a:bodyPr wrap="none" lIns="0" tIns="0" rIns="0" bIns="0" anchor="t" anchorCtr="0">
            <a:spAutoFit/>
          </a:bodyPr>
          <a:lstStyle/>
          <a:p>
            <a:r>
              <a:rPr dirty="0"/>
              <a:t>held-out fold because it contains</a:t>
            </a:r>
          </a:p>
        </p:txBody>
      </p:sp>
      <p:sp>
        <p:nvSpPr>
          <p:cNvPr id="15" name="TextBox 15"/>
          <p:cNvSpPr txBox="1"/>
          <p:nvPr/>
        </p:nvSpPr>
        <p:spPr>
          <a:xfrm>
            <a:off x="8500219" y="4832549"/>
            <a:ext cx="2888352" cy="308039"/>
          </a:xfrm>
          <a:prstGeom prst="rect">
            <a:avLst/>
          </a:prstGeom>
          <a:noFill/>
          <a:ln>
            <a:noFill/>
          </a:ln>
        </p:spPr>
        <p:txBody>
          <a:bodyPr wrap="none" lIns="0" tIns="0" rIns="0" bIns="0" anchor="t" anchorCtr="0">
            <a:spAutoFit/>
          </a:bodyPr>
          <a:lstStyle/>
          <a:p>
            <a:r>
              <a:rPr dirty="0"/>
              <a:t>many distinct channel regimes.</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1250000" y="6619000"/>
            <a:ext cx="640000" cy="180000"/>
          </a:xfrm>
          <a:prstGeom prst="rect">
            <a:avLst/>
          </a:prstGeom>
          <a:noFill/>
        </p:spPr>
        <p:txBody>
          <a:bodyPr wrap="none" lIns="0" rIns="0" tIns="0" bIns="0" anchor="ctr">
            <a:spAutoFit/>
          </a:bodyPr>
          <a:lstStyle/>
          <a:p>
            <a:pPr algn="r"/>
            <a:r>
              <a:rPr sz="1000">
                <a:solidFill>
                  <a:srgbClr val="FFFFFF"/>
                </a:solidFill>
              </a:rPr>
              <a:t>7/26</a:t>
            </a:r>
          </a:p>
        </p:txBody>
      </p:sp>
      <p:sp>
        <p:nvSpPr>
          <p:cNvPr id="32" name="Rectangle 31"/>
          <p:cNvSpPr/>
          <p:nvPr/>
        </p:nvSpPr>
        <p:spPr>
          <a:xfrm>
            <a:off x="11387328" y="6611112"/>
            <a:ext cx="685800" cy="201168"/>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387328" y="6611112"/>
            <a:ext cx="685800" cy="201168"/>
          </a:xfrm>
          <a:prstGeom prst="rect">
            <a:avLst/>
          </a:prstGeom>
          <a:noFill/>
        </p:spPr>
        <p:txBody>
          <a:bodyPr wrap="none" lIns="0" rIns="0" tIns="0" bIns="0" anchor="ctr">
            <a:spAutoFit/>
          </a:bodyPr>
          <a:lstStyle/>
          <a:p>
            <a:pPr algn="r"/>
            <a:r>
              <a:rPr sz="1000">
                <a:solidFill>
                  <a:srgbClr val="FFFFFF"/>
                </a:solidFill>
                <a:latin typeface="Arial"/>
              </a:rPr>
              <a:t>7/26</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21_f1_specialization_v1.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50000" y="6619000"/>
            <a:ext cx="640000" cy="180000"/>
          </a:xfrm>
          <a:prstGeom prst="rect">
            <a:avLst/>
          </a:prstGeom>
          <a:noFill/>
        </p:spPr>
        <p:txBody>
          <a:bodyPr wrap="none" lIns="0" rIns="0" tIns="0" bIns="0" anchor="ctr">
            <a:spAutoFit/>
          </a:bodyPr>
          <a:lstStyle/>
          <a:p>
            <a:pPr algn="r"/>
            <a:r>
              <a:rPr sz="1000">
                <a:solidFill>
                  <a:srgbClr val="FFFFFF"/>
                </a:solidFill>
              </a:rPr>
              <a:t>22/26</a:t>
            </a:r>
          </a:p>
        </p:txBody>
      </p:sp>
      <p:sp>
        <p:nvSpPr>
          <p:cNvPr id="5" name="Rectangle 4"/>
          <p:cNvSpPr/>
          <p:nvPr/>
        </p:nvSpPr>
        <p:spPr>
          <a:xfrm>
            <a:off x="11387328" y="6611112"/>
            <a:ext cx="685800" cy="201168"/>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87328" y="6611112"/>
            <a:ext cx="685800" cy="201168"/>
          </a:xfrm>
          <a:prstGeom prst="rect">
            <a:avLst/>
          </a:prstGeom>
          <a:noFill/>
        </p:spPr>
        <p:txBody>
          <a:bodyPr wrap="none" lIns="0" rIns="0" tIns="0" bIns="0" anchor="ctr">
            <a:spAutoFit/>
          </a:bodyPr>
          <a:lstStyle/>
          <a:p>
            <a:pPr algn="r"/>
            <a:r>
              <a:rPr sz="1000">
                <a:solidFill>
                  <a:srgbClr val="FFFFFF"/>
                </a:solidFill>
                <a:latin typeface="Arial"/>
              </a:rPr>
              <a:t>22/26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Strict checks define the boundary of the reported result</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The reported result stays with v5; later variants explain leakage risk, objective risk, and the hard boundary.</a:t>
            </a:r>
          </a:p>
        </p:txBody>
      </p:sp>
      <p:sp>
        <p:nvSpPr>
          <p:cNvPr id="7" name="Freeform 7"/>
          <p:cNvSpPr/>
          <p:nvPr/>
        </p:nvSpPr>
        <p:spPr>
          <a:xfrm>
            <a:off x="762000" y="1476375"/>
            <a:ext cx="3498708"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v6 source-aware</a:t>
            </a:r>
          </a:p>
        </p:txBody>
      </p:sp>
      <p:sp>
        <p:nvSpPr>
          <p:cNvPr id="9" name="TextBox 9"/>
          <p:cNvSpPr txBox="1"/>
          <p:nvPr/>
        </p:nvSpPr>
        <p:spPr>
          <a:xfrm>
            <a:off x="1038606" y="2425065"/>
            <a:ext cx="3416696" cy="352044"/>
          </a:xfrm>
          <a:prstGeom prst="rect">
            <a:avLst/>
          </a:prstGeom>
          <a:noFill/>
          <a:ln>
            <a:noFill/>
          </a:ln>
        </p:spPr>
        <p:txBody>
          <a:bodyPr wrap="none" lIns="0" tIns="0" rIns="0" bIns="0" anchor="t" anchorCtr="0">
            <a:spAutoFit/>
          </a:bodyPr>
          <a:lstStyle/>
          <a:p>
            <a:r>
              <a:t>71.2% accuracy; 45.6% gap closed.</a:t>
            </a:r>
          </a:p>
        </p:txBody>
      </p:sp>
      <p:sp>
        <p:nvSpPr>
          <p:cNvPr id="10" name="TextBox 10"/>
          <p:cNvSpPr txBox="1"/>
          <p:nvPr/>
        </p:nvSpPr>
        <p:spPr>
          <a:xfrm>
            <a:off x="1038606" y="2806065"/>
            <a:ext cx="3010042" cy="352044"/>
          </a:xfrm>
          <a:prstGeom prst="rect">
            <a:avLst/>
          </a:prstGeom>
          <a:noFill/>
          <a:ln>
            <a:noFill/>
          </a:ln>
        </p:spPr>
        <p:txBody>
          <a:bodyPr wrap="none" lIns="0" tIns="0" rIns="0" bIns="0" anchor="t" anchorCtr="0">
            <a:spAutoFit/>
          </a:bodyPr>
          <a:lstStyle/>
          <a:p>
            <a:r>
              <a:t>source separation became</a:t>
            </a:r>
          </a:p>
        </p:txBody>
      </p:sp>
      <p:sp>
        <p:nvSpPr>
          <p:cNvPr id="11" name="TextBox 11"/>
          <p:cNvSpPr txBox="1"/>
          <p:nvPr/>
        </p:nvSpPr>
        <p:spPr>
          <a:xfrm>
            <a:off x="1038606" y="3187065"/>
            <a:ext cx="2502027" cy="352044"/>
          </a:xfrm>
          <a:prstGeom prst="rect">
            <a:avLst/>
          </a:prstGeom>
          <a:noFill/>
          <a:ln>
            <a:noFill/>
          </a:ln>
        </p:spPr>
        <p:txBody>
          <a:bodyPr wrap="none" lIns="0" tIns="0" rIns="0" bIns="0" anchor="t" anchorCtr="0">
            <a:spAutoFit/>
          </a:bodyPr>
          <a:lstStyle/>
          <a:p>
            <a:r>
              <a:t>part of the evaluation protocol.</a:t>
            </a:r>
          </a:p>
        </p:txBody>
      </p:sp>
      <p:sp>
        <p:nvSpPr>
          <p:cNvPr id="12" name="Freeform 12"/>
          <p:cNvSpPr/>
          <p:nvPr/>
        </p:nvSpPr>
        <p:spPr>
          <a:xfrm>
            <a:off x="447675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475107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v7 regret-aware</a:t>
            </a:r>
          </a:p>
        </p:txBody>
      </p:sp>
      <p:sp>
        <p:nvSpPr>
          <p:cNvPr id="14" name="TextBox 14"/>
          <p:cNvSpPr txBox="1"/>
          <p:nvPr/>
        </p:nvSpPr>
        <p:spPr>
          <a:xfrm>
            <a:off x="4753356" y="2425065"/>
            <a:ext cx="3323558" cy="352044"/>
          </a:xfrm>
          <a:prstGeom prst="rect">
            <a:avLst/>
          </a:prstGeom>
          <a:noFill/>
          <a:ln>
            <a:noFill/>
          </a:ln>
        </p:spPr>
        <p:txBody>
          <a:bodyPr wrap="none" lIns="0" tIns="0" rIns="0" bIns="0" anchor="t" anchorCtr="0">
            <a:spAutoFit/>
          </a:bodyPr>
          <a:lstStyle/>
          <a:p>
            <a:r>
              <a:t>regret-weighted loss</a:t>
            </a:r>
          </a:p>
        </p:txBody>
      </p:sp>
      <p:sp>
        <p:nvSpPr>
          <p:cNvPr id="15" name="TextBox 15"/>
          <p:cNvSpPr txBox="1"/>
          <p:nvPr/>
        </p:nvSpPr>
        <p:spPr>
          <a:xfrm>
            <a:off x="4753356" y="2806065"/>
            <a:ext cx="2574722" cy="352044"/>
          </a:xfrm>
          <a:prstGeom prst="rect">
            <a:avLst/>
          </a:prstGeom>
          <a:noFill/>
          <a:ln>
            <a:noFill/>
          </a:ln>
        </p:spPr>
        <p:txBody>
          <a:bodyPr wrap="none" lIns="0" tIns="0" rIns="0" bIns="0" anchor="t" anchorCtr="0">
            <a:spAutoFit/>
          </a:bodyPr>
          <a:lstStyle/>
          <a:p>
            <a:r>
              <a:t>was less stable:</a:t>
            </a:r>
          </a:p>
        </p:txBody>
      </p:sp>
      <p:sp>
        <p:nvSpPr>
          <p:cNvPr id="16" name="TextBox 16"/>
          <p:cNvSpPr txBox="1"/>
          <p:nvPr/>
        </p:nvSpPr>
        <p:spPr>
          <a:xfrm>
            <a:off x="4753356" y="3187065"/>
            <a:ext cx="866394" cy="352044"/>
          </a:xfrm>
          <a:prstGeom prst="rect">
            <a:avLst/>
          </a:prstGeom>
          <a:noFill/>
          <a:ln>
            <a:noFill/>
          </a:ln>
        </p:spPr>
        <p:txBody>
          <a:bodyPr wrap="none" lIns="0" tIns="0" rIns="0" bIns="0" anchor="t" anchorCtr="0">
            <a:spAutoFit/>
          </a:bodyPr>
          <a:lstStyle/>
          <a:p>
            <a:r>
              <a:t>78.1% gap closed.</a:t>
            </a:r>
          </a:p>
        </p:txBody>
      </p:sp>
      <p:sp>
        <p:nvSpPr>
          <p:cNvPr id="17" name="Freeform 17"/>
          <p:cNvSpPr/>
          <p:nvPr/>
        </p:nvSpPr>
        <p:spPr>
          <a:xfrm>
            <a:off x="81915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8" name="TextBox 18"/>
          <p:cNvSpPr txBox="1"/>
          <p:nvPr/>
        </p:nvSpPr>
        <p:spPr>
          <a:xfrm>
            <a:off x="8465820" y="1804988"/>
            <a:ext cx="1692569" cy="440055"/>
          </a:xfrm>
          <a:prstGeom prst="rect">
            <a:avLst/>
          </a:prstGeom>
          <a:noFill/>
          <a:ln>
            <a:noFill/>
          </a:ln>
        </p:spPr>
        <p:txBody>
          <a:bodyPr wrap="none" lIns="0" tIns="0" rIns="0" bIns="0" anchor="t" anchorCtr="0">
            <a:spAutoFit/>
          </a:bodyPr>
          <a:lstStyle/>
          <a:p>
            <a:pPr algn="l"/>
            <a:r>
              <a:rPr lang="en-US" sz="1500" b="1" dirty="0">
                <a:solidFill>
                  <a:srgbClr val="1B1B1D"/>
                </a:solidFill>
                <a:latin typeface="Aptos"/>
                <a:ea typeface="Anthropic Sans"/>
                <a:cs typeface="Anthropic Sans"/>
              </a:rPr>
              <a:t>v8 cascade</a:t>
            </a:r>
          </a:p>
        </p:txBody>
      </p:sp>
      <p:sp>
        <p:nvSpPr>
          <p:cNvPr id="19" name="TextBox 19"/>
          <p:cNvSpPr txBox="1"/>
          <p:nvPr/>
        </p:nvSpPr>
        <p:spPr>
          <a:xfrm>
            <a:off x="8468106" y="2425065"/>
            <a:ext cx="2471532" cy="352044"/>
          </a:xfrm>
          <a:prstGeom prst="rect">
            <a:avLst/>
          </a:prstGeom>
          <a:noFill/>
          <a:ln>
            <a:noFill/>
          </a:ln>
        </p:spPr>
        <p:txBody>
          <a:bodyPr wrap="none" lIns="0" tIns="0" rIns="0" bIns="0" anchor="t" anchorCtr="0">
            <a:spAutoFit/>
          </a:bodyPr>
          <a:lstStyle/>
          <a:p>
            <a:r>
              <a:t>Stage 2 AUC = 0.603</a:t>
            </a:r>
          </a:p>
        </p:txBody>
      </p:sp>
      <p:sp>
        <p:nvSpPr>
          <p:cNvPr id="20" name="TextBox 20"/>
          <p:cNvSpPr txBox="1"/>
          <p:nvPr/>
        </p:nvSpPr>
        <p:spPr>
          <a:xfrm>
            <a:off x="8468106" y="2806065"/>
            <a:ext cx="2356637" cy="352044"/>
          </a:xfrm>
          <a:prstGeom prst="rect">
            <a:avLst/>
          </a:prstGeom>
          <a:noFill/>
          <a:ln>
            <a:noFill/>
          </a:ln>
        </p:spPr>
        <p:txBody>
          <a:bodyPr wrap="none" lIns="0" tIns="0" rIns="0" bIns="0" anchor="t" anchorCtr="0">
            <a:spAutoFit/>
          </a:bodyPr>
          <a:lstStyle/>
          <a:p>
            <a:r>
              <a:t>for introsort vs heapsort;</a:t>
            </a:r>
          </a:p>
        </p:txBody>
      </p:sp>
      <p:sp>
        <p:nvSpPr>
          <p:cNvPr id="21" name="TextBox 21"/>
          <p:cNvSpPr txBox="1"/>
          <p:nvPr/>
        </p:nvSpPr>
        <p:spPr>
          <a:xfrm>
            <a:off x="8468106" y="3187065"/>
            <a:ext cx="1884121" cy="352044"/>
          </a:xfrm>
          <a:prstGeom prst="rect">
            <a:avLst/>
          </a:prstGeom>
          <a:noFill/>
          <a:ln>
            <a:noFill/>
          </a:ln>
        </p:spPr>
        <p:txBody>
          <a:bodyPr wrap="none" lIns="0" tIns="0" rIns="0" bIns="0" anchor="t" anchorCtr="0">
            <a:spAutoFit/>
          </a:bodyPr>
          <a:lstStyle/>
          <a:p>
            <a:r>
              <a:t>Stage 1 AUC = 0.982.</a:t>
            </a:r>
          </a:p>
        </p:txBody>
      </p:sp>
      <p:sp>
        <p:nvSpPr>
          <p:cNvPr id="22" name="TextBox 22"/>
          <p:cNvSpPr txBox="1"/>
          <p:nvPr/>
        </p:nvSpPr>
        <p:spPr>
          <a:xfrm>
            <a:off x="752856" y="5520690"/>
            <a:ext cx="11772466" cy="352044"/>
          </a:xfrm>
          <a:prstGeom prst="rect">
            <a:avLst/>
          </a:prstGeom>
          <a:noFill/>
          <a:ln>
            <a:noFill/>
          </a:ln>
        </p:spPr>
        <p:txBody>
          <a:bodyPr wrap="none" lIns="0" tIns="0" rIns="0" bIns="0" anchor="t" anchorCtr="0">
            <a:spAutoFit/>
          </a:bodyPr>
          <a:lstStyle/>
          <a:p>
            <a:r>
              <a:t>v5 remains the reported selector; v6, v7, and v8 are evidence for limits, not replacement results.</a:t>
            </a:r>
          </a:p>
        </p:txBody>
      </p:sp>
      <p:sp>
        <p:nvSpPr>
          <p:cNvPr id="23" name="Line 23"/>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5" name="Freeform 2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6" name="Rectangle 25"/>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1250000" y="6619000"/>
            <a:ext cx="640000" cy="180000"/>
          </a:xfrm>
          <a:prstGeom prst="rect">
            <a:avLst/>
          </a:prstGeom>
          <a:noFill/>
        </p:spPr>
        <p:txBody>
          <a:bodyPr wrap="none" lIns="0" rIns="0" tIns="0" bIns="0" anchor="ctr">
            <a:spAutoFit/>
          </a:bodyPr>
          <a:lstStyle/>
          <a:p>
            <a:pPr algn="r"/>
            <a:r>
              <a:rPr sz="1000">
                <a:solidFill>
                  <a:srgbClr val="FFFFFF"/>
                </a:solidFill>
              </a:rPr>
              <a:t>16/26</a:t>
            </a:r>
          </a:p>
        </p:txBody>
      </p:sp>
      <p:sp>
        <p:nvSpPr>
          <p:cNvPr id="39" name="Rectangle 38"/>
          <p:cNvSpPr/>
          <p:nvPr/>
        </p:nvSpPr>
        <p:spPr>
          <a:xfrm>
            <a:off x="11387328" y="6611112"/>
            <a:ext cx="685800" cy="201168"/>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387328" y="6611112"/>
            <a:ext cx="685800" cy="201168"/>
          </a:xfrm>
          <a:prstGeom prst="rect">
            <a:avLst/>
          </a:prstGeom>
          <a:noFill/>
        </p:spPr>
        <p:txBody>
          <a:bodyPr wrap="none" lIns="0" rIns="0" tIns="0" bIns="0" anchor="ctr">
            <a:spAutoFit/>
          </a:bodyPr>
          <a:lstStyle/>
          <a:p>
            <a:pPr algn="r"/>
            <a:r>
              <a:rPr sz="1000">
                <a:solidFill>
                  <a:srgbClr val="FFFFFF"/>
                </a:solidFill>
                <a:latin typeface="Arial"/>
              </a:rPr>
              <a:t>16/26</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r>
              <a:t>Conclusion</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t>Sixteen O(n) structural features are enough to support useful per-instance sorting decisions.</a:t>
            </a:r>
          </a:p>
        </p:txBody>
      </p:sp>
      <p:sp>
        <p:nvSpPr>
          <p:cNvPr id="9" name="TextBox 8"/>
          <p:cNvSpPr txBox="1"/>
          <p:nvPr/>
        </p:nvSpPr>
        <p:spPr>
          <a:xfrm>
            <a:off x="1238250" y="2000250"/>
            <a:ext cx="9715500" cy="400050"/>
          </a:xfrm>
          <a:prstGeom prst="rect">
            <a:avLst/>
          </a:prstGeom>
          <a:noFill/>
        </p:spPr>
        <p:txBody>
          <a:bodyPr wrap="square" lIns="0" tIns="0" rIns="0" bIns="0">
            <a:spAutoFit/>
          </a:bodyPr>
          <a:lstStyle/>
          <a:p>
            <a:r>
              <a:t>The selector improves practical runtime even when top-1 accuracy is imperfect.</a:t>
            </a:r>
          </a:p>
        </p:txBody>
      </p:sp>
      <p:sp>
        <p:nvSpPr>
          <p:cNvPr id="10" name="Rectangle 9"/>
          <p:cNvSpPr/>
          <p:nvPr/>
        </p:nvSpPr>
        <p:spPr>
          <a:xfrm>
            <a:off x="176212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914525" y="3124200"/>
            <a:ext cx="2076450" cy="304800"/>
          </a:xfrm>
          <a:prstGeom prst="rect">
            <a:avLst/>
          </a:prstGeom>
          <a:noFill/>
        </p:spPr>
        <p:txBody>
          <a:bodyPr wrap="none" lIns="0" tIns="0" rIns="0" bIns="0">
            <a:spAutoFit/>
          </a:bodyPr>
          <a:lstStyle/>
          <a:p>
            <a:pPr algn="ctr"/>
            <a:r>
              <a:rPr sz="2000" b="1">
                <a:solidFill>
                  <a:srgbClr val="9A1C3E"/>
                </a:solidFill>
                <a:latin typeface="Aptos Display"/>
              </a:rPr>
              <a:t>76.1%</a:t>
            </a:r>
          </a:p>
        </p:txBody>
      </p:sp>
      <p:sp>
        <p:nvSpPr>
          <p:cNvPr id="12" name="TextBox 11"/>
          <p:cNvSpPr txBox="1"/>
          <p:nvPr/>
        </p:nvSpPr>
        <p:spPr>
          <a:xfrm>
            <a:off x="1933575" y="3543300"/>
            <a:ext cx="2038350" cy="190500"/>
          </a:xfrm>
          <a:prstGeom prst="rect">
            <a:avLst/>
          </a:prstGeom>
          <a:noFill/>
        </p:spPr>
        <p:txBody>
          <a:bodyPr wrap="none" lIns="0" tIns="0" rIns="0" bIns="0">
            <a:spAutoFit/>
          </a:bodyPr>
          <a:lstStyle/>
          <a:p>
            <a:pPr algn="ctr"/>
            <a:r>
              <a:rPr sz="1300" b="0">
                <a:solidFill>
                  <a:srgbClr val="566987"/>
                </a:solidFill>
                <a:latin typeface="Aptos"/>
              </a:rPr>
              <a:t>top-1 accuracy</a:t>
            </a:r>
          </a:p>
        </p:txBody>
      </p:sp>
      <p:sp>
        <p:nvSpPr>
          <p:cNvPr id="13" name="Rectangle 12"/>
          <p:cNvSpPr/>
          <p:nvPr/>
        </p:nvSpPr>
        <p:spPr>
          <a:xfrm>
            <a:off x="4762500" y="2905125"/>
            <a:ext cx="2381250" cy="1095375"/>
          </a:xfrm>
          <a:prstGeom prst="rect">
            <a:avLst/>
          </a:prstGeom>
          <a:solidFill>
            <a:srgbClr val="F8FAFC"/>
          </a:solidFill>
          <a:ln w="12700">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14900" y="3124200"/>
            <a:ext cx="2076450" cy="304800"/>
          </a:xfrm>
          <a:prstGeom prst="rect">
            <a:avLst/>
          </a:prstGeom>
          <a:noFill/>
        </p:spPr>
        <p:txBody>
          <a:bodyPr wrap="none" lIns="0" tIns="0" rIns="0" bIns="0">
            <a:spAutoFit/>
          </a:bodyPr>
          <a:lstStyle/>
          <a:p>
            <a:pPr algn="ctr"/>
            <a:r>
              <a:rPr sz="2400" b="1">
                <a:solidFill>
                  <a:srgbClr val="F4511E"/>
                </a:solidFill>
                <a:latin typeface="Aptos Display"/>
              </a:rPr>
              <a:t>93.1%</a:t>
            </a:r>
          </a:p>
        </p:txBody>
      </p:sp>
      <p:sp>
        <p:nvSpPr>
          <p:cNvPr id="15" name="TextBox 14"/>
          <p:cNvSpPr txBox="1"/>
          <p:nvPr/>
        </p:nvSpPr>
        <p:spPr>
          <a:xfrm>
            <a:off x="4933950" y="3543300"/>
            <a:ext cx="2038350" cy="190500"/>
          </a:xfrm>
          <a:prstGeom prst="rect">
            <a:avLst/>
          </a:prstGeom>
          <a:noFill/>
        </p:spPr>
        <p:txBody>
          <a:bodyPr wrap="none" lIns="0" tIns="0" rIns="0" bIns="0">
            <a:spAutoFit/>
          </a:bodyPr>
          <a:lstStyle/>
          <a:p>
            <a:pPr algn="ctr"/>
            <a:r>
              <a:rPr sz="1300" b="0">
                <a:solidFill>
                  <a:srgbClr val="1B1B1D"/>
                </a:solidFill>
                <a:latin typeface="Aptos"/>
              </a:rPr>
              <a:t>SBS-to-VBS gap closed</a:t>
            </a:r>
          </a:p>
        </p:txBody>
      </p:sp>
      <p:sp>
        <p:nvSpPr>
          <p:cNvPr id="16" name="Rectangle 15"/>
          <p:cNvSpPr/>
          <p:nvPr/>
        </p:nvSpPr>
        <p:spPr>
          <a:xfrm>
            <a:off x="776287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15275" y="3124200"/>
            <a:ext cx="2076450" cy="304800"/>
          </a:xfrm>
          <a:prstGeom prst="rect">
            <a:avLst/>
          </a:prstGeom>
          <a:noFill/>
        </p:spPr>
        <p:txBody>
          <a:bodyPr wrap="none" lIns="0" tIns="0" rIns="0" bIns="0">
            <a:spAutoFit/>
          </a:bodyPr>
          <a:lstStyle/>
          <a:p>
            <a:pPr algn="ctr"/>
            <a:r>
              <a:rPr sz="2000" b="1">
                <a:solidFill>
                  <a:srgbClr val="9A1C3E"/>
                </a:solidFill>
                <a:latin typeface="Aptos Display"/>
              </a:rPr>
              <a:t>89.6%</a:t>
            </a:r>
          </a:p>
        </p:txBody>
      </p:sp>
      <p:sp>
        <p:nvSpPr>
          <p:cNvPr id="18" name="TextBox 17"/>
          <p:cNvSpPr txBox="1"/>
          <p:nvPr/>
        </p:nvSpPr>
        <p:spPr>
          <a:xfrm>
            <a:off x="7934325" y="3543300"/>
            <a:ext cx="2038350" cy="190500"/>
          </a:xfrm>
          <a:prstGeom prst="rect">
            <a:avLst/>
          </a:prstGeom>
          <a:noFill/>
        </p:spPr>
        <p:txBody>
          <a:bodyPr wrap="none" lIns="0" tIns="0" rIns="0" bIns="0">
            <a:spAutoFit/>
          </a:bodyPr>
          <a:lstStyle/>
          <a:p>
            <a:pPr algn="ctr"/>
            <a:r>
              <a:rPr sz="1300" b="0">
                <a:solidFill>
                  <a:srgbClr val="566987"/>
                </a:solidFill>
                <a:latin typeface="Aptos"/>
              </a:rPr>
              <a:t>zero-regret predictions</a:t>
            </a:r>
          </a:p>
        </p:txBody>
      </p:sp>
      <p:sp>
        <p:nvSpPr>
          <p:cNvPr id="19" name="TextBox 18"/>
          <p:cNvSpPr txBox="1"/>
          <p:nvPr/>
        </p:nvSpPr>
        <p:spPr>
          <a:xfrm>
            <a:off x="1571625" y="4572000"/>
            <a:ext cx="9048750" cy="323850"/>
          </a:xfrm>
          <a:prstGeom prst="rect">
            <a:avLst/>
          </a:prstGeom>
          <a:noFill/>
        </p:spPr>
        <p:txBody>
          <a:bodyPr wrap="square" lIns="0" tIns="0" rIns="0" bIns="0">
            <a:spAutoFit/>
          </a:bodyPr>
          <a:lstStyle/>
          <a:p>
            <a:r>
              <a:t>The strongest cases are arrays where order, runs, and repetition leave a visible structural trace.</a:t>
            </a:r>
          </a:p>
        </p:txBody>
      </p:sp>
      <p:sp>
        <p:nvSpPr>
          <p:cNvPr id="20" name="TextBox 19"/>
          <p:cNvSpPr txBox="1"/>
          <p:nvPr/>
        </p:nvSpPr>
        <p:spPr>
          <a:xfrm>
            <a:off x="1571625" y="5095875"/>
            <a:ext cx="9048750" cy="323850"/>
          </a:xfrm>
          <a:prstGeom prst="rect">
            <a:avLst/>
          </a:prstGeom>
          <a:noFill/>
        </p:spPr>
        <p:txBody>
          <a:bodyPr wrap="square" lIns="0" tIns="0" rIns="0" bIns="0">
            <a:spAutoFit/>
          </a:bodyPr>
          <a:lstStyle/>
          <a:p>
            <a:r>
              <a:t>The main residual weakness is the introsort-heapsort boundary, where current value-level features miss microarchitectural effects.</a:t>
            </a:r>
          </a:p>
        </p:txBody>
      </p:sp>
      <p:sp>
        <p:nvSpPr>
          <p:cNvPr id="21" name="Rectangle 20"/>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1250000" y="6619000"/>
            <a:ext cx="640000" cy="180000"/>
          </a:xfrm>
          <a:prstGeom prst="rect">
            <a:avLst/>
          </a:prstGeom>
          <a:noFill/>
        </p:spPr>
        <p:txBody>
          <a:bodyPr wrap="none" lIns="0" rIns="0" tIns="0" bIns="0" anchor="ctr">
            <a:spAutoFit/>
          </a:bodyPr>
          <a:lstStyle/>
          <a:p>
            <a:pPr algn="r"/>
            <a:r>
              <a:rPr sz="1000">
                <a:solidFill>
                  <a:srgbClr val="FFFFFF"/>
                </a:solidFill>
              </a:rPr>
              <a:t>25/26</a:t>
            </a:r>
          </a:p>
        </p:txBody>
      </p:sp>
      <p:sp>
        <p:nvSpPr>
          <p:cNvPr id="30" name="Rectangle 29"/>
          <p:cNvSpPr/>
          <p:nvPr/>
        </p:nvSpPr>
        <p:spPr>
          <a:xfrm>
            <a:off x="11387328" y="6611112"/>
            <a:ext cx="685800" cy="201168"/>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387328" y="6611112"/>
            <a:ext cx="685800" cy="201168"/>
          </a:xfrm>
          <a:prstGeom prst="rect">
            <a:avLst/>
          </a:prstGeom>
          <a:noFill/>
        </p:spPr>
        <p:txBody>
          <a:bodyPr wrap="none" lIns="0" rIns="0" tIns="0" bIns="0" anchor="ctr">
            <a:spAutoFit/>
          </a:bodyPr>
          <a:lstStyle/>
          <a:p>
            <a:pPr algn="r"/>
            <a:r>
              <a:rPr sz="1000">
                <a:solidFill>
                  <a:srgbClr val="FFFFFF"/>
                </a:solidFill>
                <a:latin typeface="Arial"/>
              </a:rPr>
              <a:t>25/26</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Contributions</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t>The contributions are the selector, the evaluation discipline, and the reproducible artefact.</a:t>
            </a:r>
          </a:p>
        </p:txBody>
      </p:sp>
      <p:sp>
        <p:nvSpPr>
          <p:cNvPr id="9" name="TextBox 8"/>
          <p:cNvSpPr txBox="1"/>
          <p:nvPr/>
        </p:nvSpPr>
        <p:spPr>
          <a:xfrm>
            <a:off x="1143000" y="1945000"/>
            <a:ext cx="400050" cy="260000"/>
          </a:xfrm>
          <a:prstGeom prst="rect">
            <a:avLst/>
          </a:prstGeom>
          <a:noFill/>
        </p:spPr>
        <p:txBody>
          <a:bodyPr wrap="none" lIns="0" tIns="0" rIns="0" bIns="0">
            <a:spAutoFit/>
          </a:bodyPr>
          <a:lstStyle/>
          <a:p>
            <a:pPr algn="ctr"/>
            <a:r>
              <a:rPr sz="1500" b="1">
                <a:solidFill>
                  <a:srgbClr val="9A1C3E"/>
                </a:solidFill>
                <a:latin typeface="Aptos"/>
              </a:rPr>
              <a:t>01</a:t>
            </a:r>
          </a:p>
        </p:txBody>
      </p:sp>
      <p:sp>
        <p:nvSpPr>
          <p:cNvPr id="10" name="TextBox 9"/>
          <p:cNvSpPr txBox="1"/>
          <p:nvPr/>
        </p:nvSpPr>
        <p:spPr>
          <a:xfrm>
            <a:off x="1714500" y="1905000"/>
            <a:ext cx="9334500" cy="310000"/>
          </a:xfrm>
          <a:prstGeom prst="rect">
            <a:avLst/>
          </a:prstGeom>
          <a:noFill/>
        </p:spPr>
        <p:txBody>
          <a:bodyPr wrap="square" lIns="0" tIns="0" rIns="0" bIns="0">
            <a:spAutoFit/>
          </a:bodyPr>
          <a:lstStyle/>
          <a:p>
            <a:r>
              <a:rPr sz="1500" b="0">
                <a:solidFill>
                  <a:srgbClr val="566987"/>
                </a:solidFill>
                <a:latin typeface="Aptos"/>
              </a:rPr>
              <a:t>A deployable selector</a:t>
            </a:r>
          </a:p>
        </p:txBody>
      </p:sp>
      <p:sp>
        <p:nvSpPr>
          <p:cNvPr id="11" name="TextBox 10"/>
          <p:cNvSpPr txBox="1"/>
          <p:nvPr/>
        </p:nvSpPr>
        <p:spPr>
          <a:xfrm>
            <a:off x="1714500" y="2315000"/>
            <a:ext cx="9334500" cy="520000"/>
          </a:xfrm>
          <a:prstGeom prst="rect">
            <a:avLst/>
          </a:prstGeom>
          <a:noFill/>
        </p:spPr>
        <p:txBody>
          <a:bodyPr wrap="square" lIns="0" tIns="0" rIns="0" bIns="0">
            <a:spAutoFit/>
          </a:bodyPr>
          <a:lstStyle/>
          <a:p>
            <a:r>
              <a:rPr sz="1800"/>
              <a:t>A compact pipeline combines sixteen O(n) structural features with a gradient-boosted classifier.</a:t>
            </a:r>
          </a:p>
        </p:txBody>
      </p:sp>
      <p:sp>
        <p:nvSpPr>
          <p:cNvPr id="12" name="Rectangle 11"/>
          <p:cNvSpPr/>
          <p:nvPr/>
        </p:nvSpPr>
        <p:spPr>
          <a:xfrm>
            <a:off x="1714500" y="292500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3000" y="3202300"/>
            <a:ext cx="400050" cy="260000"/>
          </a:xfrm>
          <a:prstGeom prst="rect">
            <a:avLst/>
          </a:prstGeom>
          <a:noFill/>
        </p:spPr>
        <p:txBody>
          <a:bodyPr wrap="none" lIns="0" tIns="0" rIns="0" bIns="0">
            <a:spAutoFit/>
          </a:bodyPr>
          <a:lstStyle/>
          <a:p>
            <a:pPr algn="ctr"/>
            <a:r>
              <a:rPr sz="1500" b="1">
                <a:solidFill>
                  <a:srgbClr val="9A1C3E"/>
                </a:solidFill>
                <a:latin typeface="Aptos"/>
              </a:rPr>
              <a:t>02</a:t>
            </a:r>
          </a:p>
        </p:txBody>
      </p:sp>
      <p:sp>
        <p:nvSpPr>
          <p:cNvPr id="14" name="TextBox 13"/>
          <p:cNvSpPr txBox="1"/>
          <p:nvPr/>
        </p:nvSpPr>
        <p:spPr>
          <a:xfrm>
            <a:off x="1714500" y="3162300"/>
            <a:ext cx="9334500" cy="310000"/>
          </a:xfrm>
          <a:prstGeom prst="rect">
            <a:avLst/>
          </a:prstGeom>
          <a:noFill/>
        </p:spPr>
        <p:txBody>
          <a:bodyPr wrap="square" lIns="0" tIns="0" rIns="0" bIns="0">
            <a:spAutoFit/>
          </a:bodyPr>
          <a:lstStyle/>
          <a:p>
            <a:r>
              <a:rPr sz="1500" b="0">
                <a:solidFill>
                  <a:srgbClr val="566987"/>
                </a:solidFill>
                <a:latin typeface="Aptos"/>
              </a:rPr>
              <a:t>A rigorous evaluation framework</a:t>
            </a:r>
          </a:p>
        </p:txBody>
      </p:sp>
      <p:sp>
        <p:nvSpPr>
          <p:cNvPr id="15" name="TextBox 14"/>
          <p:cNvSpPr txBox="1"/>
          <p:nvPr/>
        </p:nvSpPr>
        <p:spPr>
          <a:xfrm>
            <a:off x="1714500" y="3572300"/>
            <a:ext cx="9334500" cy="520000"/>
          </a:xfrm>
          <a:prstGeom prst="rect">
            <a:avLst/>
          </a:prstGeom>
          <a:noFill/>
        </p:spPr>
        <p:txBody>
          <a:bodyPr wrap="square" lIns="0" tIns="0" rIns="0" bIns="0">
            <a:spAutoFit/>
          </a:bodyPr>
          <a:lstStyle/>
          <a:p>
            <a:r>
              <a:rPr dirty="0" sz="1700"/>
              <a:t>Source-level separation, near-tie filtering, LODO testing, and regret metrics give a stronger view than accuracy alone.</a:t>
            </a:r>
          </a:p>
        </p:txBody>
      </p:sp>
      <p:sp>
        <p:nvSpPr>
          <p:cNvPr id="16" name="Rectangle 15"/>
          <p:cNvSpPr/>
          <p:nvPr/>
        </p:nvSpPr>
        <p:spPr>
          <a:xfrm>
            <a:off x="1714500" y="418230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43000" y="4459600"/>
            <a:ext cx="400050" cy="260000"/>
          </a:xfrm>
          <a:prstGeom prst="rect">
            <a:avLst/>
          </a:prstGeom>
          <a:noFill/>
        </p:spPr>
        <p:txBody>
          <a:bodyPr wrap="none" lIns="0" tIns="0" rIns="0" bIns="0">
            <a:spAutoFit/>
          </a:bodyPr>
          <a:lstStyle/>
          <a:p>
            <a:pPr algn="ctr"/>
            <a:r>
              <a:rPr sz="1500" b="1">
                <a:solidFill>
                  <a:srgbClr val="9A1C3E"/>
                </a:solidFill>
                <a:latin typeface="Aptos"/>
              </a:rPr>
              <a:t>03</a:t>
            </a:r>
          </a:p>
        </p:txBody>
      </p:sp>
      <p:sp>
        <p:nvSpPr>
          <p:cNvPr id="18" name="TextBox 17"/>
          <p:cNvSpPr txBox="1"/>
          <p:nvPr/>
        </p:nvSpPr>
        <p:spPr>
          <a:xfrm>
            <a:off x="1714500" y="4419600"/>
            <a:ext cx="9334500" cy="310000"/>
          </a:xfrm>
          <a:prstGeom prst="rect">
            <a:avLst/>
          </a:prstGeom>
          <a:noFill/>
        </p:spPr>
        <p:txBody>
          <a:bodyPr wrap="square" lIns="0" tIns="0" rIns="0" bIns="0">
            <a:spAutoFit/>
          </a:bodyPr>
          <a:lstStyle/>
          <a:p>
            <a:r>
              <a:rPr sz="1500" b="0" dirty="0">
                <a:solidFill>
                  <a:srgbClr val="566987"/>
                </a:solidFill>
                <a:latin typeface="Aptos"/>
              </a:rPr>
              <a:t>A reproducible artefact</a:t>
            </a:r>
          </a:p>
        </p:txBody>
      </p:sp>
      <p:sp>
        <p:nvSpPr>
          <p:cNvPr id="19" name="TextBox 18"/>
          <p:cNvSpPr txBox="1"/>
          <p:nvPr/>
        </p:nvSpPr>
        <p:spPr>
          <a:xfrm>
            <a:off x="1714500" y="4829600"/>
            <a:ext cx="9334500" cy="520000"/>
          </a:xfrm>
          <a:prstGeom prst="rect">
            <a:avLst/>
          </a:prstGeom>
          <a:noFill/>
        </p:spPr>
        <p:txBody>
          <a:bodyPr wrap="square" lIns="0" tIns="0" rIns="0" bIns="0">
            <a:spAutoFit/>
          </a:bodyPr>
          <a:lstStyle/>
          <a:p>
            <a:r>
              <a:rPr sz="1700"/>
              <a:t>One source-of-truth feature extractor, data pipeline, and exported XGBoost JSON / ONNX models support replication.</a:t>
            </a:r>
          </a:p>
        </p:txBody>
      </p:sp>
      <p:sp>
        <p:nvSpPr>
          <p:cNvPr id="20" name="Rectangle 19"/>
          <p:cNvSpPr/>
          <p:nvPr/>
        </p:nvSpPr>
        <p:spPr>
          <a:xfrm>
            <a:off x="1714500" y="543960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428750" y="5810250"/>
            <a:ext cx="9334500" cy="209550"/>
          </a:xfrm>
          <a:prstGeom prst="rect">
            <a:avLst/>
          </a:prstGeom>
          <a:noFill/>
        </p:spPr>
        <p:txBody>
          <a:bodyPr wrap="none" lIns="0" tIns="0" rIns="0" bIns="0">
            <a:spAutoFit/>
          </a:bodyPr>
          <a:lstStyle/>
          <a:p>
            <a:endParaRPr/>
          </a:p>
        </p:txBody>
      </p:sp>
      <p:sp>
        <p:nvSpPr>
          <p:cNvPr id="22" name="Rectangle 21"/>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1250000" y="6619000"/>
            <a:ext cx="640000" cy="180000"/>
          </a:xfrm>
          <a:prstGeom prst="rect">
            <a:avLst/>
          </a:prstGeom>
          <a:noFill/>
        </p:spPr>
        <p:txBody>
          <a:bodyPr wrap="none" lIns="0" rIns="0" tIns="0" bIns="0" anchor="ctr">
            <a:spAutoFit/>
          </a:bodyPr>
          <a:lstStyle/>
          <a:p>
            <a:pPr algn="r"/>
            <a:r>
              <a:rPr sz="1000">
                <a:solidFill>
                  <a:srgbClr val="FFFFFF"/>
                </a:solidFill>
              </a:rPr>
              <a:t>23/26</a:t>
            </a:r>
          </a:p>
        </p:txBody>
      </p:sp>
      <p:sp>
        <p:nvSpPr>
          <p:cNvPr id="31" name="Rectangle 30"/>
          <p:cNvSpPr/>
          <p:nvPr/>
        </p:nvSpPr>
        <p:spPr>
          <a:xfrm>
            <a:off x="11387328" y="6611112"/>
            <a:ext cx="685800" cy="201168"/>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387328" y="6611112"/>
            <a:ext cx="685800" cy="201168"/>
          </a:xfrm>
          <a:prstGeom prst="rect">
            <a:avLst/>
          </a:prstGeom>
          <a:noFill/>
        </p:spPr>
        <p:txBody>
          <a:bodyPr wrap="none" lIns="0" rIns="0" tIns="0" bIns="0" anchor="ctr">
            <a:spAutoFit/>
          </a:bodyPr>
          <a:lstStyle/>
          <a:p>
            <a:pPr algn="r"/>
            <a:r>
              <a:rPr sz="1000">
                <a:solidFill>
                  <a:srgbClr val="FFFFFF"/>
                </a:solidFill>
                <a:latin typeface="Arial"/>
              </a:rPr>
              <a:t>23/26</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Limitations and Future Work</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t>The limits are portfolio scope, single hardware setting, unvalidated online adaptation, and small-array overhead.</a:t>
            </a:r>
          </a:p>
        </p:txBody>
      </p:sp>
      <p:sp>
        <p:nvSpPr>
          <p:cNvPr id="22" name="Rectangle 21"/>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1250000" y="6619000"/>
            <a:ext cx="640000" cy="180000"/>
          </a:xfrm>
          <a:prstGeom prst="rect">
            <a:avLst/>
          </a:prstGeom>
          <a:noFill/>
        </p:spPr>
        <p:txBody>
          <a:bodyPr wrap="none" lIns="0" rIns="0" tIns="0" bIns="0" anchor="ctr">
            <a:spAutoFit/>
          </a:bodyPr>
          <a:lstStyle/>
          <a:p>
            <a:pPr algn="r"/>
            <a:r>
              <a:rPr sz="1000">
                <a:solidFill>
                  <a:srgbClr val="FFFFFF"/>
                </a:solidFill>
              </a:rPr>
              <a:t>24/26</a:t>
            </a:r>
          </a:p>
        </p:txBody>
      </p:sp>
      <p:sp>
        <p:nvSpPr>
          <p:cNvPr id="31" name="TextBox 30"/>
          <p:cNvSpPr txBox="1"/>
          <p:nvPr/>
        </p:nvSpPr>
        <p:spPr>
          <a:xfrm>
            <a:off x="1700000" y="1640000"/>
            <a:ext cx="3900000" cy="290000"/>
          </a:xfrm>
          <a:prstGeom prst="rect">
            <a:avLst/>
          </a:prstGeom>
          <a:noFill/>
        </p:spPr>
        <p:txBody>
          <a:bodyPr wrap="square" lIns="0" rIns="0" tIns="0" bIns="0">
            <a:spAutoFit/>
          </a:bodyPr>
          <a:lstStyle/>
          <a:p>
            <a:pPr algn="l">
              <a:spcBef>
                <a:spcPts val="0"/>
              </a:spcBef>
              <a:spcAft>
                <a:spcPts val="0"/>
              </a:spcAft>
            </a:pPr>
            <a:r>
              <a:rPr sz="1800" b="1">
                <a:solidFill>
                  <a:srgbClr val="191919"/>
                </a:solidFill>
              </a:rPr>
              <a:t>Limitations</a:t>
            </a:r>
          </a:p>
        </p:txBody>
      </p:sp>
      <p:sp>
        <p:nvSpPr>
          <p:cNvPr id="32" name="TextBox 31"/>
          <p:cNvSpPr txBox="1"/>
          <p:nvPr/>
        </p:nvSpPr>
        <p:spPr>
          <a:xfrm>
            <a:off x="6980000" y="1640000"/>
            <a:ext cx="3900000" cy="290000"/>
          </a:xfrm>
          <a:prstGeom prst="rect">
            <a:avLst/>
          </a:prstGeom>
          <a:noFill/>
        </p:spPr>
        <p:txBody>
          <a:bodyPr wrap="square" lIns="0" rIns="0" tIns="0" bIns="0">
            <a:spAutoFit/>
          </a:bodyPr>
          <a:lstStyle/>
          <a:p>
            <a:pPr algn="l">
              <a:spcBef>
                <a:spcPts val="0"/>
              </a:spcBef>
              <a:spcAft>
                <a:spcPts val="0"/>
              </a:spcAft>
            </a:pPr>
            <a:r>
              <a:rPr sz="1800" b="1">
                <a:solidFill>
                  <a:srgbClr val="191919"/>
                </a:solidFill>
              </a:rPr>
              <a:t>Future work</a:t>
            </a:r>
          </a:p>
        </p:txBody>
      </p:sp>
      <p:sp>
        <p:nvSpPr>
          <p:cNvPr id="33" name="TextBox 32"/>
          <p:cNvSpPr txBox="1"/>
          <p:nvPr/>
        </p:nvSpPr>
        <p:spPr>
          <a:xfrm>
            <a:off x="1120000" y="2150000"/>
            <a:ext cx="420000" cy="260000"/>
          </a:xfrm>
          <a:prstGeom prst="rect">
            <a:avLst/>
          </a:prstGeom>
          <a:noFill/>
        </p:spPr>
        <p:txBody>
          <a:bodyPr wrap="square" lIns="0" rIns="0" tIns="0" bIns="0">
            <a:spAutoFit/>
          </a:bodyPr>
          <a:lstStyle/>
          <a:p>
            <a:pPr algn="l">
              <a:spcBef>
                <a:spcPts val="0"/>
              </a:spcBef>
              <a:spcAft>
                <a:spcPts val="0"/>
              </a:spcAft>
            </a:pPr>
            <a:r>
              <a:rPr sz="1500" b="1">
                <a:solidFill>
                  <a:srgbClr val="9A1C3E"/>
                </a:solidFill>
              </a:rPr>
              <a:t>01</a:t>
            </a:r>
          </a:p>
        </p:txBody>
      </p:sp>
      <p:sp>
        <p:nvSpPr>
          <p:cNvPr id="34" name="TextBox 33"/>
          <p:cNvSpPr txBox="1"/>
          <p:nvPr/>
        </p:nvSpPr>
        <p:spPr>
          <a:xfrm>
            <a:off x="1700000" y="2150000"/>
            <a:ext cx="3900000" cy="510000"/>
          </a:xfrm>
          <a:prstGeom prst="rect">
            <a:avLst/>
          </a:prstGeom>
          <a:noFill/>
        </p:spPr>
        <p:txBody>
          <a:bodyPr wrap="square" lIns="0" rIns="0" tIns="0" bIns="0">
            <a:spAutoFit/>
          </a:bodyPr>
          <a:lstStyle/>
          <a:p>
            <a:pPr algn="l">
              <a:spcBef>
                <a:spcPts val="0"/>
              </a:spcBef>
              <a:spcAft>
                <a:spcPts val="0"/>
              </a:spcAft>
            </a:pPr>
            <a:r>
              <a:rPr sz="1500" b="0">
                <a:solidFill>
                  <a:srgbClr val="191919"/>
                </a:solidFill>
              </a:rPr>
              <a:t>portfolio limited to three C-level comparison sorts</a:t>
            </a:r>
          </a:p>
        </p:txBody>
      </p:sp>
      <p:sp>
        <p:nvSpPr>
          <p:cNvPr id="35" name="Rectangle 34"/>
          <p:cNvSpPr/>
          <p:nvPr/>
        </p:nvSpPr>
        <p:spPr>
          <a:xfrm>
            <a:off x="1700000" y="2760000"/>
            <a:ext cx="3900000" cy="9000"/>
          </a:xfrm>
          <a:prstGeom prst="rect">
            <a:avLst/>
          </a:prstGeom>
          <a:solidFill>
            <a:srgbClr val="D2D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20000" y="2960000"/>
            <a:ext cx="420000" cy="260000"/>
          </a:xfrm>
          <a:prstGeom prst="rect">
            <a:avLst/>
          </a:prstGeom>
          <a:noFill/>
        </p:spPr>
        <p:txBody>
          <a:bodyPr wrap="square" lIns="0" rIns="0" tIns="0" bIns="0">
            <a:spAutoFit/>
          </a:bodyPr>
          <a:lstStyle/>
          <a:p>
            <a:pPr algn="l">
              <a:spcBef>
                <a:spcPts val="0"/>
              </a:spcBef>
              <a:spcAft>
                <a:spcPts val="0"/>
              </a:spcAft>
            </a:pPr>
            <a:r>
              <a:rPr sz="1500" b="1">
                <a:solidFill>
                  <a:srgbClr val="9A1C3E"/>
                </a:solidFill>
              </a:rPr>
              <a:t>02</a:t>
            </a:r>
          </a:p>
        </p:txBody>
      </p:sp>
      <p:sp>
        <p:nvSpPr>
          <p:cNvPr id="37" name="TextBox 36"/>
          <p:cNvSpPr txBox="1"/>
          <p:nvPr/>
        </p:nvSpPr>
        <p:spPr>
          <a:xfrm>
            <a:off x="1700000" y="2960000"/>
            <a:ext cx="3900000" cy="510000"/>
          </a:xfrm>
          <a:prstGeom prst="rect">
            <a:avLst/>
          </a:prstGeom>
          <a:noFill/>
        </p:spPr>
        <p:txBody>
          <a:bodyPr wrap="square" lIns="0" rIns="0" tIns="0" bIns="0">
            <a:spAutoFit/>
          </a:bodyPr>
          <a:lstStyle/>
          <a:p>
            <a:pPr algn="l">
              <a:spcBef>
                <a:spcPts val="0"/>
              </a:spcBef>
              <a:spcAft>
                <a:spcPts val="0"/>
              </a:spcAft>
            </a:pPr>
            <a:r>
              <a:rPr sz="1500" b="0">
                <a:solidFill>
                  <a:srgbClr val="191919"/>
                </a:solidFill>
              </a:rPr>
              <a:t>absolute regret tied to one hardware/software environment</a:t>
            </a:r>
          </a:p>
        </p:txBody>
      </p:sp>
      <p:sp>
        <p:nvSpPr>
          <p:cNvPr id="38" name="Rectangle 37"/>
          <p:cNvSpPr/>
          <p:nvPr/>
        </p:nvSpPr>
        <p:spPr>
          <a:xfrm>
            <a:off x="1700000" y="3570000"/>
            <a:ext cx="3900000" cy="9000"/>
          </a:xfrm>
          <a:prstGeom prst="rect">
            <a:avLst/>
          </a:prstGeom>
          <a:solidFill>
            <a:srgbClr val="D2D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20000" y="3770000"/>
            <a:ext cx="420000" cy="260000"/>
          </a:xfrm>
          <a:prstGeom prst="rect">
            <a:avLst/>
          </a:prstGeom>
          <a:noFill/>
        </p:spPr>
        <p:txBody>
          <a:bodyPr wrap="square" lIns="0" rIns="0" tIns="0" bIns="0">
            <a:spAutoFit/>
          </a:bodyPr>
          <a:lstStyle/>
          <a:p>
            <a:pPr algn="l">
              <a:spcBef>
                <a:spcPts val="0"/>
              </a:spcBef>
              <a:spcAft>
                <a:spcPts val="0"/>
              </a:spcAft>
            </a:pPr>
            <a:r>
              <a:rPr sz="1500" b="1">
                <a:solidFill>
                  <a:srgbClr val="9A1C3E"/>
                </a:solidFill>
              </a:rPr>
              <a:t>03</a:t>
            </a:r>
          </a:p>
        </p:txBody>
      </p:sp>
      <p:sp>
        <p:nvSpPr>
          <p:cNvPr id="40" name="TextBox 39"/>
          <p:cNvSpPr txBox="1"/>
          <p:nvPr/>
        </p:nvSpPr>
        <p:spPr>
          <a:xfrm>
            <a:off x="1700000" y="3770000"/>
            <a:ext cx="3900000" cy="510000"/>
          </a:xfrm>
          <a:prstGeom prst="rect">
            <a:avLst/>
          </a:prstGeom>
          <a:noFill/>
        </p:spPr>
        <p:txBody>
          <a:bodyPr wrap="square" lIns="0" rIns="0" tIns="0" bIns="0">
            <a:spAutoFit/>
          </a:bodyPr>
          <a:lstStyle/>
          <a:p>
            <a:pPr algn="l">
              <a:spcBef>
                <a:spcPts val="0"/>
              </a:spcBef>
              <a:spcAft>
                <a:spcPts val="0"/>
              </a:spcAft>
            </a:pPr>
            <a:r>
              <a:rPr sz="1500" b="0">
                <a:solidFill>
                  <a:srgbClr val="191919"/>
                </a:solidFill>
              </a:rPr>
              <a:t>LinUCB contextual bandit designed but not validated</a:t>
            </a:r>
          </a:p>
        </p:txBody>
      </p:sp>
      <p:sp>
        <p:nvSpPr>
          <p:cNvPr id="41" name="Rectangle 40"/>
          <p:cNvSpPr/>
          <p:nvPr/>
        </p:nvSpPr>
        <p:spPr>
          <a:xfrm>
            <a:off x="1700000" y="4380000"/>
            <a:ext cx="3900000" cy="9000"/>
          </a:xfrm>
          <a:prstGeom prst="rect">
            <a:avLst/>
          </a:prstGeom>
          <a:solidFill>
            <a:srgbClr val="D2D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120000" y="4580000"/>
            <a:ext cx="420000" cy="260000"/>
          </a:xfrm>
          <a:prstGeom prst="rect">
            <a:avLst/>
          </a:prstGeom>
          <a:noFill/>
        </p:spPr>
        <p:txBody>
          <a:bodyPr wrap="square" lIns="0" rIns="0" tIns="0" bIns="0">
            <a:spAutoFit/>
          </a:bodyPr>
          <a:lstStyle/>
          <a:p>
            <a:pPr algn="l">
              <a:spcBef>
                <a:spcPts val="0"/>
              </a:spcBef>
              <a:spcAft>
                <a:spcPts val="0"/>
              </a:spcAft>
            </a:pPr>
            <a:r>
              <a:rPr sz="1500" b="1">
                <a:solidFill>
                  <a:srgbClr val="9A1C3E"/>
                </a:solidFill>
              </a:rPr>
              <a:t>04</a:t>
            </a:r>
          </a:p>
        </p:txBody>
      </p:sp>
      <p:sp>
        <p:nvSpPr>
          <p:cNvPr id="43" name="TextBox 42"/>
          <p:cNvSpPr txBox="1"/>
          <p:nvPr/>
        </p:nvSpPr>
        <p:spPr>
          <a:xfrm>
            <a:off x="1700000" y="4580000"/>
            <a:ext cx="3900000" cy="510000"/>
          </a:xfrm>
          <a:prstGeom prst="rect">
            <a:avLst/>
          </a:prstGeom>
          <a:noFill/>
        </p:spPr>
        <p:txBody>
          <a:bodyPr wrap="square" lIns="0" rIns="0" tIns="0" bIns="0">
            <a:spAutoFit/>
          </a:bodyPr>
          <a:lstStyle/>
          <a:p>
            <a:pPr algn="l">
              <a:spcBef>
                <a:spcPts val="0"/>
              </a:spcBef>
              <a:spcAft>
                <a:spcPts val="0"/>
              </a:spcAft>
            </a:pPr>
            <a:r>
              <a:rPr sz="1500" b="0">
                <a:solidFill>
                  <a:srgbClr val="191919"/>
                </a:solidFill>
              </a:rPr>
              <a:t>feature extraction becomes unprofitable below about 1,000 elements</a:t>
            </a:r>
          </a:p>
        </p:txBody>
      </p:sp>
      <p:sp>
        <p:nvSpPr>
          <p:cNvPr id="44" name="Rectangle 43"/>
          <p:cNvSpPr/>
          <p:nvPr/>
        </p:nvSpPr>
        <p:spPr>
          <a:xfrm>
            <a:off x="1700000" y="5190000"/>
            <a:ext cx="3900000" cy="9000"/>
          </a:xfrm>
          <a:prstGeom prst="rect">
            <a:avLst/>
          </a:prstGeom>
          <a:solidFill>
            <a:srgbClr val="D2D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00000" y="2150000"/>
            <a:ext cx="420000" cy="260000"/>
          </a:xfrm>
          <a:prstGeom prst="rect">
            <a:avLst/>
          </a:prstGeom>
          <a:noFill/>
        </p:spPr>
        <p:txBody>
          <a:bodyPr wrap="square" lIns="0" rIns="0" tIns="0" bIns="0">
            <a:spAutoFit/>
          </a:bodyPr>
          <a:lstStyle/>
          <a:p>
            <a:pPr algn="l">
              <a:spcBef>
                <a:spcPts val="0"/>
              </a:spcBef>
              <a:spcAft>
                <a:spcPts val="0"/>
              </a:spcAft>
            </a:pPr>
            <a:r>
              <a:rPr sz="1500" b="1">
                <a:solidFill>
                  <a:srgbClr val="9A1C3E"/>
                </a:solidFill>
              </a:rPr>
              <a:t>05</a:t>
            </a:r>
          </a:p>
        </p:txBody>
      </p:sp>
      <p:sp>
        <p:nvSpPr>
          <p:cNvPr id="46" name="TextBox 45"/>
          <p:cNvSpPr txBox="1"/>
          <p:nvPr/>
        </p:nvSpPr>
        <p:spPr>
          <a:xfrm>
            <a:off x="6980000" y="2150000"/>
            <a:ext cx="3900000" cy="510000"/>
          </a:xfrm>
          <a:prstGeom prst="rect">
            <a:avLst/>
          </a:prstGeom>
          <a:noFill/>
        </p:spPr>
        <p:txBody>
          <a:bodyPr wrap="square" lIns="0" rIns="0" tIns="0" bIns="0">
            <a:spAutoFit/>
          </a:bodyPr>
          <a:lstStyle/>
          <a:p>
            <a:pPr algn="l">
              <a:spcBef>
                <a:spcPts val="0"/>
              </a:spcBef>
              <a:spcAft>
                <a:spcPts val="0"/>
              </a:spcAft>
            </a:pPr>
            <a:r>
              <a:rPr sz="1500" b="0">
                <a:solidFill>
                  <a:srgbClr val="191919"/>
                </a:solidFill>
              </a:rPr>
              <a:t>larger portfolios: Powersort, radix/bucket guards, SIMD/GPU sorts</a:t>
            </a:r>
          </a:p>
        </p:txBody>
      </p:sp>
      <p:sp>
        <p:nvSpPr>
          <p:cNvPr id="47" name="Rectangle 46"/>
          <p:cNvSpPr/>
          <p:nvPr/>
        </p:nvSpPr>
        <p:spPr>
          <a:xfrm>
            <a:off x="6980000" y="2760000"/>
            <a:ext cx="3900000" cy="9000"/>
          </a:xfrm>
          <a:prstGeom prst="rect">
            <a:avLst/>
          </a:prstGeom>
          <a:solidFill>
            <a:srgbClr val="D2D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00000" y="2960000"/>
            <a:ext cx="420000" cy="260000"/>
          </a:xfrm>
          <a:prstGeom prst="rect">
            <a:avLst/>
          </a:prstGeom>
          <a:noFill/>
        </p:spPr>
        <p:txBody>
          <a:bodyPr wrap="square" lIns="0" rIns="0" tIns="0" bIns="0">
            <a:spAutoFit/>
          </a:bodyPr>
          <a:lstStyle/>
          <a:p>
            <a:pPr algn="l">
              <a:spcBef>
                <a:spcPts val="0"/>
              </a:spcBef>
              <a:spcAft>
                <a:spcPts val="0"/>
              </a:spcAft>
            </a:pPr>
            <a:r>
              <a:rPr sz="1500" b="1">
                <a:solidFill>
                  <a:srgbClr val="9A1C3E"/>
                </a:solidFill>
              </a:rPr>
              <a:t>06</a:t>
            </a:r>
          </a:p>
        </p:txBody>
      </p:sp>
      <p:sp>
        <p:nvSpPr>
          <p:cNvPr id="49" name="TextBox 48"/>
          <p:cNvSpPr txBox="1"/>
          <p:nvPr/>
        </p:nvSpPr>
        <p:spPr>
          <a:xfrm>
            <a:off x="6980000" y="2960000"/>
            <a:ext cx="3900000" cy="510000"/>
          </a:xfrm>
          <a:prstGeom prst="rect">
            <a:avLst/>
          </a:prstGeom>
          <a:noFill/>
        </p:spPr>
        <p:txBody>
          <a:bodyPr wrap="square" lIns="0" rIns="0" tIns="0" bIns="0">
            <a:spAutoFit/>
          </a:bodyPr>
          <a:lstStyle/>
          <a:p>
            <a:pPr algn="l">
              <a:spcBef>
                <a:spcPts val="0"/>
              </a:spcBef>
              <a:spcAft>
                <a:spcPts val="0"/>
              </a:spcAft>
            </a:pPr>
            <a:r>
              <a:rPr sz="1500" b="0">
                <a:solidFill>
                  <a:srgbClr val="191919"/>
                </a:solidFill>
              </a:rPr>
              <a:t>validated LinUCB under gradual and abrupt distribution shift</a:t>
            </a:r>
          </a:p>
        </p:txBody>
      </p:sp>
      <p:sp>
        <p:nvSpPr>
          <p:cNvPr id="50" name="Rectangle 49"/>
          <p:cNvSpPr/>
          <p:nvPr/>
        </p:nvSpPr>
        <p:spPr>
          <a:xfrm>
            <a:off x="6980000" y="3570000"/>
            <a:ext cx="3900000" cy="9000"/>
          </a:xfrm>
          <a:prstGeom prst="rect">
            <a:avLst/>
          </a:prstGeom>
          <a:solidFill>
            <a:srgbClr val="D2D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400000" y="3770000"/>
            <a:ext cx="420000" cy="260000"/>
          </a:xfrm>
          <a:prstGeom prst="rect">
            <a:avLst/>
          </a:prstGeom>
          <a:noFill/>
        </p:spPr>
        <p:txBody>
          <a:bodyPr wrap="square" lIns="0" rIns="0" tIns="0" bIns="0">
            <a:spAutoFit/>
          </a:bodyPr>
          <a:lstStyle/>
          <a:p>
            <a:pPr algn="l">
              <a:spcBef>
                <a:spcPts val="0"/>
              </a:spcBef>
              <a:spcAft>
                <a:spcPts val="0"/>
              </a:spcAft>
            </a:pPr>
            <a:r>
              <a:rPr sz="1500" b="1">
                <a:solidFill>
                  <a:srgbClr val="9A1C3E"/>
                </a:solidFill>
              </a:rPr>
              <a:t>07</a:t>
            </a:r>
          </a:p>
        </p:txBody>
      </p:sp>
      <p:sp>
        <p:nvSpPr>
          <p:cNvPr id="52" name="TextBox 51"/>
          <p:cNvSpPr txBox="1"/>
          <p:nvPr/>
        </p:nvSpPr>
        <p:spPr>
          <a:xfrm>
            <a:off x="6980000" y="3770000"/>
            <a:ext cx="3900000" cy="510000"/>
          </a:xfrm>
          <a:prstGeom prst="rect">
            <a:avLst/>
          </a:prstGeom>
          <a:noFill/>
        </p:spPr>
        <p:txBody>
          <a:bodyPr wrap="square" lIns="0" rIns="0" tIns="0" bIns="0">
            <a:spAutoFit/>
          </a:bodyPr>
          <a:lstStyle/>
          <a:p>
            <a:pPr algn="l">
              <a:spcBef>
                <a:spcPts val="0"/>
              </a:spcBef>
              <a:spcAft>
                <a:spcPts val="0"/>
              </a:spcAft>
            </a:pPr>
            <a:r>
              <a:rPr sz="1500" b="0">
                <a:solidFill>
                  <a:srgbClr val="191919"/>
                </a:solidFill>
              </a:rPr>
              <a:t>domain embeddings and stricter channel-level routing evaluation</a:t>
            </a:r>
          </a:p>
        </p:txBody>
      </p:sp>
      <p:sp>
        <p:nvSpPr>
          <p:cNvPr id="53" name="Rectangle 52"/>
          <p:cNvSpPr/>
          <p:nvPr/>
        </p:nvSpPr>
        <p:spPr>
          <a:xfrm>
            <a:off x="6980000" y="4380000"/>
            <a:ext cx="3900000" cy="9000"/>
          </a:xfrm>
          <a:prstGeom prst="rect">
            <a:avLst/>
          </a:prstGeom>
          <a:solidFill>
            <a:srgbClr val="D2D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400000" y="4580000"/>
            <a:ext cx="420000" cy="260000"/>
          </a:xfrm>
          <a:prstGeom prst="rect">
            <a:avLst/>
          </a:prstGeom>
          <a:noFill/>
        </p:spPr>
        <p:txBody>
          <a:bodyPr wrap="square" lIns="0" rIns="0" tIns="0" bIns="0">
            <a:spAutoFit/>
          </a:bodyPr>
          <a:lstStyle/>
          <a:p>
            <a:pPr algn="l">
              <a:spcBef>
                <a:spcPts val="0"/>
              </a:spcBef>
              <a:spcAft>
                <a:spcPts val="0"/>
              </a:spcAft>
            </a:pPr>
            <a:r>
              <a:rPr sz="1500" b="1">
                <a:solidFill>
                  <a:srgbClr val="9A1C3E"/>
                </a:solidFill>
              </a:rPr>
              <a:t>08</a:t>
            </a:r>
          </a:p>
        </p:txBody>
      </p:sp>
      <p:sp>
        <p:nvSpPr>
          <p:cNvPr id="55" name="TextBox 54"/>
          <p:cNvSpPr txBox="1"/>
          <p:nvPr/>
        </p:nvSpPr>
        <p:spPr>
          <a:xfrm>
            <a:off x="6980000" y="4580000"/>
            <a:ext cx="3900000" cy="510000"/>
          </a:xfrm>
          <a:prstGeom prst="rect">
            <a:avLst/>
          </a:prstGeom>
          <a:noFill/>
        </p:spPr>
        <p:txBody>
          <a:bodyPr wrap="square" lIns="0" rIns="0" tIns="0" bIns="0">
            <a:spAutoFit/>
          </a:bodyPr>
          <a:lstStyle/>
          <a:p>
            <a:pPr algn="l">
              <a:spcBef>
                <a:spcPts val="0"/>
              </a:spcBef>
              <a:spcAft>
                <a:spcPts val="0"/>
              </a:spcAft>
            </a:pPr>
            <a:r>
              <a:rPr sz="1500" b="0">
                <a:solidFill>
                  <a:srgbClr val="191919"/>
                </a:solidFill>
              </a:rPr>
              <a:t>cross-platform deployment with feature-extraction overhead</a:t>
            </a:r>
          </a:p>
        </p:txBody>
      </p:sp>
      <p:sp>
        <p:nvSpPr>
          <p:cNvPr id="56" name="Rectangle 55"/>
          <p:cNvSpPr/>
          <p:nvPr/>
        </p:nvSpPr>
        <p:spPr>
          <a:xfrm>
            <a:off x="6980000" y="5190000"/>
            <a:ext cx="3900000" cy="9000"/>
          </a:xfrm>
          <a:prstGeom prst="rect">
            <a:avLst/>
          </a:prstGeom>
          <a:solidFill>
            <a:srgbClr val="D2D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524000" y="5550000"/>
            <a:ext cx="9144000" cy="460000"/>
          </a:xfrm>
          <a:prstGeom prst="rect">
            <a:avLst/>
          </a:prstGeom>
          <a:noFill/>
        </p:spPr>
        <p:txBody>
          <a:bodyPr wrap="square" lIns="0" rIns="0" tIns="0" bIns="0">
            <a:spAutoFit/>
          </a:bodyPr>
          <a:lstStyle/>
          <a:p>
            <a:pPr algn="l">
              <a:spcBef>
                <a:spcPts val="0"/>
              </a:spcBef>
              <a:spcAft>
                <a:spcPts val="0"/>
              </a:spcAft>
            </a:pPr>
            <a:r>
              <a:rPr sz="1800" b="0">
                <a:solidFill>
                  <a:srgbClr val="191919"/>
                </a:solidFill>
              </a:rPr>
              <a:t>Future work extends the portfolio, adaptation, and generalisation axes while preserving cost-aware evaluation.</a:t>
            </a:r>
          </a:p>
        </p:txBody>
      </p:sp>
      <p:sp>
        <p:nvSpPr>
          <p:cNvPr id="58" name="Rectangle 57"/>
          <p:cNvSpPr/>
          <p:nvPr/>
        </p:nvSpPr>
        <p:spPr>
          <a:xfrm>
            <a:off x="11387328" y="6611112"/>
            <a:ext cx="685800" cy="201168"/>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387328" y="6611112"/>
            <a:ext cx="685800" cy="201168"/>
          </a:xfrm>
          <a:prstGeom prst="rect">
            <a:avLst/>
          </a:prstGeom>
          <a:noFill/>
        </p:spPr>
        <p:txBody>
          <a:bodyPr wrap="none" lIns="0" rIns="0" tIns="0" bIns="0" anchor="ctr">
            <a:spAutoFit/>
          </a:bodyPr>
          <a:lstStyle/>
          <a:p>
            <a:pPr algn="r"/>
            <a:r>
              <a:rPr sz="1000">
                <a:solidFill>
                  <a:srgbClr val="FFFFFF"/>
                </a:solidFill>
                <a:latin typeface="Arial"/>
              </a:rPr>
              <a:t>24/26</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6459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64592"/>
            <a:ext cx="12192000" cy="45720"/>
          </a:xfrm>
          <a:prstGeom prst="rect">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01968"/>
            <a:ext cx="12192000" cy="25603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057400"/>
            <a:ext cx="10363200" cy="914400"/>
          </a:xfrm>
          <a:prstGeom prst="rect">
            <a:avLst/>
          </a:prstGeom>
          <a:noFill/>
        </p:spPr>
        <p:txBody>
          <a:bodyPr wrap="none">
            <a:spAutoFit/>
          </a:bodyPr>
          <a:lstStyle/>
          <a:p>
            <a:pPr algn="ctr"/>
            <a:r>
              <a:rPr sz="5800" b="1">
                <a:solidFill>
                  <a:srgbClr val="191919"/>
                </a:solidFill>
                <a:latin typeface="Aptos Display"/>
              </a:rPr>
              <a:t>Thank you</a:t>
            </a:r>
          </a:p>
        </p:txBody>
      </p:sp>
      <p:sp>
        <p:nvSpPr>
          <p:cNvPr id="6" name="TextBox 5"/>
          <p:cNvSpPr txBox="1"/>
          <p:nvPr/>
        </p:nvSpPr>
        <p:spPr>
          <a:xfrm>
            <a:off x="914400" y="2999232"/>
            <a:ext cx="10363200" cy="685800"/>
          </a:xfrm>
          <a:prstGeom prst="rect">
            <a:avLst/>
          </a:prstGeom>
          <a:noFill/>
        </p:spPr>
        <p:txBody>
          <a:bodyPr wrap="none">
            <a:spAutoFit/>
          </a:bodyPr>
          <a:lstStyle/>
          <a:p>
            <a:pPr algn="ctr"/>
            <a:r>
              <a:rPr sz="3600" b="1">
                <a:solidFill>
                  <a:srgbClr val="F94E1F"/>
                </a:solidFill>
                <a:latin typeface="Aptos Display"/>
              </a:rPr>
              <a:t>Questions?</a:t>
            </a:r>
          </a:p>
        </p:txBody>
      </p:sp>
      <p:sp>
        <p:nvSpPr>
          <p:cNvPr id="8" name="Rectangle 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250000" y="6619000"/>
            <a:ext cx="640000" cy="180000"/>
          </a:xfrm>
          <a:prstGeom prst="rect">
            <a:avLst/>
          </a:prstGeom>
          <a:noFill/>
        </p:spPr>
        <p:txBody>
          <a:bodyPr wrap="none" lIns="0" rIns="0" tIns="0" bIns="0" anchor="ctr">
            <a:spAutoFit/>
          </a:bodyPr>
          <a:lstStyle/>
          <a:p>
            <a:pPr algn="r"/>
            <a:r>
              <a:rPr sz="1000">
                <a:solidFill>
                  <a:srgbClr val="FFFFFF"/>
                </a:solidFill>
              </a:rPr>
              <a:t>26/26</a:t>
            </a:r>
          </a:p>
        </p:txBody>
      </p:sp>
      <p:sp>
        <p:nvSpPr>
          <p:cNvPr id="16" name="Rectangle 15"/>
          <p:cNvSpPr/>
          <p:nvPr/>
        </p:nvSpPr>
        <p:spPr>
          <a:xfrm>
            <a:off x="11387328" y="6611112"/>
            <a:ext cx="685800" cy="201168"/>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387328" y="6611112"/>
            <a:ext cx="685800" cy="201168"/>
          </a:xfrm>
          <a:prstGeom prst="rect">
            <a:avLst/>
          </a:prstGeom>
          <a:noFill/>
        </p:spPr>
        <p:txBody>
          <a:bodyPr wrap="none" lIns="0" rIns="0" tIns="0" bIns="0" anchor="ctr">
            <a:spAutoFit/>
          </a:bodyPr>
          <a:lstStyle/>
          <a:p>
            <a:pPr algn="r"/>
            <a:r>
              <a:rPr sz="1000">
                <a:solidFill>
                  <a:srgbClr val="FFFFFF"/>
                </a:solidFill>
                <a:latin typeface="Arial"/>
              </a:rPr>
              <a:t>26/26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92</TotalTime>
  <Words>2155</Words>
  <Application>Microsoft Macintosh PowerPoint</Application>
  <PresentationFormat>Widescreen</PresentationFormat>
  <Paragraphs>259</Paragraphs>
  <Slides>25</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Anthropic Sans</vt:lpstr>
      <vt:lpstr>Aptos</vt:lpstr>
      <vt:lpstr>Aptos Display</vt:lpstr>
      <vt:lpstr>Arial</vt:lpstr>
      <vt:lpstr>Calibri</vt:lpstr>
      <vt:lpstr>Consolas</vt:lpstr>
      <vt:lpstr>Styrene 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Salah Abdalhi</cp:lastModifiedBy>
  <cp:revision>6</cp:revision>
  <dcterms:created xsi:type="dcterms:W3CDTF">2026-06-30T17:56:25Z</dcterms:created>
  <dcterms:modified xsi:type="dcterms:W3CDTF">2026-07-03T20:08:46Z</dcterms:modified>
  <cp:category/>
  <cp:contentStatus/>
  <dc:language/>
</cp:coreProperties>
</file>