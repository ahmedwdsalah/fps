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80" r:id="rId31"/>
    <p:sldId id="259" r:id="rId5"/>
    <p:sldId id="260" r:id="rId6"/>
    <p:sldId id="262" r:id="rId8"/>
    <p:sldId id="263" r:id="rId9"/>
    <p:sldId id="264" r:id="rId10"/>
    <p:sldId id="265" r:id="rId11"/>
    <p:sldId id="267" r:id="rId13"/>
    <p:sldId id="258" r:id="rId4"/>
    <p:sldId id="266" r:id="rId12"/>
    <p:sldId id="268" r:id="rId14"/>
    <p:sldId id="269" r:id="rId15"/>
    <p:sldId id="270" r:id="rId16"/>
    <p:sldId id="271" r:id="rId17"/>
    <p:sldId id="272" r:id="rId18"/>
    <p:sldId id="273" r:id="rId19"/>
    <p:sldId id="274" r:id="rId20"/>
    <p:sldId id="281" r:id="rId32"/>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9"/>
    <p:restoredTop sz="94658"/>
  </p:normalViewPr>
  <p:slideViewPr>
    <p:cSldViewPr snapToGrid="0" snapToObjects="1">
      <p:cViewPr varScale="1">
        <p:scale>
          <a:sx n="107" d="100"/>
          <a:sy n="107" d="100"/>
        </p:scale>
        <p:origin x="192" y="4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11.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8.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2.xml"/><Relationship Id="rId13" Type="http://schemas.openxmlformats.org/officeDocument/2006/relationships/slide" Target="slides/slide10.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3.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1/24</a:t>
            </a:r>
          </a:p>
        </p:txBody>
      </p:sp>
      <p:sp>
        <p:nvSpPr>
          <p:cNvPr id="20" name="Rectangle 1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1/25</a:t>
            </a: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1/25</a:t>
            </a: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1/24</a:t>
            </a: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t>Motivation and Runtime Gap</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t>Data, Labels, and Features</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t>Task and v5 Selector</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t>Evaluation and Results</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t>Rigor and Generalization</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t>Conclusion and Q&amp;A</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2/24</a:t>
            </a: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2/25</a:t>
            </a:r>
          </a:p>
        </p:txBody>
      </p:sp>
      <p:sp>
        <p:nvSpPr>
          <p:cNvPr id="59" name="Rectangle 5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2/25</a:t>
            </a:r>
          </a:p>
        </p:txBody>
      </p:sp>
      <p:sp>
        <p:nvSpPr>
          <p:cNvPr id="61" name="Rectangle 6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2/24</a:t>
            </a:r>
          </a:p>
        </p:txBody>
      </p:sp>
      <p:sp>
        <p:nvSpPr>
          <p:cNvPr id="63" name="Rectangle 6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_input_sensitive_runtime_v1.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3/25</a:t>
            </a: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3/24</a:t>
            </a: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3/25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4"/>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5/25</a:t>
            </a: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6/25</a:t>
            </a: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4/24</a:t>
            </a: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4/25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prior_work_task_framing_v1.png"/>
          <p:cNvPicPr>
            <a:picLocks noChangeAspect="1"/>
          </p:cNvPicPr>
          <p:nvPr/>
        </p:nvPicPr>
        <p:blipFill>
          <a:blip r:embed="rId4"/>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5/24</a:t>
            </a: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5/25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dataset spans five real-data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corpus contains 1,188,265 labeled arrays from five structurally different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1B1B1D"/>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r>
              <a:t>This evaluates generalization beyond a single workload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7/24</a:t>
            </a: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8/25</a:t>
            </a: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9/25</a:t>
            </a: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6/24</a:t>
            </a: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6/25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Labels came from measured runtime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t>Each array is timed on the portfolio, then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1B1B1D"/>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The transformation protocol exposes sorted, reversed, shuffled, quantized, and partially sorted structure.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8/24</a:t>
            </a: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9/25</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10/25</a:t>
            </a: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7/24</a:t>
            </a: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7/25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Sixteen O(n) structural features represent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selector receives sixteen O(n) structural features computed before sorting.</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length</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scale</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sortedness</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runs</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inversions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r>
              <a:rPr sz="1300" b="0">
                <a:solidFill>
                  <a:srgbClr val="566987"/>
                </a:solidFill>
                <a:latin typeface="Aptos"/>
              </a:rPr>
              <a:t>No timing features are used at prediction time.</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r>
              <a:rPr sz="1300" b="0">
                <a:solidFill>
                  <a:srgbClr val="566987"/>
                </a:solidFill>
                <a:latin typeface="Aptos"/>
              </a:rPr>
              <a:t>The selector sees only structural descriptors.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9/24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10/25</a:t>
            </a: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11/25</a:t>
            </a: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8/24</a:t>
            </a: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8/25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Prediction uses only pre-sorting structural features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At prediction time, the system extracts features once and predicts one portfolio member.</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r>
              <a:t>This separates the deployable selector from the VBS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10/24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11/25</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12/25</a:t>
            </a: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9/24</a:t>
            </a: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9/25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13/25</a:t>
            </a: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5/25</a:t>
            </a: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10/24</a:t>
            </a: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10/25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F8FAFC"/>
            </a:solidFill>
            <a:ln w="12700">
              <a:solidFill>
                <a:srgbClr val="DBE4EF"/>
              </a:solid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1B1B1D"/>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9A173D"/>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1B1B1D"/>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526278"/>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3/24</a:t>
            </a: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4/25</a:t>
            </a:r>
          </a:p>
        </p:txBody>
      </p:sp>
      <p:sp>
        <p:nvSpPr>
          <p:cNvPr id="90" name="Rectangle 8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4/25</a:t>
            </a:r>
          </a:p>
        </p:txBody>
      </p:sp>
      <p:sp>
        <p:nvSpPr>
          <p:cNvPr id="92" name="Rectangle 9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11/24</a:t>
            </a:r>
          </a:p>
        </p:txBody>
      </p:sp>
      <p:sp>
        <p:nvSpPr>
          <p:cNvPr id="94" name="Rectangle 9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_v5_selector_v2.png"/>
          <p:cNvPicPr>
            <a:picLocks noChangeAspect="1"/>
          </p:cNvPicPr>
          <p:nvPr/>
        </p:nvPicPr>
        <p:blipFill>
          <a:blip r:embed="rId5"/>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12/25</a:t>
            </a: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13/25</a:t>
            </a: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12/24</a:t>
            </a: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200" b="1">
                <a:solidFill>
                  <a:srgbClr val="191919"/>
                </a:solidFill>
                <a:latin typeface="Aptos Display"/>
              </a:rPr>
              <a:t>Model evolution separated deployable and leakage-prone designs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v5 design follows from rejected paths, stricter splits, and regret-aware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rPr sz="1500" b="1">
                <a:solidFill>
                  <a:srgbClr val="191919"/>
                </a:solidFill>
                <a:latin typeface="Aptos"/>
              </a:rPr>
              <a:t>v1 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rPr sz="1300" b="0">
                <a:solidFill>
                  <a:srgbClr val="566987"/>
                </a:solidFill>
                <a:latin typeface="Aptos"/>
              </a:rPr>
              <a:t>dominated by size</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rPr sz="1500" b="1">
                <a:solidFill>
                  <a:srgbClr val="191919"/>
                </a:solidFill>
                <a:latin typeface="Aptos"/>
              </a:rPr>
              <a:t>v3 timing features</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sz="1300" b="0">
                <a:solidFill>
                  <a:srgbClr val="566987"/>
                </a:solidFill>
                <a:latin typeface="Aptos"/>
              </a:rPr>
              <a:t>ceiling proof only</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300" b="0" dirty="0">
                <a:solidFill>
                  <a:srgbClr val="1B1B1D"/>
                </a:solidFill>
                <a:latin typeface="Apto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rPr sz="1500" b="1">
                <a:solidFill>
                  <a:srgbClr val="191919"/>
                </a:solidFill>
                <a:latin typeface="Aptos"/>
              </a:rPr>
              <a:t>v6/v7/v8</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sz="1300" b="0">
                <a:solidFill>
                  <a:srgbClr val="566987"/>
                </a:solidFill>
                <a:latin typeface="Aptos"/>
              </a:rPr>
              <a:t>final scope checks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13/24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14/25</a:t>
            </a: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14/25</a:t>
            </a: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13/24</a:t>
            </a: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13/25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Evaluation compares the model against SBS and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Classification accuracy is reported, but runtime regret measures the cost of each decision.</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1B1B1D"/>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14/24</a:t>
            </a: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15/25</a:t>
            </a: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15/25</a:t>
            </a: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14/24</a:t>
            </a:r>
          </a:p>
        </p:txBody>
      </p:sp>
      <p:sp>
        <p:nvSpPr>
          <p:cNvPr id="36" name="Rectangle 3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14/25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The selector closes most of the runtime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4511E"/>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rPr sz="1400" b="0">
                <a:solidFill>
                  <a:srgbClr val="1B1B1D"/>
                </a:solidFill>
                <a:latin typeface="Aptos"/>
              </a:rPr>
              <a:t>Runtime regret is the main</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rPr sz="1400" b="0">
                <a:solidFill>
                  <a:srgbClr val="1B1B1D"/>
                </a:solidFill>
                <a:latin typeface="Aptos"/>
              </a:rPr>
              <a:t>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15/24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16/25</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16/25</a:t>
            </a: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15/24</a:t>
            </a: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15/25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Accuracy alone does not explain runtime value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Many misclassifications have low regret because candidate runtimes are nearly tied.</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F4511E"/>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16/24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17/25</a:t>
            </a: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17/25</a:t>
            </a: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16/24</a:t>
            </a: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16/25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residual error is concentrated in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9A173D"/>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r>
              <a:rPr sz="1400" b="0">
                <a:solidFill>
                  <a:srgbClr val="191919"/>
                </a:solidFill>
                <a:latin typeface="Apto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r>
              <a:rPr sz="1400" b="0">
                <a:solidFill>
                  <a:srgbClr val="191919"/>
                </a:solidFill>
                <a:latin typeface="Aptos"/>
              </a:rPr>
              <a:t>introsort and heapsort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rPr sz="1400" b="0">
                <a:solidFill>
                  <a:srgbClr val="191919"/>
                </a:solidFill>
                <a:latin typeface="Aptos"/>
              </a:rPr>
              <a:t>Many errors in this boundary</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rPr sz="1400" b="0">
                <a:solidFill>
                  <a:srgbClr val="191919"/>
                </a:solidFill>
                <a:latin typeface="Aptos"/>
              </a:rPr>
              <a:t>have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17/24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18/25</a:t>
            </a: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18/25</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17/24</a:t>
            </a: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17/25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model uses structural array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Feature importance is dominated by length, repetition, and ordering descriptors.</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545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820000"/>
            <a:ext cx="250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Ordering</a:t>
            </a:r>
          </a:p>
        </p:txBody>
      </p:sp>
      <p:sp>
        <p:nvSpPr>
          <p:cNvPr id="10" name="TextBox 10"/>
          <p:cNvSpPr txBox="1"/>
          <p:nvPr/>
        </p:nvSpPr>
        <p:spPr>
          <a:xfrm>
            <a:off x="8659749" y="224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longest_run_ratio</a:t>
            </a:r>
          </a:p>
          <a:p>
            <a:pPr>
              <a:spcBef>
                <a:spcPts val="0"/>
              </a:spcBef>
              <a:spcAft>
                <a:spcPts val="0"/>
              </a:spcAft>
            </a:pPr>
            <a:r>
              <a:rPr sz="1250">
                <a:solidFill>
                  <a:srgbClr val="526278"/>
                </a:solidFill>
              </a:rPr>
              <a:t>runs_ratio</a:t>
            </a:r>
          </a:p>
          <a:p>
            <a:pPr>
              <a:spcBef>
                <a:spcPts val="0"/>
              </a:spcBef>
              <a:spcAft>
                <a:spcPts val="0"/>
              </a:spcAft>
            </a:pPr>
            <a:r>
              <a:rPr sz="1250">
                <a:solidFill>
                  <a:srgbClr val="526278"/>
                </a:solidFill>
              </a:rPr>
              <a:t>adj_sorted_ratio</a:t>
            </a:r>
          </a:p>
        </p:txBody>
      </p:sp>
      <p:sp>
        <p:nvSpPr>
          <p:cNvPr id="11" name="Freeform 11"/>
          <p:cNvSpPr/>
          <p:nvPr/>
        </p:nvSpPr>
        <p:spPr>
          <a:xfrm>
            <a:off x="8382000" y="3200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480000"/>
            <a:ext cx="2550000" cy="300000"/>
          </a:xfrm>
          <a:prstGeom prst="rect">
            <a:avLst/>
          </a:prstGeom>
          <a:noFill/>
          <a:ln>
            <a:noFill/>
          </a:ln>
        </p:spPr>
        <p:txBody>
          <a:bodyPr wrap="square" lIns="0" tIns="0" rIns="0" bIns="0" anchor="t" anchorCtr="0">
            <a:spAutoFit/>
          </a:bodyPr>
          <a:lstStyle/>
          <a:p>
            <a:pPr>
              <a:spcBef>
                <a:spcPts val="0"/>
              </a:spcBef>
              <a:spcAft>
                <a:spcPts val="0"/>
              </a:spcAft>
            </a:pPr>
            <a:r>
              <a:rPr sz="1700" b="1">
                <a:solidFill>
                  <a:srgbClr val="1B1B1D"/>
                </a:solidFill>
              </a:rPr>
              <a:t>Repetition / distribution</a:t>
            </a:r>
          </a:p>
        </p:txBody>
      </p:sp>
      <p:sp>
        <p:nvSpPr>
          <p:cNvPr id="13" name="TextBox 13"/>
          <p:cNvSpPr txBox="1"/>
          <p:nvPr/>
        </p:nvSpPr>
        <p:spPr>
          <a:xfrm>
            <a:off x="8659749" y="390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top5_freq_ratio</a:t>
            </a:r>
          </a:p>
          <a:p>
            <a:pPr>
              <a:spcBef>
                <a:spcPts val="0"/>
              </a:spcBef>
              <a:spcAft>
                <a:spcPts val="0"/>
              </a:spcAft>
            </a:pPr>
            <a:r>
              <a:rPr sz="1250">
                <a:solidFill>
                  <a:srgbClr val="526278"/>
                </a:solidFill>
              </a:rPr>
              <a:t>duplicate_ratio</a:t>
            </a:r>
          </a:p>
          <a:p>
            <a:pPr>
              <a:spcBef>
                <a:spcPts val="0"/>
              </a:spcBef>
              <a:spcAft>
                <a:spcPts val="0"/>
              </a:spcAft>
            </a:pPr>
            <a:r>
              <a:rPr sz="1250">
                <a:solidFill>
                  <a:srgbClr val="526278"/>
                </a:solidFill>
              </a:rPr>
              <a:t>entropy_ratio</a:t>
            </a:r>
          </a:p>
        </p:txBody>
      </p:sp>
      <p:sp>
        <p:nvSpPr>
          <p:cNvPr id="14" name="Freeform 14"/>
          <p:cNvSpPr/>
          <p:nvPr/>
        </p:nvSpPr>
        <p:spPr>
          <a:xfrm>
            <a:off x="8382000" y="4860000"/>
            <a:ext cx="2857500" cy="11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8658606" y="5120000"/>
            <a:ext cx="245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Size / scale</a:t>
            </a:r>
          </a:p>
        </p:txBody>
      </p:sp>
      <p:sp>
        <p:nvSpPr>
          <p:cNvPr id="16" name="TextBox 16"/>
          <p:cNvSpPr txBox="1"/>
          <p:nvPr/>
        </p:nvSpPr>
        <p:spPr>
          <a:xfrm>
            <a:off x="8659749" y="5520000"/>
            <a:ext cx="2450000" cy="4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length_norm</a:t>
            </a:r>
          </a:p>
          <a:p>
            <a:pPr>
              <a:spcBef>
                <a:spcPts val="0"/>
              </a:spcBef>
              <a:spcAft>
                <a:spcPts val="0"/>
              </a:spcAft>
            </a:pPr>
            <a:r>
              <a:rPr sz="1250">
                <a:solidFill>
                  <a:srgbClr val="526278"/>
                </a:solidFill>
              </a:rPr>
              <a:t>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18/24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19/25</a:t>
            </a: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19/25</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18/24</a:t>
            </a: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18/25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Leave-one-domain-out testing shows partial cross-domain transfer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Each fold holds out one full domain, making the test workload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9A173D"/>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1B1B1D"/>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Domain sensitivity</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19/24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20/25</a:t>
            </a: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20/25</a:t>
            </a: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19/24</a:t>
            </a: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19/25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Source-aware and regret-aware checks narrowed the final scope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later experiments identify where the selector remains reliable and where claims must be limited.</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rPr sz="1200" b="0">
                <a:solidFill>
                  <a:srgbClr val="191919"/>
                </a:solidFill>
                <a:latin typeface="Apto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rPr sz="1200" b="0">
                <a:solidFill>
                  <a:srgbClr val="191919"/>
                </a:solidFill>
                <a:latin typeface="Aptos"/>
              </a:rP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200" b="0" dirty="0">
                <a:solidFill>
                  <a:srgbClr val="1B1B1D"/>
                </a:solidFill>
                <a:latin typeface="Apto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rPr sz="1200" b="0">
                <a:solidFill>
                  <a:srgbClr val="1B1B1D"/>
                </a:solidFill>
                <a:latin typeface="Aptos"/>
              </a:rPr>
              <a:t>when introsort and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rPr sz="1200" b="0">
                <a:solidFill>
                  <a:srgbClr val="1B1B1D"/>
                </a:solidFill>
                <a:latin typeface="Apto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rPr sz="1200" b="0">
                <a:solidFill>
                  <a:srgbClr val="191919"/>
                </a:solidFill>
                <a:latin typeface="Aptos"/>
              </a:rPr>
              <a:t>The final result is v5 under the submitted evaluation protocol, with source-aware and regret-aware limits reported separately.</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20/24</a:t>
            </a: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21/25</a:t>
            </a: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21/25</a:t>
            </a:r>
          </a:p>
        </p:txBody>
      </p:sp>
      <p:sp>
        <p:nvSpPr>
          <p:cNvPr id="35" name="Rectangle 3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20/24</a:t>
            </a:r>
          </a:p>
        </p:txBody>
      </p:sp>
      <p:sp>
        <p:nvSpPr>
          <p:cNvPr id="37" name="Rectangle 3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21/24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Cheap structural features can deliver meaningful per-instance sorting improvements when judged with runtime-sensitive metrics.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rPr sz="1400" b="0">
                <a:solidFill>
                  <a:srgbClr val="191919"/>
                </a:solidFill>
                <a:latin typeface="Aptos"/>
              </a:rPr>
              <a:t>The selector closes most of the practical SBS-to-VBS runtime gap on real-world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4511E"/>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1B1B1D"/>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pPr algn="ctr"/>
            <a:r>
              <a:rPr sz="1300" b="0">
                <a:solidFill>
                  <a:srgbClr val="191919"/>
                </a:solidFill>
                <a:latin typeface="Aptos"/>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pPr algn="ctr"/>
            <a:r>
              <a:rPr sz="1300" b="0">
                <a:solidFill>
                  <a:srgbClr val="9A1C3E"/>
                </a:solidFill>
                <a:latin typeface="Aptos"/>
              </a:rPr>
              <a:t>The main residual weakness is the introsort/heapsort boundary, where the current feature space often cannot see enough difference.</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22/25</a:t>
            </a: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22/25</a:t>
            </a: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21/24</a:t>
            </a: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22/24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600" b="1">
                <a:solidFill>
                  <a:srgbClr val="9A1C3E"/>
                </a:solidFill>
                <a:latin typeface="Aptos"/>
              </a:rPr>
              <a:t>The thesis makes three contributions aligned with the stated objectives.</a:t>
            </a:r>
          </a:p>
        </p:txBody>
      </p:sp>
      <p:sp>
        <p:nvSpPr>
          <p:cNvPr id="9" name="TextBox 8"/>
          <p:cNvSpPr txBox="1"/>
          <p:nvPr/>
        </p:nvSpPr>
        <p:spPr>
          <a:xfrm>
            <a:off x="1143000" y="2000250"/>
            <a:ext cx="400050" cy="2286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tIns="0" rIns="0" bIns="0">
            <a:spAutoFit/>
          </a:bodyPr>
          <a:lstStyle/>
          <a:p>
            <a:r>
              <a:rPr sz="1300" b="0">
                <a:solidFill>
                  <a:srgbClr val="191919"/>
                </a:solidFill>
                <a:latin typeface="Aptos"/>
              </a:rPr>
              <a:t>A compact pipeline combines inexpensive structural characteristics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143250"/>
            <a:ext cx="400050" cy="2286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tIns="0" rIns="0" bIns="0">
            <a:spAutoFit/>
          </a:bodyPr>
          <a:lstStyle/>
          <a:p>
            <a:r>
              <a:rPr sz="1300" b="0">
                <a:solidFill>
                  <a:srgbClr val="191919"/>
                </a:solidFill>
                <a:latin typeface="Aptos"/>
              </a:rPr>
              <a:t>Source-aware splitting, near-tie filtering, leave-one-domain-out testing, and regret metrics give a better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286250"/>
            <a:ext cx="400050" cy="2286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tIns="0" rIns="0" bIns="0">
            <a:spAutoFit/>
          </a:bodyPr>
          <a:lstStyle/>
          <a:p>
            <a:r>
              <a:rPr sz="1500" b="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tIns="0" rIns="0" bIns="0">
            <a:spAutoFit/>
          </a:bodyPr>
          <a:lstStyle/>
          <a:p>
            <a:r>
              <a:rPr sz="1300" b="0">
                <a:solidFill>
                  <a:srgbClr val="191919"/>
                </a:solidFill>
                <a:latin typeface="Aptos"/>
              </a:rPr>
              <a:t>One feature extractor, one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23/25</a:t>
            </a: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23/25</a:t>
            </a: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22/24</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23/25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23/24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The result is limited by the experimental scope of the thesis.</a:t>
            </a:r>
          </a:p>
        </p:txBody>
      </p:sp>
      <p:sp>
        <p:nvSpPr>
          <p:cNvPr id="9" name="Rectangle 8"/>
          <p:cNvSpPr/>
          <p:nvPr/>
        </p:nvSpPr>
        <p:spPr>
          <a:xfrm>
            <a:off x="1190625" y="2143125"/>
            <a:ext cx="4381500" cy="2857500"/>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38275" y="2390775"/>
            <a:ext cx="3886200" cy="228600"/>
          </a:xfrm>
          <a:prstGeom prst="rect">
            <a:avLst/>
          </a:prstGeom>
          <a:noFill/>
        </p:spPr>
        <p:txBody>
          <a:bodyPr wrap="none" lIns="0" tIns="0" rIns="0" bIns="0">
            <a:spAutoFit/>
          </a:bodyPr>
          <a:lstStyle/>
          <a:p>
            <a:pPr algn="l"/>
            <a:r>
              <a:rPr sz="1800" b="1">
                <a:solidFill>
                  <a:srgbClr val="1B1B1D"/>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tIns="0" rIns="0" bIns="0">
            <a:spAutoFit/>
          </a:bodyPr>
          <a:lstStyle/>
          <a:p>
            <a:pPr algn="l"/>
            <a:r>
              <a:rPr sz="1300" b="0">
                <a:solidFill>
                  <a:srgbClr val="1B1B1D"/>
                </a:solidFill>
                <a:latin typeface="Aptos"/>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tIns="0" rIns="0" bIns="0">
            <a:spAutoFit/>
          </a:bodyPr>
          <a:lstStyle/>
          <a:p>
            <a:pPr algn="l"/>
            <a:r>
              <a:rPr sz="1300" b="0">
                <a:solidFill>
                  <a:srgbClr val="1B1B1D"/>
                </a:solidFill>
                <a:latin typeface="Aptos"/>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tIns="0" rIns="0" bIns="0">
            <a:spAutoFit/>
          </a:bodyPr>
          <a:lstStyle/>
          <a:p>
            <a:pPr algn="l"/>
            <a:r>
              <a:rPr sz="1300" b="0">
                <a:solidFill>
                  <a:srgbClr val="1B1B1D"/>
                </a:solidFill>
                <a:latin typeface="Aptos"/>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tIns="0" rIns="0" bIns="0">
            <a:spAutoFit/>
          </a:bodyPr>
          <a:lstStyle/>
          <a:p>
            <a:pPr algn="l"/>
            <a:r>
              <a:rPr sz="1300" b="0">
                <a:solidFill>
                  <a:srgbClr val="1B1B1D"/>
                </a:solidFill>
                <a:latin typeface="Aptos"/>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67525" y="2390775"/>
            <a:ext cx="3886200" cy="228600"/>
          </a:xfrm>
          <a:prstGeom prst="rect">
            <a:avLst/>
          </a:prstGeom>
          <a:noFill/>
        </p:spPr>
        <p:txBody>
          <a:bodyPr wrap="none" lIns="0" tIns="0" r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tIns="0" rIns="0" bIns="0">
            <a:spAutoFit/>
          </a:bodyPr>
          <a:lstStyle/>
          <a:p>
            <a:pPr algn="l"/>
            <a:r>
              <a:rPr sz="1300" b="0">
                <a:solidFill>
                  <a:srgbClr val="566987"/>
                </a:solidFill>
                <a:latin typeface="Aptos"/>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tIns="0" rIns="0" bIns="0">
            <a:spAutoFit/>
          </a:bodyPr>
          <a:lstStyle/>
          <a:p>
            <a:pPr algn="l"/>
            <a:r>
              <a:rPr sz="1300" b="0">
                <a:solidFill>
                  <a:srgbClr val="566987"/>
                </a:solidFill>
                <a:latin typeface="Aptos"/>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tIns="0" rIns="0" bIns="0">
            <a:spAutoFit/>
          </a:bodyPr>
          <a:lstStyle/>
          <a:p>
            <a:pPr algn="l"/>
            <a:r>
              <a:rPr sz="1300" b="0">
                <a:solidFill>
                  <a:srgbClr val="566987"/>
                </a:solidFill>
                <a:latin typeface="Aptos"/>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tIns="0" rIns="0" bIns="0">
            <a:spAutoFit/>
          </a:bodyPr>
          <a:lstStyle/>
          <a:p>
            <a:pPr algn="l"/>
            <a:r>
              <a:rPr sz="1300" b="0">
                <a:solidFill>
                  <a:srgbClr val="566987"/>
                </a:solidFill>
                <a:latin typeface="Aptos"/>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tIns="0" rIns="0" bIns="0">
            <a:spAutoFit/>
          </a:bodyPr>
          <a:lstStyle/>
          <a:p>
            <a:r>
              <a:rPr sz="1400" b="0">
                <a:solidFill>
                  <a:srgbClr val="191919"/>
                </a:solidFill>
                <a:latin typeface="Aptos"/>
              </a:rPr>
              <a:t>Future work extends the framework along portfolio, adaptation, and generalisation axes.</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24/25</a:t>
            </a: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24/25</a:t>
            </a: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23/24</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24/25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
        <p:nvSpPr>
          <p:cNvPr id="8" name="Rectangle 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25/25</a:t>
            </a:r>
          </a:p>
        </p:txBody>
      </p:sp>
      <p:sp>
        <p:nvSpPr>
          <p:cNvPr id="10" name="Rectangle 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25/25</a:t>
            </a:r>
          </a:p>
        </p:txBody>
      </p:sp>
      <p:sp>
        <p:nvSpPr>
          <p:cNvPr id="12" name="Rectangle 1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24/24</a:t>
            </a:r>
          </a:p>
        </p:txBody>
      </p:sp>
      <p:sp>
        <p:nvSpPr>
          <p:cNvPr id="14" name="Rectangle 1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25/25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_f1_specialization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2342</Words>
  <Application>Microsoft Macintosh PowerPoint</Application>
  <PresentationFormat>Widescreen</PresentationFormat>
  <Paragraphs>305</Paragraphs>
  <Slides>24</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3</cp:revision>
  <dcterms:created xsi:type="dcterms:W3CDTF">2026-06-30T17:56:25Z</dcterms:created>
  <dcterms:modified xsi:type="dcterms:W3CDTF">2026-07-01T14:24:37Z</dcterms:modified>
  <cp:category/>
  <cp:contentStatus/>
  <dc:language/>
</cp:coreProperties>
</file>