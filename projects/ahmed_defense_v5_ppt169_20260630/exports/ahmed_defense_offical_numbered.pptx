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9"/>
    <p:restoredTop sz="94659"/>
  </p:normalViewPr>
  <p:slideViewPr>
    <p:cSldViewPr snapToGrid="0" snapToObjects="1">
      <p:cViewPr>
        <p:scale>
          <a:sx n="183" d="100"/>
          <a:sy n="183" d="100"/>
        </p:scale>
        <p:origin x="-312"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17619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How I will defend the work</a:t>
            </a:r>
          </a:p>
        </p:txBody>
      </p:sp>
      <p:sp>
        <p:nvSpPr>
          <p:cNvPr id="6" name="TextBox 6"/>
          <p:cNvSpPr txBox="1"/>
          <p:nvPr/>
        </p:nvSpPr>
        <p:spPr>
          <a:xfrm>
            <a:off x="601599" y="858679"/>
            <a:ext cx="84248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I start from the decision problem, then show how the final selector was tested.</a:t>
            </a:r>
          </a:p>
        </p:txBody>
      </p:sp>
      <p:sp>
        <p:nvSpPr>
          <p:cNvPr id="7" name="Freeform 7"/>
          <p:cNvSpPr/>
          <p:nvPr/>
        </p:nvSpPr>
        <p:spPr>
          <a:xfrm>
            <a:off x="666750" y="1581150"/>
            <a:ext cx="10858500" cy="3905250"/>
          </a:xfrm>
          <a:custGeom>
            <a:avLst/>
            <a:gdLst/>
            <a:ahLst/>
            <a:cxnLst/>
            <a:rect l="l" t="t" r="r" b="b"/>
            <a:pathLst>
              <a:path w="10858500" h="3905250">
                <a:moveTo>
                  <a:pt x="76200" y="0"/>
                </a:moveTo>
                <a:lnTo>
                  <a:pt x="10782300" y="0"/>
                </a:lnTo>
                <a:cubicBezTo>
                  <a:pt x="10824384" y="0"/>
                  <a:pt x="10858500" y="34116"/>
                  <a:pt x="10858500" y="76200"/>
                </a:cubicBezTo>
                <a:lnTo>
                  <a:pt x="10858500" y="3829050"/>
                </a:lnTo>
                <a:cubicBezTo>
                  <a:pt x="10858500" y="3871134"/>
                  <a:pt x="10824384" y="3905250"/>
                  <a:pt x="10782300" y="3905250"/>
                </a:cubicBezTo>
                <a:lnTo>
                  <a:pt x="76200" y="3905250"/>
                </a:lnTo>
                <a:cubicBezTo>
                  <a:pt x="34116" y="3905250"/>
                  <a:pt x="0" y="3871134"/>
                  <a:pt x="0" y="38290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8" name="Ellipse 8"/>
          <p:cNvSpPr/>
          <p:nvPr/>
        </p:nvSpPr>
        <p:spPr>
          <a:xfrm>
            <a:off x="990600" y="1981200"/>
            <a:ext cx="419100" cy="419100"/>
          </a:xfrm>
          <a:prstGeom prst="ellipse">
            <a:avLst/>
          </a:prstGeom>
          <a:solidFill>
            <a:srgbClr val="D97757"/>
          </a:solidFill>
          <a:ln>
            <a:noFill/>
          </a:ln>
        </p:spPr>
        <p:txBody>
          <a:bodyPr/>
          <a:p/>
        </p:txBody>
      </p:sp>
      <p:sp>
        <p:nvSpPr>
          <p:cNvPr id="9" name="TextBox 9"/>
          <p:cNvSpPr txBox="1"/>
          <p:nvPr/>
        </p:nvSpPr>
        <p:spPr>
          <a:xfrm>
            <a:off x="1130926" y="20969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1</a:t>
            </a:r>
          </a:p>
        </p:txBody>
      </p:sp>
      <p:sp>
        <p:nvSpPr>
          <p:cNvPr id="10" name="TextBox 10"/>
          <p:cNvSpPr txBox="1"/>
          <p:nvPr/>
        </p:nvSpPr>
        <p:spPr>
          <a:xfrm>
            <a:off x="1607820" y="2033588"/>
            <a:ext cx="323435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Task and importance</a:t>
            </a:r>
          </a:p>
        </p:txBody>
      </p:sp>
      <p:sp>
        <p:nvSpPr>
          <p:cNvPr id="11" name="TextBox 11"/>
          <p:cNvSpPr txBox="1"/>
          <p:nvPr/>
        </p:nvSpPr>
        <p:spPr>
          <a:xfrm>
            <a:off x="5306949" y="2106454"/>
            <a:ext cx="6280420"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Why one sorting algorithm is not always the practical choice</a:t>
            </a:r>
          </a:p>
        </p:txBody>
      </p:sp>
      <p:sp>
        <p:nvSpPr>
          <p:cNvPr id="12" name="Ellipse 12"/>
          <p:cNvSpPr/>
          <p:nvPr/>
        </p:nvSpPr>
        <p:spPr>
          <a:xfrm>
            <a:off x="990600" y="2762250"/>
            <a:ext cx="419100" cy="419100"/>
          </a:xfrm>
          <a:prstGeom prst="ellipse">
            <a:avLst/>
          </a:prstGeom>
          <a:solidFill>
            <a:srgbClr val="D97757"/>
          </a:solidFill>
          <a:ln>
            <a:noFill/>
          </a:ln>
        </p:spPr>
        <p:txBody>
          <a:bodyPr/>
          <a:p/>
        </p:txBody>
      </p:sp>
      <p:sp>
        <p:nvSpPr>
          <p:cNvPr id="13" name="TextBox 13"/>
          <p:cNvSpPr txBox="1"/>
          <p:nvPr/>
        </p:nvSpPr>
        <p:spPr>
          <a:xfrm>
            <a:off x="1130926" y="28779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2</a:t>
            </a:r>
          </a:p>
        </p:txBody>
      </p:sp>
      <p:sp>
        <p:nvSpPr>
          <p:cNvPr id="14" name="TextBox 14"/>
          <p:cNvSpPr txBox="1"/>
          <p:nvPr/>
        </p:nvSpPr>
        <p:spPr>
          <a:xfrm>
            <a:off x="1607820" y="2814638"/>
            <a:ext cx="290124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Data and features</a:t>
            </a:r>
          </a:p>
        </p:txBody>
      </p:sp>
      <p:sp>
        <p:nvSpPr>
          <p:cNvPr id="15" name="TextBox 15"/>
          <p:cNvSpPr txBox="1"/>
          <p:nvPr/>
        </p:nvSpPr>
        <p:spPr>
          <a:xfrm>
            <a:off x="5306949" y="2887504"/>
            <a:ext cx="6653093"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Five domains, measured labels, and cheap structural summaries</a:t>
            </a:r>
          </a:p>
        </p:txBody>
      </p:sp>
      <p:sp>
        <p:nvSpPr>
          <p:cNvPr id="16" name="Ellipse 16"/>
          <p:cNvSpPr/>
          <p:nvPr/>
        </p:nvSpPr>
        <p:spPr>
          <a:xfrm>
            <a:off x="990600" y="3543300"/>
            <a:ext cx="419100" cy="419100"/>
          </a:xfrm>
          <a:prstGeom prst="ellipse">
            <a:avLst/>
          </a:prstGeom>
          <a:solidFill>
            <a:srgbClr val="D97757"/>
          </a:solidFill>
          <a:ln>
            <a:noFill/>
          </a:ln>
        </p:spPr>
        <p:txBody>
          <a:bodyPr/>
          <a:p/>
        </p:txBody>
      </p:sp>
      <p:sp>
        <p:nvSpPr>
          <p:cNvPr id="17" name="TextBox 17"/>
          <p:cNvSpPr txBox="1"/>
          <p:nvPr/>
        </p:nvSpPr>
        <p:spPr>
          <a:xfrm>
            <a:off x="1130926" y="365902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3</a:t>
            </a:r>
          </a:p>
        </p:txBody>
      </p:sp>
      <p:sp>
        <p:nvSpPr>
          <p:cNvPr id="18" name="TextBox 18"/>
          <p:cNvSpPr txBox="1"/>
          <p:nvPr/>
        </p:nvSpPr>
        <p:spPr>
          <a:xfrm>
            <a:off x="1607820" y="3595688"/>
            <a:ext cx="324706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Model and evaluation</a:t>
            </a:r>
          </a:p>
        </p:txBody>
      </p:sp>
      <p:sp>
        <p:nvSpPr>
          <p:cNvPr id="19" name="TextBox 19"/>
          <p:cNvSpPr txBox="1"/>
          <p:nvPr/>
        </p:nvSpPr>
        <p:spPr>
          <a:xfrm>
            <a:off x="5306949" y="3668554"/>
            <a:ext cx="628087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XGBoost v5, accuracy, regret, SBS, VBS, and gap closed</a:t>
            </a:r>
          </a:p>
        </p:txBody>
      </p:sp>
      <p:sp>
        <p:nvSpPr>
          <p:cNvPr id="20" name="Ellipse 20"/>
          <p:cNvSpPr/>
          <p:nvPr/>
        </p:nvSpPr>
        <p:spPr>
          <a:xfrm>
            <a:off x="990600" y="4324350"/>
            <a:ext cx="419100" cy="419100"/>
          </a:xfrm>
          <a:prstGeom prst="ellipse">
            <a:avLst/>
          </a:prstGeom>
          <a:solidFill>
            <a:srgbClr val="D97757"/>
          </a:solidFill>
          <a:ln>
            <a:noFill/>
          </a:ln>
        </p:spPr>
        <p:txBody>
          <a:bodyPr/>
          <a:p/>
        </p:txBody>
      </p:sp>
      <p:sp>
        <p:nvSpPr>
          <p:cNvPr id="21" name="TextBox 21"/>
          <p:cNvSpPr txBox="1"/>
          <p:nvPr/>
        </p:nvSpPr>
        <p:spPr>
          <a:xfrm>
            <a:off x="1130926" y="4440079"/>
            <a:ext cx="138447" cy="308039"/>
          </a:xfrm>
          <a:prstGeom prst="rect">
            <a:avLst/>
          </a:prstGeom>
          <a:noFill/>
          <a:ln>
            <a:noFill/>
          </a:ln>
        </p:spPr>
        <p:txBody>
          <a:bodyPr wrap="none" lIns="0" tIns="0" rIns="0" bIns="0" anchor="t" anchorCtr="0">
            <a:spAutoFit/>
          </a:bodyPr>
          <a:lstStyle/>
          <a:p>
            <a:pPr algn="ctr"/>
            <a:r>
              <a:rPr lang="en-US" sz="1580" b="1" dirty="0">
                <a:solidFill>
                  <a:srgbClr val="FFFFFF"/>
                </a:solidFill>
                <a:latin typeface="Anthropic Sans"/>
                <a:ea typeface="Anthropic Sans"/>
                <a:cs typeface="Anthropic Sans"/>
              </a:rPr>
              <a:t>4</a:t>
            </a:r>
          </a:p>
        </p:txBody>
      </p:sp>
      <p:sp>
        <p:nvSpPr>
          <p:cNvPr id="22" name="TextBox 22"/>
          <p:cNvSpPr txBox="1"/>
          <p:nvPr/>
        </p:nvSpPr>
        <p:spPr>
          <a:xfrm>
            <a:off x="1607820" y="4376738"/>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Evidence and limits</a:t>
            </a:r>
          </a:p>
        </p:txBody>
      </p:sp>
      <p:sp>
        <p:nvSpPr>
          <p:cNvPr id="23" name="TextBox 23"/>
          <p:cNvSpPr txBox="1"/>
          <p:nvPr/>
        </p:nvSpPr>
        <p:spPr>
          <a:xfrm>
            <a:off x="5306949" y="4449604"/>
            <a:ext cx="691269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Runtime value, hard cases, strict checks, and what I do not claim</a:t>
            </a:r>
          </a:p>
        </p:txBody>
      </p:sp>
      <p:sp>
        <p:nvSpPr>
          <p:cNvPr id="24" name="Line 24"/>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7"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3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Rectangle 3"/>
          <p:cNvSpPr/>
          <p:nvPr/>
        </p:nvSpPr>
        <p:spPr>
          <a:xfrm>
            <a:off x="0" y="0"/>
            <a:ext cx="12192000" cy="819150"/>
          </a:xfrm>
          <a:prstGeom prst="rect">
            <a:avLst/>
          </a:prstGeom>
          <a:solidFill>
            <a:srgbClr val="191919"/>
          </a:solidFill>
          <a:ln>
            <a:noFill/>
          </a:ln>
        </p:spPr>
        <p:txBody>
          <a:bodyPr/>
          <a:p/>
        </p:txBody>
      </p:sp>
      <p:sp>
        <p:nvSpPr>
          <p:cNvPr id="4" name="Rectangle 4"/>
          <p:cNvSpPr/>
          <p:nvPr/>
        </p:nvSpPr>
        <p:spPr>
          <a:xfrm>
            <a:off x="0" y="0"/>
            <a:ext cx="95250" cy="819150"/>
          </a:xfrm>
          <a:prstGeom prst="rect">
            <a:avLst/>
          </a:prstGeom>
          <a:solidFill>
            <a:srgbClr val="D97757"/>
          </a:solidFill>
          <a:ln>
            <a:noFill/>
          </a:ln>
        </p:spPr>
        <p:txBody>
          <a:bodyPr/>
          <a:p/>
        </p:txBody>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2428</Words>
  <Application>Microsoft Macintosh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2026-07-01T07:22:15Z</dcterms:modified>
  <cp:category/>
  <cp:contentStatus/>
  <dc:language/>
</cp:coreProperties>
</file>