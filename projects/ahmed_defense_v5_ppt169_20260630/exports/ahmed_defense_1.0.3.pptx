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9"/>
    <p:restoredTop sz="94659"/>
  </p:normalViewPr>
  <p:slideViewPr>
    <p:cSldViewPr snapToGrid="0" snapToObjects="1">
      <p:cViewPr>
        <p:scale>
          <a:sx n="183" d="100"/>
          <a:sy n="183" d="100"/>
        </p:scale>
        <p:origin x="-312"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Slide title - Presentation Outline"/>
          <p:cNvSpPr txBox="1"/>
          <p:nvPr/>
        </p:nvSpPr>
        <p:spPr>
          <a:xfrm>
            <a:off x="647700" y="533400"/>
            <a:ext cx="5905500" cy="457200"/>
          </a:xfrm>
          <a:prstGeom prst="rect">
            <a:avLst/>
          </a:prstGeom>
          <a:noFill/>
        </p:spPr>
        <p:txBody>
          <a:bodyPr wrap="none" lIns="0" rIns="0" t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utline number 01"/>
          <p:cNvSpPr txBox="1"/>
          <p:nvPr/>
        </p:nvSpPr>
        <p:spPr>
          <a:xfrm>
            <a:off x="1123950" y="1733550"/>
            <a:ext cx="552450" cy="285750"/>
          </a:xfrm>
          <a:prstGeom prst="rect">
            <a:avLst/>
          </a:prstGeom>
          <a:noFill/>
        </p:spPr>
        <p:txBody>
          <a:bodyPr wrap="none" lIns="0" rIns="0" t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rIns="0" tIns="0" bIns="0">
            <a:spAutoFit/>
          </a:bodyPr>
          <a:lstStyle/>
          <a:p>
            <a:pPr algn="l"/>
            <a:r>
              <a:rPr sz="2000" b="1">
                <a:solidFill>
                  <a:srgbClr val="191919"/>
                </a:solidFill>
                <a:latin typeface="Arial"/>
              </a:rPr>
              <a:t>Introduction and Motivation</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utline number 02"/>
          <p:cNvSpPr txBox="1"/>
          <p:nvPr/>
        </p:nvSpPr>
        <p:spPr>
          <a:xfrm>
            <a:off x="1123950" y="2857500"/>
            <a:ext cx="552450" cy="285750"/>
          </a:xfrm>
          <a:prstGeom prst="rect">
            <a:avLst/>
          </a:prstGeom>
          <a:noFill/>
        </p:spPr>
        <p:txBody>
          <a:bodyPr wrap="none" lIns="0" rIns="0" t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rIns="0" tIns="0" bIns="0">
            <a:spAutoFit/>
          </a:bodyPr>
          <a:lstStyle/>
          <a:p>
            <a:pPr algn="l"/>
            <a:r>
              <a:rPr sz="2000" b="1">
                <a:solidFill>
                  <a:srgbClr val="191919"/>
                </a:solidFill>
                <a:latin typeface="Arial"/>
              </a:rPr>
              <a:t>Algorithm Selection Problem</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utline number 03"/>
          <p:cNvSpPr txBox="1"/>
          <p:nvPr/>
        </p:nvSpPr>
        <p:spPr>
          <a:xfrm>
            <a:off x="1123950" y="3981450"/>
            <a:ext cx="552450" cy="285750"/>
          </a:xfrm>
          <a:prstGeom prst="rect">
            <a:avLst/>
          </a:prstGeom>
          <a:noFill/>
        </p:spPr>
        <p:txBody>
          <a:bodyPr wrap="none" lIns="0" rIns="0" t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rIns="0" t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utline number 04"/>
          <p:cNvSpPr txBox="1"/>
          <p:nvPr/>
        </p:nvSpPr>
        <p:spPr>
          <a:xfrm>
            <a:off x="6496050" y="1733550"/>
            <a:ext cx="552450" cy="285750"/>
          </a:xfrm>
          <a:prstGeom prst="rect">
            <a:avLst/>
          </a:prstGeom>
          <a:noFill/>
        </p:spPr>
        <p:txBody>
          <a:bodyPr wrap="none" lIns="0" rIns="0" t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rIns="0" t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utline number 05"/>
          <p:cNvSpPr txBox="1"/>
          <p:nvPr/>
        </p:nvSpPr>
        <p:spPr>
          <a:xfrm>
            <a:off x="6496050" y="2857500"/>
            <a:ext cx="552450" cy="285750"/>
          </a:xfrm>
          <a:prstGeom prst="rect">
            <a:avLst/>
          </a:prstGeom>
          <a:noFill/>
        </p:spPr>
        <p:txBody>
          <a:bodyPr wrap="none" lIns="0" rIns="0" t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rIns="0" t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utline number 06"/>
          <p:cNvSpPr txBox="1"/>
          <p:nvPr/>
        </p:nvSpPr>
        <p:spPr>
          <a:xfrm>
            <a:off x="6496050" y="3981450"/>
            <a:ext cx="552450" cy="285750"/>
          </a:xfrm>
          <a:prstGeom prst="rect">
            <a:avLst/>
          </a:prstGeom>
          <a:noFill/>
        </p:spPr>
        <p:txBody>
          <a:bodyPr wrap="none" lIns="0" rIns="0" t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rIns="0" t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39" name="Title"/>
          <p:cNvSpPr txBox="1"/>
          <p:nvPr/>
        </p:nvSpPr>
        <p:spPr>
          <a:xfrm>
            <a:off x="647700" y="552450"/>
            <a:ext cx="5905500" cy="381000"/>
          </a:xfrm>
          <a:prstGeom prst="rect">
            <a:avLst/>
          </a:prstGeom>
          <a:noFill/>
        </p:spPr>
        <p:txBody>
          <a:bodyPr wrap="none" lIns="0" rIns="0" tIns="0" bIns="0">
            <a:spAutoFit/>
          </a:bodyPr>
          <a:lstStyle/>
          <a:p>
            <a:pPr algn="l"/>
            <a:r>
              <a:rPr sz="2800" b="1">
                <a:solidFill>
                  <a:srgbClr val="191919"/>
                </a:solidFill>
                <a:latin typeface="Arial"/>
              </a:rPr>
              <a:t>Algorithm Selection Problem</a:t>
            </a:r>
          </a:p>
        </p:txBody>
      </p:sp>
      <p:sp>
        <p:nvSpPr>
          <p:cNvPr id="140" name="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Subtitle"/>
          <p:cNvSpPr txBox="1"/>
          <p:nvPr/>
        </p:nvSpPr>
        <p:spPr>
          <a:xfrm>
            <a:off x="647700" y="1219200"/>
            <a:ext cx="9525000" cy="209550"/>
          </a:xfrm>
          <a:prstGeom prst="rect">
            <a:avLst/>
          </a:prstGeom>
          <a:noFill/>
        </p:spPr>
        <p:txBody>
          <a:bodyPr wrap="none" lIns="0" rIns="0" tIns="0" bIns="0">
            <a:spAutoFit/>
          </a:bodyPr>
          <a:lstStyle/>
          <a:p>
            <a:pPr algn="l"/>
            <a:r>
              <a:rPr sz="1500" b="0">
                <a:solidFill>
                  <a:srgbClr val="566682"/>
                </a:solidFill>
                <a:latin typeface="Arial"/>
              </a:rPr>
              <a:t>Select a sorting algorithm before execution using structural features of the input array.</a:t>
            </a:r>
          </a:p>
        </p:txBody>
      </p:sp>
      <p:cxnSp>
        <p:nvCxnSpPr>
          <p:cNvPr id="142" name="Connector 141"/>
          <p:cNvCxnSpPr/>
          <p:nvPr/>
        </p:nvCxnSpPr>
        <p:spPr>
          <a:xfrm>
            <a:off x="3067050" y="3133725"/>
            <a:ext cx="342900" cy="0"/>
          </a:xfrm>
          <a:prstGeom prst="line">
            <a:avLst/>
          </a:prstGeom>
          <a:ln w="30480">
            <a:solidFill>
              <a:srgbClr val="F4511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5810250" y="3133725"/>
            <a:ext cx="342900" cy="0"/>
          </a:xfrm>
          <a:prstGeom prst="line">
            <a:avLst/>
          </a:prstGeom>
          <a:ln w="30480">
            <a:solidFill>
              <a:srgbClr val="F4511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553450" y="3133725"/>
            <a:ext cx="342900" cy="0"/>
          </a:xfrm>
          <a:prstGeom prst="line">
            <a:avLst/>
          </a:prstGeom>
          <a:ln w="30480">
            <a:solidFill>
              <a:srgbClr val="F4511E"/>
            </a:solidFill>
          </a:ln>
        </p:spPr>
        <p:style>
          <a:lnRef idx="2">
            <a:schemeClr val="accent1"/>
          </a:lnRef>
          <a:fillRef idx="0">
            <a:schemeClr val="accent1"/>
          </a:fillRef>
          <a:effectRef idx="1">
            <a:schemeClr val="accent1"/>
          </a:effectRef>
          <a:fontRef idx="minor">
            <a:schemeClr val="tx1"/>
          </a:fontRef>
        </p:style>
      </p:cxnSp>
      <p:sp>
        <p:nvSpPr>
          <p:cNvPr id="145" name="Input box"/>
          <p:cNvSpPr/>
          <p:nvPr/>
        </p:nvSpPr>
        <p:spPr>
          <a:xfrm>
            <a:off x="819150" y="2333625"/>
            <a:ext cx="2095500" cy="16002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Input header"/>
          <p:cNvSpPr/>
          <p:nvPr/>
        </p:nvSpPr>
        <p:spPr>
          <a:xfrm>
            <a:off x="819150" y="2333625"/>
            <a:ext cx="2095500" cy="361950"/>
          </a:xfrm>
          <a:prstGeom prst="rect">
            <a:avLst/>
          </a:prstGeom>
          <a:solidFill>
            <a:srgbClr val="F8FAFC"/>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Input header txt"/>
          <p:cNvSpPr txBox="1"/>
          <p:nvPr/>
        </p:nvSpPr>
        <p:spPr>
          <a:xfrm>
            <a:off x="914400" y="2428875"/>
            <a:ext cx="1905000" cy="152400"/>
          </a:xfrm>
          <a:prstGeom prst="rect">
            <a:avLst/>
          </a:prstGeom>
          <a:noFill/>
        </p:spPr>
        <p:txBody>
          <a:bodyPr wrap="none" lIns="0" rIns="0" tIns="0" bIns="0">
            <a:spAutoFit/>
          </a:bodyPr>
          <a:lstStyle/>
          <a:p>
            <a:pPr algn="ctr"/>
            <a:r>
              <a:rPr sz="1400" b="1">
                <a:solidFill>
                  <a:srgbClr val="191919"/>
                </a:solidFill>
                <a:latin typeface="Arial"/>
              </a:rPr>
              <a:t>Input array</a:t>
            </a:r>
          </a:p>
        </p:txBody>
      </p:sp>
      <p:sp>
        <p:nvSpPr>
          <p:cNvPr id="148" name="Input notation"/>
          <p:cNvSpPr txBox="1"/>
          <p:nvPr/>
        </p:nvSpPr>
        <p:spPr>
          <a:xfrm>
            <a:off x="1028700" y="2886075"/>
            <a:ext cx="1676400" cy="209550"/>
          </a:xfrm>
          <a:prstGeom prst="rect">
            <a:avLst/>
          </a:prstGeom>
          <a:noFill/>
        </p:spPr>
        <p:txBody>
          <a:bodyPr wrap="none" lIns="0" rIns="0" tIns="0" bIns="0">
            <a:spAutoFit/>
          </a:bodyPr>
          <a:lstStyle/>
          <a:p>
            <a:pPr algn="ctr"/>
            <a:r>
              <a:rPr sz="1900" b="1">
                <a:solidFill>
                  <a:srgbClr val="8F1D3A"/>
                </a:solidFill>
                <a:latin typeface="Arial"/>
              </a:rPr>
              <a:t>x ∈ P</a:t>
            </a:r>
          </a:p>
        </p:txBody>
      </p:sp>
      <p:sp>
        <p:nvSpPr>
          <p:cNvPr id="149" name="Input type"/>
          <p:cNvSpPr txBox="1"/>
          <p:nvPr/>
        </p:nvSpPr>
        <p:spPr>
          <a:xfrm>
            <a:off x="1028700" y="3200400"/>
            <a:ext cx="1676400" cy="152400"/>
          </a:xfrm>
          <a:prstGeom prst="rect">
            <a:avLst/>
          </a:prstGeom>
          <a:noFill/>
        </p:spPr>
        <p:txBody>
          <a:bodyPr wrap="none" lIns="0" rIns="0" tIns="0" bIns="0">
            <a:spAutoFit/>
          </a:bodyPr>
          <a:lstStyle/>
          <a:p>
            <a:pPr algn="ctr"/>
            <a:r>
              <a:rPr sz="1200" b="0">
                <a:solidFill>
                  <a:srgbClr val="566682"/>
                </a:solidFill>
                <a:latin typeface="Arial"/>
              </a:rPr>
              <a:t>numeric array</a:t>
            </a:r>
          </a:p>
        </p:txBody>
      </p:sp>
      <p:sp>
        <p:nvSpPr>
          <p:cNvPr id="150" name="bar"/>
          <p:cNvSpPr/>
          <p:nvPr/>
        </p:nvSpPr>
        <p:spPr>
          <a:xfrm>
            <a:off x="1219200" y="3638550"/>
            <a:ext cx="95250" cy="142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bar"/>
          <p:cNvSpPr/>
          <p:nvPr/>
        </p:nvSpPr>
        <p:spPr>
          <a:xfrm>
            <a:off x="1362075" y="3609975"/>
            <a:ext cx="95250" cy="1714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bar"/>
          <p:cNvSpPr/>
          <p:nvPr/>
        </p:nvSpPr>
        <p:spPr>
          <a:xfrm>
            <a:off x="1504950" y="3619500"/>
            <a:ext cx="95250" cy="1619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bar"/>
          <p:cNvSpPr/>
          <p:nvPr/>
        </p:nvSpPr>
        <p:spPr>
          <a:xfrm>
            <a:off x="1647825" y="3571875"/>
            <a:ext cx="95250" cy="2095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bar"/>
          <p:cNvSpPr/>
          <p:nvPr/>
        </p:nvSpPr>
        <p:spPr>
          <a:xfrm>
            <a:off x="1790700" y="3267075"/>
            <a:ext cx="95250" cy="5143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bar"/>
          <p:cNvSpPr/>
          <p:nvPr/>
        </p:nvSpPr>
        <p:spPr>
          <a:xfrm>
            <a:off x="1933575" y="3181350"/>
            <a:ext cx="95250" cy="600075"/>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bar"/>
          <p:cNvSpPr/>
          <p:nvPr/>
        </p:nvSpPr>
        <p:spPr>
          <a:xfrm>
            <a:off x="2076450" y="3114675"/>
            <a:ext cx="95250" cy="6667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r"/>
          <p:cNvSpPr/>
          <p:nvPr/>
        </p:nvSpPr>
        <p:spPr>
          <a:xfrm>
            <a:off x="2219325" y="3676650"/>
            <a:ext cx="95250" cy="104775"/>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bar"/>
          <p:cNvSpPr/>
          <p:nvPr/>
        </p:nvSpPr>
        <p:spPr>
          <a:xfrm>
            <a:off x="2362200" y="3676650"/>
            <a:ext cx="95250" cy="104775"/>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eature box"/>
          <p:cNvSpPr/>
          <p:nvPr/>
        </p:nvSpPr>
        <p:spPr>
          <a:xfrm>
            <a:off x="3562350" y="2333625"/>
            <a:ext cx="2095500" cy="16002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eature header"/>
          <p:cNvSpPr/>
          <p:nvPr/>
        </p:nvSpPr>
        <p:spPr>
          <a:xfrm>
            <a:off x="3562350" y="2333625"/>
            <a:ext cx="2095500" cy="361950"/>
          </a:xfrm>
          <a:prstGeom prst="rect">
            <a:avLst/>
          </a:prstGeom>
          <a:solidFill>
            <a:srgbClr val="F8FAFC"/>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eature header txt"/>
          <p:cNvSpPr txBox="1"/>
          <p:nvPr/>
        </p:nvSpPr>
        <p:spPr>
          <a:xfrm>
            <a:off x="3657600" y="2428875"/>
            <a:ext cx="1905000" cy="152400"/>
          </a:xfrm>
          <a:prstGeom prst="rect">
            <a:avLst/>
          </a:prstGeom>
          <a:noFill/>
        </p:spPr>
        <p:txBody>
          <a:bodyPr wrap="none" lIns="0" rIns="0" tIns="0" bIns="0">
            <a:spAutoFit/>
          </a:bodyPr>
          <a:lstStyle/>
          <a:p>
            <a:pPr algn="ctr"/>
            <a:r>
              <a:rPr sz="1400" b="1">
                <a:solidFill>
                  <a:srgbClr val="191919"/>
                </a:solidFill>
                <a:latin typeface="Arial"/>
              </a:rPr>
              <a:t>Feature vector</a:t>
            </a:r>
          </a:p>
        </p:txBody>
      </p:sp>
      <p:sp>
        <p:nvSpPr>
          <p:cNvPr id="162" name="Feature notation"/>
          <p:cNvSpPr txBox="1"/>
          <p:nvPr/>
        </p:nvSpPr>
        <p:spPr>
          <a:xfrm>
            <a:off x="3771900" y="2886075"/>
            <a:ext cx="1676400" cy="209550"/>
          </a:xfrm>
          <a:prstGeom prst="rect">
            <a:avLst/>
          </a:prstGeom>
          <a:noFill/>
        </p:spPr>
        <p:txBody>
          <a:bodyPr wrap="none" lIns="0" rIns="0" tIns="0" bIns="0">
            <a:spAutoFit/>
          </a:bodyPr>
          <a:lstStyle/>
          <a:p>
            <a:pPr algn="ctr"/>
            <a:r>
              <a:rPr sz="1900" b="1">
                <a:solidFill>
                  <a:srgbClr val="8F1D3A"/>
                </a:solidFill>
                <a:latin typeface="Arial"/>
              </a:rPr>
              <a:t>f(x) ∈ R^16</a:t>
            </a:r>
          </a:p>
        </p:txBody>
      </p:sp>
      <p:sp>
        <p:nvSpPr>
          <p:cNvPr id="163" name="Feature list"/>
          <p:cNvSpPr txBox="1"/>
          <p:nvPr/>
        </p:nvSpPr>
        <p:spPr>
          <a:xfrm>
            <a:off x="4000500" y="3238500"/>
            <a:ext cx="1428750" cy="114300"/>
          </a:xfrm>
          <a:prstGeom prst="rect">
            <a:avLst/>
          </a:prstGeom>
          <a:noFill/>
        </p:spPr>
        <p:txBody>
          <a:bodyPr wrap="none" lIns="0" rIns="0" tIns="0" bIns="0">
            <a:spAutoFit/>
          </a:bodyPr>
          <a:lstStyle/>
          <a:p>
            <a:pPr algn="l"/>
            <a:r>
              <a:rPr sz="1050" b="0">
                <a:solidFill>
                  <a:srgbClr val="191919"/>
                </a:solidFill>
                <a:latin typeface="Arial"/>
              </a:rPr>
              <a:t>size and spread</a:t>
            </a:r>
          </a:p>
        </p:txBody>
      </p:sp>
      <p:sp>
        <p:nvSpPr>
          <p:cNvPr id="164" name="Feature list"/>
          <p:cNvSpPr txBox="1"/>
          <p:nvPr/>
        </p:nvSpPr>
        <p:spPr>
          <a:xfrm>
            <a:off x="4000500" y="3400425"/>
            <a:ext cx="1428750" cy="114300"/>
          </a:xfrm>
          <a:prstGeom prst="rect">
            <a:avLst/>
          </a:prstGeom>
          <a:noFill/>
        </p:spPr>
        <p:txBody>
          <a:bodyPr wrap="none" lIns="0" rIns="0" tIns="0" bIns="0">
            <a:spAutoFit/>
          </a:bodyPr>
          <a:lstStyle/>
          <a:p>
            <a:pPr algn="l"/>
            <a:r>
              <a:rPr sz="1050" b="0">
                <a:solidFill>
                  <a:srgbClr val="191919"/>
                </a:solidFill>
                <a:latin typeface="Arial"/>
              </a:rPr>
              <a:t>sortedness</a:t>
            </a:r>
          </a:p>
        </p:txBody>
      </p:sp>
      <p:sp>
        <p:nvSpPr>
          <p:cNvPr id="165" name="Feature list"/>
          <p:cNvSpPr txBox="1"/>
          <p:nvPr/>
        </p:nvSpPr>
        <p:spPr>
          <a:xfrm>
            <a:off x="4000500" y="3562350"/>
            <a:ext cx="1428750" cy="114300"/>
          </a:xfrm>
          <a:prstGeom prst="rect">
            <a:avLst/>
          </a:prstGeom>
          <a:noFill/>
        </p:spPr>
        <p:txBody>
          <a:bodyPr wrap="none" lIns="0" rIns="0" tIns="0" bIns="0">
            <a:spAutoFit/>
          </a:bodyPr>
          <a:lstStyle/>
          <a:p>
            <a:pPr algn="l"/>
            <a:r>
              <a:rPr sz="1050" b="0">
                <a:solidFill>
                  <a:srgbClr val="191919"/>
                </a:solidFill>
                <a:latin typeface="Arial"/>
              </a:rPr>
              <a:t>runs</a:t>
            </a:r>
          </a:p>
        </p:txBody>
      </p:sp>
      <p:sp>
        <p:nvSpPr>
          <p:cNvPr id="166" name="Feature list"/>
          <p:cNvSpPr txBox="1"/>
          <p:nvPr/>
        </p:nvSpPr>
        <p:spPr>
          <a:xfrm>
            <a:off x="4000500" y="3724275"/>
            <a:ext cx="1428750" cy="114300"/>
          </a:xfrm>
          <a:prstGeom prst="rect">
            <a:avLst/>
          </a:prstGeom>
          <a:noFill/>
        </p:spPr>
        <p:txBody>
          <a:bodyPr wrap="none" lIns="0" rIns="0" tIns="0" bIns="0">
            <a:spAutoFit/>
          </a:bodyPr>
          <a:lstStyle/>
          <a:p>
            <a:pPr algn="l"/>
            <a:r>
              <a:rPr sz="1050" b="0">
                <a:solidFill>
                  <a:srgbClr val="191919"/>
                </a:solidFill>
                <a:latin typeface="Arial"/>
              </a:rPr>
              <a:t>duplicates</a:t>
            </a:r>
          </a:p>
        </p:txBody>
      </p:sp>
      <p:sp>
        <p:nvSpPr>
          <p:cNvPr id="167" name="Selector box"/>
          <p:cNvSpPr/>
          <p:nvPr/>
        </p:nvSpPr>
        <p:spPr>
          <a:xfrm>
            <a:off x="6305550" y="2333625"/>
            <a:ext cx="2095500" cy="16002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Selector title"/>
          <p:cNvSpPr txBox="1"/>
          <p:nvPr/>
        </p:nvSpPr>
        <p:spPr>
          <a:xfrm>
            <a:off x="6496050" y="2695575"/>
            <a:ext cx="1714500" cy="266700"/>
          </a:xfrm>
          <a:prstGeom prst="rect">
            <a:avLst/>
          </a:prstGeom>
          <a:noFill/>
        </p:spPr>
        <p:txBody>
          <a:bodyPr wrap="none" lIns="0" rIns="0" tIns="0" bIns="0">
            <a:spAutoFit/>
          </a:bodyPr>
          <a:lstStyle/>
          <a:p>
            <a:pPr algn="ctr"/>
            <a:r>
              <a:rPr sz="2300" b="1">
                <a:solidFill>
                  <a:srgbClr val="FFFFFF"/>
                </a:solidFill>
                <a:latin typeface="Arial"/>
              </a:rPr>
              <a:t>Selector</a:t>
            </a:r>
          </a:p>
        </p:txBody>
      </p:sp>
      <p:sp>
        <p:nvSpPr>
          <p:cNvPr id="169" name="Selector map"/>
          <p:cNvSpPr txBox="1"/>
          <p:nvPr/>
        </p:nvSpPr>
        <p:spPr>
          <a:xfrm>
            <a:off x="6496050" y="3114675"/>
            <a:ext cx="1714500" cy="190500"/>
          </a:xfrm>
          <a:prstGeom prst="rect">
            <a:avLst/>
          </a:prstGeom>
          <a:noFill/>
        </p:spPr>
        <p:txBody>
          <a:bodyPr wrap="none" lIns="0" rIns="0" tIns="0" bIns="0">
            <a:spAutoFit/>
          </a:bodyPr>
          <a:lstStyle/>
          <a:p>
            <a:pPr algn="ctr"/>
            <a:r>
              <a:rPr sz="1600" b="0">
                <a:solidFill>
                  <a:srgbClr val="F4511E"/>
                </a:solidFill>
                <a:latin typeface="Arial"/>
              </a:rPr>
              <a:t>S(f(x)) ∈ A</a:t>
            </a:r>
          </a:p>
        </p:txBody>
      </p:sp>
      <p:sp>
        <p:nvSpPr>
          <p:cNvPr id="170" name="Selector model"/>
          <p:cNvSpPr txBox="1"/>
          <p:nvPr/>
        </p:nvSpPr>
        <p:spPr>
          <a:xfrm>
            <a:off x="6496050" y="3467100"/>
            <a:ext cx="1714500" cy="171450"/>
          </a:xfrm>
          <a:prstGeom prst="rect">
            <a:avLst/>
          </a:prstGeom>
          <a:noFill/>
        </p:spPr>
        <p:txBody>
          <a:bodyPr wrap="none" lIns="0" rIns="0" tIns="0" bIns="0">
            <a:spAutoFit/>
          </a:bodyPr>
          <a:lstStyle/>
          <a:p>
            <a:pPr algn="ctr"/>
            <a:r>
              <a:rPr sz="1400" b="1">
                <a:solidFill>
                  <a:srgbClr val="FFFFFF"/>
                </a:solidFill>
                <a:latin typeface="Arial"/>
              </a:rPr>
              <a:t>XGBoost v5</a:t>
            </a:r>
          </a:p>
        </p:txBody>
      </p:sp>
      <p:sp>
        <p:nvSpPr>
          <p:cNvPr id="171" name="Alg box"/>
          <p:cNvSpPr/>
          <p:nvPr/>
        </p:nvSpPr>
        <p:spPr>
          <a:xfrm>
            <a:off x="9048750" y="2333625"/>
            <a:ext cx="2095500" cy="16002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Alg header"/>
          <p:cNvSpPr/>
          <p:nvPr/>
        </p:nvSpPr>
        <p:spPr>
          <a:xfrm>
            <a:off x="9048750" y="2333625"/>
            <a:ext cx="2095500" cy="361950"/>
          </a:xfrm>
          <a:prstGeom prst="rect">
            <a:avLst/>
          </a:prstGeom>
          <a:solidFill>
            <a:srgbClr val="F8FAFC"/>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Alg header txt"/>
          <p:cNvSpPr txBox="1"/>
          <p:nvPr/>
        </p:nvSpPr>
        <p:spPr>
          <a:xfrm>
            <a:off x="9144000" y="2428875"/>
            <a:ext cx="1905000" cy="152400"/>
          </a:xfrm>
          <a:prstGeom prst="rect">
            <a:avLst/>
          </a:prstGeom>
          <a:noFill/>
        </p:spPr>
        <p:txBody>
          <a:bodyPr wrap="none" lIns="0" rIns="0" tIns="0" bIns="0">
            <a:spAutoFit/>
          </a:bodyPr>
          <a:lstStyle/>
          <a:p>
            <a:pPr algn="ctr"/>
            <a:r>
              <a:rPr sz="1400" b="1">
                <a:solidFill>
                  <a:srgbClr val="191919"/>
                </a:solidFill>
                <a:latin typeface="Arial"/>
              </a:rPr>
              <a:t>Algorithm choice</a:t>
            </a:r>
          </a:p>
        </p:txBody>
      </p:sp>
      <p:sp>
        <p:nvSpPr>
          <p:cNvPr id="174" name="Alg item"/>
          <p:cNvSpPr/>
          <p:nvPr/>
        </p:nvSpPr>
        <p:spPr>
          <a:xfrm>
            <a:off x="9448800" y="2886075"/>
            <a:ext cx="1295400" cy="238125"/>
          </a:xfrm>
          <a:prstGeom prst="rect">
            <a:avLst/>
          </a:prstGeom>
          <a:solidFill>
            <a:srgbClr val="FFFFFF"/>
          </a:solidFill>
          <a:ln w="10160">
            <a:solidFill>
              <a:srgbClr val="8F1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Alg txt"/>
          <p:cNvSpPr txBox="1"/>
          <p:nvPr/>
        </p:nvSpPr>
        <p:spPr>
          <a:xfrm>
            <a:off x="9525000" y="2952750"/>
            <a:ext cx="1143000" cy="95250"/>
          </a:xfrm>
          <a:prstGeom prst="rect">
            <a:avLst/>
          </a:prstGeom>
          <a:noFill/>
        </p:spPr>
        <p:txBody>
          <a:bodyPr wrap="none" lIns="0" rIns="0" tIns="0" bIns="0">
            <a:spAutoFit/>
          </a:bodyPr>
          <a:lstStyle/>
          <a:p>
            <a:pPr algn="ctr"/>
            <a:r>
              <a:rPr sz="1050" b="1">
                <a:solidFill>
                  <a:srgbClr val="191919"/>
                </a:solidFill>
                <a:latin typeface="Arial"/>
              </a:rPr>
              <a:t>Introsort</a:t>
            </a:r>
          </a:p>
        </p:txBody>
      </p:sp>
      <p:sp>
        <p:nvSpPr>
          <p:cNvPr id="176" name="Alg item"/>
          <p:cNvSpPr/>
          <p:nvPr/>
        </p:nvSpPr>
        <p:spPr>
          <a:xfrm>
            <a:off x="9448800" y="3219450"/>
            <a:ext cx="1295400" cy="238125"/>
          </a:xfrm>
          <a:prstGeom prst="rect">
            <a:avLst/>
          </a:prstGeom>
          <a:solidFill>
            <a:srgbClr val="FFFFFF"/>
          </a:solidFill>
          <a:ln w="10160">
            <a:solidFill>
              <a:srgbClr val="8F1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Alg txt"/>
          <p:cNvSpPr txBox="1"/>
          <p:nvPr/>
        </p:nvSpPr>
        <p:spPr>
          <a:xfrm>
            <a:off x="9525000" y="3286125"/>
            <a:ext cx="1143000" cy="95250"/>
          </a:xfrm>
          <a:prstGeom prst="rect">
            <a:avLst/>
          </a:prstGeom>
          <a:noFill/>
        </p:spPr>
        <p:txBody>
          <a:bodyPr wrap="none" lIns="0" rIns="0" tIns="0" bIns="0">
            <a:spAutoFit/>
          </a:bodyPr>
          <a:lstStyle/>
          <a:p>
            <a:pPr algn="ctr"/>
            <a:r>
              <a:rPr sz="1050" b="1">
                <a:solidFill>
                  <a:srgbClr val="191919"/>
                </a:solidFill>
                <a:latin typeface="Arial"/>
              </a:rPr>
              <a:t>Heapsort</a:t>
            </a:r>
          </a:p>
        </p:txBody>
      </p:sp>
      <p:sp>
        <p:nvSpPr>
          <p:cNvPr id="178" name="Alg item"/>
          <p:cNvSpPr/>
          <p:nvPr/>
        </p:nvSpPr>
        <p:spPr>
          <a:xfrm>
            <a:off x="9448800" y="3552825"/>
            <a:ext cx="1295400" cy="238125"/>
          </a:xfrm>
          <a:prstGeom prst="rect">
            <a:avLst/>
          </a:prstGeom>
          <a:solidFill>
            <a:srgbClr val="F4511E"/>
          </a:solidFill>
          <a:ln w="10160">
            <a:solidFill>
              <a:srgbClr val="F451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Alg txt"/>
          <p:cNvSpPr txBox="1"/>
          <p:nvPr/>
        </p:nvSpPr>
        <p:spPr>
          <a:xfrm>
            <a:off x="9525000" y="3619500"/>
            <a:ext cx="1143000" cy="95250"/>
          </a:xfrm>
          <a:prstGeom prst="rect">
            <a:avLst/>
          </a:prstGeom>
          <a:noFill/>
        </p:spPr>
        <p:txBody>
          <a:bodyPr wrap="none" lIns="0" rIns="0" tIns="0" bIns="0">
            <a:spAutoFit/>
          </a:bodyPr>
          <a:lstStyle/>
          <a:p>
            <a:pPr algn="ctr"/>
            <a:r>
              <a:rPr sz="1050" b="1">
                <a:solidFill>
                  <a:srgbClr val="FFFFFF"/>
                </a:solidFill>
                <a:latin typeface="Arial"/>
              </a:rPr>
              <a:t>Timsort</a:t>
            </a:r>
          </a:p>
        </p:txBody>
      </p:sp>
      <p:sp>
        <p:nvSpPr>
          <p:cNvPr id="181" name="Label1"/>
          <p:cNvSpPr txBox="1"/>
          <p:nvPr/>
        </p:nvSpPr>
        <p:spPr>
          <a:xfrm>
            <a:off x="2990850" y="2905125"/>
            <a:ext cx="495300" cy="133350"/>
          </a:xfrm>
          <a:prstGeom prst="rect">
            <a:avLst/>
          </a:prstGeom>
          <a:noFill/>
        </p:spPr>
        <p:txBody>
          <a:bodyPr wrap="none" lIns="0" rIns="0" tIns="0" bIns="0">
            <a:spAutoFit/>
          </a:bodyPr>
          <a:lstStyle/>
          <a:p>
            <a:pPr algn="ctr"/>
            <a:r>
              <a:rPr sz="950" b="0">
                <a:solidFill>
                  <a:srgbClr val="566682"/>
                </a:solidFill>
                <a:latin typeface="Arial"/>
              </a:rPr>
              <a:t>extract</a:t>
            </a:r>
          </a:p>
        </p:txBody>
      </p:sp>
      <p:sp>
        <p:nvSpPr>
          <p:cNvPr id="182" name="Label2"/>
          <p:cNvSpPr txBox="1"/>
          <p:nvPr/>
        </p:nvSpPr>
        <p:spPr>
          <a:xfrm>
            <a:off x="5734050" y="2905125"/>
            <a:ext cx="495300" cy="133350"/>
          </a:xfrm>
          <a:prstGeom prst="rect">
            <a:avLst/>
          </a:prstGeom>
          <a:noFill/>
        </p:spPr>
        <p:txBody>
          <a:bodyPr wrap="none" lIns="0" rIns="0" tIns="0" bIns="0">
            <a:spAutoFit/>
          </a:bodyPr>
          <a:lstStyle/>
          <a:p>
            <a:pPr algn="ctr"/>
            <a:r>
              <a:rPr sz="950" b="0">
                <a:solidFill>
                  <a:srgbClr val="566682"/>
                </a:solidFill>
                <a:latin typeface="Arial"/>
              </a:rPr>
              <a:t>predict</a:t>
            </a:r>
          </a:p>
        </p:txBody>
      </p:sp>
      <p:sp>
        <p:nvSpPr>
          <p:cNvPr id="183" name="Label3"/>
          <p:cNvSpPr txBox="1"/>
          <p:nvPr/>
        </p:nvSpPr>
        <p:spPr>
          <a:xfrm>
            <a:off x="8477250" y="2905125"/>
            <a:ext cx="495300" cy="133350"/>
          </a:xfrm>
          <a:prstGeom prst="rect">
            <a:avLst/>
          </a:prstGeom>
          <a:noFill/>
        </p:spPr>
        <p:txBody>
          <a:bodyPr wrap="none" lIns="0" rIns="0" tIns="0" bIns="0">
            <a:spAutoFit/>
          </a:bodyPr>
          <a:lstStyle/>
          <a:p>
            <a:pPr algn="ctr"/>
            <a:r>
              <a:rPr sz="950" b="0">
                <a:solidFill>
                  <a:srgbClr val="566682"/>
                </a:solidFill>
                <a:latin typeface="Arial"/>
              </a:rPr>
              <a:t>choose</a:t>
            </a:r>
          </a:p>
        </p:txBody>
      </p:sp>
      <p:sp>
        <p:nvSpPr>
          <p:cNvPr id="184" name="Train band"/>
          <p:cNvSpPr/>
          <p:nvPr/>
        </p:nvSpPr>
        <p:spPr>
          <a:xfrm>
            <a:off x="1695450" y="4953000"/>
            <a:ext cx="8801100" cy="89535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rain title"/>
          <p:cNvSpPr txBox="1"/>
          <p:nvPr/>
        </p:nvSpPr>
        <p:spPr>
          <a:xfrm>
            <a:off x="1981200" y="5200650"/>
            <a:ext cx="2476500" cy="190500"/>
          </a:xfrm>
          <a:prstGeom prst="rect">
            <a:avLst/>
          </a:prstGeom>
          <a:noFill/>
        </p:spPr>
        <p:txBody>
          <a:bodyPr wrap="none" lIns="0" rIns="0" tIns="0" bIns="0">
            <a:spAutoFit/>
          </a:bodyPr>
          <a:lstStyle/>
          <a:p>
            <a:pPr algn="l"/>
            <a:r>
              <a:rPr sz="1500" b="1">
                <a:solidFill>
                  <a:srgbClr val="8F1D3A"/>
                </a:solidFill>
                <a:latin typeface="Arial"/>
              </a:rPr>
              <a:t>Training label from runtime</a:t>
            </a:r>
          </a:p>
        </p:txBody>
      </p:sp>
      <p:sp>
        <p:nvSpPr>
          <p:cNvPr id="186" name="Equation"/>
          <p:cNvSpPr txBox="1"/>
          <p:nvPr/>
        </p:nvSpPr>
        <p:spPr>
          <a:xfrm>
            <a:off x="1981200" y="5505450"/>
            <a:ext cx="3714750" cy="190500"/>
          </a:xfrm>
          <a:prstGeom prst="rect">
            <a:avLst/>
          </a:prstGeom>
          <a:noFill/>
        </p:spPr>
        <p:txBody>
          <a:bodyPr wrap="none" lIns="0" rIns="0" tIns="0" bIns="0">
            <a:spAutoFit/>
          </a:bodyPr>
          <a:lstStyle/>
          <a:p>
            <a:pPr algn="l"/>
            <a:r>
              <a:rPr sz="1500" b="0">
                <a:solidFill>
                  <a:srgbClr val="191919"/>
                </a:solidFill>
                <a:latin typeface="Courier New"/>
              </a:rPr>
              <a:t>label(x) = argmin_a T(a, x)</a:t>
            </a:r>
          </a:p>
        </p:txBody>
      </p:sp>
      <p:sp>
        <p:nvSpPr>
          <p:cNvPr id="187" name="Runtime"/>
          <p:cNvSpPr/>
          <p:nvPr/>
        </p:nvSpPr>
        <p:spPr>
          <a:xfrm>
            <a:off x="6096000" y="5238750"/>
            <a:ext cx="1200150" cy="409575"/>
          </a:xfrm>
          <a:prstGeom prst="rect">
            <a:avLst/>
          </a:prstGeom>
          <a:solidFill>
            <a:srgbClr val="FCFD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untime alg"/>
          <p:cNvSpPr txBox="1"/>
          <p:nvPr/>
        </p:nvSpPr>
        <p:spPr>
          <a:xfrm>
            <a:off x="6172200" y="5324475"/>
            <a:ext cx="1047750" cy="95250"/>
          </a:xfrm>
          <a:prstGeom prst="rect">
            <a:avLst/>
          </a:prstGeom>
          <a:noFill/>
        </p:spPr>
        <p:txBody>
          <a:bodyPr wrap="none" lIns="0" rIns="0" tIns="0" bIns="0">
            <a:spAutoFit/>
          </a:bodyPr>
          <a:lstStyle/>
          <a:p>
            <a:pPr algn="ctr"/>
            <a:r>
              <a:rPr sz="900" b="0">
                <a:solidFill>
                  <a:srgbClr val="566682"/>
                </a:solidFill>
                <a:latin typeface="Arial"/>
              </a:rPr>
              <a:t>Introsort</a:t>
            </a:r>
          </a:p>
        </p:txBody>
      </p:sp>
      <p:sp>
        <p:nvSpPr>
          <p:cNvPr id="189" name="Runtime val"/>
          <p:cNvSpPr txBox="1"/>
          <p:nvPr/>
        </p:nvSpPr>
        <p:spPr>
          <a:xfrm>
            <a:off x="6172200" y="5495925"/>
            <a:ext cx="1047750" cy="95250"/>
          </a:xfrm>
          <a:prstGeom prst="rect">
            <a:avLst/>
          </a:prstGeom>
          <a:noFill/>
        </p:spPr>
        <p:txBody>
          <a:bodyPr wrap="none" lIns="0" rIns="0" tIns="0" bIns="0">
            <a:spAutoFit/>
          </a:bodyPr>
          <a:lstStyle/>
          <a:p>
            <a:pPr algn="ctr"/>
            <a:r>
              <a:rPr sz="1000" b="1">
                <a:solidFill>
                  <a:srgbClr val="566682"/>
                </a:solidFill>
                <a:latin typeface="Arial"/>
              </a:rPr>
              <a:t>18.7 μs</a:t>
            </a:r>
          </a:p>
        </p:txBody>
      </p:sp>
      <p:sp>
        <p:nvSpPr>
          <p:cNvPr id="190" name="Runtime"/>
          <p:cNvSpPr/>
          <p:nvPr/>
        </p:nvSpPr>
        <p:spPr>
          <a:xfrm>
            <a:off x="7296150" y="5238750"/>
            <a:ext cx="1200150" cy="409575"/>
          </a:xfrm>
          <a:prstGeom prst="rect">
            <a:avLst/>
          </a:prstGeom>
          <a:solidFill>
            <a:srgbClr val="FCFD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untime alg"/>
          <p:cNvSpPr txBox="1"/>
          <p:nvPr/>
        </p:nvSpPr>
        <p:spPr>
          <a:xfrm>
            <a:off x="7372350" y="5324475"/>
            <a:ext cx="1047750" cy="95250"/>
          </a:xfrm>
          <a:prstGeom prst="rect">
            <a:avLst/>
          </a:prstGeom>
          <a:noFill/>
        </p:spPr>
        <p:txBody>
          <a:bodyPr wrap="none" lIns="0" rIns="0" tIns="0" bIns="0">
            <a:spAutoFit/>
          </a:bodyPr>
          <a:lstStyle/>
          <a:p>
            <a:pPr algn="ctr"/>
            <a:r>
              <a:rPr sz="900" b="0">
                <a:solidFill>
                  <a:srgbClr val="566682"/>
                </a:solidFill>
                <a:latin typeface="Arial"/>
              </a:rPr>
              <a:t>Heapsort</a:t>
            </a:r>
          </a:p>
        </p:txBody>
      </p:sp>
      <p:sp>
        <p:nvSpPr>
          <p:cNvPr id="192" name="Runtime val"/>
          <p:cNvSpPr txBox="1"/>
          <p:nvPr/>
        </p:nvSpPr>
        <p:spPr>
          <a:xfrm>
            <a:off x="7372350" y="5495925"/>
            <a:ext cx="1047750" cy="95250"/>
          </a:xfrm>
          <a:prstGeom prst="rect">
            <a:avLst/>
          </a:prstGeom>
          <a:noFill/>
        </p:spPr>
        <p:txBody>
          <a:bodyPr wrap="none" lIns="0" rIns="0" tIns="0" bIns="0">
            <a:spAutoFit/>
          </a:bodyPr>
          <a:lstStyle/>
          <a:p>
            <a:pPr algn="ctr"/>
            <a:r>
              <a:rPr sz="1000" b="1">
                <a:solidFill>
                  <a:srgbClr val="566682"/>
                </a:solidFill>
                <a:latin typeface="Arial"/>
              </a:rPr>
              <a:t>24.5 μs</a:t>
            </a:r>
          </a:p>
        </p:txBody>
      </p:sp>
      <p:sp>
        <p:nvSpPr>
          <p:cNvPr id="193" name="Runtime"/>
          <p:cNvSpPr/>
          <p:nvPr/>
        </p:nvSpPr>
        <p:spPr>
          <a:xfrm>
            <a:off x="8496300" y="5238750"/>
            <a:ext cx="1200150" cy="409575"/>
          </a:xfrm>
          <a:prstGeom prst="rect">
            <a:avLst/>
          </a:prstGeom>
          <a:solidFill>
            <a:srgbClr val="FCFD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untime alg"/>
          <p:cNvSpPr txBox="1"/>
          <p:nvPr/>
        </p:nvSpPr>
        <p:spPr>
          <a:xfrm>
            <a:off x="8572500" y="5324475"/>
            <a:ext cx="1047750" cy="95250"/>
          </a:xfrm>
          <a:prstGeom prst="rect">
            <a:avLst/>
          </a:prstGeom>
          <a:noFill/>
        </p:spPr>
        <p:txBody>
          <a:bodyPr wrap="none" lIns="0" rIns="0" tIns="0" bIns="0">
            <a:spAutoFit/>
          </a:bodyPr>
          <a:lstStyle/>
          <a:p>
            <a:pPr algn="ctr"/>
            <a:r>
              <a:rPr sz="900" b="0">
                <a:solidFill>
                  <a:srgbClr val="F4511E"/>
                </a:solidFill>
                <a:latin typeface="Arial"/>
              </a:rPr>
              <a:t>Timsort</a:t>
            </a:r>
          </a:p>
        </p:txBody>
      </p:sp>
      <p:sp>
        <p:nvSpPr>
          <p:cNvPr id="195" name="Runtime val"/>
          <p:cNvSpPr txBox="1"/>
          <p:nvPr/>
        </p:nvSpPr>
        <p:spPr>
          <a:xfrm>
            <a:off x="8572500" y="5495925"/>
            <a:ext cx="1047750" cy="95250"/>
          </a:xfrm>
          <a:prstGeom prst="rect">
            <a:avLst/>
          </a:prstGeom>
          <a:noFill/>
        </p:spPr>
        <p:txBody>
          <a:bodyPr wrap="none" lIns="0" rIns="0" tIns="0" bIns="0">
            <a:spAutoFit/>
          </a:bodyPr>
          <a:lstStyle/>
          <a:p>
            <a:pPr algn="ctr"/>
            <a:r>
              <a:rPr sz="1000" b="1">
                <a:solidFill>
                  <a:srgbClr val="F4511E"/>
                </a:solidFill>
                <a:latin typeface="Arial"/>
              </a:rPr>
              <a:t>13.2 μs</a:t>
            </a:r>
          </a:p>
        </p:txBody>
      </p:sp>
      <p:sp>
        <p:nvSpPr>
          <p:cNvPr id="196" name="Cost note"/>
          <p:cNvSpPr txBox="1"/>
          <p:nvPr/>
        </p:nvSpPr>
        <p:spPr>
          <a:xfrm>
            <a:off x="7524750" y="5915025"/>
            <a:ext cx="2971800" cy="123825"/>
          </a:xfrm>
          <a:prstGeom prst="rect">
            <a:avLst/>
          </a:prstGeom>
          <a:noFill/>
        </p:spPr>
        <p:txBody>
          <a:bodyPr wrap="none" lIns="0" rIns="0" tIns="0" bIns="0">
            <a:spAutoFit/>
          </a:bodyPr>
          <a:lstStyle/>
          <a:p>
            <a:pPr algn="r"/>
            <a:r>
              <a:rPr sz="900" b="0">
                <a:solidFill>
                  <a:srgbClr val="566682"/>
                </a:solidFill>
                <a:latin typeface="Arial"/>
              </a:rPr>
              <a:t>feature cost must be cheaper than runtime saved</a:t>
            </a:r>
          </a:p>
        </p:txBody>
      </p:sp>
      <p:sp>
        <p:nvSpPr>
          <p:cNvPr id="197"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3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Rectangle 3"/>
          <p:cNvSpPr/>
          <p:nvPr/>
        </p:nvSpPr>
        <p:spPr>
          <a:xfrm>
            <a:off x="0" y="0"/>
            <a:ext cx="12192000" cy="819150"/>
          </a:xfrm>
          <a:prstGeom prst="rect">
            <a:avLst/>
          </a:prstGeom>
          <a:solidFill>
            <a:srgbClr val="191919"/>
          </a:solidFill>
          <a:ln>
            <a:noFill/>
          </a:ln>
        </p:spPr>
        <p:txBody>
          <a:bodyPr/>
          <a:p/>
        </p:txBody>
      </p:sp>
      <p:sp>
        <p:nvSpPr>
          <p:cNvPr id="4" name="Rectangle 4"/>
          <p:cNvSpPr/>
          <p:nvPr/>
        </p:nvSpPr>
        <p:spPr>
          <a:xfrm>
            <a:off x="0" y="0"/>
            <a:ext cx="95250" cy="819150"/>
          </a:xfrm>
          <a:prstGeom prst="rect">
            <a:avLst/>
          </a:prstGeom>
          <a:solidFill>
            <a:srgbClr val="D97757"/>
          </a:solidFill>
          <a:ln>
            <a:noFill/>
          </a:ln>
        </p:spPr>
        <p:txBody>
          <a:bodyPr/>
          <a:p/>
        </p:txBody>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2428</Words>
  <Application>Microsoft Macintosh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2026-07-01T07:22:15Z</dcterms:modified>
  <cp:category/>
  <cp:contentStatus/>
  <dc:language/>
</cp:coreProperties>
</file>