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985d6f73ba434b" /><Relationship Type="http://schemas.openxmlformats.org/officeDocument/2006/relationships/extended-properties" Target="/docProps/app.xml" Id="Rc95429cddf7f43e1" /><Relationship Type="http://schemas.openxmlformats.org/officeDocument/2006/relationships/officeDocument" Target="/ppt/presentation.xml" Id="R8dadc950707749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86da2e87074237"/>
  </p:sldMasterIdLst>
  <p:notesMasterIdLst>
    <p:notesMasterId xmlns:r="http://schemas.openxmlformats.org/officeDocument/2006/relationships" r:id="R9ee7e3c0c5224e24"/>
  </p:notesMasterIdLst>
  <p:sldIdLst>
    <p:sldId xmlns:r="http://schemas.openxmlformats.org/officeDocument/2006/relationships" id="256" r:id="Ra4b5613ce3e847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7914921b0d4b9b" /><Relationship Type="http://schemas.openxmlformats.org/officeDocument/2006/relationships/slideMaster" Target="/ppt/slideMasters/slideMaster1.xml" Id="R8486da2e87074237" /><Relationship Type="http://schemas.openxmlformats.org/officeDocument/2006/relationships/notesMaster" Target="/ppt/notesMasters/notesMaster1.xml" Id="R9ee7e3c0c5224e24" /><Relationship Type="http://schemas.openxmlformats.org/officeDocument/2006/relationships/presProps" Target="/ppt/presProps.xml" Id="Re9d6526cfa754422" /><Relationship Type="http://schemas.openxmlformats.org/officeDocument/2006/relationships/tableStyles" Target="/ppt/tableStyles.xml" Id="R9c76176576464d12" /><Relationship Type="http://schemas.openxmlformats.org/officeDocument/2006/relationships/slide" Target="/ppt/slides/slide1.xml" Id="Ra4b5613ce3e847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4f9dc9b95843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3719d943894725" /><Relationship Type="http://schemas.openxmlformats.org/officeDocument/2006/relationships/notesMaster" Target="/ppt/notesMasters/notesMaster1.xml" Id="R47a68ba4659044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728b2521142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c46fd426f84536" /><Relationship Type="http://schemas.openxmlformats.org/officeDocument/2006/relationships/slideLayout" Target="/ppt/slideLayouts/slideLayout1.xml" Id="R4c9c3a12a47347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9c3a12a47347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6a8c7d33f472b" /><Relationship Type="http://schemas.openxmlformats.org/officeDocument/2006/relationships/notesSlide" Target="/ppt/notesSlides/notesSlide1.xml" Id="R8e1c4c94c55a4d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CBBB23-6B25-4037-B1E1-944C1FD3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1638"/>
          </a:solidFill>
          <a:ln xmlns:a="http://schemas.openxmlformats.org/drawingml/2006/main" w="0">
            <a:solidFill>
              <a:srgbClr val="9C16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3BD31-82EF-49A6-923F-2D2724C5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solidFill>
              <a:srgbClr val="F4511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D59A4-2829-4BA8-890E-3F5F5CCA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1638"/>
          </a:solidFill>
          <a:ln xmlns:a="http://schemas.openxmlformats.org/drawingml/2006/main" w="0">
            <a:solidFill>
              <a:srgbClr val="9C163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37278-E4C3-4D91-9EAE-EC15383C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70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D1D1F"/>
                </a:solidFill>
              </a:defRPr>
            </a:pPr>
            <a:r>
              <a:rPr sz="3000" b="1">
                <a:solidFill>
                  <a:srgbClr val="1D1D1F"/>
                </a:solidFill>
              </a:rPr>
              <a:t>KFold checks whether the F1 model is stable across splits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082DF-3C8A-4E5D-A263-17374AC4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00965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9D0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750B8-708B-4713-80BE-660EF67E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34290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DEC0E-6133-4D30-B166-79A9B58C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D1D1F"/>
                </a:solidFill>
              </a:defRPr>
            </a:pPr>
            <a:r>
              <a:rPr sz="1950" b="1">
                <a:solidFill>
                  <a:srgbClr val="1D1D1F"/>
                </a:solidFill>
              </a:rPr>
              <a:t>How the check was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966EA-5CB5-4D80-AD68-833A79E1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33625"/>
            <a:ext cx="495300" cy="5524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D6C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7F55E-4552-46F3-833C-65DC7375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860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6CDF"/>
                </a:solidFill>
              </a:defRPr>
            </a:pPr>
            <a:r>
              <a:rPr sz="1650" b="1">
                <a:solidFill>
                  <a:srgbClr val="2D6CDF"/>
                </a:solidFill>
              </a:rPr>
              <a:t>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73BBD-F940-4F24-9229-6B065EF0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33625"/>
            <a:ext cx="495300" cy="5524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E8DE"/>
          </a:solidFill>
          <a:ln xmlns:a="http://schemas.openxmlformats.org/drawingml/2006/main" w="11430">
            <a:solidFill>
              <a:srgbClr val="F4511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C378F-DAE0-45A3-AEFC-45AC065F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860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511E"/>
                </a:solidFill>
              </a:defRPr>
            </a:pPr>
            <a:r>
              <a:rPr sz="1650" b="1">
                <a:solidFill>
                  <a:srgbClr val="F4511E"/>
                </a:solidFill>
              </a:rPr>
              <a:t>F2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756BD-C890-44CB-A2B2-E8C05593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33625"/>
            <a:ext cx="495300" cy="5524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E8DE"/>
          </a:solidFill>
          <a:ln xmlns:a="http://schemas.openxmlformats.org/drawingml/2006/main" w="11430">
            <a:solidFill>
              <a:srgbClr val="F4511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AA281-2EEC-4784-95E5-AD4E2A7A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860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511E"/>
                </a:solidFill>
              </a:defRPr>
            </a:pPr>
            <a:r>
              <a:rPr sz="1650" b="1">
                <a:solidFill>
                  <a:srgbClr val="F4511E"/>
                </a:solidFill>
              </a:rPr>
              <a:t>F3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AC03C-A588-4947-8168-0E5B48F2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495300" cy="5524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E8DE"/>
          </a:solidFill>
          <a:ln xmlns:a="http://schemas.openxmlformats.org/drawingml/2006/main" w="11430">
            <a:solidFill>
              <a:srgbClr val="F4511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97245-EB34-42DB-B1DB-F8E89468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860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511E"/>
                </a:solidFill>
              </a:defRPr>
            </a:pPr>
            <a:r>
              <a:rPr sz="1650" b="1">
                <a:solidFill>
                  <a:srgbClr val="F4511E"/>
                </a:solidFill>
              </a:rPr>
              <a:t>F4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31BAF-5131-4A89-8C71-DB1E7F7C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495300" cy="5524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E8DE"/>
          </a:solidFill>
          <a:ln xmlns:a="http://schemas.openxmlformats.org/drawingml/2006/main" w="11430">
            <a:solidFill>
              <a:srgbClr val="F4511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B1C24-11EE-485E-8D26-231B2468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860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511E"/>
                </a:solidFill>
              </a:defRPr>
            </a:pPr>
            <a:r>
              <a:rPr sz="1650" b="1">
                <a:solidFill>
                  <a:srgbClr val="F4511E"/>
                </a:solidFill>
              </a:rPr>
              <a:t>F5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3FB5F-C50B-49F8-AB6A-E5F7F5E4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C6B80"/>
                </a:solidFill>
              </a:defRPr>
            </a:pPr>
            <a:r>
              <a:rPr sz="1575" b="0">
                <a:solidFill>
                  <a:srgbClr val="5C6B80"/>
                </a:solidFill>
              </a:rPr>
              <a:t>one fold hidden for testing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C6EC1-5BEF-4918-89F5-D1EC5798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the other four folds train a fresh XGBoost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E98EE-3BAB-4207-8DCD-AAACA0BC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933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C6B80"/>
                </a:solidFill>
              </a:defRPr>
            </a:pPr>
            <a:r>
              <a:rPr sz="1650" b="0">
                <a:solidFill>
                  <a:srgbClr val="5C6B80"/>
                </a:solidFill>
              </a:rPr>
              <a:t>then the test role moves to the next fold until all five folds are tested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CEFF49-5C1F-417A-9105-D358B85F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</a:defRPr>
            </a:pPr>
            <a:r>
              <a:rPr sz="1500" b="1">
                <a:solidFill>
                  <a:srgbClr val="F4511E"/>
                </a:solidFill>
              </a:rPr>
              <a:t>F1-only</a:t>
            </a:r>
          </a:p>
          <a:p xmlns:a="http://schemas.openxmlformats.org/drawingml/2006/main">
            <a:pPr algn="ctr">
              <a:defRPr sz="1500" b="1">
                <a:solidFill>
                  <a:srgbClr val="F4511E"/>
                </a:solidFill>
              </a:defRPr>
            </a:pPr>
            <a:r>
              <a:rPr sz="1500" b="1">
                <a:solidFill>
                  <a:srgbClr val="F4511E"/>
                </a:solidFill>
              </a:rPr>
              <a:t>balanced sample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06154F-7CBB-4EE6-B4E1-0D70B994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43050"/>
            <a:ext cx="59245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5E3308-63C5-44D7-9E6A-A3F50210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52600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D1D1F"/>
                </a:solidFill>
              </a:defRPr>
            </a:pPr>
            <a:r>
              <a:rPr sz="2100" b="1">
                <a:solidFill>
                  <a:srgbClr val="1D1D1F"/>
                </a:solidFill>
              </a:rPr>
              <a:t>Actual 5-fold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BA6A2-717A-44B8-BEAB-F8047C85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85975"/>
            <a:ext cx="546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C6B80"/>
                </a:solidFill>
              </a:defRPr>
            </a:pPr>
            <a:r>
              <a:rPr sz="1650" b="0">
                <a:solidFill>
                  <a:srgbClr val="5C6B80"/>
                </a:solidFill>
              </a:rPr>
              <a:t>mean ± standard deviation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0A94B8-3ABE-48B8-88A7-3E304A39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098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F7B043-9843-4259-9D55-DC43D914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C6B80"/>
                </a:solidFill>
              </a:defRPr>
            </a:pPr>
            <a:r>
              <a:rPr sz="1500" b="1">
                <a:solidFill>
                  <a:srgbClr val="5C6B80"/>
                </a:solidFill>
              </a:rPr>
              <a:t>Accuracy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F4365C-CAD1-4EDE-B280-501A15DD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194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C1638"/>
                </a:solidFill>
              </a:defRPr>
            </a:pPr>
            <a:r>
              <a:rPr sz="1800" b="1">
                <a:solidFill>
                  <a:srgbClr val="9C1638"/>
                </a:solidFill>
              </a:rPr>
              <a:t>61.61 ± 0.61%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2E743E-9DF2-4922-A506-123DEDD6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4A8855-945B-4DD9-A89F-E4E731DF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C6B80"/>
                </a:solidFill>
              </a:defRPr>
            </a:pPr>
            <a:r>
              <a:rPr sz="1500" b="1">
                <a:solidFill>
                  <a:srgbClr val="5C6B80"/>
                </a:solidFill>
              </a:rPr>
              <a:t>Macro F1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36C302-F43A-4333-AE94-3BBB9C09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194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C1638"/>
                </a:solidFill>
              </a:defRPr>
            </a:pPr>
            <a:r>
              <a:rPr sz="1800" b="1">
                <a:solidFill>
                  <a:srgbClr val="9C1638"/>
                </a:solidFill>
              </a:rPr>
              <a:t>62.00 ± 0.60%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DF7141-360D-4367-87A8-7335807F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766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ABA216-D825-4E02-BCDE-2B415FCE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90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C6B80"/>
                </a:solidFill>
              </a:defRPr>
            </a:pPr>
            <a:r>
              <a:rPr sz="1500" b="1">
                <a:solidFill>
                  <a:srgbClr val="5C6B80"/>
                </a:solidFill>
              </a:rPr>
              <a:t>Gap closed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F31427-314A-4E8D-BA2A-34E56A83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862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511E"/>
                </a:solidFill>
              </a:defRPr>
            </a:pPr>
            <a:r>
              <a:rPr sz="1800" b="1">
                <a:solidFill>
                  <a:srgbClr val="F4511E"/>
                </a:solidFill>
              </a:rPr>
              <a:t>59.78 ± 0.64%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298B74-CF2E-4F3B-B51F-701A411A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766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07DF0D-5694-45CF-B69A-DB74DA28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90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C6B80"/>
                </a:solidFill>
              </a:defRPr>
            </a:pPr>
            <a:r>
              <a:rPr sz="1500" b="1">
                <a:solidFill>
                  <a:srgbClr val="5C6B80"/>
                </a:solidFill>
              </a:rPr>
              <a:t>Zero regret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F63FFB-1399-4C5D-9BD9-71A1B2D8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862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8B5B"/>
                </a:solidFill>
              </a:defRPr>
            </a:pPr>
            <a:r>
              <a:rPr sz="1800" b="1">
                <a:solidFill>
                  <a:srgbClr val="228B5B"/>
                </a:solidFill>
              </a:rPr>
              <a:t>66.87 ± 0.73%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F8724C-6BF8-48C3-BC7B-BC1BE439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66A02C-69D7-4DFE-BE70-0728EFF0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4292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C1638"/>
                </a:solidFill>
              </a:defRPr>
            </a:pPr>
            <a:r>
              <a:rPr sz="1800" b="1">
                <a:solidFill>
                  <a:srgbClr val="9C1638"/>
                </a:solidFill>
              </a:rPr>
              <a:t>Meaning for the defense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638371-1977-42D0-ABE7-0DD617C4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1020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</a:defRPr>
            </a:pPr>
            <a:r>
              <a:rPr sz="1650" b="0">
                <a:solidFill>
                  <a:srgbClr val="1D1D1F"/>
                </a:solidFill>
              </a:rPr>
              <a:t>the folds are close, so this is a row-level stability check;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</a:defRPr>
            </a:pPr>
            <a:r>
              <a:rPr sz="1650" b="0">
                <a:solidFill>
                  <a:srgbClr val="1D1D1F"/>
                </a:solidFill>
              </a:rPr>
              <a:t>source-level generalization is still evaluated separately by domain holdout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579842-4757-42A2-ABCB-E399370F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KFold</a:t>
            </a:r>
          </a:p>
        </p:txBody>
      </p:sp>
    </p:spTree>
    <p:extLst>
      <p:ext uri="{BB962C8B-B14F-4D97-AF65-F5344CB8AC3E}">
        <p14:creationId xmlns:p14="http://schemas.microsoft.com/office/powerpoint/2010/main" val="19147528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2026-07-06T18:40:30.3890000Z</dcterms:created>
  <dcterms:modified xsi:type="dcterms:W3CDTF">2026-07-06T18:40:30.3890000Z</dcterms:modified>
</coreProperties>
</file>