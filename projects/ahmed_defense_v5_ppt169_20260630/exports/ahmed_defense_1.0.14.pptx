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9"/>
    <p:restoredTop sz="94658"/>
  </p:normalViewPr>
  <p:slideViewPr>
    <p:cSldViewPr snapToGrid="0" snapToObjects="1">
      <p:cViewPr varScale="1">
        <p:scale>
          <a:sx n="107" d="100"/>
          <a:sy n="107" d="100"/>
        </p:scale>
        <p:origin x="192" y="4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2/24</a:t>
            </a: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3/24</a:t>
            </a: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Algorithm Selection Background</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task is framed through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r>
              <a:rPr sz="1400" b="0">
                <a:solidFill>
                  <a:srgbClr val="191919"/>
                </a:solidFill>
                <a:latin typeface="Aptos"/>
              </a:rPr>
              <a:t>sorting choice as supervised algorithm selection.</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r>
              <a:rPr sz="1600" b="0">
                <a:solidFill>
                  <a:srgbClr val="566987"/>
                </a:solidFill>
                <a:latin typeface="Apto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r>
              <a:rPr sz="1400" b="0">
                <a:solidFill>
                  <a:srgbClr val="191919"/>
                </a:solidFill>
                <a:latin typeface="Aptos"/>
              </a:rPr>
              <a:t>structural descriptors expose these signals.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r>
              <a:rPr sz="1400" b="0">
                <a:solidFill>
                  <a:srgbClr val="191919"/>
                </a:solidFill>
                <a:latin typeface="Aptos"/>
              </a:rPr>
              <a:t>evaluate by regret, 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r>
              <a:rPr sz="1400" b="0">
                <a:solidFill>
                  <a:srgbClr val="191919"/>
                </a:solidFill>
                <a:latin typeface="Aptos"/>
              </a:rPr>
              <a:t>The contribution is a measured selector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r>
              <a:rPr sz="1400" b="0">
                <a:solidFill>
                  <a:srgbClr val="191919"/>
                </a:solidFill>
                <a:latin typeface="Aptos"/>
              </a:rPr>
              <a:t>around existing sorting implementations.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33" name="Rectangle 3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5/24</a:t>
            </a:r>
          </a:p>
        </p:txBody>
      </p:sp>
      <p:sp>
        <p:nvSpPr>
          <p:cNvPr id="37" name="Rectangle 36"/>
          <p:cNvSpPr/>
          <p:nvPr/>
        </p:nvSpPr>
        <p:spPr>
          <a:xfrm>
            <a:off x="502920" y="1227677"/>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Research objective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r>
              <a:rPr sz="2100" b="1">
                <a:solidFill>
                  <a:srgbClr val="191919"/>
                </a:solidFill>
                <a:latin typeface="Aptos Display"/>
              </a:rPr>
              <a:t>Can structural descriptors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r>
              <a:rPr sz="2100" b="1">
                <a:solidFill>
                  <a:srgbClr val="191919"/>
                </a:solidFill>
                <a:latin typeface="Aptos Display"/>
              </a:rPr>
              <a:t>the fastest sorting implementation before execution?</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r>
              <a:rPr sz="1400" b="0">
                <a:solidFill>
                  <a:srgbClr val="566987"/>
                </a:solidFill>
                <a:latin typeface="Aptos"/>
              </a:rPr>
              <a:t>This is why the result is evaluated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6/24</a:t>
            </a:r>
          </a:p>
        </p:txBody>
      </p:sp>
      <p:sp>
        <p:nvSpPr>
          <p:cNvPr id="26" name="Rectangle 25"/>
          <p:cNvSpPr/>
          <p:nvPr/>
        </p:nvSpPr>
        <p:spPr>
          <a:xfrm>
            <a:off x="502920" y="1214247"/>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dataset spans five real-data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corpus contains 1,188,265 labeled arrays from five structurally different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r>
              <a:t>This evaluates generalization beyond a single workload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7/24</a:t>
            </a: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Labels came from measured runtime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The transformation protocol exposes sorted, reversed, shuffled, quantized, and partially sorted structure.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8/24</a:t>
            </a: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Sixteen O(n) structural features represent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feature vector describes size, ordering, repetition, distribution, and robust scale before sorting.</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length</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scale</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sortedness</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runs</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inversions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r>
              <a:rPr sz="1300" b="0">
                <a:solidFill>
                  <a:srgbClr val="566987"/>
                </a:solidFill>
                <a:latin typeface="Aptos"/>
              </a:rPr>
              <a:t>No timing features are used at prediction time.</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r>
              <a:rPr sz="1300" b="0">
                <a:solidFill>
                  <a:srgbClr val="566987"/>
                </a:solidFill>
                <a:latin typeface="Aptos"/>
              </a:rPr>
              <a:t>The selector sees only structural descriptors.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9/24</a:t>
            </a:r>
          </a:p>
        </p:txBody>
      </p:sp>
      <p:sp>
        <p:nvSpPr>
          <p:cNvPr id="27" name="Rectangle 26"/>
          <p:cNvSpPr/>
          <p:nvPr/>
        </p:nvSpPr>
        <p:spPr>
          <a:xfrm>
            <a:off x="502920" y="1248918"/>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Prediction uses only pre-sorting structural features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deployable path extracts features once and predicts one algorithm; portfolio timings are used only for training labels and evaluation.</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r>
              <a:t>This separates the deployable selector from the VBS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10/24</a:t>
            </a:r>
          </a:p>
        </p:txBody>
      </p:sp>
      <p:sp>
        <p:nvSpPr>
          <p:cNvPr id="26" name="Rectangle 25"/>
          <p:cNvSpPr/>
          <p:nvPr/>
        </p:nvSpPr>
        <p:spPr>
          <a:xfrm>
            <a:off x="692974" y="124968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v5 is the general cross-domain selector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r>
              <a:t>The F1-specific route exists, but it is a separate specialization outside the main v5 result.</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8" name="Rectangle 17"/>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11/24</a:t>
            </a:r>
          </a:p>
        </p:txBody>
      </p:sp>
      <p:sp>
        <p:nvSpPr>
          <p:cNvPr id="22" name="Rectangle 21"/>
          <p:cNvSpPr/>
          <p:nvPr/>
        </p:nvSpPr>
        <p:spPr>
          <a:xfrm>
            <a:off x="523875" y="125063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portfolio contains three comparison-based implementations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model chooses among the three sorting implementations measured throughout the thesis.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r>
              <a:t>introsort</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r>
              <a:t>timsort</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r>
              <a:t>The evaluation measures whether this choice reduces regret against the VBS baseline.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12/24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200" b="1">
                <a:solidFill>
                  <a:srgbClr val="191919"/>
                </a:solidFill>
                <a:latin typeface="Aptos Display"/>
              </a:rPr>
              <a:t>Model evolution separated deployable and leakage-prone designs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v5 design follows from rejected paths, stricter splits, and regret-aware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rPr sz="1500" b="1">
                <a:solidFill>
                  <a:srgbClr val="191919"/>
                </a:solidFill>
                <a:latin typeface="Aptos"/>
              </a:rPr>
              <a:t>v1 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rPr sz="1300" b="0">
                <a:solidFill>
                  <a:srgbClr val="566987"/>
                </a:solidFill>
                <a:latin typeface="Aptos"/>
              </a:rPr>
              <a:t>dominated by size</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rPr sz="1500" b="1">
                <a:solidFill>
                  <a:srgbClr val="191919"/>
                </a:solidFill>
                <a:latin typeface="Aptos"/>
              </a:rPr>
              <a:t>v3 timing features</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sz="1300" b="0">
                <a:solidFill>
                  <a:srgbClr val="566987"/>
                </a:solidFill>
                <a:latin typeface="Aptos"/>
              </a:rPr>
              <a:t>ceiling proof only</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500" b="1" dirty="0">
                <a:solidFill>
                  <a:srgbClr val="FFFFFF"/>
                </a:solidFill>
                <a:latin typeface="Apto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300" b="0" dirty="0">
                <a:solidFill>
                  <a:srgbClr val="FFFFFF"/>
                </a:solidFill>
                <a:latin typeface="Apto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rPr sz="1500" b="1">
                <a:solidFill>
                  <a:srgbClr val="191919"/>
                </a:solidFill>
                <a:latin typeface="Aptos"/>
              </a:rPr>
              <a:t>v6/v7/v8</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sz="1300" b="0">
                <a:solidFill>
                  <a:srgbClr val="566987"/>
                </a:solidFill>
                <a:latin typeface="Aptos"/>
              </a:rPr>
              <a:t>final scope checks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13/24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Evaluation compares the model against SBS and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Classification accuracy is reported, but runtime regret measures the cost of each decision.</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14/24</a:t>
            </a: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The selector closes most of the runtime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94E1F"/>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1400" b="0" dirty="0">
                <a:solidFill>
                  <a:srgbClr val="FFFFFF"/>
                </a:solidFill>
                <a:latin typeface="Apto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rPr sz="1400" b="0">
                <a:solidFill>
                  <a:srgbClr val="FFFFFF"/>
                </a:solidFill>
                <a:latin typeface="Aptos"/>
              </a:rPr>
              <a:t>Runtime regret is the main</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rPr sz="1400" b="0">
                <a:solidFill>
                  <a:srgbClr val="FFFFFF"/>
                </a:solidFill>
                <a:latin typeface="Aptos"/>
              </a:rPr>
              <a:t>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15/24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Accuracy alone does not explain runtime value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Many misclassifications have low regret because candidate runtimes are nearly tied.</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16/24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residual error is concentrated in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F94E1F"/>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FFFFFF"/>
                </a:solidFill>
                <a:latin typeface="Apto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r>
              <a:rPr sz="1400" b="0">
                <a:solidFill>
                  <a:srgbClr val="191919"/>
                </a:solidFill>
                <a:latin typeface="Apto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r>
              <a:rPr sz="1400" b="0">
                <a:solidFill>
                  <a:srgbClr val="191919"/>
                </a:solidFill>
                <a:latin typeface="Aptos"/>
              </a:rPr>
              <a:t>introsort and heapsort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rPr sz="1400" b="0">
                <a:solidFill>
                  <a:srgbClr val="191919"/>
                </a:solidFill>
                <a:latin typeface="Aptos"/>
              </a:rPr>
              <a:t>Many errors in this boundary</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rPr sz="1400" b="0">
                <a:solidFill>
                  <a:srgbClr val="191919"/>
                </a:solidFill>
                <a:latin typeface="Aptos"/>
              </a:rPr>
              <a:t>have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17/24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model uses structural array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Feature importance is dominated by length, repetition, and ordering descriptors.</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r>
              <a:t>Ordering</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r>
              <a:t>longest_run_ratio, runs_ratio, adj_sorted_ratio</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r>
              <a:t>Repetition /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r>
              <a:t>top5_freq_ratio, duplicate_ratio, entropy_ratio</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r>
              <a:t>Size / scale</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r>
              <a:t>length_norm, 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18/24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Leave-one-domain-out testing shows partial cross-domain transfer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Each fold holds out one full domain, making the test workload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Domain sensitivity</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19/24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Source-aware and regret-aware checks narrowed the final scope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later experiments identify where the selector remains reliable and where claims must be limited.</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rPr sz="1200" b="0">
                <a:solidFill>
                  <a:srgbClr val="191919"/>
                </a:solidFill>
                <a:latin typeface="Apto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rPr sz="1200" b="0">
                <a:solidFill>
                  <a:srgbClr val="191919"/>
                </a:solidFill>
                <a:latin typeface="Aptos"/>
              </a:rP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200" b="0" dirty="0">
                <a:solidFill>
                  <a:srgbClr val="FFFFFF"/>
                </a:solidFill>
                <a:latin typeface="Apto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rPr sz="1200" b="0">
                <a:solidFill>
                  <a:srgbClr val="FFFFFF"/>
                </a:solidFill>
                <a:latin typeface="Aptos"/>
              </a:rPr>
              <a:t>when introsort and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rPr sz="1200" b="0">
                <a:solidFill>
                  <a:srgbClr val="FFFFFF"/>
                </a:solidFill>
                <a:latin typeface="Apto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rPr sz="1200" b="0">
                <a:solidFill>
                  <a:srgbClr val="191919"/>
                </a:solidFill>
                <a:latin typeface="Aptos"/>
              </a:rPr>
              <a:t>The final result is v5 under the submitted evaluation protocol, with source-aware and regret-aware limits reported separately.</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20/24</a:t>
            </a: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21/24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Cheap structural features can deliver meaningful per-instance sorting improvements when judged with runtime-sensitive metrics.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rPr sz="1400" b="0">
                <a:solidFill>
                  <a:srgbClr val="191919"/>
                </a:solidFill>
                <a:latin typeface="Aptos"/>
              </a:rPr>
              <a:t>The selector closes most of the practical SBS-to-VBS runtime gap on real-world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94E1F"/>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FFFFFF"/>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pPr algn="ctr"/>
            <a:r>
              <a:rPr sz="1300" b="0">
                <a:solidFill>
                  <a:srgbClr val="191919"/>
                </a:solidFill>
                <a:latin typeface="Aptos"/>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pPr algn="ctr"/>
            <a:r>
              <a:rPr sz="1300" b="0">
                <a:solidFill>
                  <a:srgbClr val="9A1C3E"/>
                </a:solidFill>
                <a:latin typeface="Aptos"/>
              </a:rPr>
              <a:t>The main residual weakness is the introsort/heapsort boundary, where the current feature space often cannot see enough difference.</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22/24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600" b="1">
                <a:solidFill>
                  <a:srgbClr val="9A1C3E"/>
                </a:solidFill>
                <a:latin typeface="Aptos"/>
              </a:rPr>
              <a:t>The thesis makes three contributions aligned with the stated objectives.</a:t>
            </a:r>
          </a:p>
        </p:txBody>
      </p:sp>
      <p:sp>
        <p:nvSpPr>
          <p:cNvPr id="9" name="TextBox 8"/>
          <p:cNvSpPr txBox="1"/>
          <p:nvPr/>
        </p:nvSpPr>
        <p:spPr>
          <a:xfrm>
            <a:off x="1143000" y="2000250"/>
            <a:ext cx="400050" cy="2286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tIns="0" rIns="0" bIns="0">
            <a:spAutoFit/>
          </a:bodyPr>
          <a:lstStyle/>
          <a:p>
            <a:r>
              <a:rPr sz="1300" b="0">
                <a:solidFill>
                  <a:srgbClr val="191919"/>
                </a:solidFill>
                <a:latin typeface="Aptos"/>
              </a:rPr>
              <a:t>A compact pipeline combines inexpensive structural characteristics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143250"/>
            <a:ext cx="400050" cy="2286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tIns="0" rIns="0" bIns="0">
            <a:spAutoFit/>
          </a:bodyPr>
          <a:lstStyle/>
          <a:p>
            <a:r>
              <a:rPr sz="1300" b="0">
                <a:solidFill>
                  <a:srgbClr val="191919"/>
                </a:solidFill>
                <a:latin typeface="Aptos"/>
              </a:rPr>
              <a:t>Source-aware splitting, near-tie filtering, leave-one-domain-out testing, and regret metrics give a better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286250"/>
            <a:ext cx="400050" cy="2286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tIns="0" rIns="0" bIns="0">
            <a:spAutoFit/>
          </a:bodyPr>
          <a:lstStyle/>
          <a:p>
            <a:r>
              <a:rPr sz="1500" b="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tIns="0" rIns="0" bIns="0">
            <a:spAutoFit/>
          </a:bodyPr>
          <a:lstStyle/>
          <a:p>
            <a:r>
              <a:rPr sz="1300" b="0">
                <a:solidFill>
                  <a:srgbClr val="191919"/>
                </a:solidFill>
                <a:latin typeface="Aptos"/>
              </a:rPr>
              <a:t>One feature extractor, one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23/24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The result is limited by the experimental scope of the thesis.</a:t>
            </a:r>
          </a:p>
        </p:txBody>
      </p:sp>
      <p:sp>
        <p:nvSpPr>
          <p:cNvPr id="9" name="Rectangle 8"/>
          <p:cNvSpPr/>
          <p:nvPr/>
        </p:nvSpPr>
        <p:spPr>
          <a:xfrm>
            <a:off x="1190625" y="2143125"/>
            <a:ext cx="4381500" cy="28575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38275" y="2390775"/>
            <a:ext cx="3886200" cy="228600"/>
          </a:xfrm>
          <a:prstGeom prst="rect">
            <a:avLst/>
          </a:prstGeom>
          <a:noFill/>
        </p:spPr>
        <p:txBody>
          <a:bodyPr wrap="none" lIns="0" tIns="0" rIns="0" bIns="0">
            <a:spAutoFit/>
          </a:bodyPr>
          <a:lstStyle/>
          <a:p>
            <a:pPr algn="l"/>
            <a:r>
              <a:rPr sz="1800" b="1">
                <a:solidFill>
                  <a:srgbClr val="F94E1F"/>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tIns="0" rIns="0" bIns="0">
            <a:spAutoFit/>
          </a:bodyPr>
          <a:lstStyle/>
          <a:p>
            <a:pPr algn="l"/>
            <a:r>
              <a:rPr sz="1300" b="0">
                <a:solidFill>
                  <a:srgbClr val="FFFFFF"/>
                </a:solidFill>
                <a:latin typeface="Aptos"/>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tIns="0" rIns="0" bIns="0">
            <a:spAutoFit/>
          </a:bodyPr>
          <a:lstStyle/>
          <a:p>
            <a:pPr algn="l"/>
            <a:r>
              <a:rPr sz="1300" b="0">
                <a:solidFill>
                  <a:srgbClr val="FFFFFF"/>
                </a:solidFill>
                <a:latin typeface="Aptos"/>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tIns="0" rIns="0" bIns="0">
            <a:spAutoFit/>
          </a:bodyPr>
          <a:lstStyle/>
          <a:p>
            <a:pPr algn="l"/>
            <a:r>
              <a:rPr sz="1300" b="0">
                <a:solidFill>
                  <a:srgbClr val="FFFFFF"/>
                </a:solidFill>
                <a:latin typeface="Aptos"/>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tIns="0" rIns="0" bIns="0">
            <a:spAutoFit/>
          </a:bodyPr>
          <a:lstStyle/>
          <a:p>
            <a:pPr algn="l"/>
            <a:r>
              <a:rPr sz="1300" b="0">
                <a:solidFill>
                  <a:srgbClr val="FFFFFF"/>
                </a:solidFill>
                <a:latin typeface="Aptos"/>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67525" y="2390775"/>
            <a:ext cx="3886200" cy="228600"/>
          </a:xfrm>
          <a:prstGeom prst="rect">
            <a:avLst/>
          </a:prstGeom>
          <a:noFill/>
        </p:spPr>
        <p:txBody>
          <a:bodyPr wrap="none" lIns="0" tIns="0" r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tIns="0" rIns="0" bIns="0">
            <a:spAutoFit/>
          </a:bodyPr>
          <a:lstStyle/>
          <a:p>
            <a:pPr algn="l"/>
            <a:r>
              <a:rPr sz="1300" b="0">
                <a:solidFill>
                  <a:srgbClr val="566987"/>
                </a:solidFill>
                <a:latin typeface="Aptos"/>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tIns="0" rIns="0" bIns="0">
            <a:spAutoFit/>
          </a:bodyPr>
          <a:lstStyle/>
          <a:p>
            <a:pPr algn="l"/>
            <a:r>
              <a:rPr sz="1300" b="0">
                <a:solidFill>
                  <a:srgbClr val="566987"/>
                </a:solidFill>
                <a:latin typeface="Aptos"/>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tIns="0" rIns="0" bIns="0">
            <a:spAutoFit/>
          </a:bodyPr>
          <a:lstStyle/>
          <a:p>
            <a:pPr algn="l"/>
            <a:r>
              <a:rPr sz="1300" b="0">
                <a:solidFill>
                  <a:srgbClr val="566987"/>
                </a:solidFill>
                <a:latin typeface="Aptos"/>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tIns="0" rIns="0" bIns="0">
            <a:spAutoFit/>
          </a:bodyPr>
          <a:lstStyle/>
          <a:p>
            <a:pPr algn="l"/>
            <a:r>
              <a:rPr sz="1300" b="0">
                <a:solidFill>
                  <a:srgbClr val="566987"/>
                </a:solidFill>
                <a:latin typeface="Aptos"/>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tIns="0" rIns="0" bIns="0">
            <a:spAutoFit/>
          </a:bodyPr>
          <a:lstStyle/>
          <a:p>
            <a:r>
              <a:rPr sz="1400" b="0">
                <a:solidFill>
                  <a:srgbClr val="191919"/>
                </a:solidFill>
                <a:latin typeface="Aptos"/>
              </a:rPr>
              <a:t>Future work extends the framework along portfolio, adaptation, and generalisation axes.</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2342</Words>
  <Application>Microsoft Macintosh PowerPoint</Application>
  <PresentationFormat>Widescreen</PresentationFormat>
  <Paragraphs>305</Paragraphs>
  <Slides>24</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3</cp:revision>
  <dcterms:created xsi:type="dcterms:W3CDTF">2026-06-30T17:56:25Z</dcterms:created>
  <dcterms:modified xsi:type="dcterms:W3CDTF">2026-07-01T14:24:37Z</dcterms:modified>
  <cp:category/>
  <cp:contentStatus/>
  <dc:language/>
</cp:coreProperties>
</file>