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9"/>
    <p:sldId id="279"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0"/>
    <p:restoredTop sz="94658"/>
  </p:normalViewPr>
  <p:slideViewPr>
    <p:cSldViewPr snapToGrid="0" snapToObjects="1">
      <p:cViewPr varScale="1">
        <p:scale>
          <a:sx n="120" d="100"/>
          <a:sy n="120" d="100"/>
        </p:scale>
        <p:origin x="92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slide" Target="slides/slide23.xml"/><Relationship Id="rId3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1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pPr algn="l"/>
            <a:r>
              <a:rPr sz="2800" b="1">
                <a:solidFill>
                  <a:srgbClr val="191919"/>
                </a:solidFill>
                <a:latin typeface="Arial"/>
              </a:rPr>
              <a:t>Presentation Outline</a:t>
            </a:r>
          </a:p>
        </p:txBody>
      </p:sp>
      <p:sp>
        <p:nvSpPr>
          <p:cNvPr id="29" name="Outline horizontal rule"/>
          <p:cNvSpPr/>
          <p:nvPr/>
        </p:nvSpPr>
        <p:spPr>
          <a:xfrm>
            <a:off x="647700" y="1123950"/>
            <a:ext cx="10896600" cy="13335"/>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pPr algn="l"/>
            <a:r>
              <a:rPr sz="2000" b="1">
                <a:solidFill>
                  <a:srgbClr val="191919"/>
                </a:solidFill>
                <a:latin typeface="Arial"/>
              </a:rPr>
              <a:t>Algorithm Selection Problem</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pPr algn="l"/>
            <a:r>
              <a:rPr sz="2000" b="1">
                <a:solidFill>
                  <a:srgbClr val="191919"/>
                </a:solidFill>
                <a:latin typeface="Arial"/>
              </a:rPr>
              <a:t>Motivation for Sorting Selection</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pPr algn="l"/>
            <a:r>
              <a:rPr sz="2000" b="1">
                <a:solidFill>
                  <a:srgbClr val="191919"/>
                </a:solidFill>
                <a:latin typeface="Arial"/>
              </a:rPr>
              <a:t>Dataset and Feature Extraction</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pPr algn="l"/>
            <a:r>
              <a:rPr sz="2000" b="1">
                <a:solidFill>
                  <a:srgbClr val="191919"/>
                </a:solidFill>
                <a:latin typeface="Arial"/>
              </a:rPr>
              <a:t>Model Development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pPr algn="l"/>
            <a:r>
              <a:rPr sz="2000" b="1">
                <a:solidFill>
                  <a:srgbClr val="191919"/>
                </a:solidFill>
                <a:latin typeface="Arial"/>
              </a:rPr>
              <a:t>Evaluation and Results</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pPr algn="l"/>
            <a:r>
              <a:rPr sz="2000" b="1">
                <a:solidFill>
                  <a:srgbClr val="191919"/>
                </a:solidFill>
                <a:latin typeface="Arial"/>
              </a:rPr>
              <a:t>Limitations and Future Work</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a:solidFill>
                  <a:srgbClr val="FFFFFF"/>
                </a:solidFill>
                <a:latin typeface="Arial"/>
              </a:rPr>
              <a:t>2/24</a:t>
            </a:r>
          </a:p>
        </p:txBody>
      </p:sp>
      <p:sp>
        <p:nvSpPr>
          <p:cNvPr id="53" name="Rectangle 52"/>
          <p:cNvSpPr/>
          <p:nvPr/>
        </p:nvSpPr>
        <p:spPr>
          <a:xfrm>
            <a:off x="6134100" y="1676400"/>
            <a:ext cx="28575" cy="2800350"/>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076950" y="17716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6076950" y="289560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6076950" y="40195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grpSp>
        <p:nvGrpSpPr>
          <p:cNvPr id="23" name="Group 23"/>
          <p:cNvGrpSpPr/>
          <p:nvPr/>
        </p:nvGrpSpPr>
        <p:grpSpPr>
          <a:xfrm>
            <a:off x="552450" y="12954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2954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5430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191919"/>
            </a:solidFill>
            <a:ln>
              <a:no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FFFFFF"/>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F4511E"/>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FFFFFF"/>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CBD5E1"/>
                  </a:solidFill>
                  <a:latin typeface="Anthropic Sans"/>
                  <a:ea typeface="Anthropic Sans"/>
                  <a:cs typeface="Anthropic Sans"/>
                </a:rPr>
                <a:t>predict fastest class</a:t>
              </a:r>
            </a:p>
          </p:txBody>
        </p:sp>
      </p:grpSp>
      <p:grpSp>
        <p:nvGrpSpPr>
          <p:cNvPr id="56" name="Group 56"/>
          <p:cNvGrpSpPr/>
          <p:nvPr/>
        </p:nvGrpSpPr>
        <p:grpSpPr>
          <a:xfrm>
            <a:off x="9201150" y="12954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8194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5529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2" name="Slide 3 added title rule"/>
          <p:cNvSpPr/>
          <p:nvPr/>
        </p:nvSpPr>
        <p:spPr>
          <a:xfrm>
            <a:off x="647700" y="104775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3/24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Why sorting selection matters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practical question is how much runtime gap remains between a fixed solver and the virtual best solver.</a:t>
            </a:r>
          </a:p>
        </p:txBody>
      </p:sp>
      <p:sp>
        <p:nvSpPr>
          <p:cNvPr id="7" name="Freeform 7"/>
          <p:cNvSpPr/>
          <p:nvPr/>
        </p:nvSpPr>
        <p:spPr>
          <a:xfrm>
            <a:off x="781050" y="1619250"/>
            <a:ext cx="4819650" cy="3429000"/>
          </a:xfrm>
          <a:custGeom>
            <a:avLst/>
            <a:gdLst/>
            <a:ahLst/>
            <a:cxnLst/>
            <a:rect l="l" t="t" r="r" b="b"/>
            <a:pathLst>
              <a:path w="4819650" h="3429000">
                <a:moveTo>
                  <a:pt x="76200" y="0"/>
                </a:moveTo>
                <a:lnTo>
                  <a:pt x="4743450" y="0"/>
                </a:lnTo>
                <a:cubicBezTo>
                  <a:pt x="4785534" y="0"/>
                  <a:pt x="4819650" y="34116"/>
                  <a:pt x="4819650" y="76200"/>
                </a:cubicBezTo>
                <a:lnTo>
                  <a:pt x="4819650" y="3352800"/>
                </a:lnTo>
                <a:cubicBezTo>
                  <a:pt x="4819650" y="3394884"/>
                  <a:pt x="4785534" y="3429000"/>
                  <a:pt x="47434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86612" y="1802130"/>
            <a:ext cx="3072956" cy="704088"/>
          </a:xfrm>
          <a:prstGeom prst="rect">
            <a:avLst/>
          </a:prstGeom>
          <a:noFill/>
          <a:ln>
            <a:noFill/>
          </a:ln>
        </p:spPr>
        <p:txBody>
          <a:bodyPr wrap="none" lIns="0" tIns="0" rIns="0" bIns="0" anchor="t" anchorCtr="0">
            <a:spAutoFit/>
          </a:bodyPr>
          <a:lstStyle/>
          <a:p>
            <a:r>
              <a:rPr sz="1800" b="1">
                <a:solidFill>
                  <a:srgbClr val="191919"/>
                </a:solidFill>
                <a:latin typeface="Aptos"/>
              </a:rPr>
              <a:t>Input structure</a:t>
            </a:r>
          </a:p>
        </p:txBody>
      </p:sp>
      <p:sp>
        <p:nvSpPr>
          <p:cNvPr id="9" name="TextBox 9"/>
          <p:cNvSpPr txBox="1"/>
          <p:nvPr/>
        </p:nvSpPr>
        <p:spPr>
          <a:xfrm>
            <a:off x="1086612" y="2373630"/>
            <a:ext cx="3700394" cy="704088"/>
          </a:xfrm>
          <a:prstGeom prst="rect">
            <a:avLst/>
          </a:prstGeom>
          <a:noFill/>
          <a:ln>
            <a:noFill/>
          </a:ln>
        </p:spPr>
        <p:txBody>
          <a:bodyPr wrap="none" lIns="0" tIns="0" rIns="0" bIns="0" anchor="t" anchorCtr="0">
            <a:spAutoFit/>
          </a:bodyPr>
          <a:lstStyle/>
          <a:p>
            <a:r>
              <a:rPr sz="1800" b="1">
                <a:solidFill>
                  <a:srgbClr val="191919"/>
                </a:solidFill>
                <a:latin typeface="Aptos"/>
              </a:rPr>
              <a:t>changes runtime</a:t>
            </a:r>
          </a:p>
        </p:txBody>
      </p:sp>
      <p:sp>
        <p:nvSpPr>
          <p:cNvPr id="10" name="TextBox 10"/>
          <p:cNvSpPr txBox="1"/>
          <p:nvPr/>
        </p:nvSpPr>
        <p:spPr>
          <a:xfrm>
            <a:off x="1093470" y="3186112"/>
            <a:ext cx="5617743" cy="440055"/>
          </a:xfrm>
          <a:prstGeom prst="rect">
            <a:avLst/>
          </a:prstGeom>
          <a:noFill/>
          <a:ln>
            <a:noFill/>
          </a:ln>
        </p:spPr>
        <p:txBody>
          <a:bodyPr wrap="none" lIns="0" tIns="0" rIns="0" bIns="0" anchor="t" anchorCtr="0">
            <a:spAutoFit/>
          </a:bodyPr>
          <a:lstStyle/>
          <a:p>
            <a:r>
              <a:rPr sz="1500" b="0">
                <a:solidFill>
                  <a:srgbClr val="191919"/>
                </a:solidFill>
                <a:latin typeface="Aptos"/>
              </a:rPr>
              <a:t>Sorted-like, random, and duplicated arrays</a:t>
            </a:r>
          </a:p>
        </p:txBody>
      </p:sp>
      <p:sp>
        <p:nvSpPr>
          <p:cNvPr id="11" name="TextBox 11"/>
          <p:cNvSpPr txBox="1"/>
          <p:nvPr/>
        </p:nvSpPr>
        <p:spPr>
          <a:xfrm>
            <a:off x="1093470" y="3567112"/>
            <a:ext cx="5050917" cy="440055"/>
          </a:xfrm>
          <a:prstGeom prst="rect">
            <a:avLst/>
          </a:prstGeom>
          <a:noFill/>
          <a:ln>
            <a:noFill/>
          </a:ln>
        </p:spPr>
        <p:txBody>
          <a:bodyPr wrap="none" lIns="0" tIns="0" rIns="0" bIns="0" anchor="t" anchorCtr="0">
            <a:spAutoFit/>
          </a:bodyPr>
          <a:lstStyle/>
          <a:p>
            <a:r>
              <a:rPr sz="1500" b="0">
                <a:solidFill>
                  <a:srgbClr val="191919"/>
                </a:solidFill>
                <a:latin typeface="Aptos"/>
              </a:rPr>
              <a:t>can favor different sorting implementations.</a:t>
            </a:r>
          </a:p>
        </p:txBody>
      </p:sp>
      <p:sp>
        <p:nvSpPr>
          <p:cNvPr id="12" name="TextBox 12"/>
          <p:cNvSpPr txBox="1"/>
          <p:nvPr/>
        </p:nvSpPr>
        <p:spPr>
          <a:xfrm>
            <a:off x="1093470" y="3948112"/>
            <a:ext cx="5278088" cy="440055"/>
          </a:xfrm>
          <a:prstGeom prst="rect">
            <a:avLst/>
          </a:prstGeom>
          <a:noFill/>
          <a:ln>
            <a:noFill/>
          </a:ln>
        </p:spPr>
        <p:txBody>
          <a:bodyPr wrap="none" lIns="0" tIns="0" rIns="0" bIns="0" anchor="t" anchorCtr="0">
            <a:spAutoFit/>
          </a:bodyPr>
          <a:lstStyle/>
          <a:p/>
        </p:txBody>
      </p:sp>
      <p:sp>
        <p:nvSpPr>
          <p:cNvPr id="13" name="Freeform 13"/>
          <p:cNvSpPr/>
          <p:nvPr/>
        </p:nvSpPr>
        <p:spPr>
          <a:xfrm>
            <a:off x="63817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7070655" y="2110740"/>
            <a:ext cx="1003440" cy="352044"/>
          </a:xfrm>
          <a:prstGeom prst="rect">
            <a:avLst/>
          </a:prstGeom>
          <a:noFill/>
          <a:ln>
            <a:noFill/>
          </a:ln>
        </p:spPr>
        <p:txBody>
          <a:bodyPr wrap="none" lIns="0" tIns="0" rIns="0" bIns="0" anchor="t" anchorCtr="0">
            <a:spAutoFit/>
          </a:bodyPr>
          <a:lstStyle/>
          <a:p>
            <a:pPr algn="ctr"/>
            <a:r>
              <a:rPr lang="en-US" sz="1500" dirty="0" b="0">
                <a:solidFill>
                  <a:srgbClr val="566987"/>
                </a:solidFill>
                <a:latin typeface="Aptos"/>
                <a:ea typeface="Anthropic Sans"/>
                <a:cs typeface="Anthropic Sans"/>
              </a:rPr>
              <a:t>Baseline</a:t>
            </a:r>
          </a:p>
        </p:txBody>
      </p:sp>
      <p:sp>
        <p:nvSpPr>
          <p:cNvPr id="15" name="TextBox 15"/>
          <p:cNvSpPr txBox="1"/>
          <p:nvPr/>
        </p:nvSpPr>
        <p:spPr>
          <a:xfrm>
            <a:off x="6991697" y="2640330"/>
            <a:ext cx="1161357" cy="704088"/>
          </a:xfrm>
          <a:prstGeom prst="rect">
            <a:avLst/>
          </a:prstGeom>
          <a:noFill/>
          <a:ln>
            <a:noFill/>
          </a:ln>
        </p:spPr>
        <p:txBody>
          <a:bodyPr wrap="none" lIns="0" tIns="0" rIns="0" bIns="0" anchor="t" anchorCtr="0">
            <a:spAutoFit/>
          </a:bodyPr>
          <a:lstStyle/>
          <a:p>
            <a:pPr algn="ctr"/>
            <a:r>
              <a:rPr lang="en-US" sz="2800" b="1" dirty="0">
                <a:solidFill>
                  <a:srgbClr val="191919"/>
                </a:solidFill>
                <a:latin typeface="Aptos Display"/>
                <a:ea typeface="Styrene A"/>
                <a:cs typeface="Styrene A"/>
              </a:rPr>
              <a:t>SBS</a:t>
            </a:r>
          </a:p>
        </p:txBody>
      </p:sp>
      <p:sp>
        <p:nvSpPr>
          <p:cNvPr id="16" name="TextBox 16"/>
          <p:cNvSpPr txBox="1"/>
          <p:nvPr/>
        </p:nvSpPr>
        <p:spPr>
          <a:xfrm>
            <a:off x="6864687" y="3487579"/>
            <a:ext cx="1415377" cy="308039"/>
          </a:xfrm>
          <a:prstGeom prst="rect">
            <a:avLst/>
          </a:prstGeom>
          <a:noFill/>
          <a:ln>
            <a:noFill/>
          </a:ln>
        </p:spPr>
        <p:txBody>
          <a:bodyPr wrap="none" lIns="0" tIns="0" rIns="0" bIns="0" anchor="t" anchorCtr="0">
            <a:spAutoFit/>
          </a:bodyPr>
          <a:lstStyle/>
          <a:p>
            <a:pPr algn="ctr"/>
            <a:r>
              <a:rPr lang="en-US" sz="1400" dirty="0" b="0">
                <a:solidFill>
                  <a:srgbClr val="566987"/>
                </a:solidFill>
                <a:latin typeface="Aptos"/>
                <a:ea typeface="Anthropic Sans"/>
                <a:cs typeface="Anthropic Sans"/>
              </a:rPr>
              <a:t>one algorithm</a:t>
            </a:r>
          </a:p>
        </p:txBody>
      </p:sp>
      <p:sp>
        <p:nvSpPr>
          <p:cNvPr id="17" name="TextBox 17"/>
          <p:cNvSpPr txBox="1"/>
          <p:nvPr/>
        </p:nvSpPr>
        <p:spPr>
          <a:xfrm>
            <a:off x="6880589" y="3773329"/>
            <a:ext cx="1383573" cy="308039"/>
          </a:xfrm>
          <a:prstGeom prst="rect">
            <a:avLst/>
          </a:prstGeom>
          <a:noFill/>
          <a:ln>
            <a:noFill/>
          </a:ln>
        </p:spPr>
        <p:txBody>
          <a:bodyPr wrap="none" lIns="0" tIns="0" rIns="0" bIns="0" anchor="t" anchorCtr="0">
            <a:spAutoFit/>
          </a:bodyPr>
          <a:lstStyle/>
          <a:p>
            <a:pPr algn="ctr"/>
            <a:r>
              <a:rPr lang="en-US" sz="1400" dirty="0" b="0">
                <a:solidFill>
                  <a:srgbClr val="566987"/>
                </a:solidFill>
                <a:latin typeface="Aptos"/>
                <a:ea typeface="Anthropic Sans"/>
                <a:cs typeface="Anthropic Sans"/>
              </a:rPr>
              <a:t>for all inputs</a:t>
            </a:r>
          </a:p>
        </p:txBody>
      </p:sp>
      <p:sp>
        <p:nvSpPr>
          <p:cNvPr id="18" name="Freeform 18"/>
          <p:cNvSpPr/>
          <p:nvPr/>
        </p:nvSpPr>
        <p:spPr>
          <a:xfrm>
            <a:off x="91249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9" name="TextBox 19"/>
          <p:cNvSpPr txBox="1"/>
          <p:nvPr/>
        </p:nvSpPr>
        <p:spPr>
          <a:xfrm>
            <a:off x="9883978" y="2110740"/>
            <a:ext cx="863194" cy="352044"/>
          </a:xfrm>
          <a:prstGeom prst="rect">
            <a:avLst/>
          </a:prstGeom>
          <a:noFill/>
          <a:ln>
            <a:noFill/>
          </a:ln>
        </p:spPr>
        <p:txBody>
          <a:bodyPr wrap="none" lIns="0" tIns="0" rIns="0" bIns="0" anchor="t" anchorCtr="0">
            <a:spAutoFit/>
          </a:bodyPr>
          <a:lstStyle/>
          <a:p>
            <a:pPr algn="ctr"/>
            <a:r>
              <a:rPr lang="en-US" sz="1500" dirty="0" b="0">
                <a:solidFill>
                  <a:srgbClr val="566987"/>
                </a:solidFill>
                <a:latin typeface="Aptos"/>
                <a:ea typeface="Anthropic Sans"/>
                <a:cs typeface="Anthropic Sans"/>
              </a:rPr>
              <a:t>Target</a:t>
            </a:r>
          </a:p>
        </p:txBody>
      </p:sp>
      <p:sp>
        <p:nvSpPr>
          <p:cNvPr id="20" name="TextBox 20"/>
          <p:cNvSpPr txBox="1"/>
          <p:nvPr/>
        </p:nvSpPr>
        <p:spPr>
          <a:xfrm>
            <a:off x="9734897" y="2640330"/>
            <a:ext cx="1161357" cy="704088"/>
          </a:xfrm>
          <a:prstGeom prst="rect">
            <a:avLst/>
          </a:prstGeom>
          <a:noFill/>
          <a:ln>
            <a:noFill/>
          </a:ln>
        </p:spPr>
        <p:txBody>
          <a:bodyPr wrap="none" lIns="0" tIns="0" rIns="0" bIns="0" anchor="t" anchorCtr="0">
            <a:spAutoFit/>
          </a:bodyPr>
          <a:lstStyle/>
          <a:p>
            <a:pPr algn="ctr"/>
            <a:r>
              <a:rPr lang="en-US" sz="2800" b="1" dirty="0">
                <a:solidFill>
                  <a:srgbClr val="F94E1F"/>
                </a:solidFill>
                <a:latin typeface="Aptos Display"/>
                <a:ea typeface="Styrene A"/>
                <a:cs typeface="Styrene A"/>
              </a:rPr>
              <a:t>VBS</a:t>
            </a:r>
          </a:p>
        </p:txBody>
      </p:sp>
      <p:sp>
        <p:nvSpPr>
          <p:cNvPr id="21" name="TextBox 21"/>
          <p:cNvSpPr txBox="1"/>
          <p:nvPr/>
        </p:nvSpPr>
        <p:spPr>
          <a:xfrm>
            <a:off x="9549579" y="3487579"/>
            <a:ext cx="1531991" cy="308039"/>
          </a:xfrm>
          <a:prstGeom prst="rect">
            <a:avLst/>
          </a:prstGeom>
          <a:noFill/>
          <a:ln>
            <a:noFill/>
          </a:ln>
        </p:spPr>
        <p:txBody>
          <a:bodyPr wrap="none" lIns="0" tIns="0" rIns="0" bIns="0" anchor="t" anchorCtr="0">
            <a:spAutoFit/>
          </a:bodyPr>
          <a:lstStyle/>
          <a:p>
            <a:pPr algn="ctr"/>
            <a:r>
              <a:rPr lang="en-US" sz="1400" dirty="0" b="0">
                <a:solidFill>
                  <a:srgbClr val="566987"/>
                </a:solidFill>
                <a:latin typeface="Aptos"/>
                <a:ea typeface="Anthropic Sans"/>
                <a:cs typeface="Anthropic Sans"/>
              </a:rPr>
              <a:t>best algorithm</a:t>
            </a:r>
          </a:p>
        </p:txBody>
      </p:sp>
      <p:sp>
        <p:nvSpPr>
          <p:cNvPr id="22" name="TextBox 22"/>
          <p:cNvSpPr txBox="1"/>
          <p:nvPr/>
        </p:nvSpPr>
        <p:spPr>
          <a:xfrm>
            <a:off x="9835815" y="3773329"/>
            <a:ext cx="959520" cy="308039"/>
          </a:xfrm>
          <a:prstGeom prst="rect">
            <a:avLst/>
          </a:prstGeom>
          <a:noFill/>
          <a:ln>
            <a:noFill/>
          </a:ln>
        </p:spPr>
        <p:txBody>
          <a:bodyPr wrap="none" lIns="0" tIns="0" rIns="0" bIns="0" anchor="t" anchorCtr="0">
            <a:spAutoFit/>
          </a:bodyPr>
          <a:lstStyle/>
          <a:p>
            <a:pPr algn="ctr"/>
            <a:r>
              <a:rPr lang="en-US" sz="1400" dirty="0" b="0">
                <a:solidFill>
                  <a:srgbClr val="566987"/>
                </a:solidFill>
                <a:latin typeface="Aptos"/>
                <a:ea typeface="Anthropic Sans"/>
                <a:cs typeface="Anthropic Sans"/>
              </a:rPr>
              <a:t>per input</a:t>
            </a:r>
          </a:p>
        </p:txBody>
      </p:sp>
      <p:sp>
        <p:nvSpPr>
          <p:cNvPr id="23" name="TextBox 23"/>
          <p:cNvSpPr txBox="1"/>
          <p:nvPr/>
        </p:nvSpPr>
        <p:spPr>
          <a:xfrm>
            <a:off x="769620" y="5233988"/>
            <a:ext cx="6583345" cy="440055"/>
          </a:xfrm>
          <a:prstGeom prst="rect">
            <a:avLst/>
          </a:prstGeom>
          <a:noFill/>
          <a:ln>
            <a:noFill/>
          </a:ln>
        </p:spPr>
        <p:txBody>
          <a:bodyPr wrap="none" lIns="0" tIns="0" rIns="0" bIns="0" anchor="t" anchorCtr="0">
            <a:spAutoFit/>
          </a:bodyPr>
          <a:lstStyle/>
          <a:p>
            <a:r>
              <a:rPr sz="1500" b="0">
                <a:solidFill>
                  <a:srgbClr val="191919"/>
                </a:solidFill>
                <a:latin typeface="Aptos"/>
              </a:rPr>
              <a:t>The selector is useful when it approaches VBS</a:t>
            </a:r>
          </a:p>
        </p:txBody>
      </p:sp>
      <p:sp>
        <p:nvSpPr>
          <p:cNvPr id="24" name="TextBox 24"/>
          <p:cNvSpPr txBox="1"/>
          <p:nvPr/>
        </p:nvSpPr>
        <p:spPr>
          <a:xfrm>
            <a:off x="769620" y="5614988"/>
            <a:ext cx="4778312" cy="440055"/>
          </a:xfrm>
          <a:prstGeom prst="rect">
            <a:avLst/>
          </a:prstGeom>
          <a:noFill/>
          <a:ln>
            <a:noFill/>
          </a:ln>
        </p:spPr>
        <p:txBody>
          <a:bodyPr wrap="none" lIns="0" tIns="0" rIns="0" bIns="0" anchor="t" anchorCtr="0">
            <a:spAutoFit/>
          </a:bodyPr>
          <a:lstStyle/>
          <a:p>
            <a:r>
              <a:rPr sz="1500" b="0">
                <a:solidFill>
                  <a:srgbClr val="191919"/>
                </a:solidFill>
                <a:latin typeface="Aptos"/>
              </a:rPr>
              <a:t>without running every algorithm.</a:t>
            </a:r>
          </a:p>
        </p:txBody>
      </p:sp>
      <p:sp>
        <p:nvSpPr>
          <p:cNvPr id="25" name="Line 2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7" name="Freeform 2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Rectangle 27"/>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4/24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Algorithm Selection Background</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task is framed through algorithm selection, adaptive sorting, and learned performance prediction.</a:t>
            </a:r>
          </a:p>
        </p:txBody>
      </p:sp>
      <p:sp>
        <p:nvSpPr>
          <p:cNvPr id="7" name="Freeform 7"/>
          <p:cNvSpPr/>
          <p:nvPr/>
        </p:nvSpPr>
        <p:spPr>
          <a:xfrm>
            <a:off x="6858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960120" y="1795462"/>
            <a:ext cx="3068841" cy="440055"/>
          </a:xfrm>
          <a:prstGeom prst="rect">
            <a:avLst/>
          </a:prstGeom>
          <a:noFill/>
          <a:ln>
            <a:noFill/>
          </a:ln>
        </p:spPr>
        <p:txBody>
          <a:bodyPr wrap="none" lIns="0" tIns="0" rIns="0" bIns="0" anchor="t" anchorCtr="0">
            <a:spAutoFit/>
          </a:bodyPr>
          <a:lstStyle/>
          <a:p>
            <a:pPr algn="l"/>
            <a:r>
              <a:rPr lang="en-US" sz="2200" b="1" dirty="0">
                <a:solidFill>
                  <a:srgbClr val="191919"/>
                </a:solidFill>
                <a:latin typeface="Aptos Display"/>
                <a:ea typeface="Anthropic Sans"/>
                <a:cs typeface="Anthropic Sans"/>
              </a:rPr>
              <a:t>Algorithm selection</a:t>
            </a:r>
          </a:p>
        </p:txBody>
      </p:sp>
      <p:sp>
        <p:nvSpPr>
          <p:cNvPr id="9" name="TextBox 9"/>
          <p:cNvSpPr txBox="1"/>
          <p:nvPr/>
        </p:nvSpPr>
        <p:spPr>
          <a:xfrm>
            <a:off x="962406" y="2434590"/>
            <a:ext cx="2946363" cy="352044"/>
          </a:xfrm>
          <a:prstGeom prst="rect">
            <a:avLst/>
          </a:prstGeom>
          <a:noFill/>
          <a:ln>
            <a:noFill/>
          </a:ln>
        </p:spPr>
        <p:txBody>
          <a:bodyPr wrap="none" lIns="0" tIns="0" rIns="0" bIns="0" anchor="t" anchorCtr="0">
            <a:spAutoFit/>
          </a:bodyPr>
          <a:lstStyle/>
          <a:p>
            <a:pPr algn="l"/>
            <a:r>
              <a:rPr lang="en-US" sz="1600" dirty="0" b="0">
                <a:solidFill>
                  <a:srgbClr val="566987"/>
                </a:solidFill>
                <a:latin typeface="Aptos"/>
                <a:ea typeface="Anthropic Sans"/>
                <a:cs typeface="Anthropic Sans"/>
              </a:rPr>
              <a:t>Rice formalized choosing</a:t>
            </a:r>
          </a:p>
        </p:txBody>
      </p:sp>
      <p:sp>
        <p:nvSpPr>
          <p:cNvPr id="10" name="TextBox 10"/>
          <p:cNvSpPr txBox="1"/>
          <p:nvPr/>
        </p:nvSpPr>
        <p:spPr>
          <a:xfrm>
            <a:off x="962406" y="2758440"/>
            <a:ext cx="2611069" cy="352044"/>
          </a:xfrm>
          <a:prstGeom prst="rect">
            <a:avLst/>
          </a:prstGeom>
          <a:noFill/>
          <a:ln>
            <a:noFill/>
          </a:ln>
        </p:spPr>
        <p:txBody>
          <a:bodyPr wrap="none" lIns="0" tIns="0" rIns="0" bIns="0" anchor="t" anchorCtr="0">
            <a:spAutoFit/>
          </a:bodyPr>
          <a:lstStyle/>
          <a:p>
            <a:pPr algn="l"/>
            <a:r>
              <a:rPr lang="en-US" sz="1600" dirty="0" b="0">
                <a:solidFill>
                  <a:srgbClr val="566987"/>
                </a:solidFill>
                <a:latin typeface="Aptos"/>
                <a:ea typeface="Anthropic Sans"/>
                <a:cs typeface="Anthropic Sans"/>
              </a:rPr>
              <a:t>a solver from problem</a:t>
            </a:r>
          </a:p>
        </p:txBody>
      </p:sp>
      <p:sp>
        <p:nvSpPr>
          <p:cNvPr id="11" name="TextBox 11"/>
          <p:cNvSpPr txBox="1"/>
          <p:nvPr/>
        </p:nvSpPr>
        <p:spPr>
          <a:xfrm>
            <a:off x="962406" y="3082290"/>
            <a:ext cx="1217752" cy="352044"/>
          </a:xfrm>
          <a:prstGeom prst="rect">
            <a:avLst/>
          </a:prstGeom>
          <a:noFill/>
          <a:ln>
            <a:noFill/>
          </a:ln>
        </p:spPr>
        <p:txBody>
          <a:bodyPr wrap="none" lIns="0" tIns="0" rIns="0" bIns="0" anchor="t" anchorCtr="0">
            <a:spAutoFit/>
          </a:bodyPr>
          <a:lstStyle/>
          <a:p>
            <a:pPr algn="l"/>
            <a:r>
              <a:rPr lang="en-US" sz="1600" dirty="0" b="0">
                <a:solidFill>
                  <a:srgbClr val="566987"/>
                </a:solidFill>
                <a:latin typeface="Aptos"/>
                <a:ea typeface="Anthropic Sans"/>
                <a:cs typeface="Anthropic Sans"/>
              </a:rPr>
              <a:t>features.</a:t>
            </a:r>
          </a:p>
        </p:txBody>
      </p:sp>
      <p:sp>
        <p:nvSpPr>
          <p:cNvPr id="12" name="TextBox 12"/>
          <p:cNvSpPr txBox="1"/>
          <p:nvPr/>
        </p:nvSpPr>
        <p:spPr>
          <a:xfrm>
            <a:off x="963549" y="4040029"/>
            <a:ext cx="2741514" cy="308039"/>
          </a:xfrm>
          <a:prstGeom prst="rect">
            <a:avLst/>
          </a:prstGeom>
          <a:noFill/>
          <a:ln>
            <a:noFill/>
          </a:ln>
        </p:spPr>
        <p:txBody>
          <a:bodyPr wrap="none" lIns="0" tIns="0" rIns="0" bIns="0" anchor="t" anchorCtr="0">
            <a:spAutoFit/>
          </a:bodyPr>
          <a:lstStyle/>
          <a:p>
            <a:r>
              <a:rPr sz="1400" b="1">
                <a:solidFill>
                  <a:srgbClr val="191919"/>
                </a:solidFill>
                <a:latin typeface="Aptos"/>
              </a:rPr>
              <a:t>In this thesis:</a:t>
            </a:r>
          </a:p>
        </p:txBody>
      </p:sp>
      <p:sp>
        <p:nvSpPr>
          <p:cNvPr id="13" name="TextBox 13"/>
          <p:cNvSpPr txBox="1"/>
          <p:nvPr/>
        </p:nvSpPr>
        <p:spPr>
          <a:xfrm>
            <a:off x="963549" y="4344829"/>
            <a:ext cx="2963170" cy="308039"/>
          </a:xfrm>
          <a:prstGeom prst="rect">
            <a:avLst/>
          </a:prstGeom>
          <a:noFill/>
          <a:ln>
            <a:noFill/>
          </a:ln>
        </p:spPr>
        <p:txBody>
          <a:bodyPr wrap="none" lIns="0" tIns="0" rIns="0" bIns="0" anchor="t" anchorCtr="0">
            <a:spAutoFit/>
          </a:bodyPr>
          <a:lstStyle/>
          <a:p>
            <a:r>
              <a:rPr sz="1400" b="0">
                <a:solidFill>
                  <a:srgbClr val="191919"/>
                </a:solidFill>
                <a:latin typeface="Aptos"/>
              </a:rPr>
              <a:t>sorting choice as supervised algorithm selection.</a:t>
            </a:r>
          </a:p>
        </p:txBody>
      </p:sp>
      <p:sp>
        <p:nvSpPr>
          <p:cNvPr id="14" name="Freeform 14"/>
          <p:cNvSpPr/>
          <p:nvPr/>
        </p:nvSpPr>
        <p:spPr>
          <a:xfrm>
            <a:off x="44577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5" name="TextBox 15"/>
          <p:cNvSpPr txBox="1"/>
          <p:nvPr/>
        </p:nvSpPr>
        <p:spPr>
          <a:xfrm>
            <a:off x="4732020" y="1795462"/>
            <a:ext cx="2641047" cy="440055"/>
          </a:xfrm>
          <a:prstGeom prst="rect">
            <a:avLst/>
          </a:prstGeom>
          <a:noFill/>
          <a:ln>
            <a:noFill/>
          </a:ln>
        </p:spPr>
        <p:txBody>
          <a:bodyPr wrap="none" lIns="0" tIns="0" rIns="0" bIns="0" anchor="t" anchorCtr="0">
            <a:spAutoFit/>
          </a:bodyPr>
          <a:lstStyle/>
          <a:p>
            <a:pPr algn="l"/>
            <a:r>
              <a:rPr lang="en-US" sz="2200" b="1" dirty="0">
                <a:solidFill>
                  <a:srgbClr val="191919"/>
                </a:solidFill>
                <a:latin typeface="Aptos Display"/>
                <a:ea typeface="Anthropic Sans"/>
                <a:cs typeface="Anthropic Sans"/>
              </a:rPr>
              <a:t>Adaptive sorting</a:t>
            </a:r>
          </a:p>
        </p:txBody>
      </p:sp>
      <p:sp>
        <p:nvSpPr>
          <p:cNvPr id="16" name="TextBox 16"/>
          <p:cNvSpPr txBox="1"/>
          <p:nvPr/>
        </p:nvSpPr>
        <p:spPr>
          <a:xfrm>
            <a:off x="4734306" y="2434590"/>
            <a:ext cx="3059288" cy="352044"/>
          </a:xfrm>
          <a:prstGeom prst="rect">
            <a:avLst/>
          </a:prstGeom>
          <a:noFill/>
          <a:ln>
            <a:noFill/>
          </a:ln>
        </p:spPr>
        <p:txBody>
          <a:bodyPr wrap="none" lIns="0" tIns="0" rIns="0" bIns="0" anchor="t" anchorCtr="0">
            <a:spAutoFit/>
          </a:bodyPr>
          <a:lstStyle/>
          <a:p>
            <a:r>
              <a:rPr sz="1600" b="0">
                <a:solidFill>
                  <a:srgbClr val="566987"/>
                </a:solidFill>
                <a:latin typeface="Aptos"/>
              </a:rPr>
              <a:t>timsort and related work</a:t>
            </a:r>
          </a:p>
        </p:txBody>
      </p:sp>
      <p:sp>
        <p:nvSpPr>
          <p:cNvPr id="17" name="TextBox 17"/>
          <p:cNvSpPr txBox="1"/>
          <p:nvPr/>
        </p:nvSpPr>
        <p:spPr>
          <a:xfrm>
            <a:off x="4734306" y="2758440"/>
            <a:ext cx="2926080" cy="352044"/>
          </a:xfrm>
          <a:prstGeom prst="rect">
            <a:avLst/>
          </a:prstGeom>
          <a:noFill/>
          <a:ln>
            <a:noFill/>
          </a:ln>
        </p:spPr>
        <p:txBody>
          <a:bodyPr wrap="none" lIns="0" tIns="0" rIns="0" bIns="0" anchor="t" anchorCtr="0">
            <a:spAutoFit/>
          </a:bodyPr>
          <a:lstStyle/>
          <a:p>
            <a:pPr algn="l"/>
            <a:r>
              <a:rPr lang="en-US" sz="1600" dirty="0" b="0">
                <a:solidFill>
                  <a:srgbClr val="566987"/>
                </a:solidFill>
                <a:latin typeface="Aptos"/>
                <a:ea typeface="Anthropic Sans"/>
                <a:cs typeface="Anthropic Sans"/>
              </a:rPr>
              <a:t>exploit runs and existing</a:t>
            </a:r>
          </a:p>
        </p:txBody>
      </p:sp>
      <p:sp>
        <p:nvSpPr>
          <p:cNvPr id="18" name="TextBox 18"/>
          <p:cNvSpPr txBox="1"/>
          <p:nvPr/>
        </p:nvSpPr>
        <p:spPr>
          <a:xfrm>
            <a:off x="4734306" y="3082290"/>
            <a:ext cx="1702384" cy="352044"/>
          </a:xfrm>
          <a:prstGeom prst="rect">
            <a:avLst/>
          </a:prstGeom>
          <a:noFill/>
          <a:ln>
            <a:noFill/>
          </a:ln>
        </p:spPr>
        <p:txBody>
          <a:bodyPr wrap="none" lIns="0" tIns="0" rIns="0" bIns="0" anchor="t" anchorCtr="0">
            <a:spAutoFit/>
          </a:bodyPr>
          <a:lstStyle/>
          <a:p>
            <a:pPr algn="l"/>
            <a:r>
              <a:rPr lang="en-US" sz="1600" dirty="0" b="0">
                <a:solidFill>
                  <a:srgbClr val="566987"/>
                </a:solidFill>
                <a:latin typeface="Aptos"/>
                <a:ea typeface="Anthropic Sans"/>
                <a:cs typeface="Anthropic Sans"/>
              </a:rPr>
              <a:t>order in data.</a:t>
            </a:r>
          </a:p>
        </p:txBody>
      </p:sp>
      <p:sp>
        <p:nvSpPr>
          <p:cNvPr id="19" name="TextBox 19"/>
          <p:cNvSpPr txBox="1"/>
          <p:nvPr/>
        </p:nvSpPr>
        <p:spPr>
          <a:xfrm>
            <a:off x="4735449" y="4040029"/>
            <a:ext cx="3049720" cy="308039"/>
          </a:xfrm>
          <a:prstGeom prst="rect">
            <a:avLst/>
          </a:prstGeom>
          <a:noFill/>
          <a:ln>
            <a:noFill/>
          </a:ln>
        </p:spPr>
        <p:txBody>
          <a:bodyPr wrap="none" lIns="0" tIns="0" rIns="0" bIns="0" anchor="t" anchorCtr="0">
            <a:spAutoFit/>
          </a:bodyPr>
          <a:lstStyle/>
          <a:p>
            <a:r>
              <a:rPr sz="1400" b="1">
                <a:solidFill>
                  <a:srgbClr val="191919"/>
                </a:solidFill>
                <a:latin typeface="Aptos"/>
              </a:rPr>
              <a:t>In this thesis:</a:t>
            </a:r>
          </a:p>
        </p:txBody>
      </p:sp>
      <p:sp>
        <p:nvSpPr>
          <p:cNvPr id="20" name="TextBox 20"/>
          <p:cNvSpPr txBox="1"/>
          <p:nvPr/>
        </p:nvSpPr>
        <p:spPr>
          <a:xfrm>
            <a:off x="4735449" y="4344829"/>
            <a:ext cx="2581523" cy="308039"/>
          </a:xfrm>
          <a:prstGeom prst="rect">
            <a:avLst/>
          </a:prstGeom>
          <a:noFill/>
          <a:ln>
            <a:noFill/>
          </a:ln>
        </p:spPr>
        <p:txBody>
          <a:bodyPr wrap="none" lIns="0" tIns="0" rIns="0" bIns="0" anchor="t" anchorCtr="0">
            <a:spAutoFit/>
          </a:bodyPr>
          <a:lstStyle/>
          <a:p>
            <a:r>
              <a:rPr sz="1400" b="0">
                <a:solidFill>
                  <a:srgbClr val="191919"/>
                </a:solidFill>
                <a:latin typeface="Aptos"/>
              </a:rPr>
              <a:t>structural descriptors expose these signals.</a:t>
            </a:r>
          </a:p>
        </p:txBody>
      </p:sp>
      <p:sp>
        <p:nvSpPr>
          <p:cNvPr id="21" name="Freeform 21"/>
          <p:cNvSpPr/>
          <p:nvPr/>
        </p:nvSpPr>
        <p:spPr>
          <a:xfrm>
            <a:off x="82296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22" name="TextBox 22"/>
          <p:cNvSpPr txBox="1"/>
          <p:nvPr/>
        </p:nvSpPr>
        <p:spPr>
          <a:xfrm>
            <a:off x="8503920" y="1795462"/>
            <a:ext cx="3201916" cy="440055"/>
          </a:xfrm>
          <a:prstGeom prst="rect">
            <a:avLst/>
          </a:prstGeom>
          <a:noFill/>
          <a:ln>
            <a:noFill/>
          </a:ln>
        </p:spPr>
        <p:txBody>
          <a:bodyPr wrap="none" lIns="0" tIns="0" rIns="0" bIns="0" anchor="t" anchorCtr="0">
            <a:spAutoFit/>
          </a:bodyPr>
          <a:lstStyle/>
          <a:p>
            <a:pPr algn="l"/>
            <a:r>
              <a:rPr lang="en-US" sz="2200" b="1" dirty="0">
                <a:solidFill>
                  <a:srgbClr val="191919"/>
                </a:solidFill>
                <a:latin typeface="Aptos Display"/>
                <a:ea typeface="Anthropic Sans"/>
                <a:cs typeface="Anthropic Sans"/>
              </a:rPr>
              <a:t>Performance models</a:t>
            </a:r>
          </a:p>
        </p:txBody>
      </p:sp>
      <p:sp>
        <p:nvSpPr>
          <p:cNvPr id="23" name="TextBox 23"/>
          <p:cNvSpPr txBox="1"/>
          <p:nvPr/>
        </p:nvSpPr>
        <p:spPr>
          <a:xfrm>
            <a:off x="8506206" y="2434590"/>
            <a:ext cx="2841799" cy="352044"/>
          </a:xfrm>
          <a:prstGeom prst="rect">
            <a:avLst/>
          </a:prstGeom>
          <a:noFill/>
          <a:ln>
            <a:noFill/>
          </a:ln>
        </p:spPr>
        <p:txBody>
          <a:bodyPr wrap="none" lIns="0" tIns="0" rIns="0" bIns="0" anchor="t" anchorCtr="0">
            <a:spAutoFit/>
          </a:bodyPr>
          <a:lstStyle/>
          <a:p>
            <a:pPr algn="l"/>
            <a:r>
              <a:rPr lang="en-US" sz="1600" dirty="0" b="0">
                <a:solidFill>
                  <a:srgbClr val="566987"/>
                </a:solidFill>
                <a:latin typeface="Aptos"/>
                <a:ea typeface="Anthropic Sans"/>
                <a:cs typeface="Anthropic Sans"/>
              </a:rPr>
              <a:t>ML can predict runtime</a:t>
            </a:r>
          </a:p>
        </p:txBody>
      </p:sp>
      <p:sp>
        <p:nvSpPr>
          <p:cNvPr id="24" name="TextBox 24"/>
          <p:cNvSpPr txBox="1"/>
          <p:nvPr/>
        </p:nvSpPr>
        <p:spPr>
          <a:xfrm>
            <a:off x="8506206" y="2758440"/>
            <a:ext cx="3289554" cy="352044"/>
          </a:xfrm>
          <a:prstGeom prst="rect">
            <a:avLst/>
          </a:prstGeom>
          <a:noFill/>
          <a:ln>
            <a:noFill/>
          </a:ln>
        </p:spPr>
        <p:txBody>
          <a:bodyPr wrap="none" lIns="0" tIns="0" rIns="0" bIns="0" anchor="t" anchorCtr="0">
            <a:spAutoFit/>
          </a:bodyPr>
          <a:lstStyle/>
          <a:p>
            <a:pPr algn="l"/>
            <a:r>
              <a:rPr lang="en-US" sz="1600" dirty="0" b="0">
                <a:solidFill>
                  <a:srgbClr val="566987"/>
                </a:solidFill>
                <a:latin typeface="Aptos"/>
                <a:ea typeface="Anthropic Sans"/>
                <a:cs typeface="Anthropic Sans"/>
              </a:rPr>
              <a:t>behavior when features are</a:t>
            </a:r>
          </a:p>
        </p:txBody>
      </p:sp>
      <p:sp>
        <p:nvSpPr>
          <p:cNvPr id="25" name="TextBox 25"/>
          <p:cNvSpPr txBox="1"/>
          <p:nvPr/>
        </p:nvSpPr>
        <p:spPr>
          <a:xfrm>
            <a:off x="8506206" y="3082290"/>
            <a:ext cx="1690268" cy="352044"/>
          </a:xfrm>
          <a:prstGeom prst="rect">
            <a:avLst/>
          </a:prstGeom>
          <a:noFill/>
          <a:ln>
            <a:noFill/>
          </a:ln>
        </p:spPr>
        <p:txBody>
          <a:bodyPr wrap="none" lIns="0" tIns="0" rIns="0" bIns="0" anchor="t" anchorCtr="0">
            <a:spAutoFit/>
          </a:bodyPr>
          <a:lstStyle/>
          <a:p>
            <a:pPr algn="l"/>
            <a:r>
              <a:rPr lang="en-US" sz="1600" dirty="0" b="0">
                <a:solidFill>
                  <a:srgbClr val="566987"/>
                </a:solidFill>
                <a:latin typeface="Aptos"/>
                <a:ea typeface="Anthropic Sans"/>
                <a:cs typeface="Anthropic Sans"/>
              </a:rPr>
              <a:t>cheap enough.</a:t>
            </a:r>
          </a:p>
        </p:txBody>
      </p:sp>
      <p:sp>
        <p:nvSpPr>
          <p:cNvPr id="26" name="TextBox 26"/>
          <p:cNvSpPr txBox="1"/>
          <p:nvPr/>
        </p:nvSpPr>
        <p:spPr>
          <a:xfrm>
            <a:off x="8507349" y="4040029"/>
            <a:ext cx="2989288" cy="308039"/>
          </a:xfrm>
          <a:prstGeom prst="rect">
            <a:avLst/>
          </a:prstGeom>
          <a:noFill/>
          <a:ln>
            <a:noFill/>
          </a:ln>
        </p:spPr>
        <p:txBody>
          <a:bodyPr wrap="none" lIns="0" tIns="0" rIns="0" bIns="0" anchor="t" anchorCtr="0">
            <a:spAutoFit/>
          </a:bodyPr>
          <a:lstStyle/>
          <a:p>
            <a:r>
              <a:rPr sz="1400" b="1">
                <a:solidFill>
                  <a:srgbClr val="191919"/>
                </a:solidFill>
                <a:latin typeface="Aptos"/>
              </a:rPr>
              <a:t>In this thesis:</a:t>
            </a:r>
          </a:p>
        </p:txBody>
      </p:sp>
      <p:sp>
        <p:nvSpPr>
          <p:cNvPr id="27" name="TextBox 27"/>
          <p:cNvSpPr txBox="1"/>
          <p:nvPr/>
        </p:nvSpPr>
        <p:spPr>
          <a:xfrm>
            <a:off x="8507349" y="4344829"/>
            <a:ext cx="2496712" cy="308039"/>
          </a:xfrm>
          <a:prstGeom prst="rect">
            <a:avLst/>
          </a:prstGeom>
          <a:noFill/>
          <a:ln>
            <a:noFill/>
          </a:ln>
        </p:spPr>
        <p:txBody>
          <a:bodyPr wrap="none" lIns="0" tIns="0" rIns="0" bIns="0" anchor="t" anchorCtr="0">
            <a:spAutoFit/>
          </a:bodyPr>
          <a:lstStyle/>
          <a:p>
            <a:r>
              <a:rPr sz="1400" b="0">
                <a:solidFill>
                  <a:srgbClr val="191919"/>
                </a:solidFill>
                <a:latin typeface="Aptos"/>
              </a:rPr>
              <a:t>evaluate by regret, not only label accuracy.</a:t>
            </a:r>
          </a:p>
        </p:txBody>
      </p:sp>
      <p:sp>
        <p:nvSpPr>
          <p:cNvPr id="28" name="TextBox 28"/>
          <p:cNvSpPr txBox="1"/>
          <p:nvPr/>
        </p:nvSpPr>
        <p:spPr>
          <a:xfrm>
            <a:off x="674370" y="5233988"/>
            <a:ext cx="6053221" cy="440055"/>
          </a:xfrm>
          <a:prstGeom prst="rect">
            <a:avLst/>
          </a:prstGeom>
          <a:noFill/>
          <a:ln>
            <a:noFill/>
          </a:ln>
        </p:spPr>
        <p:txBody>
          <a:bodyPr wrap="none" lIns="0" tIns="0" rIns="0" bIns="0" anchor="t" anchorCtr="0">
            <a:spAutoFit/>
          </a:bodyPr>
          <a:lstStyle/>
          <a:p>
            <a:r>
              <a:rPr sz="1400" b="0">
                <a:solidFill>
                  <a:srgbClr val="191919"/>
                </a:solidFill>
                <a:latin typeface="Aptos"/>
              </a:rPr>
              <a:t>The contribution is a measured selector</a:t>
            </a:r>
          </a:p>
        </p:txBody>
      </p:sp>
      <p:sp>
        <p:nvSpPr>
          <p:cNvPr id="29" name="TextBox 29"/>
          <p:cNvSpPr txBox="1"/>
          <p:nvPr/>
        </p:nvSpPr>
        <p:spPr>
          <a:xfrm>
            <a:off x="674370" y="5614988"/>
            <a:ext cx="7564864" cy="440055"/>
          </a:xfrm>
          <a:prstGeom prst="rect">
            <a:avLst/>
          </a:prstGeom>
          <a:noFill/>
          <a:ln>
            <a:noFill/>
          </a:ln>
        </p:spPr>
        <p:txBody>
          <a:bodyPr wrap="none" lIns="0" tIns="0" rIns="0" bIns="0" anchor="t" anchorCtr="0">
            <a:spAutoFit/>
          </a:bodyPr>
          <a:lstStyle/>
          <a:p>
            <a:r>
              <a:rPr sz="1400" b="0">
                <a:solidFill>
                  <a:srgbClr val="191919"/>
                </a:solidFill>
                <a:latin typeface="Aptos"/>
              </a:rPr>
              <a:t>around existing sorting implementations.</a:t>
            </a:r>
          </a:p>
        </p:txBody>
      </p:sp>
      <p:sp>
        <p:nvSpPr>
          <p:cNvPr id="30" name="Line 3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32" name="Freeform 3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33" name="Rectangle 3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5/24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Research objective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dirty="0" b="0">
                <a:solidFill>
                  <a:srgbClr val="191919"/>
                </a:solidFill>
                <a:latin typeface="Aptos"/>
                <a:ea typeface="Anthropic Sans"/>
                <a:cs typeface="Anthropic Sans"/>
              </a:rPr>
              <a:t>Build a selector that is cheap enough to run before sorting and close most of the practical runtime gap.</a:t>
            </a:r>
          </a:p>
        </p:txBody>
      </p:sp>
      <p:sp>
        <p:nvSpPr>
          <p:cNvPr id="7" name="TextBox 7"/>
          <p:cNvSpPr txBox="1"/>
          <p:nvPr/>
        </p:nvSpPr>
        <p:spPr>
          <a:xfrm>
            <a:off x="838962" y="1564005"/>
            <a:ext cx="8862383" cy="704088"/>
          </a:xfrm>
          <a:prstGeom prst="rect">
            <a:avLst/>
          </a:prstGeom>
          <a:noFill/>
          <a:ln>
            <a:noFill/>
          </a:ln>
        </p:spPr>
        <p:txBody>
          <a:bodyPr wrap="none" lIns="0" tIns="0" rIns="0" bIns="0" anchor="t" anchorCtr="0">
            <a:spAutoFit/>
          </a:bodyPr>
          <a:lstStyle/>
          <a:p>
            <a:r>
              <a:rPr sz="2100" b="1">
                <a:solidFill>
                  <a:srgbClr val="191919"/>
                </a:solidFill>
                <a:latin typeface="Aptos Display"/>
              </a:rPr>
              <a:t>Can structural descriptors predict</a:t>
            </a:r>
          </a:p>
        </p:txBody>
      </p:sp>
      <p:sp>
        <p:nvSpPr>
          <p:cNvPr id="8" name="TextBox 8"/>
          <p:cNvSpPr txBox="1"/>
          <p:nvPr/>
        </p:nvSpPr>
        <p:spPr>
          <a:xfrm>
            <a:off x="838962" y="2087880"/>
            <a:ext cx="6931678" cy="704088"/>
          </a:xfrm>
          <a:prstGeom prst="rect">
            <a:avLst/>
          </a:prstGeom>
          <a:noFill/>
          <a:ln>
            <a:noFill/>
          </a:ln>
        </p:spPr>
        <p:txBody>
          <a:bodyPr wrap="none" lIns="0" tIns="0" rIns="0" bIns="0" anchor="t" anchorCtr="0">
            <a:spAutoFit/>
          </a:bodyPr>
          <a:lstStyle/>
          <a:p>
            <a:r>
              <a:rPr sz="2100" b="1">
                <a:solidFill>
                  <a:srgbClr val="191919"/>
                </a:solidFill>
                <a:latin typeface="Aptos Display"/>
              </a:rPr>
              <a:t>the fastest sorting implementation before execution?</a:t>
            </a:r>
          </a:p>
        </p:txBody>
      </p:sp>
      <p:sp>
        <p:nvSpPr>
          <p:cNvPr id="9" name="Freeform 9"/>
          <p:cNvSpPr/>
          <p:nvPr/>
        </p:nvSpPr>
        <p:spPr>
          <a:xfrm>
            <a:off x="85725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1112520" y="3490912"/>
            <a:ext cx="1481642"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Accuracy</a:t>
            </a:r>
          </a:p>
        </p:txBody>
      </p:sp>
      <p:sp>
        <p:nvSpPr>
          <p:cNvPr id="11" name="TextBox 11"/>
          <p:cNvSpPr txBox="1"/>
          <p:nvPr/>
        </p:nvSpPr>
        <p:spPr>
          <a:xfrm>
            <a:off x="1114806" y="3977640"/>
            <a:ext cx="2613436" cy="352044"/>
          </a:xfrm>
          <a:prstGeom prst="rect">
            <a:avLst/>
          </a:prstGeom>
          <a:noFill/>
          <a:ln>
            <a:noFill/>
          </a:ln>
        </p:spPr>
        <p:txBody>
          <a:bodyPr wrap="none" lIns="0" tIns="0" rIns="0" bIns="0" anchor="t" anchorCtr="0">
            <a:spAutoFit/>
          </a:bodyPr>
          <a:lstStyle/>
          <a:p>
            <a:pPr algn="l"/>
            <a:r>
              <a:rPr lang="en-US" sz="1400" dirty="0" b="0">
                <a:solidFill>
                  <a:srgbClr val="566987"/>
                </a:solidFill>
                <a:latin typeface="Aptos"/>
                <a:ea typeface="Anthropic Sans"/>
                <a:cs typeface="Anthropic Sans"/>
              </a:rPr>
              <a:t>Does the label match?</a:t>
            </a:r>
          </a:p>
        </p:txBody>
      </p:sp>
      <p:sp>
        <p:nvSpPr>
          <p:cNvPr id="12" name="Freeform 12"/>
          <p:cNvSpPr/>
          <p:nvPr/>
        </p:nvSpPr>
        <p:spPr>
          <a:xfrm>
            <a:off x="4524375"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4779645" y="3490912"/>
            <a:ext cx="1131799"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Regret</a:t>
            </a:r>
          </a:p>
        </p:txBody>
      </p:sp>
      <p:sp>
        <p:nvSpPr>
          <p:cNvPr id="14" name="TextBox 14"/>
          <p:cNvSpPr txBox="1"/>
          <p:nvPr/>
        </p:nvSpPr>
        <p:spPr>
          <a:xfrm>
            <a:off x="4781931" y="3977640"/>
            <a:ext cx="2941059" cy="352044"/>
          </a:xfrm>
          <a:prstGeom prst="rect">
            <a:avLst/>
          </a:prstGeom>
          <a:noFill/>
          <a:ln>
            <a:noFill/>
          </a:ln>
        </p:spPr>
        <p:txBody>
          <a:bodyPr wrap="none" lIns="0" tIns="0" rIns="0" bIns="0" anchor="t" anchorCtr="0">
            <a:spAutoFit/>
          </a:bodyPr>
          <a:lstStyle/>
          <a:p>
            <a:pPr algn="l"/>
            <a:r>
              <a:rPr lang="en-US" sz="1400" dirty="0" b="0">
                <a:solidFill>
                  <a:srgbClr val="566987"/>
                </a:solidFill>
                <a:latin typeface="Aptos"/>
                <a:ea typeface="Anthropic Sans"/>
                <a:cs typeface="Anthropic Sans"/>
              </a:rPr>
              <a:t>How costly is a mistake?</a:t>
            </a:r>
          </a:p>
        </p:txBody>
      </p:sp>
      <p:sp>
        <p:nvSpPr>
          <p:cNvPr id="15" name="Freeform 15"/>
          <p:cNvSpPr/>
          <p:nvPr/>
        </p:nvSpPr>
        <p:spPr>
          <a:xfrm>
            <a:off x="819150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446770" y="3490912"/>
            <a:ext cx="2181330"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Runtime value</a:t>
            </a:r>
          </a:p>
        </p:txBody>
      </p:sp>
      <p:sp>
        <p:nvSpPr>
          <p:cNvPr id="17" name="TextBox 17"/>
          <p:cNvSpPr txBox="1"/>
          <p:nvPr/>
        </p:nvSpPr>
        <p:spPr>
          <a:xfrm>
            <a:off x="8449056" y="3977640"/>
            <a:ext cx="2306592" cy="352044"/>
          </a:xfrm>
          <a:prstGeom prst="rect">
            <a:avLst/>
          </a:prstGeom>
          <a:noFill/>
          <a:ln>
            <a:noFill/>
          </a:ln>
        </p:spPr>
        <p:txBody>
          <a:bodyPr wrap="none" lIns="0" tIns="0" rIns="0" bIns="0" anchor="t" anchorCtr="0">
            <a:spAutoFit/>
          </a:bodyPr>
          <a:lstStyle/>
          <a:p>
            <a:pPr algn="l"/>
            <a:r>
              <a:rPr lang="en-US" sz="1400" dirty="0" b="0">
                <a:solidFill>
                  <a:srgbClr val="566987"/>
                </a:solidFill>
                <a:latin typeface="Aptos"/>
                <a:ea typeface="Anthropic Sans"/>
                <a:cs typeface="Anthropic Sans"/>
              </a:rPr>
              <a:t>How close to VBS?</a:t>
            </a:r>
          </a:p>
        </p:txBody>
      </p:sp>
      <p:sp>
        <p:nvSpPr>
          <p:cNvPr id="18" name="TextBox 18"/>
          <p:cNvSpPr txBox="1"/>
          <p:nvPr/>
        </p:nvSpPr>
        <p:spPr>
          <a:xfrm>
            <a:off x="845820" y="5233988"/>
            <a:ext cx="11973606" cy="440055"/>
          </a:xfrm>
          <a:prstGeom prst="rect">
            <a:avLst/>
          </a:prstGeom>
          <a:noFill/>
          <a:ln>
            <a:noFill/>
          </a:ln>
        </p:spPr>
        <p:txBody>
          <a:bodyPr wrap="none" lIns="0" tIns="0" rIns="0" bIns="0" anchor="t" anchorCtr="0">
            <a:spAutoFit/>
          </a:bodyPr>
          <a:lstStyle/>
          <a:p>
            <a:r>
              <a:rPr sz="1400" b="0">
                <a:solidFill>
                  <a:srgbClr val="566987"/>
                </a:solidFill>
                <a:latin typeface="Aptos"/>
              </a:rPr>
              <a:t>This is why the result is evaluated with both model accuracy and runtime regret.</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6/24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dataset spans five real-data domains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corpus contains 1,188,265 labeled arrays from five structurally different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FFFFFF"/>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r>
              <a:t>This evaluates generalization beyond a single workload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7/24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Labels came from measured runtime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dirty="0" b="0">
                <a:solidFill>
                  <a:srgbClr val="191919"/>
                </a:solidFill>
                <a:latin typeface="Aptos"/>
                <a:ea typeface="Anthropic Sans"/>
                <a:cs typeface="Anthropic Sans"/>
              </a:rPr>
              <a:t>Each array was transformed, timed across the portfolio, and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r>
              <a:t>The transformation protocol exposes sorted, reversed, shuffled, quantized, and partially sorted structure.</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8/24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Sixteen O(n) structural features represent each array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feature vector describes size, ordering, repetition, distribution, and robust scale before sorting.</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Size</a:t>
            </a:r>
          </a:p>
        </p:txBody>
      </p:sp>
      <p:sp>
        <p:nvSpPr>
          <p:cNvPr id="10" name="TextBox 10"/>
          <p:cNvSpPr txBox="1"/>
          <p:nvPr/>
        </p:nvSpPr>
        <p:spPr>
          <a:xfrm>
            <a:off x="675360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length</a:t>
            </a:r>
          </a:p>
        </p:txBody>
      </p:sp>
      <p:sp>
        <p:nvSpPr>
          <p:cNvPr id="11" name="TextBox 11"/>
          <p:cNvSpPr txBox="1"/>
          <p:nvPr/>
        </p:nvSpPr>
        <p:spPr>
          <a:xfrm>
            <a:off x="675360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scale</a:t>
            </a:r>
          </a:p>
        </p:txBody>
      </p:sp>
      <p:sp>
        <p:nvSpPr>
          <p:cNvPr id="12" name="TextBox 12"/>
          <p:cNvSpPr txBox="1"/>
          <p:nvPr/>
        </p:nvSpPr>
        <p:spPr>
          <a:xfrm>
            <a:off x="675360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Ordering</a:t>
            </a:r>
          </a:p>
        </p:txBody>
      </p:sp>
      <p:sp>
        <p:nvSpPr>
          <p:cNvPr id="15" name="TextBox 15"/>
          <p:cNvSpPr txBox="1"/>
          <p:nvPr/>
        </p:nvSpPr>
        <p:spPr>
          <a:xfrm>
            <a:off x="921105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sortedness</a:t>
            </a:r>
          </a:p>
        </p:txBody>
      </p:sp>
      <p:sp>
        <p:nvSpPr>
          <p:cNvPr id="16" name="TextBox 16"/>
          <p:cNvSpPr txBox="1"/>
          <p:nvPr/>
        </p:nvSpPr>
        <p:spPr>
          <a:xfrm>
            <a:off x="921105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runs</a:t>
            </a:r>
          </a:p>
        </p:txBody>
      </p:sp>
      <p:sp>
        <p:nvSpPr>
          <p:cNvPr id="17" name="TextBox 17"/>
          <p:cNvSpPr txBox="1"/>
          <p:nvPr/>
        </p:nvSpPr>
        <p:spPr>
          <a:xfrm>
            <a:off x="921105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inversions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r>
              <a:rPr sz="1300" b="0">
                <a:solidFill>
                  <a:srgbClr val="566987"/>
                </a:solidFill>
                <a:latin typeface="Aptos"/>
              </a:rPr>
              <a:t>No timing features are used at prediction time.</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r>
              <a:rPr sz="1300" b="0">
                <a:solidFill>
                  <a:srgbClr val="566987"/>
                </a:solidFill>
                <a:latin typeface="Aptos"/>
              </a:rPr>
              <a:t>The selector sees only structural descriptors.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9/24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Prediction uses only pre-sorting structural features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deployable path extracts features once and predicts one algorithm; portfolio timings are used only for training labels and evaluation.</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r>
              <a:t>This separates the deployable selector from the VBS oracle used only for evaluation.</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10/24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v5 is the general cross-domain selector</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dirty="0" b="0">
                <a:solidFill>
                  <a:srgbClr val="191919"/>
                </a:solidFill>
                <a:latin typeface="Aptos"/>
                <a:ea typeface="Anthropic Sans"/>
                <a:cs typeface="Anthropic Sans"/>
              </a:rPr>
              <a:t>v5 is trained across all domains and predicts among introsort, heapsort, and timsort.</a:t>
            </a:r>
          </a:p>
        </p:txBody>
      </p:sp>
      <p:pic>
        <p:nvPicPr>
          <p:cNvPr id="7" name="Image 7"/>
          <p:cNvPicPr>
            <a:picLocks noChangeAspect="1"/>
          </p:cNvPicPr>
          <p:nvPr/>
        </p:nvPicPr>
        <p:blipFill>
          <a:blip r:embed="rId3"/>
          <a:stretch>
            <a:fillRect/>
          </a:stretch>
        </p:blipFill>
        <p:spPr>
          <a:xfrm>
            <a:off x="698373" y="1381125"/>
            <a:ext cx="7175754" cy="4333875"/>
          </a:xfrm>
          <a:prstGeom prst="rect">
            <a:avLst/>
          </a:prstGeom>
        </p:spPr>
      </p:pic>
      <p:sp>
        <p:nvSpPr>
          <p:cNvPr id="8" name="Freeform 8"/>
          <p:cNvSpPr/>
          <p:nvPr/>
        </p:nvSpPr>
        <p:spPr>
          <a:xfrm>
            <a:off x="8477250" y="161925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923023" y="1910715"/>
            <a:ext cx="187070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Array features</a:t>
            </a:r>
          </a:p>
        </p:txBody>
      </p:sp>
      <p:sp>
        <p:nvSpPr>
          <p:cNvPr id="10" name="Freeform 10"/>
          <p:cNvSpPr/>
          <p:nvPr/>
        </p:nvSpPr>
        <p:spPr>
          <a:xfrm>
            <a:off x="8477250" y="2714625"/>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9132141" y="3006090"/>
            <a:ext cx="145246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XGBoost v5</a:t>
            </a:r>
          </a:p>
        </p:txBody>
      </p:sp>
      <p:sp>
        <p:nvSpPr>
          <p:cNvPr id="12" name="Freeform 12"/>
          <p:cNvSpPr/>
          <p:nvPr/>
        </p:nvSpPr>
        <p:spPr>
          <a:xfrm>
            <a:off x="8477250" y="381000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3" name="TextBox 13"/>
          <p:cNvSpPr txBox="1"/>
          <p:nvPr/>
        </p:nvSpPr>
        <p:spPr>
          <a:xfrm>
            <a:off x="8596274" y="4101465"/>
            <a:ext cx="2524201"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One algorithm choice</a:t>
            </a:r>
          </a:p>
        </p:txBody>
      </p:sp>
      <p:sp>
        <p:nvSpPr>
          <p:cNvPr id="14" name="TextBox 14"/>
          <p:cNvSpPr txBox="1"/>
          <p:nvPr/>
        </p:nvSpPr>
        <p:spPr>
          <a:xfrm>
            <a:off x="8469249" y="5049679"/>
            <a:ext cx="9188255" cy="308039"/>
          </a:xfrm>
          <a:prstGeom prst="rect">
            <a:avLst/>
          </a:prstGeom>
          <a:noFill/>
          <a:ln>
            <a:noFill/>
          </a:ln>
        </p:spPr>
        <p:txBody>
          <a:bodyPr wrap="none" lIns="0" tIns="0" rIns="0" bIns="0" anchor="t" anchorCtr="0">
            <a:spAutoFit/>
          </a:bodyPr>
          <a:lstStyle/>
          <a:p>
            <a:r>
              <a:t>The F1-specific route exists, but it is a separate specialization outside the main v5 result.</a:t>
            </a:r>
          </a:p>
        </p:txBody>
      </p:sp>
      <p:sp>
        <p:nvSpPr>
          <p:cNvPr id="15" name="Line 1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7" name="Freeform 1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8" name="Rectangle 17"/>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11/24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portfolio contains three comparison-based implementations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model chooses among the three sorting implementations measured throughout the thesis.</a:t>
            </a:r>
          </a:p>
        </p:txBody>
      </p:sp>
      <p:sp>
        <p:nvSpPr>
          <p:cNvPr id="7" name="Freeform 7"/>
          <p:cNvSpPr/>
          <p:nvPr/>
        </p:nvSpPr>
        <p:spPr>
          <a:xfrm>
            <a:off x="7620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29462" y="1897380"/>
            <a:ext cx="1395146" cy="704088"/>
          </a:xfrm>
          <a:prstGeom prst="rect">
            <a:avLst/>
          </a:prstGeom>
          <a:noFill/>
          <a:ln>
            <a:noFill/>
          </a:ln>
        </p:spPr>
        <p:txBody>
          <a:bodyPr wrap="none" lIns="0" tIns="0" rIns="0" bIns="0" anchor="t" anchorCtr="0">
            <a:spAutoFit/>
          </a:bodyPr>
          <a:lstStyle/>
          <a:p>
            <a:r>
              <a:t>introsort</a:t>
            </a:r>
          </a:p>
        </p:txBody>
      </p:sp>
      <p:sp>
        <p:nvSpPr>
          <p:cNvPr id="9" name="TextBox 9"/>
          <p:cNvSpPr txBox="1"/>
          <p:nvPr/>
        </p:nvSpPr>
        <p:spPr>
          <a:xfrm>
            <a:off x="1038606" y="2758440"/>
            <a:ext cx="2768575"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general-purpose hybrid</a:t>
            </a:r>
          </a:p>
        </p:txBody>
      </p:sp>
      <p:sp>
        <p:nvSpPr>
          <p:cNvPr id="10" name="TextBox 10"/>
          <p:cNvSpPr txBox="1"/>
          <p:nvPr/>
        </p:nvSpPr>
        <p:spPr>
          <a:xfrm>
            <a:off x="1038606" y="3139440"/>
            <a:ext cx="28412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strong default behavior</a:t>
            </a:r>
          </a:p>
        </p:txBody>
      </p:sp>
      <p:sp>
        <p:nvSpPr>
          <p:cNvPr id="11" name="Freeform 11"/>
          <p:cNvSpPr/>
          <p:nvPr/>
        </p:nvSpPr>
        <p:spPr>
          <a:xfrm>
            <a:off x="447675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46498" y="1945958"/>
            <a:ext cx="2074299" cy="616077"/>
          </a:xfrm>
          <a:prstGeom prst="rect">
            <a:avLst/>
          </a:prstGeom>
          <a:noFill/>
          <a:ln>
            <a:noFill/>
          </a:ln>
        </p:spPr>
        <p:txBody>
          <a:bodyPr wrap="none" lIns="0" tIns="0" rIns="0" bIns="0" anchor="t" anchorCtr="0">
            <a:spAutoFit/>
          </a:bodyPr>
          <a:lstStyle/>
          <a:p>
            <a:pPr algn="l"/>
            <a:r>
              <a:rPr lang="en-US" sz="3150" b="1" dirty="0">
                <a:solidFill>
                  <a:srgbClr val="191919"/>
                </a:solidFill>
                <a:latin typeface="Styrene A"/>
                <a:ea typeface="Styrene A"/>
                <a:cs typeface="Styrene A"/>
              </a:rPr>
              <a:t>Heapsort</a:t>
            </a:r>
          </a:p>
        </p:txBody>
      </p:sp>
      <p:sp>
        <p:nvSpPr>
          <p:cNvPr id="13" name="TextBox 13"/>
          <p:cNvSpPr txBox="1"/>
          <p:nvPr/>
        </p:nvSpPr>
        <p:spPr>
          <a:xfrm>
            <a:off x="4753356" y="2758440"/>
            <a:ext cx="348340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consistent worst-case bound</a:t>
            </a:r>
          </a:p>
        </p:txBody>
      </p:sp>
      <p:sp>
        <p:nvSpPr>
          <p:cNvPr id="14" name="TextBox 14"/>
          <p:cNvSpPr txBox="1"/>
          <p:nvPr/>
        </p:nvSpPr>
        <p:spPr>
          <a:xfrm>
            <a:off x="4753356" y="3139440"/>
            <a:ext cx="29866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often hard to distinguish</a:t>
            </a:r>
          </a:p>
        </p:txBody>
      </p:sp>
      <p:sp>
        <p:nvSpPr>
          <p:cNvPr id="15" name="Freeform 15"/>
          <p:cNvSpPr/>
          <p:nvPr/>
        </p:nvSpPr>
        <p:spPr>
          <a:xfrm>
            <a:off x="81915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458962" y="1897380"/>
            <a:ext cx="942929" cy="704088"/>
          </a:xfrm>
          <a:prstGeom prst="rect">
            <a:avLst/>
          </a:prstGeom>
          <a:noFill/>
          <a:ln>
            <a:noFill/>
          </a:ln>
        </p:spPr>
        <p:txBody>
          <a:bodyPr wrap="none" lIns="0" tIns="0" rIns="0" bIns="0" anchor="t" anchorCtr="0">
            <a:spAutoFit/>
          </a:bodyPr>
          <a:lstStyle/>
          <a:p>
            <a:r>
              <a:t>timsort</a:t>
            </a:r>
          </a:p>
        </p:txBody>
      </p:sp>
      <p:sp>
        <p:nvSpPr>
          <p:cNvPr id="17" name="TextBox 17"/>
          <p:cNvSpPr txBox="1"/>
          <p:nvPr/>
        </p:nvSpPr>
        <p:spPr>
          <a:xfrm>
            <a:off x="8468106" y="275844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adaptive to runs</a:t>
            </a:r>
          </a:p>
        </p:txBody>
      </p:sp>
      <p:sp>
        <p:nvSpPr>
          <p:cNvPr id="18" name="TextBox 18"/>
          <p:cNvSpPr txBox="1"/>
          <p:nvPr/>
        </p:nvSpPr>
        <p:spPr>
          <a:xfrm>
            <a:off x="8468106" y="3139440"/>
            <a:ext cx="3834765"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often clear when data has order</a:t>
            </a:r>
          </a:p>
        </p:txBody>
      </p:sp>
      <p:sp>
        <p:nvSpPr>
          <p:cNvPr id="19" name="TextBox 19"/>
          <p:cNvSpPr txBox="1"/>
          <p:nvPr/>
        </p:nvSpPr>
        <p:spPr>
          <a:xfrm>
            <a:off x="752856" y="5520690"/>
            <a:ext cx="9904049" cy="352044"/>
          </a:xfrm>
          <a:prstGeom prst="rect">
            <a:avLst/>
          </a:prstGeom>
          <a:noFill/>
          <a:ln>
            <a:noFill/>
          </a:ln>
        </p:spPr>
        <p:txBody>
          <a:bodyPr wrap="none" lIns="0" tIns="0" rIns="0" bIns="0" anchor="t" anchorCtr="0">
            <a:spAutoFit/>
          </a:bodyPr>
          <a:lstStyle/>
          <a:p>
            <a:r>
              <a:t>The evaluation measures whether this choice reduces regret against the VBS baseline.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12/24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200" b="1">
                <a:solidFill>
                  <a:srgbClr val="191919"/>
                </a:solidFill>
                <a:latin typeface="Aptos Display"/>
              </a:rPr>
              <a:t>Model evolution separated deployable and leakage-prone designs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v5 design follows from rejected paths, stricter splits, and regret-aware checks.</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r>
              <a:rPr sz="1500" b="1">
                <a:solidFill>
                  <a:srgbClr val="191919"/>
                </a:solidFill>
                <a:latin typeface="Aptos"/>
              </a:rPr>
              <a:t>v1 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r>
              <a:rPr sz="1300" b="0">
                <a:solidFill>
                  <a:srgbClr val="566987"/>
                </a:solidFill>
                <a:latin typeface="Aptos"/>
              </a:rPr>
              <a:t>dominated by size</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r>
              <a:rPr sz="1500" b="1">
                <a:solidFill>
                  <a:srgbClr val="191919"/>
                </a:solidFill>
                <a:latin typeface="Aptos"/>
              </a:rPr>
              <a:t>v3 timing features</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r>
              <a:rPr sz="1300" b="0">
                <a:solidFill>
                  <a:srgbClr val="566987"/>
                </a:solidFill>
                <a:latin typeface="Aptos"/>
              </a:rPr>
              <a:t>ceiling proof only</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500" b="1" dirty="0">
                <a:solidFill>
                  <a:srgbClr val="FFFFFF"/>
                </a:solidFill>
                <a:latin typeface="Apto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300" dirty="0" b="0">
                <a:solidFill>
                  <a:srgbClr val="FFFFFF"/>
                </a:solidFill>
                <a:latin typeface="Apto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r>
              <a:rPr sz="1500" b="1">
                <a:solidFill>
                  <a:srgbClr val="191919"/>
                </a:solidFill>
                <a:latin typeface="Aptos"/>
              </a:rPr>
              <a:t>v6/v7/v8</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r>
              <a:rPr sz="1300" b="0">
                <a:solidFill>
                  <a:srgbClr val="566987"/>
                </a:solidFill>
                <a:latin typeface="Aptos"/>
              </a:rPr>
              <a:t>final scope checks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13/24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Evaluation compares the model against SBS and VBS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Classification accuracy is reported, but runtime regret measures the cost of each decision.</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r>
              <a:t>These formulas connect classifier output to measured runtime value.</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Rectangle 24"/>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14/24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The selector closes most of the runtime gap</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dirty="0" b="0">
                <a:solidFill>
                  <a:srgbClr val="191919"/>
                </a:solidFill>
                <a:latin typeface="Apto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2800" b="1" dirty="0">
                <a:solidFill>
                  <a:srgbClr val="F94E1F"/>
                </a:solidFill>
                <a:latin typeface="Aptos Display"/>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1400" dirty="0" b="0">
                <a:solidFill>
                  <a:srgbClr val="FFFFFF"/>
                </a:solidFill>
                <a:latin typeface="Apto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r>
              <a:rPr sz="1400" b="0">
                <a:solidFill>
                  <a:srgbClr val="FFFFFF"/>
                </a:solidFill>
                <a:latin typeface="Aptos"/>
              </a:rPr>
              <a:t>Runtime regret is the main</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r>
              <a:rPr sz="1400" b="0">
                <a:solidFill>
                  <a:srgbClr val="FFFFFF"/>
                </a:solidFill>
                <a:latin typeface="Aptos"/>
              </a:rPr>
              <a:t>evaluation signal.</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400" dirty="0" b="0">
                <a:solidFill>
                  <a:srgbClr val="566987"/>
                </a:solidFill>
                <a:latin typeface="Apto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400" dirty="0" b="0">
                <a:solidFill>
                  <a:srgbClr val="566987"/>
                </a:solidFill>
                <a:latin typeface="Apto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15/24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Accuracy alone does not explain runtime value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Many misclassifications have low regret because candidate runtimes are nearly tied.</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r>
              <a:t>The result is evaluated by runtime regret,</a:t>
            </a:r>
          </a:p>
          <a:p>
            <a:r>
              <a:t>not accuracy alone.</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16/24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residual error is concentrated in the introsort-heapsort boundary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dirty="0" b="0">
                <a:solidFill>
                  <a:srgbClr val="191919"/>
                </a:solidFill>
                <a:latin typeface="Apto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3000" b="1" dirty="0">
                <a:solidFill>
                  <a:srgbClr val="F94E1F"/>
                </a:solidFill>
                <a:latin typeface="Aptos Display"/>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400" dirty="0" b="0">
                <a:solidFill>
                  <a:srgbClr val="FFFFFF"/>
                </a:solidFill>
                <a:latin typeface="Apto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1400" b="1" dirty="0">
                <a:solidFill>
                  <a:srgbClr val="191919"/>
                </a:solidFill>
                <a:latin typeface="Apto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r>
              <a:rPr sz="1400" b="0">
                <a:solidFill>
                  <a:srgbClr val="191919"/>
                </a:solidFill>
                <a:latin typeface="Apto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r>
              <a:rPr sz="1400" b="0">
                <a:solidFill>
                  <a:srgbClr val="191919"/>
                </a:solidFill>
                <a:latin typeface="Aptos"/>
              </a:rPr>
              <a:t>introsort and heapsort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r>
              <a:rPr sz="1400" b="0">
                <a:solidFill>
                  <a:srgbClr val="191919"/>
                </a:solidFill>
                <a:latin typeface="Aptos"/>
              </a:rPr>
              <a:t>Many errors in this boundary</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r>
              <a:rPr sz="1400" b="0">
                <a:solidFill>
                  <a:srgbClr val="191919"/>
                </a:solidFill>
                <a:latin typeface="Aptos"/>
              </a:rPr>
              <a:t>have low measured regret.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17/24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model uses structural array signals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Feature importance is dominated by length, repetition, and ordering descriptors.</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61925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901190"/>
            <a:ext cx="1745064" cy="352044"/>
          </a:xfrm>
          <a:prstGeom prst="rect">
            <a:avLst/>
          </a:prstGeom>
          <a:noFill/>
          <a:ln>
            <a:noFill/>
          </a:ln>
        </p:spPr>
        <p:txBody>
          <a:bodyPr wrap="none" lIns="0" tIns="0" rIns="0" bIns="0" anchor="t" anchorCtr="0">
            <a:spAutoFit/>
          </a:bodyPr>
          <a:lstStyle/>
          <a:p>
            <a:r>
              <a:t>Ordering</a:t>
            </a:r>
          </a:p>
        </p:txBody>
      </p:sp>
      <p:sp>
        <p:nvSpPr>
          <p:cNvPr id="10" name="TextBox 10"/>
          <p:cNvSpPr txBox="1"/>
          <p:nvPr/>
        </p:nvSpPr>
        <p:spPr>
          <a:xfrm>
            <a:off x="8659749" y="2230279"/>
            <a:ext cx="3238805" cy="308039"/>
          </a:xfrm>
          <a:prstGeom prst="rect">
            <a:avLst/>
          </a:prstGeom>
          <a:noFill/>
          <a:ln>
            <a:noFill/>
          </a:ln>
        </p:spPr>
        <p:txBody>
          <a:bodyPr wrap="none" lIns="0" tIns="0" rIns="0" bIns="0" anchor="t" anchorCtr="0">
            <a:spAutoFit/>
          </a:bodyPr>
          <a:lstStyle/>
          <a:p>
            <a:r>
              <a:t>longest_run_ratio, runs_ratio, adj_sorted_ratio</a:t>
            </a:r>
          </a:p>
        </p:txBody>
      </p:sp>
      <p:sp>
        <p:nvSpPr>
          <p:cNvPr id="11" name="Freeform 11"/>
          <p:cNvSpPr/>
          <p:nvPr/>
        </p:nvSpPr>
        <p:spPr>
          <a:xfrm>
            <a:off x="8382000" y="3000375"/>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282315"/>
            <a:ext cx="2263091" cy="352044"/>
          </a:xfrm>
          <a:prstGeom prst="rect">
            <a:avLst/>
          </a:prstGeom>
          <a:noFill/>
          <a:ln>
            <a:noFill/>
          </a:ln>
        </p:spPr>
        <p:txBody>
          <a:bodyPr wrap="none" lIns="0" tIns="0" rIns="0" bIns="0" anchor="t" anchorCtr="0">
            <a:spAutoFit/>
          </a:bodyPr>
          <a:lstStyle/>
          <a:p>
            <a:r>
              <a:t>Repetition / distribution</a:t>
            </a:r>
          </a:p>
        </p:txBody>
      </p:sp>
      <p:sp>
        <p:nvSpPr>
          <p:cNvPr id="13" name="TextBox 13"/>
          <p:cNvSpPr txBox="1"/>
          <p:nvPr/>
        </p:nvSpPr>
        <p:spPr>
          <a:xfrm>
            <a:off x="8659749" y="3611404"/>
            <a:ext cx="2835954" cy="308039"/>
          </a:xfrm>
          <a:prstGeom prst="rect">
            <a:avLst/>
          </a:prstGeom>
          <a:noFill/>
          <a:ln>
            <a:noFill/>
          </a:ln>
        </p:spPr>
        <p:txBody>
          <a:bodyPr wrap="none" lIns="0" tIns="0" rIns="0" bIns="0" anchor="t" anchorCtr="0">
            <a:spAutoFit/>
          </a:bodyPr>
          <a:lstStyle/>
          <a:p>
            <a:r>
              <a:t>top5_freq_ratio, duplicate_ratio, entropy_ratio</a:t>
            </a:r>
          </a:p>
        </p:txBody>
      </p:sp>
      <p:sp>
        <p:nvSpPr>
          <p:cNvPr id="14" name="Freeform 14"/>
          <p:cNvSpPr/>
          <p:nvPr/>
        </p:nvSpPr>
        <p:spPr>
          <a:xfrm>
            <a:off x="8382000" y="438150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8658606" y="4663440"/>
            <a:ext cx="1618241" cy="352044"/>
          </a:xfrm>
          <a:prstGeom prst="rect">
            <a:avLst/>
          </a:prstGeom>
          <a:noFill/>
          <a:ln>
            <a:noFill/>
          </a:ln>
        </p:spPr>
        <p:txBody>
          <a:bodyPr wrap="none" lIns="0" tIns="0" rIns="0" bIns="0" anchor="t" anchorCtr="0">
            <a:spAutoFit/>
          </a:bodyPr>
          <a:lstStyle/>
          <a:p>
            <a:r>
              <a:t>Size / scale</a:t>
            </a:r>
          </a:p>
        </p:txBody>
      </p:sp>
      <p:sp>
        <p:nvSpPr>
          <p:cNvPr id="16" name="TextBox 16"/>
          <p:cNvSpPr txBox="1"/>
          <p:nvPr/>
        </p:nvSpPr>
        <p:spPr>
          <a:xfrm>
            <a:off x="8659749" y="4992529"/>
            <a:ext cx="2316490" cy="308039"/>
          </a:xfrm>
          <a:prstGeom prst="rect">
            <a:avLst/>
          </a:prstGeom>
          <a:noFill/>
          <a:ln>
            <a:noFill/>
          </a:ln>
        </p:spPr>
        <p:txBody>
          <a:bodyPr wrap="none" lIns="0" tIns="0" rIns="0" bIns="0" anchor="t" anchorCtr="0">
            <a:spAutoFit/>
          </a:bodyPr>
          <a:lstStyle/>
          <a:p>
            <a:r>
              <a:t>length_norm, robust scale descriptors</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18/24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Leave-one-domain-out testing shows partial cross-domain transfer</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Each fold holds out one full domain, making the test workload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D97757"/>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r>
              <a:t>Domain sensitivity</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19/24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Source-aware and regret-aware checks narrowed the final scope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later experiments identify where the selector remains reliable and where claims must be limited.</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200" dirty="0" b="0">
                <a:solidFill>
                  <a:srgbClr val="191919"/>
                </a:solidFill>
                <a:latin typeface="Apto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r>
              <a:rPr sz="1200" b="0">
                <a:solidFill>
                  <a:srgbClr val="191919"/>
                </a:solidFill>
                <a:latin typeface="Apto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r>
              <a:rPr sz="1200" b="0">
                <a:solidFill>
                  <a:srgbClr val="191919"/>
                </a:solidFill>
                <a:latin typeface="Aptos"/>
              </a:rPr>
              <a:t>part of the evaluation protocol.</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200" dirty="0" b="0">
                <a:solidFill>
                  <a:srgbClr val="191919"/>
                </a:solidFill>
                <a:latin typeface="Apto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200" dirty="0" b="0">
                <a:solidFill>
                  <a:srgbClr val="191919"/>
                </a:solidFill>
                <a:latin typeface="Apto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200" dirty="0" b="0">
                <a:solidFill>
                  <a:srgbClr val="191919"/>
                </a:solidFill>
                <a:latin typeface="Apto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200" dirty="0" b="0">
                <a:solidFill>
                  <a:srgbClr val="FFFFFF"/>
                </a:solidFill>
                <a:latin typeface="Apto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r>
              <a:rPr sz="1200" b="0">
                <a:solidFill>
                  <a:srgbClr val="FFFFFF"/>
                </a:solidFill>
                <a:latin typeface="Aptos"/>
              </a:rPr>
              <a:t>when introsort and heapsort</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r>
              <a:rPr sz="1200" b="0">
                <a:solidFill>
                  <a:srgbClr val="FFFFFF"/>
                </a:solidFill>
                <a:latin typeface="Apto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r>
              <a:rPr sz="1200" b="0">
                <a:solidFill>
                  <a:srgbClr val="191919"/>
                </a:solidFill>
                <a:latin typeface="Aptos"/>
              </a:rPr>
              <a:t>The final result is v5 under the submitted evaluation protocol, with source-aware and regret-aware limits reported separately.</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Rectangle 25"/>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20/24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x page number"/>
          <p:cNvSpPr txBox="1"/>
          <p:nvPr/>
        </p:nvSpPr>
        <p:spPr>
          <a:xfrm>
            <a:off x="11323320" y="6643116"/>
            <a:ext cx="685800" cy="164592"/>
          </a:xfrm>
          <a:prstGeom prst="rect">
            <a:avLst/>
          </a:prstGeom>
          <a:noFill/>
        </p:spPr>
        <p:txBody>
          <a:bodyPr wrap="none" lIns="0" rIns="0" tIns="0" bIns="0" anchor="ctr">
            <a:spAutoFit/>
          </a:bodyPr>
          <a:lstStyle/>
          <a:p>
            <a:pPr algn="r"/>
            <a:r>
              <a:rPr sz="900" b="0">
                <a:solidFill>
                  <a:srgbClr val="FFFFFF"/>
                </a:solidFill>
                <a:latin typeface="Aptos"/>
              </a:rPr>
              <a:t>21/24</a:t>
            </a:r>
          </a:p>
        </p:txBody>
      </p:sp>
      <p:sp>
        <p:nvSpPr>
          <p:cNvPr id="6" name="TextBox 5"/>
          <p:cNvSpPr txBox="1"/>
          <p:nvPr/>
        </p:nvSpPr>
        <p:spPr>
          <a:xfrm>
            <a:off x="502920" y="384048"/>
            <a:ext cx="11186160" cy="411480"/>
          </a:xfrm>
          <a:prstGeom prst="rect">
            <a:avLst/>
          </a:prstGeom>
          <a:noFill/>
        </p:spPr>
        <p:txBody>
          <a:bodyPr wrap="none" lIns="0" rIns="0" tIns="0" bIns="0">
            <a:spAutoFit/>
          </a:bodyPr>
          <a:lstStyle/>
          <a:p>
            <a:pPr algn="l"/>
            <a:r>
              <a:rPr sz="2400" b="1">
                <a:solidFill>
                  <a:srgbClr val="191919"/>
                </a:solidFill>
                <a:latin typeface="Aptos Display"/>
              </a:rPr>
              <a:t>Conclusion</a:t>
            </a:r>
          </a:p>
        </p:txBody>
      </p:sp>
      <p:sp>
        <p:nvSpPr>
          <p:cNvPr id="7" name="Rectangle 6"/>
          <p:cNvSpPr/>
          <p:nvPr/>
        </p:nvSpPr>
        <p:spPr>
          <a:xfrm>
            <a:off x="647700" y="102870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841248"/>
            <a:ext cx="11186160" cy="365760"/>
          </a:xfrm>
          <a:prstGeom prst="rect">
            <a:avLst/>
          </a:prstGeom>
          <a:noFill/>
        </p:spPr>
        <p:txBody>
          <a:bodyPr wrap="none" lIns="0" rIns="0" tIns="0" bIns="0">
            <a:spAutoFit/>
          </a:bodyPr>
          <a:lstStyle/>
          <a:p>
            <a:r>
              <a:rPr sz="1500" b="0">
                <a:solidFill>
                  <a:srgbClr val="191919"/>
                </a:solidFill>
                <a:latin typeface="Aptos"/>
              </a:rPr>
              <a:t>Cheap structural features can deliver meaningful per-instance sorting improvements when judged with runtime-sensitive metrics.</a:t>
            </a:r>
          </a:p>
        </p:txBody>
      </p:sp>
      <p:sp>
        <p:nvSpPr>
          <p:cNvPr id="9" name="TextBox 8"/>
          <p:cNvSpPr txBox="1"/>
          <p:nvPr/>
        </p:nvSpPr>
        <p:spPr>
          <a:xfrm>
            <a:off x="1238250" y="2000250"/>
            <a:ext cx="9715500" cy="400050"/>
          </a:xfrm>
          <a:prstGeom prst="rect">
            <a:avLst/>
          </a:prstGeom>
          <a:noFill/>
        </p:spPr>
        <p:txBody>
          <a:bodyPr wrap="square" lIns="0" rIns="0" tIns="0" bIns="0">
            <a:spAutoFit/>
          </a:bodyPr>
          <a:lstStyle/>
          <a:p>
            <a:r>
              <a:rPr sz="1400" b="0">
                <a:solidFill>
                  <a:srgbClr val="191919"/>
                </a:solidFill>
                <a:latin typeface="Aptos"/>
              </a:rPr>
              <a:t>The selector closes most of the practical SBS-to-VBS runtime gap on real-world numeric arrays.</a:t>
            </a:r>
          </a:p>
        </p:txBody>
      </p:sp>
      <p:sp>
        <p:nvSpPr>
          <p:cNvPr id="10" name="Rectangle 9"/>
          <p:cNvSpPr/>
          <p:nvPr/>
        </p:nvSpPr>
        <p:spPr>
          <a:xfrm>
            <a:off x="176212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14525" y="3124200"/>
            <a:ext cx="2076450" cy="304800"/>
          </a:xfrm>
          <a:prstGeom prst="rect">
            <a:avLst/>
          </a:prstGeom>
          <a:noFill/>
        </p:spPr>
        <p:txBody>
          <a:bodyPr wrap="none" lIns="0" rIns="0" tIns="0" bIns="0">
            <a:spAutoFit/>
          </a:bodyPr>
          <a:lstStyle/>
          <a:p>
            <a:pPr algn="ctr"/>
            <a:r>
              <a:rPr sz="2000" b="1">
                <a:solidFill>
                  <a:srgbClr val="9A1C3E"/>
                </a:solidFill>
                <a:latin typeface="Aptos Display"/>
              </a:rPr>
              <a:t>76.1%</a:t>
            </a:r>
          </a:p>
        </p:txBody>
      </p:sp>
      <p:sp>
        <p:nvSpPr>
          <p:cNvPr id="12" name="TextBox 11"/>
          <p:cNvSpPr txBox="1"/>
          <p:nvPr/>
        </p:nvSpPr>
        <p:spPr>
          <a:xfrm>
            <a:off x="1933575" y="3543300"/>
            <a:ext cx="2038350" cy="190500"/>
          </a:xfrm>
          <a:prstGeom prst="rect">
            <a:avLst/>
          </a:prstGeom>
          <a:noFill/>
        </p:spPr>
        <p:txBody>
          <a:bodyPr wrap="none" lIns="0" rIns="0" tIns="0" bIns="0">
            <a:spAutoFit/>
          </a:bodyPr>
          <a:lstStyle/>
          <a:p>
            <a:pPr algn="ctr"/>
            <a:r>
              <a:rPr sz="1300" b="0">
                <a:solidFill>
                  <a:srgbClr val="566987"/>
                </a:solidFill>
                <a:latin typeface="Aptos"/>
              </a:rPr>
              <a:t>top-1 accuracy</a:t>
            </a:r>
          </a:p>
        </p:txBody>
      </p:sp>
      <p:sp>
        <p:nvSpPr>
          <p:cNvPr id="13" name="Rectangle 12"/>
          <p:cNvSpPr/>
          <p:nvPr/>
        </p:nvSpPr>
        <p:spPr>
          <a:xfrm>
            <a:off x="4762500" y="2905125"/>
            <a:ext cx="2381250" cy="1095375"/>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14900" y="3124200"/>
            <a:ext cx="2076450" cy="304800"/>
          </a:xfrm>
          <a:prstGeom prst="rect">
            <a:avLst/>
          </a:prstGeom>
          <a:noFill/>
        </p:spPr>
        <p:txBody>
          <a:bodyPr wrap="none" lIns="0" rIns="0" tIns="0" bIns="0">
            <a:spAutoFit/>
          </a:bodyPr>
          <a:lstStyle/>
          <a:p>
            <a:pPr algn="ctr"/>
            <a:r>
              <a:rPr sz="2400" b="1">
                <a:solidFill>
                  <a:srgbClr val="F94E1F"/>
                </a:solidFill>
                <a:latin typeface="Aptos Display"/>
              </a:rPr>
              <a:t>93.1%</a:t>
            </a:r>
          </a:p>
        </p:txBody>
      </p:sp>
      <p:sp>
        <p:nvSpPr>
          <p:cNvPr id="15" name="TextBox 14"/>
          <p:cNvSpPr txBox="1"/>
          <p:nvPr/>
        </p:nvSpPr>
        <p:spPr>
          <a:xfrm>
            <a:off x="4933950" y="3543300"/>
            <a:ext cx="2038350" cy="190500"/>
          </a:xfrm>
          <a:prstGeom prst="rect">
            <a:avLst/>
          </a:prstGeom>
          <a:noFill/>
        </p:spPr>
        <p:txBody>
          <a:bodyPr wrap="none" lIns="0" rIns="0" tIns="0" bIns="0">
            <a:spAutoFit/>
          </a:bodyPr>
          <a:lstStyle/>
          <a:p>
            <a:pPr algn="ctr"/>
            <a:r>
              <a:rPr sz="1300" b="0">
                <a:solidFill>
                  <a:srgbClr val="FFFFFF"/>
                </a:solidFill>
                <a:latin typeface="Aptos"/>
              </a:rPr>
              <a:t>SBS-to-VBS gap closed</a:t>
            </a:r>
          </a:p>
        </p:txBody>
      </p:sp>
      <p:sp>
        <p:nvSpPr>
          <p:cNvPr id="16" name="Rectangle 15"/>
          <p:cNvSpPr/>
          <p:nvPr/>
        </p:nvSpPr>
        <p:spPr>
          <a:xfrm>
            <a:off x="776287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15275" y="3124200"/>
            <a:ext cx="2076450" cy="304800"/>
          </a:xfrm>
          <a:prstGeom prst="rect">
            <a:avLst/>
          </a:prstGeom>
          <a:noFill/>
        </p:spPr>
        <p:txBody>
          <a:bodyPr wrap="none" lIns="0" rIns="0" tIns="0" bIns="0">
            <a:spAutoFit/>
          </a:bodyPr>
          <a:lstStyle/>
          <a:p>
            <a:pPr algn="ctr"/>
            <a:r>
              <a:rPr sz="2000" b="1">
                <a:solidFill>
                  <a:srgbClr val="9A1C3E"/>
                </a:solidFill>
                <a:latin typeface="Aptos Display"/>
              </a:rPr>
              <a:t>89.6%</a:t>
            </a:r>
          </a:p>
        </p:txBody>
      </p:sp>
      <p:sp>
        <p:nvSpPr>
          <p:cNvPr id="18" name="TextBox 17"/>
          <p:cNvSpPr txBox="1"/>
          <p:nvPr/>
        </p:nvSpPr>
        <p:spPr>
          <a:xfrm>
            <a:off x="7934325" y="3543300"/>
            <a:ext cx="2038350" cy="190500"/>
          </a:xfrm>
          <a:prstGeom prst="rect">
            <a:avLst/>
          </a:prstGeom>
          <a:noFill/>
        </p:spPr>
        <p:txBody>
          <a:bodyPr wrap="none" lIns="0" rIns="0" tIns="0" bIns="0">
            <a:spAutoFit/>
          </a:bodyPr>
          <a:lstStyle/>
          <a:p>
            <a:pPr algn="ctr"/>
            <a:r>
              <a:rPr sz="1300" b="0">
                <a:solidFill>
                  <a:srgbClr val="566987"/>
                </a:solidFill>
                <a:latin typeface="Aptos"/>
              </a:rPr>
              <a:t>zero-regret predictions</a:t>
            </a:r>
          </a:p>
        </p:txBody>
      </p:sp>
      <p:sp>
        <p:nvSpPr>
          <p:cNvPr id="19" name="TextBox 18"/>
          <p:cNvSpPr txBox="1"/>
          <p:nvPr/>
        </p:nvSpPr>
        <p:spPr>
          <a:xfrm>
            <a:off x="1571625" y="4572000"/>
            <a:ext cx="9048750" cy="323850"/>
          </a:xfrm>
          <a:prstGeom prst="rect">
            <a:avLst/>
          </a:prstGeom>
          <a:noFill/>
        </p:spPr>
        <p:txBody>
          <a:bodyPr wrap="square" lIns="0" rIns="0" tIns="0" bIns="0">
            <a:spAutoFit/>
          </a:bodyPr>
          <a:lstStyle/>
          <a:p>
            <a:pPr algn="ctr"/>
            <a:r>
              <a:rPr sz="1300" b="0">
                <a:solidFill>
                  <a:srgbClr val="191919"/>
                </a:solidFill>
                <a:latin typeface="Aptos"/>
              </a:rPr>
              <a:t>The strongest cases are where array structure is visible, especially timsort-friendly inputs.</a:t>
            </a:r>
          </a:p>
        </p:txBody>
      </p:sp>
      <p:sp>
        <p:nvSpPr>
          <p:cNvPr id="20" name="TextBox 19"/>
          <p:cNvSpPr txBox="1"/>
          <p:nvPr/>
        </p:nvSpPr>
        <p:spPr>
          <a:xfrm>
            <a:off x="1571625" y="5095875"/>
            <a:ext cx="9048750" cy="323850"/>
          </a:xfrm>
          <a:prstGeom prst="rect">
            <a:avLst/>
          </a:prstGeom>
          <a:noFill/>
        </p:spPr>
        <p:txBody>
          <a:bodyPr wrap="square" lIns="0" rIns="0" tIns="0" bIns="0">
            <a:spAutoFit/>
          </a:bodyPr>
          <a:lstStyle/>
          <a:p>
            <a:pPr algn="ctr"/>
            <a:r>
              <a:rPr sz="1300" b="0">
                <a:solidFill>
                  <a:srgbClr val="9A1C3E"/>
                </a:solidFill>
                <a:latin typeface="Aptos"/>
              </a:rPr>
              <a:t>The main residual weakness is the introsort/heapsort boundary, where the current feature space often cannot see enough difference.</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x page number"/>
          <p:cNvSpPr txBox="1"/>
          <p:nvPr/>
        </p:nvSpPr>
        <p:spPr>
          <a:xfrm>
            <a:off x="11323320" y="6643116"/>
            <a:ext cx="685800" cy="164592"/>
          </a:xfrm>
          <a:prstGeom prst="rect">
            <a:avLst/>
          </a:prstGeom>
          <a:noFill/>
        </p:spPr>
        <p:txBody>
          <a:bodyPr wrap="none" lIns="0" rIns="0" tIns="0" bIns="0" anchor="ctr">
            <a:spAutoFit/>
          </a:bodyPr>
          <a:lstStyle/>
          <a:p>
            <a:pPr algn="r"/>
            <a:r>
              <a:rPr sz="900" b="0">
                <a:solidFill>
                  <a:srgbClr val="FFFFFF"/>
                </a:solidFill>
                <a:latin typeface="Aptos"/>
              </a:rPr>
              <a:t>22/24</a:t>
            </a:r>
          </a:p>
        </p:txBody>
      </p:sp>
      <p:sp>
        <p:nvSpPr>
          <p:cNvPr id="6" name="TextBox 5"/>
          <p:cNvSpPr txBox="1"/>
          <p:nvPr/>
        </p:nvSpPr>
        <p:spPr>
          <a:xfrm>
            <a:off x="502920" y="384048"/>
            <a:ext cx="11186160" cy="411480"/>
          </a:xfrm>
          <a:prstGeom prst="rect">
            <a:avLst/>
          </a:prstGeom>
          <a:noFill/>
        </p:spPr>
        <p:txBody>
          <a:bodyPr wrap="none" lIns="0" rIns="0" tIns="0" bIns="0">
            <a:spAutoFit/>
          </a:bodyPr>
          <a:lstStyle/>
          <a:p>
            <a:pPr algn="l"/>
            <a:r>
              <a:rPr sz="2400" b="1">
                <a:solidFill>
                  <a:srgbClr val="191919"/>
                </a:solidFill>
                <a:latin typeface="Aptos Display"/>
              </a:rPr>
              <a:t>Contributions</a:t>
            </a:r>
          </a:p>
        </p:txBody>
      </p:sp>
      <p:sp>
        <p:nvSpPr>
          <p:cNvPr id="7" name="Rectangle 6"/>
          <p:cNvSpPr/>
          <p:nvPr/>
        </p:nvSpPr>
        <p:spPr>
          <a:xfrm>
            <a:off x="647700" y="102870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841248"/>
            <a:ext cx="11186160" cy="365760"/>
          </a:xfrm>
          <a:prstGeom prst="rect">
            <a:avLst/>
          </a:prstGeom>
          <a:noFill/>
        </p:spPr>
        <p:txBody>
          <a:bodyPr wrap="none" lIns="0" rIns="0" tIns="0" bIns="0">
            <a:spAutoFit/>
          </a:bodyPr>
          <a:lstStyle/>
          <a:p>
            <a:r>
              <a:rPr sz="1600" b="1">
                <a:solidFill>
                  <a:srgbClr val="9A1C3E"/>
                </a:solidFill>
                <a:latin typeface="Aptos"/>
              </a:rPr>
              <a:t>The thesis makes three contributions aligned with the stated objectives.</a:t>
            </a:r>
          </a:p>
        </p:txBody>
      </p:sp>
      <p:sp>
        <p:nvSpPr>
          <p:cNvPr id="9" name="TextBox 8"/>
          <p:cNvSpPr txBox="1"/>
          <p:nvPr/>
        </p:nvSpPr>
        <p:spPr>
          <a:xfrm>
            <a:off x="1143000" y="2000250"/>
            <a:ext cx="400050" cy="228600"/>
          </a:xfrm>
          <a:prstGeom prst="rect">
            <a:avLst/>
          </a:prstGeom>
          <a:noFill/>
        </p:spPr>
        <p:txBody>
          <a:bodyPr wrap="none" lIns="0" rIns="0" tIns="0" bIns="0">
            <a:spAutoFit/>
          </a:bodyPr>
          <a:lstStyle/>
          <a:p>
            <a:pPr algn="ctr"/>
            <a:r>
              <a:rPr sz="1500" b="1">
                <a:solidFill>
                  <a:srgbClr val="9A1C3E"/>
                </a:solidFill>
                <a:latin typeface="Aptos"/>
              </a:rPr>
              <a:t>01</a:t>
            </a:r>
          </a:p>
        </p:txBody>
      </p:sp>
      <p:sp>
        <p:nvSpPr>
          <p:cNvPr id="10" name="TextBox 9"/>
          <p:cNvSpPr txBox="1"/>
          <p:nvPr/>
        </p:nvSpPr>
        <p:spPr>
          <a:xfrm>
            <a:off x="1714500" y="2000250"/>
            <a:ext cx="9334500" cy="228600"/>
          </a:xfrm>
          <a:prstGeom prst="rect">
            <a:avLst/>
          </a:prstGeom>
          <a:noFill/>
        </p:spPr>
        <p:txBody>
          <a:bodyPr wrap="none" lIns="0" rIns="0" tIns="0" bIns="0">
            <a:spAutoFit/>
          </a:bodyPr>
          <a:lstStyle/>
          <a:p>
            <a:r>
              <a:rPr sz="1500" b="0">
                <a:solidFill>
                  <a:srgbClr val="566987"/>
                </a:solidFill>
                <a:latin typeface="Aptos"/>
              </a:rPr>
              <a:t>A deployable selector</a:t>
            </a:r>
          </a:p>
        </p:txBody>
      </p:sp>
      <p:sp>
        <p:nvSpPr>
          <p:cNvPr id="11" name="TextBox 10"/>
          <p:cNvSpPr txBox="1"/>
          <p:nvPr/>
        </p:nvSpPr>
        <p:spPr>
          <a:xfrm>
            <a:off x="1714500" y="2324100"/>
            <a:ext cx="9334500" cy="361950"/>
          </a:xfrm>
          <a:prstGeom prst="rect">
            <a:avLst/>
          </a:prstGeom>
          <a:noFill/>
        </p:spPr>
        <p:txBody>
          <a:bodyPr wrap="square" lIns="0" rIns="0" tIns="0" bIns="0">
            <a:spAutoFit/>
          </a:bodyPr>
          <a:lstStyle/>
          <a:p>
            <a:r>
              <a:rPr sz="1300" b="0">
                <a:solidFill>
                  <a:srgbClr val="191919"/>
                </a:solidFill>
                <a:latin typeface="Aptos"/>
              </a:rPr>
              <a:t>A compact pipeline combines inexpensive structural characteristics with a gradient-boosted classifier.</a:t>
            </a:r>
          </a:p>
        </p:txBody>
      </p:sp>
      <p:sp>
        <p:nvSpPr>
          <p:cNvPr id="12" name="Rectangle 11"/>
          <p:cNvSpPr/>
          <p:nvPr/>
        </p:nvSpPr>
        <p:spPr>
          <a:xfrm>
            <a:off x="1714500" y="2800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3143250"/>
            <a:ext cx="400050" cy="228600"/>
          </a:xfrm>
          <a:prstGeom prst="rect">
            <a:avLst/>
          </a:prstGeom>
          <a:noFill/>
        </p:spPr>
        <p:txBody>
          <a:bodyPr wrap="none" lIns="0" rIns="0" tIns="0" bIns="0">
            <a:spAutoFit/>
          </a:bodyPr>
          <a:lstStyle/>
          <a:p>
            <a:pPr algn="ctr"/>
            <a:r>
              <a:rPr sz="1500" b="1">
                <a:solidFill>
                  <a:srgbClr val="9A1C3E"/>
                </a:solidFill>
                <a:latin typeface="Aptos"/>
              </a:rPr>
              <a:t>02</a:t>
            </a:r>
          </a:p>
        </p:txBody>
      </p:sp>
      <p:sp>
        <p:nvSpPr>
          <p:cNvPr id="14" name="TextBox 13"/>
          <p:cNvSpPr txBox="1"/>
          <p:nvPr/>
        </p:nvSpPr>
        <p:spPr>
          <a:xfrm>
            <a:off x="1714500" y="3143250"/>
            <a:ext cx="9334500" cy="228600"/>
          </a:xfrm>
          <a:prstGeom prst="rect">
            <a:avLst/>
          </a:prstGeom>
          <a:noFill/>
        </p:spPr>
        <p:txBody>
          <a:bodyPr wrap="none" lIns="0" rIns="0" tIns="0" bIns="0">
            <a:spAutoFit/>
          </a:bodyPr>
          <a:lstStyle/>
          <a:p>
            <a:r>
              <a:rPr sz="1500" b="0">
                <a:solidFill>
                  <a:srgbClr val="566987"/>
                </a:solidFill>
                <a:latin typeface="Aptos"/>
              </a:rPr>
              <a:t>A rigorous evaluation framework</a:t>
            </a:r>
          </a:p>
        </p:txBody>
      </p:sp>
      <p:sp>
        <p:nvSpPr>
          <p:cNvPr id="15" name="TextBox 14"/>
          <p:cNvSpPr txBox="1"/>
          <p:nvPr/>
        </p:nvSpPr>
        <p:spPr>
          <a:xfrm>
            <a:off x="1714500" y="3467100"/>
            <a:ext cx="9334500" cy="361950"/>
          </a:xfrm>
          <a:prstGeom prst="rect">
            <a:avLst/>
          </a:prstGeom>
          <a:noFill/>
        </p:spPr>
        <p:txBody>
          <a:bodyPr wrap="square" lIns="0" rIns="0" tIns="0" bIns="0">
            <a:spAutoFit/>
          </a:bodyPr>
          <a:lstStyle/>
          <a:p>
            <a:r>
              <a:rPr sz="1300" b="0">
                <a:solidFill>
                  <a:srgbClr val="191919"/>
                </a:solidFill>
                <a:latin typeface="Aptos"/>
              </a:rPr>
              <a:t>Source-aware splitting, near-tie filtering, leave-one-domain-out testing, and regret metrics give a better view than accuracy alone.</a:t>
            </a:r>
          </a:p>
        </p:txBody>
      </p:sp>
      <p:sp>
        <p:nvSpPr>
          <p:cNvPr id="16" name="Rectangle 15"/>
          <p:cNvSpPr/>
          <p:nvPr/>
        </p:nvSpPr>
        <p:spPr>
          <a:xfrm>
            <a:off x="1714500" y="3943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3000" y="4286250"/>
            <a:ext cx="400050" cy="228600"/>
          </a:xfrm>
          <a:prstGeom prst="rect">
            <a:avLst/>
          </a:prstGeom>
          <a:noFill/>
        </p:spPr>
        <p:txBody>
          <a:bodyPr wrap="none" lIns="0" rIns="0" tIns="0" bIns="0">
            <a:spAutoFit/>
          </a:bodyPr>
          <a:lstStyle/>
          <a:p>
            <a:pPr algn="ctr"/>
            <a:r>
              <a:rPr sz="1500" b="1">
                <a:solidFill>
                  <a:srgbClr val="9A1C3E"/>
                </a:solidFill>
                <a:latin typeface="Aptos"/>
              </a:rPr>
              <a:t>03</a:t>
            </a:r>
          </a:p>
        </p:txBody>
      </p:sp>
      <p:sp>
        <p:nvSpPr>
          <p:cNvPr id="18" name="TextBox 17"/>
          <p:cNvSpPr txBox="1"/>
          <p:nvPr/>
        </p:nvSpPr>
        <p:spPr>
          <a:xfrm>
            <a:off x="1714500" y="4286250"/>
            <a:ext cx="9334500" cy="228600"/>
          </a:xfrm>
          <a:prstGeom prst="rect">
            <a:avLst/>
          </a:prstGeom>
          <a:noFill/>
        </p:spPr>
        <p:txBody>
          <a:bodyPr wrap="none" lIns="0" rIns="0" tIns="0" bIns="0">
            <a:spAutoFit/>
          </a:bodyPr>
          <a:lstStyle/>
          <a:p>
            <a:r>
              <a:rPr sz="1500" b="0">
                <a:solidFill>
                  <a:srgbClr val="566987"/>
                </a:solidFill>
                <a:latin typeface="Aptos"/>
              </a:rPr>
              <a:t>A reproducible artefact</a:t>
            </a:r>
          </a:p>
        </p:txBody>
      </p:sp>
      <p:sp>
        <p:nvSpPr>
          <p:cNvPr id="19" name="TextBox 18"/>
          <p:cNvSpPr txBox="1"/>
          <p:nvPr/>
        </p:nvSpPr>
        <p:spPr>
          <a:xfrm>
            <a:off x="1714500" y="4610100"/>
            <a:ext cx="9334500" cy="361950"/>
          </a:xfrm>
          <a:prstGeom prst="rect">
            <a:avLst/>
          </a:prstGeom>
          <a:noFill/>
        </p:spPr>
        <p:txBody>
          <a:bodyPr wrap="square" lIns="0" rIns="0" tIns="0" bIns="0">
            <a:spAutoFit/>
          </a:bodyPr>
          <a:lstStyle/>
          <a:p>
            <a:r>
              <a:rPr sz="1300" b="0">
                <a:solidFill>
                  <a:srgbClr val="191919"/>
                </a:solidFill>
                <a:latin typeface="Aptos"/>
              </a:rPr>
              <a:t>One feature extractor, one data pipeline, and exported XGBoost JSON / ONNX models support replication.</a:t>
            </a:r>
          </a:p>
        </p:txBody>
      </p:sp>
      <p:sp>
        <p:nvSpPr>
          <p:cNvPr id="20" name="Rectangle 19"/>
          <p:cNvSpPr/>
          <p:nvPr/>
        </p:nvSpPr>
        <p:spPr>
          <a:xfrm>
            <a:off x="1714500" y="5086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28750" y="5810250"/>
            <a:ext cx="9334500" cy="209550"/>
          </a:xfrm>
          <a:prstGeom prst="rect">
            <a:avLst/>
          </a:prstGeom>
          <a:noFill/>
        </p:spPr>
        <p:txBody>
          <a:bodyPr wrap="none" lIns="0" rIns="0" tIns="0" bIns="0">
            <a:spAutoFit/>
          </a:bodyPr>
          <a:lstStyle/>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x page number"/>
          <p:cNvSpPr txBox="1"/>
          <p:nvPr/>
        </p:nvSpPr>
        <p:spPr>
          <a:xfrm>
            <a:off x="11323320" y="6643116"/>
            <a:ext cx="685800" cy="164592"/>
          </a:xfrm>
          <a:prstGeom prst="rect">
            <a:avLst/>
          </a:prstGeom>
          <a:noFill/>
        </p:spPr>
        <p:txBody>
          <a:bodyPr wrap="none" lIns="0" rIns="0" tIns="0" bIns="0" anchor="ctr">
            <a:spAutoFit/>
          </a:bodyPr>
          <a:lstStyle/>
          <a:p>
            <a:pPr algn="r"/>
            <a:r>
              <a:rPr sz="900" b="0">
                <a:solidFill>
                  <a:srgbClr val="FFFFFF"/>
                </a:solidFill>
                <a:latin typeface="Aptos"/>
              </a:rPr>
              <a:t>23/24</a:t>
            </a:r>
          </a:p>
        </p:txBody>
      </p:sp>
      <p:sp>
        <p:nvSpPr>
          <p:cNvPr id="6" name="TextBox 5"/>
          <p:cNvSpPr txBox="1"/>
          <p:nvPr/>
        </p:nvSpPr>
        <p:spPr>
          <a:xfrm>
            <a:off x="502920" y="384048"/>
            <a:ext cx="11186160" cy="411480"/>
          </a:xfrm>
          <a:prstGeom prst="rect">
            <a:avLst/>
          </a:prstGeom>
          <a:noFill/>
        </p:spPr>
        <p:txBody>
          <a:bodyPr wrap="none" lIns="0" rIns="0" tIns="0" bIns="0">
            <a:spAutoFit/>
          </a:bodyPr>
          <a:lstStyle/>
          <a:p>
            <a:pPr algn="l"/>
            <a:r>
              <a:rPr sz="2400" b="1">
                <a:solidFill>
                  <a:srgbClr val="191919"/>
                </a:solidFill>
                <a:latin typeface="Aptos Display"/>
              </a:rPr>
              <a:t>Limitations and Future Work</a:t>
            </a:r>
          </a:p>
        </p:txBody>
      </p:sp>
      <p:sp>
        <p:nvSpPr>
          <p:cNvPr id="7" name="Rectangle 6"/>
          <p:cNvSpPr/>
          <p:nvPr/>
        </p:nvSpPr>
        <p:spPr>
          <a:xfrm>
            <a:off x="647700" y="102870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841248"/>
            <a:ext cx="11186160" cy="365760"/>
          </a:xfrm>
          <a:prstGeom prst="rect">
            <a:avLst/>
          </a:prstGeom>
          <a:noFill/>
        </p:spPr>
        <p:txBody>
          <a:bodyPr wrap="none" lIns="0" rIns="0" tIns="0" bIns="0">
            <a:spAutoFit/>
          </a:bodyPr>
          <a:lstStyle/>
          <a:p>
            <a:r>
              <a:rPr sz="1500" b="0">
                <a:solidFill>
                  <a:srgbClr val="191919"/>
                </a:solidFill>
                <a:latin typeface="Aptos"/>
              </a:rPr>
              <a:t>The result is limited by the experimental scope of the thesis.</a:t>
            </a:r>
          </a:p>
        </p:txBody>
      </p:sp>
      <p:sp>
        <p:nvSpPr>
          <p:cNvPr id="9" name="Rectangle 8"/>
          <p:cNvSpPr/>
          <p:nvPr/>
        </p:nvSpPr>
        <p:spPr>
          <a:xfrm>
            <a:off x="1190625" y="2143125"/>
            <a:ext cx="4381500" cy="285750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38275" y="2390775"/>
            <a:ext cx="3886200" cy="228600"/>
          </a:xfrm>
          <a:prstGeom prst="rect">
            <a:avLst/>
          </a:prstGeom>
          <a:noFill/>
        </p:spPr>
        <p:txBody>
          <a:bodyPr wrap="none" lIns="0" rIns="0" tIns="0" bIns="0">
            <a:spAutoFit/>
          </a:bodyPr>
          <a:lstStyle/>
          <a:p>
            <a:pPr algn="l"/>
            <a:r>
              <a:rPr sz="1800" b="1">
                <a:solidFill>
                  <a:srgbClr val="F94E1F"/>
                </a:solidFill>
                <a:latin typeface="Aptos"/>
              </a:rPr>
              <a:t>Limitations</a:t>
            </a:r>
          </a:p>
        </p:txBody>
      </p:sp>
      <p:sp>
        <p:nvSpPr>
          <p:cNvPr id="11" name="TextBox 10"/>
          <p:cNvSpPr txBox="1"/>
          <p:nvPr/>
        </p:nvSpPr>
        <p:spPr>
          <a:xfrm>
            <a:off x="1514475" y="2867025"/>
            <a:ext cx="3733800" cy="285750"/>
          </a:xfrm>
          <a:prstGeom prst="rect">
            <a:avLst/>
          </a:prstGeom>
          <a:noFill/>
        </p:spPr>
        <p:txBody>
          <a:bodyPr wrap="square" lIns="0" rIns="0" tIns="0" bIns="0">
            <a:spAutoFit/>
          </a:bodyPr>
          <a:lstStyle/>
          <a:p>
            <a:pPr algn="l"/>
            <a:r>
              <a:rPr sz="1300" b="0">
                <a:solidFill>
                  <a:srgbClr val="FFFFFF"/>
                </a:solidFill>
                <a:latin typeface="Aptos"/>
              </a:rPr>
              <a:t>portfolio limited to introsort, heapsort, and timsort</a:t>
            </a:r>
          </a:p>
        </p:txBody>
      </p:sp>
      <p:sp>
        <p:nvSpPr>
          <p:cNvPr id="12" name="TextBox 11"/>
          <p:cNvSpPr txBox="1"/>
          <p:nvPr/>
        </p:nvSpPr>
        <p:spPr>
          <a:xfrm>
            <a:off x="1514475" y="3324225"/>
            <a:ext cx="3733800" cy="285750"/>
          </a:xfrm>
          <a:prstGeom prst="rect">
            <a:avLst/>
          </a:prstGeom>
          <a:noFill/>
        </p:spPr>
        <p:txBody>
          <a:bodyPr wrap="square" lIns="0" rIns="0" tIns="0" bIns="0">
            <a:spAutoFit/>
          </a:bodyPr>
          <a:lstStyle/>
          <a:p>
            <a:pPr algn="l"/>
            <a:r>
              <a:rPr sz="1300" b="0">
                <a:solidFill>
                  <a:srgbClr val="FFFFFF"/>
                </a:solidFill>
                <a:latin typeface="Aptos"/>
              </a:rPr>
              <a:t>timing results collected on one hardware configuration</a:t>
            </a:r>
          </a:p>
        </p:txBody>
      </p:sp>
      <p:sp>
        <p:nvSpPr>
          <p:cNvPr id="13" name="TextBox 12"/>
          <p:cNvSpPr txBox="1"/>
          <p:nvPr/>
        </p:nvSpPr>
        <p:spPr>
          <a:xfrm>
            <a:off x="1514475" y="3781425"/>
            <a:ext cx="3733800" cy="285750"/>
          </a:xfrm>
          <a:prstGeom prst="rect">
            <a:avLst/>
          </a:prstGeom>
          <a:noFill/>
        </p:spPr>
        <p:txBody>
          <a:bodyPr wrap="square" lIns="0" rIns="0" tIns="0" bIns="0">
            <a:spAutoFit/>
          </a:bodyPr>
          <a:lstStyle/>
          <a:p>
            <a:pPr algn="l"/>
            <a:r>
              <a:rPr sz="1300" b="0">
                <a:solidFill>
                  <a:srgbClr val="FFFFFF"/>
                </a:solidFill>
                <a:latin typeface="Aptos"/>
              </a:rPr>
              <a:t>LinUCB was designed but not empirically validated</a:t>
            </a:r>
          </a:p>
        </p:txBody>
      </p:sp>
      <p:sp>
        <p:nvSpPr>
          <p:cNvPr id="14" name="TextBox 13"/>
          <p:cNvSpPr txBox="1"/>
          <p:nvPr/>
        </p:nvSpPr>
        <p:spPr>
          <a:xfrm>
            <a:off x="1514475" y="4238625"/>
            <a:ext cx="3733800" cy="285750"/>
          </a:xfrm>
          <a:prstGeom prst="rect">
            <a:avLst/>
          </a:prstGeom>
          <a:noFill/>
        </p:spPr>
        <p:txBody>
          <a:bodyPr wrap="square" lIns="0" rIns="0" tIns="0" bIns="0">
            <a:spAutoFit/>
          </a:bodyPr>
          <a:lstStyle/>
          <a:p>
            <a:pPr algn="l"/>
            <a:r>
              <a:rPr sz="1300" b="0">
                <a:solidFill>
                  <a:srgbClr val="FFFFFF"/>
                </a:solidFill>
                <a:latin typeface="Aptos"/>
              </a:rPr>
              <a:t>feature overhead is not profitable for very small arrays</a:t>
            </a:r>
          </a:p>
        </p:txBody>
      </p:sp>
      <p:sp>
        <p:nvSpPr>
          <p:cNvPr id="15" name="Rectangle 14"/>
          <p:cNvSpPr/>
          <p:nvPr/>
        </p:nvSpPr>
        <p:spPr>
          <a:xfrm>
            <a:off x="6619875" y="2143125"/>
            <a:ext cx="4381500" cy="285750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67525" y="2390775"/>
            <a:ext cx="3886200" cy="228600"/>
          </a:xfrm>
          <a:prstGeom prst="rect">
            <a:avLst/>
          </a:prstGeom>
          <a:noFill/>
        </p:spPr>
        <p:txBody>
          <a:bodyPr wrap="none" lIns="0" rIns="0" tIns="0" bIns="0">
            <a:spAutoFit/>
          </a:bodyPr>
          <a:lstStyle/>
          <a:p>
            <a:pPr algn="l"/>
            <a:r>
              <a:rPr sz="1800" b="1">
                <a:solidFill>
                  <a:srgbClr val="191919"/>
                </a:solidFill>
                <a:latin typeface="Aptos"/>
              </a:rPr>
              <a:t>Future work</a:t>
            </a:r>
          </a:p>
        </p:txBody>
      </p:sp>
      <p:sp>
        <p:nvSpPr>
          <p:cNvPr id="17" name="TextBox 16"/>
          <p:cNvSpPr txBox="1"/>
          <p:nvPr/>
        </p:nvSpPr>
        <p:spPr>
          <a:xfrm>
            <a:off x="6943725" y="2867025"/>
            <a:ext cx="3733800" cy="285750"/>
          </a:xfrm>
          <a:prstGeom prst="rect">
            <a:avLst/>
          </a:prstGeom>
          <a:noFill/>
        </p:spPr>
        <p:txBody>
          <a:bodyPr wrap="square" lIns="0" rIns="0" tIns="0" bIns="0">
            <a:spAutoFit/>
          </a:bodyPr>
          <a:lstStyle/>
          <a:p>
            <a:pPr algn="l"/>
            <a:r>
              <a:rPr sz="1300" b="0">
                <a:solidFill>
                  <a:srgbClr val="566987"/>
                </a:solidFill>
                <a:latin typeface="Aptos"/>
              </a:rPr>
              <a:t>broader algorithm portfolios and hardware-aware features</a:t>
            </a:r>
          </a:p>
        </p:txBody>
      </p:sp>
      <p:sp>
        <p:nvSpPr>
          <p:cNvPr id="18" name="TextBox 17"/>
          <p:cNvSpPr txBox="1"/>
          <p:nvPr/>
        </p:nvSpPr>
        <p:spPr>
          <a:xfrm>
            <a:off x="6943725" y="3324225"/>
            <a:ext cx="3733800" cy="285750"/>
          </a:xfrm>
          <a:prstGeom prst="rect">
            <a:avLst/>
          </a:prstGeom>
          <a:noFill/>
        </p:spPr>
        <p:txBody>
          <a:bodyPr wrap="square" lIns="0" rIns="0" tIns="0" bIns="0">
            <a:spAutoFit/>
          </a:bodyPr>
          <a:lstStyle/>
          <a:p>
            <a:pPr algn="l"/>
            <a:r>
              <a:rPr sz="1300" b="0">
                <a:solidFill>
                  <a:srgbClr val="566987"/>
                </a:solidFill>
                <a:latin typeface="Aptos"/>
              </a:rPr>
              <a:t>validated online adaptation under workload drift</a:t>
            </a:r>
          </a:p>
        </p:txBody>
      </p:sp>
      <p:sp>
        <p:nvSpPr>
          <p:cNvPr id="19" name="TextBox 18"/>
          <p:cNvSpPr txBox="1"/>
          <p:nvPr/>
        </p:nvSpPr>
        <p:spPr>
          <a:xfrm>
            <a:off x="6943725" y="3781425"/>
            <a:ext cx="3733800" cy="285750"/>
          </a:xfrm>
          <a:prstGeom prst="rect">
            <a:avLst/>
          </a:prstGeom>
          <a:noFill/>
        </p:spPr>
        <p:txBody>
          <a:bodyPr wrap="square" lIns="0" rIns="0" tIns="0" bIns="0">
            <a:spAutoFit/>
          </a:bodyPr>
          <a:lstStyle/>
          <a:p>
            <a:pPr algn="l"/>
            <a:r>
              <a:rPr sz="1300" b="0">
                <a:solidFill>
                  <a:srgbClr val="566987"/>
                </a:solidFill>
                <a:latin typeface="Aptos"/>
              </a:rPr>
              <a:t>stricter F1-specific evaluation and channel-level routing</a:t>
            </a:r>
          </a:p>
        </p:txBody>
      </p:sp>
      <p:sp>
        <p:nvSpPr>
          <p:cNvPr id="20" name="TextBox 19"/>
          <p:cNvSpPr txBox="1"/>
          <p:nvPr/>
        </p:nvSpPr>
        <p:spPr>
          <a:xfrm>
            <a:off x="6943725" y="4238625"/>
            <a:ext cx="3733800" cy="285750"/>
          </a:xfrm>
          <a:prstGeom prst="rect">
            <a:avLst/>
          </a:prstGeom>
          <a:noFill/>
        </p:spPr>
        <p:txBody>
          <a:bodyPr wrap="square" lIns="0" rIns="0" tIns="0" bIns="0">
            <a:spAutoFit/>
          </a:bodyPr>
          <a:lstStyle/>
          <a:p>
            <a:pPr algn="l"/>
            <a:r>
              <a:rPr sz="1300" b="0">
                <a:solidFill>
                  <a:srgbClr val="566987"/>
                </a:solidFill>
                <a:latin typeface="Aptos"/>
              </a:rPr>
              <a:t>deployment study including feature-extraction overhead</a:t>
            </a:r>
          </a:p>
        </p:txBody>
      </p:sp>
      <p:sp>
        <p:nvSpPr>
          <p:cNvPr id="21" name="TextBox 20"/>
          <p:cNvSpPr txBox="1"/>
          <p:nvPr/>
        </p:nvSpPr>
        <p:spPr>
          <a:xfrm>
            <a:off x="1524000" y="5667375"/>
            <a:ext cx="9144000" cy="228600"/>
          </a:xfrm>
          <a:prstGeom prst="rect">
            <a:avLst/>
          </a:prstGeom>
          <a:noFill/>
        </p:spPr>
        <p:txBody>
          <a:bodyPr wrap="none" lIns="0" rIns="0" tIns="0" bIns="0">
            <a:spAutoFit/>
          </a:bodyPr>
          <a:lstStyle/>
          <a:p>
            <a:r>
              <a:rPr sz="1400" b="0">
                <a:solidFill>
                  <a:srgbClr val="191919"/>
                </a:solidFill>
                <a:latin typeface="Aptos"/>
              </a:rPr>
              <a:t>Future work extends the framework along portfolio, adaptation, and generalisation axes.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6459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2000" cy="45720"/>
          </a:xfrm>
          <a:prstGeom prst="rect">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2000" cy="25603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57400"/>
            <a:ext cx="10363200" cy="914400"/>
          </a:xfrm>
          <a:prstGeom prst="rect">
            <a:avLst/>
          </a:prstGeom>
          <a:noFill/>
        </p:spPr>
        <p:txBody>
          <a:bodyPr wrap="none">
            <a:spAutoFit/>
          </a:bodyPr>
          <a:lstStyle/>
          <a:p>
            <a:pPr algn="ctr"/>
            <a:r>
              <a:rPr sz="5800" b="1">
                <a:solidFill>
                  <a:srgbClr val="191919"/>
                </a:solidFill>
                <a:latin typeface="Aptos Display"/>
              </a:rPr>
              <a:t>Thank you</a:t>
            </a:r>
          </a:p>
        </p:txBody>
      </p:sp>
      <p:sp>
        <p:nvSpPr>
          <p:cNvPr id="6" name="TextBox 5"/>
          <p:cNvSpPr txBox="1"/>
          <p:nvPr/>
        </p:nvSpPr>
        <p:spPr>
          <a:xfrm>
            <a:off x="914400" y="2999232"/>
            <a:ext cx="10363200" cy="685800"/>
          </a:xfrm>
          <a:prstGeom prst="rect">
            <a:avLst/>
          </a:prstGeom>
          <a:noFill/>
        </p:spPr>
        <p:txBody>
          <a:bodyPr wrap="none">
            <a:spAutoFit/>
          </a:bodyPr>
          <a:lstStyle/>
          <a:p>
            <a:pPr algn="ctr"/>
            <a:r>
              <a:rPr sz="3600" b="1">
                <a:solidFill>
                  <a:srgbClr val="F94E1F"/>
                </a:solidFill>
                <a:latin typeface="Aptos Display"/>
              </a:rPr>
              <a:t>Questions?</a:t>
            </a:r>
          </a:p>
        </p:txBody>
      </p:sp>
      <p:sp>
        <p:nvSpPr>
          <p:cNvPr id="7" name="TextBox 6"/>
          <p:cNvSpPr txBox="1"/>
          <p:nvPr/>
        </p:nvSpPr>
        <p:spPr>
          <a:xfrm>
            <a:off x="11323320" y="6643116"/>
            <a:ext cx="685800" cy="164592"/>
          </a:xfrm>
          <a:prstGeom prst="rect">
            <a:avLst/>
          </a:prstGeom>
          <a:noFill/>
        </p:spPr>
        <p:txBody>
          <a:bodyPr wrap="none">
            <a:spAutoFit/>
          </a:bodyPr>
          <a:lstStyle/>
          <a:p>
            <a:pPr algn="r"/>
            <a:r>
              <a:rPr sz="900">
                <a:solidFill>
                  <a:srgbClr val="FFFFFF"/>
                </a:solidFill>
                <a:latin typeface="Aptos"/>
              </a:rPr>
              <a:t>24/24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2333</Words>
  <Application>Microsoft Macintosh PowerPoint</Application>
  <PresentationFormat>Widescreen</PresentationFormat>
  <Paragraphs>308</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Anthropic Sans</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2</cp:revision>
  <dcterms:created xsi:type="dcterms:W3CDTF">2026-06-30T17:56:25Z</dcterms:created>
  <dcterms:modified xsi:type="dcterms:W3CDTF">2026-07-01T08:28:38Z</dcterms:modified>
  <cp:category/>
  <cp:contentStatus/>
  <dc:language/>
</cp:coreProperties>
</file>