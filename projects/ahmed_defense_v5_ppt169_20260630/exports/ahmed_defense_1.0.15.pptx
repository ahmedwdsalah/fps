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39"/>
    <p:restoredTop sz="94658"/>
  </p:normalViewPr>
  <p:slideViewPr>
    <p:cSldViewPr snapToGrid="0" snapToObjects="1">
      <p:cViewPr varScale="1">
        <p:scale>
          <a:sx n="107" d="100"/>
          <a:sy n="107" d="100"/>
        </p:scale>
        <p:origin x="192" y="4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question is whether simple array structure can predict the best sorting algorithm. I evaluate that question in two ways: whether the label is correct, and how expensive a mistake is when it is not correct.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
        <p:nvSpPr>
          <p:cNvPr id="19"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Slide title - Presentation Outline"/>
          <p:cNvSpPr txBox="1"/>
          <p:nvPr/>
        </p:nvSpPr>
        <p:spPr>
          <a:xfrm>
            <a:off x="647700" y="533400"/>
            <a:ext cx="5905500" cy="457200"/>
          </a:xfrm>
          <a:prstGeom prst="rect">
            <a:avLst/>
          </a:prstGeom>
          <a:noFill/>
        </p:spPr>
        <p:txBody>
          <a:bodyPr wrap="none" lIns="0" tIns="0" rIns="0" bIns="0">
            <a:spAutoFit/>
          </a:bodyPr>
          <a:lstStyle/>
          <a:p>
            <a:pPr algn="l"/>
            <a:r>
              <a:rPr sz="2800" b="1">
                <a:solidFill>
                  <a:srgbClr val="191919"/>
                </a:solidFill>
                <a:latin typeface="Arial"/>
              </a:rPr>
              <a:t>Presentation Outline</a:t>
            </a:r>
          </a:p>
        </p:txBody>
      </p:sp>
      <p:sp>
        <p:nvSpPr>
          <p:cNvPr id="29" name="Outline horizontal rule"/>
          <p:cNvSpPr/>
          <p:nvPr/>
        </p:nvSpPr>
        <p:spPr>
          <a:xfrm>
            <a:off x="647700" y="1123950"/>
            <a:ext cx="10896600" cy="13335"/>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utline number 01"/>
          <p:cNvSpPr txBox="1"/>
          <p:nvPr/>
        </p:nvSpPr>
        <p:spPr>
          <a:xfrm>
            <a:off x="1123950" y="1733550"/>
            <a:ext cx="552450" cy="285750"/>
          </a:xfrm>
          <a:prstGeom prst="rect">
            <a:avLst/>
          </a:prstGeom>
          <a:noFill/>
        </p:spPr>
        <p:txBody>
          <a:bodyPr wrap="none" lIns="0" tIns="0" rIns="0" bIns="0">
            <a:spAutoFit/>
          </a:bodyPr>
          <a:lstStyle/>
          <a:p>
            <a:pPr algn="l"/>
            <a:r>
              <a:rPr sz="1500" b="1">
                <a:solidFill>
                  <a:srgbClr val="8F1D3A"/>
                </a:solidFill>
                <a:latin typeface="Arial"/>
              </a:rPr>
              <a:t>01</a:t>
            </a:r>
          </a:p>
        </p:txBody>
      </p:sp>
      <p:sp>
        <p:nvSpPr>
          <p:cNvPr id="31" name="Outline item 01"/>
          <p:cNvSpPr txBox="1"/>
          <p:nvPr/>
        </p:nvSpPr>
        <p:spPr>
          <a:xfrm>
            <a:off x="1809750" y="1695450"/>
            <a:ext cx="4191000" cy="400050"/>
          </a:xfrm>
          <a:prstGeom prst="rect">
            <a:avLst/>
          </a:prstGeom>
          <a:noFill/>
        </p:spPr>
        <p:txBody>
          <a:bodyPr wrap="none" lIns="0" tIns="0" rIns="0" bIns="0">
            <a:spAutoFit/>
          </a:bodyPr>
          <a:lstStyle/>
          <a:p>
            <a:pPr algn="l"/>
            <a:r>
              <a:rPr sz="2000" b="1">
                <a:solidFill>
                  <a:srgbClr val="191919"/>
                </a:solidFill>
                <a:latin typeface="Arial"/>
              </a:rPr>
              <a:t>Algorithm Selection Problem</a:t>
            </a:r>
          </a:p>
        </p:txBody>
      </p:sp>
      <p:sp>
        <p:nvSpPr>
          <p:cNvPr id="32" name="Outline item rule 01"/>
          <p:cNvSpPr/>
          <p:nvPr/>
        </p:nvSpPr>
        <p:spPr>
          <a:xfrm>
            <a:off x="18097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utline number 02"/>
          <p:cNvSpPr txBox="1"/>
          <p:nvPr/>
        </p:nvSpPr>
        <p:spPr>
          <a:xfrm>
            <a:off x="1123950" y="2857500"/>
            <a:ext cx="552450" cy="285750"/>
          </a:xfrm>
          <a:prstGeom prst="rect">
            <a:avLst/>
          </a:prstGeom>
          <a:noFill/>
        </p:spPr>
        <p:txBody>
          <a:bodyPr wrap="none" lIns="0" tIns="0" rIns="0" bIns="0">
            <a:spAutoFit/>
          </a:bodyPr>
          <a:lstStyle/>
          <a:p>
            <a:pPr algn="l"/>
            <a:r>
              <a:rPr sz="1500" b="1">
                <a:solidFill>
                  <a:srgbClr val="8F1D3A"/>
                </a:solidFill>
                <a:latin typeface="Arial"/>
              </a:rPr>
              <a:t>02</a:t>
            </a:r>
          </a:p>
        </p:txBody>
      </p:sp>
      <p:sp>
        <p:nvSpPr>
          <p:cNvPr id="34" name="Outline item 02"/>
          <p:cNvSpPr txBox="1"/>
          <p:nvPr/>
        </p:nvSpPr>
        <p:spPr>
          <a:xfrm>
            <a:off x="1809750" y="2819400"/>
            <a:ext cx="4191000" cy="400050"/>
          </a:xfrm>
          <a:prstGeom prst="rect">
            <a:avLst/>
          </a:prstGeom>
          <a:noFill/>
        </p:spPr>
        <p:txBody>
          <a:bodyPr wrap="none" lIns="0" tIns="0" rIns="0" bIns="0">
            <a:spAutoFit/>
          </a:bodyPr>
          <a:lstStyle/>
          <a:p>
            <a:pPr algn="l"/>
            <a:r>
              <a:rPr sz="2000" b="1">
                <a:solidFill>
                  <a:srgbClr val="191919"/>
                </a:solidFill>
                <a:latin typeface="Arial"/>
              </a:rPr>
              <a:t>Motivation for Sorting Selection</a:t>
            </a:r>
          </a:p>
        </p:txBody>
      </p:sp>
      <p:sp>
        <p:nvSpPr>
          <p:cNvPr id="35" name="Outline item rule 02"/>
          <p:cNvSpPr/>
          <p:nvPr/>
        </p:nvSpPr>
        <p:spPr>
          <a:xfrm>
            <a:off x="18097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utline number 03"/>
          <p:cNvSpPr txBox="1"/>
          <p:nvPr/>
        </p:nvSpPr>
        <p:spPr>
          <a:xfrm>
            <a:off x="1123950" y="3981450"/>
            <a:ext cx="552450" cy="285750"/>
          </a:xfrm>
          <a:prstGeom prst="rect">
            <a:avLst/>
          </a:prstGeom>
          <a:noFill/>
        </p:spPr>
        <p:txBody>
          <a:bodyPr wrap="none" lIns="0" tIns="0" rIns="0" bIns="0">
            <a:spAutoFit/>
          </a:bodyPr>
          <a:lstStyle/>
          <a:p>
            <a:pPr algn="l"/>
            <a:r>
              <a:rPr sz="1500" b="1">
                <a:solidFill>
                  <a:srgbClr val="8F1D3A"/>
                </a:solidFill>
                <a:latin typeface="Arial"/>
              </a:rPr>
              <a:t>03</a:t>
            </a:r>
          </a:p>
        </p:txBody>
      </p:sp>
      <p:sp>
        <p:nvSpPr>
          <p:cNvPr id="37" name="Outline item 03"/>
          <p:cNvSpPr txBox="1"/>
          <p:nvPr/>
        </p:nvSpPr>
        <p:spPr>
          <a:xfrm>
            <a:off x="1809750" y="3943350"/>
            <a:ext cx="4191000" cy="400050"/>
          </a:xfrm>
          <a:prstGeom prst="rect">
            <a:avLst/>
          </a:prstGeom>
          <a:noFill/>
        </p:spPr>
        <p:txBody>
          <a:bodyPr wrap="none" lIns="0" tIns="0" rIns="0" bIns="0">
            <a:spAutoFit/>
          </a:bodyPr>
          <a:lstStyle/>
          <a:p>
            <a:pPr algn="l"/>
            <a:r>
              <a:rPr sz="2000" b="1">
                <a:solidFill>
                  <a:srgbClr val="191919"/>
                </a:solidFill>
                <a:latin typeface="Arial"/>
              </a:rPr>
              <a:t>Dataset and Feature Extraction</a:t>
            </a:r>
          </a:p>
        </p:txBody>
      </p:sp>
      <p:sp>
        <p:nvSpPr>
          <p:cNvPr id="38" name="Outline item rule 03"/>
          <p:cNvSpPr/>
          <p:nvPr/>
        </p:nvSpPr>
        <p:spPr>
          <a:xfrm>
            <a:off x="18097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utline number 04"/>
          <p:cNvSpPr txBox="1"/>
          <p:nvPr/>
        </p:nvSpPr>
        <p:spPr>
          <a:xfrm>
            <a:off x="6496050" y="1733550"/>
            <a:ext cx="552450" cy="285750"/>
          </a:xfrm>
          <a:prstGeom prst="rect">
            <a:avLst/>
          </a:prstGeom>
          <a:noFill/>
        </p:spPr>
        <p:txBody>
          <a:bodyPr wrap="none" lIns="0" tIns="0" rIns="0" bIns="0">
            <a:spAutoFit/>
          </a:bodyPr>
          <a:lstStyle/>
          <a:p>
            <a:pPr algn="l"/>
            <a:r>
              <a:rPr sz="1500" b="1">
                <a:solidFill>
                  <a:srgbClr val="8F1D3A"/>
                </a:solidFill>
                <a:latin typeface="Arial"/>
              </a:rPr>
              <a:t>04</a:t>
            </a:r>
          </a:p>
        </p:txBody>
      </p:sp>
      <p:sp>
        <p:nvSpPr>
          <p:cNvPr id="40" name="Outline item 04"/>
          <p:cNvSpPr txBox="1"/>
          <p:nvPr/>
        </p:nvSpPr>
        <p:spPr>
          <a:xfrm>
            <a:off x="7181850" y="1695450"/>
            <a:ext cx="4191000" cy="400050"/>
          </a:xfrm>
          <a:prstGeom prst="rect">
            <a:avLst/>
          </a:prstGeom>
          <a:noFill/>
        </p:spPr>
        <p:txBody>
          <a:bodyPr wrap="none" lIns="0" tIns="0" rIns="0" bIns="0">
            <a:spAutoFit/>
          </a:bodyPr>
          <a:lstStyle/>
          <a:p>
            <a:pPr algn="l"/>
            <a:r>
              <a:rPr sz="2000" b="1">
                <a:solidFill>
                  <a:srgbClr val="191919"/>
                </a:solidFill>
                <a:latin typeface="Arial"/>
              </a:rPr>
              <a:t>Model Development</a:t>
            </a:r>
          </a:p>
        </p:txBody>
      </p:sp>
      <p:sp>
        <p:nvSpPr>
          <p:cNvPr id="41" name="Outline item rule 04"/>
          <p:cNvSpPr/>
          <p:nvPr/>
        </p:nvSpPr>
        <p:spPr>
          <a:xfrm>
            <a:off x="71818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utline number 05"/>
          <p:cNvSpPr txBox="1"/>
          <p:nvPr/>
        </p:nvSpPr>
        <p:spPr>
          <a:xfrm>
            <a:off x="6496050" y="2857500"/>
            <a:ext cx="552450" cy="285750"/>
          </a:xfrm>
          <a:prstGeom prst="rect">
            <a:avLst/>
          </a:prstGeom>
          <a:noFill/>
        </p:spPr>
        <p:txBody>
          <a:bodyPr wrap="none" lIns="0" tIns="0" rIns="0" bIns="0">
            <a:spAutoFit/>
          </a:bodyPr>
          <a:lstStyle/>
          <a:p>
            <a:pPr algn="l"/>
            <a:r>
              <a:rPr sz="1500" b="1">
                <a:solidFill>
                  <a:srgbClr val="8F1D3A"/>
                </a:solidFill>
                <a:latin typeface="Arial"/>
              </a:rPr>
              <a:t>05</a:t>
            </a:r>
          </a:p>
        </p:txBody>
      </p:sp>
      <p:sp>
        <p:nvSpPr>
          <p:cNvPr id="43" name="Outline item 05"/>
          <p:cNvSpPr txBox="1"/>
          <p:nvPr/>
        </p:nvSpPr>
        <p:spPr>
          <a:xfrm>
            <a:off x="7181850" y="2819400"/>
            <a:ext cx="4191000" cy="400050"/>
          </a:xfrm>
          <a:prstGeom prst="rect">
            <a:avLst/>
          </a:prstGeom>
          <a:noFill/>
        </p:spPr>
        <p:txBody>
          <a:bodyPr wrap="none" lIns="0" tIns="0" rIns="0" bIns="0">
            <a:spAutoFit/>
          </a:bodyPr>
          <a:lstStyle/>
          <a:p>
            <a:pPr algn="l"/>
            <a:r>
              <a:rPr sz="2000" b="1">
                <a:solidFill>
                  <a:srgbClr val="191919"/>
                </a:solidFill>
                <a:latin typeface="Arial"/>
              </a:rPr>
              <a:t>Evaluation and Results</a:t>
            </a:r>
          </a:p>
        </p:txBody>
      </p:sp>
      <p:sp>
        <p:nvSpPr>
          <p:cNvPr id="44" name="Outline item rule 05"/>
          <p:cNvSpPr/>
          <p:nvPr/>
        </p:nvSpPr>
        <p:spPr>
          <a:xfrm>
            <a:off x="71818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utline number 06"/>
          <p:cNvSpPr txBox="1"/>
          <p:nvPr/>
        </p:nvSpPr>
        <p:spPr>
          <a:xfrm>
            <a:off x="6496050" y="3981450"/>
            <a:ext cx="552450" cy="285750"/>
          </a:xfrm>
          <a:prstGeom prst="rect">
            <a:avLst/>
          </a:prstGeom>
          <a:noFill/>
        </p:spPr>
        <p:txBody>
          <a:bodyPr wrap="none" lIns="0" tIns="0" rIns="0" bIns="0">
            <a:spAutoFit/>
          </a:bodyPr>
          <a:lstStyle/>
          <a:p>
            <a:pPr algn="l"/>
            <a:r>
              <a:rPr sz="1500" b="1">
                <a:solidFill>
                  <a:srgbClr val="8F1D3A"/>
                </a:solidFill>
                <a:latin typeface="Arial"/>
              </a:rPr>
              <a:t>06</a:t>
            </a:r>
          </a:p>
        </p:txBody>
      </p:sp>
      <p:sp>
        <p:nvSpPr>
          <p:cNvPr id="46" name="Outline item 06"/>
          <p:cNvSpPr txBox="1"/>
          <p:nvPr/>
        </p:nvSpPr>
        <p:spPr>
          <a:xfrm>
            <a:off x="7181850" y="3943350"/>
            <a:ext cx="4191000" cy="400050"/>
          </a:xfrm>
          <a:prstGeom prst="rect">
            <a:avLst/>
          </a:prstGeom>
          <a:noFill/>
        </p:spPr>
        <p:txBody>
          <a:bodyPr wrap="none" lIns="0" tIns="0" rIns="0" bIns="0">
            <a:spAutoFit/>
          </a:bodyPr>
          <a:lstStyle/>
          <a:p>
            <a:pPr algn="l"/>
            <a:r>
              <a:rPr sz="2000" b="1">
                <a:solidFill>
                  <a:srgbClr val="191919"/>
                </a:solidFill>
                <a:latin typeface="Arial"/>
              </a:rPr>
              <a:t>Limitations and Future Work</a:t>
            </a:r>
          </a:p>
        </p:txBody>
      </p:sp>
      <p:sp>
        <p:nvSpPr>
          <p:cNvPr id="47" name="Outline item rule 06"/>
          <p:cNvSpPr/>
          <p:nvPr/>
        </p:nvSpPr>
        <p:spPr>
          <a:xfrm>
            <a:off x="71818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utline research spine"/>
          <p:cNvSpPr/>
          <p:nvPr/>
        </p:nvSpPr>
        <p:spPr>
          <a:xfrm>
            <a:off x="762000" y="1676400"/>
            <a:ext cx="28575" cy="28003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utline spine marker"/>
          <p:cNvSpPr/>
          <p:nvPr/>
        </p:nvSpPr>
        <p:spPr>
          <a:xfrm>
            <a:off x="704850" y="17716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utline spine marker"/>
          <p:cNvSpPr/>
          <p:nvPr/>
        </p:nvSpPr>
        <p:spPr>
          <a:xfrm>
            <a:off x="704850" y="289560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utline spine marker"/>
          <p:cNvSpPr/>
          <p:nvPr/>
        </p:nvSpPr>
        <p:spPr>
          <a:xfrm>
            <a:off x="704850" y="40195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a:solidFill>
                  <a:srgbClr val="FFFFFF"/>
                </a:solidFill>
                <a:latin typeface="Arial"/>
              </a:rPr>
              <a:t>2/24</a:t>
            </a:r>
          </a:p>
        </p:txBody>
      </p:sp>
      <p:sp>
        <p:nvSpPr>
          <p:cNvPr id="53" name="Rectangle 52"/>
          <p:cNvSpPr/>
          <p:nvPr/>
        </p:nvSpPr>
        <p:spPr>
          <a:xfrm>
            <a:off x="6134100" y="1676400"/>
            <a:ext cx="28575" cy="2800350"/>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6076950" y="17716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6076950" y="289560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6076950" y="40195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grpSp>
        <p:nvGrpSpPr>
          <p:cNvPr id="23" name="Group 23"/>
          <p:cNvGrpSpPr/>
          <p:nvPr/>
        </p:nvGrpSpPr>
        <p:grpSpPr>
          <a:xfrm>
            <a:off x="552450" y="1295400"/>
            <a:ext cx="2844241" cy="3257550"/>
            <a:chOff x="552450" y="1104900"/>
            <a:chExt cx="2844241" cy="3257550"/>
          </a:xfrm>
        </p:grpSpPr>
        <p:sp>
          <p:nvSpPr>
            <p:cNvPr id="6" name="Freeform 6"/>
            <p:cNvSpPr/>
            <p:nvPr/>
          </p:nvSpPr>
          <p:spPr>
            <a:xfrm>
              <a:off x="552450" y="1104900"/>
              <a:ext cx="2381250" cy="3257550"/>
            </a:xfrm>
            <a:custGeom>
              <a:avLst/>
              <a:gdLst/>
              <a:ahLst/>
              <a:cxnLst/>
              <a:rect l="l" t="t" r="r" b="b"/>
              <a:pathLst>
                <a:path w="2381250" h="3257550">
                  <a:moveTo>
                    <a:pt x="95250" y="0"/>
                  </a:moveTo>
                  <a:lnTo>
                    <a:pt x="2286000" y="0"/>
                  </a:lnTo>
                  <a:cubicBezTo>
                    <a:pt x="2338605" y="0"/>
                    <a:pt x="2381250" y="42645"/>
                    <a:pt x="2381250" y="95250"/>
                  </a:cubicBezTo>
                  <a:lnTo>
                    <a:pt x="2381250" y="3162300"/>
                  </a:lnTo>
                  <a:cubicBezTo>
                    <a:pt x="2381250" y="3214905"/>
                    <a:pt x="2338605" y="3257550"/>
                    <a:pt x="228600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7" name="Rectangle 7"/>
            <p:cNvSpPr/>
            <p:nvPr/>
          </p:nvSpPr>
          <p:spPr>
            <a:xfrm>
              <a:off x="552450" y="1104900"/>
              <a:ext cx="2381250" cy="476250"/>
            </a:xfrm>
            <a:prstGeom prst="rect">
              <a:avLst/>
            </a:prstGeom>
            <a:solidFill>
              <a:srgbClr val="F8FAFC"/>
            </a:solidFill>
            <a:ln w="9525">
              <a:solidFill>
                <a:srgbClr val="CBD5E1"/>
              </a:solidFill>
            </a:ln>
          </p:spPr>
        </p:sp>
        <p:sp>
          <p:nvSpPr>
            <p:cNvPr id="8" name="TextBox 8"/>
            <p:cNvSpPr txBox="1"/>
            <p:nvPr/>
          </p:nvSpPr>
          <p:spPr>
            <a:xfrm>
              <a:off x="876501" y="1257300"/>
              <a:ext cx="173314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Problem space P</a:t>
              </a:r>
            </a:p>
          </p:txBody>
        </p:sp>
        <p:sp>
          <p:nvSpPr>
            <p:cNvPr id="9" name="TextBox 9"/>
            <p:cNvSpPr txBox="1"/>
            <p:nvPr/>
          </p:nvSpPr>
          <p:spPr>
            <a:xfrm>
              <a:off x="831342" y="1778318"/>
              <a:ext cx="1258614"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numeric array</a:t>
              </a:r>
            </a:p>
          </p:txBody>
        </p:sp>
        <p:sp>
          <p:nvSpPr>
            <p:cNvPr id="10" name="TextBox 10"/>
            <p:cNvSpPr txBox="1"/>
            <p:nvPr/>
          </p:nvSpPr>
          <p:spPr>
            <a:xfrm>
              <a:off x="832485" y="21264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[4, 5, 5, 6, 17, 18,</a:t>
              </a:r>
            </a:p>
          </p:txBody>
        </p:sp>
        <p:sp>
          <p:nvSpPr>
            <p:cNvPr id="11" name="TextBox 11"/>
            <p:cNvSpPr txBox="1"/>
            <p:nvPr/>
          </p:nvSpPr>
          <p:spPr>
            <a:xfrm>
              <a:off x="832485" y="23550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19, 2, 2, 3, 31, 45]</a:t>
              </a:r>
            </a:p>
          </p:txBody>
        </p:sp>
        <p:sp>
          <p:nvSpPr>
            <p:cNvPr id="12" name="Line 12"/>
            <p:cNvSpPr/>
            <p:nvPr/>
          </p:nvSpPr>
          <p:spPr>
            <a:xfrm>
              <a:off x="838200" y="2886075"/>
              <a:ext cx="1809750" cy="9525"/>
            </a:xfrm>
            <a:custGeom>
              <a:avLst/>
              <a:gdLst/>
              <a:ahLst/>
              <a:cxnLst/>
              <a:rect l="l" t="t" r="r" b="b"/>
              <a:pathLst>
                <a:path w="1809750" h="9525">
                  <a:moveTo>
                    <a:pt x="0" y="0"/>
                  </a:moveTo>
                  <a:lnTo>
                    <a:pt x="1809750" y="0"/>
                  </a:lnTo>
                </a:path>
              </a:pathLst>
            </a:custGeom>
            <a:noFill/>
            <a:ln w="9525">
              <a:solidFill>
                <a:srgbClr val="E2E8F0"/>
              </a:solidFill>
            </a:ln>
          </p:spPr>
        </p:sp>
        <p:sp>
          <p:nvSpPr>
            <p:cNvPr id="13" name="Rectangle 13"/>
            <p:cNvSpPr/>
            <p:nvPr/>
          </p:nvSpPr>
          <p:spPr>
            <a:xfrm>
              <a:off x="857250" y="3105150"/>
              <a:ext cx="142875" cy="209550"/>
            </a:xfrm>
            <a:prstGeom prst="rect">
              <a:avLst/>
            </a:prstGeom>
            <a:solidFill>
              <a:srgbClr val="E2E8F0"/>
            </a:solidFill>
            <a:ln>
              <a:noFill/>
            </a:ln>
          </p:spPr>
        </p:sp>
        <p:sp>
          <p:nvSpPr>
            <p:cNvPr id="14" name="Rectangle 14"/>
            <p:cNvSpPr/>
            <p:nvPr/>
          </p:nvSpPr>
          <p:spPr>
            <a:xfrm>
              <a:off x="1066800" y="3067050"/>
              <a:ext cx="142875" cy="247650"/>
            </a:xfrm>
            <a:prstGeom prst="rect">
              <a:avLst/>
            </a:prstGeom>
            <a:solidFill>
              <a:srgbClr val="E2E8F0"/>
            </a:solidFill>
            <a:ln>
              <a:noFill/>
            </a:ln>
          </p:spPr>
        </p:sp>
        <p:sp>
          <p:nvSpPr>
            <p:cNvPr id="15" name="Rectangle 15"/>
            <p:cNvSpPr/>
            <p:nvPr/>
          </p:nvSpPr>
          <p:spPr>
            <a:xfrm>
              <a:off x="1276350" y="3067050"/>
              <a:ext cx="142875" cy="247650"/>
            </a:xfrm>
            <a:prstGeom prst="rect">
              <a:avLst/>
            </a:prstGeom>
            <a:solidFill>
              <a:srgbClr val="E2E8F0"/>
            </a:solidFill>
            <a:ln>
              <a:noFill/>
            </a:ln>
          </p:spPr>
        </p:sp>
        <p:sp>
          <p:nvSpPr>
            <p:cNvPr id="16" name="Rectangle 16"/>
            <p:cNvSpPr/>
            <p:nvPr/>
          </p:nvSpPr>
          <p:spPr>
            <a:xfrm>
              <a:off x="1485900" y="3009900"/>
              <a:ext cx="142875" cy="304800"/>
            </a:xfrm>
            <a:prstGeom prst="rect">
              <a:avLst/>
            </a:prstGeom>
            <a:solidFill>
              <a:srgbClr val="E2E8F0"/>
            </a:solidFill>
            <a:ln>
              <a:noFill/>
            </a:ln>
          </p:spPr>
        </p:sp>
        <p:sp>
          <p:nvSpPr>
            <p:cNvPr id="17" name="Rectangle 17"/>
            <p:cNvSpPr/>
            <p:nvPr/>
          </p:nvSpPr>
          <p:spPr>
            <a:xfrm>
              <a:off x="1695450" y="2571750"/>
              <a:ext cx="142875" cy="742950"/>
            </a:xfrm>
            <a:prstGeom prst="rect">
              <a:avLst/>
            </a:prstGeom>
            <a:solidFill>
              <a:srgbClr val="D97757"/>
            </a:solidFill>
            <a:ln>
              <a:noFill/>
            </a:ln>
          </p:spPr>
        </p:sp>
        <p:sp>
          <p:nvSpPr>
            <p:cNvPr id="18" name="Rectangle 18"/>
            <p:cNvSpPr/>
            <p:nvPr/>
          </p:nvSpPr>
          <p:spPr>
            <a:xfrm>
              <a:off x="1905000" y="2533650"/>
              <a:ext cx="142875" cy="781050"/>
            </a:xfrm>
            <a:prstGeom prst="rect">
              <a:avLst/>
            </a:prstGeom>
            <a:solidFill>
              <a:srgbClr val="D97757"/>
            </a:solidFill>
            <a:ln>
              <a:noFill/>
            </a:ln>
          </p:spPr>
        </p:sp>
        <p:sp>
          <p:nvSpPr>
            <p:cNvPr id="19" name="Rectangle 19"/>
            <p:cNvSpPr/>
            <p:nvPr/>
          </p:nvSpPr>
          <p:spPr>
            <a:xfrm>
              <a:off x="2114550" y="2495550"/>
              <a:ext cx="142875" cy="819150"/>
            </a:xfrm>
            <a:prstGeom prst="rect">
              <a:avLst/>
            </a:prstGeom>
            <a:solidFill>
              <a:srgbClr val="D97757"/>
            </a:solidFill>
            <a:ln>
              <a:noFill/>
            </a:ln>
          </p:spPr>
        </p:sp>
        <p:sp>
          <p:nvSpPr>
            <p:cNvPr id="20" name="Rectangle 20"/>
            <p:cNvSpPr/>
            <p:nvPr/>
          </p:nvSpPr>
          <p:spPr>
            <a:xfrm>
              <a:off x="2324100" y="3219450"/>
              <a:ext cx="142875" cy="95250"/>
            </a:xfrm>
            <a:prstGeom prst="rect">
              <a:avLst/>
            </a:prstGeom>
            <a:solidFill>
              <a:srgbClr val="BA1D2C"/>
            </a:solidFill>
            <a:ln>
              <a:noFill/>
            </a:ln>
          </p:spPr>
        </p:sp>
        <p:sp>
          <p:nvSpPr>
            <p:cNvPr id="21" name="Rectangle 21"/>
            <p:cNvSpPr/>
            <p:nvPr/>
          </p:nvSpPr>
          <p:spPr>
            <a:xfrm>
              <a:off x="2533650" y="3219450"/>
              <a:ext cx="142875" cy="95250"/>
            </a:xfrm>
            <a:prstGeom prst="rect">
              <a:avLst/>
            </a:prstGeom>
            <a:solidFill>
              <a:srgbClr val="BA1D2C"/>
            </a:solidFill>
            <a:ln>
              <a:noFill/>
            </a:ln>
          </p:spPr>
        </p:sp>
        <p:sp>
          <p:nvSpPr>
            <p:cNvPr id="22" name="TextBox 22"/>
            <p:cNvSpPr txBox="1"/>
            <p:nvPr/>
          </p:nvSpPr>
          <p:spPr>
            <a:xfrm>
              <a:off x="832104" y="3680460"/>
              <a:ext cx="256458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order, runs, duplicates, spread</a:t>
              </a:r>
            </a:p>
          </p:txBody>
        </p:sp>
      </p:grpSp>
      <p:grpSp>
        <p:nvGrpSpPr>
          <p:cNvPr id="39" name="Group 39"/>
          <p:cNvGrpSpPr/>
          <p:nvPr/>
        </p:nvGrpSpPr>
        <p:grpSpPr>
          <a:xfrm>
            <a:off x="3524250" y="1295400"/>
            <a:ext cx="2655189" cy="3257550"/>
            <a:chOff x="3524250" y="1104900"/>
            <a:chExt cx="2655189" cy="3257550"/>
          </a:xfrm>
        </p:grpSpPr>
        <p:sp>
          <p:nvSpPr>
            <p:cNvPr id="24" name="Freeform 24"/>
            <p:cNvSpPr/>
            <p:nvPr/>
          </p:nvSpPr>
          <p:spPr>
            <a:xfrm>
              <a:off x="3524250" y="1104900"/>
              <a:ext cx="2476500" cy="3257550"/>
            </a:xfrm>
            <a:custGeom>
              <a:avLst/>
              <a:gdLst/>
              <a:ahLst/>
              <a:cxnLst/>
              <a:rect l="l" t="t" r="r" b="b"/>
              <a:pathLst>
                <a:path w="2476500" h="3257550">
                  <a:moveTo>
                    <a:pt x="95250" y="0"/>
                  </a:moveTo>
                  <a:lnTo>
                    <a:pt x="2381250" y="0"/>
                  </a:lnTo>
                  <a:cubicBezTo>
                    <a:pt x="2433855" y="0"/>
                    <a:pt x="2476500" y="42645"/>
                    <a:pt x="2476500" y="95250"/>
                  </a:cubicBezTo>
                  <a:lnTo>
                    <a:pt x="2476500" y="3162300"/>
                  </a:lnTo>
                  <a:cubicBezTo>
                    <a:pt x="2476500" y="3214905"/>
                    <a:pt x="2433855" y="3257550"/>
                    <a:pt x="23812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25" name="Rectangle 25"/>
            <p:cNvSpPr/>
            <p:nvPr/>
          </p:nvSpPr>
          <p:spPr>
            <a:xfrm>
              <a:off x="3524250" y="1104900"/>
              <a:ext cx="2476500" cy="476250"/>
            </a:xfrm>
            <a:prstGeom prst="rect">
              <a:avLst/>
            </a:prstGeom>
            <a:solidFill>
              <a:srgbClr val="F8FAFC"/>
            </a:solidFill>
            <a:ln w="9525">
              <a:solidFill>
                <a:srgbClr val="CBD5E1"/>
              </a:solidFill>
            </a:ln>
          </p:spPr>
        </p:sp>
        <p:sp>
          <p:nvSpPr>
            <p:cNvPr id="26" name="TextBox 26"/>
            <p:cNvSpPr txBox="1"/>
            <p:nvPr/>
          </p:nvSpPr>
          <p:spPr>
            <a:xfrm>
              <a:off x="3890349" y="1257300"/>
              <a:ext cx="1744302"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Feature space F</a:t>
              </a:r>
            </a:p>
          </p:txBody>
        </p:sp>
        <p:sp>
          <p:nvSpPr>
            <p:cNvPr id="27" name="TextBox 27"/>
            <p:cNvSpPr txBox="1"/>
            <p:nvPr/>
          </p:nvSpPr>
          <p:spPr>
            <a:xfrm>
              <a:off x="3803142" y="1778318"/>
              <a:ext cx="2376297"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structural array features</a:t>
              </a:r>
            </a:p>
          </p:txBody>
        </p:sp>
        <p:sp>
          <p:nvSpPr>
            <p:cNvPr id="28" name="Rectangle 28"/>
            <p:cNvSpPr/>
            <p:nvPr/>
          </p:nvSpPr>
          <p:spPr>
            <a:xfrm>
              <a:off x="3810000" y="2209800"/>
              <a:ext cx="1905000" cy="1524000"/>
            </a:xfrm>
            <a:prstGeom prst="rect">
              <a:avLst/>
            </a:prstGeom>
            <a:solidFill>
              <a:srgbClr val="FFFFFF"/>
            </a:solidFill>
            <a:ln w="9525">
              <a:solidFill>
                <a:srgbClr val="E2E8F0"/>
              </a:solidFill>
            </a:ln>
          </p:spPr>
        </p:sp>
        <p:sp>
          <p:nvSpPr>
            <p:cNvPr id="29" name="Line 29"/>
            <p:cNvSpPr/>
            <p:nvPr/>
          </p:nvSpPr>
          <p:spPr>
            <a:xfrm>
              <a:off x="3810000" y="25146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0" name="Line 30"/>
            <p:cNvSpPr/>
            <p:nvPr/>
          </p:nvSpPr>
          <p:spPr>
            <a:xfrm>
              <a:off x="3810000" y="28194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1" name="Line 31"/>
            <p:cNvSpPr/>
            <p:nvPr/>
          </p:nvSpPr>
          <p:spPr>
            <a:xfrm>
              <a:off x="3810000" y="31242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2" name="Line 32"/>
            <p:cNvSpPr/>
            <p:nvPr/>
          </p:nvSpPr>
          <p:spPr>
            <a:xfrm>
              <a:off x="3810000" y="34290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3" name="TextBox 33"/>
            <p:cNvSpPr txBox="1"/>
            <p:nvPr/>
          </p:nvSpPr>
          <p:spPr>
            <a:xfrm>
              <a:off x="3975735" y="2297906"/>
              <a:ext cx="30675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size</a:t>
              </a:r>
            </a:p>
          </p:txBody>
        </p:sp>
        <p:sp>
          <p:nvSpPr>
            <p:cNvPr id="34" name="TextBox 34"/>
            <p:cNvSpPr txBox="1"/>
            <p:nvPr/>
          </p:nvSpPr>
          <p:spPr>
            <a:xfrm>
              <a:off x="3975735" y="2602706"/>
              <a:ext cx="164706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sortedness / disorder</a:t>
              </a:r>
            </a:p>
          </p:txBody>
        </p:sp>
        <p:sp>
          <p:nvSpPr>
            <p:cNvPr id="35" name="TextBox 35"/>
            <p:cNvSpPr txBox="1"/>
            <p:nvPr/>
          </p:nvSpPr>
          <p:spPr>
            <a:xfrm>
              <a:off x="3975735" y="2907506"/>
              <a:ext cx="34461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runs</a:t>
              </a:r>
            </a:p>
          </p:txBody>
        </p:sp>
        <p:sp>
          <p:nvSpPr>
            <p:cNvPr id="36" name="TextBox 36"/>
            <p:cNvSpPr txBox="1"/>
            <p:nvPr/>
          </p:nvSpPr>
          <p:spPr>
            <a:xfrm>
              <a:off x="3975735" y="3212306"/>
              <a:ext cx="152590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duplicates / entropy</a:t>
              </a:r>
            </a:p>
          </p:txBody>
        </p:sp>
        <p:sp>
          <p:nvSpPr>
            <p:cNvPr id="37" name="TextBox 37"/>
            <p:cNvSpPr txBox="1"/>
            <p:nvPr/>
          </p:nvSpPr>
          <p:spPr>
            <a:xfrm>
              <a:off x="3975735" y="3517106"/>
              <a:ext cx="1276017"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spread / outliers</a:t>
              </a:r>
            </a:p>
          </p:txBody>
        </p:sp>
        <p:sp>
          <p:nvSpPr>
            <p:cNvPr id="38" name="TextBox 38"/>
            <p:cNvSpPr txBox="1"/>
            <p:nvPr/>
          </p:nvSpPr>
          <p:spPr>
            <a:xfrm>
              <a:off x="4341076" y="3911918"/>
              <a:ext cx="842848" cy="264033"/>
            </a:xfrm>
            <a:prstGeom prst="rect">
              <a:avLst/>
            </a:prstGeom>
            <a:noFill/>
            <a:ln>
              <a:noFill/>
            </a:ln>
          </p:spPr>
          <p:txBody>
            <a:bodyPr wrap="none" lIns="0" tIns="0" rIns="0" bIns="0" anchor="t" anchorCtr="0">
              <a:spAutoFit/>
            </a:bodyPr>
            <a:lstStyle/>
            <a:p>
              <a:pPr algn="ctr"/>
              <a:r>
                <a:rPr lang="en-US" sz="1350" dirty="0">
                  <a:solidFill>
                    <a:srgbClr val="8F1D3A"/>
                  </a:solidFill>
                  <a:latin typeface="Consolas"/>
                  <a:ea typeface="Consolas"/>
                  <a:cs typeface="Consolas"/>
                </a:rPr>
                <a:t>x ∈ R^16</a:t>
              </a:r>
            </a:p>
          </p:txBody>
        </p:sp>
      </p:grpSp>
      <p:grpSp>
        <p:nvGrpSpPr>
          <p:cNvPr id="46" name="Group 46"/>
          <p:cNvGrpSpPr/>
          <p:nvPr/>
        </p:nvGrpSpPr>
        <p:grpSpPr>
          <a:xfrm>
            <a:off x="6496050" y="1543050"/>
            <a:ext cx="2190750" cy="2762250"/>
            <a:chOff x="6496050" y="1352550"/>
            <a:chExt cx="2190750" cy="2762250"/>
          </a:xfrm>
        </p:grpSpPr>
        <p:sp>
          <p:nvSpPr>
            <p:cNvPr id="40" name="Freeform 40"/>
            <p:cNvSpPr/>
            <p:nvPr/>
          </p:nvSpPr>
          <p:spPr>
            <a:xfrm>
              <a:off x="6496050" y="1352550"/>
              <a:ext cx="2190750" cy="2762250"/>
            </a:xfrm>
            <a:custGeom>
              <a:avLst/>
              <a:gdLst/>
              <a:ahLst/>
              <a:cxnLst/>
              <a:rect l="l" t="t" r="r" b="b"/>
              <a:pathLst>
                <a:path w="2190750" h="2762250">
                  <a:moveTo>
                    <a:pt x="114300" y="0"/>
                  </a:moveTo>
                  <a:lnTo>
                    <a:pt x="2076450" y="0"/>
                  </a:lnTo>
                  <a:cubicBezTo>
                    <a:pt x="2139576" y="0"/>
                    <a:pt x="2190750" y="51174"/>
                    <a:pt x="2190750" y="114300"/>
                  </a:cubicBezTo>
                  <a:lnTo>
                    <a:pt x="2190750" y="2647950"/>
                  </a:lnTo>
                  <a:cubicBezTo>
                    <a:pt x="2190750" y="2711076"/>
                    <a:pt x="2139576" y="2762250"/>
                    <a:pt x="2076450" y="2762250"/>
                  </a:cubicBezTo>
                  <a:lnTo>
                    <a:pt x="114300" y="2762250"/>
                  </a:lnTo>
                  <a:cubicBezTo>
                    <a:pt x="51174" y="2762250"/>
                    <a:pt x="0" y="2711076"/>
                    <a:pt x="0" y="2647950"/>
                  </a:cubicBezTo>
                  <a:lnTo>
                    <a:pt x="0" y="114300"/>
                  </a:lnTo>
                  <a:cubicBezTo>
                    <a:pt x="0" y="51174"/>
                    <a:pt x="51174" y="0"/>
                    <a:pt x="114300" y="0"/>
                  </a:cubicBezTo>
                  <a:close/>
                </a:path>
              </a:pathLst>
            </a:custGeom>
            <a:solidFill>
              <a:srgbClr val="191919"/>
            </a:solidFill>
            <a:ln>
              <a:noFill/>
            </a:ln>
          </p:spPr>
        </p:sp>
        <p:sp>
          <p:nvSpPr>
            <p:cNvPr id="41" name="TextBox 41"/>
            <p:cNvSpPr txBox="1"/>
            <p:nvPr/>
          </p:nvSpPr>
          <p:spPr>
            <a:xfrm>
              <a:off x="7008610" y="1750219"/>
              <a:ext cx="1165631" cy="366712"/>
            </a:xfrm>
            <a:prstGeom prst="rect">
              <a:avLst/>
            </a:prstGeom>
            <a:noFill/>
            <a:ln>
              <a:noFill/>
            </a:ln>
          </p:spPr>
          <p:txBody>
            <a:bodyPr wrap="none" lIns="0" tIns="0" rIns="0" bIns="0" anchor="t" anchorCtr="0">
              <a:spAutoFit/>
            </a:bodyPr>
            <a:lstStyle/>
            <a:p>
              <a:pPr algn="ctr"/>
              <a:r>
                <a:rPr lang="en-US" sz="1880" b="1" dirty="0">
                  <a:solidFill>
                    <a:srgbClr val="FFFFFF"/>
                  </a:solidFill>
                  <a:latin typeface="Anthropic Sans"/>
                  <a:ea typeface="Anthropic Sans"/>
                  <a:cs typeface="Anthropic Sans"/>
                </a:rPr>
                <a:t>Selector</a:t>
              </a:r>
            </a:p>
          </p:txBody>
        </p:sp>
        <p:sp>
          <p:nvSpPr>
            <p:cNvPr id="42" name="TextBox 42"/>
            <p:cNvSpPr txBox="1"/>
            <p:nvPr/>
          </p:nvSpPr>
          <p:spPr>
            <a:xfrm>
              <a:off x="6995360" y="2174558"/>
              <a:ext cx="1192130" cy="322707"/>
            </a:xfrm>
            <a:prstGeom prst="rect">
              <a:avLst/>
            </a:prstGeom>
            <a:noFill/>
            <a:ln>
              <a:noFill/>
            </a:ln>
          </p:spPr>
          <p:txBody>
            <a:bodyPr wrap="none" lIns="0" tIns="0" rIns="0" bIns="0" anchor="t" anchorCtr="0">
              <a:spAutoFit/>
            </a:bodyPr>
            <a:lstStyle/>
            <a:p>
              <a:pPr algn="ctr"/>
              <a:r>
                <a:rPr lang="en-US" sz="1650" dirty="0">
                  <a:solidFill>
                    <a:srgbClr val="F4511E"/>
                  </a:solidFill>
                  <a:latin typeface="Consolas"/>
                  <a:ea typeface="Consolas"/>
                  <a:cs typeface="Consolas"/>
                </a:rPr>
                <a:t>S : F → A</a:t>
              </a:r>
            </a:p>
          </p:txBody>
        </p:sp>
        <p:sp>
          <p:nvSpPr>
            <p:cNvPr id="43" name="Line 43"/>
            <p:cNvSpPr/>
            <p:nvPr/>
          </p:nvSpPr>
          <p:spPr>
            <a:xfrm>
              <a:off x="6934200" y="2724150"/>
              <a:ext cx="1314450" cy="9525"/>
            </a:xfrm>
            <a:custGeom>
              <a:avLst/>
              <a:gdLst/>
              <a:ahLst/>
              <a:cxnLst/>
              <a:rect l="l" t="t" r="r" b="b"/>
              <a:pathLst>
                <a:path w="1314450" h="9525">
                  <a:moveTo>
                    <a:pt x="0" y="0"/>
                  </a:moveTo>
                  <a:lnTo>
                    <a:pt x="1314450" y="0"/>
                  </a:lnTo>
                </a:path>
              </a:pathLst>
            </a:custGeom>
            <a:noFill/>
            <a:ln w="9525">
              <a:solidFill>
                <a:srgbClr val="64748B"/>
              </a:solidFill>
            </a:ln>
          </p:spPr>
        </p:sp>
        <p:sp>
          <p:nvSpPr>
            <p:cNvPr id="44" name="TextBox 44"/>
            <p:cNvSpPr txBox="1"/>
            <p:nvPr/>
          </p:nvSpPr>
          <p:spPr>
            <a:xfrm>
              <a:off x="6634123" y="2989421"/>
              <a:ext cx="1914604" cy="278702"/>
            </a:xfrm>
            <a:prstGeom prst="rect">
              <a:avLst/>
            </a:prstGeom>
            <a:noFill/>
            <a:ln>
              <a:noFill/>
            </a:ln>
          </p:spPr>
          <p:txBody>
            <a:bodyPr wrap="none" lIns="0" tIns="0" rIns="0" bIns="0" anchor="t" anchorCtr="0">
              <a:spAutoFit/>
            </a:bodyPr>
            <a:lstStyle/>
            <a:p>
              <a:pPr algn="ctr"/>
              <a:r>
                <a:rPr lang="en-US" sz="1420" b="1" dirty="0">
                  <a:solidFill>
                    <a:srgbClr val="FFFFFF"/>
                  </a:solidFill>
                  <a:latin typeface="Anthropic Sans"/>
                  <a:ea typeface="Anthropic Sans"/>
                  <a:cs typeface="Anthropic Sans"/>
                </a:rPr>
                <a:t>XGBoost classifier</a:t>
              </a:r>
            </a:p>
          </p:txBody>
        </p:sp>
        <p:sp>
          <p:nvSpPr>
            <p:cNvPr id="45" name="TextBox 45"/>
            <p:cNvSpPr txBox="1"/>
            <p:nvPr/>
          </p:nvSpPr>
          <p:spPr>
            <a:xfrm>
              <a:off x="6733184" y="3318510"/>
              <a:ext cx="1716481" cy="234696"/>
            </a:xfrm>
            <a:prstGeom prst="rect">
              <a:avLst/>
            </a:prstGeom>
            <a:noFill/>
            <a:ln>
              <a:noFill/>
            </a:ln>
          </p:spPr>
          <p:txBody>
            <a:bodyPr wrap="none" lIns="0" tIns="0" rIns="0" bIns="0" anchor="t" anchorCtr="0">
              <a:spAutoFit/>
            </a:bodyPr>
            <a:lstStyle/>
            <a:p>
              <a:pPr algn="ctr"/>
              <a:r>
                <a:rPr lang="en-US" sz="1200" dirty="0">
                  <a:solidFill>
                    <a:srgbClr val="CBD5E1"/>
                  </a:solidFill>
                  <a:latin typeface="Anthropic Sans"/>
                  <a:ea typeface="Anthropic Sans"/>
                  <a:cs typeface="Anthropic Sans"/>
                </a:rPr>
                <a:t>predict fastest class</a:t>
              </a:r>
            </a:p>
          </p:txBody>
        </p:sp>
      </p:grpSp>
      <p:grpSp>
        <p:nvGrpSpPr>
          <p:cNvPr id="56" name="Group 56"/>
          <p:cNvGrpSpPr/>
          <p:nvPr/>
        </p:nvGrpSpPr>
        <p:grpSpPr>
          <a:xfrm>
            <a:off x="9201150" y="1295400"/>
            <a:ext cx="2438400" cy="3257550"/>
            <a:chOff x="9201150" y="1104900"/>
            <a:chExt cx="2438400" cy="3257550"/>
          </a:xfrm>
        </p:grpSpPr>
        <p:sp>
          <p:nvSpPr>
            <p:cNvPr id="47" name="Freeform 47"/>
            <p:cNvSpPr/>
            <p:nvPr/>
          </p:nvSpPr>
          <p:spPr>
            <a:xfrm>
              <a:off x="9201150" y="1104900"/>
              <a:ext cx="2438400" cy="3257550"/>
            </a:xfrm>
            <a:custGeom>
              <a:avLst/>
              <a:gdLst/>
              <a:ahLst/>
              <a:cxnLst/>
              <a:rect l="l" t="t" r="r" b="b"/>
              <a:pathLst>
                <a:path w="2438400" h="3257550">
                  <a:moveTo>
                    <a:pt x="95250" y="0"/>
                  </a:moveTo>
                  <a:lnTo>
                    <a:pt x="2343150" y="0"/>
                  </a:lnTo>
                  <a:cubicBezTo>
                    <a:pt x="2395755" y="0"/>
                    <a:pt x="2438400" y="42645"/>
                    <a:pt x="2438400" y="95250"/>
                  </a:cubicBezTo>
                  <a:lnTo>
                    <a:pt x="2438400" y="3162300"/>
                  </a:lnTo>
                  <a:cubicBezTo>
                    <a:pt x="2438400" y="3214905"/>
                    <a:pt x="2395755" y="3257550"/>
                    <a:pt x="23431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48" name="Rectangle 48"/>
            <p:cNvSpPr/>
            <p:nvPr/>
          </p:nvSpPr>
          <p:spPr>
            <a:xfrm>
              <a:off x="9201150" y="1104900"/>
              <a:ext cx="2438400" cy="476250"/>
            </a:xfrm>
            <a:prstGeom prst="rect">
              <a:avLst/>
            </a:prstGeom>
            <a:solidFill>
              <a:srgbClr val="F8FAFC"/>
            </a:solidFill>
            <a:ln w="9525">
              <a:solidFill>
                <a:srgbClr val="CBD5E1"/>
              </a:solidFill>
            </a:ln>
          </p:spPr>
        </p:sp>
        <p:sp>
          <p:nvSpPr>
            <p:cNvPr id="49" name="TextBox 49"/>
            <p:cNvSpPr txBox="1"/>
            <p:nvPr/>
          </p:nvSpPr>
          <p:spPr>
            <a:xfrm>
              <a:off x="9465272" y="1257300"/>
              <a:ext cx="191015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Algorithm space A</a:t>
              </a:r>
            </a:p>
          </p:txBody>
        </p:sp>
        <p:sp>
          <p:nvSpPr>
            <p:cNvPr id="50" name="Freeform 50"/>
            <p:cNvSpPr/>
            <p:nvPr/>
          </p:nvSpPr>
          <p:spPr>
            <a:xfrm>
              <a:off x="9544050" y="20764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8F1D3A"/>
              </a:solidFill>
            </a:ln>
          </p:spPr>
        </p:sp>
        <p:sp>
          <p:nvSpPr>
            <p:cNvPr id="51" name="TextBox 51"/>
            <p:cNvSpPr txBox="1"/>
            <p:nvPr/>
          </p:nvSpPr>
          <p:spPr>
            <a:xfrm>
              <a:off x="9948134" y="2216468"/>
              <a:ext cx="944432"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Introsort</a:t>
              </a:r>
            </a:p>
          </p:txBody>
        </p:sp>
        <p:sp>
          <p:nvSpPr>
            <p:cNvPr id="52" name="Freeform 52"/>
            <p:cNvSpPr/>
            <p:nvPr/>
          </p:nvSpPr>
          <p:spPr>
            <a:xfrm>
              <a:off x="9544050" y="278130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BA1D2C"/>
              </a:solidFill>
            </a:ln>
          </p:spPr>
        </p:sp>
        <p:sp>
          <p:nvSpPr>
            <p:cNvPr id="53" name="TextBox 53"/>
            <p:cNvSpPr txBox="1"/>
            <p:nvPr/>
          </p:nvSpPr>
          <p:spPr>
            <a:xfrm>
              <a:off x="9975857" y="2921318"/>
              <a:ext cx="888985"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Heapsort</a:t>
              </a:r>
            </a:p>
          </p:txBody>
        </p:sp>
        <p:sp>
          <p:nvSpPr>
            <p:cNvPr id="54" name="Freeform 54"/>
            <p:cNvSpPr/>
            <p:nvPr/>
          </p:nvSpPr>
          <p:spPr>
            <a:xfrm>
              <a:off x="9544050" y="34861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4511E"/>
            </a:solidFill>
            <a:ln>
              <a:noFill/>
            </a:ln>
          </p:spPr>
        </p:sp>
        <p:sp>
          <p:nvSpPr>
            <p:cNvPr id="55" name="TextBox 55"/>
            <p:cNvSpPr txBox="1"/>
            <p:nvPr/>
          </p:nvSpPr>
          <p:spPr>
            <a:xfrm>
              <a:off x="10033336" y="3626168"/>
              <a:ext cx="7740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nthropic Sans"/>
                  <a:ea typeface="Anthropic Sans"/>
                  <a:cs typeface="Anthropic Sans"/>
                </a:rPr>
                <a:t>Timsort</a:t>
              </a:r>
            </a:p>
          </p:txBody>
        </p:sp>
      </p:grpSp>
      <p:grpSp>
        <p:nvGrpSpPr>
          <p:cNvPr id="63" name="Group 63"/>
          <p:cNvGrpSpPr/>
          <p:nvPr/>
        </p:nvGrpSpPr>
        <p:grpSpPr>
          <a:xfrm>
            <a:off x="2933700" y="2819400"/>
            <a:ext cx="6267450" cy="209550"/>
            <a:chOff x="2933700" y="2628900"/>
            <a:chExt cx="6267450" cy="209550"/>
          </a:xfrm>
        </p:grpSpPr>
        <p:sp>
          <p:nvSpPr>
            <p:cNvPr id="57" name="Freeform 57"/>
            <p:cNvSpPr/>
            <p:nvPr/>
          </p:nvSpPr>
          <p:spPr>
            <a:xfrm>
              <a:off x="2933700" y="2733675"/>
              <a:ext cx="590550" cy="9525"/>
            </a:xfrm>
            <a:custGeom>
              <a:avLst/>
              <a:gdLst/>
              <a:ahLst/>
              <a:cxnLst/>
              <a:rect l="l" t="t" r="r" b="b"/>
              <a:pathLst>
                <a:path w="590550" h="9525">
                  <a:moveTo>
                    <a:pt x="0" y="0"/>
                  </a:moveTo>
                  <a:lnTo>
                    <a:pt x="590550" y="0"/>
                  </a:lnTo>
                </a:path>
              </a:pathLst>
            </a:custGeom>
            <a:solidFill>
              <a:srgbClr val="000000"/>
            </a:solidFill>
            <a:ln w="38100">
              <a:solidFill>
                <a:srgbClr val="D97757"/>
              </a:solidFill>
            </a:ln>
          </p:spPr>
        </p:sp>
        <p:sp>
          <p:nvSpPr>
            <p:cNvPr id="58" name="Freeform 58"/>
            <p:cNvSpPr/>
            <p:nvPr/>
          </p:nvSpPr>
          <p:spPr>
            <a:xfrm>
              <a:off x="33528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59" name="Freeform 59"/>
            <p:cNvSpPr/>
            <p:nvPr/>
          </p:nvSpPr>
          <p:spPr>
            <a:xfrm>
              <a:off x="6000750" y="2733675"/>
              <a:ext cx="495300" cy="9525"/>
            </a:xfrm>
            <a:custGeom>
              <a:avLst/>
              <a:gdLst/>
              <a:ahLst/>
              <a:cxnLst/>
              <a:rect l="l" t="t" r="r" b="b"/>
              <a:pathLst>
                <a:path w="495300" h="9525">
                  <a:moveTo>
                    <a:pt x="0" y="0"/>
                  </a:moveTo>
                  <a:lnTo>
                    <a:pt x="495300" y="0"/>
                  </a:lnTo>
                </a:path>
              </a:pathLst>
            </a:custGeom>
            <a:solidFill>
              <a:srgbClr val="000000"/>
            </a:solidFill>
            <a:ln w="38100">
              <a:solidFill>
                <a:srgbClr val="D97757"/>
              </a:solidFill>
            </a:ln>
          </p:spPr>
        </p:sp>
        <p:sp>
          <p:nvSpPr>
            <p:cNvPr id="60" name="Freeform 60"/>
            <p:cNvSpPr/>
            <p:nvPr/>
          </p:nvSpPr>
          <p:spPr>
            <a:xfrm>
              <a:off x="63246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61" name="Freeform 61"/>
            <p:cNvSpPr/>
            <p:nvPr/>
          </p:nvSpPr>
          <p:spPr>
            <a:xfrm>
              <a:off x="8686800" y="2733675"/>
              <a:ext cx="514350" cy="9525"/>
            </a:xfrm>
            <a:custGeom>
              <a:avLst/>
              <a:gdLst/>
              <a:ahLst/>
              <a:cxnLst/>
              <a:rect l="l" t="t" r="r" b="b"/>
              <a:pathLst>
                <a:path w="514350" h="9525">
                  <a:moveTo>
                    <a:pt x="0" y="0"/>
                  </a:moveTo>
                  <a:lnTo>
                    <a:pt x="514350" y="0"/>
                  </a:lnTo>
                </a:path>
              </a:pathLst>
            </a:custGeom>
            <a:solidFill>
              <a:srgbClr val="000000"/>
            </a:solidFill>
            <a:ln w="38100">
              <a:solidFill>
                <a:srgbClr val="D97757"/>
              </a:solidFill>
            </a:ln>
          </p:spPr>
        </p:sp>
        <p:sp>
          <p:nvSpPr>
            <p:cNvPr id="62" name="Freeform 62"/>
            <p:cNvSpPr/>
            <p:nvPr/>
          </p:nvSpPr>
          <p:spPr>
            <a:xfrm>
              <a:off x="90297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grpSp>
      <p:grpSp>
        <p:nvGrpSpPr>
          <p:cNvPr id="79" name="Group 79"/>
          <p:cNvGrpSpPr/>
          <p:nvPr/>
        </p:nvGrpSpPr>
        <p:grpSpPr>
          <a:xfrm>
            <a:off x="1866900" y="4552950"/>
            <a:ext cx="8553450" cy="1847850"/>
            <a:chOff x="1866900" y="4362450"/>
            <a:chExt cx="8553450" cy="1847850"/>
          </a:xfrm>
        </p:grpSpPr>
        <p:sp>
          <p:nvSpPr>
            <p:cNvPr id="64" name="Freeform 64"/>
            <p:cNvSpPr/>
            <p:nvPr/>
          </p:nvSpPr>
          <p:spPr>
            <a:xfrm>
              <a:off x="1866900" y="5029200"/>
              <a:ext cx="8458200" cy="1181100"/>
            </a:xfrm>
            <a:custGeom>
              <a:avLst/>
              <a:gdLst/>
              <a:ahLst/>
              <a:cxnLst/>
              <a:rect l="l" t="t" r="r" b="b"/>
              <a:pathLst>
                <a:path w="8458200" h="1181100">
                  <a:moveTo>
                    <a:pt x="114300" y="0"/>
                  </a:moveTo>
                  <a:lnTo>
                    <a:pt x="8343900" y="0"/>
                  </a:lnTo>
                  <a:cubicBezTo>
                    <a:pt x="8407026" y="0"/>
                    <a:pt x="8458200" y="51174"/>
                    <a:pt x="8458200" y="114300"/>
                  </a:cubicBezTo>
                  <a:lnTo>
                    <a:pt x="8458200" y="1066800"/>
                  </a:lnTo>
                  <a:cubicBezTo>
                    <a:pt x="8458200" y="1129926"/>
                    <a:pt x="8407026" y="1181100"/>
                    <a:pt x="8343900" y="1181100"/>
                  </a:cubicBezTo>
                  <a:lnTo>
                    <a:pt x="114300" y="1181100"/>
                  </a:lnTo>
                  <a:cubicBezTo>
                    <a:pt x="51174" y="1181100"/>
                    <a:pt x="0" y="1129926"/>
                    <a:pt x="0" y="1066800"/>
                  </a:cubicBezTo>
                  <a:lnTo>
                    <a:pt x="0" y="114300"/>
                  </a:lnTo>
                  <a:cubicBezTo>
                    <a:pt x="0" y="51174"/>
                    <a:pt x="51174" y="0"/>
                    <a:pt x="114300" y="0"/>
                  </a:cubicBezTo>
                  <a:close/>
                </a:path>
              </a:pathLst>
            </a:custGeom>
            <a:solidFill>
              <a:srgbClr val="F8FAFC"/>
            </a:solidFill>
            <a:ln w="9525">
              <a:solidFill>
                <a:srgbClr val="CBD5E1"/>
              </a:solidFill>
            </a:ln>
          </p:spPr>
        </p:sp>
        <p:sp>
          <p:nvSpPr>
            <p:cNvPr id="65" name="TextBox 65"/>
            <p:cNvSpPr txBox="1"/>
            <p:nvPr/>
          </p:nvSpPr>
          <p:spPr>
            <a:xfrm>
              <a:off x="2183130" y="5248275"/>
              <a:ext cx="2253296" cy="293370"/>
            </a:xfrm>
            <a:prstGeom prst="rect">
              <a:avLst/>
            </a:prstGeom>
            <a:noFill/>
            <a:ln>
              <a:noFill/>
            </a:ln>
          </p:spPr>
          <p:txBody>
            <a:bodyPr wrap="none" lIns="0" tIns="0" rIns="0" bIns="0" anchor="t" anchorCtr="0">
              <a:spAutoFit/>
            </a:bodyPr>
            <a:lstStyle/>
            <a:p>
              <a:pPr algn="l"/>
              <a:r>
                <a:rPr lang="en-US" sz="1500" b="1" dirty="0">
                  <a:solidFill>
                    <a:srgbClr val="191919"/>
                  </a:solidFill>
                  <a:latin typeface="Anthropic Sans"/>
                  <a:ea typeface="Anthropic Sans"/>
                  <a:cs typeface="Anthropic Sans"/>
                </a:rPr>
                <a:t>Performance space Y</a:t>
              </a:r>
            </a:p>
          </p:txBody>
        </p:sp>
        <p:sp>
          <p:nvSpPr>
            <p:cNvPr id="66" name="TextBox 66"/>
            <p:cNvSpPr txBox="1"/>
            <p:nvPr/>
          </p:nvSpPr>
          <p:spPr>
            <a:xfrm>
              <a:off x="2184273" y="5586889"/>
              <a:ext cx="2407339" cy="249364"/>
            </a:xfrm>
            <a:prstGeom prst="rect">
              <a:avLst/>
            </a:prstGeom>
            <a:noFill/>
            <a:ln>
              <a:noFill/>
            </a:ln>
          </p:spPr>
          <p:txBody>
            <a:bodyPr wrap="none" lIns="0" tIns="0" rIns="0" bIns="0" anchor="t" anchorCtr="0">
              <a:spAutoFit/>
            </a:bodyPr>
            <a:lstStyle/>
            <a:p>
              <a:pPr algn="l"/>
              <a:r>
                <a:rPr lang="en-US" sz="1280" dirty="0">
                  <a:solidFill>
                    <a:srgbClr val="64748B"/>
                  </a:solidFill>
                  <a:latin typeface="Anthropic Sans"/>
                  <a:ea typeface="Anthropic Sans"/>
                  <a:cs typeface="Anthropic Sans"/>
                </a:rPr>
                <a:t>label from measured runtime</a:t>
              </a:r>
            </a:p>
          </p:txBody>
        </p:sp>
        <p:sp>
          <p:nvSpPr>
            <p:cNvPr id="67" name="TextBox 67"/>
            <p:cNvSpPr txBox="1"/>
            <p:nvPr/>
          </p:nvSpPr>
          <p:spPr>
            <a:xfrm>
              <a:off x="2184273" y="5882164"/>
              <a:ext cx="2344229" cy="249364"/>
            </a:xfrm>
            <a:prstGeom prst="rect">
              <a:avLst/>
            </a:prstGeom>
            <a:noFill/>
            <a:ln>
              <a:noFill/>
            </a:ln>
          </p:spPr>
          <p:txBody>
            <a:bodyPr wrap="none" lIns="0" tIns="0" rIns="0" bIns="0" anchor="t" anchorCtr="0">
              <a:spAutoFit/>
            </a:bodyPr>
            <a:lstStyle/>
            <a:p>
              <a:pPr algn="l"/>
              <a:r>
                <a:rPr lang="en-US" sz="1280" dirty="0">
                  <a:solidFill>
                    <a:srgbClr val="191919"/>
                  </a:solidFill>
                  <a:latin typeface="Consolas"/>
                  <a:ea typeface="Consolas"/>
                  <a:cs typeface="Consolas"/>
                </a:rPr>
                <a:t>label(x) = argmin_a T(a, x)</a:t>
              </a:r>
            </a:p>
          </p:txBody>
        </p:sp>
        <p:sp>
          <p:nvSpPr>
            <p:cNvPr id="68" name="Rectangle 68"/>
            <p:cNvSpPr/>
            <p:nvPr/>
          </p:nvSpPr>
          <p:spPr>
            <a:xfrm>
              <a:off x="6572250" y="5295900"/>
              <a:ext cx="3124200" cy="666750"/>
            </a:xfrm>
            <a:prstGeom prst="rect">
              <a:avLst/>
            </a:prstGeom>
            <a:solidFill>
              <a:srgbClr val="FFFFFF"/>
            </a:solidFill>
            <a:ln w="9525">
              <a:solidFill>
                <a:srgbClr val="E2E8F0"/>
              </a:solidFill>
            </a:ln>
          </p:spPr>
        </p:sp>
        <p:sp>
          <p:nvSpPr>
            <p:cNvPr id="69" name="Line 69"/>
            <p:cNvSpPr/>
            <p:nvPr/>
          </p:nvSpPr>
          <p:spPr>
            <a:xfrm>
              <a:off x="762000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0" name="Line 70"/>
            <p:cNvSpPr/>
            <p:nvPr/>
          </p:nvSpPr>
          <p:spPr>
            <a:xfrm>
              <a:off x="866775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1" name="TextBox 71"/>
            <p:cNvSpPr txBox="1"/>
            <p:nvPr/>
          </p:nvSpPr>
          <p:spPr>
            <a:xfrm>
              <a:off x="6721078" y="5412581"/>
              <a:ext cx="750094"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Introsort</a:t>
              </a:r>
            </a:p>
          </p:txBody>
        </p:sp>
        <p:sp>
          <p:nvSpPr>
            <p:cNvPr id="72" name="TextBox 72"/>
            <p:cNvSpPr txBox="1"/>
            <p:nvPr/>
          </p:nvSpPr>
          <p:spPr>
            <a:xfrm>
              <a:off x="7790831" y="5412581"/>
              <a:ext cx="706088"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Heapsort</a:t>
              </a:r>
            </a:p>
          </p:txBody>
        </p:sp>
        <p:sp>
          <p:nvSpPr>
            <p:cNvPr id="73" name="TextBox 73"/>
            <p:cNvSpPr txBox="1"/>
            <p:nvPr/>
          </p:nvSpPr>
          <p:spPr>
            <a:xfrm>
              <a:off x="8884199" y="5412581"/>
              <a:ext cx="614852" cy="220028"/>
            </a:xfrm>
            <a:prstGeom prst="rect">
              <a:avLst/>
            </a:prstGeom>
            <a:noFill/>
            <a:ln>
              <a:noFill/>
            </a:ln>
          </p:spPr>
          <p:txBody>
            <a:bodyPr wrap="none" lIns="0" tIns="0" rIns="0" bIns="0" anchor="t" anchorCtr="0">
              <a:spAutoFit/>
            </a:bodyPr>
            <a:lstStyle/>
            <a:p>
              <a:pPr algn="ctr"/>
              <a:r>
                <a:rPr lang="en-US" sz="1120" dirty="0">
                  <a:solidFill>
                    <a:srgbClr val="F4511E"/>
                  </a:solidFill>
                  <a:latin typeface="Anthropic Sans"/>
                  <a:ea typeface="Anthropic Sans"/>
                  <a:cs typeface="Anthropic Sans"/>
                </a:rPr>
                <a:t>Timsort</a:t>
              </a:r>
            </a:p>
          </p:txBody>
        </p:sp>
        <p:sp>
          <p:nvSpPr>
            <p:cNvPr id="74" name="TextBox 74"/>
            <p:cNvSpPr txBox="1"/>
            <p:nvPr/>
          </p:nvSpPr>
          <p:spPr>
            <a:xfrm>
              <a:off x="681780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18.7 μs</a:t>
              </a:r>
            </a:p>
          </p:txBody>
        </p:sp>
        <p:sp>
          <p:nvSpPr>
            <p:cNvPr id="75" name="TextBox 75"/>
            <p:cNvSpPr txBox="1"/>
            <p:nvPr/>
          </p:nvSpPr>
          <p:spPr>
            <a:xfrm>
              <a:off x="786555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24.5 μs</a:t>
              </a:r>
            </a:p>
          </p:txBody>
        </p:sp>
        <p:sp>
          <p:nvSpPr>
            <p:cNvPr id="76" name="TextBox 76"/>
            <p:cNvSpPr txBox="1"/>
            <p:nvPr/>
          </p:nvSpPr>
          <p:spPr>
            <a:xfrm>
              <a:off x="8899674" y="5707856"/>
              <a:ext cx="583902" cy="220028"/>
            </a:xfrm>
            <a:prstGeom prst="rect">
              <a:avLst/>
            </a:prstGeom>
            <a:noFill/>
            <a:ln>
              <a:noFill/>
            </a:ln>
          </p:spPr>
          <p:txBody>
            <a:bodyPr wrap="none" lIns="0" tIns="0" rIns="0" bIns="0" anchor="t" anchorCtr="0">
              <a:spAutoFit/>
            </a:bodyPr>
            <a:lstStyle/>
            <a:p>
              <a:pPr algn="ctr"/>
              <a:r>
                <a:rPr lang="en-US" sz="1120" b="1" dirty="0">
                  <a:solidFill>
                    <a:srgbClr val="F4511E"/>
                  </a:solidFill>
                  <a:latin typeface="Consolas"/>
                  <a:ea typeface="Consolas"/>
                  <a:cs typeface="Consolas"/>
                </a:rPr>
                <a:t>13.2 μs</a:t>
              </a:r>
            </a:p>
          </p:txBody>
        </p:sp>
        <p:sp>
          <p:nvSpPr>
            <p:cNvPr id="77" name="Freeform 77"/>
            <p:cNvSpPr/>
            <p:nvPr/>
          </p:nvSpPr>
          <p:spPr>
            <a:xfrm>
              <a:off x="9191625" y="4362450"/>
              <a:ext cx="1228725" cy="933450"/>
            </a:xfrm>
            <a:custGeom>
              <a:avLst/>
              <a:gdLst/>
              <a:ahLst/>
              <a:cxnLst/>
              <a:rect l="l" t="t" r="r" b="b"/>
              <a:pathLst>
                <a:path w="1228725" h="933450">
                  <a:moveTo>
                    <a:pt x="1228725" y="0"/>
                  </a:moveTo>
                  <a:cubicBezTo>
                    <a:pt x="1228725" y="400050"/>
                    <a:pt x="571500" y="533400"/>
                    <a:pt x="0" y="933450"/>
                  </a:cubicBezTo>
                </a:path>
              </a:pathLst>
            </a:custGeom>
            <a:noFill/>
            <a:ln w="28575">
              <a:solidFill>
                <a:srgbClr val="D97757"/>
              </a:solidFill>
            </a:ln>
          </p:spPr>
        </p:sp>
        <p:sp>
          <p:nvSpPr>
            <p:cNvPr id="78" name="Freeform 78"/>
            <p:cNvSpPr/>
            <p:nvPr/>
          </p:nvSpPr>
          <p:spPr>
            <a:xfrm>
              <a:off x="9191625" y="5219700"/>
              <a:ext cx="209550" cy="209550"/>
            </a:xfrm>
            <a:custGeom>
              <a:avLst/>
              <a:gdLst/>
              <a:ahLst/>
              <a:cxnLst/>
              <a:rect l="l" t="t" r="r" b="b"/>
              <a:pathLst>
                <a:path w="209550" h="209550">
                  <a:moveTo>
                    <a:pt x="0" y="76200"/>
                  </a:moveTo>
                  <a:lnTo>
                    <a:pt x="209550" y="0"/>
                  </a:lnTo>
                  <a:lnTo>
                    <a:pt x="133350" y="209550"/>
                  </a:lnTo>
                  <a:close/>
                </a:path>
              </a:pathLst>
            </a:custGeom>
            <a:solidFill>
              <a:srgbClr val="D97757"/>
            </a:solidFill>
            <a:ln>
              <a:noFill/>
            </a:ln>
          </p:spPr>
        </p:sp>
      </p:grpSp>
      <p:sp>
        <p:nvSpPr>
          <p:cNvPr id="81" name="Slide 3 added title"/>
          <p:cNvSpPr txBox="1"/>
          <p:nvPr/>
        </p:nvSpPr>
        <p:spPr>
          <a:xfrm>
            <a:off x="647700" y="552450"/>
            <a:ext cx="5905500" cy="361950"/>
          </a:xfrm>
          <a:prstGeom prst="rect">
            <a:avLst/>
          </a:prstGeom>
          <a:noFill/>
        </p:spPr>
        <p:txBody>
          <a:bodyPr wrap="none" lIns="0" tIns="0" rIns="0" bIns="0">
            <a:spAutoFit/>
          </a:bodyPr>
          <a:lstStyle/>
          <a:p>
            <a:pPr algn="l"/>
            <a:r>
              <a:rPr sz="2800" b="1">
                <a:solidFill>
                  <a:srgbClr val="191919"/>
                </a:solidFill>
                <a:latin typeface="Arial"/>
              </a:rPr>
              <a:t>Algorithm Selection Problem</a:t>
            </a:r>
          </a:p>
        </p:txBody>
      </p:sp>
      <p:sp>
        <p:nvSpPr>
          <p:cNvPr id="83" name="Rectangle 8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3/24</a:t>
            </a:r>
          </a:p>
        </p:txBody>
      </p:sp>
      <p:sp>
        <p:nvSpPr>
          <p:cNvPr id="87" name="Rectangle 86"/>
          <p:cNvSpPr/>
          <p:nvPr/>
        </p:nvSpPr>
        <p:spPr>
          <a:xfrm>
            <a:off x="641972" y="1067514"/>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4_runtime_gap_v7.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Algorithm Selection Background</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task is framed through algorithm selection, adaptive sorting, and learned performance prediction.</a:t>
            </a:r>
          </a:p>
        </p:txBody>
      </p:sp>
      <p:sp>
        <p:nvSpPr>
          <p:cNvPr id="7" name="Freeform 7"/>
          <p:cNvSpPr/>
          <p:nvPr/>
        </p:nvSpPr>
        <p:spPr>
          <a:xfrm>
            <a:off x="6858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960120" y="1795462"/>
            <a:ext cx="3068841" cy="440055"/>
          </a:xfrm>
          <a:prstGeom prst="rect">
            <a:avLst/>
          </a:prstGeom>
          <a:noFill/>
          <a:ln>
            <a:noFill/>
          </a:ln>
        </p:spPr>
        <p:txBody>
          <a:bodyPr wrap="none" lIns="0" tIns="0" rIns="0" bIns="0" anchor="t" anchorCtr="0">
            <a:spAutoFit/>
          </a:bodyPr>
          <a:lstStyle/>
          <a:p>
            <a:pPr algn="l"/>
            <a:r>
              <a:rPr lang="en-US" sz="2200" b="1" dirty="0">
                <a:solidFill>
                  <a:srgbClr val="191919"/>
                </a:solidFill>
                <a:latin typeface="Aptos Display"/>
                <a:ea typeface="Anthropic Sans"/>
                <a:cs typeface="Anthropic Sans"/>
              </a:rPr>
              <a:t>Algorithm selection</a:t>
            </a:r>
          </a:p>
        </p:txBody>
      </p:sp>
      <p:sp>
        <p:nvSpPr>
          <p:cNvPr id="9" name="TextBox 9"/>
          <p:cNvSpPr txBox="1"/>
          <p:nvPr/>
        </p:nvSpPr>
        <p:spPr>
          <a:xfrm>
            <a:off x="962406" y="2434590"/>
            <a:ext cx="2946363" cy="352044"/>
          </a:xfrm>
          <a:prstGeom prst="rect">
            <a:avLst/>
          </a:prstGeom>
          <a:noFill/>
          <a:ln>
            <a:noFill/>
          </a:ln>
        </p:spPr>
        <p:txBody>
          <a:bodyPr wrap="none" lIns="0" tIns="0" rIns="0" bIns="0" anchor="t" anchorCtr="0">
            <a:spAutoFit/>
          </a:bodyPr>
          <a:lstStyle/>
          <a:p>
            <a:pPr algn="l"/>
            <a:r>
              <a:rPr lang="en-US" sz="1600" b="0" dirty="0">
                <a:solidFill>
                  <a:srgbClr val="566987"/>
                </a:solidFill>
                <a:latin typeface="Aptos"/>
                <a:ea typeface="Anthropic Sans"/>
                <a:cs typeface="Anthropic Sans"/>
              </a:rPr>
              <a:t>Rice formalized choosing</a:t>
            </a:r>
          </a:p>
        </p:txBody>
      </p:sp>
      <p:sp>
        <p:nvSpPr>
          <p:cNvPr id="10" name="TextBox 10"/>
          <p:cNvSpPr txBox="1"/>
          <p:nvPr/>
        </p:nvSpPr>
        <p:spPr>
          <a:xfrm>
            <a:off x="962406" y="2758440"/>
            <a:ext cx="2611069" cy="352044"/>
          </a:xfrm>
          <a:prstGeom prst="rect">
            <a:avLst/>
          </a:prstGeom>
          <a:noFill/>
          <a:ln>
            <a:noFill/>
          </a:ln>
        </p:spPr>
        <p:txBody>
          <a:bodyPr wrap="none" lIns="0" tIns="0" rIns="0" bIns="0" anchor="t" anchorCtr="0">
            <a:spAutoFit/>
          </a:bodyPr>
          <a:lstStyle/>
          <a:p>
            <a:pPr algn="l"/>
            <a:r>
              <a:rPr lang="en-US" sz="1600" b="0" dirty="0">
                <a:solidFill>
                  <a:srgbClr val="566987"/>
                </a:solidFill>
                <a:latin typeface="Aptos"/>
                <a:ea typeface="Anthropic Sans"/>
                <a:cs typeface="Anthropic Sans"/>
              </a:rPr>
              <a:t>a solver from problem</a:t>
            </a:r>
          </a:p>
        </p:txBody>
      </p:sp>
      <p:sp>
        <p:nvSpPr>
          <p:cNvPr id="11" name="TextBox 11"/>
          <p:cNvSpPr txBox="1"/>
          <p:nvPr/>
        </p:nvSpPr>
        <p:spPr>
          <a:xfrm>
            <a:off x="962406" y="3082290"/>
            <a:ext cx="1217752" cy="352044"/>
          </a:xfrm>
          <a:prstGeom prst="rect">
            <a:avLst/>
          </a:prstGeom>
          <a:noFill/>
          <a:ln>
            <a:noFill/>
          </a:ln>
        </p:spPr>
        <p:txBody>
          <a:bodyPr wrap="none" lIns="0" tIns="0" rIns="0" bIns="0" anchor="t" anchorCtr="0">
            <a:spAutoFit/>
          </a:bodyPr>
          <a:lstStyle/>
          <a:p>
            <a:pPr algn="l"/>
            <a:r>
              <a:rPr lang="en-US" sz="1600" b="0" dirty="0">
                <a:solidFill>
                  <a:srgbClr val="566987"/>
                </a:solidFill>
                <a:latin typeface="Aptos"/>
                <a:ea typeface="Anthropic Sans"/>
                <a:cs typeface="Anthropic Sans"/>
              </a:rPr>
              <a:t>features.</a:t>
            </a:r>
          </a:p>
        </p:txBody>
      </p:sp>
      <p:sp>
        <p:nvSpPr>
          <p:cNvPr id="12" name="TextBox 12"/>
          <p:cNvSpPr txBox="1"/>
          <p:nvPr/>
        </p:nvSpPr>
        <p:spPr>
          <a:xfrm>
            <a:off x="963549" y="4040029"/>
            <a:ext cx="2741514" cy="308039"/>
          </a:xfrm>
          <a:prstGeom prst="rect">
            <a:avLst/>
          </a:prstGeom>
          <a:noFill/>
          <a:ln>
            <a:noFill/>
          </a:ln>
        </p:spPr>
        <p:txBody>
          <a:bodyPr wrap="none" lIns="0" tIns="0" rIns="0" bIns="0" anchor="t" anchorCtr="0">
            <a:spAutoFit/>
          </a:bodyPr>
          <a:lstStyle/>
          <a:p>
            <a:r>
              <a:rPr sz="1400" b="1">
                <a:solidFill>
                  <a:srgbClr val="191919"/>
                </a:solidFill>
                <a:latin typeface="Aptos"/>
              </a:rPr>
              <a:t>In this thesis:</a:t>
            </a:r>
          </a:p>
        </p:txBody>
      </p:sp>
      <p:sp>
        <p:nvSpPr>
          <p:cNvPr id="13" name="TextBox 13"/>
          <p:cNvSpPr txBox="1"/>
          <p:nvPr/>
        </p:nvSpPr>
        <p:spPr>
          <a:xfrm>
            <a:off x="963549" y="4344829"/>
            <a:ext cx="2963170" cy="308039"/>
          </a:xfrm>
          <a:prstGeom prst="rect">
            <a:avLst/>
          </a:prstGeom>
          <a:noFill/>
          <a:ln>
            <a:noFill/>
          </a:ln>
        </p:spPr>
        <p:txBody>
          <a:bodyPr wrap="none" lIns="0" tIns="0" rIns="0" bIns="0" anchor="t" anchorCtr="0">
            <a:spAutoFit/>
          </a:bodyPr>
          <a:lstStyle/>
          <a:p>
            <a:r>
              <a:rPr sz="1400" b="0">
                <a:solidFill>
                  <a:srgbClr val="191919"/>
                </a:solidFill>
                <a:latin typeface="Aptos"/>
              </a:rPr>
              <a:t>sorting choice as supervised algorithm selection.</a:t>
            </a:r>
          </a:p>
        </p:txBody>
      </p:sp>
      <p:sp>
        <p:nvSpPr>
          <p:cNvPr id="14" name="Freeform 14"/>
          <p:cNvSpPr/>
          <p:nvPr/>
        </p:nvSpPr>
        <p:spPr>
          <a:xfrm>
            <a:off x="44577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5" name="TextBox 15"/>
          <p:cNvSpPr txBox="1"/>
          <p:nvPr/>
        </p:nvSpPr>
        <p:spPr>
          <a:xfrm>
            <a:off x="4732020" y="1795462"/>
            <a:ext cx="2641047" cy="440055"/>
          </a:xfrm>
          <a:prstGeom prst="rect">
            <a:avLst/>
          </a:prstGeom>
          <a:noFill/>
          <a:ln>
            <a:noFill/>
          </a:ln>
        </p:spPr>
        <p:txBody>
          <a:bodyPr wrap="none" lIns="0" tIns="0" rIns="0" bIns="0" anchor="t" anchorCtr="0">
            <a:spAutoFit/>
          </a:bodyPr>
          <a:lstStyle/>
          <a:p>
            <a:pPr algn="l"/>
            <a:r>
              <a:rPr lang="en-US" sz="2200" b="1" dirty="0">
                <a:solidFill>
                  <a:srgbClr val="191919"/>
                </a:solidFill>
                <a:latin typeface="Aptos Display"/>
                <a:ea typeface="Anthropic Sans"/>
                <a:cs typeface="Anthropic Sans"/>
              </a:rPr>
              <a:t>Adaptive sorting</a:t>
            </a:r>
          </a:p>
        </p:txBody>
      </p:sp>
      <p:sp>
        <p:nvSpPr>
          <p:cNvPr id="16" name="TextBox 16"/>
          <p:cNvSpPr txBox="1"/>
          <p:nvPr/>
        </p:nvSpPr>
        <p:spPr>
          <a:xfrm>
            <a:off x="4734306" y="2434590"/>
            <a:ext cx="3059288" cy="352044"/>
          </a:xfrm>
          <a:prstGeom prst="rect">
            <a:avLst/>
          </a:prstGeom>
          <a:noFill/>
          <a:ln>
            <a:noFill/>
          </a:ln>
        </p:spPr>
        <p:txBody>
          <a:bodyPr wrap="none" lIns="0" tIns="0" rIns="0" bIns="0" anchor="t" anchorCtr="0">
            <a:spAutoFit/>
          </a:bodyPr>
          <a:lstStyle/>
          <a:p>
            <a:r>
              <a:rPr sz="1600" b="0">
                <a:solidFill>
                  <a:srgbClr val="566987"/>
                </a:solidFill>
                <a:latin typeface="Aptos"/>
              </a:rPr>
              <a:t>timsort and related work</a:t>
            </a:r>
          </a:p>
        </p:txBody>
      </p:sp>
      <p:sp>
        <p:nvSpPr>
          <p:cNvPr id="17" name="TextBox 17"/>
          <p:cNvSpPr txBox="1"/>
          <p:nvPr/>
        </p:nvSpPr>
        <p:spPr>
          <a:xfrm>
            <a:off x="4734306" y="2758440"/>
            <a:ext cx="2926080" cy="352044"/>
          </a:xfrm>
          <a:prstGeom prst="rect">
            <a:avLst/>
          </a:prstGeom>
          <a:noFill/>
          <a:ln>
            <a:noFill/>
          </a:ln>
        </p:spPr>
        <p:txBody>
          <a:bodyPr wrap="none" lIns="0" tIns="0" rIns="0" bIns="0" anchor="t" anchorCtr="0">
            <a:spAutoFit/>
          </a:bodyPr>
          <a:lstStyle/>
          <a:p>
            <a:pPr algn="l"/>
            <a:r>
              <a:rPr lang="en-US" sz="1600" b="0" dirty="0">
                <a:solidFill>
                  <a:srgbClr val="566987"/>
                </a:solidFill>
                <a:latin typeface="Aptos"/>
                <a:ea typeface="Anthropic Sans"/>
                <a:cs typeface="Anthropic Sans"/>
              </a:rPr>
              <a:t>exploit runs and existing</a:t>
            </a:r>
          </a:p>
        </p:txBody>
      </p:sp>
      <p:sp>
        <p:nvSpPr>
          <p:cNvPr id="18" name="TextBox 18"/>
          <p:cNvSpPr txBox="1"/>
          <p:nvPr/>
        </p:nvSpPr>
        <p:spPr>
          <a:xfrm>
            <a:off x="4734306" y="3082290"/>
            <a:ext cx="1702384" cy="352044"/>
          </a:xfrm>
          <a:prstGeom prst="rect">
            <a:avLst/>
          </a:prstGeom>
          <a:noFill/>
          <a:ln>
            <a:noFill/>
          </a:ln>
        </p:spPr>
        <p:txBody>
          <a:bodyPr wrap="none" lIns="0" tIns="0" rIns="0" bIns="0" anchor="t" anchorCtr="0">
            <a:spAutoFit/>
          </a:bodyPr>
          <a:lstStyle/>
          <a:p>
            <a:pPr algn="l"/>
            <a:r>
              <a:rPr lang="en-US" sz="1600" b="0" dirty="0">
                <a:solidFill>
                  <a:srgbClr val="566987"/>
                </a:solidFill>
                <a:latin typeface="Aptos"/>
                <a:ea typeface="Anthropic Sans"/>
                <a:cs typeface="Anthropic Sans"/>
              </a:rPr>
              <a:t>order in data.</a:t>
            </a:r>
          </a:p>
        </p:txBody>
      </p:sp>
      <p:sp>
        <p:nvSpPr>
          <p:cNvPr id="19" name="TextBox 19"/>
          <p:cNvSpPr txBox="1"/>
          <p:nvPr/>
        </p:nvSpPr>
        <p:spPr>
          <a:xfrm>
            <a:off x="4735449" y="4040029"/>
            <a:ext cx="3049720" cy="308039"/>
          </a:xfrm>
          <a:prstGeom prst="rect">
            <a:avLst/>
          </a:prstGeom>
          <a:noFill/>
          <a:ln>
            <a:noFill/>
          </a:ln>
        </p:spPr>
        <p:txBody>
          <a:bodyPr wrap="none" lIns="0" tIns="0" rIns="0" bIns="0" anchor="t" anchorCtr="0">
            <a:spAutoFit/>
          </a:bodyPr>
          <a:lstStyle/>
          <a:p>
            <a:r>
              <a:rPr sz="1400" b="1">
                <a:solidFill>
                  <a:srgbClr val="191919"/>
                </a:solidFill>
                <a:latin typeface="Aptos"/>
              </a:rPr>
              <a:t>In this thesis:</a:t>
            </a:r>
          </a:p>
        </p:txBody>
      </p:sp>
      <p:sp>
        <p:nvSpPr>
          <p:cNvPr id="20" name="TextBox 20"/>
          <p:cNvSpPr txBox="1"/>
          <p:nvPr/>
        </p:nvSpPr>
        <p:spPr>
          <a:xfrm>
            <a:off x="4735449" y="4344829"/>
            <a:ext cx="2581523" cy="308039"/>
          </a:xfrm>
          <a:prstGeom prst="rect">
            <a:avLst/>
          </a:prstGeom>
          <a:noFill/>
          <a:ln>
            <a:noFill/>
          </a:ln>
        </p:spPr>
        <p:txBody>
          <a:bodyPr wrap="none" lIns="0" tIns="0" rIns="0" bIns="0" anchor="t" anchorCtr="0">
            <a:spAutoFit/>
          </a:bodyPr>
          <a:lstStyle/>
          <a:p>
            <a:r>
              <a:rPr sz="1400" b="0">
                <a:solidFill>
                  <a:srgbClr val="191919"/>
                </a:solidFill>
                <a:latin typeface="Aptos"/>
              </a:rPr>
              <a:t>structural descriptors expose these signals.</a:t>
            </a:r>
          </a:p>
        </p:txBody>
      </p:sp>
      <p:sp>
        <p:nvSpPr>
          <p:cNvPr id="21" name="Freeform 21"/>
          <p:cNvSpPr/>
          <p:nvPr/>
        </p:nvSpPr>
        <p:spPr>
          <a:xfrm>
            <a:off x="82296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22" name="TextBox 22"/>
          <p:cNvSpPr txBox="1"/>
          <p:nvPr/>
        </p:nvSpPr>
        <p:spPr>
          <a:xfrm>
            <a:off x="8503920" y="1795462"/>
            <a:ext cx="3201916" cy="440055"/>
          </a:xfrm>
          <a:prstGeom prst="rect">
            <a:avLst/>
          </a:prstGeom>
          <a:noFill/>
          <a:ln>
            <a:noFill/>
          </a:ln>
        </p:spPr>
        <p:txBody>
          <a:bodyPr wrap="none" lIns="0" tIns="0" rIns="0" bIns="0" anchor="t" anchorCtr="0">
            <a:spAutoFit/>
          </a:bodyPr>
          <a:lstStyle/>
          <a:p>
            <a:pPr algn="l"/>
            <a:r>
              <a:rPr lang="en-US" sz="2200" b="1" dirty="0">
                <a:solidFill>
                  <a:srgbClr val="191919"/>
                </a:solidFill>
                <a:latin typeface="Aptos Display"/>
                <a:ea typeface="Anthropic Sans"/>
                <a:cs typeface="Anthropic Sans"/>
              </a:rPr>
              <a:t>Performance models</a:t>
            </a:r>
          </a:p>
        </p:txBody>
      </p:sp>
      <p:sp>
        <p:nvSpPr>
          <p:cNvPr id="23" name="TextBox 23"/>
          <p:cNvSpPr txBox="1"/>
          <p:nvPr/>
        </p:nvSpPr>
        <p:spPr>
          <a:xfrm>
            <a:off x="8506206" y="2434590"/>
            <a:ext cx="2841799" cy="352044"/>
          </a:xfrm>
          <a:prstGeom prst="rect">
            <a:avLst/>
          </a:prstGeom>
          <a:noFill/>
          <a:ln>
            <a:noFill/>
          </a:ln>
        </p:spPr>
        <p:txBody>
          <a:bodyPr wrap="none" lIns="0" tIns="0" rIns="0" bIns="0" anchor="t" anchorCtr="0">
            <a:spAutoFit/>
          </a:bodyPr>
          <a:lstStyle/>
          <a:p>
            <a:pPr algn="l"/>
            <a:r>
              <a:rPr lang="en-US" sz="1600" b="0" dirty="0">
                <a:solidFill>
                  <a:srgbClr val="566987"/>
                </a:solidFill>
                <a:latin typeface="Aptos"/>
                <a:ea typeface="Anthropic Sans"/>
                <a:cs typeface="Anthropic Sans"/>
              </a:rPr>
              <a:t>ML can predict runtime</a:t>
            </a:r>
          </a:p>
        </p:txBody>
      </p:sp>
      <p:sp>
        <p:nvSpPr>
          <p:cNvPr id="24" name="TextBox 24"/>
          <p:cNvSpPr txBox="1"/>
          <p:nvPr/>
        </p:nvSpPr>
        <p:spPr>
          <a:xfrm>
            <a:off x="8506206" y="2758440"/>
            <a:ext cx="3289554" cy="352044"/>
          </a:xfrm>
          <a:prstGeom prst="rect">
            <a:avLst/>
          </a:prstGeom>
          <a:noFill/>
          <a:ln>
            <a:noFill/>
          </a:ln>
        </p:spPr>
        <p:txBody>
          <a:bodyPr wrap="none" lIns="0" tIns="0" rIns="0" bIns="0" anchor="t" anchorCtr="0">
            <a:spAutoFit/>
          </a:bodyPr>
          <a:lstStyle/>
          <a:p>
            <a:pPr algn="l"/>
            <a:r>
              <a:rPr lang="en-US" sz="1600" b="0" dirty="0">
                <a:solidFill>
                  <a:srgbClr val="566987"/>
                </a:solidFill>
                <a:latin typeface="Aptos"/>
                <a:ea typeface="Anthropic Sans"/>
                <a:cs typeface="Anthropic Sans"/>
              </a:rPr>
              <a:t>behavior when features are</a:t>
            </a:r>
          </a:p>
        </p:txBody>
      </p:sp>
      <p:sp>
        <p:nvSpPr>
          <p:cNvPr id="25" name="TextBox 25"/>
          <p:cNvSpPr txBox="1"/>
          <p:nvPr/>
        </p:nvSpPr>
        <p:spPr>
          <a:xfrm>
            <a:off x="8506206" y="3082290"/>
            <a:ext cx="1690268" cy="352044"/>
          </a:xfrm>
          <a:prstGeom prst="rect">
            <a:avLst/>
          </a:prstGeom>
          <a:noFill/>
          <a:ln>
            <a:noFill/>
          </a:ln>
        </p:spPr>
        <p:txBody>
          <a:bodyPr wrap="none" lIns="0" tIns="0" rIns="0" bIns="0" anchor="t" anchorCtr="0">
            <a:spAutoFit/>
          </a:bodyPr>
          <a:lstStyle/>
          <a:p>
            <a:pPr algn="l"/>
            <a:r>
              <a:rPr lang="en-US" sz="1600" b="0" dirty="0">
                <a:solidFill>
                  <a:srgbClr val="566987"/>
                </a:solidFill>
                <a:latin typeface="Aptos"/>
                <a:ea typeface="Anthropic Sans"/>
                <a:cs typeface="Anthropic Sans"/>
              </a:rPr>
              <a:t>cheap enough.</a:t>
            </a:r>
          </a:p>
        </p:txBody>
      </p:sp>
      <p:sp>
        <p:nvSpPr>
          <p:cNvPr id="26" name="TextBox 26"/>
          <p:cNvSpPr txBox="1"/>
          <p:nvPr/>
        </p:nvSpPr>
        <p:spPr>
          <a:xfrm>
            <a:off x="8507349" y="4040029"/>
            <a:ext cx="2989288" cy="308039"/>
          </a:xfrm>
          <a:prstGeom prst="rect">
            <a:avLst/>
          </a:prstGeom>
          <a:noFill/>
          <a:ln>
            <a:noFill/>
          </a:ln>
        </p:spPr>
        <p:txBody>
          <a:bodyPr wrap="none" lIns="0" tIns="0" rIns="0" bIns="0" anchor="t" anchorCtr="0">
            <a:spAutoFit/>
          </a:bodyPr>
          <a:lstStyle/>
          <a:p>
            <a:r>
              <a:rPr sz="1400" b="1">
                <a:solidFill>
                  <a:srgbClr val="191919"/>
                </a:solidFill>
                <a:latin typeface="Aptos"/>
              </a:rPr>
              <a:t>In this thesis:</a:t>
            </a:r>
          </a:p>
        </p:txBody>
      </p:sp>
      <p:sp>
        <p:nvSpPr>
          <p:cNvPr id="27" name="TextBox 27"/>
          <p:cNvSpPr txBox="1"/>
          <p:nvPr/>
        </p:nvSpPr>
        <p:spPr>
          <a:xfrm>
            <a:off x="8507349" y="4344829"/>
            <a:ext cx="2496712" cy="308039"/>
          </a:xfrm>
          <a:prstGeom prst="rect">
            <a:avLst/>
          </a:prstGeom>
          <a:noFill/>
          <a:ln>
            <a:noFill/>
          </a:ln>
        </p:spPr>
        <p:txBody>
          <a:bodyPr wrap="none" lIns="0" tIns="0" rIns="0" bIns="0" anchor="t" anchorCtr="0">
            <a:spAutoFit/>
          </a:bodyPr>
          <a:lstStyle/>
          <a:p>
            <a:r>
              <a:rPr sz="1400" b="0">
                <a:solidFill>
                  <a:srgbClr val="191919"/>
                </a:solidFill>
                <a:latin typeface="Aptos"/>
              </a:rPr>
              <a:t>evaluate by regret, not only label accuracy.</a:t>
            </a:r>
          </a:p>
        </p:txBody>
      </p:sp>
      <p:sp>
        <p:nvSpPr>
          <p:cNvPr id="28" name="TextBox 28"/>
          <p:cNvSpPr txBox="1"/>
          <p:nvPr/>
        </p:nvSpPr>
        <p:spPr>
          <a:xfrm>
            <a:off x="674370" y="5233988"/>
            <a:ext cx="6053221" cy="440055"/>
          </a:xfrm>
          <a:prstGeom prst="rect">
            <a:avLst/>
          </a:prstGeom>
          <a:noFill/>
          <a:ln>
            <a:noFill/>
          </a:ln>
        </p:spPr>
        <p:txBody>
          <a:bodyPr wrap="none" lIns="0" tIns="0" rIns="0" bIns="0" anchor="t" anchorCtr="0">
            <a:spAutoFit/>
          </a:bodyPr>
          <a:lstStyle/>
          <a:p>
            <a:r>
              <a:rPr sz="1400" b="0">
                <a:solidFill>
                  <a:srgbClr val="191919"/>
                </a:solidFill>
                <a:latin typeface="Aptos"/>
              </a:rPr>
              <a:t>The contribution is a measured selector</a:t>
            </a:r>
          </a:p>
        </p:txBody>
      </p:sp>
      <p:sp>
        <p:nvSpPr>
          <p:cNvPr id="29" name="TextBox 29"/>
          <p:cNvSpPr txBox="1"/>
          <p:nvPr/>
        </p:nvSpPr>
        <p:spPr>
          <a:xfrm>
            <a:off x="674370" y="5614988"/>
            <a:ext cx="7564864" cy="440055"/>
          </a:xfrm>
          <a:prstGeom prst="rect">
            <a:avLst/>
          </a:prstGeom>
          <a:noFill/>
          <a:ln>
            <a:noFill/>
          </a:ln>
        </p:spPr>
        <p:txBody>
          <a:bodyPr wrap="none" lIns="0" tIns="0" rIns="0" bIns="0" anchor="t" anchorCtr="0">
            <a:spAutoFit/>
          </a:bodyPr>
          <a:lstStyle/>
          <a:p>
            <a:r>
              <a:rPr sz="1400" b="0">
                <a:solidFill>
                  <a:srgbClr val="191919"/>
                </a:solidFill>
                <a:latin typeface="Aptos"/>
              </a:rPr>
              <a:t>around existing sorting implementations.</a:t>
            </a:r>
          </a:p>
        </p:txBody>
      </p:sp>
      <p:sp>
        <p:nvSpPr>
          <p:cNvPr id="30" name="Line 3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32" name="Freeform 3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33" name="Rectangle 3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5/24</a:t>
            </a:r>
          </a:p>
        </p:txBody>
      </p:sp>
      <p:sp>
        <p:nvSpPr>
          <p:cNvPr id="37" name="Rectangle 3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Research objective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Build a selector that is cheap enough to run before sorting and close most of the practical runtime gap.</a:t>
            </a:r>
          </a:p>
        </p:txBody>
      </p:sp>
      <p:sp>
        <p:nvSpPr>
          <p:cNvPr id="7" name="TextBox 7"/>
          <p:cNvSpPr txBox="1"/>
          <p:nvPr/>
        </p:nvSpPr>
        <p:spPr>
          <a:xfrm>
            <a:off x="838962" y="1564005"/>
            <a:ext cx="8862383" cy="704088"/>
          </a:xfrm>
          <a:prstGeom prst="rect">
            <a:avLst/>
          </a:prstGeom>
          <a:noFill/>
          <a:ln>
            <a:noFill/>
          </a:ln>
        </p:spPr>
        <p:txBody>
          <a:bodyPr wrap="none" lIns="0" tIns="0" rIns="0" bIns="0" anchor="t" anchorCtr="0">
            <a:spAutoFit/>
          </a:bodyPr>
          <a:lstStyle/>
          <a:p>
            <a:r>
              <a:rPr sz="2100" b="1">
                <a:solidFill>
                  <a:srgbClr val="191919"/>
                </a:solidFill>
                <a:latin typeface="Aptos Display"/>
              </a:rPr>
              <a:t>Can structural descriptors predict</a:t>
            </a:r>
          </a:p>
        </p:txBody>
      </p:sp>
      <p:sp>
        <p:nvSpPr>
          <p:cNvPr id="8" name="TextBox 8"/>
          <p:cNvSpPr txBox="1"/>
          <p:nvPr/>
        </p:nvSpPr>
        <p:spPr>
          <a:xfrm>
            <a:off x="838962" y="2087880"/>
            <a:ext cx="6931678" cy="704088"/>
          </a:xfrm>
          <a:prstGeom prst="rect">
            <a:avLst/>
          </a:prstGeom>
          <a:noFill/>
          <a:ln>
            <a:noFill/>
          </a:ln>
        </p:spPr>
        <p:txBody>
          <a:bodyPr wrap="none" lIns="0" tIns="0" rIns="0" bIns="0" anchor="t" anchorCtr="0">
            <a:spAutoFit/>
          </a:bodyPr>
          <a:lstStyle/>
          <a:p>
            <a:r>
              <a:rPr sz="2100" b="1">
                <a:solidFill>
                  <a:srgbClr val="191919"/>
                </a:solidFill>
                <a:latin typeface="Aptos Display"/>
              </a:rPr>
              <a:t>the fastest sorting implementation before execution?</a:t>
            </a:r>
          </a:p>
        </p:txBody>
      </p:sp>
      <p:sp>
        <p:nvSpPr>
          <p:cNvPr id="9" name="Freeform 9"/>
          <p:cNvSpPr/>
          <p:nvPr/>
        </p:nvSpPr>
        <p:spPr>
          <a:xfrm>
            <a:off x="85725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1112520" y="3490912"/>
            <a:ext cx="1481642"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Accuracy</a:t>
            </a:r>
          </a:p>
        </p:txBody>
      </p:sp>
      <p:sp>
        <p:nvSpPr>
          <p:cNvPr id="11" name="TextBox 11"/>
          <p:cNvSpPr txBox="1"/>
          <p:nvPr/>
        </p:nvSpPr>
        <p:spPr>
          <a:xfrm>
            <a:off x="1114806" y="3977640"/>
            <a:ext cx="2613436" cy="352044"/>
          </a:xfrm>
          <a:prstGeom prst="rect">
            <a:avLst/>
          </a:prstGeom>
          <a:noFill/>
          <a:ln>
            <a:noFill/>
          </a:ln>
        </p:spPr>
        <p:txBody>
          <a:bodyPr wrap="none" lIns="0" tIns="0" rIns="0" bIns="0" anchor="t" anchorCtr="0">
            <a:spAutoFit/>
          </a:bodyPr>
          <a:lstStyle/>
          <a:p>
            <a:pPr algn="l"/>
            <a:r>
              <a:rPr lang="en-US" sz="1400" b="0" dirty="0">
                <a:solidFill>
                  <a:srgbClr val="566987"/>
                </a:solidFill>
                <a:latin typeface="Aptos"/>
                <a:ea typeface="Anthropic Sans"/>
                <a:cs typeface="Anthropic Sans"/>
              </a:rPr>
              <a:t>Does the label match?</a:t>
            </a:r>
          </a:p>
        </p:txBody>
      </p:sp>
      <p:sp>
        <p:nvSpPr>
          <p:cNvPr id="12" name="Freeform 12"/>
          <p:cNvSpPr/>
          <p:nvPr/>
        </p:nvSpPr>
        <p:spPr>
          <a:xfrm>
            <a:off x="4524375"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4779645" y="3490912"/>
            <a:ext cx="1131799"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Regret</a:t>
            </a:r>
          </a:p>
        </p:txBody>
      </p:sp>
      <p:sp>
        <p:nvSpPr>
          <p:cNvPr id="14" name="TextBox 14"/>
          <p:cNvSpPr txBox="1"/>
          <p:nvPr/>
        </p:nvSpPr>
        <p:spPr>
          <a:xfrm>
            <a:off x="4781931" y="3977640"/>
            <a:ext cx="2941059" cy="352044"/>
          </a:xfrm>
          <a:prstGeom prst="rect">
            <a:avLst/>
          </a:prstGeom>
          <a:noFill/>
          <a:ln>
            <a:noFill/>
          </a:ln>
        </p:spPr>
        <p:txBody>
          <a:bodyPr wrap="none" lIns="0" tIns="0" rIns="0" bIns="0" anchor="t" anchorCtr="0">
            <a:spAutoFit/>
          </a:bodyPr>
          <a:lstStyle/>
          <a:p>
            <a:pPr algn="l"/>
            <a:r>
              <a:rPr lang="en-US" sz="1400" b="0" dirty="0">
                <a:solidFill>
                  <a:srgbClr val="566987"/>
                </a:solidFill>
                <a:latin typeface="Aptos"/>
                <a:ea typeface="Anthropic Sans"/>
                <a:cs typeface="Anthropic Sans"/>
              </a:rPr>
              <a:t>How costly is a mistake?</a:t>
            </a:r>
          </a:p>
        </p:txBody>
      </p:sp>
      <p:sp>
        <p:nvSpPr>
          <p:cNvPr id="15" name="Freeform 15"/>
          <p:cNvSpPr/>
          <p:nvPr/>
        </p:nvSpPr>
        <p:spPr>
          <a:xfrm>
            <a:off x="819150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446770" y="3490912"/>
            <a:ext cx="2181330"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Runtime value</a:t>
            </a:r>
          </a:p>
        </p:txBody>
      </p:sp>
      <p:sp>
        <p:nvSpPr>
          <p:cNvPr id="17" name="TextBox 17"/>
          <p:cNvSpPr txBox="1"/>
          <p:nvPr/>
        </p:nvSpPr>
        <p:spPr>
          <a:xfrm>
            <a:off x="8449056" y="3977640"/>
            <a:ext cx="2306592" cy="352044"/>
          </a:xfrm>
          <a:prstGeom prst="rect">
            <a:avLst/>
          </a:prstGeom>
          <a:noFill/>
          <a:ln>
            <a:noFill/>
          </a:ln>
        </p:spPr>
        <p:txBody>
          <a:bodyPr wrap="none" lIns="0" tIns="0" rIns="0" bIns="0" anchor="t" anchorCtr="0">
            <a:spAutoFit/>
          </a:bodyPr>
          <a:lstStyle/>
          <a:p>
            <a:pPr algn="l"/>
            <a:r>
              <a:rPr lang="en-US" sz="1400" b="0" dirty="0">
                <a:solidFill>
                  <a:srgbClr val="566987"/>
                </a:solidFill>
                <a:latin typeface="Aptos"/>
                <a:ea typeface="Anthropic Sans"/>
                <a:cs typeface="Anthropic Sans"/>
              </a:rPr>
              <a:t>How close to VBS?</a:t>
            </a:r>
          </a:p>
        </p:txBody>
      </p:sp>
      <p:sp>
        <p:nvSpPr>
          <p:cNvPr id="18" name="TextBox 18"/>
          <p:cNvSpPr txBox="1"/>
          <p:nvPr/>
        </p:nvSpPr>
        <p:spPr>
          <a:xfrm>
            <a:off x="845820" y="5233988"/>
            <a:ext cx="11973606" cy="440055"/>
          </a:xfrm>
          <a:prstGeom prst="rect">
            <a:avLst/>
          </a:prstGeom>
          <a:noFill/>
          <a:ln>
            <a:noFill/>
          </a:ln>
        </p:spPr>
        <p:txBody>
          <a:bodyPr wrap="none" lIns="0" tIns="0" rIns="0" bIns="0" anchor="t" anchorCtr="0">
            <a:spAutoFit/>
          </a:bodyPr>
          <a:lstStyle/>
          <a:p>
            <a:r>
              <a:rPr sz="1400" b="0">
                <a:solidFill>
                  <a:srgbClr val="566987"/>
                </a:solidFill>
                <a:latin typeface="Aptos"/>
              </a:rPr>
              <a:t>This is why the result is evaluated with both model accuracy and runtime regret.</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6/24</a:t>
            </a:r>
          </a:p>
        </p:txBody>
      </p:sp>
      <p:sp>
        <p:nvSpPr>
          <p:cNvPr id="26" name="Rectangle 25"/>
          <p:cNvSpPr/>
          <p:nvPr/>
        </p:nvSpPr>
        <p:spPr>
          <a:xfrm>
            <a:off x="502920" y="1214247"/>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dataset spans five real-data domains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final corpus contains 1,188,265 labeled arrays from five structurally different domains.</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F1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Stock</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4" name="TextBox 14"/>
          <p:cNvSpPr txBox="1"/>
          <p:nvPr/>
        </p:nvSpPr>
        <p:spPr>
          <a:xfrm>
            <a:off x="6937629" y="3376612"/>
            <a:ext cx="107899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Crypto</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8" name="TextBox 18"/>
          <p:cNvSpPr txBox="1"/>
          <p:nvPr/>
        </p:nvSpPr>
        <p:spPr>
          <a:xfrm>
            <a:off x="5223320" y="4757738"/>
            <a:ext cx="1745361" cy="440055"/>
          </a:xfrm>
          <a:prstGeom prst="rect">
            <a:avLst/>
          </a:prstGeom>
          <a:noFill/>
          <a:ln>
            <a:noFill/>
          </a:ln>
        </p:spPr>
        <p:txBody>
          <a:bodyPr wrap="none" lIns="0" tIns="0" rIns="0" bIns="0" anchor="t" anchorCtr="0">
            <a:spAutoFit/>
          </a:bodyPr>
          <a:lstStyle/>
          <a:p>
            <a:pPr algn="ctr"/>
            <a:r>
              <a:rPr lang="en-US" sz="2250" dirty="0">
                <a:solidFill>
                  <a:srgbClr val="FFFFFF"/>
                </a:solidFill>
                <a:latin typeface="Anthropic Sans"/>
                <a:ea typeface="Anthropic Sans"/>
                <a:cs typeface="Anthropic Sans"/>
              </a:rPr>
              <a:t>Earthquake</a:t>
            </a:r>
          </a:p>
        </p:txBody>
      </p:sp>
      <p:sp>
        <p:nvSpPr>
          <p:cNvPr id="19" name="TextBox 19"/>
          <p:cNvSpPr txBox="1"/>
          <p:nvPr/>
        </p:nvSpPr>
        <p:spPr>
          <a:xfrm>
            <a:off x="752856" y="5615940"/>
            <a:ext cx="12353979" cy="352044"/>
          </a:xfrm>
          <a:prstGeom prst="rect">
            <a:avLst/>
          </a:prstGeom>
          <a:noFill/>
          <a:ln>
            <a:noFill/>
          </a:ln>
        </p:spPr>
        <p:txBody>
          <a:bodyPr wrap="none" lIns="0" tIns="0" rIns="0" bIns="0" anchor="t" anchorCtr="0">
            <a:spAutoFit/>
          </a:bodyPr>
          <a:lstStyle/>
          <a:p>
            <a:r>
              <a:t>This evaluates generalization beyond a single workload family.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7/24</a:t>
            </a:r>
          </a:p>
        </p:txBody>
      </p:sp>
      <p:sp>
        <p:nvSpPr>
          <p:cNvPr id="27" name="Rectangle 26"/>
          <p:cNvSpPr/>
          <p:nvPr/>
        </p:nvSpPr>
        <p:spPr>
          <a:xfrm>
            <a:off x="502920" y="1226820"/>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Labels came from measured runtime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Each array was transformed, timed across the portfolio, and labeled by the fastest observed algorithm.</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r>
              <a:t>The transformation protocol exposes sorted, reversed, shuffled, quantized, and partially sorted structure.</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8/24</a:t>
            </a:r>
          </a:p>
        </p:txBody>
      </p:sp>
      <p:sp>
        <p:nvSpPr>
          <p:cNvPr id="26" name="Rectangle 25"/>
          <p:cNvSpPr/>
          <p:nvPr/>
        </p:nvSpPr>
        <p:spPr>
          <a:xfrm>
            <a:off x="502920" y="1223153"/>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Sixteen O(n) structural features represent each array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feature vector describes size, ordering, repetition, distribution, and robust scale before sorting.</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6751320" y="1814512"/>
            <a:ext cx="1554480" cy="440055"/>
          </a:xfrm>
          <a:prstGeom prst="rect">
            <a:avLst/>
          </a:prstGeom>
          <a:noFill/>
          <a:ln>
            <a:noFill/>
          </a:ln>
        </p:spPr>
        <p:txBody>
          <a:bodyPr wrap="none" lIns="0" tIns="0" rIns="0" bIns="0" anchor="t" anchorCtr="0">
            <a:spAutoFit/>
          </a:bodyPr>
          <a:lstStyle/>
          <a:p>
            <a:r>
              <a:rPr sz="1700" b="1">
                <a:solidFill>
                  <a:srgbClr val="191919"/>
                </a:solidFill>
                <a:latin typeface="Aptos"/>
              </a:rPr>
              <a:t>Size</a:t>
            </a:r>
          </a:p>
        </p:txBody>
      </p:sp>
      <p:sp>
        <p:nvSpPr>
          <p:cNvPr id="10" name="TextBox 10"/>
          <p:cNvSpPr txBox="1"/>
          <p:nvPr/>
        </p:nvSpPr>
        <p:spPr>
          <a:xfrm>
            <a:off x="6753606" y="24536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length</a:t>
            </a:r>
          </a:p>
        </p:txBody>
      </p:sp>
      <p:sp>
        <p:nvSpPr>
          <p:cNvPr id="11" name="TextBox 11"/>
          <p:cNvSpPr txBox="1"/>
          <p:nvPr/>
        </p:nvSpPr>
        <p:spPr>
          <a:xfrm>
            <a:off x="6753606" y="27965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scale</a:t>
            </a:r>
          </a:p>
        </p:txBody>
      </p:sp>
      <p:sp>
        <p:nvSpPr>
          <p:cNvPr id="12" name="TextBox 12"/>
          <p:cNvSpPr txBox="1"/>
          <p:nvPr/>
        </p:nvSpPr>
        <p:spPr>
          <a:xfrm>
            <a:off x="6753606" y="31394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spread</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9208770" y="1814512"/>
            <a:ext cx="1554480" cy="440055"/>
          </a:xfrm>
          <a:prstGeom prst="rect">
            <a:avLst/>
          </a:prstGeom>
          <a:noFill/>
          <a:ln>
            <a:noFill/>
          </a:ln>
        </p:spPr>
        <p:txBody>
          <a:bodyPr wrap="none" lIns="0" tIns="0" rIns="0" bIns="0" anchor="t" anchorCtr="0">
            <a:spAutoFit/>
          </a:bodyPr>
          <a:lstStyle/>
          <a:p>
            <a:r>
              <a:rPr sz="1700" b="1">
                <a:solidFill>
                  <a:srgbClr val="191919"/>
                </a:solidFill>
                <a:latin typeface="Aptos"/>
              </a:rPr>
              <a:t>Ordering</a:t>
            </a:r>
          </a:p>
        </p:txBody>
      </p:sp>
      <p:sp>
        <p:nvSpPr>
          <p:cNvPr id="15" name="TextBox 15"/>
          <p:cNvSpPr txBox="1"/>
          <p:nvPr/>
        </p:nvSpPr>
        <p:spPr>
          <a:xfrm>
            <a:off x="9211056" y="24536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sortedness</a:t>
            </a:r>
          </a:p>
        </p:txBody>
      </p:sp>
      <p:sp>
        <p:nvSpPr>
          <p:cNvPr id="16" name="TextBox 16"/>
          <p:cNvSpPr txBox="1"/>
          <p:nvPr/>
        </p:nvSpPr>
        <p:spPr>
          <a:xfrm>
            <a:off x="9211056" y="27965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runs</a:t>
            </a:r>
          </a:p>
        </p:txBody>
      </p:sp>
      <p:sp>
        <p:nvSpPr>
          <p:cNvPr id="17" name="TextBox 17"/>
          <p:cNvSpPr txBox="1"/>
          <p:nvPr/>
        </p:nvSpPr>
        <p:spPr>
          <a:xfrm>
            <a:off x="9211056" y="31394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inversions</a:t>
            </a:r>
          </a:p>
        </p:txBody>
      </p:sp>
      <p:sp>
        <p:nvSpPr>
          <p:cNvPr id="18" name="TextBox 18"/>
          <p:cNvSpPr txBox="1"/>
          <p:nvPr/>
        </p:nvSpPr>
        <p:spPr>
          <a:xfrm>
            <a:off x="6465570" y="4948238"/>
            <a:ext cx="5779672" cy="440055"/>
          </a:xfrm>
          <a:prstGeom prst="rect">
            <a:avLst/>
          </a:prstGeom>
          <a:noFill/>
          <a:ln>
            <a:noFill/>
          </a:ln>
        </p:spPr>
        <p:txBody>
          <a:bodyPr wrap="none" lIns="0" tIns="0" rIns="0" bIns="0" anchor="t" anchorCtr="0">
            <a:spAutoFit/>
          </a:bodyPr>
          <a:lstStyle/>
          <a:p>
            <a:r>
              <a:rPr sz="1300" b="0">
                <a:solidFill>
                  <a:srgbClr val="566987"/>
                </a:solidFill>
                <a:latin typeface="Aptos"/>
              </a:rPr>
              <a:t>No timing features are used at prediction time.</a:t>
            </a:r>
          </a:p>
        </p:txBody>
      </p:sp>
      <p:sp>
        <p:nvSpPr>
          <p:cNvPr id="19" name="TextBox 19"/>
          <p:cNvSpPr txBox="1"/>
          <p:nvPr/>
        </p:nvSpPr>
        <p:spPr>
          <a:xfrm>
            <a:off x="6465570" y="5329238"/>
            <a:ext cx="6340120" cy="440055"/>
          </a:xfrm>
          <a:prstGeom prst="rect">
            <a:avLst/>
          </a:prstGeom>
          <a:noFill/>
          <a:ln>
            <a:noFill/>
          </a:ln>
        </p:spPr>
        <p:txBody>
          <a:bodyPr wrap="none" lIns="0" tIns="0" rIns="0" bIns="0" anchor="t" anchorCtr="0">
            <a:spAutoFit/>
          </a:bodyPr>
          <a:lstStyle/>
          <a:p>
            <a:r>
              <a:rPr sz="1300" b="0">
                <a:solidFill>
                  <a:srgbClr val="566987"/>
                </a:solidFill>
                <a:latin typeface="Aptos"/>
              </a:rPr>
              <a:t>The selector sees only structural descriptors.</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9/24</a:t>
            </a: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45274"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Prediction uses only pre-sorting structural features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deployable path extracts features once and predicts one algorithm; portfolio timings are used only for training labels and evaluation.</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1570" y="2614612"/>
            <a:ext cx="30233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Read the array once</a:t>
            </a:r>
          </a:p>
        </p:txBody>
      </p:sp>
      <p:sp>
        <p:nvSpPr>
          <p:cNvPr id="10" name="TextBox 10"/>
          <p:cNvSpPr txBox="1"/>
          <p:nvPr/>
        </p:nvSpPr>
        <p:spPr>
          <a:xfrm>
            <a:off x="1131570" y="3090862"/>
            <a:ext cx="497190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Count order and duplicate signals</a:t>
            </a:r>
          </a:p>
        </p:txBody>
      </p:sp>
      <p:sp>
        <p:nvSpPr>
          <p:cNvPr id="11" name="TextBox 11"/>
          <p:cNvSpPr txBox="1"/>
          <p:nvPr/>
        </p:nvSpPr>
        <p:spPr>
          <a:xfrm>
            <a:off x="1131570" y="3567112"/>
            <a:ext cx="410837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Predict one algorithm class</a:t>
            </a:r>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3004191"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introsort</a:t>
            </a:r>
          </a:p>
        </p:txBody>
      </p:sp>
      <p:sp>
        <p:nvSpPr>
          <p:cNvPr id="15" name="TextBox 15"/>
          <p:cNvSpPr txBox="1"/>
          <p:nvPr/>
        </p:nvSpPr>
        <p:spPr>
          <a:xfrm>
            <a:off x="6846570" y="3090862"/>
            <a:ext cx="29150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heapsort</a:t>
            </a:r>
          </a:p>
        </p:txBody>
      </p:sp>
      <p:sp>
        <p:nvSpPr>
          <p:cNvPr id="16" name="TextBox 16"/>
          <p:cNvSpPr txBox="1"/>
          <p:nvPr/>
        </p:nvSpPr>
        <p:spPr>
          <a:xfrm>
            <a:off x="6846570" y="3567112"/>
            <a:ext cx="2733199"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timsort</a:t>
            </a:r>
          </a:p>
        </p:txBody>
      </p:sp>
      <p:sp>
        <p:nvSpPr>
          <p:cNvPr id="17" name="TextBox 17"/>
          <p:cNvSpPr txBox="1"/>
          <p:nvPr/>
        </p:nvSpPr>
        <p:spPr>
          <a:xfrm>
            <a:off x="6846570" y="4043362"/>
            <a:ext cx="395716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Pick after seeing all times</a:t>
            </a:r>
          </a:p>
        </p:txBody>
      </p:sp>
      <p:sp>
        <p:nvSpPr>
          <p:cNvPr id="18" name="TextBox 18"/>
          <p:cNvSpPr txBox="1"/>
          <p:nvPr/>
        </p:nvSpPr>
        <p:spPr>
          <a:xfrm>
            <a:off x="848106" y="5615940"/>
            <a:ext cx="10183373" cy="352044"/>
          </a:xfrm>
          <a:prstGeom prst="rect">
            <a:avLst/>
          </a:prstGeom>
          <a:noFill/>
          <a:ln>
            <a:noFill/>
          </a:ln>
        </p:spPr>
        <p:txBody>
          <a:bodyPr wrap="none" lIns="0" tIns="0" rIns="0" bIns="0" anchor="t" anchorCtr="0">
            <a:spAutoFit/>
          </a:bodyPr>
          <a:lstStyle/>
          <a:p>
            <a:r>
              <a:t>This separates the deployable selector from the VBS oracle used only for evaluation.</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10/24</a:t>
            </a: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v5 is the general cross-domain selector</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v5 is trained across all domains and predicts among introsort, heapsort, and timsort.</a:t>
            </a:r>
          </a:p>
        </p:txBody>
      </p:sp>
      <p:pic>
        <p:nvPicPr>
          <p:cNvPr id="7" name="Image 7"/>
          <p:cNvPicPr>
            <a:picLocks noChangeAspect="1"/>
          </p:cNvPicPr>
          <p:nvPr/>
        </p:nvPicPr>
        <p:blipFill>
          <a:blip r:embed="rId3"/>
          <a:stretch>
            <a:fillRect/>
          </a:stretch>
        </p:blipFill>
        <p:spPr>
          <a:xfrm>
            <a:off x="698373" y="1381125"/>
            <a:ext cx="7175754" cy="4333875"/>
          </a:xfrm>
          <a:prstGeom prst="rect">
            <a:avLst/>
          </a:prstGeom>
        </p:spPr>
      </p:pic>
      <p:sp>
        <p:nvSpPr>
          <p:cNvPr id="8" name="Freeform 8"/>
          <p:cNvSpPr/>
          <p:nvPr/>
        </p:nvSpPr>
        <p:spPr>
          <a:xfrm>
            <a:off x="8477250" y="161925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923023" y="1910715"/>
            <a:ext cx="187070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Array features</a:t>
            </a:r>
          </a:p>
        </p:txBody>
      </p:sp>
      <p:sp>
        <p:nvSpPr>
          <p:cNvPr id="10" name="Freeform 10"/>
          <p:cNvSpPr/>
          <p:nvPr/>
        </p:nvSpPr>
        <p:spPr>
          <a:xfrm>
            <a:off x="8477250" y="2714625"/>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9132141" y="3006090"/>
            <a:ext cx="145246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XGBoost v5</a:t>
            </a:r>
          </a:p>
        </p:txBody>
      </p:sp>
      <p:sp>
        <p:nvSpPr>
          <p:cNvPr id="12" name="Freeform 12"/>
          <p:cNvSpPr/>
          <p:nvPr/>
        </p:nvSpPr>
        <p:spPr>
          <a:xfrm>
            <a:off x="8477250" y="381000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3" name="TextBox 13"/>
          <p:cNvSpPr txBox="1"/>
          <p:nvPr/>
        </p:nvSpPr>
        <p:spPr>
          <a:xfrm>
            <a:off x="8596274" y="4101465"/>
            <a:ext cx="2524201"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One algorithm choice</a:t>
            </a:r>
          </a:p>
        </p:txBody>
      </p:sp>
      <p:sp>
        <p:nvSpPr>
          <p:cNvPr id="14" name="TextBox 14"/>
          <p:cNvSpPr txBox="1"/>
          <p:nvPr/>
        </p:nvSpPr>
        <p:spPr>
          <a:xfrm>
            <a:off x="8469249" y="5049679"/>
            <a:ext cx="9188255" cy="308039"/>
          </a:xfrm>
          <a:prstGeom prst="rect">
            <a:avLst/>
          </a:prstGeom>
          <a:noFill/>
          <a:ln>
            <a:noFill/>
          </a:ln>
        </p:spPr>
        <p:txBody>
          <a:bodyPr wrap="none" lIns="0" tIns="0" rIns="0" bIns="0" anchor="t" anchorCtr="0">
            <a:spAutoFit/>
          </a:bodyPr>
          <a:lstStyle/>
          <a:p>
            <a:r>
              <a:t>The F1-specific route exists, but it is a separate specialization outside the main v5 result.</a:t>
            </a:r>
          </a:p>
        </p:txBody>
      </p:sp>
      <p:sp>
        <p:nvSpPr>
          <p:cNvPr id="15" name="Line 1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7" name="Freeform 17"/>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8" name="Rectangle 17"/>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11/24</a:t>
            </a:r>
          </a:p>
        </p:txBody>
      </p:sp>
      <p:sp>
        <p:nvSpPr>
          <p:cNvPr id="22" name="Rectangle 21"/>
          <p:cNvSpPr/>
          <p:nvPr/>
        </p:nvSpPr>
        <p:spPr>
          <a:xfrm>
            <a:off x="523875" y="1250633"/>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portfolio contains three comparison-based implementations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model chooses among the three sorting implementations measured throughout the thesis.</a:t>
            </a:r>
          </a:p>
        </p:txBody>
      </p:sp>
      <p:sp>
        <p:nvSpPr>
          <p:cNvPr id="7" name="Freeform 7"/>
          <p:cNvSpPr/>
          <p:nvPr/>
        </p:nvSpPr>
        <p:spPr>
          <a:xfrm>
            <a:off x="7620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29462" y="1897380"/>
            <a:ext cx="1395146" cy="704088"/>
          </a:xfrm>
          <a:prstGeom prst="rect">
            <a:avLst/>
          </a:prstGeom>
          <a:noFill/>
          <a:ln>
            <a:noFill/>
          </a:ln>
        </p:spPr>
        <p:txBody>
          <a:bodyPr wrap="none" lIns="0" tIns="0" rIns="0" bIns="0" anchor="t" anchorCtr="0">
            <a:spAutoFit/>
          </a:bodyPr>
          <a:lstStyle/>
          <a:p>
            <a:r>
              <a:t>introsort</a:t>
            </a:r>
          </a:p>
        </p:txBody>
      </p:sp>
      <p:sp>
        <p:nvSpPr>
          <p:cNvPr id="9" name="TextBox 9"/>
          <p:cNvSpPr txBox="1"/>
          <p:nvPr/>
        </p:nvSpPr>
        <p:spPr>
          <a:xfrm>
            <a:off x="1038606" y="2758440"/>
            <a:ext cx="2768575"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general-purpose hybrid</a:t>
            </a:r>
          </a:p>
        </p:txBody>
      </p:sp>
      <p:sp>
        <p:nvSpPr>
          <p:cNvPr id="10" name="TextBox 10"/>
          <p:cNvSpPr txBox="1"/>
          <p:nvPr/>
        </p:nvSpPr>
        <p:spPr>
          <a:xfrm>
            <a:off x="1038606" y="3139440"/>
            <a:ext cx="284126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strong default behavior</a:t>
            </a:r>
          </a:p>
        </p:txBody>
      </p:sp>
      <p:sp>
        <p:nvSpPr>
          <p:cNvPr id="11" name="Freeform 11"/>
          <p:cNvSpPr/>
          <p:nvPr/>
        </p:nvSpPr>
        <p:spPr>
          <a:xfrm>
            <a:off x="447675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46498" y="1945958"/>
            <a:ext cx="2074299" cy="616077"/>
          </a:xfrm>
          <a:prstGeom prst="rect">
            <a:avLst/>
          </a:prstGeom>
          <a:noFill/>
          <a:ln>
            <a:noFill/>
          </a:ln>
        </p:spPr>
        <p:txBody>
          <a:bodyPr wrap="none" lIns="0" tIns="0" rIns="0" bIns="0" anchor="t" anchorCtr="0">
            <a:spAutoFit/>
          </a:bodyPr>
          <a:lstStyle/>
          <a:p>
            <a:pPr algn="l"/>
            <a:r>
              <a:rPr lang="en-US" sz="3150" b="1" dirty="0">
                <a:solidFill>
                  <a:srgbClr val="191919"/>
                </a:solidFill>
                <a:latin typeface="Styrene A"/>
                <a:ea typeface="Styrene A"/>
                <a:cs typeface="Styrene A"/>
              </a:rPr>
              <a:t>Heapsort</a:t>
            </a:r>
          </a:p>
        </p:txBody>
      </p:sp>
      <p:sp>
        <p:nvSpPr>
          <p:cNvPr id="13" name="TextBox 13"/>
          <p:cNvSpPr txBox="1"/>
          <p:nvPr/>
        </p:nvSpPr>
        <p:spPr>
          <a:xfrm>
            <a:off x="4753356" y="2758440"/>
            <a:ext cx="348340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consistent worst-case bound</a:t>
            </a:r>
          </a:p>
        </p:txBody>
      </p:sp>
      <p:sp>
        <p:nvSpPr>
          <p:cNvPr id="14" name="TextBox 14"/>
          <p:cNvSpPr txBox="1"/>
          <p:nvPr/>
        </p:nvSpPr>
        <p:spPr>
          <a:xfrm>
            <a:off x="4753356" y="3139440"/>
            <a:ext cx="298665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often hard to distinguish</a:t>
            </a:r>
          </a:p>
        </p:txBody>
      </p:sp>
      <p:sp>
        <p:nvSpPr>
          <p:cNvPr id="15" name="Freeform 15"/>
          <p:cNvSpPr/>
          <p:nvPr/>
        </p:nvSpPr>
        <p:spPr>
          <a:xfrm>
            <a:off x="81915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458962" y="1897380"/>
            <a:ext cx="942929" cy="704088"/>
          </a:xfrm>
          <a:prstGeom prst="rect">
            <a:avLst/>
          </a:prstGeom>
          <a:noFill/>
          <a:ln>
            <a:noFill/>
          </a:ln>
        </p:spPr>
        <p:txBody>
          <a:bodyPr wrap="none" lIns="0" tIns="0" rIns="0" bIns="0" anchor="t" anchorCtr="0">
            <a:spAutoFit/>
          </a:bodyPr>
          <a:lstStyle/>
          <a:p>
            <a:r>
              <a:t>timsort</a:t>
            </a:r>
          </a:p>
        </p:txBody>
      </p:sp>
      <p:sp>
        <p:nvSpPr>
          <p:cNvPr id="17" name="TextBox 17"/>
          <p:cNvSpPr txBox="1"/>
          <p:nvPr/>
        </p:nvSpPr>
        <p:spPr>
          <a:xfrm>
            <a:off x="8468106" y="2758440"/>
            <a:ext cx="19689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adaptive to runs</a:t>
            </a:r>
          </a:p>
        </p:txBody>
      </p:sp>
      <p:sp>
        <p:nvSpPr>
          <p:cNvPr id="18" name="TextBox 18"/>
          <p:cNvSpPr txBox="1"/>
          <p:nvPr/>
        </p:nvSpPr>
        <p:spPr>
          <a:xfrm>
            <a:off x="8468106" y="3139440"/>
            <a:ext cx="3834765"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often clear when data has order</a:t>
            </a:r>
          </a:p>
        </p:txBody>
      </p:sp>
      <p:sp>
        <p:nvSpPr>
          <p:cNvPr id="19" name="TextBox 19"/>
          <p:cNvSpPr txBox="1"/>
          <p:nvPr/>
        </p:nvSpPr>
        <p:spPr>
          <a:xfrm>
            <a:off x="752856" y="5520690"/>
            <a:ext cx="9904049" cy="352044"/>
          </a:xfrm>
          <a:prstGeom prst="rect">
            <a:avLst/>
          </a:prstGeom>
          <a:noFill/>
          <a:ln>
            <a:noFill/>
          </a:ln>
        </p:spPr>
        <p:txBody>
          <a:bodyPr wrap="none" lIns="0" tIns="0" rIns="0" bIns="0" anchor="t" anchorCtr="0">
            <a:spAutoFit/>
          </a:bodyPr>
          <a:lstStyle/>
          <a:p>
            <a:r>
              <a:t>The evaluation measures whether this choice reduces regret against the VBS baseline.</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12/24</a:t>
            </a: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200" b="1">
                <a:solidFill>
                  <a:srgbClr val="191919"/>
                </a:solidFill>
                <a:latin typeface="Aptos Display"/>
              </a:rPr>
              <a:t>Model evolution separated deployable and leakage-prone designs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final v5 design follows from rejected paths, stricter splits, and regret-aware checks.</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8763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r>
              <a:rPr sz="1500" b="1">
                <a:solidFill>
                  <a:srgbClr val="191919"/>
                </a:solidFill>
                <a:latin typeface="Aptos"/>
              </a:rPr>
              <a:t>v1 regression</a:t>
            </a:r>
          </a:p>
        </p:txBody>
      </p:sp>
      <p:sp>
        <p:nvSpPr>
          <p:cNvPr id="10" name="TextBox 10"/>
          <p:cNvSpPr txBox="1"/>
          <p:nvPr/>
        </p:nvSpPr>
        <p:spPr>
          <a:xfrm>
            <a:off x="1096899" y="4897279"/>
            <a:ext cx="1129141" cy="308039"/>
          </a:xfrm>
          <a:prstGeom prst="rect">
            <a:avLst/>
          </a:prstGeom>
          <a:noFill/>
          <a:ln>
            <a:noFill/>
          </a:ln>
        </p:spPr>
        <p:txBody>
          <a:bodyPr wrap="none" lIns="0" tIns="0" rIns="0" bIns="0" anchor="t" anchorCtr="0">
            <a:spAutoFit/>
          </a:bodyPr>
          <a:lstStyle/>
          <a:p>
            <a:r>
              <a:rPr sz="1300" b="0">
                <a:solidFill>
                  <a:srgbClr val="566987"/>
                </a:solidFill>
                <a:latin typeface="Aptos"/>
              </a:rPr>
              <a:t>dominated by size</a:t>
            </a:r>
          </a:p>
        </p:txBody>
      </p:sp>
      <p:sp>
        <p:nvSpPr>
          <p:cNvPr id="11" name="Freeform 11"/>
          <p:cNvSpPr/>
          <p:nvPr/>
        </p:nvSpPr>
        <p:spPr>
          <a:xfrm>
            <a:off x="35242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r>
              <a:rPr sz="1500" b="1">
                <a:solidFill>
                  <a:srgbClr val="191919"/>
                </a:solidFill>
                <a:latin typeface="Aptos"/>
              </a:rPr>
              <a:t>v3 timing features</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r>
              <a:rPr sz="1300" b="0">
                <a:solidFill>
                  <a:srgbClr val="566987"/>
                </a:solidFill>
                <a:latin typeface="Aptos"/>
              </a:rPr>
              <a:t>ceiling proof only</a:t>
            </a:r>
          </a:p>
        </p:txBody>
      </p:sp>
      <p:sp>
        <p:nvSpPr>
          <p:cNvPr id="14" name="Freeform 14"/>
          <p:cNvSpPr/>
          <p:nvPr/>
        </p:nvSpPr>
        <p:spPr>
          <a:xfrm>
            <a:off x="61722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191919"/>
          </a:solidFill>
          <a:ln>
            <a:noFill/>
          </a:ln>
        </p:spPr>
        <p:txBody>
          <a:bodyPr/>
          <a:lstStyle/>
          <a:p>
            <a:endParaRPr/>
          </a:p>
        </p:txBody>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pPr algn="l"/>
            <a:r>
              <a:rPr lang="en-US" sz="1500" b="1" dirty="0">
                <a:solidFill>
                  <a:srgbClr val="FFFFFF"/>
                </a:solidFill>
                <a:latin typeface="Aptos"/>
                <a:ea typeface="Anthropic Sans"/>
                <a:cs typeface="Anthropic Sans"/>
              </a:rPr>
              <a:t>v5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pPr algn="l"/>
            <a:r>
              <a:rPr lang="en-US" sz="1300" b="0" dirty="0">
                <a:solidFill>
                  <a:srgbClr val="FFFFFF"/>
                </a:solidFill>
                <a:latin typeface="Aptos"/>
                <a:ea typeface="Anthropic Sans"/>
                <a:cs typeface="Anthropic Sans"/>
              </a:rPr>
              <a:t>final main model</a:t>
            </a:r>
          </a:p>
        </p:txBody>
      </p:sp>
      <p:sp>
        <p:nvSpPr>
          <p:cNvPr id="17" name="Freeform 17"/>
          <p:cNvSpPr/>
          <p:nvPr/>
        </p:nvSpPr>
        <p:spPr>
          <a:xfrm>
            <a:off x="88201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r>
              <a:rPr sz="1500" b="1">
                <a:solidFill>
                  <a:srgbClr val="191919"/>
                </a:solidFill>
                <a:latin typeface="Aptos"/>
              </a:rPr>
              <a:t>v6/v7/v8</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r>
              <a:rPr sz="1300" b="0">
                <a:solidFill>
                  <a:srgbClr val="566987"/>
                </a:solidFill>
                <a:latin typeface="Aptos"/>
              </a:rPr>
              <a:t>final scope checks</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13/24</a:t>
            </a: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Evaluation compares the model against SBS and VBS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Classification accuracy is reported, but runtime regret measures the cost of each decision.</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single best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over the test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fastest measured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for each input</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choose before sorting</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using features only</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r>
              <a:t>These formulas connect classifier output to measured runtime value.</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5" name="Rectangle 24"/>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14/24</a:t>
            </a:r>
          </a:p>
        </p:txBody>
      </p:sp>
      <p:sp>
        <p:nvSpPr>
          <p:cNvPr id="29" name="Rectangle 28"/>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The selector closes most of the runtime gap</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The most important result is runtime value: v5 recovers 93.1% of the SBS-to-VBS gap.</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191919"/>
          </a:solidFill>
          <a:ln>
            <a:noFill/>
          </a:ln>
        </p:spPr>
        <p:txBody>
          <a:bodyPr/>
          <a:lstStyle/>
          <a:p>
            <a:endParaRPr/>
          </a:p>
        </p:txBody>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2800" b="1" dirty="0">
                <a:solidFill>
                  <a:srgbClr val="F94E1F"/>
                </a:solidFill>
                <a:latin typeface="Aptos Display"/>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pPr algn="l"/>
            <a:r>
              <a:rPr lang="en-US" sz="1400" b="0" dirty="0">
                <a:solidFill>
                  <a:srgbClr val="FFFFFF"/>
                </a:solidFill>
                <a:latin typeface="Aptos"/>
                <a:ea typeface="Anthropic Sans"/>
                <a:cs typeface="Anthropic Sans"/>
              </a:rPr>
              <a:t>runtime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r>
              <a:rPr sz="1400" b="0">
                <a:solidFill>
                  <a:srgbClr val="FFFFFF"/>
                </a:solidFill>
                <a:latin typeface="Aptos"/>
              </a:rPr>
              <a:t>Runtime regret is the main</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r>
              <a:rPr sz="1400" b="0">
                <a:solidFill>
                  <a:srgbClr val="FFFFFF"/>
                </a:solidFill>
                <a:latin typeface="Aptos"/>
              </a:rPr>
              <a:t>evaluation signal.</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pPr algn="ctr"/>
            <a:r>
              <a:rPr lang="en-US" sz="1400" b="0" dirty="0">
                <a:solidFill>
                  <a:srgbClr val="566987"/>
                </a:solidFill>
                <a:latin typeface="Aptos"/>
                <a:ea typeface="Anthropic Sans"/>
                <a:cs typeface="Anthropic Sans"/>
              </a:rPr>
              <a:t>test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89.6%</a:t>
            </a:r>
          </a:p>
        </p:txBody>
      </p:sp>
      <p:sp>
        <p:nvSpPr>
          <p:cNvPr id="17" name="TextBox 17"/>
          <p:cNvSpPr txBox="1"/>
          <p:nvPr/>
        </p:nvSpPr>
        <p:spPr>
          <a:xfrm>
            <a:off x="9664122" y="2516029"/>
            <a:ext cx="1245756" cy="308039"/>
          </a:xfrm>
          <a:prstGeom prst="rect">
            <a:avLst/>
          </a:prstGeom>
          <a:noFill/>
          <a:ln>
            <a:noFill/>
          </a:ln>
        </p:spPr>
        <p:txBody>
          <a:bodyPr wrap="none" lIns="0" tIns="0" rIns="0" bIns="0" anchor="t" anchorCtr="0">
            <a:spAutoFit/>
          </a:bodyPr>
          <a:lstStyle/>
          <a:p>
            <a:pPr algn="ctr"/>
            <a:r>
              <a:rPr lang="en-US" sz="1400" b="0" dirty="0">
                <a:solidFill>
                  <a:srgbClr val="566987"/>
                </a:solidFill>
                <a:latin typeface="Aptos"/>
                <a:ea typeface="Anthropic Sans"/>
                <a:cs typeface="Anthropic Sans"/>
              </a:rPr>
              <a:t>zero regret</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15/24</a:t>
            </a: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Accuracy alone does not explain runtime value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Many misclassifications have low regret because candidate runtimes are nearly tied.</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label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gap closed</a:t>
            </a:r>
          </a:p>
        </p:txBody>
      </p:sp>
      <p:sp>
        <p:nvSpPr>
          <p:cNvPr id="14" name="TextBox 14"/>
          <p:cNvSpPr txBox="1"/>
          <p:nvPr/>
        </p:nvSpPr>
        <p:spPr>
          <a:xfrm>
            <a:off x="7944231" y="4758690"/>
            <a:ext cx="3963348" cy="352044"/>
          </a:xfrm>
          <a:prstGeom prst="rect">
            <a:avLst/>
          </a:prstGeom>
          <a:noFill/>
          <a:ln>
            <a:noFill/>
          </a:ln>
        </p:spPr>
        <p:txBody>
          <a:bodyPr wrap="none" lIns="0" tIns="0" rIns="0" bIns="0" anchor="t" anchorCtr="0">
            <a:spAutoFit/>
          </a:bodyPr>
          <a:lstStyle/>
          <a:p>
            <a:r>
              <a:t>The result is evaluated by runtime regret,</a:t>
            </a:r>
          </a:p>
          <a:p>
            <a:r>
              <a:t>not accuracy alone.</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16/24</a:t>
            </a: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residual error is concentrated in the introsort-heapsort boundary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The confusion matrix shows strong timsort behavior and weaker separation where runtimes are close.</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3000" b="1" dirty="0">
                <a:solidFill>
                  <a:srgbClr val="F94E1F"/>
                </a:solidFill>
                <a:latin typeface="Aptos Display"/>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400" b="0" dirty="0">
                <a:solidFill>
                  <a:srgbClr val="FFFFFF"/>
                </a:solidFill>
                <a:latin typeface="Aptos"/>
                <a:ea typeface="Anthropic Sans"/>
                <a:cs typeface="Anthropic Sans"/>
              </a:rPr>
              <a:t>timsort recall</a:t>
            </a:r>
          </a:p>
        </p:txBody>
      </p:sp>
      <p:sp>
        <p:nvSpPr>
          <p:cNvPr id="11" name="Freeform 11"/>
          <p:cNvSpPr/>
          <p:nvPr/>
        </p:nvSpPr>
        <p:spPr>
          <a:xfrm>
            <a:off x="6858000" y="3143250"/>
            <a:ext cx="4191000"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1400" b="1" dirty="0">
                <a:solidFill>
                  <a:srgbClr val="191919"/>
                </a:solidFill>
                <a:latin typeface="Aptos"/>
                <a:ea typeface="Anthropic Sans"/>
                <a:cs typeface="Anthropic Sans"/>
              </a:rPr>
              <a:t>Interpretation</a:t>
            </a:r>
          </a:p>
        </p:txBody>
      </p:sp>
      <p:sp>
        <p:nvSpPr>
          <p:cNvPr id="13" name="TextBox 13"/>
          <p:cNvSpPr txBox="1"/>
          <p:nvPr/>
        </p:nvSpPr>
        <p:spPr>
          <a:xfrm>
            <a:off x="7134606" y="3901440"/>
            <a:ext cx="5967558" cy="352044"/>
          </a:xfrm>
          <a:prstGeom prst="rect">
            <a:avLst/>
          </a:prstGeom>
          <a:noFill/>
          <a:ln>
            <a:noFill/>
          </a:ln>
        </p:spPr>
        <p:txBody>
          <a:bodyPr wrap="none" lIns="0" tIns="0" rIns="0" bIns="0" anchor="t" anchorCtr="0">
            <a:spAutoFit/>
          </a:bodyPr>
          <a:lstStyle/>
          <a:p>
            <a:r>
              <a:rPr sz="1400" b="0">
                <a:solidFill>
                  <a:srgbClr val="191919"/>
                </a:solidFill>
                <a:latin typeface="Aptos"/>
              </a:rPr>
              <a:t>timsort is easier when order signals are present.</a:t>
            </a:r>
          </a:p>
        </p:txBody>
      </p:sp>
      <p:sp>
        <p:nvSpPr>
          <p:cNvPr id="14" name="TextBox 14"/>
          <p:cNvSpPr txBox="1"/>
          <p:nvPr/>
        </p:nvSpPr>
        <p:spPr>
          <a:xfrm>
            <a:off x="7134606" y="4282440"/>
            <a:ext cx="4164940" cy="352044"/>
          </a:xfrm>
          <a:prstGeom prst="rect">
            <a:avLst/>
          </a:prstGeom>
          <a:noFill/>
          <a:ln>
            <a:noFill/>
          </a:ln>
        </p:spPr>
        <p:txBody>
          <a:bodyPr wrap="none" lIns="0" tIns="0" rIns="0" bIns="0" anchor="t" anchorCtr="0">
            <a:spAutoFit/>
          </a:bodyPr>
          <a:lstStyle/>
          <a:p>
            <a:r>
              <a:rPr sz="1400" b="0">
                <a:solidFill>
                  <a:srgbClr val="191919"/>
                </a:solidFill>
                <a:latin typeface="Aptos"/>
              </a:rPr>
              <a:t>introsort and heapsort can be much closer.</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r>
              <a:rPr sz="1400" b="0">
                <a:solidFill>
                  <a:srgbClr val="191919"/>
                </a:solidFill>
                <a:latin typeface="Aptos"/>
              </a:rPr>
              <a:t>Many errors in this boundary</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r>
              <a:rPr sz="1400" b="0">
                <a:solidFill>
                  <a:srgbClr val="191919"/>
                </a:solidFill>
                <a:latin typeface="Aptos"/>
              </a:rPr>
              <a:t>have low measured regret.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17/24</a:t>
            </a: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model uses structural array signals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Feature importance is dominated by length, repetition, and ordering descriptors.</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61925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658606" y="1901190"/>
            <a:ext cx="1745064" cy="352044"/>
          </a:xfrm>
          <a:prstGeom prst="rect">
            <a:avLst/>
          </a:prstGeom>
          <a:noFill/>
          <a:ln>
            <a:noFill/>
          </a:ln>
        </p:spPr>
        <p:txBody>
          <a:bodyPr wrap="none" lIns="0" tIns="0" rIns="0" bIns="0" anchor="t" anchorCtr="0">
            <a:spAutoFit/>
          </a:bodyPr>
          <a:lstStyle/>
          <a:p>
            <a:r>
              <a:t>Ordering</a:t>
            </a:r>
          </a:p>
        </p:txBody>
      </p:sp>
      <p:sp>
        <p:nvSpPr>
          <p:cNvPr id="10" name="TextBox 10"/>
          <p:cNvSpPr txBox="1"/>
          <p:nvPr/>
        </p:nvSpPr>
        <p:spPr>
          <a:xfrm>
            <a:off x="8659749" y="2230279"/>
            <a:ext cx="3238805" cy="308039"/>
          </a:xfrm>
          <a:prstGeom prst="rect">
            <a:avLst/>
          </a:prstGeom>
          <a:noFill/>
          <a:ln>
            <a:noFill/>
          </a:ln>
        </p:spPr>
        <p:txBody>
          <a:bodyPr wrap="none" lIns="0" tIns="0" rIns="0" bIns="0" anchor="t" anchorCtr="0">
            <a:spAutoFit/>
          </a:bodyPr>
          <a:lstStyle/>
          <a:p>
            <a:r>
              <a:t>longest_run_ratio, runs_ratio, adj_sorted_ratio</a:t>
            </a:r>
          </a:p>
        </p:txBody>
      </p:sp>
      <p:sp>
        <p:nvSpPr>
          <p:cNvPr id="11" name="Freeform 11"/>
          <p:cNvSpPr/>
          <p:nvPr/>
        </p:nvSpPr>
        <p:spPr>
          <a:xfrm>
            <a:off x="8382000" y="3000375"/>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8658606" y="3282315"/>
            <a:ext cx="2263091" cy="352044"/>
          </a:xfrm>
          <a:prstGeom prst="rect">
            <a:avLst/>
          </a:prstGeom>
          <a:noFill/>
          <a:ln>
            <a:noFill/>
          </a:ln>
        </p:spPr>
        <p:txBody>
          <a:bodyPr wrap="none" lIns="0" tIns="0" rIns="0" bIns="0" anchor="t" anchorCtr="0">
            <a:spAutoFit/>
          </a:bodyPr>
          <a:lstStyle/>
          <a:p>
            <a:r>
              <a:t>Repetition / distribution</a:t>
            </a:r>
          </a:p>
        </p:txBody>
      </p:sp>
      <p:sp>
        <p:nvSpPr>
          <p:cNvPr id="13" name="TextBox 13"/>
          <p:cNvSpPr txBox="1"/>
          <p:nvPr/>
        </p:nvSpPr>
        <p:spPr>
          <a:xfrm>
            <a:off x="8659749" y="3611404"/>
            <a:ext cx="2835954" cy="308039"/>
          </a:xfrm>
          <a:prstGeom prst="rect">
            <a:avLst/>
          </a:prstGeom>
          <a:noFill/>
          <a:ln>
            <a:noFill/>
          </a:ln>
        </p:spPr>
        <p:txBody>
          <a:bodyPr wrap="none" lIns="0" tIns="0" rIns="0" bIns="0" anchor="t" anchorCtr="0">
            <a:spAutoFit/>
          </a:bodyPr>
          <a:lstStyle/>
          <a:p>
            <a:r>
              <a:t>top5_freq_ratio, duplicate_ratio, entropy_ratio</a:t>
            </a:r>
          </a:p>
        </p:txBody>
      </p:sp>
      <p:sp>
        <p:nvSpPr>
          <p:cNvPr id="14" name="Freeform 14"/>
          <p:cNvSpPr/>
          <p:nvPr/>
        </p:nvSpPr>
        <p:spPr>
          <a:xfrm>
            <a:off x="8382000" y="438150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5" name="TextBox 15"/>
          <p:cNvSpPr txBox="1"/>
          <p:nvPr/>
        </p:nvSpPr>
        <p:spPr>
          <a:xfrm>
            <a:off x="8658606" y="4663440"/>
            <a:ext cx="1618241" cy="352044"/>
          </a:xfrm>
          <a:prstGeom prst="rect">
            <a:avLst/>
          </a:prstGeom>
          <a:noFill/>
          <a:ln>
            <a:noFill/>
          </a:ln>
        </p:spPr>
        <p:txBody>
          <a:bodyPr wrap="none" lIns="0" tIns="0" rIns="0" bIns="0" anchor="t" anchorCtr="0">
            <a:spAutoFit/>
          </a:bodyPr>
          <a:lstStyle/>
          <a:p>
            <a:r>
              <a:t>Size / scale</a:t>
            </a:r>
          </a:p>
        </p:txBody>
      </p:sp>
      <p:sp>
        <p:nvSpPr>
          <p:cNvPr id="16" name="TextBox 16"/>
          <p:cNvSpPr txBox="1"/>
          <p:nvPr/>
        </p:nvSpPr>
        <p:spPr>
          <a:xfrm>
            <a:off x="8659749" y="4992529"/>
            <a:ext cx="2316490" cy="308039"/>
          </a:xfrm>
          <a:prstGeom prst="rect">
            <a:avLst/>
          </a:prstGeom>
          <a:noFill/>
          <a:ln>
            <a:noFill/>
          </a:ln>
        </p:spPr>
        <p:txBody>
          <a:bodyPr wrap="none" lIns="0" tIns="0" rIns="0" bIns="0" anchor="t" anchorCtr="0">
            <a:spAutoFit/>
          </a:bodyPr>
          <a:lstStyle/>
          <a:p>
            <a:r>
              <a:t>length_norm, robust scale descriptors</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18/24</a:t>
            </a: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Leave-one-domain-out testing shows partial cross-domain transfer</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Each fold holds out one full domain, making the test workload unseen during training.</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191919"/>
          </a:solidFill>
          <a:ln>
            <a:noFill/>
          </a:ln>
        </p:spPr>
        <p:txBody>
          <a:bodyPr/>
          <a:lstStyle/>
          <a:p>
            <a:endParaRPr/>
          </a:p>
        </p:txBody>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pPr algn="ctr"/>
            <a:r>
              <a:rPr lang="en-US" sz="4350" b="1" dirty="0">
                <a:solidFill>
                  <a:srgbClr val="D97757"/>
                </a:solidFill>
                <a:latin typeface="Styrene A"/>
                <a:ea typeface="Styrene A"/>
                <a:cs typeface="Styrene A"/>
              </a:rPr>
              <a:t>79.7%</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weighted gap closed</a:t>
            </a:r>
          </a:p>
        </p:txBody>
      </p:sp>
      <p:sp>
        <p:nvSpPr>
          <p:cNvPr id="11" name="Freeform 11"/>
          <p:cNvSpPr/>
          <p:nvPr/>
        </p:nvSpPr>
        <p:spPr>
          <a:xfrm>
            <a:off x="8382000" y="3524250"/>
            <a:ext cx="28575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r>
              <a:t>Domain sensitivity</a:t>
            </a:r>
          </a:p>
        </p:txBody>
      </p:sp>
      <p:sp>
        <p:nvSpPr>
          <p:cNvPr id="13" name="TextBox 13"/>
          <p:cNvSpPr txBox="1"/>
          <p:nvPr/>
        </p:nvSpPr>
        <p:spPr>
          <a:xfrm>
            <a:off x="8659749" y="4230529"/>
            <a:ext cx="2776027"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F1 is the hardest held-out</a:t>
            </a:r>
          </a:p>
        </p:txBody>
      </p:sp>
      <p:sp>
        <p:nvSpPr>
          <p:cNvPr id="14" name="TextBox 14"/>
          <p:cNvSpPr txBox="1"/>
          <p:nvPr/>
        </p:nvSpPr>
        <p:spPr>
          <a:xfrm>
            <a:off x="8659749" y="4535329"/>
            <a:ext cx="297377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domain, which motivates the</a:t>
            </a:r>
          </a:p>
        </p:txBody>
      </p:sp>
      <p:sp>
        <p:nvSpPr>
          <p:cNvPr id="15" name="TextBox 15"/>
          <p:cNvSpPr txBox="1"/>
          <p:nvPr/>
        </p:nvSpPr>
        <p:spPr>
          <a:xfrm>
            <a:off x="8659749" y="4840129"/>
            <a:ext cx="288835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separate F1 specialization.</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19/24</a:t>
            </a: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Source-aware and regret-aware checks narrowed the final scope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later experiments identify where the selector remains reliable and where claims must be limited.</a:t>
            </a:r>
          </a:p>
        </p:txBody>
      </p:sp>
      <p:sp>
        <p:nvSpPr>
          <p:cNvPr id="7" name="Freeform 7"/>
          <p:cNvSpPr/>
          <p:nvPr/>
        </p:nvSpPr>
        <p:spPr>
          <a:xfrm>
            <a:off x="7620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Accuracy dropped to 71.2%.</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r>
              <a:rPr sz="1200" b="0">
                <a:solidFill>
                  <a:srgbClr val="191919"/>
                </a:solidFill>
                <a:latin typeface="Aptos"/>
              </a:rPr>
              <a:t>This made leakage checks</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r>
              <a:rPr sz="1200" b="0">
                <a:solidFill>
                  <a:srgbClr val="191919"/>
                </a:solidFill>
                <a:latin typeface="Aptos"/>
              </a:rPr>
              <a:t>part of the evaluation protocol.</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Optimizing the wrong signal</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reduced gap closed to</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78.1%.</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pPr algn="l"/>
            <a:r>
              <a:rPr lang="en-US" sz="1200" b="0" dirty="0">
                <a:solidFill>
                  <a:srgbClr val="FFFFFF"/>
                </a:solidFill>
                <a:latin typeface="Aptos"/>
                <a:ea typeface="Anthropic Sans"/>
                <a:cs typeface="Anthropic Sans"/>
              </a:rPr>
              <a:t>Stage 2 stayed weak</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r>
              <a:rPr sz="1200" b="0">
                <a:solidFill>
                  <a:srgbClr val="FFFFFF"/>
                </a:solidFill>
                <a:latin typeface="Aptos"/>
              </a:rPr>
              <a:t>when introsort and heapsort</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r>
              <a:rPr sz="1200" b="0">
                <a:solidFill>
                  <a:srgbClr val="FFFFFF"/>
                </a:solidFill>
                <a:latin typeface="Aptos"/>
              </a:rPr>
              <a:t>were too close.</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r>
              <a:rPr sz="1200" b="0">
                <a:solidFill>
                  <a:srgbClr val="191919"/>
                </a:solidFill>
                <a:latin typeface="Aptos"/>
              </a:rPr>
              <a:t>The final result is v5 under the submitted evaluation protocol, with source-aware and regret-aware limits reported separately.</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6" name="Rectangle 25"/>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20/24</a:t>
            </a:r>
          </a:p>
        </p:txBody>
      </p:sp>
      <p:sp>
        <p:nvSpPr>
          <p:cNvPr id="30" name="Rectangle 29"/>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21/24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Conclusion</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500" b="0">
                <a:solidFill>
                  <a:srgbClr val="191919"/>
                </a:solidFill>
                <a:latin typeface="Aptos"/>
              </a:rPr>
              <a:t>Cheap structural features can deliver meaningful per-instance sorting improvements when judged with runtime-sensitive metrics.</a:t>
            </a:r>
          </a:p>
        </p:txBody>
      </p:sp>
      <p:sp>
        <p:nvSpPr>
          <p:cNvPr id="9" name="TextBox 8"/>
          <p:cNvSpPr txBox="1"/>
          <p:nvPr/>
        </p:nvSpPr>
        <p:spPr>
          <a:xfrm>
            <a:off x="1238250" y="2000250"/>
            <a:ext cx="9715500" cy="400050"/>
          </a:xfrm>
          <a:prstGeom prst="rect">
            <a:avLst/>
          </a:prstGeom>
          <a:noFill/>
        </p:spPr>
        <p:txBody>
          <a:bodyPr wrap="square" lIns="0" tIns="0" rIns="0" bIns="0">
            <a:spAutoFit/>
          </a:bodyPr>
          <a:lstStyle/>
          <a:p>
            <a:r>
              <a:rPr sz="1400" b="0">
                <a:solidFill>
                  <a:srgbClr val="191919"/>
                </a:solidFill>
                <a:latin typeface="Aptos"/>
              </a:rPr>
              <a:t>The selector closes most of the practical SBS-to-VBS runtime gap on real-world numeric arrays.</a:t>
            </a:r>
          </a:p>
        </p:txBody>
      </p:sp>
      <p:sp>
        <p:nvSpPr>
          <p:cNvPr id="10" name="Rectangle 9"/>
          <p:cNvSpPr/>
          <p:nvPr/>
        </p:nvSpPr>
        <p:spPr>
          <a:xfrm>
            <a:off x="176212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91452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76.1%</a:t>
            </a:r>
          </a:p>
        </p:txBody>
      </p:sp>
      <p:sp>
        <p:nvSpPr>
          <p:cNvPr id="12" name="TextBox 11"/>
          <p:cNvSpPr txBox="1"/>
          <p:nvPr/>
        </p:nvSpPr>
        <p:spPr>
          <a:xfrm>
            <a:off x="1933575" y="3543300"/>
            <a:ext cx="2038350" cy="190500"/>
          </a:xfrm>
          <a:prstGeom prst="rect">
            <a:avLst/>
          </a:prstGeom>
          <a:noFill/>
        </p:spPr>
        <p:txBody>
          <a:bodyPr wrap="none" lIns="0" tIns="0" rIns="0" bIns="0">
            <a:spAutoFit/>
          </a:bodyPr>
          <a:lstStyle/>
          <a:p>
            <a:pPr algn="ctr"/>
            <a:r>
              <a:rPr sz="1300" b="0">
                <a:solidFill>
                  <a:srgbClr val="566987"/>
                </a:solidFill>
                <a:latin typeface="Aptos"/>
              </a:rPr>
              <a:t>top-1 accuracy</a:t>
            </a:r>
          </a:p>
        </p:txBody>
      </p:sp>
      <p:sp>
        <p:nvSpPr>
          <p:cNvPr id="13" name="Rectangle 12"/>
          <p:cNvSpPr/>
          <p:nvPr/>
        </p:nvSpPr>
        <p:spPr>
          <a:xfrm>
            <a:off x="4762500" y="2905125"/>
            <a:ext cx="2381250" cy="1095375"/>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14900" y="3124200"/>
            <a:ext cx="2076450" cy="304800"/>
          </a:xfrm>
          <a:prstGeom prst="rect">
            <a:avLst/>
          </a:prstGeom>
          <a:noFill/>
        </p:spPr>
        <p:txBody>
          <a:bodyPr wrap="none" lIns="0" tIns="0" rIns="0" bIns="0">
            <a:spAutoFit/>
          </a:bodyPr>
          <a:lstStyle/>
          <a:p>
            <a:pPr algn="ctr"/>
            <a:r>
              <a:rPr sz="2400" b="1">
                <a:solidFill>
                  <a:srgbClr val="F94E1F"/>
                </a:solidFill>
                <a:latin typeface="Aptos Display"/>
              </a:rPr>
              <a:t>93.1%</a:t>
            </a:r>
          </a:p>
        </p:txBody>
      </p:sp>
      <p:sp>
        <p:nvSpPr>
          <p:cNvPr id="15" name="TextBox 14"/>
          <p:cNvSpPr txBox="1"/>
          <p:nvPr/>
        </p:nvSpPr>
        <p:spPr>
          <a:xfrm>
            <a:off x="4933950" y="3543300"/>
            <a:ext cx="2038350" cy="190500"/>
          </a:xfrm>
          <a:prstGeom prst="rect">
            <a:avLst/>
          </a:prstGeom>
          <a:noFill/>
        </p:spPr>
        <p:txBody>
          <a:bodyPr wrap="none" lIns="0" tIns="0" rIns="0" bIns="0">
            <a:spAutoFit/>
          </a:bodyPr>
          <a:lstStyle/>
          <a:p>
            <a:pPr algn="ctr"/>
            <a:r>
              <a:rPr sz="1300" b="0">
                <a:solidFill>
                  <a:srgbClr val="FFFFFF"/>
                </a:solidFill>
                <a:latin typeface="Aptos"/>
              </a:rPr>
              <a:t>SBS-to-VBS gap closed</a:t>
            </a:r>
          </a:p>
        </p:txBody>
      </p:sp>
      <p:sp>
        <p:nvSpPr>
          <p:cNvPr id="16" name="Rectangle 15"/>
          <p:cNvSpPr/>
          <p:nvPr/>
        </p:nvSpPr>
        <p:spPr>
          <a:xfrm>
            <a:off x="776287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1527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89.6%</a:t>
            </a:r>
          </a:p>
        </p:txBody>
      </p:sp>
      <p:sp>
        <p:nvSpPr>
          <p:cNvPr id="18" name="TextBox 17"/>
          <p:cNvSpPr txBox="1"/>
          <p:nvPr/>
        </p:nvSpPr>
        <p:spPr>
          <a:xfrm>
            <a:off x="7934325" y="3543300"/>
            <a:ext cx="2038350" cy="190500"/>
          </a:xfrm>
          <a:prstGeom prst="rect">
            <a:avLst/>
          </a:prstGeom>
          <a:noFill/>
        </p:spPr>
        <p:txBody>
          <a:bodyPr wrap="none" lIns="0" tIns="0" rIns="0" bIns="0">
            <a:spAutoFit/>
          </a:bodyPr>
          <a:lstStyle/>
          <a:p>
            <a:pPr algn="ctr"/>
            <a:r>
              <a:rPr sz="1300" b="0">
                <a:solidFill>
                  <a:srgbClr val="566987"/>
                </a:solidFill>
                <a:latin typeface="Aptos"/>
              </a:rPr>
              <a:t>zero-regret predictions</a:t>
            </a:r>
          </a:p>
        </p:txBody>
      </p:sp>
      <p:sp>
        <p:nvSpPr>
          <p:cNvPr id="19" name="TextBox 18"/>
          <p:cNvSpPr txBox="1"/>
          <p:nvPr/>
        </p:nvSpPr>
        <p:spPr>
          <a:xfrm>
            <a:off x="1571625" y="4572000"/>
            <a:ext cx="9048750" cy="323850"/>
          </a:xfrm>
          <a:prstGeom prst="rect">
            <a:avLst/>
          </a:prstGeom>
          <a:noFill/>
        </p:spPr>
        <p:txBody>
          <a:bodyPr wrap="square" lIns="0" tIns="0" rIns="0" bIns="0">
            <a:spAutoFit/>
          </a:bodyPr>
          <a:lstStyle/>
          <a:p>
            <a:pPr algn="ctr"/>
            <a:r>
              <a:rPr sz="1300" b="0">
                <a:solidFill>
                  <a:srgbClr val="191919"/>
                </a:solidFill>
                <a:latin typeface="Aptos"/>
              </a:rPr>
              <a:t>The strongest cases are where array structure is visible, especially timsort-friendly inputs.</a:t>
            </a:r>
          </a:p>
        </p:txBody>
      </p:sp>
      <p:sp>
        <p:nvSpPr>
          <p:cNvPr id="20" name="TextBox 19"/>
          <p:cNvSpPr txBox="1"/>
          <p:nvPr/>
        </p:nvSpPr>
        <p:spPr>
          <a:xfrm>
            <a:off x="1571625" y="5095875"/>
            <a:ext cx="9048750" cy="323850"/>
          </a:xfrm>
          <a:prstGeom prst="rect">
            <a:avLst/>
          </a:prstGeom>
          <a:noFill/>
        </p:spPr>
        <p:txBody>
          <a:bodyPr wrap="square" lIns="0" tIns="0" rIns="0" bIns="0">
            <a:spAutoFit/>
          </a:bodyPr>
          <a:lstStyle/>
          <a:p>
            <a:pPr algn="ctr"/>
            <a:r>
              <a:rPr sz="1300" b="0">
                <a:solidFill>
                  <a:srgbClr val="9A1C3E"/>
                </a:solidFill>
                <a:latin typeface="Aptos"/>
              </a:rPr>
              <a:t>The main residual weakness is the introsort/heapsort boundary, where the current feature space often cannot see enough difference.</a:t>
            </a:r>
          </a:p>
        </p:txBody>
      </p:sp>
      <p:sp>
        <p:nvSpPr>
          <p:cNvPr id="21" name="Rectangle 20"/>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22/24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Contributions</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600" b="1">
                <a:solidFill>
                  <a:srgbClr val="9A1C3E"/>
                </a:solidFill>
                <a:latin typeface="Aptos"/>
              </a:rPr>
              <a:t>The thesis makes three contributions aligned with the stated objectives.</a:t>
            </a:r>
          </a:p>
        </p:txBody>
      </p:sp>
      <p:sp>
        <p:nvSpPr>
          <p:cNvPr id="9" name="TextBox 8"/>
          <p:cNvSpPr txBox="1"/>
          <p:nvPr/>
        </p:nvSpPr>
        <p:spPr>
          <a:xfrm>
            <a:off x="1143000" y="2000250"/>
            <a:ext cx="400050" cy="228600"/>
          </a:xfrm>
          <a:prstGeom prst="rect">
            <a:avLst/>
          </a:prstGeom>
          <a:noFill/>
        </p:spPr>
        <p:txBody>
          <a:bodyPr wrap="none" lIns="0" tIns="0" rIns="0" bIns="0">
            <a:spAutoFit/>
          </a:bodyPr>
          <a:lstStyle/>
          <a:p>
            <a:pPr algn="ctr"/>
            <a:r>
              <a:rPr sz="1500" b="1">
                <a:solidFill>
                  <a:srgbClr val="9A1C3E"/>
                </a:solidFill>
                <a:latin typeface="Aptos"/>
              </a:rPr>
              <a:t>01</a:t>
            </a:r>
          </a:p>
        </p:txBody>
      </p:sp>
      <p:sp>
        <p:nvSpPr>
          <p:cNvPr id="10" name="TextBox 9"/>
          <p:cNvSpPr txBox="1"/>
          <p:nvPr/>
        </p:nvSpPr>
        <p:spPr>
          <a:xfrm>
            <a:off x="1714500" y="2000250"/>
            <a:ext cx="9334500" cy="228600"/>
          </a:xfrm>
          <a:prstGeom prst="rect">
            <a:avLst/>
          </a:prstGeom>
          <a:noFill/>
        </p:spPr>
        <p:txBody>
          <a:bodyPr wrap="none" lIns="0" tIns="0" rIns="0" bIns="0">
            <a:spAutoFit/>
          </a:bodyPr>
          <a:lstStyle/>
          <a:p>
            <a:r>
              <a:rPr sz="1500" b="0">
                <a:solidFill>
                  <a:srgbClr val="566987"/>
                </a:solidFill>
                <a:latin typeface="Aptos"/>
              </a:rPr>
              <a:t>A deployable selector</a:t>
            </a:r>
          </a:p>
        </p:txBody>
      </p:sp>
      <p:sp>
        <p:nvSpPr>
          <p:cNvPr id="11" name="TextBox 10"/>
          <p:cNvSpPr txBox="1"/>
          <p:nvPr/>
        </p:nvSpPr>
        <p:spPr>
          <a:xfrm>
            <a:off x="1714500" y="2324100"/>
            <a:ext cx="9334500" cy="361950"/>
          </a:xfrm>
          <a:prstGeom prst="rect">
            <a:avLst/>
          </a:prstGeom>
          <a:noFill/>
        </p:spPr>
        <p:txBody>
          <a:bodyPr wrap="square" lIns="0" tIns="0" rIns="0" bIns="0">
            <a:spAutoFit/>
          </a:bodyPr>
          <a:lstStyle/>
          <a:p>
            <a:r>
              <a:rPr sz="1300" b="0">
                <a:solidFill>
                  <a:srgbClr val="191919"/>
                </a:solidFill>
                <a:latin typeface="Aptos"/>
              </a:rPr>
              <a:t>A compact pipeline combines inexpensive structural characteristics with a gradient-boosted classifier.</a:t>
            </a:r>
          </a:p>
        </p:txBody>
      </p:sp>
      <p:sp>
        <p:nvSpPr>
          <p:cNvPr id="12" name="Rectangle 11"/>
          <p:cNvSpPr/>
          <p:nvPr/>
        </p:nvSpPr>
        <p:spPr>
          <a:xfrm>
            <a:off x="1714500" y="2800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3143250"/>
            <a:ext cx="400050" cy="228600"/>
          </a:xfrm>
          <a:prstGeom prst="rect">
            <a:avLst/>
          </a:prstGeom>
          <a:noFill/>
        </p:spPr>
        <p:txBody>
          <a:bodyPr wrap="none" lIns="0" tIns="0" rIns="0" bIns="0">
            <a:spAutoFit/>
          </a:bodyPr>
          <a:lstStyle/>
          <a:p>
            <a:pPr algn="ctr"/>
            <a:r>
              <a:rPr sz="1500" b="1">
                <a:solidFill>
                  <a:srgbClr val="9A1C3E"/>
                </a:solidFill>
                <a:latin typeface="Aptos"/>
              </a:rPr>
              <a:t>02</a:t>
            </a:r>
          </a:p>
        </p:txBody>
      </p:sp>
      <p:sp>
        <p:nvSpPr>
          <p:cNvPr id="14" name="TextBox 13"/>
          <p:cNvSpPr txBox="1"/>
          <p:nvPr/>
        </p:nvSpPr>
        <p:spPr>
          <a:xfrm>
            <a:off x="1714500" y="3143250"/>
            <a:ext cx="9334500" cy="228600"/>
          </a:xfrm>
          <a:prstGeom prst="rect">
            <a:avLst/>
          </a:prstGeom>
          <a:noFill/>
        </p:spPr>
        <p:txBody>
          <a:bodyPr wrap="none" lIns="0" tIns="0" rIns="0" bIns="0">
            <a:spAutoFit/>
          </a:bodyPr>
          <a:lstStyle/>
          <a:p>
            <a:r>
              <a:rPr sz="1500" b="0">
                <a:solidFill>
                  <a:srgbClr val="566987"/>
                </a:solidFill>
                <a:latin typeface="Aptos"/>
              </a:rPr>
              <a:t>A rigorous evaluation framework</a:t>
            </a:r>
          </a:p>
        </p:txBody>
      </p:sp>
      <p:sp>
        <p:nvSpPr>
          <p:cNvPr id="15" name="TextBox 14"/>
          <p:cNvSpPr txBox="1"/>
          <p:nvPr/>
        </p:nvSpPr>
        <p:spPr>
          <a:xfrm>
            <a:off x="1714500" y="3467100"/>
            <a:ext cx="9334500" cy="361950"/>
          </a:xfrm>
          <a:prstGeom prst="rect">
            <a:avLst/>
          </a:prstGeom>
          <a:noFill/>
        </p:spPr>
        <p:txBody>
          <a:bodyPr wrap="square" lIns="0" tIns="0" rIns="0" bIns="0">
            <a:spAutoFit/>
          </a:bodyPr>
          <a:lstStyle/>
          <a:p>
            <a:r>
              <a:rPr sz="1300" b="0">
                <a:solidFill>
                  <a:srgbClr val="191919"/>
                </a:solidFill>
                <a:latin typeface="Aptos"/>
              </a:rPr>
              <a:t>Source-aware splitting, near-tie filtering, leave-one-domain-out testing, and regret metrics give a better view than accuracy alone.</a:t>
            </a:r>
          </a:p>
        </p:txBody>
      </p:sp>
      <p:sp>
        <p:nvSpPr>
          <p:cNvPr id="16" name="Rectangle 15"/>
          <p:cNvSpPr/>
          <p:nvPr/>
        </p:nvSpPr>
        <p:spPr>
          <a:xfrm>
            <a:off x="1714500" y="3943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43000" y="4286250"/>
            <a:ext cx="400050" cy="228600"/>
          </a:xfrm>
          <a:prstGeom prst="rect">
            <a:avLst/>
          </a:prstGeom>
          <a:noFill/>
        </p:spPr>
        <p:txBody>
          <a:bodyPr wrap="none" lIns="0" tIns="0" rIns="0" bIns="0">
            <a:spAutoFit/>
          </a:bodyPr>
          <a:lstStyle/>
          <a:p>
            <a:pPr algn="ctr"/>
            <a:r>
              <a:rPr sz="1500" b="1">
                <a:solidFill>
                  <a:srgbClr val="9A1C3E"/>
                </a:solidFill>
                <a:latin typeface="Aptos"/>
              </a:rPr>
              <a:t>03</a:t>
            </a:r>
          </a:p>
        </p:txBody>
      </p:sp>
      <p:sp>
        <p:nvSpPr>
          <p:cNvPr id="18" name="TextBox 17"/>
          <p:cNvSpPr txBox="1"/>
          <p:nvPr/>
        </p:nvSpPr>
        <p:spPr>
          <a:xfrm>
            <a:off x="1714500" y="4286250"/>
            <a:ext cx="9334500" cy="228600"/>
          </a:xfrm>
          <a:prstGeom prst="rect">
            <a:avLst/>
          </a:prstGeom>
          <a:noFill/>
        </p:spPr>
        <p:txBody>
          <a:bodyPr wrap="none" lIns="0" tIns="0" rIns="0" bIns="0">
            <a:spAutoFit/>
          </a:bodyPr>
          <a:lstStyle/>
          <a:p>
            <a:r>
              <a:rPr sz="1500" b="0">
                <a:solidFill>
                  <a:srgbClr val="566987"/>
                </a:solidFill>
                <a:latin typeface="Aptos"/>
              </a:rPr>
              <a:t>A reproducible artefact</a:t>
            </a:r>
          </a:p>
        </p:txBody>
      </p:sp>
      <p:sp>
        <p:nvSpPr>
          <p:cNvPr id="19" name="TextBox 18"/>
          <p:cNvSpPr txBox="1"/>
          <p:nvPr/>
        </p:nvSpPr>
        <p:spPr>
          <a:xfrm>
            <a:off x="1714500" y="4610100"/>
            <a:ext cx="9334500" cy="361950"/>
          </a:xfrm>
          <a:prstGeom prst="rect">
            <a:avLst/>
          </a:prstGeom>
          <a:noFill/>
        </p:spPr>
        <p:txBody>
          <a:bodyPr wrap="square" lIns="0" tIns="0" rIns="0" bIns="0">
            <a:spAutoFit/>
          </a:bodyPr>
          <a:lstStyle/>
          <a:p>
            <a:r>
              <a:rPr sz="1300" b="0">
                <a:solidFill>
                  <a:srgbClr val="191919"/>
                </a:solidFill>
                <a:latin typeface="Aptos"/>
              </a:rPr>
              <a:t>One feature extractor, one data pipeline, and exported XGBoost JSON / ONNX models support replication.</a:t>
            </a:r>
          </a:p>
        </p:txBody>
      </p:sp>
      <p:sp>
        <p:nvSpPr>
          <p:cNvPr id="20" name="Rectangle 19"/>
          <p:cNvSpPr/>
          <p:nvPr/>
        </p:nvSpPr>
        <p:spPr>
          <a:xfrm>
            <a:off x="1714500" y="5086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428750" y="5810250"/>
            <a:ext cx="9334500" cy="209550"/>
          </a:xfrm>
          <a:prstGeom prst="rect">
            <a:avLst/>
          </a:prstGeom>
          <a:noFill/>
        </p:spPr>
        <p:txBody>
          <a:bodyPr wrap="none" lIns="0" tIns="0" rIns="0" bIns="0">
            <a:spAutoFit/>
          </a:bodyPr>
          <a:lstStyle/>
          <a:p>
            <a:endParaRP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23/24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Limitations and Future Work</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500" b="0">
                <a:solidFill>
                  <a:srgbClr val="191919"/>
                </a:solidFill>
                <a:latin typeface="Aptos"/>
              </a:rPr>
              <a:t>The result is limited by the experimental scope of the thesis.</a:t>
            </a:r>
          </a:p>
        </p:txBody>
      </p:sp>
      <p:sp>
        <p:nvSpPr>
          <p:cNvPr id="9" name="Rectangle 8"/>
          <p:cNvSpPr/>
          <p:nvPr/>
        </p:nvSpPr>
        <p:spPr>
          <a:xfrm>
            <a:off x="1190625" y="2143125"/>
            <a:ext cx="4381500" cy="285750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38275" y="2390775"/>
            <a:ext cx="3886200" cy="228600"/>
          </a:xfrm>
          <a:prstGeom prst="rect">
            <a:avLst/>
          </a:prstGeom>
          <a:noFill/>
        </p:spPr>
        <p:txBody>
          <a:bodyPr wrap="none" lIns="0" tIns="0" rIns="0" bIns="0">
            <a:spAutoFit/>
          </a:bodyPr>
          <a:lstStyle/>
          <a:p>
            <a:pPr algn="l"/>
            <a:r>
              <a:rPr sz="1800" b="1">
                <a:solidFill>
                  <a:srgbClr val="F94E1F"/>
                </a:solidFill>
                <a:latin typeface="Aptos"/>
              </a:rPr>
              <a:t>Limitations</a:t>
            </a:r>
          </a:p>
        </p:txBody>
      </p:sp>
      <p:sp>
        <p:nvSpPr>
          <p:cNvPr id="11" name="TextBox 10"/>
          <p:cNvSpPr txBox="1"/>
          <p:nvPr/>
        </p:nvSpPr>
        <p:spPr>
          <a:xfrm>
            <a:off x="1514475" y="2867025"/>
            <a:ext cx="3733800" cy="285750"/>
          </a:xfrm>
          <a:prstGeom prst="rect">
            <a:avLst/>
          </a:prstGeom>
          <a:noFill/>
        </p:spPr>
        <p:txBody>
          <a:bodyPr wrap="square" lIns="0" tIns="0" rIns="0" bIns="0">
            <a:spAutoFit/>
          </a:bodyPr>
          <a:lstStyle/>
          <a:p>
            <a:pPr algn="l"/>
            <a:r>
              <a:rPr sz="1300" b="0">
                <a:solidFill>
                  <a:srgbClr val="FFFFFF"/>
                </a:solidFill>
                <a:latin typeface="Aptos"/>
              </a:rPr>
              <a:t>portfolio limited to introsort, heapsort, and timsort</a:t>
            </a:r>
          </a:p>
        </p:txBody>
      </p:sp>
      <p:sp>
        <p:nvSpPr>
          <p:cNvPr id="12" name="TextBox 11"/>
          <p:cNvSpPr txBox="1"/>
          <p:nvPr/>
        </p:nvSpPr>
        <p:spPr>
          <a:xfrm>
            <a:off x="1514475" y="3324225"/>
            <a:ext cx="3733800" cy="285750"/>
          </a:xfrm>
          <a:prstGeom prst="rect">
            <a:avLst/>
          </a:prstGeom>
          <a:noFill/>
        </p:spPr>
        <p:txBody>
          <a:bodyPr wrap="square" lIns="0" tIns="0" rIns="0" bIns="0">
            <a:spAutoFit/>
          </a:bodyPr>
          <a:lstStyle/>
          <a:p>
            <a:pPr algn="l"/>
            <a:r>
              <a:rPr sz="1300" b="0">
                <a:solidFill>
                  <a:srgbClr val="FFFFFF"/>
                </a:solidFill>
                <a:latin typeface="Aptos"/>
              </a:rPr>
              <a:t>timing results collected on one hardware configuration</a:t>
            </a:r>
          </a:p>
        </p:txBody>
      </p:sp>
      <p:sp>
        <p:nvSpPr>
          <p:cNvPr id="13" name="TextBox 12"/>
          <p:cNvSpPr txBox="1"/>
          <p:nvPr/>
        </p:nvSpPr>
        <p:spPr>
          <a:xfrm>
            <a:off x="1514475" y="3781425"/>
            <a:ext cx="3733800" cy="285750"/>
          </a:xfrm>
          <a:prstGeom prst="rect">
            <a:avLst/>
          </a:prstGeom>
          <a:noFill/>
        </p:spPr>
        <p:txBody>
          <a:bodyPr wrap="square" lIns="0" tIns="0" rIns="0" bIns="0">
            <a:spAutoFit/>
          </a:bodyPr>
          <a:lstStyle/>
          <a:p>
            <a:pPr algn="l"/>
            <a:r>
              <a:rPr sz="1300" b="0">
                <a:solidFill>
                  <a:srgbClr val="FFFFFF"/>
                </a:solidFill>
                <a:latin typeface="Aptos"/>
              </a:rPr>
              <a:t>LinUCB was designed but not empirically validated</a:t>
            </a:r>
          </a:p>
        </p:txBody>
      </p:sp>
      <p:sp>
        <p:nvSpPr>
          <p:cNvPr id="14" name="TextBox 13"/>
          <p:cNvSpPr txBox="1"/>
          <p:nvPr/>
        </p:nvSpPr>
        <p:spPr>
          <a:xfrm>
            <a:off x="1514475" y="4238625"/>
            <a:ext cx="3733800" cy="285750"/>
          </a:xfrm>
          <a:prstGeom prst="rect">
            <a:avLst/>
          </a:prstGeom>
          <a:noFill/>
        </p:spPr>
        <p:txBody>
          <a:bodyPr wrap="square" lIns="0" tIns="0" rIns="0" bIns="0">
            <a:spAutoFit/>
          </a:bodyPr>
          <a:lstStyle/>
          <a:p>
            <a:pPr algn="l"/>
            <a:r>
              <a:rPr sz="1300" b="0">
                <a:solidFill>
                  <a:srgbClr val="FFFFFF"/>
                </a:solidFill>
                <a:latin typeface="Aptos"/>
              </a:rPr>
              <a:t>feature overhead is not profitable for very small arrays</a:t>
            </a:r>
          </a:p>
        </p:txBody>
      </p:sp>
      <p:sp>
        <p:nvSpPr>
          <p:cNvPr id="15" name="Rectangle 14"/>
          <p:cNvSpPr/>
          <p:nvPr/>
        </p:nvSpPr>
        <p:spPr>
          <a:xfrm>
            <a:off x="6619875" y="2143125"/>
            <a:ext cx="4381500" cy="2857500"/>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67525" y="2390775"/>
            <a:ext cx="3886200" cy="228600"/>
          </a:xfrm>
          <a:prstGeom prst="rect">
            <a:avLst/>
          </a:prstGeom>
          <a:noFill/>
        </p:spPr>
        <p:txBody>
          <a:bodyPr wrap="none" lIns="0" tIns="0" rIns="0" bIns="0">
            <a:spAutoFit/>
          </a:bodyPr>
          <a:lstStyle/>
          <a:p>
            <a:pPr algn="l"/>
            <a:r>
              <a:rPr sz="1800" b="1">
                <a:solidFill>
                  <a:srgbClr val="191919"/>
                </a:solidFill>
                <a:latin typeface="Aptos"/>
              </a:rPr>
              <a:t>Future work</a:t>
            </a:r>
          </a:p>
        </p:txBody>
      </p:sp>
      <p:sp>
        <p:nvSpPr>
          <p:cNvPr id="17" name="TextBox 16"/>
          <p:cNvSpPr txBox="1"/>
          <p:nvPr/>
        </p:nvSpPr>
        <p:spPr>
          <a:xfrm>
            <a:off x="6943725" y="2867025"/>
            <a:ext cx="3733800" cy="285750"/>
          </a:xfrm>
          <a:prstGeom prst="rect">
            <a:avLst/>
          </a:prstGeom>
          <a:noFill/>
        </p:spPr>
        <p:txBody>
          <a:bodyPr wrap="square" lIns="0" tIns="0" rIns="0" bIns="0">
            <a:spAutoFit/>
          </a:bodyPr>
          <a:lstStyle/>
          <a:p>
            <a:pPr algn="l"/>
            <a:r>
              <a:rPr sz="1300" b="0">
                <a:solidFill>
                  <a:srgbClr val="566987"/>
                </a:solidFill>
                <a:latin typeface="Aptos"/>
              </a:rPr>
              <a:t>broader algorithm portfolios and hardware-aware features</a:t>
            </a:r>
          </a:p>
        </p:txBody>
      </p:sp>
      <p:sp>
        <p:nvSpPr>
          <p:cNvPr id="18" name="TextBox 17"/>
          <p:cNvSpPr txBox="1"/>
          <p:nvPr/>
        </p:nvSpPr>
        <p:spPr>
          <a:xfrm>
            <a:off x="6943725" y="3324225"/>
            <a:ext cx="3733800" cy="285750"/>
          </a:xfrm>
          <a:prstGeom prst="rect">
            <a:avLst/>
          </a:prstGeom>
          <a:noFill/>
        </p:spPr>
        <p:txBody>
          <a:bodyPr wrap="square" lIns="0" tIns="0" rIns="0" bIns="0">
            <a:spAutoFit/>
          </a:bodyPr>
          <a:lstStyle/>
          <a:p>
            <a:pPr algn="l"/>
            <a:r>
              <a:rPr sz="1300" b="0">
                <a:solidFill>
                  <a:srgbClr val="566987"/>
                </a:solidFill>
                <a:latin typeface="Aptos"/>
              </a:rPr>
              <a:t>validated online adaptation under workload drift</a:t>
            </a:r>
          </a:p>
        </p:txBody>
      </p:sp>
      <p:sp>
        <p:nvSpPr>
          <p:cNvPr id="19" name="TextBox 18"/>
          <p:cNvSpPr txBox="1"/>
          <p:nvPr/>
        </p:nvSpPr>
        <p:spPr>
          <a:xfrm>
            <a:off x="6943725" y="3781425"/>
            <a:ext cx="3733800" cy="285750"/>
          </a:xfrm>
          <a:prstGeom prst="rect">
            <a:avLst/>
          </a:prstGeom>
          <a:noFill/>
        </p:spPr>
        <p:txBody>
          <a:bodyPr wrap="square" lIns="0" tIns="0" rIns="0" bIns="0">
            <a:spAutoFit/>
          </a:bodyPr>
          <a:lstStyle/>
          <a:p>
            <a:pPr algn="l"/>
            <a:r>
              <a:rPr sz="1300" b="0">
                <a:solidFill>
                  <a:srgbClr val="566987"/>
                </a:solidFill>
                <a:latin typeface="Aptos"/>
              </a:rPr>
              <a:t>stricter F1-specific evaluation and channel-level routing</a:t>
            </a:r>
          </a:p>
        </p:txBody>
      </p:sp>
      <p:sp>
        <p:nvSpPr>
          <p:cNvPr id="20" name="TextBox 19"/>
          <p:cNvSpPr txBox="1"/>
          <p:nvPr/>
        </p:nvSpPr>
        <p:spPr>
          <a:xfrm>
            <a:off x="6943725" y="4238625"/>
            <a:ext cx="3733800" cy="285750"/>
          </a:xfrm>
          <a:prstGeom prst="rect">
            <a:avLst/>
          </a:prstGeom>
          <a:noFill/>
        </p:spPr>
        <p:txBody>
          <a:bodyPr wrap="square" lIns="0" tIns="0" rIns="0" bIns="0">
            <a:spAutoFit/>
          </a:bodyPr>
          <a:lstStyle/>
          <a:p>
            <a:pPr algn="l"/>
            <a:r>
              <a:rPr sz="1300" b="0">
                <a:solidFill>
                  <a:srgbClr val="566987"/>
                </a:solidFill>
                <a:latin typeface="Aptos"/>
              </a:rPr>
              <a:t>deployment study including feature-extraction overhead</a:t>
            </a:r>
          </a:p>
        </p:txBody>
      </p:sp>
      <p:sp>
        <p:nvSpPr>
          <p:cNvPr id="21" name="TextBox 20"/>
          <p:cNvSpPr txBox="1"/>
          <p:nvPr/>
        </p:nvSpPr>
        <p:spPr>
          <a:xfrm>
            <a:off x="1524000" y="5667375"/>
            <a:ext cx="9144000" cy="228600"/>
          </a:xfrm>
          <a:prstGeom prst="rect">
            <a:avLst/>
          </a:prstGeom>
          <a:noFill/>
        </p:spPr>
        <p:txBody>
          <a:bodyPr wrap="none" lIns="0" tIns="0" rIns="0" bIns="0">
            <a:spAutoFit/>
          </a:bodyPr>
          <a:lstStyle/>
          <a:p>
            <a:r>
              <a:rPr sz="1400" b="0">
                <a:solidFill>
                  <a:srgbClr val="191919"/>
                </a:solidFill>
                <a:latin typeface="Aptos"/>
              </a:rPr>
              <a:t>Future work extends the framework along portfolio, adaptation, and generalisation axes.</a:t>
            </a: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6459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64592"/>
            <a:ext cx="12192000" cy="45720"/>
          </a:xfrm>
          <a:prstGeom prst="rect">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01968"/>
            <a:ext cx="12192000" cy="25603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057400"/>
            <a:ext cx="10363200" cy="914400"/>
          </a:xfrm>
          <a:prstGeom prst="rect">
            <a:avLst/>
          </a:prstGeom>
          <a:noFill/>
        </p:spPr>
        <p:txBody>
          <a:bodyPr wrap="none">
            <a:spAutoFit/>
          </a:bodyPr>
          <a:lstStyle/>
          <a:p>
            <a:pPr algn="ctr"/>
            <a:r>
              <a:rPr sz="5800" b="1">
                <a:solidFill>
                  <a:srgbClr val="191919"/>
                </a:solidFill>
                <a:latin typeface="Aptos Display"/>
              </a:rPr>
              <a:t>Thank you</a:t>
            </a:r>
          </a:p>
        </p:txBody>
      </p:sp>
      <p:sp>
        <p:nvSpPr>
          <p:cNvPr id="6" name="TextBox 5"/>
          <p:cNvSpPr txBox="1"/>
          <p:nvPr/>
        </p:nvSpPr>
        <p:spPr>
          <a:xfrm>
            <a:off x="914400" y="2999232"/>
            <a:ext cx="10363200" cy="685800"/>
          </a:xfrm>
          <a:prstGeom prst="rect">
            <a:avLst/>
          </a:prstGeom>
          <a:noFill/>
        </p:spPr>
        <p:txBody>
          <a:bodyPr wrap="none">
            <a:spAutoFit/>
          </a:bodyPr>
          <a:lstStyle/>
          <a:p>
            <a:pPr algn="ctr"/>
            <a:r>
              <a:rPr sz="3600" b="1">
                <a:solidFill>
                  <a:srgbClr val="F94E1F"/>
                </a:solidFill>
                <a:latin typeface="Aptos Display"/>
              </a:rPr>
              <a:t>Questions?</a:t>
            </a:r>
          </a:p>
        </p:txBody>
      </p:sp>
      <p:sp>
        <p:nvSpPr>
          <p:cNvPr id="7" name="TextBox 6"/>
          <p:cNvSpPr txBox="1"/>
          <p:nvPr/>
        </p:nvSpPr>
        <p:spPr>
          <a:xfrm>
            <a:off x="11323320" y="6643116"/>
            <a:ext cx="685800" cy="164592"/>
          </a:xfrm>
          <a:prstGeom prst="rect">
            <a:avLst/>
          </a:prstGeom>
          <a:noFill/>
        </p:spPr>
        <p:txBody>
          <a:bodyPr wrap="none">
            <a:spAutoFit/>
          </a:bodyPr>
          <a:lstStyle/>
          <a:p>
            <a:pPr algn="r"/>
            <a:r>
              <a:rPr sz="900">
                <a:solidFill>
                  <a:srgbClr val="FFFFFF"/>
                </a:solidFill>
                <a:latin typeface="Aptos"/>
              </a:rPr>
              <a:t>24/24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TotalTime>
  <Words>2342</Words>
  <Application>Microsoft Macintosh PowerPoint</Application>
  <PresentationFormat>Widescreen</PresentationFormat>
  <Paragraphs>305</Paragraphs>
  <Slides>24</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Anthropic Sans</vt:lpstr>
      <vt:lpstr>Aptos</vt:lpstr>
      <vt:lpstr>Aptos Display</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3</cp:revision>
  <dcterms:created xsi:type="dcterms:W3CDTF">2026-06-30T17:56:25Z</dcterms:created>
  <dcterms:modified xsi:type="dcterms:W3CDTF">2026-07-01T14:24:37Z</dcterms:modified>
  <cp:category/>
  <cp:contentStatus/>
  <dc:language/>
</cp:coreProperties>
</file>