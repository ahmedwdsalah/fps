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b6dc2bed734909" /><Relationship Type="http://schemas.openxmlformats.org/officeDocument/2006/relationships/extended-properties" Target="/docProps/app.xml" Id="R4ba213d1edd04cea" /><Relationship Type="http://schemas.openxmlformats.org/officeDocument/2006/relationships/officeDocument" Target="/ppt/presentation.xml" Id="R0b98f9e22f5042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70c1675db84248"/>
  </p:sldMasterIdLst>
  <p:notesMasterIdLst>
    <p:notesMasterId xmlns:r="http://schemas.openxmlformats.org/officeDocument/2006/relationships" r:id="R899203e17a33470d"/>
  </p:notesMasterIdLst>
  <p:sldIdLst>
    <p:sldId xmlns:r="http://schemas.openxmlformats.org/officeDocument/2006/relationships" id="256" r:id="Rc0aaed10e8644d0e"/>
    <p:sldId xmlns:r="http://schemas.openxmlformats.org/officeDocument/2006/relationships" id="257" r:id="R090814d064d1427a"/>
    <p:sldId xmlns:r="http://schemas.openxmlformats.org/officeDocument/2006/relationships" id="258" r:id="Rcee33bb4896b4192"/>
    <p:sldId xmlns:r="http://schemas.openxmlformats.org/officeDocument/2006/relationships" id="259" r:id="R3091f587a91e4c05"/>
    <p:sldId xmlns:r="http://schemas.openxmlformats.org/officeDocument/2006/relationships" id="260" r:id="Raa15dc3eb5384b1b"/>
    <p:sldId xmlns:r="http://schemas.openxmlformats.org/officeDocument/2006/relationships" id="261" r:id="Rf2d0ecd1474947df"/>
    <p:sldId xmlns:r="http://schemas.openxmlformats.org/officeDocument/2006/relationships" id="262" r:id="R63517bbf02e740a0"/>
    <p:sldId xmlns:r="http://schemas.openxmlformats.org/officeDocument/2006/relationships" id="263" r:id="Re18124d47a2b4252"/>
    <p:sldId xmlns:r="http://schemas.openxmlformats.org/officeDocument/2006/relationships" id="264" r:id="R5df2604e47a34fc8"/>
    <p:sldId xmlns:r="http://schemas.openxmlformats.org/officeDocument/2006/relationships" id="265" r:id="R2308c6bb76b545c7"/>
    <p:sldId xmlns:r="http://schemas.openxmlformats.org/officeDocument/2006/relationships" id="266" r:id="R7d18996f12d94648"/>
    <p:sldId xmlns:r="http://schemas.openxmlformats.org/officeDocument/2006/relationships" id="267" r:id="R54f1e4353255470a"/>
    <p:sldId xmlns:r="http://schemas.openxmlformats.org/officeDocument/2006/relationships" id="268" r:id="R4292ad01a57c4cde"/>
    <p:sldId xmlns:r="http://schemas.openxmlformats.org/officeDocument/2006/relationships" id="269" r:id="R41c3f2d8257b44a2"/>
    <p:sldId xmlns:r="http://schemas.openxmlformats.org/officeDocument/2006/relationships" id="270" r:id="R8ca1c9c183e54181"/>
    <p:sldId xmlns:r="http://schemas.openxmlformats.org/officeDocument/2006/relationships" id="271" r:id="Rb19048551bd0477e"/>
    <p:sldId xmlns:r="http://schemas.openxmlformats.org/officeDocument/2006/relationships" id="272" r:id="R14084ef31eee4eb5"/>
    <p:sldId xmlns:r="http://schemas.openxmlformats.org/officeDocument/2006/relationships" id="273" r:id="R650065b7f5214a76"/>
    <p:sldId xmlns:r="http://schemas.openxmlformats.org/officeDocument/2006/relationships" id="274" r:id="R71a9e72be8b5402b"/>
    <p:sldId xmlns:r="http://schemas.openxmlformats.org/officeDocument/2006/relationships" id="275" r:id="Rcf46915c2cbc4e02"/>
    <p:sldId xmlns:r="http://schemas.openxmlformats.org/officeDocument/2006/relationships" id="276" r:id="R6aa6cac532ec48ee"/>
    <p:sldId xmlns:r="http://schemas.openxmlformats.org/officeDocument/2006/relationships" id="277" r:id="R21262bb3685f4ef9"/>
    <p:sldId xmlns:r="http://schemas.openxmlformats.org/officeDocument/2006/relationships" id="278" r:id="R4fea392edb6e4fa5"/>
    <p:sldId xmlns:r="http://schemas.openxmlformats.org/officeDocument/2006/relationships" id="279" r:id="Re7d90ab7c0a84787"/>
    <p:sldId xmlns:r="http://schemas.openxmlformats.org/officeDocument/2006/relationships" id="280" r:id="R7696c285087a4cce"/>
    <p:sldId xmlns:r="http://schemas.openxmlformats.org/officeDocument/2006/relationships" id="281" r:id="R0cc33a82fc4b4593"/>
    <p:sldId xmlns:r="http://schemas.openxmlformats.org/officeDocument/2006/relationships" id="282" r:id="R6c84cb1824264c0f"/>
    <p:sldId xmlns:r="http://schemas.openxmlformats.org/officeDocument/2006/relationships" id="283" r:id="Rda8ae19b60fa413e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ad167b9acf4cd8" /><Relationship Type="http://schemas.openxmlformats.org/officeDocument/2006/relationships/slideMaster" Target="/ppt/slideMasters/slideMaster1.xml" Id="Re170c1675db84248" /><Relationship Type="http://schemas.openxmlformats.org/officeDocument/2006/relationships/notesMaster" Target="/ppt/notesMasters/notesMaster1.xml" Id="R899203e17a33470d" /><Relationship Type="http://schemas.openxmlformats.org/officeDocument/2006/relationships/presProps" Target="/ppt/presProps.xml" Id="R49c0613d36ac412e" /><Relationship Type="http://schemas.openxmlformats.org/officeDocument/2006/relationships/tableStyles" Target="/ppt/tableStyles.xml" Id="R7ff5673b0ebc421e" /><Relationship Type="http://schemas.openxmlformats.org/officeDocument/2006/relationships/slide" Target="/ppt/slides/slide1.xml" Id="Rc0aaed10e8644d0e" /><Relationship Type="http://schemas.openxmlformats.org/officeDocument/2006/relationships/slide" Target="/ppt/slides/slide2.xml" Id="R090814d064d1427a" /><Relationship Type="http://schemas.openxmlformats.org/officeDocument/2006/relationships/slide" Target="/ppt/slides/slide3.xml" Id="Rcee33bb4896b4192" /><Relationship Type="http://schemas.openxmlformats.org/officeDocument/2006/relationships/slide" Target="/ppt/slides/slide4.xml" Id="R3091f587a91e4c05" /><Relationship Type="http://schemas.openxmlformats.org/officeDocument/2006/relationships/slide" Target="/ppt/slides/slide5.xml" Id="Raa15dc3eb5384b1b" /><Relationship Type="http://schemas.openxmlformats.org/officeDocument/2006/relationships/slide" Target="/ppt/slides/slide6.xml" Id="Rf2d0ecd1474947df" /><Relationship Type="http://schemas.openxmlformats.org/officeDocument/2006/relationships/slide" Target="/ppt/slides/slide7.xml" Id="R63517bbf02e740a0" /><Relationship Type="http://schemas.openxmlformats.org/officeDocument/2006/relationships/slide" Target="/ppt/slides/slide8.xml" Id="Re18124d47a2b4252" /><Relationship Type="http://schemas.openxmlformats.org/officeDocument/2006/relationships/slide" Target="/ppt/slides/slide9.xml" Id="R5df2604e47a34fc8" /><Relationship Type="http://schemas.openxmlformats.org/officeDocument/2006/relationships/slide" Target="/ppt/slides/slide10.xml" Id="R2308c6bb76b545c7" /><Relationship Type="http://schemas.openxmlformats.org/officeDocument/2006/relationships/slide" Target="/ppt/slides/slide11.xml" Id="R7d18996f12d94648" /><Relationship Type="http://schemas.openxmlformats.org/officeDocument/2006/relationships/slide" Target="/ppt/slides/slide12.xml" Id="R54f1e4353255470a" /><Relationship Type="http://schemas.openxmlformats.org/officeDocument/2006/relationships/slide" Target="/ppt/slides/slide13.xml" Id="R4292ad01a57c4cde" /><Relationship Type="http://schemas.openxmlformats.org/officeDocument/2006/relationships/slide" Target="/ppt/slides/slide14.xml" Id="R41c3f2d8257b44a2" /><Relationship Type="http://schemas.openxmlformats.org/officeDocument/2006/relationships/slide" Target="/ppt/slides/slide15.xml" Id="R8ca1c9c183e54181" /><Relationship Type="http://schemas.openxmlformats.org/officeDocument/2006/relationships/slide" Target="/ppt/slides/slide16.xml" Id="Rb19048551bd0477e" /><Relationship Type="http://schemas.openxmlformats.org/officeDocument/2006/relationships/slide" Target="/ppt/slides/slide17.xml" Id="R14084ef31eee4eb5" /><Relationship Type="http://schemas.openxmlformats.org/officeDocument/2006/relationships/slide" Target="/ppt/slides/slide18.xml" Id="R650065b7f5214a76" /><Relationship Type="http://schemas.openxmlformats.org/officeDocument/2006/relationships/slide" Target="/ppt/slides/slide19.xml" Id="R71a9e72be8b5402b" /><Relationship Type="http://schemas.openxmlformats.org/officeDocument/2006/relationships/slide" Target="/ppt/slides/slide20.xml" Id="Rcf46915c2cbc4e02" /><Relationship Type="http://schemas.openxmlformats.org/officeDocument/2006/relationships/slide" Target="/ppt/slides/slide21.xml" Id="R6aa6cac532ec48ee" /><Relationship Type="http://schemas.openxmlformats.org/officeDocument/2006/relationships/slide" Target="/ppt/slides/slide22.xml" Id="R21262bb3685f4ef9" /><Relationship Type="http://schemas.openxmlformats.org/officeDocument/2006/relationships/slide" Target="/ppt/slides/slide23.xml" Id="R4fea392edb6e4fa5" /><Relationship Type="http://schemas.openxmlformats.org/officeDocument/2006/relationships/slide" Target="/ppt/slides/slide24.xml" Id="Re7d90ab7c0a84787" /><Relationship Type="http://schemas.openxmlformats.org/officeDocument/2006/relationships/slide" Target="/ppt/slides/slide25.xml" Id="R7696c285087a4cce" /><Relationship Type="http://schemas.openxmlformats.org/officeDocument/2006/relationships/slide" Target="/ppt/slides/slide26.xml" Id="R0cc33a82fc4b4593" /><Relationship Type="http://schemas.openxmlformats.org/officeDocument/2006/relationships/slide" Target="/ppt/slides/slide27.xml" Id="R6c84cb1824264c0f" /><Relationship Type="http://schemas.openxmlformats.org/officeDocument/2006/relationships/slide" Target="/ppt/slides/slide28.xml" Id="Rda8ae19b60fa41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6eb1da12b246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4a007c8e3d4976" /><Relationship Type="http://schemas.openxmlformats.org/officeDocument/2006/relationships/notesMaster" Target="/ppt/notesMasters/notesMaster1.xml" Id="R1819b639e5774a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2341f2bfdf4403" /><Relationship Type="http://schemas.openxmlformats.org/officeDocument/2006/relationships/notesMaster" Target="/ppt/notesMasters/notesMaster1.xml" Id="Rebf29f6565714d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e4e10bcbe5452c" /><Relationship Type="http://schemas.openxmlformats.org/officeDocument/2006/relationships/notesMaster" Target="/ppt/notesMasters/notesMaster1.xml" Id="R1fc07ea2e81c4a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095bd42f1f4a03" /><Relationship Type="http://schemas.openxmlformats.org/officeDocument/2006/relationships/notesMaster" Target="/ppt/notesMasters/notesMaster1.xml" Id="R9522969ddc9d41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0e99dac0d84834" /><Relationship Type="http://schemas.openxmlformats.org/officeDocument/2006/relationships/notesMaster" Target="/ppt/notesMasters/notesMaster1.xml" Id="R5276afb17a3a40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d5a5d1670e4f07" /><Relationship Type="http://schemas.openxmlformats.org/officeDocument/2006/relationships/notesMaster" Target="/ppt/notesMasters/notesMaster1.xml" Id="R1834056d3ea341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65febec6cc4755" /><Relationship Type="http://schemas.openxmlformats.org/officeDocument/2006/relationships/notesMaster" Target="/ppt/notesMasters/notesMaster1.xml" Id="R1b0a4f26bbd649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e263f059454a09" /><Relationship Type="http://schemas.openxmlformats.org/officeDocument/2006/relationships/notesMaster" Target="/ppt/notesMasters/notesMaster1.xml" Id="R5ea250e90a7248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837cba397e489e" /><Relationship Type="http://schemas.openxmlformats.org/officeDocument/2006/relationships/notesMaster" Target="/ppt/notesMasters/notesMaster1.xml" Id="R1008fbadae2748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15f87667af416d" /><Relationship Type="http://schemas.openxmlformats.org/officeDocument/2006/relationships/notesMaster" Target="/ppt/notesMasters/notesMaster1.xml" Id="R88ced3f96eb048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fe251f87b74008" /><Relationship Type="http://schemas.openxmlformats.org/officeDocument/2006/relationships/notesMaster" Target="/ppt/notesMasters/notesMaster1.xml" Id="R3ebab9d519b54f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de7819391f4b66" /><Relationship Type="http://schemas.openxmlformats.org/officeDocument/2006/relationships/notesMaster" Target="/ppt/notesMasters/notesMaster1.xml" Id="R9de402ae1d114a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c3fbe988d14aa6" /><Relationship Type="http://schemas.openxmlformats.org/officeDocument/2006/relationships/notesMaster" Target="/ppt/notesMasters/notesMaster1.xml" Id="R0d1d1c994d8b4a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cfe6a7cd6545b5" /><Relationship Type="http://schemas.openxmlformats.org/officeDocument/2006/relationships/notesMaster" Target="/ppt/notesMasters/notesMaster1.xml" Id="R2b3c1edee99646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113db3f9c740d0" /><Relationship Type="http://schemas.openxmlformats.org/officeDocument/2006/relationships/notesMaster" Target="/ppt/notesMasters/notesMaster1.xml" Id="R5f7e5a3e66b246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164fa0b04c4986" /><Relationship Type="http://schemas.openxmlformats.org/officeDocument/2006/relationships/notesMaster" Target="/ppt/notesMasters/notesMaster1.xml" Id="R097d092fa0a445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905ddf8bc14237" /><Relationship Type="http://schemas.openxmlformats.org/officeDocument/2006/relationships/notesMaster" Target="/ppt/notesMasters/notesMaster1.xml" Id="R378800a2943c42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c26e48eef746fb" /><Relationship Type="http://schemas.openxmlformats.org/officeDocument/2006/relationships/notesMaster" Target="/ppt/notesMasters/notesMaster1.xml" Id="R1e2c3ca4564f431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35ae3c39574ef0" /><Relationship Type="http://schemas.openxmlformats.org/officeDocument/2006/relationships/notesMaster" Target="/ppt/notesMasters/notesMaster1.xml" Id="R0e35f54bcfc545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8cfba3d4cf4498" /><Relationship Type="http://schemas.openxmlformats.org/officeDocument/2006/relationships/notesMaster" Target="/ppt/notesMasters/notesMaster1.xml" Id="Rd16486f285b8475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4a695df6734b13" /><Relationship Type="http://schemas.openxmlformats.org/officeDocument/2006/relationships/notesMaster" Target="/ppt/notesMasters/notesMaster1.xml" Id="Rfcbb52c3aa53424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04a90c5d354e4d" /><Relationship Type="http://schemas.openxmlformats.org/officeDocument/2006/relationships/notesMaster" Target="/ppt/notesMasters/notesMaster1.xml" Id="R680982f04fb84f1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7c5268827054dbd" /><Relationship Type="http://schemas.openxmlformats.org/officeDocument/2006/relationships/notesMaster" Target="/ppt/notesMasters/notesMaster1.xml" Id="R9b90e17d7fcf44b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8fa4b0be4774f0d" /><Relationship Type="http://schemas.openxmlformats.org/officeDocument/2006/relationships/notesMaster" Target="/ppt/notesMasters/notesMaster1.xml" Id="R4038e834bc3a450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072085149b442bb" /><Relationship Type="http://schemas.openxmlformats.org/officeDocument/2006/relationships/notesMaster" Target="/ppt/notesMasters/notesMaster1.xml" Id="Re699b122d0c74b6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63b8ecdd595459d" /><Relationship Type="http://schemas.openxmlformats.org/officeDocument/2006/relationships/notesMaster" Target="/ppt/notesMasters/notesMaster1.xml" Id="R6e92b44c2808417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af5392342d346ab" /><Relationship Type="http://schemas.openxmlformats.org/officeDocument/2006/relationships/notesMaster" Target="/ppt/notesMasters/notesMaster1.xml" Id="R465fd46ee86c484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c96c0d1062c4794" /><Relationship Type="http://schemas.openxmlformats.org/officeDocument/2006/relationships/notesMaster" Target="/ppt/notesMasters/notesMaster1.xml" Id="R387d3c1b10c946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42fe4cc0d48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8702e4a0e143ec" /><Relationship Type="http://schemas.openxmlformats.org/officeDocument/2006/relationships/slideLayout" Target="/ppt/slideLayouts/slideLayout1.xml" Id="Rba864809347d4f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864809347d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8d80b8d2044f3" /><Relationship Type="http://schemas.openxmlformats.org/officeDocument/2006/relationships/image" Target="/ppt/media/image.png" Id="Rd80148d6c63b4d94" /><Relationship Type="http://schemas.openxmlformats.org/officeDocument/2006/relationships/notesSlide" Target="/ppt/notesSlides/notesSlide1.xml" Id="R0b67dec03c1c47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5b2cfff48439b" /><Relationship Type="http://schemas.openxmlformats.org/officeDocument/2006/relationships/notesSlide" Target="/ppt/notesSlides/notesSlide2.xml" Id="Rcd7bba526f6949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350b036e947cb" /><Relationship Type="http://schemas.openxmlformats.org/officeDocument/2006/relationships/notesSlide" Target="/ppt/notesSlides/notesSlide3.xml" Id="Reb4f9ae7019e40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1528582bd4720" /><Relationship Type="http://schemas.openxmlformats.org/officeDocument/2006/relationships/notesSlide" Target="/ppt/notesSlides/notesSlide4.xml" Id="R537210158c044e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baae4370743f8" /><Relationship Type="http://schemas.openxmlformats.org/officeDocument/2006/relationships/notesSlide" Target="/ppt/notesSlides/notesSlide5.xml" Id="Raf5bc2f69dff4e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edddde47a490d" /><Relationship Type="http://schemas.openxmlformats.org/officeDocument/2006/relationships/notesSlide" Target="/ppt/notesSlides/notesSlide6.xml" Id="R06c6d13620914f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56002c47a45de" /><Relationship Type="http://schemas.openxmlformats.org/officeDocument/2006/relationships/notesSlide" Target="/ppt/notesSlides/notesSlide7.xml" Id="R96dc632d014548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5545951fb4495" /><Relationship Type="http://schemas.openxmlformats.org/officeDocument/2006/relationships/notesSlide" Target="/ppt/notesSlides/notesSlide8.xml" Id="R070c4d71c4f94d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66c629288478f" /><Relationship Type="http://schemas.openxmlformats.org/officeDocument/2006/relationships/notesSlide" Target="/ppt/notesSlides/notesSlide9.xml" Id="R7e3b35746b424b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9313be6b44e4d" /><Relationship Type="http://schemas.openxmlformats.org/officeDocument/2006/relationships/notesSlide" Target="/ppt/notesSlides/notesSlide10.xml" Id="R7ccce12eef8e46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73dd682244668" /><Relationship Type="http://schemas.openxmlformats.org/officeDocument/2006/relationships/notesSlide" Target="/ppt/notesSlides/notesSlide11.xml" Id="Rd179b9f92e1843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8bb57b204422d" /><Relationship Type="http://schemas.openxmlformats.org/officeDocument/2006/relationships/notesSlide" Target="/ppt/notesSlides/notesSlide12.xml" Id="R61973865be4c49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6c25444324470" /><Relationship Type="http://schemas.openxmlformats.org/officeDocument/2006/relationships/notesSlide" Target="/ppt/notesSlides/notesSlide13.xml" Id="R2d94ef0c48984c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6ac9326d247d9" /><Relationship Type="http://schemas.openxmlformats.org/officeDocument/2006/relationships/notesSlide" Target="/ppt/notesSlides/notesSlide14.xml" Id="R107f85bba5f24a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81f364e864097" /><Relationship Type="http://schemas.openxmlformats.org/officeDocument/2006/relationships/notesSlide" Target="/ppt/notesSlides/notesSlide15.xml" Id="R8c29a048bba544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e387243384085" /><Relationship Type="http://schemas.openxmlformats.org/officeDocument/2006/relationships/notesSlide" Target="/ppt/notesSlides/notesSlide16.xml" Id="R88cde2ab0f344d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5a2e1d1b24faf" /><Relationship Type="http://schemas.openxmlformats.org/officeDocument/2006/relationships/notesSlide" Target="/ppt/notesSlides/notesSlide17.xml" Id="R9801366aa0ad47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140de6a984185" /><Relationship Type="http://schemas.openxmlformats.org/officeDocument/2006/relationships/notesSlide" Target="/ppt/notesSlides/notesSlide18.xml" Id="R5a236420cb1442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c71a4a26d441e" /><Relationship Type="http://schemas.openxmlformats.org/officeDocument/2006/relationships/notesSlide" Target="/ppt/notesSlides/notesSlide19.xml" Id="Ra6e439641d68468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81727bb87496f" /><Relationship Type="http://schemas.openxmlformats.org/officeDocument/2006/relationships/notesSlide" Target="/ppt/notesSlides/notesSlide20.xml" Id="Rfd7e21138dce4a4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0b5db3ba34c27" /><Relationship Type="http://schemas.openxmlformats.org/officeDocument/2006/relationships/notesSlide" Target="/ppt/notesSlides/notesSlide21.xml" Id="R4ed109c5a52043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e19444c624998" /><Relationship Type="http://schemas.openxmlformats.org/officeDocument/2006/relationships/notesSlide" Target="/ppt/notesSlides/notesSlide22.xml" Id="Raefb52b22d3c44f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5b37126f74966" /><Relationship Type="http://schemas.openxmlformats.org/officeDocument/2006/relationships/notesSlide" Target="/ppt/notesSlides/notesSlide23.xml" Id="R609283d68b3742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4d8a04def4f0f" /><Relationship Type="http://schemas.openxmlformats.org/officeDocument/2006/relationships/notesSlide" Target="/ppt/notesSlides/notesSlide24.xml" Id="Rd0873b9ff7e74e7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7f699ade147fc" /><Relationship Type="http://schemas.openxmlformats.org/officeDocument/2006/relationships/notesSlide" Target="/ppt/notesSlides/notesSlide25.xml" Id="Rdf1e701c835742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2adb3517a4c22" /><Relationship Type="http://schemas.openxmlformats.org/officeDocument/2006/relationships/notesSlide" Target="/ppt/notesSlides/notesSlide26.xml" Id="R1d26c958a0f7474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26ad94d144533" /><Relationship Type="http://schemas.openxmlformats.org/officeDocument/2006/relationships/notesSlide" Target="/ppt/notesSlides/notesSlide27.xml" Id="R34f851ad4fe643b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0c42d6f0a451e" /><Relationship Type="http://schemas.openxmlformats.org/officeDocument/2006/relationships/notesSlide" Target="/ppt/notesSlides/notesSlide28.xml" Id="R670cdd24452448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F97387E-382D-4C5F-869E-DC4A9F6B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2820932-E502-4A9B-BBE3-CF1D3685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FD34C7A4-8E9D-4FBB-B8B0-BBAE461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49FF29A-CB47-48BC-8FF5-90393CBD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1/28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2E220983-A6CA-4A79-AE0E-B757F22C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14450"/>
            <a:ext cx="948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MACHINE LEARNING BASED ALGORITHM SELECTION FOR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C13B0C5A-D5FA-485F-BB1F-726BC9F3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948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SORTING NUMERIC ARRAYS</a:t>
            </a:r>
          </a:p>
        </p:txBody>
      </p:sp>
      <p:sp>
        <p:nvSpPr>
          <p:cNvPr id="7" name="title-main-rule">
            <a:extLst xmlns:a="http://schemas.openxmlformats.org/drawingml/2006/main">
              <a:ext uri="{FF2B5EF4-FFF2-40B4-BE49-F238E27FC236}">
                <a16:creationId xmlns:a16="http://schemas.microsoft.com/office/drawing/2014/main" id="{BC660995-4E66-49B3-ADF3-7EBE6CB7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948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F1D3A"/>
            </a:solidFill>
            <a:prstDash val="solid"/>
          </a:ln>
        </p:spPr>
      </p:sp>
      <p:sp>
        <p:nvSpPr>
          <p:cNvPr id="8" name="presented-by">
            <a:extLst xmlns:a="http://schemas.openxmlformats.org/drawingml/2006/main">
              <a:ext uri="{FF2B5EF4-FFF2-40B4-BE49-F238E27FC236}">
                <a16:creationId xmlns:a16="http://schemas.microsoft.com/office/drawing/2014/main" id="{F4564114-B470-4901-8C37-846A67F0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718096"/>
                </a:solidFill>
              </a:defRPr>
            </a:pPr>
            <a:r>
              <a:rPr sz="1125">
                <a:solidFill>
                  <a:srgbClr val="718096"/>
                </a:solidFill>
              </a:rPr>
              <a:t>Presented by</a:t>
            </a:r>
          </a:p>
        </p:txBody>
      </p:sp>
      <p:sp>
        <p:nvSpPr>
          <p:cNvPr id="9" name="ahmed">
            <a:extLst xmlns:a="http://schemas.openxmlformats.org/drawingml/2006/main">
              <a:ext uri="{FF2B5EF4-FFF2-40B4-BE49-F238E27FC236}">
                <a16:creationId xmlns:a16="http://schemas.microsoft.com/office/drawing/2014/main" id="{5CF9E7E9-59B3-4DA1-BB4B-78E143BC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AHMED SALAH ABDALHI MOHAMMED</a:t>
            </a:r>
          </a:p>
        </p:txBody>
      </p:sp>
      <p:sp>
        <p:nvSpPr>
          <p:cNvPr id="10" name="supervised-by">
            <a:extLst xmlns:a="http://schemas.openxmlformats.org/drawingml/2006/main">
              <a:ext uri="{FF2B5EF4-FFF2-40B4-BE49-F238E27FC236}">
                <a16:creationId xmlns:a16="http://schemas.microsoft.com/office/drawing/2014/main" id="{47F65027-22AF-42BA-9A9A-AEF0C001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33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718096"/>
                </a:solidFill>
              </a:defRPr>
            </a:pPr>
            <a:r>
              <a:rPr sz="1125">
                <a:solidFill>
                  <a:srgbClr val="718096"/>
                </a:solidFill>
              </a:rPr>
              <a:t>Supervised by</a:t>
            </a:r>
          </a:p>
        </p:txBody>
      </p:sp>
      <p:sp>
        <p:nvSpPr>
          <p:cNvPr id="11" name="supervisor">
            <a:extLst xmlns:a="http://schemas.openxmlformats.org/drawingml/2006/main">
              <a:ext uri="{FF2B5EF4-FFF2-40B4-BE49-F238E27FC236}">
                <a16:creationId xmlns:a16="http://schemas.microsoft.com/office/drawing/2014/main" id="{03746E0C-0585-4AEE-A443-69A13A38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768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Assoc. Prof. Dr. Emre Özbilge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148d6c63b4d94"/>
          <a:stretch xmlns:a="http://schemas.openxmlformats.org/drawingml/2006/main"/>
        </p:blipFill>
        <p:spPr>
          <a:xfrm xmlns:a="http://schemas.openxmlformats.org/drawingml/2006/main">
            <a:off x="12477750" y="19050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09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09D5AEFB-9F53-4087-8427-6956E6FB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9774E785-A125-4512-A51A-2577C619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73392B2-0D7B-4801-BAC9-25389646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B5D002-F279-47D8-BAD1-B1ACB264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Research Objective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B163831-287F-4838-AAE3-52A2A40A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B3BFDBA-4437-4A43-95B1-52A75FD9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2/28</a:t>
            </a:r>
          </a:p>
        </p:txBody>
      </p:sp>
      <p:sp>
        <p:nvSpPr>
          <p:cNvPr id="7" name="formula">
            <a:extLst xmlns:a="http://schemas.openxmlformats.org/drawingml/2006/main">
              <a:ext uri="{FF2B5EF4-FFF2-40B4-BE49-F238E27FC236}">
                <a16:creationId xmlns:a16="http://schemas.microsoft.com/office/drawing/2014/main" id="{06C7FAAA-7205-4A62-8B9A-76AD67B1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10382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objective-formula">
            <a:extLst xmlns:a="http://schemas.openxmlformats.org/drawingml/2006/main">
              <a:ext uri="{FF2B5EF4-FFF2-40B4-BE49-F238E27FC236}">
                <a16:creationId xmlns:a16="http://schemas.microsoft.com/office/drawing/2014/main" id="{C61A314C-D474-480E-B275-014CBB05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</a:defRPr>
            </a:pPr>
            <a:r>
              <a:rPr b="1">
                <a:solidFill>
                  <a:srgbClr val="B9152A"/>
                </a:solidFill>
              </a:rPr>
              <a:t>S : f(x) → A</a:t>
            </a:r>
            <a:r>
              <a:rPr>
                <a:solidFill>
                  <a:srgbClr val="5C6A7F"/>
                </a:solidFill>
              </a:rPr>
              <a:t>      reduce expected regret with respect to the oracle</a:t>
            </a:r>
          </a:p>
        </p:txBody>
      </p:sp>
      <p:sp>
        <p:nvSpPr>
          <p:cNvPr id="9" name="obj-0">
            <a:extLst xmlns:a="http://schemas.openxmlformats.org/drawingml/2006/main">
              <a:ext uri="{FF2B5EF4-FFF2-40B4-BE49-F238E27FC236}">
                <a16:creationId xmlns:a16="http://schemas.microsoft.com/office/drawing/2014/main" id="{903805EC-2CAE-49A7-BD29-F5FE6D72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obj-0-title">
            <a:extLst xmlns:a="http://schemas.openxmlformats.org/drawingml/2006/main">
              <a:ext uri="{FF2B5EF4-FFF2-40B4-BE49-F238E27FC236}">
                <a16:creationId xmlns:a16="http://schemas.microsoft.com/office/drawing/2014/main" id="{3F9A66FA-973D-4762-B76B-F8D24A2D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2890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compact structural array features</a:t>
            </a:r>
          </a:p>
        </p:txBody>
      </p:sp>
      <p:sp>
        <p:nvSpPr>
          <p:cNvPr id="11" name="obj-0-body">
            <a:extLst xmlns:a="http://schemas.openxmlformats.org/drawingml/2006/main">
              <a:ext uri="{FF2B5EF4-FFF2-40B4-BE49-F238E27FC236}">
                <a16:creationId xmlns:a16="http://schemas.microsoft.com/office/drawing/2014/main" id="{EB47107D-FD75-4DD6-824B-2B6A73CA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5275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informative for algorithm selection and inexpensive to extract</a:t>
            </a:r>
          </a:p>
        </p:txBody>
      </p:sp>
      <p:sp>
        <p:nvSpPr>
          <p:cNvPr id="12" name="obj-num-0">
            <a:extLst xmlns:a="http://schemas.openxmlformats.org/drawingml/2006/main">
              <a:ext uri="{FF2B5EF4-FFF2-40B4-BE49-F238E27FC236}">
                <a16:creationId xmlns:a16="http://schemas.microsoft.com/office/drawing/2014/main" id="{E0424AA7-A159-4C71-863C-48F6BCFB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289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13" name="obj-1">
            <a:extLst xmlns:a="http://schemas.openxmlformats.org/drawingml/2006/main">
              <a:ext uri="{FF2B5EF4-FFF2-40B4-BE49-F238E27FC236}">
                <a16:creationId xmlns:a16="http://schemas.microsoft.com/office/drawing/2014/main" id="{B2F4761E-560C-4F72-A8E1-B2BC4623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7650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obj-1-title">
            <a:extLst xmlns:a="http://schemas.openxmlformats.org/drawingml/2006/main">
              <a:ext uri="{FF2B5EF4-FFF2-40B4-BE49-F238E27FC236}">
                <a16:creationId xmlns:a16="http://schemas.microsoft.com/office/drawing/2014/main" id="{1C174874-3F03-437B-8780-54730111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2890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offline XGBoost model</a:t>
            </a:r>
          </a:p>
        </p:txBody>
      </p:sp>
      <p:sp>
        <p:nvSpPr>
          <p:cNvPr id="15" name="obj-1-body">
            <a:extLst xmlns:a="http://schemas.openxmlformats.org/drawingml/2006/main">
              <a:ext uri="{FF2B5EF4-FFF2-40B4-BE49-F238E27FC236}">
                <a16:creationId xmlns:a16="http://schemas.microsoft.com/office/drawing/2014/main" id="{3BFD8136-AA82-488F-8D10-916B735F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5275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train and evaluate per-instance algorithm selection</a:t>
            </a:r>
          </a:p>
        </p:txBody>
      </p:sp>
      <p:sp>
        <p:nvSpPr>
          <p:cNvPr id="16" name="obj-num-1">
            <a:extLst xmlns:a="http://schemas.openxmlformats.org/drawingml/2006/main">
              <a:ext uri="{FF2B5EF4-FFF2-40B4-BE49-F238E27FC236}">
                <a16:creationId xmlns:a16="http://schemas.microsoft.com/office/drawing/2014/main" id="{1B44A1C6-5C94-482B-B654-1A0F339C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289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7" name="obj-2">
            <a:extLst xmlns:a="http://schemas.openxmlformats.org/drawingml/2006/main">
              <a:ext uri="{FF2B5EF4-FFF2-40B4-BE49-F238E27FC236}">
                <a16:creationId xmlns:a16="http://schemas.microsoft.com/office/drawing/2014/main" id="{00977B95-64FF-4C32-BD4B-A12B7A1C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obj-2-title">
            <a:extLst xmlns:a="http://schemas.openxmlformats.org/drawingml/2006/main">
              <a:ext uri="{FF2B5EF4-FFF2-40B4-BE49-F238E27FC236}">
                <a16:creationId xmlns:a16="http://schemas.microsoft.com/office/drawing/2014/main" id="{144F0424-A190-4B61-9645-B2130EF4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leakage-resistant evaluation</a:t>
            </a:r>
          </a:p>
        </p:txBody>
      </p:sp>
      <p:sp>
        <p:nvSpPr>
          <p:cNvPr id="19" name="obj-2-body">
            <a:extLst xmlns:a="http://schemas.openxmlformats.org/drawingml/2006/main">
              <a:ext uri="{FF2B5EF4-FFF2-40B4-BE49-F238E27FC236}">
                <a16:creationId xmlns:a16="http://schemas.microsoft.com/office/drawing/2014/main" id="{A3D79CD2-BE0F-4230-91AD-3A95AC6E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quantify valid, selection-under-ignorance protocol</a:t>
            </a:r>
          </a:p>
        </p:txBody>
      </p:sp>
      <p:sp>
        <p:nvSpPr>
          <p:cNvPr id="20" name="obj-num-2">
            <a:extLst xmlns:a="http://schemas.openxmlformats.org/drawingml/2006/main">
              <a:ext uri="{FF2B5EF4-FFF2-40B4-BE49-F238E27FC236}">
                <a16:creationId xmlns:a16="http://schemas.microsoft.com/office/drawing/2014/main" id="{330150C2-DEB6-4CDD-A08F-BDA22985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21" name="obj-3">
            <a:extLst xmlns:a="http://schemas.openxmlformats.org/drawingml/2006/main">
              <a:ext uri="{FF2B5EF4-FFF2-40B4-BE49-F238E27FC236}">
                <a16:creationId xmlns:a16="http://schemas.microsoft.com/office/drawing/2014/main" id="{A1B2695C-5A6F-4C3F-8D6B-7DB8A27A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95750"/>
            <a:ext cx="45243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obj-3-title">
            <a:extLst xmlns:a="http://schemas.openxmlformats.org/drawingml/2006/main">
              <a:ext uri="{FF2B5EF4-FFF2-40B4-BE49-F238E27FC236}">
                <a16:creationId xmlns:a16="http://schemas.microsoft.com/office/drawing/2014/main" id="{435A8191-94B5-4841-9786-BDB85555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4815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reproducible Python library</a:t>
            </a:r>
          </a:p>
        </p:txBody>
      </p:sp>
      <p:sp>
        <p:nvSpPr>
          <p:cNvPr id="23" name="obj-3-body">
            <a:extLst xmlns:a="http://schemas.openxmlformats.org/drawingml/2006/main">
              <a:ext uri="{FF2B5EF4-FFF2-40B4-BE49-F238E27FC236}">
                <a16:creationId xmlns:a16="http://schemas.microsoft.com/office/drawing/2014/main" id="{E015EBFD-2CF6-4FB0-AF3E-630EAB39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572000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package the complete method for deployment and further research</a:t>
            </a:r>
          </a:p>
        </p:txBody>
      </p:sp>
      <p:sp>
        <p:nvSpPr>
          <p:cNvPr id="24" name="obj-num-3">
            <a:extLst xmlns:a="http://schemas.openxmlformats.org/drawingml/2006/main">
              <a:ext uri="{FF2B5EF4-FFF2-40B4-BE49-F238E27FC236}">
                <a16:creationId xmlns:a16="http://schemas.microsoft.com/office/drawing/2014/main" id="{232E6B93-F1AF-47BA-B204-6398964E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48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511E"/>
                </a:solidFill>
              </a:defRPr>
            </a:pPr>
            <a:r>
              <a:rPr sz="1125" b="1">
                <a:solidFill>
                  <a:srgbClr val="F4511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6366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4A34392-EE24-414C-83F1-BF1F9803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081CC78-C323-42F1-A1B2-4609D64B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96CF5EB3-0A88-4963-BE3F-06D6EA0C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B586FB-8F7D-4DC8-991B-C4F8003A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Prediction is made before any candidate algorithm is executed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181B427-E45C-4637-8A94-7E63EA1E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96697EE-6505-4855-8CBF-0660F510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3/28</a:t>
            </a:r>
          </a:p>
        </p:txBody>
      </p:sp>
      <p:sp>
        <p:nvSpPr>
          <p:cNvPr id="7" name="allowed">
            <a:extLst xmlns:a="http://schemas.openxmlformats.org/drawingml/2006/main">
              <a:ext uri="{FF2B5EF4-FFF2-40B4-BE49-F238E27FC236}">
                <a16:creationId xmlns:a16="http://schemas.microsoft.com/office/drawing/2014/main" id="{100DEA89-140F-482C-AA49-CB7DBC72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4762500" cy="2524125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llowed-title">
            <a:extLst xmlns:a="http://schemas.openxmlformats.org/drawingml/2006/main">
              <a:ext uri="{FF2B5EF4-FFF2-40B4-BE49-F238E27FC236}">
                <a16:creationId xmlns:a16="http://schemas.microsoft.com/office/drawing/2014/main" id="{42324B52-108C-4D51-BA3D-D89972D8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192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Allowed before sorting</a:t>
            </a:r>
          </a:p>
        </p:txBody>
      </p:sp>
      <p:sp>
        <p:nvSpPr>
          <p:cNvPr id="9" name="allowed-body">
            <a:extLst xmlns:a="http://schemas.openxmlformats.org/drawingml/2006/main">
              <a:ext uri="{FF2B5EF4-FFF2-40B4-BE49-F238E27FC236}">
                <a16:creationId xmlns:a16="http://schemas.microsoft.com/office/drawing/2014/main" id="{5E7E9471-265E-4849-93AD-C7FA7D2E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419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Extract O(n) features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Measure order, runs, repetition, distribution, robust scale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Predict introsort, heapsort, or timsort</a:t>
            </a:r>
          </a:p>
        </p:txBody>
      </p:sp>
      <p:sp>
        <p:nvSpPr>
          <p:cNvPr id="10" name="blocked">
            <a:extLst xmlns:a="http://schemas.openxmlformats.org/drawingml/2006/main">
              <a:ext uri="{FF2B5EF4-FFF2-40B4-BE49-F238E27FC236}">
                <a16:creationId xmlns:a16="http://schemas.microsoft.com/office/drawing/2014/main" id="{81DE3733-E6FB-4FDD-B95E-7B38CED6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4762500" cy="2524125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blocked-title">
            <a:extLst xmlns:a="http://schemas.openxmlformats.org/drawingml/2006/main">
              <a:ext uri="{FF2B5EF4-FFF2-40B4-BE49-F238E27FC236}">
                <a16:creationId xmlns:a16="http://schemas.microsoft.com/office/drawing/2014/main" id="{A3E14647-7683-49D7-AB4C-F9045C76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192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Not allowed at prediction time</a:t>
            </a:r>
          </a:p>
        </p:txBody>
      </p:sp>
      <p:sp>
        <p:nvSpPr>
          <p:cNvPr id="12" name="blocked-body">
            <a:extLst xmlns:a="http://schemas.openxmlformats.org/drawingml/2006/main">
              <a:ext uri="{FF2B5EF4-FFF2-40B4-BE49-F238E27FC236}">
                <a16:creationId xmlns:a16="http://schemas.microsoft.com/office/drawing/2014/main" id="{18196DBE-5B0E-4B24-B274-7930DBB2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4419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 with introsort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 with heapsort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 with timsort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Pick after seeing all times</a:t>
            </a:r>
          </a:p>
        </p:txBody>
      </p:sp>
      <p:sp>
        <p:nvSpPr>
          <p:cNvPr id="13" name="allowed-arrow-from">
            <a:extLst xmlns:a="http://schemas.openxmlformats.org/drawingml/2006/main">
              <a:ext uri="{FF2B5EF4-FFF2-40B4-BE49-F238E27FC236}">
                <a16:creationId xmlns:a16="http://schemas.microsoft.com/office/drawing/2014/main" id="{827CB93D-80F2-4CB7-803F-77232C98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llowed-arrow-to">
            <a:extLst xmlns:a="http://schemas.openxmlformats.org/drawingml/2006/main">
              <a:ext uri="{FF2B5EF4-FFF2-40B4-BE49-F238E27FC236}">
                <a16:creationId xmlns:a16="http://schemas.microsoft.com/office/drawing/2014/main" id="{71F7DD9B-AB7E-41D1-8BA3-9D8F0FD9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1" name="allowed-arrow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6543675" y="2943225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6" name="oracle">
            <a:extLst xmlns:a="http://schemas.openxmlformats.org/drawingml/2006/main">
              <a:ext uri="{FF2B5EF4-FFF2-40B4-BE49-F238E27FC236}">
                <a16:creationId xmlns:a16="http://schemas.microsoft.com/office/drawing/2014/main" id="{2F24FFD0-4069-43BC-862B-00DADD7A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1717"/>
                </a:solidFill>
              </a:defRPr>
            </a:pPr>
            <a:r>
              <a:rPr sz="1425">
                <a:solidFill>
                  <a:srgbClr val="171717"/>
                </a:solidFill>
              </a:rPr>
              <a:t>The oracle is used only for evaluation; it is not available at run time.</a:t>
            </a:r>
          </a:p>
        </p:txBody>
      </p:sp>
    </p:spTree>
    <p:extLst>
      <p:ext uri="{BB962C8B-B14F-4D97-AF65-F5344CB8AC3E}">
        <p14:creationId xmlns:p14="http://schemas.microsoft.com/office/powerpoint/2010/main" val="1824753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F47F2E93-1F55-4333-BD70-85716A90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5D980452-CF3E-44CA-B159-0F55D7A3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A66E44A0-C0A7-4BAB-9708-D4216DE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5AE842-D737-4F8B-A8E2-696E4F8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Algorithm Selection Problem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C5B0B69-28D3-4A29-80C1-0BE2B8F6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74951D6-9DD8-41CE-A468-FBE0D7EE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4/28</a:t>
            </a:r>
          </a:p>
        </p:txBody>
      </p:sp>
      <p:sp>
        <p:nvSpPr>
          <p:cNvPr id="7" name="problem">
            <a:extLst xmlns:a="http://schemas.openxmlformats.org/drawingml/2006/main">
              <a:ext uri="{FF2B5EF4-FFF2-40B4-BE49-F238E27FC236}">
                <a16:creationId xmlns:a16="http://schemas.microsoft.com/office/drawing/2014/main" id="{46BD72FE-0E74-412D-BBB8-AAEABF3E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2381250" cy="2857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2F1A5AED-FB6E-43AE-9127-ADF293BD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Problem space P</a:t>
            </a:r>
          </a:p>
        </p:txBody>
      </p:sp>
      <p:sp>
        <p:nvSpPr>
          <p:cNvPr id="9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E5D81720-D75A-4CD8-9456-EAE7E806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038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one numeric array</a:t>
            </a:r>
          </a:p>
        </p:txBody>
      </p:sp>
      <p:sp>
        <p:nvSpPr>
          <p:cNvPr id="10" name="array-ex">
            <a:extLst xmlns:a="http://schemas.openxmlformats.org/drawingml/2006/main">
              <a:ext uri="{FF2B5EF4-FFF2-40B4-BE49-F238E27FC236}">
                <a16:creationId xmlns:a16="http://schemas.microsoft.com/office/drawing/2014/main" id="{ED634571-CC17-4732-8669-804C5BF5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[4, 5, 5, 6, 17, 18,</a:t>
            </a:r>
          </a:p>
          <a:p xmlns:a="http://schemas.openxmlformats.org/drawingml/2006/main">
            <a:pPr algn="ctr"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19, 2, 2, 3, 31, 45]</a:t>
            </a:r>
          </a:p>
        </p:txBody>
      </p:sp>
      <p:sp>
        <p:nvSpPr>
          <p:cNvPr id="11" name="mini-bar-135-294-0">
            <a:extLst xmlns:a="http://schemas.openxmlformats.org/drawingml/2006/main">
              <a:ext uri="{FF2B5EF4-FFF2-40B4-BE49-F238E27FC236}">
                <a16:creationId xmlns:a16="http://schemas.microsoft.com/office/drawing/2014/main" id="{AA1F52FB-B764-48B1-A935-675D4A11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63290"/>
            <a:ext cx="152400" cy="156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ini-bar-135-294-1">
            <a:extLst xmlns:a="http://schemas.openxmlformats.org/drawingml/2006/main">
              <a:ext uri="{FF2B5EF4-FFF2-40B4-BE49-F238E27FC236}">
                <a16:creationId xmlns:a16="http://schemas.microsoft.com/office/drawing/2014/main" id="{DC5E5D31-8925-4173-8ADD-3D0CCEE4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445933"/>
            <a:ext cx="152400" cy="173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ini-bar-135-294-2">
            <a:extLst xmlns:a="http://schemas.openxmlformats.org/drawingml/2006/main">
              <a:ext uri="{FF2B5EF4-FFF2-40B4-BE49-F238E27FC236}">
                <a16:creationId xmlns:a16="http://schemas.microsoft.com/office/drawing/2014/main" id="{D9B62B21-CDCB-4091-AEE7-1160148D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11220"/>
            <a:ext cx="152400" cy="20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ni-bar-135-294-3">
            <a:extLst xmlns:a="http://schemas.openxmlformats.org/drawingml/2006/main">
              <a:ext uri="{FF2B5EF4-FFF2-40B4-BE49-F238E27FC236}">
                <a16:creationId xmlns:a16="http://schemas.microsoft.com/office/drawing/2014/main" id="{1910663F-3B44-4CFF-9C20-C498577B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994660"/>
            <a:ext cx="152400" cy="62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ini-bar-135-294-4">
            <a:extLst xmlns:a="http://schemas.openxmlformats.org/drawingml/2006/main">
              <a:ext uri="{FF2B5EF4-FFF2-40B4-BE49-F238E27FC236}">
                <a16:creationId xmlns:a16="http://schemas.microsoft.com/office/drawing/2014/main" id="{64FD74A8-4ED4-42FA-B789-243D8848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25233"/>
            <a:ext cx="152400" cy="694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ini-bar-135-294-5">
            <a:extLst xmlns:a="http://schemas.openxmlformats.org/drawingml/2006/main">
              <a:ext uri="{FF2B5EF4-FFF2-40B4-BE49-F238E27FC236}">
                <a16:creationId xmlns:a16="http://schemas.microsoft.com/office/drawing/2014/main" id="{46D53FBD-4420-4BE1-AD8C-3D247BF1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90520"/>
            <a:ext cx="152400" cy="7289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ni-bar-135-294-6">
            <a:extLst xmlns:a="http://schemas.openxmlformats.org/drawingml/2006/main">
              <a:ext uri="{FF2B5EF4-FFF2-40B4-BE49-F238E27FC236}">
                <a16:creationId xmlns:a16="http://schemas.microsoft.com/office/drawing/2014/main" id="{66B5ED31-FF4A-4A4F-9F4A-6258CA5F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98003"/>
            <a:ext cx="152400" cy="1214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ni-axis-135-294">
            <a:extLst xmlns:a="http://schemas.openxmlformats.org/drawingml/2006/main">
              <a:ext uri="{FF2B5EF4-FFF2-40B4-BE49-F238E27FC236}">
                <a16:creationId xmlns:a16="http://schemas.microsoft.com/office/drawing/2014/main" id="{5AFFC3FE-469A-4860-8473-1FEFA130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1950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struct">
            <a:extLst xmlns:a="http://schemas.openxmlformats.org/drawingml/2006/main">
              <a:ext uri="{FF2B5EF4-FFF2-40B4-BE49-F238E27FC236}">
                <a16:creationId xmlns:a16="http://schemas.microsoft.com/office/drawing/2014/main" id="{83B40F9F-539E-48DC-B938-25587246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instance-dependent structure</a:t>
            </a:r>
          </a:p>
        </p:txBody>
      </p:sp>
      <p:sp>
        <p:nvSpPr>
          <p:cNvPr id="20" name="features">
            <a:extLst xmlns:a="http://schemas.openxmlformats.org/drawingml/2006/main">
              <a:ext uri="{FF2B5EF4-FFF2-40B4-BE49-F238E27FC236}">
                <a16:creationId xmlns:a16="http://schemas.microsoft.com/office/drawing/2014/main" id="{10F413B1-9F1C-40BC-82A2-A5187EC7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43050"/>
            <a:ext cx="2381250" cy="2857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features-title">
            <a:extLst xmlns:a="http://schemas.openxmlformats.org/drawingml/2006/main">
              <a:ext uri="{FF2B5EF4-FFF2-40B4-BE49-F238E27FC236}">
                <a16:creationId xmlns:a16="http://schemas.microsoft.com/office/drawing/2014/main" id="{E258AAF4-0373-404B-AC0F-AFF0F57E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Feature space F</a:t>
            </a:r>
          </a:p>
        </p:txBody>
      </p:sp>
      <p:sp>
        <p:nvSpPr>
          <p:cNvPr id="22" name="features-body">
            <a:extLst xmlns:a="http://schemas.openxmlformats.org/drawingml/2006/main">
              <a:ext uri="{FF2B5EF4-FFF2-40B4-BE49-F238E27FC236}">
                <a16:creationId xmlns:a16="http://schemas.microsoft.com/office/drawing/2014/main" id="{32818337-64CE-4334-997C-DF8E485B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019300"/>
            <a:ext cx="2038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structural array features</a:t>
            </a:r>
          </a:p>
        </p:txBody>
      </p:sp>
      <p:sp>
        <p:nvSpPr>
          <p:cNvPr id="23" name="feat-row-0">
            <a:extLst xmlns:a="http://schemas.openxmlformats.org/drawingml/2006/main">
              <a:ext uri="{FF2B5EF4-FFF2-40B4-BE49-F238E27FC236}">
                <a16:creationId xmlns:a16="http://schemas.microsoft.com/office/drawing/2014/main" id="{C2483881-14AA-4E0B-9052-542FEDE7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05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4" name="feat-text-0">
            <a:extLst xmlns:a="http://schemas.openxmlformats.org/drawingml/2006/main">
              <a:ext uri="{FF2B5EF4-FFF2-40B4-BE49-F238E27FC236}">
                <a16:creationId xmlns:a16="http://schemas.microsoft.com/office/drawing/2014/main" id="{F2F17703-97FD-4CE9-BFEC-1A845D05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526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size</a:t>
            </a:r>
          </a:p>
        </p:txBody>
      </p:sp>
      <p:sp>
        <p:nvSpPr>
          <p:cNvPr id="25" name="feat-row-1">
            <a:extLst xmlns:a="http://schemas.openxmlformats.org/drawingml/2006/main">
              <a:ext uri="{FF2B5EF4-FFF2-40B4-BE49-F238E27FC236}">
                <a16:creationId xmlns:a16="http://schemas.microsoft.com/office/drawing/2014/main" id="{8C6E94C7-6486-4493-8549-F286C5DF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6" name="feat-text-1">
            <a:extLst xmlns:a="http://schemas.openxmlformats.org/drawingml/2006/main">
              <a:ext uri="{FF2B5EF4-FFF2-40B4-BE49-F238E27FC236}">
                <a16:creationId xmlns:a16="http://schemas.microsoft.com/office/drawing/2014/main" id="{4F72E5AE-31A2-4F61-B078-3E12561F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955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sortedness / disorder</a:t>
            </a:r>
          </a:p>
        </p:txBody>
      </p:sp>
      <p:sp>
        <p:nvSpPr>
          <p:cNvPr id="27" name="feat-row-2">
            <a:extLst xmlns:a="http://schemas.openxmlformats.org/drawingml/2006/main">
              <a:ext uri="{FF2B5EF4-FFF2-40B4-BE49-F238E27FC236}">
                <a16:creationId xmlns:a16="http://schemas.microsoft.com/office/drawing/2014/main" id="{033F344F-7A1A-445B-B279-6B1C8566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90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8" name="feat-text-2">
            <a:extLst xmlns:a="http://schemas.openxmlformats.org/drawingml/2006/main">
              <a:ext uri="{FF2B5EF4-FFF2-40B4-BE49-F238E27FC236}">
                <a16:creationId xmlns:a16="http://schemas.microsoft.com/office/drawing/2014/main" id="{B5D2F1A7-28EE-40AC-8C3D-DCA3D2F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384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runs</a:t>
            </a:r>
          </a:p>
        </p:txBody>
      </p:sp>
      <p:sp>
        <p:nvSpPr>
          <p:cNvPr id="29" name="feat-row-3">
            <a:extLst xmlns:a="http://schemas.openxmlformats.org/drawingml/2006/main">
              <a:ext uri="{FF2B5EF4-FFF2-40B4-BE49-F238E27FC236}">
                <a16:creationId xmlns:a16="http://schemas.microsoft.com/office/drawing/2014/main" id="{B6576E4A-CA67-4911-823F-724D5C9C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33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0" name="feat-text-3">
            <a:extLst xmlns:a="http://schemas.openxmlformats.org/drawingml/2006/main">
              <a:ext uri="{FF2B5EF4-FFF2-40B4-BE49-F238E27FC236}">
                <a16:creationId xmlns:a16="http://schemas.microsoft.com/office/drawing/2014/main" id="{8E0FBDE6-EBA0-4DEC-9C33-F5B29D13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813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389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171717"/>
                </a:solidFill>
              </a:defRPr>
            </a:pPr>
            <a:r>
              <a:rPr sz="900">
                <a:solidFill>
                  <a:srgbClr val="171717"/>
                </a:solidFill>
              </a:rPr>
              <a:t>duplicates / entropy</a:t>
            </a:r>
          </a:p>
        </p:txBody>
      </p:sp>
      <p:sp>
        <p:nvSpPr>
          <p:cNvPr id="31" name="feature-space">
            <a:extLst xmlns:a="http://schemas.openxmlformats.org/drawingml/2006/main">
              <a:ext uri="{FF2B5EF4-FFF2-40B4-BE49-F238E27FC236}">
                <a16:creationId xmlns:a16="http://schemas.microsoft.com/office/drawing/2014/main" id="{D9E0B112-BAE9-4F6E-BF46-AFC0527E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814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4511E"/>
                </a:solidFill>
              </a:defRPr>
            </a:pPr>
            <a:r>
              <a:rPr sz="1050">
                <a:solidFill>
                  <a:srgbClr val="F4511E"/>
                </a:solidFill>
              </a:rPr>
              <a:t>x ∈ R^16</a:t>
            </a:r>
          </a:p>
        </p:txBody>
      </p:sp>
      <p:sp>
        <p:nvSpPr>
          <p:cNvPr id="32" name="selector">
            <a:extLst xmlns:a="http://schemas.openxmlformats.org/drawingml/2006/main">
              <a:ext uri="{FF2B5EF4-FFF2-40B4-BE49-F238E27FC236}">
                <a16:creationId xmlns:a16="http://schemas.microsoft.com/office/drawing/2014/main" id="{60926522-9374-4101-ADF7-20EBFAD5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2000250" cy="23050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elector-title">
            <a:extLst xmlns:a="http://schemas.openxmlformats.org/drawingml/2006/main">
              <a:ext uri="{FF2B5EF4-FFF2-40B4-BE49-F238E27FC236}">
                <a16:creationId xmlns:a16="http://schemas.microsoft.com/office/drawing/2014/main" id="{852EC7FD-5D61-4362-9A88-B0D87736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Selector</a:t>
            </a:r>
          </a:p>
        </p:txBody>
      </p:sp>
      <p:sp>
        <p:nvSpPr>
          <p:cNvPr id="34" name="selector-map">
            <a:extLst xmlns:a="http://schemas.openxmlformats.org/drawingml/2006/main">
              <a:ext uri="{FF2B5EF4-FFF2-40B4-BE49-F238E27FC236}">
                <a16:creationId xmlns:a16="http://schemas.microsoft.com/office/drawing/2014/main" id="{279D5607-441B-40CF-A859-2DF4DA1D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193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S : F → A</a:t>
            </a:r>
          </a:p>
        </p:txBody>
      </p:sp>
      <p:sp>
        <p:nvSpPr>
          <p:cNvPr id="35" name="selector-rule">
            <a:extLst xmlns:a="http://schemas.openxmlformats.org/drawingml/2006/main">
              <a:ext uri="{FF2B5EF4-FFF2-40B4-BE49-F238E27FC236}">
                <a16:creationId xmlns:a16="http://schemas.microsoft.com/office/drawing/2014/main" id="{2CA99416-B039-441F-8E25-3A41BE03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6" name="selector-model">
            <a:extLst xmlns:a="http://schemas.openxmlformats.org/drawingml/2006/main">
              <a:ext uri="{FF2B5EF4-FFF2-40B4-BE49-F238E27FC236}">
                <a16:creationId xmlns:a16="http://schemas.microsoft.com/office/drawing/2014/main" id="{2BDB5B79-8049-4551-BC4A-F59B5160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4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XGBoost classifier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predicts fastest class</a:t>
            </a:r>
          </a:p>
        </p:txBody>
      </p:sp>
      <p:sp>
        <p:nvSpPr>
          <p:cNvPr id="37" name="algos">
            <a:extLst xmlns:a="http://schemas.openxmlformats.org/drawingml/2006/main">
              <a:ext uri="{FF2B5EF4-FFF2-40B4-BE49-F238E27FC236}">
                <a16:creationId xmlns:a16="http://schemas.microsoft.com/office/drawing/2014/main" id="{28F7A7BB-5E2E-4760-A7F6-CF444969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43050"/>
            <a:ext cx="2381250" cy="2857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algos-title">
            <a:extLst xmlns:a="http://schemas.openxmlformats.org/drawingml/2006/main">
              <a:ext uri="{FF2B5EF4-FFF2-40B4-BE49-F238E27FC236}">
                <a16:creationId xmlns:a16="http://schemas.microsoft.com/office/drawing/2014/main" id="{DCF3F99C-8900-450B-B456-81B93B40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Algorithm space A</a:t>
            </a:r>
          </a:p>
        </p:txBody>
      </p:sp>
      <p:sp>
        <p:nvSpPr>
          <p:cNvPr id="39" name="algos-body">
            <a:extLst xmlns:a="http://schemas.openxmlformats.org/drawingml/2006/main">
              <a:ext uri="{FF2B5EF4-FFF2-40B4-BE49-F238E27FC236}">
                <a16:creationId xmlns:a16="http://schemas.microsoft.com/office/drawing/2014/main" id="{08CAF4DE-A108-4EC1-88AC-3491A4D5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19300"/>
            <a:ext cx="20383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algorithm portfolio</a:t>
            </a:r>
          </a:p>
        </p:txBody>
      </p:sp>
      <p:sp>
        <p:nvSpPr>
          <p:cNvPr id="40" name="algo-pill-0">
            <a:extLst xmlns:a="http://schemas.openxmlformats.org/drawingml/2006/main">
              <a:ext uri="{FF2B5EF4-FFF2-40B4-BE49-F238E27FC236}">
                <a16:creationId xmlns:a16="http://schemas.microsoft.com/office/drawing/2014/main" id="{95A38A55-69C2-4A12-A405-C7E7A119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4315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52A"/>
            </a:solidFill>
            <a:prstDash val="solid"/>
          </a:ln>
        </p:spPr>
      </p:sp>
      <p:sp>
        <p:nvSpPr>
          <p:cNvPr id="41" name="algo-t-0">
            <a:extLst xmlns:a="http://schemas.openxmlformats.org/drawingml/2006/main">
              <a:ext uri="{FF2B5EF4-FFF2-40B4-BE49-F238E27FC236}">
                <a16:creationId xmlns:a16="http://schemas.microsoft.com/office/drawing/2014/main" id="{BDD3A9DD-4222-4048-855C-2DC817E0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19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Introsort</a:t>
            </a:r>
          </a:p>
        </p:txBody>
      </p:sp>
      <p:sp>
        <p:nvSpPr>
          <p:cNvPr id="42" name="algo-pill-1">
            <a:extLst xmlns:a="http://schemas.openxmlformats.org/drawingml/2006/main">
              <a:ext uri="{FF2B5EF4-FFF2-40B4-BE49-F238E27FC236}">
                <a16:creationId xmlns:a16="http://schemas.microsoft.com/office/drawing/2014/main" id="{ADD04640-716F-439B-9060-D3E638C6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52A"/>
            </a:solidFill>
            <a:prstDash val="solid"/>
          </a:ln>
        </p:spPr>
      </p:sp>
      <p:sp>
        <p:nvSpPr>
          <p:cNvPr id="43" name="algo-t-1">
            <a:extLst xmlns:a="http://schemas.openxmlformats.org/drawingml/2006/main">
              <a:ext uri="{FF2B5EF4-FFF2-40B4-BE49-F238E27FC236}">
                <a16:creationId xmlns:a16="http://schemas.microsoft.com/office/drawing/2014/main" id="{8147EE2E-E15A-4D64-ACF5-F9983C2E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71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Heapsort</a:t>
            </a:r>
          </a:p>
        </p:txBody>
      </p:sp>
      <p:sp>
        <p:nvSpPr>
          <p:cNvPr id="44" name="algo-pill-2">
            <a:extLst xmlns:a="http://schemas.openxmlformats.org/drawingml/2006/main">
              <a:ext uri="{FF2B5EF4-FFF2-40B4-BE49-F238E27FC236}">
                <a16:creationId xmlns:a16="http://schemas.microsoft.com/office/drawing/2014/main" id="{E61704F5-D452-4FE4-BBCE-89EC1FC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4805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lgo-t-2">
            <a:extLst xmlns:a="http://schemas.openxmlformats.org/drawingml/2006/main">
              <a:ext uri="{FF2B5EF4-FFF2-40B4-BE49-F238E27FC236}">
                <a16:creationId xmlns:a16="http://schemas.microsoft.com/office/drawing/2014/main" id="{B744574D-BBB2-4C2E-AD6D-AD50094D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Timsort</a:t>
            </a:r>
          </a:p>
        </p:txBody>
      </p:sp>
      <p:sp>
        <p:nvSpPr>
          <p:cNvPr id="46" name="p-f-from">
            <a:extLst xmlns:a="http://schemas.openxmlformats.org/drawingml/2006/main">
              <a:ext uri="{FF2B5EF4-FFF2-40B4-BE49-F238E27FC236}">
                <a16:creationId xmlns:a16="http://schemas.microsoft.com/office/drawing/2014/main" id="{9E906EF3-D8B0-4145-811A-8F431E82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-f-to">
            <a:extLst xmlns:a="http://schemas.openxmlformats.org/drawingml/2006/main">
              <a:ext uri="{FF2B5EF4-FFF2-40B4-BE49-F238E27FC236}">
                <a16:creationId xmlns:a16="http://schemas.microsoft.com/office/drawing/2014/main" id="{21C75C92-7AA7-4000-87B5-A108BA96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8" name="p-f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3352800" y="2981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49" name="f-s-from">
            <a:extLst xmlns:a="http://schemas.openxmlformats.org/drawingml/2006/main">
              <a:ext uri="{FF2B5EF4-FFF2-40B4-BE49-F238E27FC236}">
                <a16:creationId xmlns:a16="http://schemas.microsoft.com/office/drawing/2014/main" id="{A3B70618-926C-4584-ADF7-3EEFFAB6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-s-to">
            <a:extLst xmlns:a="http://schemas.openxmlformats.org/drawingml/2006/main">
              <a:ext uri="{FF2B5EF4-FFF2-40B4-BE49-F238E27FC236}">
                <a16:creationId xmlns:a16="http://schemas.microsoft.com/office/drawing/2014/main" id="{46228947-25C7-4F8B-8B57-D25209BD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1" name="f-s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6353175" y="29813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52" name="s-a-from">
            <a:extLst xmlns:a="http://schemas.openxmlformats.org/drawingml/2006/main">
              <a:ext uri="{FF2B5EF4-FFF2-40B4-BE49-F238E27FC236}">
                <a16:creationId xmlns:a16="http://schemas.microsoft.com/office/drawing/2014/main" id="{455D00C0-48AC-42DD-9F65-D4E126AF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-a-to">
            <a:extLst xmlns:a="http://schemas.openxmlformats.org/drawingml/2006/main">
              <a:ext uri="{FF2B5EF4-FFF2-40B4-BE49-F238E27FC236}">
                <a16:creationId xmlns:a16="http://schemas.microsoft.com/office/drawing/2014/main" id="{2A2EBF1C-6A14-402C-A57C-A768F274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4" name="s-a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9067800" y="29813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55" name="perf">
            <a:extLst xmlns:a="http://schemas.openxmlformats.org/drawingml/2006/main">
              <a:ext uri="{FF2B5EF4-FFF2-40B4-BE49-F238E27FC236}">
                <a16:creationId xmlns:a16="http://schemas.microsoft.com/office/drawing/2014/main" id="{4239162E-4104-4774-B398-D71647E6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2445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6" name="perf-title">
            <a:extLst xmlns:a="http://schemas.openxmlformats.org/drawingml/2006/main">
              <a:ext uri="{FF2B5EF4-FFF2-40B4-BE49-F238E27FC236}">
                <a16:creationId xmlns:a16="http://schemas.microsoft.com/office/drawing/2014/main" id="{F0BD39B2-5451-4479-B88C-3397A98F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76850"/>
            <a:ext cx="1022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Performance space Y</a:t>
            </a:r>
          </a:p>
        </p:txBody>
      </p:sp>
      <p:sp>
        <p:nvSpPr>
          <p:cNvPr id="57" name="perf-body">
            <a:extLst xmlns:a="http://schemas.openxmlformats.org/drawingml/2006/main">
              <a:ext uri="{FF2B5EF4-FFF2-40B4-BE49-F238E27FC236}">
                <a16:creationId xmlns:a16="http://schemas.microsoft.com/office/drawing/2014/main" id="{1AA3CB48-0B51-4AE3-8820-A6894C61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022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label(x) = argmin_a T(a, x)     example: Timsort 13.2 µs, Introsort 18.7 µs, Heapsort 24.5 µs</a:t>
            </a:r>
          </a:p>
        </p:txBody>
      </p:sp>
      <p:sp>
        <p:nvSpPr>
          <p:cNvPr id="58" name="a-y-from">
            <a:extLst xmlns:a="http://schemas.openxmlformats.org/drawingml/2006/main">
              <a:ext uri="{FF2B5EF4-FFF2-40B4-BE49-F238E27FC236}">
                <a16:creationId xmlns:a16="http://schemas.microsoft.com/office/drawing/2014/main" id="{79452694-1972-478D-AB31-EF39B30D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a-y-to">
            <a:extLst xmlns:a="http://schemas.openxmlformats.org/drawingml/2006/main">
              <a:ext uri="{FF2B5EF4-FFF2-40B4-BE49-F238E27FC236}">
                <a16:creationId xmlns:a16="http://schemas.microsoft.com/office/drawing/2014/main" id="{76BDF180-C1D3-4FC3-8300-8DAF6499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476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0" name="a-y"/>
          <p:cNvCxnSpPr>
            <a:stCxn xmlns:a="http://schemas.openxmlformats.org/drawingml/2006/main" id="58" idx="0"/>
            <a:endCxn xmlns:a="http://schemas.openxmlformats.org/drawingml/2006/main" id="59" idx="1"/>
          </p:cNvCxnSpPr>
          <p:nvPr/>
        </p:nvCxnSpPr>
        <p:spPr>
          <a:xfrm xmlns:a="http://schemas.openxmlformats.org/drawingml/2006/main" rot="5400000">
            <a:off x="10510838" y="4462463"/>
            <a:ext cx="657225" cy="7048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095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2042139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40DABDF-3076-4734-B408-D50DBA9F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56421BA-22FE-4D94-A942-9AD129A1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4507CC8C-475A-43A1-84DA-3D45F86F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73A919-FEA9-4976-9A23-06006159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System Architecture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BC5CE0C-F265-4AD4-8585-58709190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FDDC63B-E1D8-48E4-9D5F-1CFB8D06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5/28</a:t>
            </a:r>
          </a:p>
        </p:txBody>
      </p:sp>
      <p:sp>
        <p:nvSpPr>
          <p:cNvPr id="7" name="main">
            <a:extLst xmlns:a="http://schemas.openxmlformats.org/drawingml/2006/main">
              <a:ext uri="{FF2B5EF4-FFF2-40B4-BE49-F238E27FC236}">
                <a16:creationId xmlns:a16="http://schemas.microsoft.com/office/drawing/2014/main" id="{45649E5C-3757-4725-A678-D3973318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620250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rch-node-0">
            <a:extLst xmlns:a="http://schemas.openxmlformats.org/drawingml/2006/main">
              <a:ext uri="{FF2B5EF4-FFF2-40B4-BE49-F238E27FC236}">
                <a16:creationId xmlns:a16="http://schemas.microsoft.com/office/drawing/2014/main" id="{C95DD614-9BE1-462F-BCB8-BA864451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43250"/>
            <a:ext cx="1143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arch-node-0-title">
            <a:extLst xmlns:a="http://schemas.openxmlformats.org/drawingml/2006/main">
              <a:ext uri="{FF2B5EF4-FFF2-40B4-BE49-F238E27FC236}">
                <a16:creationId xmlns:a16="http://schemas.microsoft.com/office/drawing/2014/main" id="{E28BC886-702F-4067-9728-CAC46B8E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95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input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array</a:t>
            </a:r>
          </a:p>
        </p:txBody>
      </p:sp>
      <p:sp>
        <p:nvSpPr>
          <p:cNvPr id="10" name="arch-node-1">
            <a:extLst xmlns:a="http://schemas.openxmlformats.org/drawingml/2006/main">
              <a:ext uri="{FF2B5EF4-FFF2-40B4-BE49-F238E27FC236}">
                <a16:creationId xmlns:a16="http://schemas.microsoft.com/office/drawing/2014/main" id="{702E580A-A879-4480-87BC-314BD169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1428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arch-node-1-title">
            <a:extLst xmlns:a="http://schemas.openxmlformats.org/drawingml/2006/main">
              <a:ext uri="{FF2B5EF4-FFF2-40B4-BE49-F238E27FC236}">
                <a16:creationId xmlns:a16="http://schemas.microsoft.com/office/drawing/2014/main" id="{C58CD771-9E14-4A2E-87DE-89CBEF03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O(n)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features</a:t>
            </a:r>
          </a:p>
        </p:txBody>
      </p:sp>
      <p:sp>
        <p:nvSpPr>
          <p:cNvPr id="12" name="arch-node-2">
            <a:extLst xmlns:a="http://schemas.openxmlformats.org/drawingml/2006/main">
              <a:ext uri="{FF2B5EF4-FFF2-40B4-BE49-F238E27FC236}">
                <a16:creationId xmlns:a16="http://schemas.microsoft.com/office/drawing/2014/main" id="{CEECD03C-1285-4367-93E9-A88FF78E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16192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arch-node-2-title">
            <a:extLst xmlns:a="http://schemas.openxmlformats.org/drawingml/2006/main">
              <a:ext uri="{FF2B5EF4-FFF2-40B4-BE49-F238E27FC236}">
                <a16:creationId xmlns:a16="http://schemas.microsoft.com/office/drawing/2014/main" id="{346289C2-F2AC-4F02-ABD9-6576770A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XGBoost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selector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C56E3B8B-3D3D-4B16-9BF6-6C33A3CA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15240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8F0E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arch-node-3-title">
            <a:extLst xmlns:a="http://schemas.openxmlformats.org/drawingml/2006/main">
              <a:ext uri="{FF2B5EF4-FFF2-40B4-BE49-F238E27FC236}">
                <a16:creationId xmlns:a16="http://schemas.microsoft.com/office/drawing/2014/main" id="{94DEC399-8A8D-4C4B-8BF1-26A9B95D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chosen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algorithm</a:t>
            </a:r>
          </a:p>
        </p:txBody>
      </p:sp>
      <p:sp>
        <p:nvSpPr>
          <p:cNvPr id="16" name="arch-1-from">
            <a:extLst xmlns:a="http://schemas.openxmlformats.org/drawingml/2006/main">
              <a:ext uri="{FF2B5EF4-FFF2-40B4-BE49-F238E27FC236}">
                <a16:creationId xmlns:a16="http://schemas.microsoft.com/office/drawing/2014/main" id="{3378FF8D-E246-4790-B6F4-34A121F8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1-to">
            <a:extLst xmlns:a="http://schemas.openxmlformats.org/drawingml/2006/main">
              <a:ext uri="{FF2B5EF4-FFF2-40B4-BE49-F238E27FC236}">
                <a16:creationId xmlns:a16="http://schemas.microsoft.com/office/drawing/2014/main" id="{F3C33B67-34AF-498D-A92B-21AE52CA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1" name="arch-1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30194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arch-2-from">
            <a:extLst xmlns:a="http://schemas.openxmlformats.org/drawingml/2006/main">
              <a:ext uri="{FF2B5EF4-FFF2-40B4-BE49-F238E27FC236}">
                <a16:creationId xmlns:a16="http://schemas.microsoft.com/office/drawing/2014/main" id="{2B3CD332-6E9F-4A09-8DE3-7A56BF8A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2-to">
            <a:extLst xmlns:a="http://schemas.openxmlformats.org/drawingml/2006/main">
              <a:ext uri="{FF2B5EF4-FFF2-40B4-BE49-F238E27FC236}">
                <a16:creationId xmlns:a16="http://schemas.microsoft.com/office/drawing/2014/main" id="{12C27163-3127-4CD7-BF8F-4DDA5E13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arch-2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51149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2" name="arch-3-from">
            <a:extLst xmlns:a="http://schemas.openxmlformats.org/drawingml/2006/main">
              <a:ext uri="{FF2B5EF4-FFF2-40B4-BE49-F238E27FC236}">
                <a16:creationId xmlns:a16="http://schemas.microsoft.com/office/drawing/2014/main" id="{A7A4F2D6-12A0-454F-ADDD-B632B6EB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3-to">
            <a:extLst xmlns:a="http://schemas.openxmlformats.org/drawingml/2006/main">
              <a:ext uri="{FF2B5EF4-FFF2-40B4-BE49-F238E27FC236}">
                <a16:creationId xmlns:a16="http://schemas.microsoft.com/office/drawing/2014/main" id="{8F58ABB3-3686-425F-BAC4-19DF916D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arch-3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372350" y="33813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main-track">
            <a:extLst xmlns:a="http://schemas.openxmlformats.org/drawingml/2006/main">
              <a:ext uri="{FF2B5EF4-FFF2-40B4-BE49-F238E27FC236}">
                <a16:creationId xmlns:a16="http://schemas.microsoft.com/office/drawing/2014/main" id="{D526090B-DC00-4DF3-AFB1-B5EA6BDA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581150"/>
            <a:ext cx="27622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main-track-title">
            <a:extLst xmlns:a="http://schemas.openxmlformats.org/drawingml/2006/main">
              <a:ext uri="{FF2B5EF4-FFF2-40B4-BE49-F238E27FC236}">
                <a16:creationId xmlns:a16="http://schemas.microsoft.com/office/drawing/2014/main" id="{3E75CEA1-7492-4649-AD52-5431E576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335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Main track</a:t>
            </a:r>
          </a:p>
        </p:txBody>
      </p:sp>
      <p:sp>
        <p:nvSpPr>
          <p:cNvPr id="27" name="main-track-body">
            <a:extLst xmlns:a="http://schemas.openxmlformats.org/drawingml/2006/main">
              <a:ext uri="{FF2B5EF4-FFF2-40B4-BE49-F238E27FC236}">
                <a16:creationId xmlns:a16="http://schemas.microsoft.com/office/drawing/2014/main" id="{00DA01C8-EF16-41B4-A228-A8C1ACF7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0574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3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all domains • 3 algorithms</a:t>
            </a:r>
          </a:p>
        </p:txBody>
      </p:sp>
      <p:sp>
        <p:nvSpPr>
          <p:cNvPr id="28" name="predict">
            <a:extLst xmlns:a="http://schemas.openxmlformats.org/drawingml/2006/main">
              <a:ext uri="{FF2B5EF4-FFF2-40B4-BE49-F238E27FC236}">
                <a16:creationId xmlns:a16="http://schemas.microsoft.com/office/drawing/2014/main" id="{F30A687C-7A1D-4329-8D15-12260580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781300"/>
            <a:ext cx="27622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predict-title">
            <a:extLst xmlns:a="http://schemas.openxmlformats.org/drawingml/2006/main">
              <a:ext uri="{FF2B5EF4-FFF2-40B4-BE49-F238E27FC236}">
                <a16:creationId xmlns:a16="http://schemas.microsoft.com/office/drawing/2014/main" id="{771C2FC4-99FF-4A97-B27C-2FA6427F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9337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Prediction path</a:t>
            </a:r>
          </a:p>
        </p:txBody>
      </p:sp>
      <p:sp>
        <p:nvSpPr>
          <p:cNvPr id="30" name="predict-body">
            <a:extLst xmlns:a="http://schemas.openxmlformats.org/drawingml/2006/main">
              <a:ext uri="{FF2B5EF4-FFF2-40B4-BE49-F238E27FC236}">
                <a16:creationId xmlns:a16="http://schemas.microsoft.com/office/drawing/2014/main" id="{FE4C28C8-F0B3-4603-A513-385D4CF9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575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features → XGBoost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classifier</a:t>
            </a:r>
          </a:p>
        </p:txBody>
      </p:sp>
      <p:sp>
        <p:nvSpPr>
          <p:cNvPr id="31" name="separate">
            <a:extLst xmlns:a="http://schemas.openxmlformats.org/drawingml/2006/main">
              <a:ext uri="{FF2B5EF4-FFF2-40B4-BE49-F238E27FC236}">
                <a16:creationId xmlns:a16="http://schemas.microsoft.com/office/drawing/2014/main" id="{73847A74-9CC2-4B4C-B638-F392565D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71950"/>
            <a:ext cx="2762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separate-title">
            <a:extLst xmlns:a="http://schemas.openxmlformats.org/drawingml/2006/main">
              <a:ext uri="{FF2B5EF4-FFF2-40B4-BE49-F238E27FC236}">
                <a16:creationId xmlns:a16="http://schemas.microsoft.com/office/drawing/2014/main" id="{48DE089E-C9AC-4E95-9B6A-CBA0D4AA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3243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Separate track</a:t>
            </a:r>
          </a:p>
        </p:txBody>
      </p:sp>
      <p:sp>
        <p:nvSpPr>
          <p:cNvPr id="33" name="separate-body">
            <a:extLst xmlns:a="http://schemas.openxmlformats.org/drawingml/2006/main">
              <a:ext uri="{FF2B5EF4-FFF2-40B4-BE49-F238E27FC236}">
                <a16:creationId xmlns:a16="http://schemas.microsoft.com/office/drawing/2014/main" id="{D5170A68-A859-4487-A981-60B2C5B0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482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F1-specific routing stays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separate from the main result</a:t>
            </a:r>
          </a:p>
        </p:txBody>
      </p:sp>
    </p:spTree>
    <p:extLst>
      <p:ext uri="{BB962C8B-B14F-4D97-AF65-F5344CB8AC3E}">
        <p14:creationId xmlns:p14="http://schemas.microsoft.com/office/powerpoint/2010/main" val="1495867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6F37BCA4-33C6-404D-B11F-86DB008E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C50962AA-C14D-4875-8A02-8C21E296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778DBC83-FCF4-4681-979C-EBBB2974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6B036F-FAE5-4BD4-B1ED-C371914E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corpus uses five structurally diverse real-world domains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6719F31-B1E8-4FFD-B402-57C23AEC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405DEC1-4A4D-4B68-83BB-17BC71D6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6/28</a:t>
            </a:r>
          </a:p>
        </p:txBody>
      </p:sp>
      <p:sp>
        <p:nvSpPr>
          <p:cNvPr id="7" name="metric-1.18M-90">
            <a:extLst xmlns:a="http://schemas.openxmlformats.org/drawingml/2006/main">
              <a:ext uri="{FF2B5EF4-FFF2-40B4-BE49-F238E27FC236}">
                <a16:creationId xmlns:a16="http://schemas.microsoft.com/office/drawing/2014/main" id="{942F12EE-DE77-4407-BFB6-3136D52D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4765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511E"/>
                </a:solidFill>
              </a:defRPr>
            </a:pPr>
            <a:r>
              <a:rPr sz="3150" b="1">
                <a:solidFill>
                  <a:srgbClr val="F4511E"/>
                </a:solidFill>
              </a:rPr>
              <a:t>1.18M</a:t>
            </a:r>
          </a:p>
        </p:txBody>
      </p:sp>
      <p:sp>
        <p:nvSpPr>
          <p:cNvPr id="8" name="metric-label-1.18M-90">
            <a:extLst xmlns:a="http://schemas.openxmlformats.org/drawingml/2006/main">
              <a:ext uri="{FF2B5EF4-FFF2-40B4-BE49-F238E27FC236}">
                <a16:creationId xmlns:a16="http://schemas.microsoft.com/office/drawing/2014/main" id="{DD695018-2431-47FF-A336-E0E11EF2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9810"/>
            <a:ext cx="2476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labeled array instances</a:t>
            </a:r>
          </a:p>
        </p:txBody>
      </p:sp>
      <p:sp>
        <p:nvSpPr>
          <p:cNvPr id="9" name="domain-0">
            <a:extLst xmlns:a="http://schemas.openxmlformats.org/drawingml/2006/main">
              <a:ext uri="{FF2B5EF4-FFF2-40B4-BE49-F238E27FC236}">
                <a16:creationId xmlns:a16="http://schemas.microsoft.com/office/drawing/2014/main" id="{2FDBABFA-F7D6-403B-A052-53116891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domain-0-title">
            <a:extLst xmlns:a="http://schemas.openxmlformats.org/drawingml/2006/main">
              <a:ext uri="{FF2B5EF4-FFF2-40B4-BE49-F238E27FC236}">
                <a16:creationId xmlns:a16="http://schemas.microsoft.com/office/drawing/2014/main" id="{59EAE983-9BB4-4466-B7FF-B9A69115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Formula 1 telemetry</a:t>
            </a:r>
          </a:p>
        </p:txBody>
      </p:sp>
      <p:sp>
        <p:nvSpPr>
          <p:cNvPr id="11" name="domain-1">
            <a:extLst xmlns:a="http://schemas.openxmlformats.org/drawingml/2006/main">
              <a:ext uri="{FF2B5EF4-FFF2-40B4-BE49-F238E27FC236}">
                <a16:creationId xmlns:a16="http://schemas.microsoft.com/office/drawing/2014/main" id="{C486E480-0A2A-47F0-8A5F-134FE3DC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domain-1-title">
            <a:extLst xmlns:a="http://schemas.openxmlformats.org/drawingml/2006/main">
              <a:ext uri="{FF2B5EF4-FFF2-40B4-BE49-F238E27FC236}">
                <a16:creationId xmlns:a16="http://schemas.microsoft.com/office/drawing/2014/main" id="{CF886448-6700-4D9E-B4D7-670CE346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Equity prices</a:t>
            </a:r>
          </a:p>
        </p:txBody>
      </p:sp>
      <p:sp>
        <p:nvSpPr>
          <p:cNvPr id="13" name="domain-2">
            <a:extLst xmlns:a="http://schemas.openxmlformats.org/drawingml/2006/main">
              <a:ext uri="{FF2B5EF4-FFF2-40B4-BE49-F238E27FC236}">
                <a16:creationId xmlns:a16="http://schemas.microsoft.com/office/drawing/2014/main" id="{DD53D324-D379-418F-AFE3-77AE132C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domain-2-title">
            <a:extLst xmlns:a="http://schemas.openxmlformats.org/drawingml/2006/main">
              <a:ext uri="{FF2B5EF4-FFF2-40B4-BE49-F238E27FC236}">
                <a16:creationId xmlns:a16="http://schemas.microsoft.com/office/drawing/2014/main" id="{D3BD0795-C91A-4E63-BB2A-965F7607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Cryptocurrency OHLCV</a:t>
            </a:r>
          </a:p>
        </p:txBody>
      </p:sp>
      <p:sp>
        <p:nvSpPr>
          <p:cNvPr id="15" name="domain-3">
            <a:extLst xmlns:a="http://schemas.openxmlformats.org/drawingml/2006/main">
              <a:ext uri="{FF2B5EF4-FFF2-40B4-BE49-F238E27FC236}">
                <a16:creationId xmlns:a16="http://schemas.microsoft.com/office/drawing/2014/main" id="{86DB271A-210B-4160-B593-68BB6A2D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domain-3-title">
            <a:extLst xmlns:a="http://schemas.openxmlformats.org/drawingml/2006/main">
              <a:ext uri="{FF2B5EF4-FFF2-40B4-BE49-F238E27FC236}">
                <a16:creationId xmlns:a16="http://schemas.microsoft.com/office/drawing/2014/main" id="{7E1E2EB4-305E-4668-8308-F58FC2EF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Weather</a:t>
            </a:r>
          </a:p>
        </p:txBody>
      </p:sp>
      <p:sp>
        <p:nvSpPr>
          <p:cNvPr id="17" name="domain-4">
            <a:extLst xmlns:a="http://schemas.openxmlformats.org/drawingml/2006/main">
              <a:ext uri="{FF2B5EF4-FFF2-40B4-BE49-F238E27FC236}">
                <a16:creationId xmlns:a16="http://schemas.microsoft.com/office/drawing/2014/main" id="{EAA2F9DB-3A71-4388-92E4-6CE550AA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5775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domain-4-title">
            <a:extLst xmlns:a="http://schemas.openxmlformats.org/drawingml/2006/main">
              <a:ext uri="{FF2B5EF4-FFF2-40B4-BE49-F238E27FC236}">
                <a16:creationId xmlns:a16="http://schemas.microsoft.com/office/drawing/2014/main" id="{BA8A4744-3EEB-43ED-9980-344AC451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0101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Seismic measurements</a:t>
            </a:r>
          </a:p>
        </p:txBody>
      </p:sp>
      <p:sp>
        <p:nvSpPr>
          <p:cNvPr id="19" name="domain-note">
            <a:extLst xmlns:a="http://schemas.openxmlformats.org/drawingml/2006/main">
              <a:ext uri="{FF2B5EF4-FFF2-40B4-BE49-F238E27FC236}">
                <a16:creationId xmlns:a16="http://schemas.microsoft.com/office/drawing/2014/main" id="{901F546B-5511-464D-947A-7F7D3207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33412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Real data was preferred because synthetic distributions failed to converge to genuine structure.</a:t>
            </a:r>
          </a:p>
        </p:txBody>
      </p:sp>
    </p:spTree>
    <p:extLst>
      <p:ext uri="{BB962C8B-B14F-4D97-AF65-F5344CB8AC3E}">
        <p14:creationId xmlns:p14="http://schemas.microsoft.com/office/powerpoint/2010/main" val="2511773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F68730E7-22CD-427C-BC78-18ED9CCF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E2087C9D-6D6D-485F-BA6C-33EB3318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0BE562B-9C27-464A-ABED-6B33156C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CA5CFB-16D4-48AD-B2EC-637C8D9B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Leave-one-domain-out testing supports cross-domain robustness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DF3B2F7-5FC1-4990-BFB5-C90261D6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E9687E2-BF1A-4801-A052-F8EDE075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7/28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A8A8C7F5-86D4-4EC4-82E7-421A83D4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11430000" cy="4333875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holdout-axis">
            <a:extLst xmlns:a="http://schemas.openxmlformats.org/drawingml/2006/main">
              <a:ext uri="{FF2B5EF4-FFF2-40B4-BE49-F238E27FC236}">
                <a16:creationId xmlns:a16="http://schemas.microsoft.com/office/drawing/2014/main" id="{FC896DFA-22C9-4382-9918-8FAA25DE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14900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holdout-yaxis">
            <a:extLst xmlns:a="http://schemas.openxmlformats.org/drawingml/2006/main">
              <a:ext uri="{FF2B5EF4-FFF2-40B4-BE49-F238E27FC236}">
                <a16:creationId xmlns:a16="http://schemas.microsoft.com/office/drawing/2014/main" id="{24E859CE-87DB-479D-B8C1-414A95C6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86000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holdout-bar-0-0">
            <a:extLst xmlns:a="http://schemas.openxmlformats.org/drawingml/2006/main">
              <a:ext uri="{FF2B5EF4-FFF2-40B4-BE49-F238E27FC236}">
                <a16:creationId xmlns:a16="http://schemas.microsoft.com/office/drawing/2014/main" id="{931F6FCE-C96D-436D-852F-EA9BE2C1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1306"/>
            <a:ext cx="419100" cy="2083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oldout-val-0-0">
            <a:extLst xmlns:a="http://schemas.openxmlformats.org/drawingml/2006/main">
              <a:ext uri="{FF2B5EF4-FFF2-40B4-BE49-F238E27FC236}">
                <a16:creationId xmlns:a16="http://schemas.microsoft.com/office/drawing/2014/main" id="{CBF1358A-98E1-4A3E-9EBD-5CF396C1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8365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87.5%</a:t>
            </a:r>
          </a:p>
        </p:txBody>
      </p:sp>
      <p:sp>
        <p:nvSpPr>
          <p:cNvPr id="12" name="holdout-bar-0-1">
            <a:extLst xmlns:a="http://schemas.openxmlformats.org/drawingml/2006/main">
              <a:ext uri="{FF2B5EF4-FFF2-40B4-BE49-F238E27FC236}">
                <a16:creationId xmlns:a16="http://schemas.microsoft.com/office/drawing/2014/main" id="{B7336C37-BBCC-41BA-A02F-11C9DF5B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9394"/>
            <a:ext cx="419100" cy="214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oldout-val-0-1">
            <a:extLst xmlns:a="http://schemas.openxmlformats.org/drawingml/2006/main">
              <a:ext uri="{FF2B5EF4-FFF2-40B4-BE49-F238E27FC236}">
                <a16:creationId xmlns:a16="http://schemas.microsoft.com/office/drawing/2014/main" id="{6E8D6EF5-37B0-4334-8AF8-946004B3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2174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90.1%</a:t>
            </a:r>
          </a:p>
        </p:txBody>
      </p:sp>
      <p:sp>
        <p:nvSpPr>
          <p:cNvPr id="14" name="holdout-cat-0">
            <a:extLst xmlns:a="http://schemas.openxmlformats.org/drawingml/2006/main">
              <a:ext uri="{FF2B5EF4-FFF2-40B4-BE49-F238E27FC236}">
                <a16:creationId xmlns:a16="http://schemas.microsoft.com/office/drawing/2014/main" id="{3CA13F1B-EDC0-4640-B2C2-9781BAF3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Crypto</a:t>
            </a:r>
          </a:p>
        </p:txBody>
      </p:sp>
      <p:sp>
        <p:nvSpPr>
          <p:cNvPr id="15" name="holdout-bar-1-0">
            <a:extLst xmlns:a="http://schemas.openxmlformats.org/drawingml/2006/main">
              <a:ext uri="{FF2B5EF4-FFF2-40B4-BE49-F238E27FC236}">
                <a16:creationId xmlns:a16="http://schemas.microsoft.com/office/drawing/2014/main" id="{E12CC53C-DC3E-4B30-9AF0-DE058693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59894"/>
            <a:ext cx="419100" cy="1955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oldout-val-1-0">
            <a:extLst xmlns:a="http://schemas.openxmlformats.org/drawingml/2006/main">
              <a:ext uri="{FF2B5EF4-FFF2-40B4-BE49-F238E27FC236}">
                <a16:creationId xmlns:a16="http://schemas.microsoft.com/office/drawing/2014/main" id="{CB716F0C-6299-4AC0-9694-01D5816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271224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82.1%</a:t>
            </a:r>
          </a:p>
        </p:txBody>
      </p:sp>
      <p:sp>
        <p:nvSpPr>
          <p:cNvPr id="17" name="holdout-bar-1-1">
            <a:extLst xmlns:a="http://schemas.openxmlformats.org/drawingml/2006/main">
              <a:ext uri="{FF2B5EF4-FFF2-40B4-BE49-F238E27FC236}">
                <a16:creationId xmlns:a16="http://schemas.microsoft.com/office/drawing/2014/main" id="{EC394343-B678-4543-BC75-4332BC0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445" y="2652713"/>
            <a:ext cx="419100" cy="2262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oldout-val-1-1">
            <a:extLst xmlns:a="http://schemas.openxmlformats.org/drawingml/2006/main">
              <a:ext uri="{FF2B5EF4-FFF2-40B4-BE49-F238E27FC236}">
                <a16:creationId xmlns:a16="http://schemas.microsoft.com/office/drawing/2014/main" id="{BCA3552D-9CB6-409E-B95E-0A6713E1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240506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95.0%</a:t>
            </a:r>
          </a:p>
        </p:txBody>
      </p:sp>
      <p:sp>
        <p:nvSpPr>
          <p:cNvPr id="19" name="holdout-cat-1">
            <a:extLst xmlns:a="http://schemas.openxmlformats.org/drawingml/2006/main">
              <a:ext uri="{FF2B5EF4-FFF2-40B4-BE49-F238E27FC236}">
                <a16:creationId xmlns:a16="http://schemas.microsoft.com/office/drawing/2014/main" id="{84AFA76C-6303-4116-984A-25FBA19E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Earthquake</a:t>
            </a:r>
          </a:p>
        </p:txBody>
      </p:sp>
      <p:sp>
        <p:nvSpPr>
          <p:cNvPr id="20" name="holdout-bar-2-0">
            <a:extLst xmlns:a="http://schemas.openxmlformats.org/drawingml/2006/main">
              <a:ext uri="{FF2B5EF4-FFF2-40B4-BE49-F238E27FC236}">
                <a16:creationId xmlns:a16="http://schemas.microsoft.com/office/drawing/2014/main" id="{1D9953D6-B77F-407D-9CD8-6A1D353B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790" y="2800350"/>
            <a:ext cx="4191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oldout-val-2-0">
            <a:extLst xmlns:a="http://schemas.openxmlformats.org/drawingml/2006/main">
              <a:ext uri="{FF2B5EF4-FFF2-40B4-BE49-F238E27FC236}">
                <a16:creationId xmlns:a16="http://schemas.microsoft.com/office/drawing/2014/main" id="{10A57CFD-7855-4EA5-AC6D-EC55C5CA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240" y="25527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88.8%</a:t>
            </a:r>
          </a:p>
        </p:txBody>
      </p:sp>
      <p:sp>
        <p:nvSpPr>
          <p:cNvPr id="22" name="holdout-bar-2-1">
            <a:extLst xmlns:a="http://schemas.openxmlformats.org/drawingml/2006/main">
              <a:ext uri="{FF2B5EF4-FFF2-40B4-BE49-F238E27FC236}">
                <a16:creationId xmlns:a16="http://schemas.microsoft.com/office/drawing/2014/main" id="{855FC41A-AFC3-42C9-AD44-B4BE1FC4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515" y="3117056"/>
            <a:ext cx="419100" cy="17978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oldout-val-2-1">
            <a:extLst xmlns:a="http://schemas.openxmlformats.org/drawingml/2006/main">
              <a:ext uri="{FF2B5EF4-FFF2-40B4-BE49-F238E27FC236}">
                <a16:creationId xmlns:a16="http://schemas.microsoft.com/office/drawing/2014/main" id="{51F36A57-9EFB-4851-A7B1-8B06E7A6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965" y="286940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75.5%</a:t>
            </a:r>
          </a:p>
        </p:txBody>
      </p:sp>
      <p:sp>
        <p:nvSpPr>
          <p:cNvPr id="24" name="holdout-cat-2">
            <a:extLst xmlns:a="http://schemas.openxmlformats.org/drawingml/2006/main">
              <a:ext uri="{FF2B5EF4-FFF2-40B4-BE49-F238E27FC236}">
                <a16:creationId xmlns:a16="http://schemas.microsoft.com/office/drawing/2014/main" id="{BEFC77B3-8265-4107-9116-253C870C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59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F1</a:t>
            </a:r>
          </a:p>
        </p:txBody>
      </p:sp>
      <p:sp>
        <p:nvSpPr>
          <p:cNvPr id="25" name="holdout-bar-3-0">
            <a:extLst xmlns:a="http://schemas.openxmlformats.org/drawingml/2006/main">
              <a:ext uri="{FF2B5EF4-FFF2-40B4-BE49-F238E27FC236}">
                <a16:creationId xmlns:a16="http://schemas.microsoft.com/office/drawing/2014/main" id="{A05212DA-18EE-4619-A144-C4B7FE9F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2819400"/>
            <a:ext cx="419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oldout-val-3-0">
            <a:extLst xmlns:a="http://schemas.openxmlformats.org/drawingml/2006/main">
              <a:ext uri="{FF2B5EF4-FFF2-40B4-BE49-F238E27FC236}">
                <a16:creationId xmlns:a16="http://schemas.microsoft.com/office/drawing/2014/main" id="{403CA306-9D3E-4B4B-84EB-E6797ACA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310" y="25717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88.0%</a:t>
            </a:r>
          </a:p>
        </p:txBody>
      </p:sp>
      <p:sp>
        <p:nvSpPr>
          <p:cNvPr id="27" name="holdout-bar-3-1">
            <a:extLst xmlns:a="http://schemas.openxmlformats.org/drawingml/2006/main">
              <a:ext uri="{FF2B5EF4-FFF2-40B4-BE49-F238E27FC236}">
                <a16:creationId xmlns:a16="http://schemas.microsoft.com/office/drawing/2014/main" id="{68F777C0-6E73-4B72-A2DB-084312D4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755106"/>
            <a:ext cx="419100" cy="2159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oldout-val-3-1">
            <a:extLst xmlns:a="http://schemas.openxmlformats.org/drawingml/2006/main">
              <a:ext uri="{FF2B5EF4-FFF2-40B4-BE49-F238E27FC236}">
                <a16:creationId xmlns:a16="http://schemas.microsoft.com/office/drawing/2014/main" id="{12CAD3E3-7D21-45D6-8932-53D9FBF7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035" y="250745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90.7%</a:t>
            </a:r>
          </a:p>
        </p:txBody>
      </p:sp>
      <p:sp>
        <p:nvSpPr>
          <p:cNvPr id="29" name="holdout-cat-3">
            <a:extLst xmlns:a="http://schemas.openxmlformats.org/drawingml/2006/main">
              <a:ext uri="{FF2B5EF4-FFF2-40B4-BE49-F238E27FC236}">
                <a16:creationId xmlns:a16="http://schemas.microsoft.com/office/drawing/2014/main" id="{F0B656ED-0DB5-4E2A-9C36-3B2FBEEB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66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Stock</a:t>
            </a:r>
          </a:p>
        </p:txBody>
      </p:sp>
      <p:sp>
        <p:nvSpPr>
          <p:cNvPr id="30" name="holdout-bar-4-0">
            <a:extLst xmlns:a="http://schemas.openxmlformats.org/drawingml/2006/main">
              <a:ext uri="{FF2B5EF4-FFF2-40B4-BE49-F238E27FC236}">
                <a16:creationId xmlns:a16="http://schemas.microsoft.com/office/drawing/2014/main" id="{8397FF26-4510-4AA5-AA05-2D101332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930" y="3471863"/>
            <a:ext cx="419100" cy="1443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oldout-val-4-0">
            <a:extLst xmlns:a="http://schemas.openxmlformats.org/drawingml/2006/main">
              <a:ext uri="{FF2B5EF4-FFF2-40B4-BE49-F238E27FC236}">
                <a16:creationId xmlns:a16="http://schemas.microsoft.com/office/drawing/2014/main" id="{F4CE49AA-FA71-4409-9C1A-BEF90EB4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322421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60.6%</a:t>
            </a:r>
          </a:p>
        </p:txBody>
      </p:sp>
      <p:sp>
        <p:nvSpPr>
          <p:cNvPr id="32" name="holdout-bar-4-1">
            <a:extLst xmlns:a="http://schemas.openxmlformats.org/drawingml/2006/main">
              <a:ext uri="{FF2B5EF4-FFF2-40B4-BE49-F238E27FC236}">
                <a16:creationId xmlns:a16="http://schemas.microsoft.com/office/drawing/2014/main" id="{35F1822A-C6B4-4E84-A146-87BED4B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655" y="2778919"/>
            <a:ext cx="419100" cy="2135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oldout-val-4-1">
            <a:extLst xmlns:a="http://schemas.openxmlformats.org/drawingml/2006/main">
              <a:ext uri="{FF2B5EF4-FFF2-40B4-BE49-F238E27FC236}">
                <a16:creationId xmlns:a16="http://schemas.microsoft.com/office/drawing/2014/main" id="{C83F062C-C803-430C-91A0-37A6B85D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105" y="2531269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89.7%</a:t>
            </a:r>
          </a:p>
        </p:txBody>
      </p:sp>
      <p:sp>
        <p:nvSpPr>
          <p:cNvPr id="34" name="holdout-cat-4">
            <a:extLst xmlns:a="http://schemas.openxmlformats.org/drawingml/2006/main">
              <a:ext uri="{FF2B5EF4-FFF2-40B4-BE49-F238E27FC236}">
                <a16:creationId xmlns:a16="http://schemas.microsoft.com/office/drawing/2014/main" id="{CFEB6CB1-A1B5-42F3-907A-C1097F9D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4991100"/>
            <a:ext cx="1703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Weather</a:t>
            </a:r>
          </a:p>
        </p:txBody>
      </p:sp>
      <p:sp>
        <p:nvSpPr>
          <p:cNvPr id="35" name="legend-a">
            <a:extLst xmlns:a="http://schemas.openxmlformats.org/drawingml/2006/main">
              <a:ext uri="{FF2B5EF4-FFF2-40B4-BE49-F238E27FC236}">
                <a16:creationId xmlns:a16="http://schemas.microsoft.com/office/drawing/2014/main" id="{B38E1652-D3D6-4C2D-B322-E98B5508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669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9BD5"/>
                </a:solidFill>
              </a:defRPr>
            </a:pPr>
            <a:r>
              <a:rPr sz="1125">
                <a:solidFill>
                  <a:srgbClr val="5B9BD5"/>
                </a:solidFill>
              </a:rPr>
              <a:t>accuracy</a:t>
            </a:r>
          </a:p>
        </p:txBody>
      </p:sp>
      <p:sp>
        <p:nvSpPr>
          <p:cNvPr id="36" name="legend-b">
            <a:extLst xmlns:a="http://schemas.openxmlformats.org/drawingml/2006/main">
              <a:ext uri="{FF2B5EF4-FFF2-40B4-BE49-F238E27FC236}">
                <a16:creationId xmlns:a16="http://schemas.microsoft.com/office/drawing/2014/main" id="{4CDA7A2E-7200-4D65-B10A-6F8416EE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14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F4511E"/>
                </a:solidFill>
              </a:defRPr>
            </a:pPr>
            <a:r>
              <a:rPr sz="1125">
                <a:solidFill>
                  <a:srgbClr val="F4511E"/>
                </a:solidFill>
              </a:rPr>
              <a:t>gap closed</a:t>
            </a:r>
          </a:p>
        </p:txBody>
      </p:sp>
    </p:spTree>
    <p:extLst>
      <p:ext uri="{BB962C8B-B14F-4D97-AF65-F5344CB8AC3E}">
        <p14:creationId xmlns:p14="http://schemas.microsoft.com/office/powerpoint/2010/main" val="1504081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547D1607-FFA6-4B04-996E-BC380333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0EBA5C5-C289-4485-B668-66037C0D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1172C94E-2AD9-45F7-9F00-4AD26F0E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FFE75B-0188-4477-B03A-B08596C3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Five real domains, five different numeric traces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771633-A0F8-4116-8B08-8AE8CF94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6E7B825-D4CD-4AA4-B6A8-E843E269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8/28</a:t>
            </a:r>
          </a:p>
        </p:txBody>
      </p:sp>
      <p:sp>
        <p:nvSpPr>
          <p:cNvPr id="7" name="sample-n-0">
            <a:extLst xmlns:a="http://schemas.openxmlformats.org/drawingml/2006/main">
              <a:ext uri="{FF2B5EF4-FFF2-40B4-BE49-F238E27FC236}">
                <a16:creationId xmlns:a16="http://schemas.microsoft.com/office/drawing/2014/main" id="{69294AEC-0730-44F5-86D5-F3345C98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192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sample-row-0">
            <a:extLst xmlns:a="http://schemas.openxmlformats.org/drawingml/2006/main">
              <a:ext uri="{FF2B5EF4-FFF2-40B4-BE49-F238E27FC236}">
                <a16:creationId xmlns:a16="http://schemas.microsoft.com/office/drawing/2014/main" id="{6F9FB753-B91D-4DA3-AD1E-DA5F5771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002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Stock market: </a:t>
            </a:r>
            <a:r>
              <a:rPr>
                <a:solidFill>
                  <a:srgbClr val="171717"/>
                </a:solidFill>
              </a:rPr>
              <a:t>[5.873, 5.919, 5.968, 5.974, 6.021, 6.044, 6.081, 6.114, 6.156, 6.203]</a:t>
            </a:r>
          </a:p>
        </p:txBody>
      </p:sp>
      <p:sp>
        <p:nvSpPr>
          <p:cNvPr id="9" name="sample-line-0">
            <a:extLst xmlns:a="http://schemas.openxmlformats.org/drawingml/2006/main">
              <a:ext uri="{FF2B5EF4-FFF2-40B4-BE49-F238E27FC236}">
                <a16:creationId xmlns:a16="http://schemas.microsoft.com/office/drawing/2014/main" id="{1E43630C-E9AB-4BB3-92DA-A4FCAD6C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526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sample-n-1">
            <a:extLst xmlns:a="http://schemas.openxmlformats.org/drawingml/2006/main">
              <a:ext uri="{FF2B5EF4-FFF2-40B4-BE49-F238E27FC236}">
                <a16:creationId xmlns:a16="http://schemas.microsoft.com/office/drawing/2014/main" id="{6DC1CDDE-A116-4C3A-9660-9E0E8239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0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sample-row-1">
            <a:extLst xmlns:a="http://schemas.openxmlformats.org/drawingml/2006/main">
              <a:ext uri="{FF2B5EF4-FFF2-40B4-BE49-F238E27FC236}">
                <a16:creationId xmlns:a16="http://schemas.microsoft.com/office/drawing/2014/main" id="{49512A14-D8F8-4860-AF81-8387F130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908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Cryptocurrency: </a:t>
            </a:r>
            <a:r>
              <a:rPr>
                <a:solidFill>
                  <a:srgbClr val="171717"/>
                </a:solidFill>
              </a:rPr>
              <a:t>[0.0009, 0.0005, 0.0002, -0.0003, 0.0001, 0.0007, -0.0002, 0.0010, 0.0004, -0.0001]</a:t>
            </a:r>
          </a:p>
        </p:txBody>
      </p:sp>
      <p:sp>
        <p:nvSpPr>
          <p:cNvPr id="12" name="sample-line-1">
            <a:extLst xmlns:a="http://schemas.openxmlformats.org/drawingml/2006/main">
              <a:ext uri="{FF2B5EF4-FFF2-40B4-BE49-F238E27FC236}">
                <a16:creationId xmlns:a16="http://schemas.microsoft.com/office/drawing/2014/main" id="{6E4511CB-CCD7-4C99-B63E-1A9543F6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sample-n-2">
            <a:extLst xmlns:a="http://schemas.openxmlformats.org/drawingml/2006/main">
              <a:ext uri="{FF2B5EF4-FFF2-40B4-BE49-F238E27FC236}">
                <a16:creationId xmlns:a16="http://schemas.microsoft.com/office/drawing/2014/main" id="{5D9A7B20-425A-4492-9E55-B7B491DA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004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sample-row-2">
            <a:extLst xmlns:a="http://schemas.openxmlformats.org/drawingml/2006/main">
              <a:ext uri="{FF2B5EF4-FFF2-40B4-BE49-F238E27FC236}">
                <a16:creationId xmlns:a16="http://schemas.microsoft.com/office/drawing/2014/main" id="{A374C175-62C5-405A-936E-2D6F8656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814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Weather: </a:t>
            </a:r>
            <a:r>
              <a:rPr>
                <a:solidFill>
                  <a:srgbClr val="171717"/>
                </a:solidFill>
              </a:rPr>
              <a:t>[3.389, 3.385, 3.341, 3.269, 3.164, 3.201, 3.244, 3.302, 3.355, 3.410]</a:t>
            </a:r>
          </a:p>
        </p:txBody>
      </p:sp>
      <p:sp>
        <p:nvSpPr>
          <p:cNvPr id="15" name="sample-line-2">
            <a:extLst xmlns:a="http://schemas.openxmlformats.org/drawingml/2006/main">
              <a:ext uri="{FF2B5EF4-FFF2-40B4-BE49-F238E27FC236}">
                <a16:creationId xmlns:a16="http://schemas.microsoft.com/office/drawing/2014/main" id="{7E7667CB-B8FB-401E-A69D-DB0DE1DD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338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6" name="sample-n-3">
            <a:extLst xmlns:a="http://schemas.openxmlformats.org/drawingml/2006/main">
              <a:ext uri="{FF2B5EF4-FFF2-40B4-BE49-F238E27FC236}">
                <a16:creationId xmlns:a16="http://schemas.microsoft.com/office/drawing/2014/main" id="{16139ECA-B34A-4F24-AE7A-940323E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910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7" name="sample-row-3">
            <a:extLst xmlns:a="http://schemas.openxmlformats.org/drawingml/2006/main">
              <a:ext uri="{FF2B5EF4-FFF2-40B4-BE49-F238E27FC236}">
                <a16:creationId xmlns:a16="http://schemas.microsoft.com/office/drawing/2014/main" id="{A06ADDE0-8E9B-44E7-81A2-63A17AB4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720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Formula 1 telemetry: </a:t>
            </a:r>
            <a:r>
              <a:rPr>
                <a:solidFill>
                  <a:srgbClr val="171717"/>
                </a:solidFill>
              </a:rPr>
              <a:t>[0.0797, 12.79, 28.74, 51.06, 79.76, 108.46, 141.30, 172.55, 201.10, 238.42]</a:t>
            </a:r>
          </a:p>
        </p:txBody>
      </p:sp>
      <p:sp>
        <p:nvSpPr>
          <p:cNvPr id="18" name="sample-line-3">
            <a:extLst xmlns:a="http://schemas.openxmlformats.org/drawingml/2006/main">
              <a:ext uri="{FF2B5EF4-FFF2-40B4-BE49-F238E27FC236}">
                <a16:creationId xmlns:a16="http://schemas.microsoft.com/office/drawing/2014/main" id="{D1F2D143-C138-4822-AED8-DD6D7C6F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244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9" name="sample-n-4">
            <a:extLst xmlns:a="http://schemas.openxmlformats.org/drawingml/2006/main">
              <a:ext uri="{FF2B5EF4-FFF2-40B4-BE49-F238E27FC236}">
                <a16:creationId xmlns:a16="http://schemas.microsoft.com/office/drawing/2014/main" id="{6F6C55AF-6168-44C3-9212-DBA617CF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816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0" name="sample-row-4">
            <a:extLst xmlns:a="http://schemas.openxmlformats.org/drawingml/2006/main">
              <a:ext uri="{FF2B5EF4-FFF2-40B4-BE49-F238E27FC236}">
                <a16:creationId xmlns:a16="http://schemas.microsoft.com/office/drawing/2014/main" id="{1801B881-9268-4F21-A88B-D021C21E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626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Seismic events: </a:t>
            </a:r>
            <a:r>
              <a:rPr>
                <a:solidFill>
                  <a:srgbClr val="171717"/>
                </a:solidFill>
              </a:rPr>
              <a:t>[37.83, 34.02, 36.10, 35.95, 33.54, 36.80, 38.21, 35.12, 34.88, 36.42]</a:t>
            </a:r>
          </a:p>
        </p:txBody>
      </p:sp>
      <p:sp>
        <p:nvSpPr>
          <p:cNvPr id="21" name="sample-line-4">
            <a:extLst xmlns:a="http://schemas.openxmlformats.org/drawingml/2006/main">
              <a:ext uri="{FF2B5EF4-FFF2-40B4-BE49-F238E27FC236}">
                <a16:creationId xmlns:a16="http://schemas.microsoft.com/office/drawing/2014/main" id="{A2DC2074-B57B-42C2-9D78-63DD9C60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150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42240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1B587512-86FD-4ED2-81DD-C05380A3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77897ACA-683A-49CA-BCE2-98308535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30232CB3-9DEA-47AD-A42D-EDDC3998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D84507-D1EE-4AD2-AFCA-DB12AA72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Sixteen O(n) structural features characterise each array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63EAEC6-6A98-4538-A076-2639439A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B95219D-0915-4FDE-8AF1-0F88E9F6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9/28</a:t>
            </a:r>
          </a:p>
        </p:txBody>
      </p:sp>
      <p:sp>
        <p:nvSpPr>
          <p:cNvPr id="7" name="flow">
            <a:extLst xmlns:a="http://schemas.openxmlformats.org/drawingml/2006/main">
              <a:ext uri="{FF2B5EF4-FFF2-40B4-BE49-F238E27FC236}">
                <a16:creationId xmlns:a16="http://schemas.microsoft.com/office/drawing/2014/main" id="{4872738B-17F3-4CD9-A962-50D56D6B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371475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low-0">
            <a:extLst xmlns:a="http://schemas.openxmlformats.org/drawingml/2006/main">
              <a:ext uri="{FF2B5EF4-FFF2-40B4-BE49-F238E27FC236}">
                <a16:creationId xmlns:a16="http://schemas.microsoft.com/office/drawing/2014/main" id="{7F0C4F0E-3466-4393-A32E-9079E2DE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0-title">
            <a:extLst xmlns:a="http://schemas.openxmlformats.org/drawingml/2006/main">
              <a:ext uri="{FF2B5EF4-FFF2-40B4-BE49-F238E27FC236}">
                <a16:creationId xmlns:a16="http://schemas.microsoft.com/office/drawing/2014/main" id="{010CCCB5-B9D8-4DFD-8E21-57F8C67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002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Raw array</a:t>
            </a:r>
          </a:p>
        </p:txBody>
      </p:sp>
      <p:sp>
        <p:nvSpPr>
          <p:cNvPr id="10" name="flow-arrow-0-from">
            <a:extLst xmlns:a="http://schemas.openxmlformats.org/drawingml/2006/main">
              <a:ext uri="{FF2B5EF4-FFF2-40B4-BE49-F238E27FC236}">
                <a16:creationId xmlns:a16="http://schemas.microsoft.com/office/drawing/2014/main" id="{7DED6738-4D6F-4B6B-841B-53C228E0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arrow-0-to">
            <a:extLst xmlns:a="http://schemas.openxmlformats.org/drawingml/2006/main">
              <a:ext uri="{FF2B5EF4-FFF2-40B4-BE49-F238E27FC236}">
                <a16:creationId xmlns:a16="http://schemas.microsoft.com/office/drawing/2014/main" id="{D46B6F00-0599-471D-9158-FEB04B2B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52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flow-arrow-0"/>
          <p:cNvCxnSpPr>
            <a:stCxn xmlns:a="http://schemas.openxmlformats.org/drawingml/2006/main" id="10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2343150" y="25717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3" name="flow-1">
            <a:extLst xmlns:a="http://schemas.openxmlformats.org/drawingml/2006/main">
              <a:ext uri="{FF2B5EF4-FFF2-40B4-BE49-F238E27FC236}">
                <a16:creationId xmlns:a16="http://schemas.microsoft.com/office/drawing/2014/main" id="{4FCC81E4-F155-49BC-9F7B-80191957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7E9D57A0-3225-47E3-B60E-8280C253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813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Structural scan</a:t>
            </a:r>
          </a:p>
        </p:txBody>
      </p:sp>
      <p:sp>
        <p:nvSpPr>
          <p:cNvPr id="15" name="flow-arrow-1-from">
            <a:extLst xmlns:a="http://schemas.openxmlformats.org/drawingml/2006/main">
              <a:ext uri="{FF2B5EF4-FFF2-40B4-BE49-F238E27FC236}">
                <a16:creationId xmlns:a16="http://schemas.microsoft.com/office/drawing/2014/main" id="{DAC3F057-4609-4FC0-A7EA-5A5B3B8A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623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arrow-1-to">
            <a:extLst xmlns:a="http://schemas.openxmlformats.org/drawingml/2006/main">
              <a:ext uri="{FF2B5EF4-FFF2-40B4-BE49-F238E27FC236}">
                <a16:creationId xmlns:a16="http://schemas.microsoft.com/office/drawing/2014/main" id="{F42C2BBD-F79B-43EC-B9C1-09B3BFB1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9" name="flow-arrow-1"/>
          <p:cNvCxnSpPr>
            <a:stCxn xmlns:a="http://schemas.openxmlformats.org/drawingml/2006/main" id="15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2343150" y="33528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8" name="flow-2">
            <a:extLst xmlns:a="http://schemas.openxmlformats.org/drawingml/2006/main">
              <a:ext uri="{FF2B5EF4-FFF2-40B4-BE49-F238E27FC236}">
                <a16:creationId xmlns:a16="http://schemas.microsoft.com/office/drawing/2014/main" id="{0E95F0C3-F2AF-44B1-8973-369D5DBE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9B47D76F-C0BD-47AD-AC7E-C84D5AFE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62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Feature vector</a:t>
            </a:r>
          </a:p>
        </p:txBody>
      </p:sp>
      <p:sp>
        <p:nvSpPr>
          <p:cNvPr id="20" name="flow-arrow-2-from">
            <a:extLst xmlns:a="http://schemas.openxmlformats.org/drawingml/2006/main">
              <a:ext uri="{FF2B5EF4-FFF2-40B4-BE49-F238E27FC236}">
                <a16:creationId xmlns:a16="http://schemas.microsoft.com/office/drawing/2014/main" id="{D3D05D93-C83F-4B3B-986D-F77921E9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434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arrow-2-to">
            <a:extLst xmlns:a="http://schemas.openxmlformats.org/drawingml/2006/main">
              <a:ext uri="{FF2B5EF4-FFF2-40B4-BE49-F238E27FC236}">
                <a16:creationId xmlns:a16="http://schemas.microsoft.com/office/drawing/2014/main" id="{4743C2D3-0748-4FF7-A097-A28EC61B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4" name="flow-arrow-2"/>
          <p:cNvCxnSpPr>
            <a:stCxn xmlns:a="http://schemas.openxmlformats.org/drawingml/2006/main" id="20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2343150" y="41338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23" name="flow-3">
            <a:extLst xmlns:a="http://schemas.openxmlformats.org/drawingml/2006/main">
              <a:ext uri="{FF2B5EF4-FFF2-40B4-BE49-F238E27FC236}">
                <a16:creationId xmlns:a16="http://schemas.microsoft.com/office/drawing/2014/main" id="{E50C0856-35D0-4F6B-AB61-F7AB930C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910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D4C954D1-8AAA-4837-8DEA-77779B4C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434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Model input</a:t>
            </a:r>
          </a:p>
        </p:txBody>
      </p:sp>
      <p:sp>
        <p:nvSpPr>
          <p:cNvPr id="25" name="feature-core">
            <a:extLst xmlns:a="http://schemas.openxmlformats.org/drawingml/2006/main">
              <a:ext uri="{FF2B5EF4-FFF2-40B4-BE49-F238E27FC236}">
                <a16:creationId xmlns:a16="http://schemas.microsoft.com/office/drawing/2014/main" id="{EA2349E0-3EB4-4D38-B3B0-ED64D16F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952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feature-core-title">
            <a:extLst xmlns:a="http://schemas.openxmlformats.org/drawingml/2006/main">
              <a:ext uri="{FF2B5EF4-FFF2-40B4-BE49-F238E27FC236}">
                <a16:creationId xmlns:a16="http://schemas.microsoft.com/office/drawing/2014/main" id="{8773C304-0F7D-48FC-B757-BAEB5CCB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47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x ∈ R^16</a:t>
            </a:r>
          </a:p>
        </p:txBody>
      </p:sp>
      <p:sp>
        <p:nvSpPr>
          <p:cNvPr id="27" name="flow-core-from">
            <a:extLst xmlns:a="http://schemas.openxmlformats.org/drawingml/2006/main">
              <a:ext uri="{FF2B5EF4-FFF2-40B4-BE49-F238E27FC236}">
                <a16:creationId xmlns:a16="http://schemas.microsoft.com/office/drawing/2014/main" id="{7D9CEB47-7903-4CD1-A2FB-85E5A1D1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low-core-to">
            <a:extLst xmlns:a="http://schemas.openxmlformats.org/drawingml/2006/main">
              <a:ext uri="{FF2B5EF4-FFF2-40B4-BE49-F238E27FC236}">
                <a16:creationId xmlns:a16="http://schemas.microsoft.com/office/drawing/2014/main" id="{02490998-6B3C-4AA2-8422-8634865B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86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1" name="flow-core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3114675" y="32956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30" name="fg-0">
            <a:extLst xmlns:a="http://schemas.openxmlformats.org/drawingml/2006/main">
              <a:ext uri="{FF2B5EF4-FFF2-40B4-BE49-F238E27FC236}">
                <a16:creationId xmlns:a16="http://schemas.microsoft.com/office/drawing/2014/main" id="{61B77F5B-3A5C-46A2-9ED9-DF36570E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6212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fg-0-title">
            <a:extLst xmlns:a="http://schemas.openxmlformats.org/drawingml/2006/main">
              <a:ext uri="{FF2B5EF4-FFF2-40B4-BE49-F238E27FC236}">
                <a16:creationId xmlns:a16="http://schemas.microsoft.com/office/drawing/2014/main" id="{73ABD974-A14D-4737-BA76-A28ABF89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14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Size</a:t>
            </a:r>
          </a:p>
        </p:txBody>
      </p:sp>
      <p:sp>
        <p:nvSpPr>
          <p:cNvPr id="32" name="fg-0-body">
            <a:extLst xmlns:a="http://schemas.openxmlformats.org/drawingml/2006/main">
              <a:ext uri="{FF2B5EF4-FFF2-40B4-BE49-F238E27FC236}">
                <a16:creationId xmlns:a16="http://schemas.microsoft.com/office/drawing/2014/main" id="{DD01D50E-9666-4A1A-B1E8-4E1E84B5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38375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length_norm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size effects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cache / constants</a:t>
            </a:r>
          </a:p>
        </p:txBody>
      </p:sp>
      <p:sp>
        <p:nvSpPr>
          <p:cNvPr id="33" name="fg-1">
            <a:extLst xmlns:a="http://schemas.openxmlformats.org/drawingml/2006/main">
              <a:ext uri="{FF2B5EF4-FFF2-40B4-BE49-F238E27FC236}">
                <a16:creationId xmlns:a16="http://schemas.microsoft.com/office/drawing/2014/main" id="{B0BDB76C-F143-4812-B855-4A188E53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fg-1-title">
            <a:extLst xmlns:a="http://schemas.openxmlformats.org/drawingml/2006/main">
              <a:ext uri="{FF2B5EF4-FFF2-40B4-BE49-F238E27FC236}">
                <a16:creationId xmlns:a16="http://schemas.microsoft.com/office/drawing/2014/main" id="{DD15A39E-34DF-4086-865C-43A1EA1B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14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Ordering</a:t>
            </a:r>
          </a:p>
        </p:txBody>
      </p:sp>
      <p:sp>
        <p:nvSpPr>
          <p:cNvPr id="35" name="fg-1-body">
            <a:extLst xmlns:a="http://schemas.openxmlformats.org/drawingml/2006/main">
              <a:ext uri="{FF2B5EF4-FFF2-40B4-BE49-F238E27FC236}">
                <a16:creationId xmlns:a16="http://schemas.microsoft.com/office/drawing/2014/main" id="{920F8F64-655E-4732-B387-07EABBF0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38375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adj_sorted_ratio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runs_ratio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inversion_ratio</a:t>
            </a:r>
          </a:p>
        </p:txBody>
      </p:sp>
      <p:sp>
        <p:nvSpPr>
          <p:cNvPr id="36" name="fg-2">
            <a:extLst xmlns:a="http://schemas.openxmlformats.org/drawingml/2006/main">
              <a:ext uri="{FF2B5EF4-FFF2-40B4-BE49-F238E27FC236}">
                <a16:creationId xmlns:a16="http://schemas.microsoft.com/office/drawing/2014/main" id="{0000C4CE-7B2A-4C3A-BD68-937D4CDF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fg-2-title">
            <a:extLst xmlns:a="http://schemas.openxmlformats.org/drawingml/2006/main">
              <a:ext uri="{FF2B5EF4-FFF2-40B4-BE49-F238E27FC236}">
                <a16:creationId xmlns:a16="http://schemas.microsoft.com/office/drawing/2014/main" id="{415F3149-36C6-4065-A606-4B8F3894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Repetition</a:t>
            </a:r>
          </a:p>
        </p:txBody>
      </p:sp>
      <p:sp>
        <p:nvSpPr>
          <p:cNvPr id="38" name="fg-2-body">
            <a:extLst xmlns:a="http://schemas.openxmlformats.org/drawingml/2006/main">
              <a:ext uri="{FF2B5EF4-FFF2-40B4-BE49-F238E27FC236}">
                <a16:creationId xmlns:a16="http://schemas.microsoft.com/office/drawing/2014/main" id="{D90908A7-B377-47F1-9415-177C7B28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00500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duplicate_ratio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top1_freq_ratio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top5_freq_ratio</a:t>
            </a:r>
          </a:p>
        </p:txBody>
      </p:sp>
      <p:sp>
        <p:nvSpPr>
          <p:cNvPr id="39" name="fg-3">
            <a:extLst xmlns:a="http://schemas.openxmlformats.org/drawingml/2006/main">
              <a:ext uri="{FF2B5EF4-FFF2-40B4-BE49-F238E27FC236}">
                <a16:creationId xmlns:a16="http://schemas.microsoft.com/office/drawing/2014/main" id="{D204F37D-F654-41A4-9ED0-EA64F0D9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0" name="fg-3-title">
            <a:extLst xmlns:a="http://schemas.openxmlformats.org/drawingml/2006/main">
              <a:ext uri="{FF2B5EF4-FFF2-40B4-BE49-F238E27FC236}">
                <a16:creationId xmlns:a16="http://schemas.microsoft.com/office/drawing/2014/main" id="{91058A75-DCBD-433F-9BAC-5C6D35DB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Distribution</a:t>
            </a:r>
          </a:p>
        </p:txBody>
      </p:sp>
      <p:sp>
        <p:nvSpPr>
          <p:cNvPr id="41" name="fg-3-body">
            <a:extLst xmlns:a="http://schemas.openxmlformats.org/drawingml/2006/main">
              <a:ext uri="{FF2B5EF4-FFF2-40B4-BE49-F238E27FC236}">
                <a16:creationId xmlns:a16="http://schemas.microsoft.com/office/drawing/2014/main" id="{D4EB80C5-649A-4B0A-A2FF-6CECA595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entropy_ratio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skewness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outlier_ratio</a:t>
            </a:r>
          </a:p>
        </p:txBody>
      </p:sp>
      <p:sp>
        <p:nvSpPr>
          <p:cNvPr id="42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80149B01-7298-4C71-97B1-67385287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834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A single canonical feature extractor is shared across data generation, training, and inference.</a:t>
            </a:r>
          </a:p>
        </p:txBody>
      </p:sp>
    </p:spTree>
    <p:extLst>
      <p:ext uri="{BB962C8B-B14F-4D97-AF65-F5344CB8AC3E}">
        <p14:creationId xmlns:p14="http://schemas.microsoft.com/office/powerpoint/2010/main" val="1878654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66DA5A8C-F136-41F7-AC2F-A2FF4ECC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EDEC46C1-48D0-4C4F-A0B8-5D4137C4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F7E41C77-6C0C-4932-A167-1483E391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C96BA9-F356-40B0-B159-0B0842D5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Feature importance follows structural sorting signals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FF9213C-DD09-4873-AB65-ADF54A83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2C5C8DE-83B4-48EE-9859-5DEE0375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10/28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5E975E63-73B7-4D54-859E-F98CF490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11715750" cy="44767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i-name-0">
            <a:extLst xmlns:a="http://schemas.openxmlformats.org/drawingml/2006/main">
              <a:ext uri="{FF2B5EF4-FFF2-40B4-BE49-F238E27FC236}">
                <a16:creationId xmlns:a16="http://schemas.microsoft.com/office/drawing/2014/main" id="{41A3DCB6-D01A-447C-B4FF-2D5508F3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length_norm</a:t>
            </a:r>
          </a:p>
        </p:txBody>
      </p:sp>
      <p:sp>
        <p:nvSpPr>
          <p:cNvPr id="9" name="fi-bar-0">
            <a:extLst xmlns:a="http://schemas.openxmlformats.org/drawingml/2006/main">
              <a:ext uri="{FF2B5EF4-FFF2-40B4-BE49-F238E27FC236}">
                <a16:creationId xmlns:a16="http://schemas.microsoft.com/office/drawing/2014/main" id="{DC292715-9469-4EEB-B107-318941D1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545323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i-val-0">
            <a:extLst xmlns:a="http://schemas.openxmlformats.org/drawingml/2006/main">
              <a:ext uri="{FF2B5EF4-FFF2-40B4-BE49-F238E27FC236}">
                <a16:creationId xmlns:a16="http://schemas.microsoft.com/office/drawing/2014/main" id="{E942FAA4-11DD-4D6B-90B5-E1007603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0.262</a:t>
            </a:r>
          </a:p>
        </p:txBody>
      </p:sp>
      <p:sp>
        <p:nvSpPr>
          <p:cNvPr id="11" name="fi-name-1">
            <a:extLst xmlns:a="http://schemas.openxmlformats.org/drawingml/2006/main">
              <a:ext uri="{FF2B5EF4-FFF2-40B4-BE49-F238E27FC236}">
                <a16:creationId xmlns:a16="http://schemas.microsoft.com/office/drawing/2014/main" id="{163A580D-62B4-4E9F-BF7A-8EF4ABF6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907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top5_freq_ratio</a:t>
            </a:r>
          </a:p>
        </p:txBody>
      </p:sp>
      <p:sp>
        <p:nvSpPr>
          <p:cNvPr id="12" name="fi-bar-1">
            <a:extLst xmlns:a="http://schemas.openxmlformats.org/drawingml/2006/main">
              <a:ext uri="{FF2B5EF4-FFF2-40B4-BE49-F238E27FC236}">
                <a16:creationId xmlns:a16="http://schemas.microsoft.com/office/drawing/2014/main" id="{80487959-EA58-4D8C-BCA3-0807182D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28875"/>
            <a:ext cx="382975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-val-1">
            <a:extLst xmlns:a="http://schemas.openxmlformats.org/drawingml/2006/main">
              <a:ext uri="{FF2B5EF4-FFF2-40B4-BE49-F238E27FC236}">
                <a16:creationId xmlns:a16="http://schemas.microsoft.com/office/drawing/2014/main" id="{149B35C2-CC6D-4B44-BD64-AC6E034A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907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0.184</a:t>
            </a:r>
          </a:p>
        </p:txBody>
      </p:sp>
      <p:sp>
        <p:nvSpPr>
          <p:cNvPr id="14" name="fi-name-2">
            <a:extLst xmlns:a="http://schemas.openxmlformats.org/drawingml/2006/main">
              <a:ext uri="{FF2B5EF4-FFF2-40B4-BE49-F238E27FC236}">
                <a16:creationId xmlns:a16="http://schemas.microsoft.com/office/drawing/2014/main" id="{D436E47A-5962-42CC-8C14-97A10EBC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86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longest_run_ratio</a:t>
            </a:r>
          </a:p>
        </p:txBody>
      </p:sp>
      <p:sp>
        <p:nvSpPr>
          <p:cNvPr id="15" name="fi-bar-2">
            <a:extLst xmlns:a="http://schemas.openxmlformats.org/drawingml/2006/main">
              <a:ext uri="{FF2B5EF4-FFF2-40B4-BE49-F238E27FC236}">
                <a16:creationId xmlns:a16="http://schemas.microsoft.com/office/drawing/2014/main" id="{B4240BE7-C6F7-40D2-B403-FDF954A9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166511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-val-2">
            <a:extLst xmlns:a="http://schemas.openxmlformats.org/drawingml/2006/main">
              <a:ext uri="{FF2B5EF4-FFF2-40B4-BE49-F238E27FC236}">
                <a16:creationId xmlns:a16="http://schemas.microsoft.com/office/drawing/2014/main" id="{EE270520-E69E-4EF6-8ADD-C225EA14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0.080</a:t>
            </a:r>
          </a:p>
        </p:txBody>
      </p:sp>
      <p:sp>
        <p:nvSpPr>
          <p:cNvPr id="17" name="fi-name-3">
            <a:extLst xmlns:a="http://schemas.openxmlformats.org/drawingml/2006/main">
              <a:ext uri="{FF2B5EF4-FFF2-40B4-BE49-F238E27FC236}">
                <a16:creationId xmlns:a16="http://schemas.microsoft.com/office/drawing/2014/main" id="{D32695D3-88E6-41DB-97EB-8BEC6605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813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duplicate_ratio</a:t>
            </a:r>
          </a:p>
        </p:txBody>
      </p:sp>
      <p:sp>
        <p:nvSpPr>
          <p:cNvPr id="18" name="fi-bar-3">
            <a:extLst xmlns:a="http://schemas.openxmlformats.org/drawingml/2006/main">
              <a:ext uri="{FF2B5EF4-FFF2-40B4-BE49-F238E27FC236}">
                <a16:creationId xmlns:a16="http://schemas.microsoft.com/office/drawing/2014/main" id="{03D4BABE-6465-4C27-8B5B-41C8B65B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164429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i-val-3">
            <a:extLst xmlns:a="http://schemas.openxmlformats.org/drawingml/2006/main">
              <a:ext uri="{FF2B5EF4-FFF2-40B4-BE49-F238E27FC236}">
                <a16:creationId xmlns:a16="http://schemas.microsoft.com/office/drawing/2014/main" id="{C8B96A44-F70E-4DB3-8F8C-D3CD57BF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813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0.079</a:t>
            </a:r>
          </a:p>
        </p:txBody>
      </p:sp>
      <p:sp>
        <p:nvSpPr>
          <p:cNvPr id="20" name="fi-name-4">
            <a:extLst xmlns:a="http://schemas.openxmlformats.org/drawingml/2006/main">
              <a:ext uri="{FF2B5EF4-FFF2-40B4-BE49-F238E27FC236}">
                <a16:creationId xmlns:a16="http://schemas.microsoft.com/office/drawing/2014/main" id="{385B206E-9731-4CC5-B65D-CC8FBB0E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entropy_ratio</a:t>
            </a:r>
          </a:p>
        </p:txBody>
      </p:sp>
      <p:sp>
        <p:nvSpPr>
          <p:cNvPr id="21" name="fi-bar-4">
            <a:extLst xmlns:a="http://schemas.openxmlformats.org/drawingml/2006/main">
              <a:ext uri="{FF2B5EF4-FFF2-40B4-BE49-F238E27FC236}">
                <a16:creationId xmlns:a16="http://schemas.microsoft.com/office/drawing/2014/main" id="{70F0C04F-4863-46CE-A359-F0CFFB28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156104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i-val-4">
            <a:extLst xmlns:a="http://schemas.openxmlformats.org/drawingml/2006/main">
              <a:ext uri="{FF2B5EF4-FFF2-40B4-BE49-F238E27FC236}">
                <a16:creationId xmlns:a16="http://schemas.microsoft.com/office/drawing/2014/main" id="{1FB5754A-008D-4A87-BD5E-65E0206F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766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0.075</a:t>
            </a:r>
          </a:p>
        </p:txBody>
      </p:sp>
      <p:sp>
        <p:nvSpPr>
          <p:cNvPr id="23" name="fi-name-5">
            <a:extLst xmlns:a="http://schemas.openxmlformats.org/drawingml/2006/main">
              <a:ext uri="{FF2B5EF4-FFF2-40B4-BE49-F238E27FC236}">
                <a16:creationId xmlns:a16="http://schemas.microsoft.com/office/drawing/2014/main" id="{E4077359-E4DC-4B13-A149-F4D26266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71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top1_freq_ratio</a:t>
            </a:r>
          </a:p>
        </p:txBody>
      </p:sp>
      <p:sp>
        <p:nvSpPr>
          <p:cNvPr id="24" name="fi-bar-5">
            <a:extLst xmlns:a="http://schemas.openxmlformats.org/drawingml/2006/main">
              <a:ext uri="{FF2B5EF4-FFF2-40B4-BE49-F238E27FC236}">
                <a16:creationId xmlns:a16="http://schemas.microsoft.com/office/drawing/2014/main" id="{29512356-F206-4178-B938-16AA6B81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9975"/>
            <a:ext cx="106150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i-val-5">
            <a:extLst xmlns:a="http://schemas.openxmlformats.org/drawingml/2006/main">
              <a:ext uri="{FF2B5EF4-FFF2-40B4-BE49-F238E27FC236}">
                <a16:creationId xmlns:a16="http://schemas.microsoft.com/office/drawing/2014/main" id="{8B093AC0-34D3-43DE-B653-4F739216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718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0.051</a:t>
            </a:r>
          </a:p>
        </p:txBody>
      </p:sp>
      <p:sp>
        <p:nvSpPr>
          <p:cNvPr id="26" name="fi-name-6">
            <a:extLst xmlns:a="http://schemas.openxmlformats.org/drawingml/2006/main">
              <a:ext uri="{FF2B5EF4-FFF2-40B4-BE49-F238E27FC236}">
                <a16:creationId xmlns:a16="http://schemas.microsoft.com/office/drawing/2014/main" id="{1B72B534-D527-4A0B-BAAD-55C44304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runs_ratio</a:t>
            </a:r>
          </a:p>
        </p:txBody>
      </p:sp>
      <p:sp>
        <p:nvSpPr>
          <p:cNvPr id="27" name="fi-bar-6">
            <a:extLst xmlns:a="http://schemas.openxmlformats.org/drawingml/2006/main">
              <a:ext uri="{FF2B5EF4-FFF2-40B4-BE49-F238E27FC236}">
                <a16:creationId xmlns:a16="http://schemas.microsoft.com/office/drawing/2014/main" id="{DC5EBBBF-6A12-4C2F-B922-FE0FDEF8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85336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i-val-6">
            <a:extLst xmlns:a="http://schemas.openxmlformats.org/drawingml/2006/main">
              <a:ext uri="{FF2B5EF4-FFF2-40B4-BE49-F238E27FC236}">
                <a16:creationId xmlns:a16="http://schemas.microsoft.com/office/drawing/2014/main" id="{3C32E3FF-6C7B-4945-BB15-153BB7FF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67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0.041</a:t>
            </a:r>
          </a:p>
        </p:txBody>
      </p:sp>
      <p:sp>
        <p:nvSpPr>
          <p:cNvPr id="29" name="fi-name-7">
            <a:extLst xmlns:a="http://schemas.openxmlformats.org/drawingml/2006/main">
              <a:ext uri="{FF2B5EF4-FFF2-40B4-BE49-F238E27FC236}">
                <a16:creationId xmlns:a16="http://schemas.microsoft.com/office/drawing/2014/main" id="{1698E126-CEA8-4D54-98DC-F87FCA9A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adj_sorted_ratio</a:t>
            </a:r>
          </a:p>
        </p:txBody>
      </p:sp>
      <p:sp>
        <p:nvSpPr>
          <p:cNvPr id="30" name="fi-bar-7">
            <a:extLst xmlns:a="http://schemas.openxmlformats.org/drawingml/2006/main">
              <a:ext uri="{FF2B5EF4-FFF2-40B4-BE49-F238E27FC236}">
                <a16:creationId xmlns:a16="http://schemas.microsoft.com/office/drawing/2014/main" id="{8208DDFD-9201-48FC-BF4A-4E7D79A7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85336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i-val-7">
            <a:extLst xmlns:a="http://schemas.openxmlformats.org/drawingml/2006/main">
              <a:ext uri="{FF2B5EF4-FFF2-40B4-BE49-F238E27FC236}">
                <a16:creationId xmlns:a16="http://schemas.microsoft.com/office/drawing/2014/main" id="{1AE7D194-32E6-45DD-B715-D0EA3659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62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0.041</a:t>
            </a:r>
          </a:p>
        </p:txBody>
      </p:sp>
      <p:sp>
        <p:nvSpPr>
          <p:cNvPr id="32" name="fi-name-8">
            <a:extLst xmlns:a="http://schemas.openxmlformats.org/drawingml/2006/main">
              <a:ext uri="{FF2B5EF4-FFF2-40B4-BE49-F238E27FC236}">
                <a16:creationId xmlns:a16="http://schemas.microsoft.com/office/drawing/2014/main" id="{78D4A7C3-276A-4781-A034-F75FC18D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57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mean_abs_diff_norm</a:t>
            </a:r>
          </a:p>
        </p:txBody>
      </p:sp>
      <p:sp>
        <p:nvSpPr>
          <p:cNvPr id="33" name="fi-bar-8">
            <a:extLst xmlns:a="http://schemas.openxmlformats.org/drawingml/2006/main">
              <a:ext uri="{FF2B5EF4-FFF2-40B4-BE49-F238E27FC236}">
                <a16:creationId xmlns:a16="http://schemas.microsoft.com/office/drawing/2014/main" id="{E9888CA0-5B9A-4C45-8AC4-35BFC96C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95800"/>
            <a:ext cx="81174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i-val-8">
            <a:extLst xmlns:a="http://schemas.openxmlformats.org/drawingml/2006/main">
              <a:ext uri="{FF2B5EF4-FFF2-40B4-BE49-F238E27FC236}">
                <a16:creationId xmlns:a16="http://schemas.microsoft.com/office/drawing/2014/main" id="{F49B8CCF-385B-4602-A2F8-584F195C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57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0.039</a:t>
            </a:r>
          </a:p>
        </p:txBody>
      </p:sp>
      <p:sp>
        <p:nvSpPr>
          <p:cNvPr id="35" name="fi-name-9">
            <a:extLst xmlns:a="http://schemas.openxmlformats.org/drawingml/2006/main">
              <a:ext uri="{FF2B5EF4-FFF2-40B4-BE49-F238E27FC236}">
                <a16:creationId xmlns:a16="http://schemas.microsoft.com/office/drawing/2014/main" id="{2541D00E-5FCE-4829-B04F-7B8817AD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52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inversion_ratio</a:t>
            </a:r>
          </a:p>
        </p:txBody>
      </p:sp>
      <p:sp>
        <p:nvSpPr>
          <p:cNvPr id="36" name="fi-bar-9">
            <a:extLst xmlns:a="http://schemas.openxmlformats.org/drawingml/2006/main">
              <a:ext uri="{FF2B5EF4-FFF2-40B4-BE49-F238E27FC236}">
                <a16:creationId xmlns:a16="http://schemas.microsoft.com/office/drawing/2014/main" id="{685AE44B-0209-4BB1-A0A8-ADFECFB7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91075"/>
            <a:ext cx="72848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i-val-9">
            <a:extLst xmlns:a="http://schemas.openxmlformats.org/drawingml/2006/main">
              <a:ext uri="{FF2B5EF4-FFF2-40B4-BE49-F238E27FC236}">
                <a16:creationId xmlns:a16="http://schemas.microsoft.com/office/drawing/2014/main" id="{6C776E63-9C78-460E-8367-603E1450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529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0.035</a:t>
            </a:r>
          </a:p>
        </p:txBody>
      </p:sp>
      <p:sp>
        <p:nvSpPr>
          <p:cNvPr id="38" name="fi-name-10">
            <a:extLst xmlns:a="http://schemas.openxmlformats.org/drawingml/2006/main">
              <a:ext uri="{FF2B5EF4-FFF2-40B4-BE49-F238E27FC236}">
                <a16:creationId xmlns:a16="http://schemas.microsoft.com/office/drawing/2014/main" id="{2A4E3259-768E-4C7C-BD40-6B659B9A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dispersion_ratio</a:t>
            </a:r>
          </a:p>
        </p:txBody>
      </p:sp>
      <p:sp>
        <p:nvSpPr>
          <p:cNvPr id="39" name="fi-bar-10">
            <a:extLst xmlns:a="http://schemas.openxmlformats.org/drawingml/2006/main">
              <a:ext uri="{FF2B5EF4-FFF2-40B4-BE49-F238E27FC236}">
                <a16:creationId xmlns:a16="http://schemas.microsoft.com/office/drawing/2014/main" id="{054FBCB9-0BB9-439E-BB4B-C6E17148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7871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-val-10">
            <a:extLst xmlns:a="http://schemas.openxmlformats.org/drawingml/2006/main">
              <a:ext uri="{FF2B5EF4-FFF2-40B4-BE49-F238E27FC236}">
                <a16:creationId xmlns:a16="http://schemas.microsoft.com/office/drawing/2014/main" id="{2A58C75C-E637-427B-8CE9-1599733C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48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0.023</a:t>
            </a:r>
          </a:p>
        </p:txBody>
      </p:sp>
      <p:sp>
        <p:nvSpPr>
          <p:cNvPr id="41" name="fi-name-11">
            <a:extLst xmlns:a="http://schemas.openxmlformats.org/drawingml/2006/main">
              <a:ext uri="{FF2B5EF4-FFF2-40B4-BE49-F238E27FC236}">
                <a16:creationId xmlns:a16="http://schemas.microsoft.com/office/drawing/2014/main" id="{435BB531-AD85-4678-AD69-A9EB687F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43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mad_norm</a:t>
            </a:r>
          </a:p>
        </p:txBody>
      </p:sp>
      <p:sp>
        <p:nvSpPr>
          <p:cNvPr id="42" name="fi-bar-11">
            <a:extLst xmlns:a="http://schemas.openxmlformats.org/drawingml/2006/main">
              <a:ext uri="{FF2B5EF4-FFF2-40B4-BE49-F238E27FC236}">
                <a16:creationId xmlns:a16="http://schemas.microsoft.com/office/drawing/2014/main" id="{6B95CC08-23A3-4B3C-BF7E-E6C8A681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81625"/>
            <a:ext cx="39546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i-val-11">
            <a:extLst xmlns:a="http://schemas.openxmlformats.org/drawingml/2006/main">
              <a:ext uri="{FF2B5EF4-FFF2-40B4-BE49-F238E27FC236}">
                <a16:creationId xmlns:a16="http://schemas.microsoft.com/office/drawing/2014/main" id="{720E43B5-5F0F-45DB-86EE-BD614214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3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0.019</a:t>
            </a:r>
          </a:p>
        </p:txBody>
      </p:sp>
    </p:spTree>
    <p:extLst>
      <p:ext uri="{BB962C8B-B14F-4D97-AF65-F5344CB8AC3E}">
        <p14:creationId xmlns:p14="http://schemas.microsoft.com/office/powerpoint/2010/main" val="11495403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2DB3C0AA-07F5-40F0-8020-3D454506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9EBED9C4-26A3-4344-8A21-5DCEF38F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5A4A42BE-59CF-446D-B08C-978F9349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53B298-6043-4729-B808-98A842FA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Labels are empirical fastest-algorithm measurements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CF11B0C-8C5C-4069-B8B9-D5B1FAF5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D62F48F-4675-4B84-BD15-4BB86E61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11/28</a:t>
            </a:r>
          </a:p>
        </p:txBody>
      </p:sp>
      <p:sp>
        <p:nvSpPr>
          <p:cNvPr id="7" name="pipe">
            <a:extLst xmlns:a="http://schemas.openxmlformats.org/drawingml/2006/main">
              <a:ext uri="{FF2B5EF4-FFF2-40B4-BE49-F238E27FC236}">
                <a16:creationId xmlns:a16="http://schemas.microsoft.com/office/drawing/2014/main" id="{4794F672-AC02-44F5-8F2F-48A5FE11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11239500" cy="3095625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trans-0">
            <a:extLst xmlns:a="http://schemas.openxmlformats.org/drawingml/2006/main">
              <a:ext uri="{FF2B5EF4-FFF2-40B4-BE49-F238E27FC236}">
                <a16:creationId xmlns:a16="http://schemas.microsoft.com/office/drawing/2014/main" id="{A63078D0-2B12-499E-BF96-D23FAB3C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ans-0-title">
            <a:extLst xmlns:a="http://schemas.openxmlformats.org/drawingml/2006/main">
              <a:ext uri="{FF2B5EF4-FFF2-40B4-BE49-F238E27FC236}">
                <a16:creationId xmlns:a16="http://schemas.microsoft.com/office/drawing/2014/main" id="{CC65B548-AD71-45F3-9DA1-0B78C4E8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RAW</a:t>
            </a:r>
          </a:p>
        </p:txBody>
      </p:sp>
      <p:sp>
        <p:nvSpPr>
          <p:cNvPr id="10" name="trans-1">
            <a:extLst xmlns:a="http://schemas.openxmlformats.org/drawingml/2006/main">
              <a:ext uri="{FF2B5EF4-FFF2-40B4-BE49-F238E27FC236}">
                <a16:creationId xmlns:a16="http://schemas.microsoft.com/office/drawing/2014/main" id="{2595CF62-D2AC-4F13-A9D7-371CD2E6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ns-1-title">
            <a:extLst xmlns:a="http://schemas.openxmlformats.org/drawingml/2006/main">
              <a:ext uri="{FF2B5EF4-FFF2-40B4-BE49-F238E27FC236}">
                <a16:creationId xmlns:a16="http://schemas.microsoft.com/office/drawing/2014/main" id="{B59C8DD7-5607-479B-A4DE-B38233AD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REV</a:t>
            </a:r>
          </a:p>
        </p:txBody>
      </p:sp>
      <p:sp>
        <p:nvSpPr>
          <p:cNvPr id="12" name="trans-2">
            <a:extLst xmlns:a="http://schemas.openxmlformats.org/drawingml/2006/main">
              <a:ext uri="{FF2B5EF4-FFF2-40B4-BE49-F238E27FC236}">
                <a16:creationId xmlns:a16="http://schemas.microsoft.com/office/drawing/2014/main" id="{64B88DDF-296C-4B4B-9327-DEA46F9F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ans-2-title">
            <a:extLst xmlns:a="http://schemas.openxmlformats.org/drawingml/2006/main">
              <a:ext uri="{FF2B5EF4-FFF2-40B4-BE49-F238E27FC236}">
                <a16:creationId xmlns:a16="http://schemas.microsoft.com/office/drawing/2014/main" id="{9CB2F144-2BCF-428F-B65F-45E30AC8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SHUF</a:t>
            </a:r>
          </a:p>
        </p:txBody>
      </p:sp>
      <p:sp>
        <p:nvSpPr>
          <p:cNvPr id="14" name="trans-3">
            <a:extLst xmlns:a="http://schemas.openxmlformats.org/drawingml/2006/main">
              <a:ext uri="{FF2B5EF4-FFF2-40B4-BE49-F238E27FC236}">
                <a16:creationId xmlns:a16="http://schemas.microsoft.com/office/drawing/2014/main" id="{4BFC40CA-FE8D-4C1D-B19E-8454EDBE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7A6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ns-3-title">
            <a:extLst xmlns:a="http://schemas.openxmlformats.org/drawingml/2006/main">
              <a:ext uri="{FF2B5EF4-FFF2-40B4-BE49-F238E27FC236}">
                <a16:creationId xmlns:a16="http://schemas.microsoft.com/office/drawing/2014/main" id="{07BE2011-891F-42D2-9C1B-7279DD0F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QBIN50</a:t>
            </a:r>
          </a:p>
        </p:txBody>
      </p:sp>
      <p:sp>
        <p:nvSpPr>
          <p:cNvPr id="16" name="trans-4">
            <a:extLst xmlns:a="http://schemas.openxmlformats.org/drawingml/2006/main">
              <a:ext uri="{FF2B5EF4-FFF2-40B4-BE49-F238E27FC236}">
                <a16:creationId xmlns:a16="http://schemas.microsoft.com/office/drawing/2014/main" id="{09423CB9-B8A1-4D6A-AACE-D2A01726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ans-4-title">
            <a:extLst xmlns:a="http://schemas.openxmlformats.org/drawingml/2006/main">
              <a:ext uri="{FF2B5EF4-FFF2-40B4-BE49-F238E27FC236}">
                <a16:creationId xmlns:a16="http://schemas.microsoft.com/office/drawing/2014/main" id="{DE3FF9F8-A587-4F82-84FE-E15964D1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PSORT10</a:t>
            </a:r>
          </a:p>
        </p:txBody>
      </p:sp>
      <p:sp>
        <p:nvSpPr>
          <p:cNvPr id="18" name="timer">
            <a:extLst xmlns:a="http://schemas.openxmlformats.org/drawingml/2006/main">
              <a:ext uri="{FF2B5EF4-FFF2-40B4-BE49-F238E27FC236}">
                <a16:creationId xmlns:a16="http://schemas.microsoft.com/office/drawing/2014/main" id="{438C4E89-0BA6-49A8-ABA6-786E6C77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57625"/>
            <a:ext cx="252412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timer-title">
            <a:extLst xmlns:a="http://schemas.openxmlformats.org/drawingml/2006/main">
              <a:ext uri="{FF2B5EF4-FFF2-40B4-BE49-F238E27FC236}">
                <a16:creationId xmlns:a16="http://schemas.microsoft.com/office/drawing/2014/main" id="{D9EE1E65-49D4-4110-80C5-470B00CA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0025"/>
            <a:ext cx="2181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timed copies</a:t>
            </a:r>
          </a:p>
        </p:txBody>
      </p:sp>
      <p:sp>
        <p:nvSpPr>
          <p:cNvPr id="20" name="timer-body">
            <a:extLst xmlns:a="http://schemas.openxmlformats.org/drawingml/2006/main">
              <a:ext uri="{FF2B5EF4-FFF2-40B4-BE49-F238E27FC236}">
                <a16:creationId xmlns:a16="http://schemas.microsoft.com/office/drawing/2014/main" id="{3227A259-7408-4FBB-A07C-B4C37B2B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33875"/>
            <a:ext cx="21812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4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Introsort / Heapsort / Timsort</a:t>
            </a:r>
          </a:p>
        </p:txBody>
      </p:sp>
      <p:sp>
        <p:nvSpPr>
          <p:cNvPr id="21" name="label-arr-from">
            <a:extLst xmlns:a="http://schemas.openxmlformats.org/drawingml/2006/main">
              <a:ext uri="{FF2B5EF4-FFF2-40B4-BE49-F238E27FC236}">
                <a16:creationId xmlns:a16="http://schemas.microsoft.com/office/drawing/2014/main" id="{67EAF002-EF82-43CE-8D00-C027D354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abel-arr-to">
            <a:extLst xmlns:a="http://schemas.openxmlformats.org/drawingml/2006/main">
              <a:ext uri="{FF2B5EF4-FFF2-40B4-BE49-F238E27FC236}">
                <a16:creationId xmlns:a16="http://schemas.microsoft.com/office/drawing/2014/main" id="{474CBA8E-8A04-4D98-A1F1-C1DCBDE3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8" name="label-arr"/>
          <p:cNvCxnSpPr>
            <a:stCxn xmlns:a="http://schemas.openxmlformats.org/drawingml/2006/main" id="21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6867525" y="349567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4" name="label-equation">
            <a:extLst xmlns:a="http://schemas.openxmlformats.org/drawingml/2006/main">
              <a:ext uri="{FF2B5EF4-FFF2-40B4-BE49-F238E27FC236}">
                <a16:creationId xmlns:a16="http://schemas.microsoft.com/office/drawing/2014/main" id="{B8F18F03-FB2B-4E8C-8D21-AB749D77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label(x) = argmin_a T(a, x)</a:t>
            </a:r>
          </a:p>
        </p:txBody>
      </p:sp>
      <p:sp>
        <p:nvSpPr>
          <p:cNvPr id="25" name="label-note">
            <a:extLst xmlns:a="http://schemas.openxmlformats.org/drawingml/2006/main">
              <a:ext uri="{FF2B5EF4-FFF2-40B4-BE49-F238E27FC236}">
                <a16:creationId xmlns:a16="http://schemas.microsoft.com/office/drawing/2014/main" id="{7E2AF333-2EB6-4C8E-A7BC-5AD6B47A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191250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RAW, REV, SHUF, QBIN50, and PSORT10 force a non-trivial decision boundary.</a:t>
            </a:r>
          </a:p>
        </p:txBody>
      </p:sp>
    </p:spTree>
    <p:extLst>
      <p:ext uri="{BB962C8B-B14F-4D97-AF65-F5344CB8AC3E}">
        <p14:creationId xmlns:p14="http://schemas.microsoft.com/office/powerpoint/2010/main" val="10823075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1283C5C0-43DD-4D40-B202-522BE542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9888592-F377-45D0-9697-2D4A13BD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518DA8B0-08BF-458E-886F-72875840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242284-0182-4E6B-AD75-0053BC27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Training Dataset and Split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84C1973-4771-4922-89B8-AC8D06A8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4DF2224-398E-4844-A7C4-8B863F90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12/28</a:t>
            </a:r>
          </a:p>
        </p:txBody>
      </p:sp>
      <p:sp>
        <p:nvSpPr>
          <p:cNvPr id="7" name="split-0">
            <a:extLst xmlns:a="http://schemas.openxmlformats.org/drawingml/2006/main">
              <a:ext uri="{FF2B5EF4-FFF2-40B4-BE49-F238E27FC236}">
                <a16:creationId xmlns:a16="http://schemas.microsoft.com/office/drawing/2014/main" id="{6AB7681F-4E70-4DE3-8B65-D948712A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plit-0-title">
            <a:extLst xmlns:a="http://schemas.openxmlformats.org/drawingml/2006/main">
              <a:ext uri="{FF2B5EF4-FFF2-40B4-BE49-F238E27FC236}">
                <a16:creationId xmlns:a16="http://schemas.microsoft.com/office/drawing/2014/main" id="{4C2C862A-CFA7-4F97-B40E-34DFB840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1,188,265</a:t>
            </a:r>
          </a:p>
        </p:txBody>
      </p:sp>
      <p:sp>
        <p:nvSpPr>
          <p:cNvPr id="9" name="split-0-body">
            <a:extLst xmlns:a="http://schemas.openxmlformats.org/drawingml/2006/main">
              <a:ext uri="{FF2B5EF4-FFF2-40B4-BE49-F238E27FC236}">
                <a16:creationId xmlns:a16="http://schemas.microsoft.com/office/drawing/2014/main" id="{D26D1856-91F2-4EE0-9EED-BF8589C1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collected arrays</a:t>
            </a:r>
          </a:p>
        </p:txBody>
      </p:sp>
      <p:sp>
        <p:nvSpPr>
          <p:cNvPr id="10" name="split-arr-0-from">
            <a:extLst xmlns:a="http://schemas.openxmlformats.org/drawingml/2006/main">
              <a:ext uri="{FF2B5EF4-FFF2-40B4-BE49-F238E27FC236}">
                <a16:creationId xmlns:a16="http://schemas.microsoft.com/office/drawing/2014/main" id="{67D9A09D-6CA9-426E-B234-467416CE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plit-arr-0-to">
            <a:extLst xmlns:a="http://schemas.openxmlformats.org/drawingml/2006/main">
              <a:ext uri="{FF2B5EF4-FFF2-40B4-BE49-F238E27FC236}">
                <a16:creationId xmlns:a16="http://schemas.microsoft.com/office/drawing/2014/main" id="{31032962-8680-408B-B834-E4838785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split-arr-0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448050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3" name="split-1">
            <a:extLst xmlns:a="http://schemas.openxmlformats.org/drawingml/2006/main">
              <a:ext uri="{FF2B5EF4-FFF2-40B4-BE49-F238E27FC236}">
                <a16:creationId xmlns:a16="http://schemas.microsoft.com/office/drawing/2014/main" id="{DBBCB9B3-D678-4597-9BE4-AAED8FF5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split-1-title">
            <a:extLst xmlns:a="http://schemas.openxmlformats.org/drawingml/2006/main">
              <a:ext uri="{FF2B5EF4-FFF2-40B4-BE49-F238E27FC236}">
                <a16:creationId xmlns:a16="http://schemas.microsoft.com/office/drawing/2014/main" id="{1B159225-684C-4801-825C-0BCB4BC1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1,082,547</a:t>
            </a:r>
          </a:p>
        </p:txBody>
      </p:sp>
      <p:sp>
        <p:nvSpPr>
          <p:cNvPr id="15" name="split-1-body">
            <a:extLst xmlns:a="http://schemas.openxmlformats.org/drawingml/2006/main">
              <a:ext uri="{FF2B5EF4-FFF2-40B4-BE49-F238E27FC236}">
                <a16:creationId xmlns:a16="http://schemas.microsoft.com/office/drawing/2014/main" id="{AD5199E7-F153-49A2-8C96-A05D7F5A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after near-tie filter</a:t>
            </a:r>
          </a:p>
        </p:txBody>
      </p:sp>
      <p:sp>
        <p:nvSpPr>
          <p:cNvPr id="16" name="split-arr-1-from">
            <a:extLst xmlns:a="http://schemas.openxmlformats.org/drawingml/2006/main">
              <a:ext uri="{FF2B5EF4-FFF2-40B4-BE49-F238E27FC236}">
                <a16:creationId xmlns:a16="http://schemas.microsoft.com/office/drawing/2014/main" id="{0E28890A-D291-4539-9F0B-7734544B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plit-arr-1-to">
            <a:extLst xmlns:a="http://schemas.openxmlformats.org/drawingml/2006/main">
              <a:ext uri="{FF2B5EF4-FFF2-40B4-BE49-F238E27FC236}">
                <a16:creationId xmlns:a16="http://schemas.microsoft.com/office/drawing/2014/main" id="{6857F7EB-C283-4189-B1DE-38AAB7F4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split-arr-1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781675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split-2">
            <a:extLst xmlns:a="http://schemas.openxmlformats.org/drawingml/2006/main">
              <a:ext uri="{FF2B5EF4-FFF2-40B4-BE49-F238E27FC236}">
                <a16:creationId xmlns:a16="http://schemas.microsoft.com/office/drawing/2014/main" id="{9EB3B4A8-4568-46E9-B0A3-FF739605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plit-2-title">
            <a:extLst xmlns:a="http://schemas.openxmlformats.org/drawingml/2006/main">
              <a:ext uri="{FF2B5EF4-FFF2-40B4-BE49-F238E27FC236}">
                <a16:creationId xmlns:a16="http://schemas.microsoft.com/office/drawing/2014/main" id="{0546DF57-DAA9-4577-8FD6-35B98643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196,624</a:t>
            </a:r>
          </a:p>
        </p:txBody>
      </p:sp>
      <p:sp>
        <p:nvSpPr>
          <p:cNvPr id="21" name="split-2-body">
            <a:extLst xmlns:a="http://schemas.openxmlformats.org/drawingml/2006/main">
              <a:ext uri="{FF2B5EF4-FFF2-40B4-BE49-F238E27FC236}">
                <a16:creationId xmlns:a16="http://schemas.microsoft.com/office/drawing/2014/main" id="{167344F1-7FCC-440B-9465-E4849F26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after majority cap</a:t>
            </a:r>
          </a:p>
        </p:txBody>
      </p:sp>
      <p:sp>
        <p:nvSpPr>
          <p:cNvPr id="22" name="split-arr-2-from">
            <a:extLst xmlns:a="http://schemas.openxmlformats.org/drawingml/2006/main">
              <a:ext uri="{FF2B5EF4-FFF2-40B4-BE49-F238E27FC236}">
                <a16:creationId xmlns:a16="http://schemas.microsoft.com/office/drawing/2014/main" id="{1EE6C064-6BD4-4CCE-BA17-EA65AB8F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plit-arr-2-to">
            <a:extLst xmlns:a="http://schemas.openxmlformats.org/drawingml/2006/main">
              <a:ext uri="{FF2B5EF4-FFF2-40B4-BE49-F238E27FC236}">
                <a16:creationId xmlns:a16="http://schemas.microsoft.com/office/drawing/2014/main" id="{0C82F4D4-32FA-40BE-80C9-E9FF2D51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split-arr-2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8115300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split-3">
            <a:extLst xmlns:a="http://schemas.openxmlformats.org/drawingml/2006/main">
              <a:ext uri="{FF2B5EF4-FFF2-40B4-BE49-F238E27FC236}">
                <a16:creationId xmlns:a16="http://schemas.microsoft.com/office/drawing/2014/main" id="{0842A694-4024-4FFF-8BD9-B2A7EDE3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split-3-title">
            <a:extLst xmlns:a="http://schemas.openxmlformats.org/drawingml/2006/main">
              <a:ext uri="{FF2B5EF4-FFF2-40B4-BE49-F238E27FC236}">
                <a16:creationId xmlns:a16="http://schemas.microsoft.com/office/drawing/2014/main" id="{882FA532-1DE9-487B-8D69-AB832B84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137,636</a:t>
            </a:r>
          </a:p>
        </p:txBody>
      </p:sp>
      <p:sp>
        <p:nvSpPr>
          <p:cNvPr id="27" name="split-3-body">
            <a:extLst xmlns:a="http://schemas.openxmlformats.org/drawingml/2006/main">
              <a:ext uri="{FF2B5EF4-FFF2-40B4-BE49-F238E27FC236}">
                <a16:creationId xmlns:a16="http://schemas.microsoft.com/office/drawing/2014/main" id="{150E5E0C-A7A4-4CA7-A13E-AFEAA28E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train</a:t>
            </a:r>
          </a:p>
        </p:txBody>
      </p:sp>
      <p:sp>
        <p:nvSpPr>
          <p:cNvPr id="28" name="split-arr-3-from">
            <a:extLst xmlns:a="http://schemas.openxmlformats.org/drawingml/2006/main">
              <a:ext uri="{FF2B5EF4-FFF2-40B4-BE49-F238E27FC236}">
                <a16:creationId xmlns:a16="http://schemas.microsoft.com/office/drawing/2014/main" id="{9350F9E8-D559-4829-B3FB-00482FC1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plit-arr-3-to">
            <a:extLst xmlns:a="http://schemas.openxmlformats.org/drawingml/2006/main">
              <a:ext uri="{FF2B5EF4-FFF2-40B4-BE49-F238E27FC236}">
                <a16:creationId xmlns:a16="http://schemas.microsoft.com/office/drawing/2014/main" id="{A849B493-BDDC-4A5E-BF73-93863F83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5" name="split-arr-3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10448925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plit-4">
            <a:extLst xmlns:a="http://schemas.openxmlformats.org/drawingml/2006/main">
              <a:ext uri="{FF2B5EF4-FFF2-40B4-BE49-F238E27FC236}">
                <a16:creationId xmlns:a16="http://schemas.microsoft.com/office/drawing/2014/main" id="{1A24EF34-7528-4C31-B990-0BFC0131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split-4-title">
            <a:extLst xmlns:a="http://schemas.openxmlformats.org/drawingml/2006/main">
              <a:ext uri="{FF2B5EF4-FFF2-40B4-BE49-F238E27FC236}">
                <a16:creationId xmlns:a16="http://schemas.microsoft.com/office/drawing/2014/main" id="{7F192C33-A952-4C2E-A36A-FE5E7539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29,494 / 29,494</a:t>
            </a:r>
          </a:p>
        </p:txBody>
      </p:sp>
      <p:sp>
        <p:nvSpPr>
          <p:cNvPr id="33" name="split-4-body">
            <a:extLst xmlns:a="http://schemas.openxmlformats.org/drawingml/2006/main">
              <a:ext uri="{FF2B5EF4-FFF2-40B4-BE49-F238E27FC236}">
                <a16:creationId xmlns:a16="http://schemas.microsoft.com/office/drawing/2014/main" id="{8E679750-C60A-446D-BD8F-FCBC0047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validation / test</a:t>
            </a:r>
          </a:p>
        </p:txBody>
      </p:sp>
      <p:sp>
        <p:nvSpPr>
          <p:cNvPr id="34" name="control-0">
            <a:extLst xmlns:a="http://schemas.openxmlformats.org/drawingml/2006/main">
              <a:ext uri="{FF2B5EF4-FFF2-40B4-BE49-F238E27FC236}">
                <a16:creationId xmlns:a16="http://schemas.microsoft.com/office/drawing/2014/main" id="{B9A9BAA7-FE6E-4372-A027-A7792894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control-0-title">
            <a:extLst xmlns:a="http://schemas.openxmlformats.org/drawingml/2006/main">
              <a:ext uri="{FF2B5EF4-FFF2-40B4-BE49-F238E27FC236}">
                <a16:creationId xmlns:a16="http://schemas.microsoft.com/office/drawing/2014/main" id="{21AB3421-C104-42C8-87A5-C3D092FB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near-tie filtering</a:t>
            </a:r>
          </a:p>
        </p:txBody>
      </p:sp>
      <p:sp>
        <p:nvSpPr>
          <p:cNvPr id="36" name="control-0-body">
            <a:extLst xmlns:a="http://schemas.openxmlformats.org/drawingml/2006/main">
              <a:ext uri="{FF2B5EF4-FFF2-40B4-BE49-F238E27FC236}">
                <a16:creationId xmlns:a16="http://schemas.microsoft.com/office/drawing/2014/main" id="{68EBBDE2-9004-448C-84AF-5A8D0941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remove ambiguous fastest labels</a:t>
            </a:r>
          </a:p>
        </p:txBody>
      </p:sp>
      <p:sp>
        <p:nvSpPr>
          <p:cNvPr id="37" name="control-1">
            <a:extLst xmlns:a="http://schemas.openxmlformats.org/drawingml/2006/main">
              <a:ext uri="{FF2B5EF4-FFF2-40B4-BE49-F238E27FC236}">
                <a16:creationId xmlns:a16="http://schemas.microsoft.com/office/drawing/2014/main" id="{9EB8EB3D-3BE7-498E-83F9-90474C50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control-1-title">
            <a:extLst xmlns:a="http://schemas.openxmlformats.org/drawingml/2006/main">
              <a:ext uri="{FF2B5EF4-FFF2-40B4-BE49-F238E27FC236}">
                <a16:creationId xmlns:a16="http://schemas.microsoft.com/office/drawing/2014/main" id="{C266654A-22F6-4C5A-B672-6CC9F4F4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3x majority cap</a:t>
            </a:r>
          </a:p>
        </p:txBody>
      </p:sp>
      <p:sp>
        <p:nvSpPr>
          <p:cNvPr id="39" name="control-1-body">
            <a:extLst xmlns:a="http://schemas.openxmlformats.org/drawingml/2006/main">
              <a:ext uri="{FF2B5EF4-FFF2-40B4-BE49-F238E27FC236}">
                <a16:creationId xmlns:a16="http://schemas.microsoft.com/office/drawing/2014/main" id="{C5DFF45F-10C0-44CE-9089-E63A5652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stop Timsort dominance</a:t>
            </a:r>
          </a:p>
        </p:txBody>
      </p:sp>
      <p:sp>
        <p:nvSpPr>
          <p:cNvPr id="40" name="control-2">
            <a:extLst xmlns:a="http://schemas.openxmlformats.org/drawingml/2006/main">
              <a:ext uri="{FF2B5EF4-FFF2-40B4-BE49-F238E27FC236}">
                <a16:creationId xmlns:a16="http://schemas.microsoft.com/office/drawing/2014/main" id="{B699B2E8-7D8F-4461-A0A0-7D07C439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control-2-title">
            <a:extLst xmlns:a="http://schemas.openxmlformats.org/drawingml/2006/main">
              <a:ext uri="{FF2B5EF4-FFF2-40B4-BE49-F238E27FC236}">
                <a16:creationId xmlns:a16="http://schemas.microsoft.com/office/drawing/2014/main" id="{3E132A29-0973-4C75-ADF8-1E8C7C92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inverse-frequency weights</a:t>
            </a:r>
          </a:p>
        </p:txBody>
      </p:sp>
      <p:sp>
        <p:nvSpPr>
          <p:cNvPr id="42" name="control-2-body">
            <a:extLst xmlns:a="http://schemas.openxmlformats.org/drawingml/2006/main">
              <a:ext uri="{FF2B5EF4-FFF2-40B4-BE49-F238E27FC236}">
                <a16:creationId xmlns:a16="http://schemas.microsoft.com/office/drawing/2014/main" id="{A547DBD7-D4F7-4E67-B3FB-3E126F58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minority classes matter during loss</a:t>
            </a:r>
          </a:p>
        </p:txBody>
      </p:sp>
      <p:sp>
        <p:nvSpPr>
          <p:cNvPr id="43" name="control-3">
            <a:extLst xmlns:a="http://schemas.openxmlformats.org/drawingml/2006/main">
              <a:ext uri="{FF2B5EF4-FFF2-40B4-BE49-F238E27FC236}">
                <a16:creationId xmlns:a16="http://schemas.microsoft.com/office/drawing/2014/main" id="{BE5E2960-9314-409E-8E7A-F51C6D55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4" name="control-3-title">
            <a:extLst xmlns:a="http://schemas.openxmlformats.org/drawingml/2006/main">
              <a:ext uri="{FF2B5EF4-FFF2-40B4-BE49-F238E27FC236}">
                <a16:creationId xmlns:a16="http://schemas.microsoft.com/office/drawing/2014/main" id="{35F8CC07-F65E-4E96-A293-A6ED223F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seed 42</a:t>
            </a:r>
          </a:p>
        </p:txBody>
      </p:sp>
      <p:sp>
        <p:nvSpPr>
          <p:cNvPr id="45" name="control-3-body">
            <a:extLst xmlns:a="http://schemas.openxmlformats.org/drawingml/2006/main">
              <a:ext uri="{FF2B5EF4-FFF2-40B4-BE49-F238E27FC236}">
                <a16:creationId xmlns:a16="http://schemas.microsoft.com/office/drawing/2014/main" id="{5C202F95-CAF9-475D-AC40-827E69FA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stratified 70 / 15 / 15 split</a:t>
            </a:r>
          </a:p>
        </p:txBody>
      </p:sp>
    </p:spTree>
    <p:extLst>
      <p:ext uri="{BB962C8B-B14F-4D97-AF65-F5344CB8AC3E}">
        <p14:creationId xmlns:p14="http://schemas.microsoft.com/office/powerpoint/2010/main" val="7772319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241F88D6-564B-45CD-81AE-3863455B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2F74205C-961C-4901-9037-7B6B7301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1596A845-217B-473E-AEE6-8D4079CC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08A07B-420D-4A98-B392-201AE0F7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model learns a probability for each sorting choice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D2BE28-68B8-4312-BFF7-5DEDD7BB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9318EF6-1B12-48C2-A104-5C710713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13/28</a:t>
            </a:r>
          </a:p>
        </p:txBody>
      </p:sp>
      <p:sp>
        <p:nvSpPr>
          <p:cNvPr id="7" name="input">
            <a:extLst xmlns:a="http://schemas.openxmlformats.org/drawingml/2006/main">
              <a:ext uri="{FF2B5EF4-FFF2-40B4-BE49-F238E27FC236}">
                <a16:creationId xmlns:a16="http://schemas.microsoft.com/office/drawing/2014/main" id="{2AC648DE-B19A-44A8-9928-D3EFEE8B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2095500" cy="29527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input-title">
            <a:extLst xmlns:a="http://schemas.openxmlformats.org/drawingml/2006/main">
              <a:ext uri="{FF2B5EF4-FFF2-40B4-BE49-F238E27FC236}">
                <a16:creationId xmlns:a16="http://schemas.microsoft.com/office/drawing/2014/main" id="{FD87A5BE-A76E-4E87-93ED-E73A3A31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52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52A"/>
                </a:solidFill>
              </a:defRPr>
            </a:pPr>
            <a:r>
              <a:rPr sz="1650" b="1">
                <a:solidFill>
                  <a:srgbClr val="B9152A"/>
                </a:solidFill>
              </a:rPr>
              <a:t>f(x) in R^16</a:t>
            </a:r>
          </a:p>
        </p:txBody>
      </p:sp>
      <p:sp>
        <p:nvSpPr>
          <p:cNvPr id="9" name="input-body">
            <a:extLst xmlns:a="http://schemas.openxmlformats.org/drawingml/2006/main">
              <a:ext uri="{FF2B5EF4-FFF2-40B4-BE49-F238E27FC236}">
                <a16:creationId xmlns:a16="http://schemas.microsoft.com/office/drawing/2014/main" id="{02E45B06-3580-41E2-9DCF-E254CDF2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76500"/>
            <a:ext cx="17526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length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runs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sortedness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duplicates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entropy</a:t>
            </a:r>
          </a:p>
        </p:txBody>
      </p:sp>
      <p:sp>
        <p:nvSpPr>
          <p:cNvPr id="10" name="model">
            <a:extLst xmlns:a="http://schemas.openxmlformats.org/drawingml/2006/main">
              <a:ext uri="{FF2B5EF4-FFF2-40B4-BE49-F238E27FC236}">
                <a16:creationId xmlns:a16="http://schemas.microsoft.com/office/drawing/2014/main" id="{6A00B763-BA0E-4739-9862-FE0DBA6D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00250"/>
            <a:ext cx="2857500" cy="29527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model-title">
            <a:extLst xmlns:a="http://schemas.openxmlformats.org/drawingml/2006/main">
              <a:ext uri="{FF2B5EF4-FFF2-40B4-BE49-F238E27FC236}">
                <a16:creationId xmlns:a16="http://schemas.microsoft.com/office/drawing/2014/main" id="{4643B65F-C842-4CE9-8A42-A0F22614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52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class probability model</a:t>
            </a:r>
          </a:p>
        </p:txBody>
      </p:sp>
      <p:sp>
        <p:nvSpPr>
          <p:cNvPr id="12" name="tree-dot-0">
            <a:extLst xmlns:a="http://schemas.openxmlformats.org/drawingml/2006/main">
              <a:ext uri="{FF2B5EF4-FFF2-40B4-BE49-F238E27FC236}">
                <a16:creationId xmlns:a16="http://schemas.microsoft.com/office/drawing/2014/main" id="{0B044A49-104A-43D6-8783-2BB3722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dot-1">
            <a:extLst xmlns:a="http://schemas.openxmlformats.org/drawingml/2006/main">
              <a:ext uri="{FF2B5EF4-FFF2-40B4-BE49-F238E27FC236}">
                <a16:creationId xmlns:a16="http://schemas.microsoft.com/office/drawing/2014/main" id="{A8DC1D54-354A-4651-8122-F122F3F0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ee-dot-2">
            <a:extLst xmlns:a="http://schemas.openxmlformats.org/drawingml/2006/main">
              <a:ext uri="{FF2B5EF4-FFF2-40B4-BE49-F238E27FC236}">
                <a16:creationId xmlns:a16="http://schemas.microsoft.com/office/drawing/2014/main" id="{DE660ED7-186B-4869-AF96-FB0DE28A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ee-dot-3">
            <a:extLst xmlns:a="http://schemas.openxmlformats.org/drawingml/2006/main">
              <a:ext uri="{FF2B5EF4-FFF2-40B4-BE49-F238E27FC236}">
                <a16:creationId xmlns:a16="http://schemas.microsoft.com/office/drawing/2014/main" id="{845B06B6-4293-4610-882A-6F3F69F6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100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dot-4">
            <a:extLst xmlns:a="http://schemas.openxmlformats.org/drawingml/2006/main">
              <a:ext uri="{FF2B5EF4-FFF2-40B4-BE49-F238E27FC236}">
                <a16:creationId xmlns:a16="http://schemas.microsoft.com/office/drawing/2014/main" id="{5774BCD5-8B56-431D-8AF4-BCC2C4C3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100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ee-l1">
            <a:extLst xmlns:a="http://schemas.openxmlformats.org/drawingml/2006/main">
              <a:ext uri="{FF2B5EF4-FFF2-40B4-BE49-F238E27FC236}">
                <a16:creationId xmlns:a16="http://schemas.microsoft.com/office/drawing/2014/main" id="{2F733AD7-707A-454E-BCBE-505EF00D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52750"/>
            <a:ext cx="37147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8" name="tree-l2">
            <a:extLst xmlns:a="http://schemas.openxmlformats.org/drawingml/2006/main">
              <a:ext uri="{FF2B5EF4-FFF2-40B4-BE49-F238E27FC236}">
                <a16:creationId xmlns:a16="http://schemas.microsoft.com/office/drawing/2014/main" id="{BE28D058-668B-45B3-B18B-95C94C0D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-38100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tree-l3">
            <a:extLst xmlns:a="http://schemas.openxmlformats.org/drawingml/2006/main">
              <a:ext uri="{FF2B5EF4-FFF2-40B4-BE49-F238E27FC236}">
                <a16:creationId xmlns:a16="http://schemas.microsoft.com/office/drawing/2014/main" id="{6D5A0175-D917-4E23-ABBD-0E0E40E6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-1809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0" name="tree-l4">
            <a:extLst xmlns:a="http://schemas.openxmlformats.org/drawingml/2006/main">
              <a:ext uri="{FF2B5EF4-FFF2-40B4-BE49-F238E27FC236}">
                <a16:creationId xmlns:a16="http://schemas.microsoft.com/office/drawing/2014/main" id="{5B88F1AE-4F73-478D-ABF8-73264D0B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2000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1" name="model-metric">
            <a:extLst xmlns:a="http://schemas.openxmlformats.org/drawingml/2006/main">
              <a:ext uri="{FF2B5EF4-FFF2-40B4-BE49-F238E27FC236}">
                <a16:creationId xmlns:a16="http://schemas.microsoft.com/office/drawing/2014/main" id="{EFD43409-7EC1-491A-BF9A-07305094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22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152A"/>
                </a:solidFill>
              </a:defRPr>
            </a:pPr>
            <a:r>
              <a:rPr sz="1125" b="1">
                <a:solidFill>
                  <a:srgbClr val="B9152A"/>
                </a:solidFill>
              </a:rPr>
              <a:t>objective: multi:softprob</a:t>
            </a:r>
          </a:p>
          <a:p xmlns:a="http://schemas.openxmlformats.org/drawingml/2006/main">
            <a:pPr algn="ctr">
              <a:defRPr sz="1125" b="1">
                <a:solidFill>
                  <a:srgbClr val="B9152A"/>
                </a:solidFill>
              </a:defRPr>
            </a:pPr>
            <a:r>
              <a:rPr sz="1125" b="1">
                <a:solidFill>
                  <a:srgbClr val="B9152A"/>
                </a:solidFill>
              </a:rPr>
              <a:t>metric: mlogloss</a:t>
            </a:r>
          </a:p>
        </p:txBody>
      </p:sp>
      <p:sp>
        <p:nvSpPr>
          <p:cNvPr id="22" name="output">
            <a:extLst xmlns:a="http://schemas.openxmlformats.org/drawingml/2006/main">
              <a:ext uri="{FF2B5EF4-FFF2-40B4-BE49-F238E27FC236}">
                <a16:creationId xmlns:a16="http://schemas.microsoft.com/office/drawing/2014/main" id="{B76FB7E9-C8D3-485A-B818-DFAEF2C9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00250"/>
            <a:ext cx="2286000" cy="2952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18A95047-F412-48AD-8F93-C29ADF87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526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output</a:t>
            </a:r>
          </a:p>
        </p:txBody>
      </p:sp>
      <p:sp>
        <p:nvSpPr>
          <p:cNvPr id="24" name="prob-name-0">
            <a:extLst xmlns:a="http://schemas.openxmlformats.org/drawingml/2006/main">
              <a:ext uri="{FF2B5EF4-FFF2-40B4-BE49-F238E27FC236}">
                <a16:creationId xmlns:a16="http://schemas.microsoft.com/office/drawing/2014/main" id="{FB0706E0-195E-4E90-9D96-AAC76566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146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Introsort</a:t>
            </a:r>
          </a:p>
        </p:txBody>
      </p:sp>
      <p:sp>
        <p:nvSpPr>
          <p:cNvPr id="25" name="prob-bar-0">
            <a:extLst xmlns:a="http://schemas.openxmlformats.org/drawingml/2006/main">
              <a:ext uri="{FF2B5EF4-FFF2-40B4-BE49-F238E27FC236}">
                <a16:creationId xmlns:a16="http://schemas.microsoft.com/office/drawing/2014/main" id="{A854A7EA-4D79-4F6F-8B28-57C84600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7717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rob-name-1">
            <a:extLst xmlns:a="http://schemas.openxmlformats.org/drawingml/2006/main">
              <a:ext uri="{FF2B5EF4-FFF2-40B4-BE49-F238E27FC236}">
                <a16:creationId xmlns:a16="http://schemas.microsoft.com/office/drawing/2014/main" id="{7768D947-803D-43F0-987A-3C9B5DC2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051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Heapsort</a:t>
            </a:r>
          </a:p>
        </p:txBody>
      </p:sp>
      <p:sp>
        <p:nvSpPr>
          <p:cNvPr id="27" name="prob-bar-1">
            <a:extLst xmlns:a="http://schemas.openxmlformats.org/drawingml/2006/main">
              <a:ext uri="{FF2B5EF4-FFF2-40B4-BE49-F238E27FC236}">
                <a16:creationId xmlns:a16="http://schemas.microsoft.com/office/drawing/2014/main" id="{9FBC23EF-10D9-4360-B2BC-20814C32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rob-name-2">
            <a:extLst xmlns:a="http://schemas.openxmlformats.org/drawingml/2006/main">
              <a:ext uri="{FF2B5EF4-FFF2-40B4-BE49-F238E27FC236}">
                <a16:creationId xmlns:a16="http://schemas.microsoft.com/office/drawing/2014/main" id="{38EF77F6-EB99-4691-BFCC-FF244627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957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1717"/>
                </a:solidFill>
              </a:defRPr>
            </a:pPr>
            <a:r>
              <a:rPr sz="975">
                <a:solidFill>
                  <a:srgbClr val="171717"/>
                </a:solidFill>
              </a:rPr>
              <a:t>Timsort</a:t>
            </a:r>
          </a:p>
        </p:txBody>
      </p:sp>
      <p:sp>
        <p:nvSpPr>
          <p:cNvPr id="29" name="prob-bar-2">
            <a:extLst xmlns:a="http://schemas.openxmlformats.org/drawingml/2006/main">
              <a:ext uri="{FF2B5EF4-FFF2-40B4-BE49-F238E27FC236}">
                <a16:creationId xmlns:a16="http://schemas.microsoft.com/office/drawing/2014/main" id="{2F07E677-3D1E-4C58-9F07-5FE70B6D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952875"/>
            <a:ext cx="904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oose">
            <a:extLst xmlns:a="http://schemas.openxmlformats.org/drawingml/2006/main">
              <a:ext uri="{FF2B5EF4-FFF2-40B4-BE49-F238E27FC236}">
                <a16:creationId xmlns:a16="http://schemas.microsoft.com/office/drawing/2014/main" id="{EB9CD911-FD8F-4213-81A8-9236236E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338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choose highest probability</a:t>
            </a:r>
          </a:p>
        </p:txBody>
      </p:sp>
      <p:sp>
        <p:nvSpPr>
          <p:cNvPr id="31" name="prob-a1-from">
            <a:extLst xmlns:a="http://schemas.openxmlformats.org/drawingml/2006/main">
              <a:ext uri="{FF2B5EF4-FFF2-40B4-BE49-F238E27FC236}">
                <a16:creationId xmlns:a16="http://schemas.microsoft.com/office/drawing/2014/main" id="{FFCF9304-E76A-409D-A48E-25D406AB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rob-a1-to">
            <a:extLst xmlns:a="http://schemas.openxmlformats.org/drawingml/2006/main">
              <a:ext uri="{FF2B5EF4-FFF2-40B4-BE49-F238E27FC236}">
                <a16:creationId xmlns:a16="http://schemas.microsoft.com/office/drawing/2014/main" id="{1BC9C72E-8380-4BBF-B945-56574081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prob-a1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3638550" y="34861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prob-a2-from">
            <a:extLst xmlns:a="http://schemas.openxmlformats.org/drawingml/2006/main">
              <a:ext uri="{FF2B5EF4-FFF2-40B4-BE49-F238E27FC236}">
                <a16:creationId xmlns:a16="http://schemas.microsoft.com/office/drawing/2014/main" id="{EE5C5674-020E-4604-9101-89BCCC45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rob-a2-to">
            <a:extLst xmlns:a="http://schemas.openxmlformats.org/drawingml/2006/main">
              <a:ext uri="{FF2B5EF4-FFF2-40B4-BE49-F238E27FC236}">
                <a16:creationId xmlns:a16="http://schemas.microsoft.com/office/drawing/2014/main" id="{C78F74CA-6989-4365-9EE5-8935CFE5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2" name="prob-a2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8543925" y="348615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6159385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5271197-2C0C-4CC4-80EB-C6223F79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62650025-D21B-4A07-B7F5-91539B2F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B1D8C29-3B48-40BE-9655-5411969D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C57A8E-2A32-4169-8D08-87BA8436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training signal is balanced before the trees learn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74454F-DDDA-4B6B-B068-68001EEA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15ECC7F-A9BA-4C15-80A7-BD25DBF0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14/28</a:t>
            </a:r>
          </a:p>
        </p:txBody>
      </p:sp>
      <p:sp>
        <p:nvSpPr>
          <p:cNvPr id="7" name="sig-0">
            <a:extLst xmlns:a="http://schemas.openxmlformats.org/drawingml/2006/main">
              <a:ext uri="{FF2B5EF4-FFF2-40B4-BE49-F238E27FC236}">
                <a16:creationId xmlns:a16="http://schemas.microsoft.com/office/drawing/2014/main" id="{54E65A95-7A32-4D73-8F09-6D0BCD7E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ig-0-title">
            <a:extLst xmlns:a="http://schemas.openxmlformats.org/drawingml/2006/main">
              <a:ext uri="{FF2B5EF4-FFF2-40B4-BE49-F238E27FC236}">
                <a16:creationId xmlns:a16="http://schemas.microsoft.com/office/drawing/2014/main" id="{1B70BC5E-7386-47E1-A4B9-8D40690E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raw fastest-label signal</a:t>
            </a:r>
          </a:p>
        </p:txBody>
      </p:sp>
      <p:sp>
        <p:nvSpPr>
          <p:cNvPr id="9" name="mini-bar-260-300-0">
            <a:extLst xmlns:a="http://schemas.openxmlformats.org/drawingml/2006/main">
              <a:ext uri="{FF2B5EF4-FFF2-40B4-BE49-F238E27FC236}">
                <a16:creationId xmlns:a16="http://schemas.microsoft.com/office/drawing/2014/main" id="{E1DD1012-F78C-47F4-8703-13C954F0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3083"/>
            <a:ext cx="152400" cy="173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ni-bar-260-300-1">
            <a:extLst xmlns:a="http://schemas.openxmlformats.org/drawingml/2006/main">
              <a:ext uri="{FF2B5EF4-FFF2-40B4-BE49-F238E27FC236}">
                <a16:creationId xmlns:a16="http://schemas.microsoft.com/office/drawing/2014/main" id="{A3602BE4-085B-4109-95EA-379CB822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587"/>
            <a:ext cx="152400" cy="295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ini-bar-260-300-2">
            <a:extLst xmlns:a="http://schemas.openxmlformats.org/drawingml/2006/main">
              <a:ext uri="{FF2B5EF4-FFF2-40B4-BE49-F238E27FC236}">
                <a16:creationId xmlns:a16="http://schemas.microsoft.com/office/drawing/2014/main" id="{B254B405-BD52-4113-A2AB-423CF8EA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0313"/>
            <a:ext cx="152400" cy="7463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ini-axis-260-300">
            <a:extLst xmlns:a="http://schemas.openxmlformats.org/drawingml/2006/main">
              <a:ext uri="{FF2B5EF4-FFF2-40B4-BE49-F238E27FC236}">
                <a16:creationId xmlns:a16="http://schemas.microsoft.com/office/drawing/2014/main" id="{6E85F2D9-3BC1-417F-B6F9-516972D9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sig-label-0">
            <a:extLst xmlns:a="http://schemas.openxmlformats.org/drawingml/2006/main">
              <a:ext uri="{FF2B5EF4-FFF2-40B4-BE49-F238E27FC236}">
                <a16:creationId xmlns:a16="http://schemas.microsoft.com/office/drawing/2014/main" id="{C2FDED55-B457-436F-9075-BC169F5D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intro   heap   tim</a:t>
            </a:r>
          </a:p>
        </p:txBody>
      </p:sp>
      <p:sp>
        <p:nvSpPr>
          <p:cNvPr id="14" name="sig-1">
            <a:extLst xmlns:a="http://schemas.openxmlformats.org/drawingml/2006/main">
              <a:ext uri="{FF2B5EF4-FFF2-40B4-BE49-F238E27FC236}">
                <a16:creationId xmlns:a16="http://schemas.microsoft.com/office/drawing/2014/main" id="{FA339100-7C4F-4ABE-A9DA-3AAFEEE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sig-1-title">
            <a:extLst xmlns:a="http://schemas.openxmlformats.org/drawingml/2006/main">
              <a:ext uri="{FF2B5EF4-FFF2-40B4-BE49-F238E27FC236}">
                <a16:creationId xmlns:a16="http://schemas.microsoft.com/office/drawing/2014/main" id="{D7EA40F5-BDD9-4583-9D0D-F5006CD4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training controls</a:t>
            </a:r>
          </a:p>
        </p:txBody>
      </p:sp>
      <p:sp>
        <p:nvSpPr>
          <p:cNvPr id="16" name="mini-bar-675-300-0">
            <a:extLst xmlns:a="http://schemas.openxmlformats.org/drawingml/2006/main">
              <a:ext uri="{FF2B5EF4-FFF2-40B4-BE49-F238E27FC236}">
                <a16:creationId xmlns:a16="http://schemas.microsoft.com/office/drawing/2014/main" id="{696B07F5-3105-41FB-B7E4-11644BB8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94803"/>
            <a:ext cx="152400" cy="3818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ni-bar-675-300-1">
            <a:extLst xmlns:a="http://schemas.openxmlformats.org/drawingml/2006/main">
              <a:ext uri="{FF2B5EF4-FFF2-40B4-BE49-F238E27FC236}">
                <a16:creationId xmlns:a16="http://schemas.microsoft.com/office/drawing/2014/main" id="{028ADAE6-3049-4C7E-A80C-612B493C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208020"/>
            <a:ext cx="1524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ni-bar-675-300-2">
            <a:extLst xmlns:a="http://schemas.openxmlformats.org/drawingml/2006/main">
              <a:ext uri="{FF2B5EF4-FFF2-40B4-BE49-F238E27FC236}">
                <a16:creationId xmlns:a16="http://schemas.microsoft.com/office/drawing/2014/main" id="{33937FC3-CE54-4A3D-A320-7894BD3D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42733"/>
            <a:ext cx="15240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ini-axis-675-300">
            <a:extLst xmlns:a="http://schemas.openxmlformats.org/drawingml/2006/main">
              <a:ext uri="{FF2B5EF4-FFF2-40B4-BE49-F238E27FC236}">
                <a16:creationId xmlns:a16="http://schemas.microsoft.com/office/drawing/2014/main" id="{A3AD787A-0AAC-4767-B422-E0202B20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ig-label-1">
            <a:extLst xmlns:a="http://schemas.openxmlformats.org/drawingml/2006/main">
              <a:ext uri="{FF2B5EF4-FFF2-40B4-BE49-F238E27FC236}">
                <a16:creationId xmlns:a16="http://schemas.microsoft.com/office/drawing/2014/main" id="{749B573C-7198-4A21-B6DE-003087F5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intro   heap   tim</a:t>
            </a:r>
          </a:p>
        </p:txBody>
      </p:sp>
      <p:sp>
        <p:nvSpPr>
          <p:cNvPr id="21" name="sig-2">
            <a:extLst xmlns:a="http://schemas.openxmlformats.org/drawingml/2006/main">
              <a:ext uri="{FF2B5EF4-FFF2-40B4-BE49-F238E27FC236}">
                <a16:creationId xmlns:a16="http://schemas.microsoft.com/office/drawing/2014/main" id="{9C479D3E-933D-44E4-8473-C48433B9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sig-2-title">
            <a:extLst xmlns:a="http://schemas.openxmlformats.org/drawingml/2006/main">
              <a:ext uri="{FF2B5EF4-FFF2-40B4-BE49-F238E27FC236}">
                <a16:creationId xmlns:a16="http://schemas.microsoft.com/office/drawing/2014/main" id="{46632D6A-DC26-45C5-A7CA-D621AC69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balanced loss pressure</a:t>
            </a:r>
          </a:p>
        </p:txBody>
      </p:sp>
      <p:sp>
        <p:nvSpPr>
          <p:cNvPr id="23" name="mini-bar-1090-300-0">
            <a:extLst xmlns:a="http://schemas.openxmlformats.org/drawingml/2006/main">
              <a:ext uri="{FF2B5EF4-FFF2-40B4-BE49-F238E27FC236}">
                <a16:creationId xmlns:a16="http://schemas.microsoft.com/office/drawing/2014/main" id="{7F0516EE-1937-4BC6-B9FC-0B3DDD78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42733"/>
            <a:ext cx="15240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ini-bar-1090-300-1">
            <a:extLst xmlns:a="http://schemas.openxmlformats.org/drawingml/2006/main">
              <a:ext uri="{FF2B5EF4-FFF2-40B4-BE49-F238E27FC236}">
                <a16:creationId xmlns:a16="http://schemas.microsoft.com/office/drawing/2014/main" id="{F9515CFF-F0D3-4703-8E28-70BF04FC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25377"/>
            <a:ext cx="152400" cy="45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ini-bar-1090-300-2">
            <a:extLst xmlns:a="http://schemas.openxmlformats.org/drawingml/2006/main">
              <a:ext uri="{FF2B5EF4-FFF2-40B4-BE49-F238E27FC236}">
                <a16:creationId xmlns:a16="http://schemas.microsoft.com/office/drawing/2014/main" id="{948A44B7-6E91-41A3-B3AB-A5B48EF9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4055"/>
            <a:ext cx="152400" cy="442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ini-axis-1090-300">
            <a:extLst xmlns:a="http://schemas.openxmlformats.org/drawingml/2006/main">
              <a:ext uri="{FF2B5EF4-FFF2-40B4-BE49-F238E27FC236}">
                <a16:creationId xmlns:a16="http://schemas.microsoft.com/office/drawing/2014/main" id="{E0E415F9-4B60-475B-B147-DDD66114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sig-label-2">
            <a:extLst xmlns:a="http://schemas.openxmlformats.org/drawingml/2006/main">
              <a:ext uri="{FF2B5EF4-FFF2-40B4-BE49-F238E27FC236}">
                <a16:creationId xmlns:a16="http://schemas.microsoft.com/office/drawing/2014/main" id="{DEDE8775-74C3-4A43-944A-6822AC76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intro   heap   tim</a:t>
            </a:r>
          </a:p>
        </p:txBody>
      </p:sp>
      <p:sp>
        <p:nvSpPr>
          <p:cNvPr id="28" name="sig-a1-from">
            <a:extLst xmlns:a="http://schemas.openxmlformats.org/drawingml/2006/main">
              <a:ext uri="{FF2B5EF4-FFF2-40B4-BE49-F238E27FC236}">
                <a16:creationId xmlns:a16="http://schemas.microsoft.com/office/drawing/2014/main" id="{D6112722-0586-4DF2-A802-086A9F0A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ig-a1-to">
            <a:extLst xmlns:a="http://schemas.openxmlformats.org/drawingml/2006/main">
              <a:ext uri="{FF2B5EF4-FFF2-40B4-BE49-F238E27FC236}">
                <a16:creationId xmlns:a16="http://schemas.microsoft.com/office/drawing/2014/main" id="{AEE25333-2B3A-42CB-AA75-7EF3891D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4" name="sig-a1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4400550" y="32480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ig-a2-from">
            <a:extLst xmlns:a="http://schemas.openxmlformats.org/drawingml/2006/main">
              <a:ext uri="{FF2B5EF4-FFF2-40B4-BE49-F238E27FC236}">
                <a16:creationId xmlns:a16="http://schemas.microsoft.com/office/drawing/2014/main" id="{8FFFC11D-C773-4513-BC0E-19BDE80A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ig-a2-to">
            <a:extLst xmlns:a="http://schemas.openxmlformats.org/drawingml/2006/main">
              <a:ext uri="{FF2B5EF4-FFF2-40B4-BE49-F238E27FC236}">
                <a16:creationId xmlns:a16="http://schemas.microsoft.com/office/drawing/2014/main" id="{9EAF1D38-2B73-4519-BF4E-774CD135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7" name="sig-a2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8353425" y="32480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sig-bottom">
            <a:extLst xmlns:a="http://schemas.openxmlformats.org/drawingml/2006/main">
              <a:ext uri="{FF2B5EF4-FFF2-40B4-BE49-F238E27FC236}">
                <a16:creationId xmlns:a16="http://schemas.microsoft.com/office/drawing/2014/main" id="{C8E9EB13-0223-4E32-8D17-1907EACA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67375"/>
            <a:ext cx="767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near-tie filtering + majority cap + inverse-frequency sample weights</a:t>
            </a:r>
          </a:p>
        </p:txBody>
      </p:sp>
    </p:spTree>
    <p:extLst>
      <p:ext uri="{BB962C8B-B14F-4D97-AF65-F5344CB8AC3E}">
        <p14:creationId xmlns:p14="http://schemas.microsoft.com/office/powerpoint/2010/main" val="19191499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1ED587E7-AC66-476E-804E-502B3C1A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56EA320-1F9F-4B6F-8BA2-72C8ED6F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2FA4704B-5B6D-4F9B-B29D-70AA0EE0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C7E28E-FE26-4D59-8A83-831D1329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XGBoost corrects class scores using first and second order information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37438C0-26CC-41D1-9EE2-F2B756A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305F57A-19E3-4197-9CDF-A972F3A4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15/28</a:t>
            </a:r>
          </a:p>
        </p:txBody>
      </p:sp>
      <p:sp>
        <p:nvSpPr>
          <p:cNvPr id="7" name="gradframe">
            <a:extLst xmlns:a="http://schemas.openxmlformats.org/drawingml/2006/main">
              <a:ext uri="{FF2B5EF4-FFF2-40B4-BE49-F238E27FC236}">
                <a16:creationId xmlns:a16="http://schemas.microsoft.com/office/drawing/2014/main" id="{59F7FF1D-280B-4848-AB40-FFBC8666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10525125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grad">
            <a:extLst xmlns:a="http://schemas.openxmlformats.org/drawingml/2006/main">
              <a:ext uri="{FF2B5EF4-FFF2-40B4-BE49-F238E27FC236}">
                <a16:creationId xmlns:a16="http://schemas.microsoft.com/office/drawing/2014/main" id="{24BD7957-99F0-4491-BF8A-79998490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grad-title">
            <a:extLst xmlns:a="http://schemas.openxmlformats.org/drawingml/2006/main">
              <a:ext uri="{FF2B5EF4-FFF2-40B4-BE49-F238E27FC236}">
                <a16:creationId xmlns:a16="http://schemas.microsoft.com/office/drawing/2014/main" id="{8802BE7E-9EA1-4584-8AEE-4275721D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527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52A"/>
                </a:solidFill>
              </a:defRPr>
            </a:pPr>
            <a:r>
              <a:rPr sz="1650" b="1">
                <a:solidFill>
                  <a:srgbClr val="B9152A"/>
                </a:solidFill>
              </a:rPr>
              <a:t>first-order gradient</a:t>
            </a:r>
          </a:p>
        </p:txBody>
      </p:sp>
      <p:sp>
        <p:nvSpPr>
          <p:cNvPr id="10" name="grad-body">
            <a:extLst xmlns:a="http://schemas.openxmlformats.org/drawingml/2006/main">
              <a:ext uri="{FF2B5EF4-FFF2-40B4-BE49-F238E27FC236}">
                <a16:creationId xmlns:a16="http://schemas.microsoft.com/office/drawing/2014/main" id="{3A62C672-037B-4005-ADCA-6D1520FD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7662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direction of score correction</a:t>
            </a:r>
          </a:p>
        </p:txBody>
      </p:sp>
      <p:sp>
        <p:nvSpPr>
          <p:cNvPr id="11" name="grad-symbol">
            <a:extLst xmlns:a="http://schemas.openxmlformats.org/drawingml/2006/main">
              <a:ext uri="{FF2B5EF4-FFF2-40B4-BE49-F238E27FC236}">
                <a16:creationId xmlns:a16="http://schemas.microsoft.com/office/drawing/2014/main" id="{9BDE7948-8697-4873-A7C5-CDE1EE49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52A"/>
                </a:solidFill>
              </a:defRPr>
            </a:pPr>
            <a:r>
              <a:rPr sz="2100" b="1">
                <a:solidFill>
                  <a:srgbClr val="B9152A"/>
                </a:solidFill>
              </a:rPr>
              <a:t>∂L/∂ŷ</a:t>
            </a:r>
          </a:p>
        </p:txBody>
      </p:sp>
      <p:sp>
        <p:nvSpPr>
          <p:cNvPr id="12" name="hess">
            <a:extLst xmlns:a="http://schemas.openxmlformats.org/drawingml/2006/main">
              <a:ext uri="{FF2B5EF4-FFF2-40B4-BE49-F238E27FC236}">
                <a16:creationId xmlns:a16="http://schemas.microsoft.com/office/drawing/2014/main" id="{7421C7F5-BA9B-48DB-BAF4-1E66B01D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hess-title">
            <a:extLst xmlns:a="http://schemas.openxmlformats.org/drawingml/2006/main">
              <a:ext uri="{FF2B5EF4-FFF2-40B4-BE49-F238E27FC236}">
                <a16:creationId xmlns:a16="http://schemas.microsoft.com/office/drawing/2014/main" id="{91CA271B-0ED1-4DA4-BBF7-3A38585F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527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52A"/>
                </a:solidFill>
              </a:defRPr>
            </a:pPr>
            <a:r>
              <a:rPr sz="1650" b="1">
                <a:solidFill>
                  <a:srgbClr val="B9152A"/>
                </a:solidFill>
              </a:rPr>
              <a:t>second-order Hessian</a:t>
            </a:r>
          </a:p>
        </p:txBody>
      </p:sp>
      <p:sp>
        <p:nvSpPr>
          <p:cNvPr id="14" name="hess-body">
            <a:extLst xmlns:a="http://schemas.openxmlformats.org/drawingml/2006/main">
              <a:ext uri="{FF2B5EF4-FFF2-40B4-BE49-F238E27FC236}">
                <a16:creationId xmlns:a16="http://schemas.microsoft.com/office/drawing/2014/main" id="{38CD2E43-A85E-4E38-AA2C-4BF3826C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7662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curvature / strength of correction</a:t>
            </a:r>
          </a:p>
        </p:txBody>
      </p:sp>
      <p:sp>
        <p:nvSpPr>
          <p:cNvPr id="15" name="hess-symbol">
            <a:extLst xmlns:a="http://schemas.openxmlformats.org/drawingml/2006/main">
              <a:ext uri="{FF2B5EF4-FFF2-40B4-BE49-F238E27FC236}">
                <a16:creationId xmlns:a16="http://schemas.microsoft.com/office/drawing/2014/main" id="{672FF8A5-73FC-4047-A4DB-EE732834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52A"/>
                </a:solidFill>
              </a:defRPr>
            </a:pPr>
            <a:r>
              <a:rPr sz="2100" b="1">
                <a:solidFill>
                  <a:srgbClr val="B9152A"/>
                </a:solidFill>
              </a:rPr>
              <a:t>∂²L/∂ŷ²</a:t>
            </a:r>
          </a:p>
        </p:txBody>
      </p:sp>
      <p:sp>
        <p:nvSpPr>
          <p:cNvPr id="16" name="gh-arrow-from">
            <a:extLst xmlns:a="http://schemas.openxmlformats.org/drawingml/2006/main">
              <a:ext uri="{FF2B5EF4-FFF2-40B4-BE49-F238E27FC236}">
                <a16:creationId xmlns:a16="http://schemas.microsoft.com/office/drawing/2014/main" id="{D8BB30D7-9FFD-4B3C-A269-4918B98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h-arrow-to">
            <a:extLst xmlns:a="http://schemas.openxmlformats.org/drawingml/2006/main">
              <a:ext uri="{FF2B5EF4-FFF2-40B4-BE49-F238E27FC236}">
                <a16:creationId xmlns:a16="http://schemas.microsoft.com/office/drawing/2014/main" id="{7F308657-EAEC-4811-8065-D713018C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gh-arrow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305550" y="3581400"/>
            <a:ext cx="2028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gh-bottom">
            <a:extLst xmlns:a="http://schemas.openxmlformats.org/drawingml/2006/main">
              <a:ext uri="{FF2B5EF4-FFF2-40B4-BE49-F238E27FC236}">
                <a16:creationId xmlns:a16="http://schemas.microsoft.com/office/drawing/2014/main" id="{8333354C-CCE5-43F5-9045-CE5FB2BC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01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152A"/>
                </a:solidFill>
              </a:defRPr>
            </a:pPr>
            <a:r>
              <a:rPr sz="1125" b="1">
                <a:solidFill>
                  <a:srgbClr val="B9152A"/>
                </a:solidFill>
              </a:rPr>
              <a:t>multi:softprob + mlogloss</a:t>
            </a:r>
          </a:p>
        </p:txBody>
      </p:sp>
    </p:spTree>
    <p:extLst>
      <p:ext uri="{BB962C8B-B14F-4D97-AF65-F5344CB8AC3E}">
        <p14:creationId xmlns:p14="http://schemas.microsoft.com/office/powerpoint/2010/main" val="10563282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7A383678-5389-4D26-A5C6-B1E8B897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85B823E-5E8C-4AC0-B84F-36C7A88D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CF3428D1-848E-4C6C-B946-982379AC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5C9044-E461-4023-AB1C-8670C054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ensemble is constrained so it does not overfit timing noise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BBD9779-3BD7-4440-A0AD-47358ACC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D9D4968-45D3-4F52-8C99-0D9BD679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16/28</a:t>
            </a:r>
          </a:p>
        </p:txBody>
      </p:sp>
      <p:sp>
        <p:nvSpPr>
          <p:cNvPr id="7" name="tree-0">
            <a:extLst xmlns:a="http://schemas.openxmlformats.org/drawingml/2006/main">
              <a:ext uri="{FF2B5EF4-FFF2-40B4-BE49-F238E27FC236}">
                <a16:creationId xmlns:a16="http://schemas.microsoft.com/office/drawing/2014/main" id="{681D3BB4-6F2B-4D81-B666-71C15D06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762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tr-dot-0-0">
            <a:extLst xmlns:a="http://schemas.openxmlformats.org/drawingml/2006/main">
              <a:ext uri="{FF2B5EF4-FFF2-40B4-BE49-F238E27FC236}">
                <a16:creationId xmlns:a16="http://schemas.microsoft.com/office/drawing/2014/main" id="{F9447B12-619C-4431-AF9F-75252F5C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78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-dot-0-1">
            <a:extLst xmlns:a="http://schemas.openxmlformats.org/drawingml/2006/main">
              <a:ext uri="{FF2B5EF4-FFF2-40B4-BE49-F238E27FC236}">
                <a16:creationId xmlns:a16="http://schemas.microsoft.com/office/drawing/2014/main" id="{FB25D9DA-FE94-432A-9BA4-D74D1E9A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r-dot-0-2">
            <a:extLst xmlns:a="http://schemas.openxmlformats.org/drawingml/2006/main">
              <a:ext uri="{FF2B5EF4-FFF2-40B4-BE49-F238E27FC236}">
                <a16:creationId xmlns:a16="http://schemas.microsoft.com/office/drawing/2014/main" id="{03079DCD-90A5-436B-B0A5-CA39B02D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-line-0-1">
            <a:extLst xmlns:a="http://schemas.openxmlformats.org/drawingml/2006/main">
              <a:ext uri="{FF2B5EF4-FFF2-40B4-BE49-F238E27FC236}">
                <a16:creationId xmlns:a16="http://schemas.microsoft.com/office/drawing/2014/main" id="{9EE310EA-9D41-4170-AC48-4EAF1ABC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05125"/>
            <a:ext cx="-2381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2" name="tr-line-0-2">
            <a:extLst xmlns:a="http://schemas.openxmlformats.org/drawingml/2006/main">
              <a:ext uri="{FF2B5EF4-FFF2-40B4-BE49-F238E27FC236}">
                <a16:creationId xmlns:a16="http://schemas.microsoft.com/office/drawing/2014/main" id="{FA320364-44FA-4F22-A7CD-6CBF4358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05125"/>
            <a:ext cx="2571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3" name="tree-1">
            <a:extLst xmlns:a="http://schemas.openxmlformats.org/drawingml/2006/main">
              <a:ext uri="{FF2B5EF4-FFF2-40B4-BE49-F238E27FC236}">
                <a16:creationId xmlns:a16="http://schemas.microsoft.com/office/drawing/2014/main" id="{A9D50050-DA3D-48E8-9D77-B2800737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762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tr-dot-1-0">
            <a:extLst xmlns:a="http://schemas.openxmlformats.org/drawingml/2006/main">
              <a:ext uri="{FF2B5EF4-FFF2-40B4-BE49-F238E27FC236}">
                <a16:creationId xmlns:a16="http://schemas.microsoft.com/office/drawing/2014/main" id="{C3CAD890-E66B-4AAF-B7E8-D22DD09D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-dot-1-1">
            <a:extLst xmlns:a="http://schemas.openxmlformats.org/drawingml/2006/main">
              <a:ext uri="{FF2B5EF4-FFF2-40B4-BE49-F238E27FC236}">
                <a16:creationId xmlns:a16="http://schemas.microsoft.com/office/drawing/2014/main" id="{161A5A05-280E-4145-80E9-DBC993A0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-dot-1-2">
            <a:extLst xmlns:a="http://schemas.openxmlformats.org/drawingml/2006/main">
              <a:ext uri="{FF2B5EF4-FFF2-40B4-BE49-F238E27FC236}">
                <a16:creationId xmlns:a16="http://schemas.microsoft.com/office/drawing/2014/main" id="{C540570B-29C2-482D-B8EB-8E8FDD72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-line-1-1">
            <a:extLst xmlns:a="http://schemas.openxmlformats.org/drawingml/2006/main">
              <a:ext uri="{FF2B5EF4-FFF2-40B4-BE49-F238E27FC236}">
                <a16:creationId xmlns:a16="http://schemas.microsoft.com/office/drawing/2014/main" id="{7B22894C-4CEA-4BD7-96E1-5CE08861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-2381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8" name="tr-line-1-2">
            <a:extLst xmlns:a="http://schemas.openxmlformats.org/drawingml/2006/main">
              <a:ext uri="{FF2B5EF4-FFF2-40B4-BE49-F238E27FC236}">
                <a16:creationId xmlns:a16="http://schemas.microsoft.com/office/drawing/2014/main" id="{862B14E7-046A-46F9-8677-69A4B6F4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2571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tree-2">
            <a:extLst xmlns:a="http://schemas.openxmlformats.org/drawingml/2006/main">
              <a:ext uri="{FF2B5EF4-FFF2-40B4-BE49-F238E27FC236}">
                <a16:creationId xmlns:a16="http://schemas.microsoft.com/office/drawing/2014/main" id="{6BF5ECC3-4D35-4C15-9E6E-43A481FF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0" cy="1619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tr-dot-2-0">
            <a:extLst xmlns:a="http://schemas.openxmlformats.org/drawingml/2006/main">
              <a:ext uri="{FF2B5EF4-FFF2-40B4-BE49-F238E27FC236}">
                <a16:creationId xmlns:a16="http://schemas.microsoft.com/office/drawing/2014/main" id="{6B30E2E4-CB66-46DD-A657-E0C937D8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-dot-2-1">
            <a:extLst xmlns:a="http://schemas.openxmlformats.org/drawingml/2006/main">
              <a:ext uri="{FF2B5EF4-FFF2-40B4-BE49-F238E27FC236}">
                <a16:creationId xmlns:a16="http://schemas.microsoft.com/office/drawing/2014/main" id="{58FFCE3B-CC39-4ED8-B23E-51532CF1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-dot-2-2">
            <a:extLst xmlns:a="http://schemas.openxmlformats.org/drawingml/2006/main">
              <a:ext uri="{FF2B5EF4-FFF2-40B4-BE49-F238E27FC236}">
                <a16:creationId xmlns:a16="http://schemas.microsoft.com/office/drawing/2014/main" id="{99E5F37F-FFE9-4AB4-AD74-9E53DA9B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r-line-2-1">
            <a:extLst xmlns:a="http://schemas.openxmlformats.org/drawingml/2006/main">
              <a:ext uri="{FF2B5EF4-FFF2-40B4-BE49-F238E27FC236}">
                <a16:creationId xmlns:a16="http://schemas.microsoft.com/office/drawing/2014/main" id="{7C114C9B-CA7A-4827-8E1E-0B1644BA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05125"/>
            <a:ext cx="-2381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4" name="tr-line-2-2">
            <a:extLst xmlns:a="http://schemas.openxmlformats.org/drawingml/2006/main">
              <a:ext uri="{FF2B5EF4-FFF2-40B4-BE49-F238E27FC236}">
                <a16:creationId xmlns:a16="http://schemas.microsoft.com/office/drawing/2014/main" id="{E692167D-4A0F-4A86-A185-F1AED967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05125"/>
            <a:ext cx="2571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5" name="ens-lab-0">
            <a:extLst xmlns:a="http://schemas.openxmlformats.org/drawingml/2006/main">
              <a:ext uri="{FF2B5EF4-FFF2-40B4-BE49-F238E27FC236}">
                <a16:creationId xmlns:a16="http://schemas.microsoft.com/office/drawing/2014/main" id="{F1F5DBA8-5435-4D7A-9127-1186E96C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ens-lab-0-title">
            <a:extLst xmlns:a="http://schemas.openxmlformats.org/drawingml/2006/main">
              <a:ext uri="{FF2B5EF4-FFF2-40B4-BE49-F238E27FC236}">
                <a16:creationId xmlns:a16="http://schemas.microsoft.com/office/drawing/2014/main" id="{0C249A3A-8279-4003-B7F3-EC525F6B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621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learning rate 0.05</a:t>
            </a:r>
          </a:p>
        </p:txBody>
      </p:sp>
      <p:sp>
        <p:nvSpPr>
          <p:cNvPr id="27" name="ens-line-0">
            <a:extLst xmlns:a="http://schemas.openxmlformats.org/drawingml/2006/main">
              <a:ext uri="{FF2B5EF4-FFF2-40B4-BE49-F238E27FC236}">
                <a16:creationId xmlns:a16="http://schemas.microsoft.com/office/drawing/2014/main" id="{217C4C73-1714-43E9-9ACA-392C664C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9775"/>
            <a:ext cx="42862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  <p:sp>
        <p:nvSpPr>
          <p:cNvPr id="28" name="ens-lab-1">
            <a:extLst xmlns:a="http://schemas.openxmlformats.org/drawingml/2006/main">
              <a:ext uri="{FF2B5EF4-FFF2-40B4-BE49-F238E27FC236}">
                <a16:creationId xmlns:a16="http://schemas.microsoft.com/office/drawing/2014/main" id="{63B12530-1328-4E33-A80A-DA93ED25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ens-lab-1-title">
            <a:extLst xmlns:a="http://schemas.openxmlformats.org/drawingml/2006/main">
              <a:ext uri="{FF2B5EF4-FFF2-40B4-BE49-F238E27FC236}">
                <a16:creationId xmlns:a16="http://schemas.microsoft.com/office/drawing/2014/main" id="{78B5D90E-331A-4207-AB19-23F9DD71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depth 7</a:t>
            </a:r>
          </a:p>
        </p:txBody>
      </p:sp>
      <p:sp>
        <p:nvSpPr>
          <p:cNvPr id="30" name="ens-line-1">
            <a:extLst xmlns:a="http://schemas.openxmlformats.org/drawingml/2006/main">
              <a:ext uri="{FF2B5EF4-FFF2-40B4-BE49-F238E27FC236}">
                <a16:creationId xmlns:a16="http://schemas.microsoft.com/office/drawing/2014/main" id="{054FBF38-54B7-4A29-8BDF-D7A420B9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28575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31" name="ens-lab-2">
            <a:extLst xmlns:a="http://schemas.openxmlformats.org/drawingml/2006/main">
              <a:ext uri="{FF2B5EF4-FFF2-40B4-BE49-F238E27FC236}">
                <a16:creationId xmlns:a16="http://schemas.microsoft.com/office/drawing/2014/main" id="{54EF2273-3166-4820-A0CB-07AA5DB2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97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ens-lab-2-title">
            <a:extLst xmlns:a="http://schemas.openxmlformats.org/drawingml/2006/main">
              <a:ext uri="{FF2B5EF4-FFF2-40B4-BE49-F238E27FC236}">
                <a16:creationId xmlns:a16="http://schemas.microsoft.com/office/drawing/2014/main" id="{314FE0BD-B7A2-4D3C-AD11-6F352ACB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621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500 trees</a:t>
            </a:r>
          </a:p>
        </p:txBody>
      </p:sp>
      <p:sp>
        <p:nvSpPr>
          <p:cNvPr id="33" name="ens-line-2">
            <a:extLst xmlns:a="http://schemas.openxmlformats.org/drawingml/2006/main">
              <a:ext uri="{FF2B5EF4-FFF2-40B4-BE49-F238E27FC236}">
                <a16:creationId xmlns:a16="http://schemas.microsoft.com/office/drawing/2014/main" id="{3F53D6F4-8876-44CD-94A5-F1158019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9775"/>
            <a:ext cx="-109537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  <p:sp>
        <p:nvSpPr>
          <p:cNvPr id="34" name="ens-lab-3">
            <a:extLst xmlns:a="http://schemas.openxmlformats.org/drawingml/2006/main">
              <a:ext uri="{FF2B5EF4-FFF2-40B4-BE49-F238E27FC236}">
                <a16:creationId xmlns:a16="http://schemas.microsoft.com/office/drawing/2014/main" id="{E10D5A40-D36B-4C25-A78F-44DE7079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ens-lab-3-title">
            <a:extLst xmlns:a="http://schemas.openxmlformats.org/drawingml/2006/main">
              <a:ext uri="{FF2B5EF4-FFF2-40B4-BE49-F238E27FC236}">
                <a16:creationId xmlns:a16="http://schemas.microsoft.com/office/drawing/2014/main" id="{4528952C-191C-4CF5-8F62-9AD6CEC1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row sample 80%</a:t>
            </a:r>
          </a:p>
        </p:txBody>
      </p:sp>
      <p:sp>
        <p:nvSpPr>
          <p:cNvPr id="36" name="ens-line-3">
            <a:extLst xmlns:a="http://schemas.openxmlformats.org/drawingml/2006/main">
              <a:ext uri="{FF2B5EF4-FFF2-40B4-BE49-F238E27FC236}">
                <a16:creationId xmlns:a16="http://schemas.microsoft.com/office/drawing/2014/main" id="{DC428364-B576-4E77-9289-A9065D5D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43525"/>
            <a:ext cx="428625" cy="-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37" name="ens-lab-4">
            <a:extLst xmlns:a="http://schemas.openxmlformats.org/drawingml/2006/main">
              <a:ext uri="{FF2B5EF4-FFF2-40B4-BE49-F238E27FC236}">
                <a16:creationId xmlns:a16="http://schemas.microsoft.com/office/drawing/2014/main" id="{EFD84191-CC17-456B-86DD-11366CA8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292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ens-lab-4-title">
            <a:extLst xmlns:a="http://schemas.openxmlformats.org/drawingml/2006/main">
              <a:ext uri="{FF2B5EF4-FFF2-40B4-BE49-F238E27FC236}">
                <a16:creationId xmlns:a16="http://schemas.microsoft.com/office/drawing/2014/main" id="{88DD88CB-A82B-400A-A21B-C4265025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81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feature sample 80%</a:t>
            </a:r>
          </a:p>
        </p:txBody>
      </p:sp>
      <p:sp>
        <p:nvSpPr>
          <p:cNvPr id="39" name="ens-line-4">
            <a:extLst xmlns:a="http://schemas.openxmlformats.org/drawingml/2006/main">
              <a:ext uri="{FF2B5EF4-FFF2-40B4-BE49-F238E27FC236}">
                <a16:creationId xmlns:a16="http://schemas.microsoft.com/office/drawing/2014/main" id="{B11E6BEA-7D37-4063-8476-9ABF264A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29275"/>
            <a:ext cx="285750" cy="-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4511E"/>
            </a:solidFill>
            <a:prstDash val="solid"/>
          </a:ln>
        </p:spPr>
      </p:sp>
      <p:sp>
        <p:nvSpPr>
          <p:cNvPr id="40" name="ens-lab-5">
            <a:extLst xmlns:a="http://schemas.openxmlformats.org/drawingml/2006/main">
              <a:ext uri="{FF2B5EF4-FFF2-40B4-BE49-F238E27FC236}">
                <a16:creationId xmlns:a16="http://schemas.microsoft.com/office/drawing/2014/main" id="{480B767C-510F-42AA-8633-BFA2B87C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4350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ens-lab-5-title">
            <a:extLst xmlns:a="http://schemas.openxmlformats.org/drawingml/2006/main">
              <a:ext uri="{FF2B5EF4-FFF2-40B4-BE49-F238E27FC236}">
                <a16:creationId xmlns:a16="http://schemas.microsoft.com/office/drawing/2014/main" id="{4AF1268C-2316-4550-BC29-261CD766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2959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L1 / L2 regularisation</a:t>
            </a:r>
          </a:p>
        </p:txBody>
      </p:sp>
      <p:sp>
        <p:nvSpPr>
          <p:cNvPr id="42" name="ens-line-5">
            <a:extLst xmlns:a="http://schemas.openxmlformats.org/drawingml/2006/main">
              <a:ext uri="{FF2B5EF4-FFF2-40B4-BE49-F238E27FC236}">
                <a16:creationId xmlns:a16="http://schemas.microsoft.com/office/drawing/2014/main" id="{68291FD7-A9DB-4DF0-B43F-C89EF89B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43525"/>
            <a:ext cx="-1000125" cy="-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7930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F60F6ED1-A3AF-4EEC-B18A-77F807E0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35BEA62-39D3-4E8D-AFA2-92B1FF07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3FAFAA1-5A9F-4A40-AE4A-4D56E7BA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D60952-79F0-49C1-A0D3-1BB1A663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Strict checks define the boundary of the reported result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A94E78-71F3-4BBD-B38F-BA20F373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31798AA-1400-4421-B465-FCD67A9F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17/28</a:t>
            </a:r>
          </a:p>
        </p:txBody>
      </p:sp>
      <p:sp>
        <p:nvSpPr>
          <p:cNvPr id="7" name="strict-chart">
            <a:extLst xmlns:a="http://schemas.openxmlformats.org/drawingml/2006/main">
              <a:ext uri="{FF2B5EF4-FFF2-40B4-BE49-F238E27FC236}">
                <a16:creationId xmlns:a16="http://schemas.microsoft.com/office/drawing/2014/main" id="{79F9A764-47B0-4C31-8326-14237B18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714500"/>
            <a:ext cx="10858500" cy="4238625"/>
          </a:xfrm>
          <a:prstGeom xmlns:a="http://schemas.openxmlformats.org/drawingml/2006/main" prst="roundRect">
            <a:avLst>
              <a:gd name="adj" fmla="val 1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trict-axis">
            <a:extLst xmlns:a="http://schemas.openxmlformats.org/drawingml/2006/main">
              <a:ext uri="{FF2B5EF4-FFF2-40B4-BE49-F238E27FC236}">
                <a16:creationId xmlns:a16="http://schemas.microsoft.com/office/drawing/2014/main" id="{24440E66-E100-45A2-B78B-8DF19C4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1490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strict-yaxis">
            <a:extLst xmlns:a="http://schemas.openxmlformats.org/drawingml/2006/main">
              <a:ext uri="{FF2B5EF4-FFF2-40B4-BE49-F238E27FC236}">
                <a16:creationId xmlns:a16="http://schemas.microsoft.com/office/drawing/2014/main" id="{B8678F15-D757-4B07-B2FD-121F31C0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812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strict-bar-0-0">
            <a:extLst xmlns:a="http://schemas.openxmlformats.org/drawingml/2006/main">
              <a:ext uri="{FF2B5EF4-FFF2-40B4-BE49-F238E27FC236}">
                <a16:creationId xmlns:a16="http://schemas.microsoft.com/office/drawing/2014/main" id="{05707C51-CBE3-48CE-AD92-D9D91871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75254"/>
            <a:ext cx="419100" cy="173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ict-val-0-0">
            <a:extLst xmlns:a="http://schemas.openxmlformats.org/drawingml/2006/main">
              <a:ext uri="{FF2B5EF4-FFF2-40B4-BE49-F238E27FC236}">
                <a16:creationId xmlns:a16="http://schemas.microsoft.com/office/drawing/2014/main" id="{EED5D0EA-FAE3-4BF0-8D60-618AD838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760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76.1%</a:t>
            </a:r>
          </a:p>
        </p:txBody>
      </p:sp>
      <p:sp>
        <p:nvSpPr>
          <p:cNvPr id="12" name="strict-bar-0-1">
            <a:extLst xmlns:a="http://schemas.openxmlformats.org/drawingml/2006/main">
              <a:ext uri="{FF2B5EF4-FFF2-40B4-BE49-F238E27FC236}">
                <a16:creationId xmlns:a16="http://schemas.microsoft.com/office/drawing/2014/main" id="{04D609EE-EA76-4016-B075-7E8A2882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2414"/>
            <a:ext cx="419100" cy="1602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rict-val-0-1">
            <a:extLst xmlns:a="http://schemas.openxmlformats.org/drawingml/2006/main">
              <a:ext uri="{FF2B5EF4-FFF2-40B4-BE49-F238E27FC236}">
                <a16:creationId xmlns:a16="http://schemas.microsoft.com/office/drawing/2014/main" id="{E627B28D-06AE-4201-BDED-8D963B8F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6476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70.1%</a:t>
            </a:r>
          </a:p>
        </p:txBody>
      </p:sp>
      <p:sp>
        <p:nvSpPr>
          <p:cNvPr id="14" name="strict-cat-0">
            <a:extLst xmlns:a="http://schemas.openxmlformats.org/drawingml/2006/main">
              <a:ext uri="{FF2B5EF4-FFF2-40B4-BE49-F238E27FC236}">
                <a16:creationId xmlns:a16="http://schemas.microsoft.com/office/drawing/2014/main" id="{2091ACF0-D222-48AB-B29E-FF322546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v5</a:t>
            </a:r>
          </a:p>
        </p:txBody>
      </p:sp>
      <p:sp>
        <p:nvSpPr>
          <p:cNvPr id="15" name="strict-bar-1-0">
            <a:extLst xmlns:a="http://schemas.openxmlformats.org/drawingml/2006/main">
              <a:ext uri="{FF2B5EF4-FFF2-40B4-BE49-F238E27FC236}">
                <a16:creationId xmlns:a16="http://schemas.microsoft.com/office/drawing/2014/main" id="{200B41B4-BFE2-438C-9C64-9D9489B7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3287268"/>
            <a:ext cx="419100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rict-val-1-0">
            <a:extLst xmlns:a="http://schemas.openxmlformats.org/drawingml/2006/main">
              <a:ext uri="{FF2B5EF4-FFF2-40B4-BE49-F238E27FC236}">
                <a16:creationId xmlns:a16="http://schemas.microsoft.com/office/drawing/2014/main" id="{98B0810B-C076-4AA7-ADE9-D3DA24EE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303961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71.2%</a:t>
            </a:r>
          </a:p>
        </p:txBody>
      </p:sp>
      <p:sp>
        <p:nvSpPr>
          <p:cNvPr id="17" name="strict-bar-1-1">
            <a:extLst xmlns:a="http://schemas.openxmlformats.org/drawingml/2006/main">
              <a:ext uri="{FF2B5EF4-FFF2-40B4-BE49-F238E27FC236}">
                <a16:creationId xmlns:a16="http://schemas.microsoft.com/office/drawing/2014/main" id="{FCA4E821-9B8F-420C-AE39-01607D6E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3396996"/>
            <a:ext cx="419100" cy="1517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rict-val-1-1">
            <a:extLst xmlns:a="http://schemas.openxmlformats.org/drawingml/2006/main">
              <a:ext uri="{FF2B5EF4-FFF2-40B4-BE49-F238E27FC236}">
                <a16:creationId xmlns:a16="http://schemas.microsoft.com/office/drawing/2014/main" id="{C317045F-A624-4E3F-B782-CB035F3B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314934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66.4%</a:t>
            </a:r>
          </a:p>
        </p:txBody>
      </p:sp>
      <p:sp>
        <p:nvSpPr>
          <p:cNvPr id="19" name="strict-cat-1">
            <a:extLst xmlns:a="http://schemas.openxmlformats.org/drawingml/2006/main">
              <a:ext uri="{FF2B5EF4-FFF2-40B4-BE49-F238E27FC236}">
                <a16:creationId xmlns:a16="http://schemas.microsoft.com/office/drawing/2014/main" id="{0F252B99-6968-4C2E-8AA7-2D611BF3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88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v6</a:t>
            </a:r>
          </a:p>
        </p:txBody>
      </p:sp>
      <p:sp>
        <p:nvSpPr>
          <p:cNvPr id="20" name="strict-bar-2-0">
            <a:extLst xmlns:a="http://schemas.openxmlformats.org/drawingml/2006/main">
              <a:ext uri="{FF2B5EF4-FFF2-40B4-BE49-F238E27FC236}">
                <a16:creationId xmlns:a16="http://schemas.microsoft.com/office/drawing/2014/main" id="{9FE29245-472C-4902-8E7D-75FD280D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48406"/>
            <a:ext cx="419100" cy="16664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rict-val-2-0">
            <a:extLst xmlns:a="http://schemas.openxmlformats.org/drawingml/2006/main">
              <a:ext uri="{FF2B5EF4-FFF2-40B4-BE49-F238E27FC236}">
                <a16:creationId xmlns:a16="http://schemas.microsoft.com/office/drawing/2014/main" id="{510257B1-1E44-43A8-AB7D-92956238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0075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72.9%</a:t>
            </a:r>
          </a:p>
        </p:txBody>
      </p:sp>
      <p:sp>
        <p:nvSpPr>
          <p:cNvPr id="22" name="strict-bar-2-1">
            <a:extLst xmlns:a="http://schemas.openxmlformats.org/drawingml/2006/main">
              <a:ext uri="{FF2B5EF4-FFF2-40B4-BE49-F238E27FC236}">
                <a16:creationId xmlns:a16="http://schemas.microsoft.com/office/drawing/2014/main" id="{D7B87E20-55E7-439B-90AC-2890D4D6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9282"/>
            <a:ext cx="419100" cy="15156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rict-val-2-1">
            <a:extLst xmlns:a="http://schemas.openxmlformats.org/drawingml/2006/main">
              <a:ext uri="{FF2B5EF4-FFF2-40B4-BE49-F238E27FC236}">
                <a16:creationId xmlns:a16="http://schemas.microsoft.com/office/drawing/2014/main" id="{A03AB651-F371-42D7-B512-813BA6E5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51632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66.3%</a:t>
            </a:r>
          </a:p>
        </p:txBody>
      </p:sp>
      <p:sp>
        <p:nvSpPr>
          <p:cNvPr id="24" name="strict-cat-2">
            <a:extLst xmlns:a="http://schemas.openxmlformats.org/drawingml/2006/main">
              <a:ext uri="{FF2B5EF4-FFF2-40B4-BE49-F238E27FC236}">
                <a16:creationId xmlns:a16="http://schemas.microsoft.com/office/drawing/2014/main" id="{25C01D44-2424-40AA-95F2-11934586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v7</a:t>
            </a:r>
          </a:p>
        </p:txBody>
      </p:sp>
      <p:sp>
        <p:nvSpPr>
          <p:cNvPr id="25" name="strict-bar-3-0">
            <a:extLst xmlns:a="http://schemas.openxmlformats.org/drawingml/2006/main">
              <a:ext uri="{FF2B5EF4-FFF2-40B4-BE49-F238E27FC236}">
                <a16:creationId xmlns:a16="http://schemas.microsoft.com/office/drawing/2014/main" id="{F67B1171-CD82-4DCC-8084-1EC3B03E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3255264"/>
            <a:ext cx="419100" cy="16596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rict-val-3-0">
            <a:extLst xmlns:a="http://schemas.openxmlformats.org/drawingml/2006/main">
              <a:ext uri="{FF2B5EF4-FFF2-40B4-BE49-F238E27FC236}">
                <a16:creationId xmlns:a16="http://schemas.microsoft.com/office/drawing/2014/main" id="{43F1B56F-D0F3-42A4-A7D0-078A8ED7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300761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72.6%</a:t>
            </a:r>
          </a:p>
        </p:txBody>
      </p:sp>
      <p:sp>
        <p:nvSpPr>
          <p:cNvPr id="27" name="strict-bar-3-1">
            <a:extLst xmlns:a="http://schemas.openxmlformats.org/drawingml/2006/main">
              <a:ext uri="{FF2B5EF4-FFF2-40B4-BE49-F238E27FC236}">
                <a16:creationId xmlns:a16="http://schemas.microsoft.com/office/drawing/2014/main" id="{55EE915C-6F42-4EFE-94A2-4D42350E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388" y="3536442"/>
            <a:ext cx="419100" cy="1378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rict-val-3-1">
            <a:extLst xmlns:a="http://schemas.openxmlformats.org/drawingml/2006/main">
              <a:ext uri="{FF2B5EF4-FFF2-40B4-BE49-F238E27FC236}">
                <a16:creationId xmlns:a16="http://schemas.microsoft.com/office/drawing/2014/main" id="{90ED9FF0-1AD8-4A23-B703-A9DEC894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838" y="3288792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60.3%</a:t>
            </a:r>
          </a:p>
        </p:txBody>
      </p:sp>
      <p:sp>
        <p:nvSpPr>
          <p:cNvPr id="29" name="strict-cat-3">
            <a:extLst xmlns:a="http://schemas.openxmlformats.org/drawingml/2006/main">
              <a:ext uri="{FF2B5EF4-FFF2-40B4-BE49-F238E27FC236}">
                <a16:creationId xmlns:a16="http://schemas.microsoft.com/office/drawing/2014/main" id="{F212A0D3-82B7-4F9E-BB8F-20BF2410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v8</a:t>
            </a:r>
          </a:p>
        </p:txBody>
      </p:sp>
      <p:sp>
        <p:nvSpPr>
          <p:cNvPr id="30" name="strict-legend">
            <a:extLst xmlns:a="http://schemas.openxmlformats.org/drawingml/2006/main">
              <a:ext uri="{FF2B5EF4-FFF2-40B4-BE49-F238E27FC236}">
                <a16:creationId xmlns:a16="http://schemas.microsoft.com/office/drawing/2014/main" id="{B6EA8F00-3A28-4DFD-841D-0C4A7EC6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97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Accuracy / balanced accuracy</a:t>
            </a:r>
          </a:p>
          <a:p xmlns:a="http://schemas.openxmlformats.org/drawingml/2006/main">
            <a:pPr algn="ctr"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under stricter checks</a:t>
            </a:r>
          </a:p>
        </p:txBody>
      </p:sp>
    </p:spTree>
    <p:extLst>
      <p:ext uri="{BB962C8B-B14F-4D97-AF65-F5344CB8AC3E}">
        <p14:creationId xmlns:p14="http://schemas.microsoft.com/office/powerpoint/2010/main" val="15898282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2C86C213-2878-4E86-9594-AC83A50A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5769D1FC-47AA-4430-A8DB-DBE436D4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A305B11-EEBE-44A1-BAF7-166DD827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EB76C7-EE91-493D-8B41-5738F402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Model evolution reduced the problem to its deployable form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8B79D37-6523-4D6F-A376-39979D92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E577133-169B-45FA-B5C2-4ED8F743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18/28</a:t>
            </a:r>
          </a:p>
        </p:txBody>
      </p:sp>
      <p:sp>
        <p:nvSpPr>
          <p:cNvPr id="7" name="evo-frame">
            <a:extLst xmlns:a="http://schemas.openxmlformats.org/drawingml/2006/main">
              <a:ext uri="{FF2B5EF4-FFF2-40B4-BE49-F238E27FC236}">
                <a16:creationId xmlns:a16="http://schemas.microsoft.com/office/drawing/2014/main" id="{7DFDECBD-38F4-448E-8579-F16852C2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11334750" cy="42862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evo-bar-0">
            <a:extLst xmlns:a="http://schemas.openxmlformats.org/drawingml/2006/main">
              <a:ext uri="{FF2B5EF4-FFF2-40B4-BE49-F238E27FC236}">
                <a16:creationId xmlns:a16="http://schemas.microsoft.com/office/drawing/2014/main" id="{2A59462A-0EF9-4FD2-81E6-A45D1E3B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9998"/>
            <a:ext cx="666750" cy="1163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o-val-0">
            <a:extLst xmlns:a="http://schemas.openxmlformats.org/drawingml/2006/main">
              <a:ext uri="{FF2B5EF4-FFF2-40B4-BE49-F238E27FC236}">
                <a16:creationId xmlns:a16="http://schemas.microsoft.com/office/drawing/2014/main" id="{5483FE1A-CE99-4DD4-9C74-2BAAF752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61398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44.4%</a:t>
            </a:r>
          </a:p>
        </p:txBody>
      </p:sp>
      <p:sp>
        <p:nvSpPr>
          <p:cNvPr id="10" name="evo-ver-0">
            <a:extLst xmlns:a="http://schemas.openxmlformats.org/drawingml/2006/main">
              <a:ext uri="{FF2B5EF4-FFF2-40B4-BE49-F238E27FC236}">
                <a16:creationId xmlns:a16="http://schemas.microsoft.com/office/drawing/2014/main" id="{86E54104-5C6A-436F-B023-FD3C6F61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v1</a:t>
            </a:r>
          </a:p>
        </p:txBody>
      </p:sp>
      <p:sp>
        <p:nvSpPr>
          <p:cNvPr id="11" name="evo-note-0">
            <a:extLst xmlns:a="http://schemas.openxmlformats.org/drawingml/2006/main">
              <a:ext uri="{FF2B5EF4-FFF2-40B4-BE49-F238E27FC236}">
                <a16:creationId xmlns:a16="http://schemas.microsoft.com/office/drawing/2014/main" id="{92B46E57-4D67-4F72-8CD7-65E9FACD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regression</a:t>
            </a:r>
          </a:p>
        </p:txBody>
      </p:sp>
      <p:sp>
        <p:nvSpPr>
          <p:cNvPr id="12" name="evo-bar-1">
            <a:extLst xmlns:a="http://schemas.openxmlformats.org/drawingml/2006/main">
              <a:ext uri="{FF2B5EF4-FFF2-40B4-BE49-F238E27FC236}">
                <a16:creationId xmlns:a16="http://schemas.microsoft.com/office/drawing/2014/main" id="{8422D59F-DE60-4805-AC69-AD6DB226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15891"/>
            <a:ext cx="666750" cy="1637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o-val-1">
            <a:extLst xmlns:a="http://schemas.openxmlformats.org/drawingml/2006/main">
              <a:ext uri="{FF2B5EF4-FFF2-40B4-BE49-F238E27FC236}">
                <a16:creationId xmlns:a16="http://schemas.microsoft.com/office/drawing/2014/main" id="{1A83E21D-D8A4-48BF-BDC9-A26FDEBA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87291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62.5%</a:t>
            </a:r>
          </a:p>
        </p:txBody>
      </p:sp>
      <p:sp>
        <p:nvSpPr>
          <p:cNvPr id="14" name="evo-ver-1">
            <a:extLst xmlns:a="http://schemas.openxmlformats.org/drawingml/2006/main">
              <a:ext uri="{FF2B5EF4-FFF2-40B4-BE49-F238E27FC236}">
                <a16:creationId xmlns:a16="http://schemas.microsoft.com/office/drawing/2014/main" id="{67BB2675-48CA-4BDB-A8DB-7908A91D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v2</a:t>
            </a:r>
          </a:p>
        </p:txBody>
      </p:sp>
      <p:sp>
        <p:nvSpPr>
          <p:cNvPr id="15" name="evo-note-1">
            <a:extLst xmlns:a="http://schemas.openxmlformats.org/drawingml/2006/main">
              <a:ext uri="{FF2B5EF4-FFF2-40B4-BE49-F238E27FC236}">
                <a16:creationId xmlns:a16="http://schemas.microsoft.com/office/drawing/2014/main" id="{7FB7A6D5-1834-418E-98B1-66395E99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classifier</a:t>
            </a:r>
          </a:p>
        </p:txBody>
      </p:sp>
      <p:sp>
        <p:nvSpPr>
          <p:cNvPr id="16" name="evo-bar-2">
            <a:extLst xmlns:a="http://schemas.openxmlformats.org/drawingml/2006/main">
              <a:ext uri="{FF2B5EF4-FFF2-40B4-BE49-F238E27FC236}">
                <a16:creationId xmlns:a16="http://schemas.microsoft.com/office/drawing/2014/main" id="{35F97D22-F213-406E-B6D1-AD079456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666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o-val-2">
            <a:extLst xmlns:a="http://schemas.openxmlformats.org/drawingml/2006/main">
              <a:ext uri="{FF2B5EF4-FFF2-40B4-BE49-F238E27FC236}">
                <a16:creationId xmlns:a16="http://schemas.microsoft.com/office/drawing/2014/main" id="{18C963A0-7437-49C9-A11B-BD109316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0502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100.0%</a:t>
            </a:r>
          </a:p>
        </p:txBody>
      </p:sp>
      <p:sp>
        <p:nvSpPr>
          <p:cNvPr id="18" name="evo-ver-2">
            <a:extLst xmlns:a="http://schemas.openxmlformats.org/drawingml/2006/main">
              <a:ext uri="{FF2B5EF4-FFF2-40B4-BE49-F238E27FC236}">
                <a16:creationId xmlns:a16="http://schemas.microsoft.com/office/drawing/2014/main" id="{6077CCA5-5504-4CDA-B24D-C83A8BD3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v3</a:t>
            </a:r>
          </a:p>
        </p:txBody>
      </p:sp>
      <p:sp>
        <p:nvSpPr>
          <p:cNvPr id="19" name="evo-note-2">
            <a:extLst xmlns:a="http://schemas.openxmlformats.org/drawingml/2006/main">
              <a:ext uri="{FF2B5EF4-FFF2-40B4-BE49-F238E27FC236}">
                <a16:creationId xmlns:a16="http://schemas.microsoft.com/office/drawing/2014/main" id="{E045369B-DCBC-461B-84D7-94B5CD56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leakage</a:t>
            </a:r>
          </a:p>
        </p:txBody>
      </p:sp>
      <p:sp>
        <p:nvSpPr>
          <p:cNvPr id="20" name="evo-bar-3">
            <a:extLst xmlns:a="http://schemas.openxmlformats.org/drawingml/2006/main">
              <a:ext uri="{FF2B5EF4-FFF2-40B4-BE49-F238E27FC236}">
                <a16:creationId xmlns:a16="http://schemas.microsoft.com/office/drawing/2014/main" id="{E1706016-5B00-4C75-9E4D-13BC8A1A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9656"/>
            <a:ext cx="666750" cy="1993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vo-val-3">
            <a:extLst xmlns:a="http://schemas.openxmlformats.org/drawingml/2006/main">
              <a:ext uri="{FF2B5EF4-FFF2-40B4-BE49-F238E27FC236}">
                <a16:creationId xmlns:a16="http://schemas.microsoft.com/office/drawing/2014/main" id="{75C52923-EBBC-4F9C-8D39-AB1797A3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31056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76.1%</a:t>
            </a:r>
          </a:p>
        </p:txBody>
      </p:sp>
      <p:sp>
        <p:nvSpPr>
          <p:cNvPr id="22" name="evo-ver-3">
            <a:extLst xmlns:a="http://schemas.openxmlformats.org/drawingml/2006/main">
              <a:ext uri="{FF2B5EF4-FFF2-40B4-BE49-F238E27FC236}">
                <a16:creationId xmlns:a16="http://schemas.microsoft.com/office/drawing/2014/main" id="{EE2FB2F5-668B-4405-B3E3-55722063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v5</a:t>
            </a:r>
          </a:p>
        </p:txBody>
      </p:sp>
      <p:sp>
        <p:nvSpPr>
          <p:cNvPr id="23" name="evo-note-3">
            <a:extLst xmlns:a="http://schemas.openxmlformats.org/drawingml/2006/main">
              <a:ext uri="{FF2B5EF4-FFF2-40B4-BE49-F238E27FC236}">
                <a16:creationId xmlns:a16="http://schemas.microsoft.com/office/drawing/2014/main" id="{F8317D47-EFAA-43AC-8BAB-9E4883E9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production</a:t>
            </a:r>
          </a:p>
        </p:txBody>
      </p:sp>
      <p:sp>
        <p:nvSpPr>
          <p:cNvPr id="24" name="evo-bar-4">
            <a:extLst xmlns:a="http://schemas.openxmlformats.org/drawingml/2006/main">
              <a:ext uri="{FF2B5EF4-FFF2-40B4-BE49-F238E27FC236}">
                <a16:creationId xmlns:a16="http://schemas.microsoft.com/office/drawing/2014/main" id="{652C5BC6-A103-4E6B-9D5C-7CE82644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8005"/>
            <a:ext cx="666750" cy="186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vo-val-4">
            <a:extLst xmlns:a="http://schemas.openxmlformats.org/drawingml/2006/main">
              <a:ext uri="{FF2B5EF4-FFF2-40B4-BE49-F238E27FC236}">
                <a16:creationId xmlns:a16="http://schemas.microsoft.com/office/drawing/2014/main" id="{5DBEF668-95D4-4E1A-94F7-342DEAF3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940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71.2%</a:t>
            </a:r>
          </a:p>
        </p:txBody>
      </p:sp>
      <p:sp>
        <p:nvSpPr>
          <p:cNvPr id="26" name="evo-ver-4">
            <a:extLst xmlns:a="http://schemas.openxmlformats.org/drawingml/2006/main">
              <a:ext uri="{FF2B5EF4-FFF2-40B4-BE49-F238E27FC236}">
                <a16:creationId xmlns:a16="http://schemas.microsoft.com/office/drawing/2014/main" id="{7BE70B5B-7383-423F-84B4-C9D400A0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v6</a:t>
            </a:r>
          </a:p>
        </p:txBody>
      </p:sp>
      <p:sp>
        <p:nvSpPr>
          <p:cNvPr id="27" name="evo-note-4">
            <a:extLst xmlns:a="http://schemas.openxmlformats.org/drawingml/2006/main">
              <a:ext uri="{FF2B5EF4-FFF2-40B4-BE49-F238E27FC236}">
                <a16:creationId xmlns:a16="http://schemas.microsoft.com/office/drawing/2014/main" id="{83CF9402-3E0B-4F77-A86E-7A214D36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source-aware</a:t>
            </a:r>
          </a:p>
        </p:txBody>
      </p:sp>
      <p:sp>
        <p:nvSpPr>
          <p:cNvPr id="28" name="evo-bar-5">
            <a:extLst xmlns:a="http://schemas.openxmlformats.org/drawingml/2006/main">
              <a:ext uri="{FF2B5EF4-FFF2-40B4-BE49-F238E27FC236}">
                <a16:creationId xmlns:a16="http://schemas.microsoft.com/office/drawing/2014/main" id="{6111C170-ABB5-410C-8392-7BFB44BC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3476"/>
            <a:ext cx="666750" cy="19095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vo-val-5">
            <a:extLst xmlns:a="http://schemas.openxmlformats.org/drawingml/2006/main">
              <a:ext uri="{FF2B5EF4-FFF2-40B4-BE49-F238E27FC236}">
                <a16:creationId xmlns:a16="http://schemas.microsoft.com/office/drawing/2014/main" id="{67188CF9-0CD5-443F-9290-9205ED7A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4876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72.9%</a:t>
            </a:r>
          </a:p>
        </p:txBody>
      </p:sp>
      <p:sp>
        <p:nvSpPr>
          <p:cNvPr id="30" name="evo-ver-5">
            <a:extLst xmlns:a="http://schemas.openxmlformats.org/drawingml/2006/main">
              <a:ext uri="{FF2B5EF4-FFF2-40B4-BE49-F238E27FC236}">
                <a16:creationId xmlns:a16="http://schemas.microsoft.com/office/drawing/2014/main" id="{17D52649-707C-4FDC-A311-C50D8129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v7</a:t>
            </a:r>
          </a:p>
        </p:txBody>
      </p:sp>
      <p:sp>
        <p:nvSpPr>
          <p:cNvPr id="31" name="evo-note-5">
            <a:extLst xmlns:a="http://schemas.openxmlformats.org/drawingml/2006/main">
              <a:ext uri="{FF2B5EF4-FFF2-40B4-BE49-F238E27FC236}">
                <a16:creationId xmlns:a16="http://schemas.microsoft.com/office/drawing/2014/main" id="{FCEFF05E-A67C-4C0A-B02D-6879ADB3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regret</a:t>
            </a:r>
          </a:p>
        </p:txBody>
      </p:sp>
      <p:sp>
        <p:nvSpPr>
          <p:cNvPr id="32" name="evo-bar-6">
            <a:extLst xmlns:a="http://schemas.openxmlformats.org/drawingml/2006/main">
              <a:ext uri="{FF2B5EF4-FFF2-40B4-BE49-F238E27FC236}">
                <a16:creationId xmlns:a16="http://schemas.microsoft.com/office/drawing/2014/main" id="{BA7010A4-A425-4B09-90B0-CD87FEC3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51334"/>
            <a:ext cx="666750" cy="19016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vo-val-6">
            <a:extLst xmlns:a="http://schemas.openxmlformats.org/drawingml/2006/main">
              <a:ext uri="{FF2B5EF4-FFF2-40B4-BE49-F238E27FC236}">
                <a16:creationId xmlns:a16="http://schemas.microsoft.com/office/drawing/2014/main" id="{BB268005-4172-4A9A-BBB4-A97EA3B7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22734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72.6%</a:t>
            </a:r>
          </a:p>
        </p:txBody>
      </p:sp>
      <p:sp>
        <p:nvSpPr>
          <p:cNvPr id="34" name="evo-ver-6">
            <a:extLst xmlns:a="http://schemas.openxmlformats.org/drawingml/2006/main">
              <a:ext uri="{FF2B5EF4-FFF2-40B4-BE49-F238E27FC236}">
                <a16:creationId xmlns:a16="http://schemas.microsoft.com/office/drawing/2014/main" id="{66F857AA-1921-4F28-96AF-38DC7742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v8</a:t>
            </a:r>
          </a:p>
        </p:txBody>
      </p:sp>
      <p:sp>
        <p:nvSpPr>
          <p:cNvPr id="35" name="evo-note-6">
            <a:extLst xmlns:a="http://schemas.openxmlformats.org/drawingml/2006/main">
              <a:ext uri="{FF2B5EF4-FFF2-40B4-BE49-F238E27FC236}">
                <a16:creationId xmlns:a16="http://schemas.microsoft.com/office/drawing/2014/main" id="{7F1EA187-8A83-43CC-8170-F1A6EE2A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A7F"/>
                </a:solidFill>
              </a:defRPr>
            </a:pPr>
            <a:r>
              <a:rPr sz="750">
                <a:solidFill>
                  <a:srgbClr val="5C6A7F"/>
                </a:solidFill>
              </a:rPr>
              <a:t>cascade</a:t>
            </a:r>
          </a:p>
        </p:txBody>
      </p:sp>
      <p:sp>
        <p:nvSpPr>
          <p:cNvPr id="36" name="evo-axis">
            <a:extLst xmlns:a="http://schemas.openxmlformats.org/drawingml/2006/main">
              <a:ext uri="{FF2B5EF4-FFF2-40B4-BE49-F238E27FC236}">
                <a16:creationId xmlns:a16="http://schemas.microsoft.com/office/drawing/2014/main" id="{1161BB5F-8DBA-4F5E-B19A-96B7A25F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02540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FE43429-BE9C-4CAE-BDC7-C82D7B4D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D76679A-A874-4651-829D-5D670D93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F4802C7-0972-4D3F-8E30-E861D826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661A87-8B1A-46D3-9415-C55DC6D6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Evaluation measures distance from SBS to VBS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98CB4AF-D3E7-475A-8CD5-684E03BA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378158E-25EB-4E74-82F3-160A6DFC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19/28</a:t>
            </a:r>
          </a:p>
        </p:txBody>
      </p:sp>
      <p:sp>
        <p:nvSpPr>
          <p:cNvPr id="7" name="eval-0">
            <a:extLst xmlns:a="http://schemas.openxmlformats.org/drawingml/2006/main">
              <a:ext uri="{FF2B5EF4-FFF2-40B4-BE49-F238E27FC236}">
                <a16:creationId xmlns:a16="http://schemas.microsoft.com/office/drawing/2014/main" id="{FAE8E21C-088C-4848-AB1A-6B2F57A9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eval-0-title">
            <a:extLst xmlns:a="http://schemas.openxmlformats.org/drawingml/2006/main">
              <a:ext uri="{FF2B5EF4-FFF2-40B4-BE49-F238E27FC236}">
                <a16:creationId xmlns:a16="http://schemas.microsoft.com/office/drawing/2014/main" id="{D9FB0048-1082-4C41-9EEA-D9725E09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SBS</a:t>
            </a:r>
          </a:p>
        </p:txBody>
      </p:sp>
      <p:sp>
        <p:nvSpPr>
          <p:cNvPr id="9" name="eval-0-body">
            <a:extLst xmlns:a="http://schemas.openxmlformats.org/drawingml/2006/main">
              <a:ext uri="{FF2B5EF4-FFF2-40B4-BE49-F238E27FC236}">
                <a16:creationId xmlns:a16="http://schemas.microsoft.com/office/drawing/2014/main" id="{3F3B2445-BE88-4CA6-A6B0-5198ED13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best fixed algorithm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over the evaluation set</a:t>
            </a:r>
          </a:p>
        </p:txBody>
      </p:sp>
      <p:sp>
        <p:nvSpPr>
          <p:cNvPr id="10" name="eval-1">
            <a:extLst xmlns:a="http://schemas.openxmlformats.org/drawingml/2006/main">
              <a:ext uri="{FF2B5EF4-FFF2-40B4-BE49-F238E27FC236}">
                <a16:creationId xmlns:a16="http://schemas.microsoft.com/office/drawing/2014/main" id="{45245939-378F-4E18-B056-E42158E5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eval-1-title">
            <a:extLst xmlns:a="http://schemas.openxmlformats.org/drawingml/2006/main">
              <a:ext uri="{FF2B5EF4-FFF2-40B4-BE49-F238E27FC236}">
                <a16:creationId xmlns:a16="http://schemas.microsoft.com/office/drawing/2014/main" id="{74AD111C-12A0-40DA-A306-789551F0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VBS</a:t>
            </a:r>
          </a:p>
        </p:txBody>
      </p:sp>
      <p:sp>
        <p:nvSpPr>
          <p:cNvPr id="12" name="eval-1-body">
            <a:extLst xmlns:a="http://schemas.openxmlformats.org/drawingml/2006/main">
              <a:ext uri="{FF2B5EF4-FFF2-40B4-BE49-F238E27FC236}">
                <a16:creationId xmlns:a16="http://schemas.microsoft.com/office/drawing/2014/main" id="{8085F8DF-4FEC-4AA3-9877-EFFC247B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oracle fastest algorithm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for each array</a:t>
            </a:r>
          </a:p>
        </p:txBody>
      </p:sp>
      <p:sp>
        <p:nvSpPr>
          <p:cNvPr id="13" name="eval-2">
            <a:extLst xmlns:a="http://schemas.openxmlformats.org/drawingml/2006/main">
              <a:ext uri="{FF2B5EF4-FFF2-40B4-BE49-F238E27FC236}">
                <a16:creationId xmlns:a16="http://schemas.microsoft.com/office/drawing/2014/main" id="{A1AFE0CA-E72F-4699-A449-6A49D471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eval-2-title">
            <a:extLst xmlns:a="http://schemas.openxmlformats.org/drawingml/2006/main">
              <a:ext uri="{FF2B5EF4-FFF2-40B4-BE49-F238E27FC236}">
                <a16:creationId xmlns:a16="http://schemas.microsoft.com/office/drawing/2014/main" id="{BD1794D8-53A8-4C22-ADE4-4064A741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Model</a:t>
            </a:r>
          </a:p>
        </p:txBody>
      </p:sp>
      <p:sp>
        <p:nvSpPr>
          <p:cNvPr id="15" name="eval-2-body">
            <a:extLst xmlns:a="http://schemas.openxmlformats.org/drawingml/2006/main">
              <a:ext uri="{FF2B5EF4-FFF2-40B4-BE49-F238E27FC236}">
                <a16:creationId xmlns:a16="http://schemas.microsoft.com/office/drawing/2014/main" id="{1E7CE3AD-8743-4114-8DB4-4EDF6966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choose before execution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</a:defRPr>
            </a:pPr>
            <a:r>
              <a:rPr sz="1275">
                <a:solidFill>
                  <a:srgbClr val="5C6A7F"/>
                </a:solidFill>
              </a:rPr>
              <a:t>using structural features</a:t>
            </a:r>
          </a:p>
        </p:txBody>
      </p:sp>
      <p:sp>
        <p:nvSpPr>
          <p:cNvPr id="16" name="regret">
            <a:extLst xmlns:a="http://schemas.openxmlformats.org/drawingml/2006/main">
              <a:ext uri="{FF2B5EF4-FFF2-40B4-BE49-F238E27FC236}">
                <a16:creationId xmlns:a16="http://schemas.microsoft.com/office/drawing/2014/main" id="{A0B8978D-9923-4083-AF1C-A4AA2BD0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i="1">
                <a:solidFill>
                  <a:srgbClr val="171717"/>
                </a:solidFill>
              </a:defRPr>
            </a:pPr>
            <a:r>
              <a:rPr sz="1875" i="1">
                <a:solidFill>
                  <a:srgbClr val="171717"/>
                </a:solidFill>
              </a:rPr>
              <a:t>Regret = T_model − T_VBS</a:t>
            </a:r>
          </a:p>
        </p:txBody>
      </p:sp>
      <p:sp>
        <p:nvSpPr>
          <p:cNvPr id="17" name="gap">
            <a:extLst xmlns:a="http://schemas.openxmlformats.org/drawingml/2006/main">
              <a:ext uri="{FF2B5EF4-FFF2-40B4-BE49-F238E27FC236}">
                <a16:creationId xmlns:a16="http://schemas.microsoft.com/office/drawing/2014/main" id="{302FE9C4-FDCF-4F94-928D-C724ACCA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625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i="1">
                <a:solidFill>
                  <a:srgbClr val="171717"/>
                </a:solidFill>
              </a:defRPr>
            </a:pPr>
            <a:r>
              <a:rPr sz="1575" i="1">
                <a:solidFill>
                  <a:srgbClr val="171717"/>
                </a:solidFill>
              </a:rPr>
              <a:t>Gap Closed = (T_SBS − T_model) / (T_SBS − T_VBS)</a:t>
            </a:r>
          </a:p>
        </p:txBody>
      </p:sp>
      <p:sp>
        <p:nvSpPr>
          <p:cNvPr id="18" name="eval-note">
            <a:extLst xmlns:a="http://schemas.openxmlformats.org/drawingml/2006/main">
              <a:ext uri="{FF2B5EF4-FFF2-40B4-BE49-F238E27FC236}">
                <a16:creationId xmlns:a16="http://schemas.microsoft.com/office/drawing/2014/main" id="{07B1178D-0CDB-4372-8A6B-115DD40F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1717"/>
                </a:solidFill>
              </a:defRPr>
            </a:pPr>
            <a:r>
              <a:rPr sz="1125">
                <a:solidFill>
                  <a:srgbClr val="171717"/>
                </a:solidFill>
              </a:rPr>
              <a:t>Gap closed gives the fraction of the SBS-to-VBS improvement captured by the selector.</a:t>
            </a:r>
          </a:p>
        </p:txBody>
      </p:sp>
    </p:spTree>
    <p:extLst>
      <p:ext uri="{BB962C8B-B14F-4D97-AF65-F5344CB8AC3E}">
        <p14:creationId xmlns:p14="http://schemas.microsoft.com/office/powerpoint/2010/main" val="18995458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00A4EC0-DE73-4558-8B6D-1B2E3000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743FB5E-A6FC-43BA-A9EE-C826E248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12B4AEC2-C95C-44AD-B7EC-EBD6A1C0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9CC3E1-44FC-4949-B847-33E684C4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Accuracy alone is insufficient for algorithm selection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53EC20-3532-4968-8EEA-CE70E50D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8F09D20-1732-465C-B192-9B0BA91D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20/28</a:t>
            </a:r>
          </a:p>
        </p:txBody>
      </p:sp>
      <p:sp>
        <p:nvSpPr>
          <p:cNvPr id="7" name="acc-frame">
            <a:extLst xmlns:a="http://schemas.openxmlformats.org/drawingml/2006/main">
              <a:ext uri="{FF2B5EF4-FFF2-40B4-BE49-F238E27FC236}">
                <a16:creationId xmlns:a16="http://schemas.microsoft.com/office/drawing/2014/main" id="{F1B73F1D-17B4-489B-92D4-BB18316E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666875"/>
            <a:ext cx="10810875" cy="438150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ccgap-axis">
            <a:extLst xmlns:a="http://schemas.openxmlformats.org/drawingml/2006/main">
              <a:ext uri="{FF2B5EF4-FFF2-40B4-BE49-F238E27FC236}">
                <a16:creationId xmlns:a16="http://schemas.microsoft.com/office/drawing/2014/main" id="{3458FF4A-3918-4E97-A47C-5B493413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62525"/>
            <a:ext cx="773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accgap-yaxis">
            <a:extLst xmlns:a="http://schemas.openxmlformats.org/drawingml/2006/main">
              <a:ext uri="{FF2B5EF4-FFF2-40B4-BE49-F238E27FC236}">
                <a16:creationId xmlns:a16="http://schemas.microsoft.com/office/drawing/2014/main" id="{EEC6F049-52ED-40D3-98D1-CB359B3E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33625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accgap-bar-0-0">
            <a:extLst xmlns:a="http://schemas.openxmlformats.org/drawingml/2006/main">
              <a:ext uri="{FF2B5EF4-FFF2-40B4-BE49-F238E27FC236}">
                <a16:creationId xmlns:a16="http://schemas.microsoft.com/office/drawing/2014/main" id="{6AE10974-B671-4BB9-9B7F-41705DEC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4191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cgap-val-0-0">
            <a:extLst xmlns:a="http://schemas.openxmlformats.org/drawingml/2006/main">
              <a:ext uri="{FF2B5EF4-FFF2-40B4-BE49-F238E27FC236}">
                <a16:creationId xmlns:a16="http://schemas.microsoft.com/office/drawing/2014/main" id="{E3A4DD4E-9AE8-4D42-947F-3D987F36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576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44.4%</a:t>
            </a:r>
          </a:p>
        </p:txBody>
      </p:sp>
      <p:sp>
        <p:nvSpPr>
          <p:cNvPr id="12" name="accgap-bar-0-1">
            <a:extLst xmlns:a="http://schemas.openxmlformats.org/drawingml/2006/main">
              <a:ext uri="{FF2B5EF4-FFF2-40B4-BE49-F238E27FC236}">
                <a16:creationId xmlns:a16="http://schemas.microsoft.com/office/drawing/2014/main" id="{1A018CD1-4D9A-46A1-8B05-8E1C7442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8963"/>
            <a:ext cx="419100" cy="1833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cgap-val-0-1">
            <a:extLst xmlns:a="http://schemas.openxmlformats.org/drawingml/2006/main">
              <a:ext uri="{FF2B5EF4-FFF2-40B4-BE49-F238E27FC236}">
                <a16:creationId xmlns:a16="http://schemas.microsoft.com/office/drawing/2014/main" id="{51EF5FFF-6D1B-4312-9547-3ED1C94C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8131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77.0%</a:t>
            </a:r>
          </a:p>
        </p:txBody>
      </p:sp>
      <p:sp>
        <p:nvSpPr>
          <p:cNvPr id="14" name="accgap-cat-0">
            <a:extLst xmlns:a="http://schemas.openxmlformats.org/drawingml/2006/main">
              <a:ext uri="{FF2B5EF4-FFF2-40B4-BE49-F238E27FC236}">
                <a16:creationId xmlns:a16="http://schemas.microsoft.com/office/drawing/2014/main" id="{BCFDCD5C-6C15-4A44-81DB-F74A69D4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v1</a:t>
            </a:r>
          </a:p>
        </p:txBody>
      </p:sp>
      <p:sp>
        <p:nvSpPr>
          <p:cNvPr id="15" name="accgap-bar-1-0">
            <a:extLst xmlns:a="http://schemas.openxmlformats.org/drawingml/2006/main">
              <a:ext uri="{FF2B5EF4-FFF2-40B4-BE49-F238E27FC236}">
                <a16:creationId xmlns:a16="http://schemas.microsoft.com/office/drawing/2014/main" id="{0A145EF5-26BE-4664-AE03-6F402DC7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3474244"/>
            <a:ext cx="419100" cy="1488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cgap-val-1-0">
            <a:extLst xmlns:a="http://schemas.openxmlformats.org/drawingml/2006/main">
              <a:ext uri="{FF2B5EF4-FFF2-40B4-BE49-F238E27FC236}">
                <a16:creationId xmlns:a16="http://schemas.microsoft.com/office/drawing/2014/main" id="{51A70107-45DF-4911-8DF1-4EE109E8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322659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62.5%</a:t>
            </a:r>
          </a:p>
        </p:txBody>
      </p:sp>
      <p:sp>
        <p:nvSpPr>
          <p:cNvPr id="17" name="accgap-bar-1-1">
            <a:extLst xmlns:a="http://schemas.openxmlformats.org/drawingml/2006/main">
              <a:ext uri="{FF2B5EF4-FFF2-40B4-BE49-F238E27FC236}">
                <a16:creationId xmlns:a16="http://schemas.microsoft.com/office/drawing/2014/main" id="{BD554AF9-ABDC-4457-AF92-6955BCFC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4962525"/>
            <a:ext cx="419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ccgap-val-1-1">
            <a:extLst xmlns:a="http://schemas.openxmlformats.org/drawingml/2006/main">
              <a:ext uri="{FF2B5EF4-FFF2-40B4-BE49-F238E27FC236}">
                <a16:creationId xmlns:a16="http://schemas.microsoft.com/office/drawing/2014/main" id="{1ABACE70-8D12-480E-AF0E-C8B4E88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550" y="471487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accgap-cat-1">
            <a:extLst xmlns:a="http://schemas.openxmlformats.org/drawingml/2006/main">
              <a:ext uri="{FF2B5EF4-FFF2-40B4-BE49-F238E27FC236}">
                <a16:creationId xmlns:a16="http://schemas.microsoft.com/office/drawing/2014/main" id="{05A51A56-532D-453D-A56F-5036F8B4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v2</a:t>
            </a:r>
          </a:p>
        </p:txBody>
      </p:sp>
      <p:sp>
        <p:nvSpPr>
          <p:cNvPr id="20" name="accgap-bar-2-0">
            <a:extLst xmlns:a="http://schemas.openxmlformats.org/drawingml/2006/main">
              <a:ext uri="{FF2B5EF4-FFF2-40B4-BE49-F238E27FC236}">
                <a16:creationId xmlns:a16="http://schemas.microsoft.com/office/drawing/2014/main" id="{C7286426-4DAC-42B8-9474-7319E065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850" y="3150394"/>
            <a:ext cx="419100" cy="181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ccgap-val-2-0">
            <a:extLst xmlns:a="http://schemas.openxmlformats.org/drawingml/2006/main">
              <a:ext uri="{FF2B5EF4-FFF2-40B4-BE49-F238E27FC236}">
                <a16:creationId xmlns:a16="http://schemas.microsoft.com/office/drawing/2014/main" id="{D922C420-1303-440A-9CAD-5245EB23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0" y="290274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76.1%</a:t>
            </a:r>
          </a:p>
        </p:txBody>
      </p:sp>
      <p:sp>
        <p:nvSpPr>
          <p:cNvPr id="22" name="accgap-bar-2-1">
            <a:extLst xmlns:a="http://schemas.openxmlformats.org/drawingml/2006/main">
              <a:ext uri="{FF2B5EF4-FFF2-40B4-BE49-F238E27FC236}">
                <a16:creationId xmlns:a16="http://schemas.microsoft.com/office/drawing/2014/main" id="{14E34C51-16F7-4133-8E7A-5947B919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575" y="2745581"/>
            <a:ext cx="419100" cy="2216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ccgap-val-2-1">
            <a:extLst xmlns:a="http://schemas.openxmlformats.org/drawingml/2006/main">
              <a:ext uri="{FF2B5EF4-FFF2-40B4-BE49-F238E27FC236}">
                <a16:creationId xmlns:a16="http://schemas.microsoft.com/office/drawing/2014/main" id="{F2807D3D-F713-42A2-B6FA-DEA5BDB8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2497931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93.1%</a:t>
            </a:r>
          </a:p>
        </p:txBody>
      </p:sp>
      <p:sp>
        <p:nvSpPr>
          <p:cNvPr id="24" name="accgap-cat-2">
            <a:extLst xmlns:a="http://schemas.openxmlformats.org/drawingml/2006/main">
              <a:ext uri="{FF2B5EF4-FFF2-40B4-BE49-F238E27FC236}">
                <a16:creationId xmlns:a16="http://schemas.microsoft.com/office/drawing/2014/main" id="{3148A12D-C080-46CB-AD10-B097E032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65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v5</a:t>
            </a:r>
          </a:p>
        </p:txBody>
      </p:sp>
      <p:sp>
        <p:nvSpPr>
          <p:cNvPr id="25" name="accgap-bar-3-0">
            <a:extLst xmlns:a="http://schemas.openxmlformats.org/drawingml/2006/main">
              <a:ext uri="{FF2B5EF4-FFF2-40B4-BE49-F238E27FC236}">
                <a16:creationId xmlns:a16="http://schemas.microsoft.com/office/drawing/2014/main" id="{273875C7-8344-43D3-A66A-8A244EAE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67075"/>
            <a:ext cx="419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ccgap-val-3-0">
            <a:extLst xmlns:a="http://schemas.openxmlformats.org/drawingml/2006/main">
              <a:ext uri="{FF2B5EF4-FFF2-40B4-BE49-F238E27FC236}">
                <a16:creationId xmlns:a16="http://schemas.microsoft.com/office/drawing/2014/main" id="{7EF2A948-4F27-422B-B5B4-02CE6187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194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71.2%</a:t>
            </a:r>
          </a:p>
        </p:txBody>
      </p:sp>
      <p:sp>
        <p:nvSpPr>
          <p:cNvPr id="27" name="accgap-bar-3-1">
            <a:extLst xmlns:a="http://schemas.openxmlformats.org/drawingml/2006/main">
              <a:ext uri="{FF2B5EF4-FFF2-40B4-BE49-F238E27FC236}">
                <a16:creationId xmlns:a16="http://schemas.microsoft.com/office/drawing/2014/main" id="{729D2824-3996-4D8D-BFB5-6C708424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76675"/>
            <a:ext cx="419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ccgap-val-3-1">
            <a:extLst xmlns:a="http://schemas.openxmlformats.org/drawingml/2006/main">
              <a:ext uri="{FF2B5EF4-FFF2-40B4-BE49-F238E27FC236}">
                <a16:creationId xmlns:a16="http://schemas.microsoft.com/office/drawing/2014/main" id="{FC6AC0CE-B234-44E6-B2BB-301D4707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290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45.6%</a:t>
            </a:r>
          </a:p>
        </p:txBody>
      </p:sp>
      <p:sp>
        <p:nvSpPr>
          <p:cNvPr id="29" name="accgap-cat-3">
            <a:extLst xmlns:a="http://schemas.openxmlformats.org/drawingml/2006/main">
              <a:ext uri="{FF2B5EF4-FFF2-40B4-BE49-F238E27FC236}">
                <a16:creationId xmlns:a16="http://schemas.microsoft.com/office/drawing/2014/main" id="{172B1A8C-95BD-4012-B86E-37D78237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v6</a:t>
            </a:r>
          </a:p>
        </p:txBody>
      </p:sp>
      <p:sp>
        <p:nvSpPr>
          <p:cNvPr id="30" name="accgap-bar-4-0">
            <a:extLst xmlns:a="http://schemas.openxmlformats.org/drawingml/2006/main">
              <a:ext uri="{FF2B5EF4-FFF2-40B4-BE49-F238E27FC236}">
                <a16:creationId xmlns:a16="http://schemas.microsoft.com/office/drawing/2014/main" id="{1E6DAE2D-EA36-45EF-9EED-FFE9ED07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3226594"/>
            <a:ext cx="419100" cy="17359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ccgap-val-4-0">
            <a:extLst xmlns:a="http://schemas.openxmlformats.org/drawingml/2006/main">
              <a:ext uri="{FF2B5EF4-FFF2-40B4-BE49-F238E27FC236}">
                <a16:creationId xmlns:a16="http://schemas.microsoft.com/office/drawing/2014/main" id="{70763D3C-03C4-408B-900B-777C9A44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97894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72.9%</a:t>
            </a:r>
          </a:p>
        </p:txBody>
      </p:sp>
      <p:sp>
        <p:nvSpPr>
          <p:cNvPr id="32" name="accgap-bar-4-1">
            <a:extLst xmlns:a="http://schemas.openxmlformats.org/drawingml/2006/main">
              <a:ext uri="{FF2B5EF4-FFF2-40B4-BE49-F238E27FC236}">
                <a16:creationId xmlns:a16="http://schemas.microsoft.com/office/drawing/2014/main" id="{8444C99B-6DAE-45B4-B44C-6C2BF8F1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525" y="3102769"/>
            <a:ext cx="419100" cy="1859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ccgap-val-4-1">
            <a:extLst xmlns:a="http://schemas.openxmlformats.org/drawingml/2006/main">
              <a:ext uri="{FF2B5EF4-FFF2-40B4-BE49-F238E27FC236}">
                <a16:creationId xmlns:a16="http://schemas.microsoft.com/office/drawing/2014/main" id="{9BEA3885-F699-4EF9-8891-A3C4A0D3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75" y="2855119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78.1%</a:t>
            </a:r>
          </a:p>
        </p:txBody>
      </p:sp>
      <p:sp>
        <p:nvSpPr>
          <p:cNvPr id="34" name="accgap-cat-4">
            <a:extLst xmlns:a="http://schemas.openxmlformats.org/drawingml/2006/main">
              <a:ext uri="{FF2B5EF4-FFF2-40B4-BE49-F238E27FC236}">
                <a16:creationId xmlns:a16="http://schemas.microsoft.com/office/drawing/2014/main" id="{3A32E61B-D90F-464C-B856-6AB73199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v7</a:t>
            </a:r>
          </a:p>
        </p:txBody>
      </p:sp>
      <p:sp>
        <p:nvSpPr>
          <p:cNvPr id="35" name="accgap-bar-5-0">
            <a:extLst xmlns:a="http://schemas.openxmlformats.org/drawingml/2006/main">
              <a:ext uri="{FF2B5EF4-FFF2-40B4-BE49-F238E27FC236}">
                <a16:creationId xmlns:a16="http://schemas.microsoft.com/office/drawing/2014/main" id="{41F31135-C397-4799-9A66-FCCB1337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275" y="3233738"/>
            <a:ext cx="419100" cy="1728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ccgap-val-5-0">
            <a:extLst xmlns:a="http://schemas.openxmlformats.org/drawingml/2006/main">
              <a:ext uri="{FF2B5EF4-FFF2-40B4-BE49-F238E27FC236}">
                <a16:creationId xmlns:a16="http://schemas.microsoft.com/office/drawing/2014/main" id="{950BFC66-51CC-4049-9546-FF178516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25" y="298608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9BD5"/>
                </a:solidFill>
              </a:defRPr>
            </a:pPr>
            <a:r>
              <a:rPr sz="1200" b="1">
                <a:solidFill>
                  <a:srgbClr val="5B9BD5"/>
                </a:solidFill>
              </a:rPr>
              <a:t>72.6%</a:t>
            </a:r>
          </a:p>
        </p:txBody>
      </p:sp>
      <p:sp>
        <p:nvSpPr>
          <p:cNvPr id="37" name="accgap-bar-5-1">
            <a:extLst xmlns:a="http://schemas.openxmlformats.org/drawingml/2006/main">
              <a:ext uri="{FF2B5EF4-FFF2-40B4-BE49-F238E27FC236}">
                <a16:creationId xmlns:a16="http://schemas.microsoft.com/office/drawing/2014/main" id="{94511ADE-F7EF-4A39-9A0C-988EEFF7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098006"/>
            <a:ext cx="419100" cy="186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ccgap-val-5-1">
            <a:extLst xmlns:a="http://schemas.openxmlformats.org/drawingml/2006/main">
              <a:ext uri="{FF2B5EF4-FFF2-40B4-BE49-F238E27FC236}">
                <a16:creationId xmlns:a16="http://schemas.microsoft.com/office/drawing/2014/main" id="{028F011F-E811-49AD-AE5F-88DCD159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450" y="285035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511E"/>
                </a:solidFill>
              </a:defRPr>
            </a:pPr>
            <a:r>
              <a:rPr sz="1200" b="1">
                <a:solidFill>
                  <a:srgbClr val="F4511E"/>
                </a:solidFill>
              </a:rPr>
              <a:t>78.3%</a:t>
            </a:r>
          </a:p>
        </p:txBody>
      </p:sp>
      <p:sp>
        <p:nvSpPr>
          <p:cNvPr id="39" name="accgap-cat-5">
            <a:extLst xmlns:a="http://schemas.openxmlformats.org/drawingml/2006/main">
              <a:ext uri="{FF2B5EF4-FFF2-40B4-BE49-F238E27FC236}">
                <a16:creationId xmlns:a16="http://schemas.microsoft.com/office/drawing/2014/main" id="{67B62985-104D-4CF4-B895-9DE6DAC4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</a:defRPr>
            </a:pPr>
            <a:r>
              <a:rPr sz="1200">
                <a:solidFill>
                  <a:srgbClr val="5C6A7F"/>
                </a:solidFill>
              </a:rPr>
              <a:t>v8</a:t>
            </a:r>
          </a:p>
        </p:txBody>
      </p:sp>
    </p:spTree>
    <p:extLst>
      <p:ext uri="{BB962C8B-B14F-4D97-AF65-F5344CB8AC3E}">
        <p14:creationId xmlns:p14="http://schemas.microsoft.com/office/powerpoint/2010/main" val="12437583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9DAB09ED-EBDC-4CDB-84D1-B813670E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932D2DA-93D4-4D2B-B0C7-A14EE84F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530ED654-3E3B-4278-A14E-FE33124B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EE74C6-A517-47D0-8A67-4B973BC2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v5 selector closes most of the SBS-to-VBS gap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BAF0D04-D40F-4E33-8D1D-3B129C41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ECEC32E-696F-473D-BD97-CF627EB1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21/28</a:t>
            </a:r>
          </a:p>
        </p:txBody>
      </p:sp>
      <p:sp>
        <p:nvSpPr>
          <p:cNvPr id="7" name="mainres-frame">
            <a:extLst xmlns:a="http://schemas.openxmlformats.org/drawingml/2006/main">
              <a:ext uri="{FF2B5EF4-FFF2-40B4-BE49-F238E27FC236}">
                <a16:creationId xmlns:a16="http://schemas.microsoft.com/office/drawing/2014/main" id="{6F6E7922-3BF0-483C-BC13-0AD50EEC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66875"/>
            <a:ext cx="11668125" cy="44767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mainres-axis">
            <a:extLst xmlns:a="http://schemas.openxmlformats.org/drawingml/2006/main">
              <a:ext uri="{FF2B5EF4-FFF2-40B4-BE49-F238E27FC236}">
                <a16:creationId xmlns:a16="http://schemas.microsoft.com/office/drawing/2014/main" id="{D0CFAED7-64F0-4782-92BB-AD0FCA44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14900"/>
            <a:ext cx="601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mainres-yaxis">
            <a:extLst xmlns:a="http://schemas.openxmlformats.org/drawingml/2006/main">
              <a:ext uri="{FF2B5EF4-FFF2-40B4-BE49-F238E27FC236}">
                <a16:creationId xmlns:a16="http://schemas.microsoft.com/office/drawing/2014/main" id="{B90389F2-C40B-4D51-AABA-947200A9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mainres-bar-0-0">
            <a:extLst xmlns:a="http://schemas.openxmlformats.org/drawingml/2006/main">
              <a:ext uri="{FF2B5EF4-FFF2-40B4-BE49-F238E27FC236}">
                <a16:creationId xmlns:a16="http://schemas.microsoft.com/office/drawing/2014/main" id="{752F6B72-E15C-48EA-A8A9-631C6466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29448"/>
            <a:ext cx="419100" cy="1585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inres-val-0-0">
            <a:extLst xmlns:a="http://schemas.openxmlformats.org/drawingml/2006/main">
              <a:ext uri="{FF2B5EF4-FFF2-40B4-BE49-F238E27FC236}">
                <a16:creationId xmlns:a16="http://schemas.microsoft.com/office/drawing/2014/main" id="{E5795E11-F710-45B7-87E0-E11E1948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8179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06F"/>
                </a:solidFill>
              </a:defRPr>
            </a:pPr>
            <a:r>
              <a:rPr sz="1200" b="1">
                <a:solidFill>
                  <a:srgbClr val="2FA06F"/>
                </a:solidFill>
              </a:rPr>
              <a:t>17.20s</a:t>
            </a:r>
          </a:p>
        </p:txBody>
      </p:sp>
      <p:sp>
        <p:nvSpPr>
          <p:cNvPr id="12" name="mainres-cat-0">
            <a:extLst xmlns:a="http://schemas.openxmlformats.org/drawingml/2006/main">
              <a:ext uri="{FF2B5EF4-FFF2-40B4-BE49-F238E27FC236}">
                <a16:creationId xmlns:a16="http://schemas.microsoft.com/office/drawing/2014/main" id="{0F552358-2F61-4234-830C-626E3C6A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VBS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oracle</a:t>
            </a:r>
          </a:p>
        </p:txBody>
      </p:sp>
      <p:sp>
        <p:nvSpPr>
          <p:cNvPr id="13" name="mainres-bar-1-0">
            <a:extLst xmlns:a="http://schemas.openxmlformats.org/drawingml/2006/main">
              <a:ext uri="{FF2B5EF4-FFF2-40B4-BE49-F238E27FC236}">
                <a16:creationId xmlns:a16="http://schemas.microsoft.com/office/drawing/2014/main" id="{8BEB7D49-35E7-4FC7-A996-EF029F6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3304560"/>
            <a:ext cx="419100" cy="1610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inres-val-1-0">
            <a:extLst xmlns:a="http://schemas.openxmlformats.org/drawingml/2006/main">
              <a:ext uri="{FF2B5EF4-FFF2-40B4-BE49-F238E27FC236}">
                <a16:creationId xmlns:a16="http://schemas.microsoft.com/office/drawing/2014/main" id="{DC2FFADD-D922-4DA6-867B-D205D3AA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550" y="305691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06F"/>
                </a:solidFill>
              </a:defRPr>
            </a:pPr>
            <a:r>
              <a:rPr sz="1200" b="1">
                <a:solidFill>
                  <a:srgbClr val="2FA06F"/>
                </a:solidFill>
              </a:rPr>
              <a:t>17.47s</a:t>
            </a:r>
          </a:p>
        </p:txBody>
      </p:sp>
      <p:sp>
        <p:nvSpPr>
          <p:cNvPr id="15" name="mainres-cat-1">
            <a:extLst xmlns:a="http://schemas.openxmlformats.org/drawingml/2006/main">
              <a:ext uri="{FF2B5EF4-FFF2-40B4-BE49-F238E27FC236}">
                <a16:creationId xmlns:a16="http://schemas.microsoft.com/office/drawing/2014/main" id="{CCA8FE44-CD5E-4CCA-A629-DF190CD1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Model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selector</a:t>
            </a:r>
          </a:p>
        </p:txBody>
      </p:sp>
      <p:sp>
        <p:nvSpPr>
          <p:cNvPr id="16" name="mainres-bar-2-0">
            <a:extLst xmlns:a="http://schemas.openxmlformats.org/drawingml/2006/main">
              <a:ext uri="{FF2B5EF4-FFF2-40B4-BE49-F238E27FC236}">
                <a16:creationId xmlns:a16="http://schemas.microsoft.com/office/drawing/2014/main" id="{8702E29B-6A92-4207-B73E-D35F59EB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50" y="2954286"/>
            <a:ext cx="419100" cy="1960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ainres-val-2-0">
            <a:extLst xmlns:a="http://schemas.openxmlformats.org/drawingml/2006/main">
              <a:ext uri="{FF2B5EF4-FFF2-40B4-BE49-F238E27FC236}">
                <a16:creationId xmlns:a16="http://schemas.microsoft.com/office/drawing/2014/main" id="{86AAC0F7-591B-40B3-84AC-50A5A5F6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270663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06F"/>
                </a:solidFill>
              </a:defRPr>
            </a:pPr>
            <a:r>
              <a:rPr sz="1200" b="1">
                <a:solidFill>
                  <a:srgbClr val="2FA06F"/>
                </a:solidFill>
              </a:rPr>
              <a:t>21.27s</a:t>
            </a:r>
          </a:p>
        </p:txBody>
      </p:sp>
      <p:sp>
        <p:nvSpPr>
          <p:cNvPr id="18" name="mainres-cat-2">
            <a:extLst xmlns:a="http://schemas.openxmlformats.org/drawingml/2006/main">
              <a:ext uri="{FF2B5EF4-FFF2-40B4-BE49-F238E27FC236}">
                <a16:creationId xmlns:a16="http://schemas.microsoft.com/office/drawing/2014/main" id="{9020EC86-4095-4272-B8A4-69F5024D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35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SBS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</a:defRPr>
            </a:pPr>
            <a:r>
              <a:rPr sz="975">
                <a:solidFill>
                  <a:srgbClr val="5C6A7F"/>
                </a:solidFill>
              </a:rPr>
              <a:t>heapsort</a:t>
            </a:r>
          </a:p>
        </p:txBody>
      </p:sp>
      <p:sp>
        <p:nvSpPr>
          <p:cNvPr id="19" name="metric-93.1%-1035">
            <a:extLst xmlns:a="http://schemas.openxmlformats.org/drawingml/2006/main">
              <a:ext uri="{FF2B5EF4-FFF2-40B4-BE49-F238E27FC236}">
                <a16:creationId xmlns:a16="http://schemas.microsoft.com/office/drawing/2014/main" id="{F30652AD-DA9B-47DA-9EE6-6BFB08CA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81250"/>
            <a:ext cx="2476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968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511E"/>
                </a:solidFill>
              </a:defRPr>
            </a:pPr>
            <a:r>
              <a:rPr sz="3150" b="1">
                <a:solidFill>
                  <a:srgbClr val="F4511E"/>
                </a:solidFill>
              </a:rPr>
              <a:t>93.1%</a:t>
            </a:r>
          </a:p>
        </p:txBody>
      </p:sp>
      <p:sp>
        <p:nvSpPr>
          <p:cNvPr id="20" name="metric-label-93.1%-1035">
            <a:extLst xmlns:a="http://schemas.openxmlformats.org/drawingml/2006/main">
              <a:ext uri="{FF2B5EF4-FFF2-40B4-BE49-F238E27FC236}">
                <a16:creationId xmlns:a16="http://schemas.microsoft.com/office/drawing/2014/main" id="{CA10EB29-0DE1-46BE-A8AB-39C86E2F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1785"/>
            <a:ext cx="24765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SBS-to-VBS gap closed</a:t>
            </a:r>
          </a:p>
        </p:txBody>
      </p:sp>
      <p:sp>
        <p:nvSpPr>
          <p:cNvPr id="21" name="metric-89.6%-1035">
            <a:extLst xmlns:a="http://schemas.openxmlformats.org/drawingml/2006/main">
              <a:ext uri="{FF2B5EF4-FFF2-40B4-BE49-F238E27FC236}">
                <a16:creationId xmlns:a16="http://schemas.microsoft.com/office/drawing/2014/main" id="{E59A5227-5370-4E7E-8C55-75876544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14750"/>
            <a:ext cx="2476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968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A06F"/>
                </a:solidFill>
              </a:defRPr>
            </a:pPr>
            <a:r>
              <a:rPr sz="3150" b="1">
                <a:solidFill>
                  <a:srgbClr val="2FA06F"/>
                </a:solidFill>
              </a:rPr>
              <a:t>89.6%</a:t>
            </a:r>
          </a:p>
        </p:txBody>
      </p:sp>
      <p:sp>
        <p:nvSpPr>
          <p:cNvPr id="22" name="metric-label-89.6%-1035">
            <a:extLst xmlns:a="http://schemas.openxmlformats.org/drawingml/2006/main">
              <a:ext uri="{FF2B5EF4-FFF2-40B4-BE49-F238E27FC236}">
                <a16:creationId xmlns:a16="http://schemas.microsoft.com/office/drawing/2014/main" id="{817CE59E-FF5C-4422-990A-C91066B6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85285"/>
            <a:ext cx="24765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zero regret decisions</a:t>
            </a:r>
          </a:p>
        </p:txBody>
      </p:sp>
    </p:spTree>
    <p:extLst>
      <p:ext uri="{BB962C8B-B14F-4D97-AF65-F5344CB8AC3E}">
        <p14:creationId xmlns:p14="http://schemas.microsoft.com/office/powerpoint/2010/main" val="1719332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059535CF-264F-4ABD-BA41-91C16348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E30C401-E608-4FB4-8D5F-65089DD8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96F5471C-7687-4325-AA30-EF6ED792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33AF56-AF19-4822-AFA9-C1DAA325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Residual error is concentrated at the introsort-heapsort boundary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63FE339-B031-498A-8A0B-73B12AD7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ED07B5C-90B5-4E9E-B5DC-0A5F22FA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22/28</a:t>
            </a:r>
          </a:p>
        </p:txBody>
      </p:sp>
      <p:sp>
        <p:nvSpPr>
          <p:cNvPr id="7" name="hm-top-0">
            <a:extLst xmlns:a="http://schemas.openxmlformats.org/drawingml/2006/main">
              <a:ext uri="{FF2B5EF4-FFF2-40B4-BE49-F238E27FC236}">
                <a16:creationId xmlns:a16="http://schemas.microsoft.com/office/drawing/2014/main" id="{954F3D93-AB9E-4C6D-BD21-BD08CC55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Introsort</a:t>
            </a:r>
          </a:p>
        </p:txBody>
      </p:sp>
      <p:sp>
        <p:nvSpPr>
          <p:cNvPr id="8" name="hm-left-0">
            <a:extLst xmlns:a="http://schemas.openxmlformats.org/drawingml/2006/main">
              <a:ext uri="{FF2B5EF4-FFF2-40B4-BE49-F238E27FC236}">
                <a16:creationId xmlns:a16="http://schemas.microsoft.com/office/drawing/2014/main" id="{9A708717-4718-4FB4-A858-741DDB6C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Introsort</a:t>
            </a:r>
          </a:p>
        </p:txBody>
      </p:sp>
      <p:sp>
        <p:nvSpPr>
          <p:cNvPr id="9" name="hm-top-1">
            <a:extLst xmlns:a="http://schemas.openxmlformats.org/drawingml/2006/main">
              <a:ext uri="{FF2B5EF4-FFF2-40B4-BE49-F238E27FC236}">
                <a16:creationId xmlns:a16="http://schemas.microsoft.com/office/drawing/2014/main" id="{84247901-1E54-4269-B64A-479D132F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Heapsort</a:t>
            </a:r>
          </a:p>
        </p:txBody>
      </p:sp>
      <p:sp>
        <p:nvSpPr>
          <p:cNvPr id="10" name="hm-left-1">
            <a:extLst xmlns:a="http://schemas.openxmlformats.org/drawingml/2006/main">
              <a:ext uri="{FF2B5EF4-FFF2-40B4-BE49-F238E27FC236}">
                <a16:creationId xmlns:a16="http://schemas.microsoft.com/office/drawing/2014/main" id="{38D3FFF6-6E4B-44B0-83DE-21FC472F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766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Heapsort</a:t>
            </a:r>
          </a:p>
        </p:txBody>
      </p:sp>
      <p:sp>
        <p:nvSpPr>
          <p:cNvPr id="11" name="hm-top-2">
            <a:extLst xmlns:a="http://schemas.openxmlformats.org/drawingml/2006/main">
              <a:ext uri="{FF2B5EF4-FFF2-40B4-BE49-F238E27FC236}">
                <a16:creationId xmlns:a16="http://schemas.microsoft.com/office/drawing/2014/main" id="{53E9DD93-7C56-43B1-A423-4E75B2CB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Timsort</a:t>
            </a:r>
          </a:p>
        </p:txBody>
      </p:sp>
      <p:sp>
        <p:nvSpPr>
          <p:cNvPr id="12" name="hm-left-2">
            <a:extLst xmlns:a="http://schemas.openxmlformats.org/drawingml/2006/main">
              <a:ext uri="{FF2B5EF4-FFF2-40B4-BE49-F238E27FC236}">
                <a16:creationId xmlns:a16="http://schemas.microsoft.com/office/drawing/2014/main" id="{E15C8E3A-44F5-4F84-AF60-A6B5AC50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C6A7F"/>
                </a:solidFill>
              </a:defRPr>
            </a:pPr>
            <a:r>
              <a:rPr sz="1050">
                <a:solidFill>
                  <a:srgbClr val="5C6A7F"/>
                </a:solidFill>
              </a:rPr>
              <a:t>Timsort</a:t>
            </a:r>
          </a:p>
        </p:txBody>
      </p:sp>
      <p:sp>
        <p:nvSpPr>
          <p:cNvPr id="13" name="hm-0-0">
            <a:extLst xmlns:a="http://schemas.openxmlformats.org/drawingml/2006/main">
              <a:ext uri="{FF2B5EF4-FFF2-40B4-BE49-F238E27FC236}">
                <a16:creationId xmlns:a16="http://schemas.microsoft.com/office/drawing/2014/main" id="{A26C0C0A-790D-4037-936B-90F5694A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hm-val-0-0">
            <a:extLst xmlns:a="http://schemas.openxmlformats.org/drawingml/2006/main">
              <a:ext uri="{FF2B5EF4-FFF2-40B4-BE49-F238E27FC236}">
                <a16:creationId xmlns:a16="http://schemas.microsoft.com/office/drawing/2014/main" id="{7DAD945B-502A-4DD2-BD64-5BE3BC91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2350</a:t>
            </a:r>
          </a:p>
        </p:txBody>
      </p:sp>
      <p:sp>
        <p:nvSpPr>
          <p:cNvPr id="15" name="hm-0-1">
            <a:extLst xmlns:a="http://schemas.openxmlformats.org/drawingml/2006/main">
              <a:ext uri="{FF2B5EF4-FFF2-40B4-BE49-F238E27FC236}">
                <a16:creationId xmlns:a16="http://schemas.microsoft.com/office/drawing/2014/main" id="{1764CC9E-4C0B-4EE6-AA91-F77D705B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hm-val-0-1">
            <a:extLst xmlns:a="http://schemas.openxmlformats.org/drawingml/2006/main">
              <a:ext uri="{FF2B5EF4-FFF2-40B4-BE49-F238E27FC236}">
                <a16:creationId xmlns:a16="http://schemas.microsoft.com/office/drawing/2014/main" id="{A6FF1537-BC14-46C7-96FB-CE5DA557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1977</a:t>
            </a:r>
          </a:p>
        </p:txBody>
      </p:sp>
      <p:sp>
        <p:nvSpPr>
          <p:cNvPr id="17" name="hm-0-2">
            <a:extLst xmlns:a="http://schemas.openxmlformats.org/drawingml/2006/main">
              <a:ext uri="{FF2B5EF4-FFF2-40B4-BE49-F238E27FC236}">
                <a16:creationId xmlns:a16="http://schemas.microsoft.com/office/drawing/2014/main" id="{C79E35B4-4817-4063-AAFE-B940D4BB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hm-val-0-2">
            <a:extLst xmlns:a="http://schemas.openxmlformats.org/drawingml/2006/main">
              <a:ext uri="{FF2B5EF4-FFF2-40B4-BE49-F238E27FC236}">
                <a16:creationId xmlns:a16="http://schemas.microsoft.com/office/drawing/2014/main" id="{37DCE92B-4716-401E-8FB9-0779AC3F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182</a:t>
            </a:r>
          </a:p>
        </p:txBody>
      </p:sp>
      <p:sp>
        <p:nvSpPr>
          <p:cNvPr id="19" name="hm-1-0">
            <a:extLst xmlns:a="http://schemas.openxmlformats.org/drawingml/2006/main">
              <a:ext uri="{FF2B5EF4-FFF2-40B4-BE49-F238E27FC236}">
                <a16:creationId xmlns:a16="http://schemas.microsoft.com/office/drawing/2014/main" id="{244E9335-406B-43E9-B93F-67CD8F16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hm-val-1-0">
            <a:extLst xmlns:a="http://schemas.openxmlformats.org/drawingml/2006/main">
              <a:ext uri="{FF2B5EF4-FFF2-40B4-BE49-F238E27FC236}">
                <a16:creationId xmlns:a16="http://schemas.microsoft.com/office/drawing/2014/main" id="{E48BDD8E-76BE-440D-B4BA-F790EF4D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3805</a:t>
            </a:r>
          </a:p>
        </p:txBody>
      </p:sp>
      <p:sp>
        <p:nvSpPr>
          <p:cNvPr id="21" name="hm-1-1">
            <a:extLst xmlns:a="http://schemas.openxmlformats.org/drawingml/2006/main">
              <a:ext uri="{FF2B5EF4-FFF2-40B4-BE49-F238E27FC236}">
                <a16:creationId xmlns:a16="http://schemas.microsoft.com/office/drawing/2014/main" id="{C655D7BE-F70A-4CAF-9216-5E7CC26C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AE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hm-val-1-1">
            <a:extLst xmlns:a="http://schemas.openxmlformats.org/drawingml/2006/main">
              <a:ext uri="{FF2B5EF4-FFF2-40B4-BE49-F238E27FC236}">
                <a16:creationId xmlns:a16="http://schemas.microsoft.com/office/drawing/2014/main" id="{29B436C8-F514-42C7-BD1A-3E467994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7307</a:t>
            </a:r>
          </a:p>
        </p:txBody>
      </p:sp>
      <p:sp>
        <p:nvSpPr>
          <p:cNvPr id="23" name="hm-1-2">
            <a:extLst xmlns:a="http://schemas.openxmlformats.org/drawingml/2006/main">
              <a:ext uri="{FF2B5EF4-FFF2-40B4-BE49-F238E27FC236}">
                <a16:creationId xmlns:a16="http://schemas.microsoft.com/office/drawing/2014/main" id="{2EB48E93-2B52-4BD0-921C-82D0D9E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hm-val-1-2">
            <a:extLst xmlns:a="http://schemas.openxmlformats.org/drawingml/2006/main">
              <a:ext uri="{FF2B5EF4-FFF2-40B4-BE49-F238E27FC236}">
                <a16:creationId xmlns:a16="http://schemas.microsoft.com/office/drawing/2014/main" id="{25C06549-9E88-4DB9-BD00-D9B11A65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345</a:t>
            </a:r>
          </a:p>
        </p:txBody>
      </p:sp>
      <p:sp>
        <p:nvSpPr>
          <p:cNvPr id="25" name="hm-2-0">
            <a:extLst xmlns:a="http://schemas.openxmlformats.org/drawingml/2006/main">
              <a:ext uri="{FF2B5EF4-FFF2-40B4-BE49-F238E27FC236}">
                <a16:creationId xmlns:a16="http://schemas.microsoft.com/office/drawing/2014/main" id="{88485948-75C0-42E1-A7AC-0B8DBE0B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hm-val-2-0">
            <a:extLst xmlns:a="http://schemas.openxmlformats.org/drawingml/2006/main">
              <a:ext uri="{FF2B5EF4-FFF2-40B4-BE49-F238E27FC236}">
                <a16:creationId xmlns:a16="http://schemas.microsoft.com/office/drawing/2014/main" id="{6D13EA7C-AF95-4415-A2FC-9B641D73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182</a:t>
            </a:r>
          </a:p>
        </p:txBody>
      </p:sp>
      <p:sp>
        <p:nvSpPr>
          <p:cNvPr id="27" name="hm-2-1">
            <a:extLst xmlns:a="http://schemas.openxmlformats.org/drawingml/2006/main">
              <a:ext uri="{FF2B5EF4-FFF2-40B4-BE49-F238E27FC236}">
                <a16:creationId xmlns:a16="http://schemas.microsoft.com/office/drawing/2014/main" id="{E4D6A8AD-BF94-4F97-84BC-9E88BE6B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hm-val-2-1">
            <a:extLst xmlns:a="http://schemas.openxmlformats.org/drawingml/2006/main">
              <a:ext uri="{FF2B5EF4-FFF2-40B4-BE49-F238E27FC236}">
                <a16:creationId xmlns:a16="http://schemas.microsoft.com/office/drawing/2014/main" id="{EF80C62A-B8E9-43D1-8C52-5345BA8B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565</a:t>
            </a:r>
          </a:p>
        </p:txBody>
      </p:sp>
      <p:sp>
        <p:nvSpPr>
          <p:cNvPr id="29" name="hm-2-2">
            <a:extLst xmlns:a="http://schemas.openxmlformats.org/drawingml/2006/main">
              <a:ext uri="{FF2B5EF4-FFF2-40B4-BE49-F238E27FC236}">
                <a16:creationId xmlns:a16="http://schemas.microsoft.com/office/drawing/2014/main" id="{CA3485BC-088E-4609-A1AB-C8DC9825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hm-val-2-2">
            <a:extLst xmlns:a="http://schemas.openxmlformats.org/drawingml/2006/main">
              <a:ext uri="{FF2B5EF4-FFF2-40B4-BE49-F238E27FC236}">
                <a16:creationId xmlns:a16="http://schemas.microsoft.com/office/drawing/2014/main" id="{FFAED409-93ED-4D3B-9F19-EF398E0F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12781</a:t>
            </a:r>
          </a:p>
        </p:txBody>
      </p:sp>
      <p:sp>
        <p:nvSpPr>
          <p:cNvPr id="31" name="metric-94.5%-1010">
            <a:extLst xmlns:a="http://schemas.openxmlformats.org/drawingml/2006/main">
              <a:ext uri="{FF2B5EF4-FFF2-40B4-BE49-F238E27FC236}">
                <a16:creationId xmlns:a16="http://schemas.microsoft.com/office/drawing/2014/main" id="{FC1AA13C-E523-4389-8AAE-F8CA55DA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247650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9152A"/>
                </a:solidFill>
              </a:defRPr>
            </a:pPr>
            <a:r>
              <a:rPr sz="3150" b="1">
                <a:solidFill>
                  <a:srgbClr val="B9152A"/>
                </a:solidFill>
              </a:rPr>
              <a:t>94.5%</a:t>
            </a:r>
          </a:p>
        </p:txBody>
      </p:sp>
      <p:sp>
        <p:nvSpPr>
          <p:cNvPr id="32" name="metric-label-94.5%-1010">
            <a:extLst xmlns:a="http://schemas.openxmlformats.org/drawingml/2006/main">
              <a:ext uri="{FF2B5EF4-FFF2-40B4-BE49-F238E27FC236}">
                <a16:creationId xmlns:a16="http://schemas.microsoft.com/office/drawing/2014/main" id="{9478570B-DA8D-4913-8EBA-AF588605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36520"/>
            <a:ext cx="2476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Timsort recall</a:t>
            </a:r>
          </a:p>
        </p:txBody>
      </p:sp>
      <p:sp>
        <p:nvSpPr>
          <p:cNvPr id="33" name="conf-note">
            <a:extLst xmlns:a="http://schemas.openxmlformats.org/drawingml/2006/main">
              <a:ext uri="{FF2B5EF4-FFF2-40B4-BE49-F238E27FC236}">
                <a16:creationId xmlns:a16="http://schemas.microsoft.com/office/drawing/2014/main" id="{93592E56-E90B-48E3-AF7A-ACCFEC07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3333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conf-note-title">
            <a:extLst xmlns:a="http://schemas.openxmlformats.org/drawingml/2006/main">
              <a:ext uri="{FF2B5EF4-FFF2-40B4-BE49-F238E27FC236}">
                <a16:creationId xmlns:a16="http://schemas.microsoft.com/office/drawing/2014/main" id="{18750D00-C007-4E3C-869F-3EBB342C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95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Interpretation</a:t>
            </a:r>
          </a:p>
        </p:txBody>
      </p:sp>
      <p:sp>
        <p:nvSpPr>
          <p:cNvPr id="35" name="conf-note-body">
            <a:extLst xmlns:a="http://schemas.openxmlformats.org/drawingml/2006/main">
              <a:ext uri="{FF2B5EF4-FFF2-40B4-BE49-F238E27FC236}">
                <a16:creationId xmlns:a16="http://schemas.microsoft.com/office/drawing/2014/main" id="{C3C6272B-F033-4796-9E2D-34B2792A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43375"/>
            <a:ext cx="2990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Timsort is separable when runs/order are visible.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</a:defRPr>
            </a:pPr>
            <a:r>
              <a:rPr sz="1125">
                <a:solidFill>
                  <a:srgbClr val="5C6A7F"/>
                </a:solidFill>
              </a:rPr>
              <a:t>Introsort and heapsort remain close in the current feature space.</a:t>
            </a:r>
          </a:p>
        </p:txBody>
      </p:sp>
      <p:sp>
        <p:nvSpPr>
          <p:cNvPr id="36" name="conf-bottom">
            <a:extLst xmlns:a="http://schemas.openxmlformats.org/drawingml/2006/main">
              <a:ext uri="{FF2B5EF4-FFF2-40B4-BE49-F238E27FC236}">
                <a16:creationId xmlns:a16="http://schemas.microsoft.com/office/drawing/2014/main" id="{C32B0AF9-658D-46C4-B16A-DADF71CA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72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1717"/>
                </a:solidFill>
              </a:defRPr>
            </a:pPr>
            <a:r>
              <a:rPr sz="1200">
                <a:solidFill>
                  <a:srgbClr val="171717"/>
                </a:solidFill>
              </a:rPr>
              <a:t>Most residual boundary errors carry low measured regret.</a:t>
            </a:r>
          </a:p>
        </p:txBody>
      </p:sp>
    </p:spTree>
    <p:extLst>
      <p:ext uri="{BB962C8B-B14F-4D97-AF65-F5344CB8AC3E}">
        <p14:creationId xmlns:p14="http://schemas.microsoft.com/office/powerpoint/2010/main" val="10912645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39F553D-DBFD-4D82-9E53-7CEDC74E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F0E716F4-C269-4C9D-A1AB-E81415D5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25DE749-BA9C-4F98-901E-94D8775F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0F0D0A-8B80-42DF-854C-F3C932CE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F1 routing was treated as a separate specialization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BCF3557-E430-4693-94F9-797AD26C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8450E20-6694-4877-80BC-DC9F8974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23/28</a:t>
            </a:r>
          </a:p>
        </p:txBody>
      </p:sp>
      <p:sp>
        <p:nvSpPr>
          <p:cNvPr id="7" name="f1-fig">
            <a:extLst xmlns:a="http://schemas.openxmlformats.org/drawingml/2006/main">
              <a:ext uri="{FF2B5EF4-FFF2-40B4-BE49-F238E27FC236}">
                <a16:creationId xmlns:a16="http://schemas.microsoft.com/office/drawing/2014/main" id="{640EE251-51F4-4B3B-956F-72C90500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8572500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1-raw">
            <a:extLst xmlns:a="http://schemas.openxmlformats.org/drawingml/2006/main">
              <a:ext uri="{FF2B5EF4-FFF2-40B4-BE49-F238E27FC236}">
                <a16:creationId xmlns:a16="http://schemas.microsoft.com/office/drawing/2014/main" id="{CF4CDA3A-63B1-4671-9871-043CDCCB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00375"/>
            <a:ext cx="1143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f1-raw-title">
            <a:extLst xmlns:a="http://schemas.openxmlformats.org/drawingml/2006/main">
              <a:ext uri="{FF2B5EF4-FFF2-40B4-BE49-F238E27FC236}">
                <a16:creationId xmlns:a16="http://schemas.microsoft.com/office/drawing/2014/main" id="{4F221283-9080-46AC-9082-D2B744E3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527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F1 arrays</a:t>
            </a:r>
          </a:p>
        </p:txBody>
      </p:sp>
      <p:sp>
        <p:nvSpPr>
          <p:cNvPr id="10" name="f1-router">
            <a:extLst xmlns:a="http://schemas.openxmlformats.org/drawingml/2006/main">
              <a:ext uri="{FF2B5EF4-FFF2-40B4-BE49-F238E27FC236}">
                <a16:creationId xmlns:a16="http://schemas.microsoft.com/office/drawing/2014/main" id="{9940FBF0-2A2D-4AAA-A692-7225AE75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1428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f1-router-title">
            <a:extLst xmlns:a="http://schemas.openxmlformats.org/drawingml/2006/main">
              <a:ext uri="{FF2B5EF4-FFF2-40B4-BE49-F238E27FC236}">
                <a16:creationId xmlns:a16="http://schemas.microsoft.com/office/drawing/2014/main" id="{4BEAFE74-68AF-4699-A709-8683FF6D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14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channel</a:t>
            </a:r>
          </a:p>
          <a:p xmlns:a="http://schemas.openxmlformats.org/drawingml/2006/main">
            <a:pPr algn="ctr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router</a:t>
            </a:r>
          </a:p>
        </p:txBody>
      </p:sp>
      <p:sp>
        <p:nvSpPr>
          <p:cNvPr id="12" name="f1-ch-0">
            <a:extLst xmlns:a="http://schemas.openxmlformats.org/drawingml/2006/main">
              <a:ext uri="{FF2B5EF4-FFF2-40B4-BE49-F238E27FC236}">
                <a16:creationId xmlns:a16="http://schemas.microsoft.com/office/drawing/2014/main" id="{71FF6581-98BF-4F80-8328-78D37C16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1-ch-0-title">
            <a:extLst xmlns:a="http://schemas.openxmlformats.org/drawingml/2006/main">
              <a:ext uri="{FF2B5EF4-FFF2-40B4-BE49-F238E27FC236}">
                <a16:creationId xmlns:a16="http://schemas.microsoft.com/office/drawing/2014/main" id="{1A102BF6-46A0-426B-90D1-BFDE2A60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52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14" name="f1-ch-1">
            <a:extLst xmlns:a="http://schemas.openxmlformats.org/drawingml/2006/main">
              <a:ext uri="{FF2B5EF4-FFF2-40B4-BE49-F238E27FC236}">
                <a16:creationId xmlns:a16="http://schemas.microsoft.com/office/drawing/2014/main" id="{9F3EC762-14FF-4813-8DE2-C0D9CCA2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860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1-ch-1-title">
            <a:extLst xmlns:a="http://schemas.openxmlformats.org/drawingml/2006/main">
              <a:ext uri="{FF2B5EF4-FFF2-40B4-BE49-F238E27FC236}">
                <a16:creationId xmlns:a16="http://schemas.microsoft.com/office/drawing/2014/main" id="{739B006E-0C56-409E-8E35-B7FF6111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384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RPM</a:t>
            </a:r>
          </a:p>
        </p:txBody>
      </p:sp>
      <p:sp>
        <p:nvSpPr>
          <p:cNvPr id="16" name="f1-ch-2">
            <a:extLst xmlns:a="http://schemas.openxmlformats.org/drawingml/2006/main">
              <a:ext uri="{FF2B5EF4-FFF2-40B4-BE49-F238E27FC236}">
                <a16:creationId xmlns:a16="http://schemas.microsoft.com/office/drawing/2014/main" id="{80E16320-4FDC-42BC-8675-5B83D4BC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718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1-ch-2-title">
            <a:extLst xmlns:a="http://schemas.openxmlformats.org/drawingml/2006/main">
              <a:ext uri="{FF2B5EF4-FFF2-40B4-BE49-F238E27FC236}">
                <a16:creationId xmlns:a16="http://schemas.microsoft.com/office/drawing/2014/main" id="{2A675945-58DF-4519-80DC-341245A0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24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DRS</a:t>
            </a:r>
          </a:p>
        </p:txBody>
      </p:sp>
      <p:sp>
        <p:nvSpPr>
          <p:cNvPr id="18" name="f1-ch-3">
            <a:extLst xmlns:a="http://schemas.openxmlformats.org/drawingml/2006/main">
              <a:ext uri="{FF2B5EF4-FFF2-40B4-BE49-F238E27FC236}">
                <a16:creationId xmlns:a16="http://schemas.microsoft.com/office/drawing/2014/main" id="{96186D6B-789B-46FE-B9F7-F7440BC8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576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1-ch-3-title">
            <a:extLst xmlns:a="http://schemas.openxmlformats.org/drawingml/2006/main">
              <a:ext uri="{FF2B5EF4-FFF2-40B4-BE49-F238E27FC236}">
                <a16:creationId xmlns:a16="http://schemas.microsoft.com/office/drawing/2014/main" id="{394437CB-7F5E-4655-A724-0C2FB26F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100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Throttle</a:t>
            </a:r>
          </a:p>
        </p:txBody>
      </p:sp>
      <p:sp>
        <p:nvSpPr>
          <p:cNvPr id="20" name="f1-model">
            <a:extLst xmlns:a="http://schemas.openxmlformats.org/drawingml/2006/main">
              <a:ext uri="{FF2B5EF4-FFF2-40B4-BE49-F238E27FC236}">
                <a16:creationId xmlns:a16="http://schemas.microsoft.com/office/drawing/2014/main" id="{BDA45EBF-1B08-4650-8F5F-193B416D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1000125" cy="1143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8F0E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f1-model-title">
            <a:extLst xmlns:a="http://schemas.openxmlformats.org/drawingml/2006/main">
              <a:ext uri="{FF2B5EF4-FFF2-40B4-BE49-F238E27FC236}">
                <a16:creationId xmlns:a16="http://schemas.microsoft.com/office/drawing/2014/main" id="{131F60E0-9426-4EFD-B423-9AD8F6EA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14650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model</a:t>
            </a:r>
          </a:p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per channel</a:t>
            </a:r>
          </a:p>
        </p:txBody>
      </p:sp>
      <p:sp>
        <p:nvSpPr>
          <p:cNvPr id="22" name="f1-a1-from">
            <a:extLst xmlns:a="http://schemas.openxmlformats.org/drawingml/2006/main">
              <a:ext uri="{FF2B5EF4-FFF2-40B4-BE49-F238E27FC236}">
                <a16:creationId xmlns:a16="http://schemas.microsoft.com/office/drawing/2014/main" id="{6EDFBC7B-BFCE-4987-B122-B80EA781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1-a1-to">
            <a:extLst xmlns:a="http://schemas.openxmlformats.org/drawingml/2006/main">
              <a:ext uri="{FF2B5EF4-FFF2-40B4-BE49-F238E27FC236}">
                <a16:creationId xmlns:a16="http://schemas.microsoft.com/office/drawing/2014/main" id="{F9A1A6AF-C8C4-433A-B523-C7CB0412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f1-a1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3067050" y="33432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f1-a2-from">
            <a:extLst xmlns:a="http://schemas.openxmlformats.org/drawingml/2006/main">
              <a:ext uri="{FF2B5EF4-FFF2-40B4-BE49-F238E27FC236}">
                <a16:creationId xmlns:a16="http://schemas.microsoft.com/office/drawing/2014/main" id="{64202EE7-5626-4A5B-B5FD-C9C1EB6D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1-a2-to">
            <a:extLst xmlns:a="http://schemas.openxmlformats.org/drawingml/2006/main">
              <a:ext uri="{FF2B5EF4-FFF2-40B4-BE49-F238E27FC236}">
                <a16:creationId xmlns:a16="http://schemas.microsoft.com/office/drawing/2014/main" id="{B9B0AEF1-A5CB-4FA5-B739-B6BABAB4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6" name="f1-a2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5257800" y="33432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8" name="f1-a3-from">
            <a:extLst xmlns:a="http://schemas.openxmlformats.org/drawingml/2006/main">
              <a:ext uri="{FF2B5EF4-FFF2-40B4-BE49-F238E27FC236}">
                <a16:creationId xmlns:a16="http://schemas.microsoft.com/office/drawing/2014/main" id="{8CA85E6E-3FD4-4AB3-9C57-51E16661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1-a3-to">
            <a:extLst xmlns:a="http://schemas.openxmlformats.org/drawingml/2006/main">
              <a:ext uri="{FF2B5EF4-FFF2-40B4-BE49-F238E27FC236}">
                <a16:creationId xmlns:a16="http://schemas.microsoft.com/office/drawing/2014/main" id="{A66EAE2F-E71C-40AE-95B0-FDC55FA6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f1-a3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7686675" y="33432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f1-main">
            <a:extLst xmlns:a="http://schemas.openxmlformats.org/drawingml/2006/main">
              <a:ext uri="{FF2B5EF4-FFF2-40B4-BE49-F238E27FC236}">
                <a16:creationId xmlns:a16="http://schemas.microsoft.com/office/drawing/2014/main" id="{1F198A22-09E0-41C5-A7C0-A8649B43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09750"/>
            <a:ext cx="2857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f1-main-title">
            <a:extLst xmlns:a="http://schemas.openxmlformats.org/drawingml/2006/main">
              <a:ext uri="{FF2B5EF4-FFF2-40B4-BE49-F238E27FC236}">
                <a16:creationId xmlns:a16="http://schemas.microsoft.com/office/drawing/2014/main" id="{0DB16FA8-89F0-4F14-B34C-0631B84A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621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Main track</a:t>
            </a:r>
          </a:p>
        </p:txBody>
      </p:sp>
      <p:sp>
        <p:nvSpPr>
          <p:cNvPr id="33" name="f1-main-body">
            <a:extLst xmlns:a="http://schemas.openxmlformats.org/drawingml/2006/main">
              <a:ext uri="{FF2B5EF4-FFF2-40B4-BE49-F238E27FC236}">
                <a16:creationId xmlns:a16="http://schemas.microsoft.com/office/drawing/2014/main" id="{3A7C0879-9400-47FF-966E-23AE0F3A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2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v5 general selector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all domains • 3 algorithms</a:t>
            </a:r>
          </a:p>
        </p:txBody>
      </p:sp>
      <p:sp>
        <p:nvSpPr>
          <p:cNvPr id="34" name="f1-spec">
            <a:extLst xmlns:a="http://schemas.openxmlformats.org/drawingml/2006/main">
              <a:ext uri="{FF2B5EF4-FFF2-40B4-BE49-F238E27FC236}">
                <a16:creationId xmlns:a16="http://schemas.microsoft.com/office/drawing/2014/main" id="{8FED697A-E02E-4E99-84FA-22AD44E9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43250"/>
            <a:ext cx="28575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f1-spec-title">
            <a:extLst xmlns:a="http://schemas.openxmlformats.org/drawingml/2006/main">
              <a:ext uri="{FF2B5EF4-FFF2-40B4-BE49-F238E27FC236}">
                <a16:creationId xmlns:a16="http://schemas.microsoft.com/office/drawing/2014/main" id="{81D6E984-DA6F-48F5-B27E-6B4BC5A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95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F1 specialization</a:t>
            </a:r>
          </a:p>
        </p:txBody>
      </p:sp>
      <p:sp>
        <p:nvSpPr>
          <p:cNvPr id="36" name="f1-spec-body">
            <a:extLst xmlns:a="http://schemas.openxmlformats.org/drawingml/2006/main">
              <a:ext uri="{FF2B5EF4-FFF2-40B4-BE49-F238E27FC236}">
                <a16:creationId xmlns:a16="http://schemas.microsoft.com/office/drawing/2014/main" id="{A5F18194-31BA-40E6-8048-F6454E8A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19500"/>
            <a:ext cx="251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channel flag routes F1 arrays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to specialized channel models</a:t>
            </a:r>
          </a:p>
        </p:txBody>
      </p:sp>
      <p:sp>
        <p:nvSpPr>
          <p:cNvPr id="37" name="f1-bound">
            <a:extLst xmlns:a="http://schemas.openxmlformats.org/drawingml/2006/main">
              <a:ext uri="{FF2B5EF4-FFF2-40B4-BE49-F238E27FC236}">
                <a16:creationId xmlns:a16="http://schemas.microsoft.com/office/drawing/2014/main" id="{034AEC3B-DE0B-4BF0-A572-DCA21E03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2857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f1-bound-title">
            <a:extLst xmlns:a="http://schemas.openxmlformats.org/drawingml/2006/main">
              <a:ext uri="{FF2B5EF4-FFF2-40B4-BE49-F238E27FC236}">
                <a16:creationId xmlns:a16="http://schemas.microsoft.com/office/drawing/2014/main" id="{0BCC6A3F-4BB1-45D2-99F8-099F9764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244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Claim boundary</a:t>
            </a:r>
          </a:p>
        </p:txBody>
      </p:sp>
      <p:sp>
        <p:nvSpPr>
          <p:cNvPr id="39" name="f1-bound-body">
            <a:extLst xmlns:a="http://schemas.openxmlformats.org/drawingml/2006/main">
              <a:ext uri="{FF2B5EF4-FFF2-40B4-BE49-F238E27FC236}">
                <a16:creationId xmlns:a16="http://schemas.microsoft.com/office/drawing/2014/main" id="{4D1B1EDB-6B2A-4D39-8877-3CEE8FCC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4825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2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This does not replace v5.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It stays separate from the main result.</a:t>
            </a:r>
          </a:p>
        </p:txBody>
      </p:sp>
    </p:spTree>
    <p:extLst>
      <p:ext uri="{BB962C8B-B14F-4D97-AF65-F5344CB8AC3E}">
        <p14:creationId xmlns:p14="http://schemas.microsoft.com/office/powerpoint/2010/main" val="15298365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F18C2C17-5130-424D-BE73-01AD63E1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9C585F8-803E-4B01-A8CD-39519EF2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85742427-DB5C-42E0-B717-98301151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5D4C99-33E9-4C4D-A601-AB0A0DB1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Optuna tuning strengthened the F1 channel models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65A4C5-9EF2-49E7-A250-250372FC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798190F-4107-4B4D-AF3A-9C8E68F2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24/28</a:t>
            </a:r>
          </a:p>
        </p:txBody>
      </p:sp>
      <p:sp>
        <p:nvSpPr>
          <p:cNvPr id="7" name="searched">
            <a:extLst xmlns:a="http://schemas.openxmlformats.org/drawingml/2006/main">
              <a:ext uri="{FF2B5EF4-FFF2-40B4-BE49-F238E27FC236}">
                <a16:creationId xmlns:a16="http://schemas.microsoft.com/office/drawing/2014/main" id="{7BF42781-DB7D-48A3-ACE8-0D1E1D2F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09700"/>
            <a:ext cx="1176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Optuna searched: </a:t>
            </a:r>
            <a:r>
              <a:rPr>
                <a:solidFill>
                  <a:srgbClr val="F4511E"/>
                </a:solidFill>
              </a:rPr>
              <a:t>tree count, tree depth, learning rate, row/feature sampling, and regularisation</a:t>
            </a:r>
          </a:p>
        </p:txBody>
      </p:sp>
      <p:sp>
        <p:nvSpPr>
          <p:cNvPr id="8" name="searched-rule">
            <a:extLst xmlns:a="http://schemas.openxmlformats.org/drawingml/2006/main">
              <a:ext uri="{FF2B5EF4-FFF2-40B4-BE49-F238E27FC236}">
                <a16:creationId xmlns:a16="http://schemas.microsoft.com/office/drawing/2014/main" id="{7B96898D-3E24-47B6-93A7-B26F5D27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85950"/>
            <a:ext cx="1185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9" name="op-h-0">
            <a:extLst xmlns:a="http://schemas.openxmlformats.org/drawingml/2006/main">
              <a:ext uri="{FF2B5EF4-FFF2-40B4-BE49-F238E27FC236}">
                <a16:creationId xmlns:a16="http://schemas.microsoft.com/office/drawing/2014/main" id="{AED2F190-1CDE-4F93-90FB-67B023B2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Metric</a:t>
            </a:r>
          </a:p>
        </p:txBody>
      </p:sp>
      <p:sp>
        <p:nvSpPr>
          <p:cNvPr id="10" name="op-h-1">
            <a:extLst xmlns:a="http://schemas.openxmlformats.org/drawingml/2006/main">
              <a:ext uri="{FF2B5EF4-FFF2-40B4-BE49-F238E27FC236}">
                <a16:creationId xmlns:a16="http://schemas.microsoft.com/office/drawing/2014/main" id="{DADAC602-D055-45A9-85E8-DB8CF025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3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Before</a:t>
            </a:r>
          </a:p>
        </p:txBody>
      </p:sp>
      <p:sp>
        <p:nvSpPr>
          <p:cNvPr id="11" name="op-h-2">
            <a:extLst xmlns:a="http://schemas.openxmlformats.org/drawingml/2006/main">
              <a:ext uri="{FF2B5EF4-FFF2-40B4-BE49-F238E27FC236}">
                <a16:creationId xmlns:a16="http://schemas.microsoft.com/office/drawing/2014/main" id="{FF6E1FEB-AEA0-4521-BE00-7CA04238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After Optuna</a:t>
            </a:r>
          </a:p>
        </p:txBody>
      </p:sp>
      <p:sp>
        <p:nvSpPr>
          <p:cNvPr id="12" name="op-h-3">
            <a:extLst xmlns:a="http://schemas.openxmlformats.org/drawingml/2006/main">
              <a:ext uri="{FF2B5EF4-FFF2-40B4-BE49-F238E27FC236}">
                <a16:creationId xmlns:a16="http://schemas.microsoft.com/office/drawing/2014/main" id="{13B956A5-6071-4B9B-ACD4-25BD9605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A7F"/>
                </a:solidFill>
              </a:defRPr>
            </a:pPr>
            <a:r>
              <a:rPr sz="1200" b="1">
                <a:solidFill>
                  <a:srgbClr val="5C6A7F"/>
                </a:solidFill>
              </a:rPr>
              <a:t>Change</a:t>
            </a:r>
          </a:p>
        </p:txBody>
      </p:sp>
      <p:sp>
        <p:nvSpPr>
          <p:cNvPr id="13" name="op-head">
            <a:extLst xmlns:a="http://schemas.openxmlformats.org/drawingml/2006/main">
              <a:ext uri="{FF2B5EF4-FFF2-40B4-BE49-F238E27FC236}">
                <a16:creationId xmlns:a16="http://schemas.microsoft.com/office/drawing/2014/main" id="{23EE02E0-424D-49AD-90EC-BCFDAC3D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14" name="op-m-0">
            <a:extLst xmlns:a="http://schemas.openxmlformats.org/drawingml/2006/main">
              <a:ext uri="{FF2B5EF4-FFF2-40B4-BE49-F238E27FC236}">
                <a16:creationId xmlns:a16="http://schemas.microsoft.com/office/drawing/2014/main" id="{DCE38997-4E3B-42EE-B56E-17DAB944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F1 avg test accuracy</a:t>
            </a:r>
          </a:p>
        </p:txBody>
      </p:sp>
      <p:sp>
        <p:nvSpPr>
          <p:cNvPr id="15" name="op-b-0">
            <a:extLst xmlns:a="http://schemas.openxmlformats.org/drawingml/2006/main">
              <a:ext uri="{FF2B5EF4-FFF2-40B4-BE49-F238E27FC236}">
                <a16:creationId xmlns:a16="http://schemas.microsoft.com/office/drawing/2014/main" id="{2526C761-61ED-4A77-BB18-E2B376D0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241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46.0%</a:t>
            </a:r>
          </a:p>
        </p:txBody>
      </p:sp>
      <p:sp>
        <p:nvSpPr>
          <p:cNvPr id="16" name="op-a-0">
            <a:extLst xmlns:a="http://schemas.openxmlformats.org/drawingml/2006/main">
              <a:ext uri="{FF2B5EF4-FFF2-40B4-BE49-F238E27FC236}">
                <a16:creationId xmlns:a16="http://schemas.microsoft.com/office/drawing/2014/main" id="{93FB3468-4F94-4CD5-B38B-1DC78825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24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53.6%</a:t>
            </a:r>
          </a:p>
        </p:txBody>
      </p:sp>
      <p:sp>
        <p:nvSpPr>
          <p:cNvPr id="17" name="op-c-0">
            <a:extLst xmlns:a="http://schemas.openxmlformats.org/drawingml/2006/main">
              <a:ext uri="{FF2B5EF4-FFF2-40B4-BE49-F238E27FC236}">
                <a16:creationId xmlns:a16="http://schemas.microsoft.com/office/drawing/2014/main" id="{A6DE4AB1-D8FA-45F1-8FEC-02EED133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241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+7.6</a:t>
            </a:r>
          </a:p>
        </p:txBody>
      </p:sp>
      <p:sp>
        <p:nvSpPr>
          <p:cNvPr id="18" name="op-line-0">
            <a:extLst xmlns:a="http://schemas.openxmlformats.org/drawingml/2006/main">
              <a:ext uri="{FF2B5EF4-FFF2-40B4-BE49-F238E27FC236}">
                <a16:creationId xmlns:a16="http://schemas.microsoft.com/office/drawing/2014/main" id="{C044E99E-6633-49CB-A98F-67903BF3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242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19" name="op-m-1">
            <a:extLst xmlns:a="http://schemas.openxmlformats.org/drawingml/2006/main">
              <a:ext uri="{FF2B5EF4-FFF2-40B4-BE49-F238E27FC236}">
                <a16:creationId xmlns:a16="http://schemas.microsoft.com/office/drawing/2014/main" id="{C003B630-06BB-4024-B015-48C293A6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F1 avg balanced accuracy</a:t>
            </a:r>
          </a:p>
        </p:txBody>
      </p:sp>
      <p:sp>
        <p:nvSpPr>
          <p:cNvPr id="20" name="op-b-1">
            <a:extLst xmlns:a="http://schemas.openxmlformats.org/drawingml/2006/main">
              <a:ext uri="{FF2B5EF4-FFF2-40B4-BE49-F238E27FC236}">
                <a16:creationId xmlns:a16="http://schemas.microsoft.com/office/drawing/2014/main" id="{EF3D0956-D377-4666-BEAB-EF925985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76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48.2%</a:t>
            </a:r>
          </a:p>
        </p:txBody>
      </p:sp>
      <p:sp>
        <p:nvSpPr>
          <p:cNvPr id="21" name="op-a-1">
            <a:extLst xmlns:a="http://schemas.openxmlformats.org/drawingml/2006/main">
              <a:ext uri="{FF2B5EF4-FFF2-40B4-BE49-F238E27FC236}">
                <a16:creationId xmlns:a16="http://schemas.microsoft.com/office/drawing/2014/main" id="{2CCB6159-9A74-47A5-91AC-7FB59635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49.8%</a:t>
            </a:r>
          </a:p>
        </p:txBody>
      </p:sp>
      <p:sp>
        <p:nvSpPr>
          <p:cNvPr id="22" name="op-c-1">
            <a:extLst xmlns:a="http://schemas.openxmlformats.org/drawingml/2006/main">
              <a:ext uri="{FF2B5EF4-FFF2-40B4-BE49-F238E27FC236}">
                <a16:creationId xmlns:a16="http://schemas.microsoft.com/office/drawing/2014/main" id="{8DCA7F52-FBCC-43A4-B9B1-6130D20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+1.6</a:t>
            </a:r>
          </a:p>
        </p:txBody>
      </p:sp>
      <p:sp>
        <p:nvSpPr>
          <p:cNvPr id="23" name="op-line-1">
            <a:extLst xmlns:a="http://schemas.openxmlformats.org/drawingml/2006/main">
              <a:ext uri="{FF2B5EF4-FFF2-40B4-BE49-F238E27FC236}">
                <a16:creationId xmlns:a16="http://schemas.microsoft.com/office/drawing/2014/main" id="{4161BD49-164C-40B3-856B-C2FDD547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766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4" name="op-m-2">
            <a:extLst xmlns:a="http://schemas.openxmlformats.org/drawingml/2006/main">
              <a:ext uri="{FF2B5EF4-FFF2-40B4-BE49-F238E27FC236}">
                <a16:creationId xmlns:a16="http://schemas.microsoft.com/office/drawing/2014/main" id="{B0DF684E-5396-4A09-9632-61370288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290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DRS test accuracy</a:t>
            </a:r>
          </a:p>
        </p:txBody>
      </p:sp>
      <p:sp>
        <p:nvSpPr>
          <p:cNvPr id="25" name="op-b-2">
            <a:extLst xmlns:a="http://schemas.openxmlformats.org/drawingml/2006/main">
              <a:ext uri="{FF2B5EF4-FFF2-40B4-BE49-F238E27FC236}">
                <a16:creationId xmlns:a16="http://schemas.microsoft.com/office/drawing/2014/main" id="{6725DAEA-7005-4670-8450-B57FCA11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55.0%</a:t>
            </a:r>
          </a:p>
        </p:txBody>
      </p:sp>
      <p:sp>
        <p:nvSpPr>
          <p:cNvPr id="26" name="op-a-2">
            <a:extLst xmlns:a="http://schemas.openxmlformats.org/drawingml/2006/main">
              <a:ext uri="{FF2B5EF4-FFF2-40B4-BE49-F238E27FC236}">
                <a16:creationId xmlns:a16="http://schemas.microsoft.com/office/drawing/2014/main" id="{731AB48D-FAB0-49AC-ACAA-4A127BF8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76.4%</a:t>
            </a:r>
          </a:p>
        </p:txBody>
      </p:sp>
      <p:sp>
        <p:nvSpPr>
          <p:cNvPr id="27" name="op-c-2">
            <a:extLst xmlns:a="http://schemas.openxmlformats.org/drawingml/2006/main">
              <a:ext uri="{FF2B5EF4-FFF2-40B4-BE49-F238E27FC236}">
                <a16:creationId xmlns:a16="http://schemas.microsoft.com/office/drawing/2014/main" id="{66D9FF20-7E25-4932-9889-06925275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290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+21.4</a:t>
            </a:r>
          </a:p>
        </p:txBody>
      </p:sp>
      <p:sp>
        <p:nvSpPr>
          <p:cNvPr id="28" name="op-line-2">
            <a:extLst xmlns:a="http://schemas.openxmlformats.org/drawingml/2006/main">
              <a:ext uri="{FF2B5EF4-FFF2-40B4-BE49-F238E27FC236}">
                <a16:creationId xmlns:a16="http://schemas.microsoft.com/office/drawing/2014/main" id="{68F503CC-AF0E-4750-B7BC-B04840F2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291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9" name="op-m-3">
            <a:extLst xmlns:a="http://schemas.openxmlformats.org/drawingml/2006/main">
              <a:ext uri="{FF2B5EF4-FFF2-40B4-BE49-F238E27FC236}">
                <a16:creationId xmlns:a16="http://schemas.microsoft.com/office/drawing/2014/main" id="{EEC30A86-98DC-4F6B-9E98-43A98EE5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815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Throttle balanced accuracy</a:t>
            </a:r>
          </a:p>
        </p:txBody>
      </p:sp>
      <p:sp>
        <p:nvSpPr>
          <p:cNvPr id="30" name="op-b-3">
            <a:extLst xmlns:a="http://schemas.openxmlformats.org/drawingml/2006/main">
              <a:ext uri="{FF2B5EF4-FFF2-40B4-BE49-F238E27FC236}">
                <a16:creationId xmlns:a16="http://schemas.microsoft.com/office/drawing/2014/main" id="{5CACFBAF-CC4A-4356-BE6D-2EDC34A2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815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24.0%</a:t>
            </a:r>
          </a:p>
        </p:txBody>
      </p:sp>
      <p:sp>
        <p:nvSpPr>
          <p:cNvPr id="31" name="op-a-3">
            <a:extLst xmlns:a="http://schemas.openxmlformats.org/drawingml/2006/main">
              <a:ext uri="{FF2B5EF4-FFF2-40B4-BE49-F238E27FC236}">
                <a16:creationId xmlns:a16="http://schemas.microsoft.com/office/drawing/2014/main" id="{0DD84EA7-DCA1-4BF8-89B6-FFFA016A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815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47.1%</a:t>
            </a:r>
          </a:p>
        </p:txBody>
      </p:sp>
      <p:sp>
        <p:nvSpPr>
          <p:cNvPr id="32" name="op-c-3">
            <a:extLst xmlns:a="http://schemas.openxmlformats.org/drawingml/2006/main">
              <a:ext uri="{FF2B5EF4-FFF2-40B4-BE49-F238E27FC236}">
                <a16:creationId xmlns:a16="http://schemas.microsoft.com/office/drawing/2014/main" id="{041E41B0-155B-4EBA-A121-6DD40D87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815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+23.1</a:t>
            </a:r>
          </a:p>
        </p:txBody>
      </p:sp>
      <p:sp>
        <p:nvSpPr>
          <p:cNvPr id="33" name="op-line-3">
            <a:extLst xmlns:a="http://schemas.openxmlformats.org/drawingml/2006/main">
              <a:ext uri="{FF2B5EF4-FFF2-40B4-BE49-F238E27FC236}">
                <a16:creationId xmlns:a16="http://schemas.microsoft.com/office/drawing/2014/main" id="{EB3439A4-122F-407A-9E82-BEACEF85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4" name="op-m-4">
            <a:extLst xmlns:a="http://schemas.openxmlformats.org/drawingml/2006/main">
              <a:ext uri="{FF2B5EF4-FFF2-40B4-BE49-F238E27FC236}">
                <a16:creationId xmlns:a16="http://schemas.microsoft.com/office/drawing/2014/main" id="{98DA01FB-96EE-4D85-9EB3-0DACC897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1717"/>
                </a:solidFill>
              </a:defRPr>
            </a:pPr>
            <a:r>
              <a:rPr sz="1275">
                <a:solidFill>
                  <a:srgbClr val="171717"/>
                </a:solidFill>
              </a:rPr>
              <a:t>RPM test accuracy</a:t>
            </a:r>
          </a:p>
        </p:txBody>
      </p:sp>
      <p:sp>
        <p:nvSpPr>
          <p:cNvPr id="35" name="op-b-4">
            <a:extLst xmlns:a="http://schemas.openxmlformats.org/drawingml/2006/main">
              <a:ext uri="{FF2B5EF4-FFF2-40B4-BE49-F238E27FC236}">
                <a16:creationId xmlns:a16="http://schemas.microsoft.com/office/drawing/2014/main" id="{AC034E9C-CBEB-4167-A07F-F33AB1C5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339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32.9%</a:t>
            </a:r>
          </a:p>
        </p:txBody>
      </p:sp>
      <p:sp>
        <p:nvSpPr>
          <p:cNvPr id="36" name="op-a-4">
            <a:extLst xmlns:a="http://schemas.openxmlformats.org/drawingml/2006/main">
              <a:ext uri="{FF2B5EF4-FFF2-40B4-BE49-F238E27FC236}">
                <a16:creationId xmlns:a16="http://schemas.microsoft.com/office/drawing/2014/main" id="{0143B12F-1660-4B98-86C7-CA9E4C54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339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44.0%</a:t>
            </a:r>
          </a:p>
        </p:txBody>
      </p:sp>
      <p:sp>
        <p:nvSpPr>
          <p:cNvPr id="37" name="op-c-4">
            <a:extLst xmlns:a="http://schemas.openxmlformats.org/drawingml/2006/main">
              <a:ext uri="{FF2B5EF4-FFF2-40B4-BE49-F238E27FC236}">
                <a16:creationId xmlns:a16="http://schemas.microsoft.com/office/drawing/2014/main" id="{FAD5DB9D-373B-4DB9-BB5D-463C4B60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339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06F"/>
                </a:solidFill>
              </a:defRPr>
            </a:pPr>
            <a:r>
              <a:rPr sz="1275" b="1">
                <a:solidFill>
                  <a:srgbClr val="2FA06F"/>
                </a:solidFill>
              </a:rPr>
              <a:t>+11.1</a:t>
            </a:r>
          </a:p>
        </p:txBody>
      </p:sp>
      <p:sp>
        <p:nvSpPr>
          <p:cNvPr id="38" name="op-line-4">
            <a:extLst xmlns:a="http://schemas.openxmlformats.org/drawingml/2006/main">
              <a:ext uri="{FF2B5EF4-FFF2-40B4-BE49-F238E27FC236}">
                <a16:creationId xmlns:a16="http://schemas.microsoft.com/office/drawing/2014/main" id="{96C11770-7677-4C08-8D66-3E039BE1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340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9" name="op-div">
            <a:extLst xmlns:a="http://schemas.openxmlformats.org/drawingml/2006/main">
              <a:ext uri="{FF2B5EF4-FFF2-40B4-BE49-F238E27FC236}">
                <a16:creationId xmlns:a16="http://schemas.microsoft.com/office/drawing/2014/main" id="{5FAA2D97-85E9-40E4-8B36-307A8A53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40" name="op-ct">
            <a:extLst xmlns:a="http://schemas.openxmlformats.org/drawingml/2006/main">
              <a:ext uri="{FF2B5EF4-FFF2-40B4-BE49-F238E27FC236}">
                <a16:creationId xmlns:a16="http://schemas.microsoft.com/office/drawing/2014/main" id="{35A2E510-AD87-4C6E-8921-FFC63243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19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F1 channel average</a:t>
            </a:r>
          </a:p>
        </p:txBody>
      </p:sp>
      <p:sp>
        <p:nvSpPr>
          <p:cNvPr id="41" name="op-chart-axis">
            <a:extLst xmlns:a="http://schemas.openxmlformats.org/drawingml/2006/main">
              <a:ext uri="{FF2B5EF4-FFF2-40B4-BE49-F238E27FC236}">
                <a16:creationId xmlns:a16="http://schemas.microsoft.com/office/drawing/2014/main" id="{5059AB1A-B433-49F8-9FFC-10EE2723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96252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42" name="op-chart-yaxis">
            <a:extLst xmlns:a="http://schemas.openxmlformats.org/drawingml/2006/main">
              <a:ext uri="{FF2B5EF4-FFF2-40B4-BE49-F238E27FC236}">
                <a16:creationId xmlns:a16="http://schemas.microsoft.com/office/drawing/2014/main" id="{0A8C80FA-D5CA-4A08-9C65-071CEC4F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190875"/>
            <a:ext cx="0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43" name="op-chart-bar-0-0">
            <a:extLst xmlns:a="http://schemas.openxmlformats.org/drawingml/2006/main">
              <a:ext uri="{FF2B5EF4-FFF2-40B4-BE49-F238E27FC236}">
                <a16:creationId xmlns:a16="http://schemas.microsoft.com/office/drawing/2014/main" id="{7E3C275F-18A8-4870-9DB9-ACA10D18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794125"/>
            <a:ext cx="419100" cy="116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p-chart-val-0-0">
            <a:extLst xmlns:a="http://schemas.openxmlformats.org/drawingml/2006/main">
              <a:ext uri="{FF2B5EF4-FFF2-40B4-BE49-F238E27FC236}">
                <a16:creationId xmlns:a16="http://schemas.microsoft.com/office/drawing/2014/main" id="{795BB819-934A-4AA4-A92E-69CDAE83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54647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86A6"/>
                </a:solidFill>
              </a:defRPr>
            </a:pPr>
            <a:r>
              <a:rPr sz="1200" b="1">
                <a:solidFill>
                  <a:srgbClr val="7186A6"/>
                </a:solidFill>
              </a:rPr>
              <a:t>46.0%</a:t>
            </a:r>
          </a:p>
        </p:txBody>
      </p:sp>
      <p:sp>
        <p:nvSpPr>
          <p:cNvPr id="45" name="op-chart-cat-0">
            <a:extLst xmlns:a="http://schemas.openxmlformats.org/drawingml/2006/main">
              <a:ext uri="{FF2B5EF4-FFF2-40B4-BE49-F238E27FC236}">
                <a16:creationId xmlns:a16="http://schemas.microsoft.com/office/drawing/2014/main" id="{3998B149-F5CF-403F-AE61-08A19A01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038725"/>
            <a:ext cx="82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Before avg</a:t>
            </a:r>
          </a:p>
        </p:txBody>
      </p:sp>
      <p:sp>
        <p:nvSpPr>
          <p:cNvPr id="46" name="op-chart-bar-1-0">
            <a:extLst xmlns:a="http://schemas.openxmlformats.org/drawingml/2006/main">
              <a:ext uri="{FF2B5EF4-FFF2-40B4-BE49-F238E27FC236}">
                <a16:creationId xmlns:a16="http://schemas.microsoft.com/office/drawing/2014/main" id="{B3188CA2-F9D0-424E-A56A-5204E0BC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3601085"/>
            <a:ext cx="419100" cy="136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p-chart-val-1-0">
            <a:extLst xmlns:a="http://schemas.openxmlformats.org/drawingml/2006/main">
              <a:ext uri="{FF2B5EF4-FFF2-40B4-BE49-F238E27FC236}">
                <a16:creationId xmlns:a16="http://schemas.microsoft.com/office/drawing/2014/main" id="{961DCC49-BE4E-4363-A59A-89CDDF49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335343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86A6"/>
                </a:solidFill>
              </a:defRPr>
            </a:pPr>
            <a:r>
              <a:rPr sz="1200" b="1">
                <a:solidFill>
                  <a:srgbClr val="7186A6"/>
                </a:solidFill>
              </a:rPr>
              <a:t>53.6%</a:t>
            </a:r>
          </a:p>
        </p:txBody>
      </p:sp>
      <p:sp>
        <p:nvSpPr>
          <p:cNvPr id="48" name="op-chart-cat-1">
            <a:extLst xmlns:a="http://schemas.openxmlformats.org/drawingml/2006/main">
              <a:ext uri="{FF2B5EF4-FFF2-40B4-BE49-F238E27FC236}">
                <a16:creationId xmlns:a16="http://schemas.microsoft.com/office/drawing/2014/main" id="{AB616881-89A5-4289-B0ED-C41121A7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038725"/>
            <a:ext cx="82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C6A7F"/>
                </a:solidFill>
              </a:defRPr>
            </a:pPr>
            <a:r>
              <a:rPr sz="825">
                <a:solidFill>
                  <a:srgbClr val="5C6A7F"/>
                </a:solidFill>
              </a:rPr>
              <a:t>After avg</a:t>
            </a:r>
          </a:p>
        </p:txBody>
      </p:sp>
    </p:spTree>
    <p:extLst>
      <p:ext uri="{BB962C8B-B14F-4D97-AF65-F5344CB8AC3E}">
        <p14:creationId xmlns:p14="http://schemas.microsoft.com/office/powerpoint/2010/main" val="10387746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1C6A829D-27CE-4C35-9512-30EFAD42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EE99E6D-1B1E-4E94-806E-16F7FAEE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FBE2AB01-6423-4DDC-A9CE-4A3A6932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389385-E923-46B3-872C-1B15B009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Where this selector can be used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F32A568-D9CC-4214-9F53-4B6CFF60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B659D47-63CA-48A6-9CEE-4D572501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25/28</a:t>
            </a:r>
          </a:p>
        </p:txBody>
      </p:sp>
      <p:sp>
        <p:nvSpPr>
          <p:cNvPr id="7" name="list-n-0">
            <a:extLst xmlns:a="http://schemas.openxmlformats.org/drawingml/2006/main">
              <a:ext uri="{FF2B5EF4-FFF2-40B4-BE49-F238E27FC236}">
                <a16:creationId xmlns:a16="http://schemas.microsoft.com/office/drawing/2014/main" id="{8F2CE31C-8154-4FF7-9E2E-1F8E5D30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04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list-row-0">
            <a:extLst xmlns:a="http://schemas.openxmlformats.org/drawingml/2006/main">
              <a:ext uri="{FF2B5EF4-FFF2-40B4-BE49-F238E27FC236}">
                <a16:creationId xmlns:a16="http://schemas.microsoft.com/office/drawing/2014/main" id="{36EA040E-9541-4DF6-A92B-24D31823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4763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Database query engines: </a:t>
            </a:r>
            <a:r>
              <a:rPr>
                <a:solidFill>
                  <a:srgbClr val="F4511E"/>
                </a:solidFill>
              </a:rPr>
              <a:t>choose sorting method for ORDER BY, joins, grouping, and index builds</a:t>
            </a:r>
          </a:p>
        </p:txBody>
      </p:sp>
      <p:sp>
        <p:nvSpPr>
          <p:cNvPr id="9" name="list-line-0">
            <a:extLst xmlns:a="http://schemas.openxmlformats.org/drawingml/2006/main">
              <a:ext uri="{FF2B5EF4-FFF2-40B4-BE49-F238E27FC236}">
                <a16:creationId xmlns:a16="http://schemas.microsoft.com/office/drawing/2014/main" id="{CFDF92EF-67E1-4EBD-83CB-85E71CEC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955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list-n-1">
            <a:extLst xmlns:a="http://schemas.openxmlformats.org/drawingml/2006/main">
              <a:ext uri="{FF2B5EF4-FFF2-40B4-BE49-F238E27FC236}">
                <a16:creationId xmlns:a16="http://schemas.microsoft.com/office/drawing/2014/main" id="{3603D294-8B14-4F0D-A903-FB6EA5BF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05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list-row-1">
            <a:extLst xmlns:a="http://schemas.openxmlformats.org/drawingml/2006/main">
              <a:ext uri="{FF2B5EF4-FFF2-40B4-BE49-F238E27FC236}">
                <a16:creationId xmlns:a16="http://schemas.microsoft.com/office/drawing/2014/main" id="{A7431D7B-093F-4EA8-B154-CE6EAB9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2764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ETL and analytics pipelines: </a:t>
            </a:r>
            <a:r>
              <a:rPr>
                <a:solidFill>
                  <a:srgbClr val="F4511E"/>
                </a:solidFill>
              </a:rPr>
              <a:t>choose sorting method for IDs, timestamps, prices, partitions, and batches</a:t>
            </a:r>
          </a:p>
        </p:txBody>
      </p:sp>
      <p:sp>
        <p:nvSpPr>
          <p:cNvPr id="12" name="list-line-1">
            <a:extLst xmlns:a="http://schemas.openxmlformats.org/drawingml/2006/main">
              <a:ext uri="{FF2B5EF4-FFF2-40B4-BE49-F238E27FC236}">
                <a16:creationId xmlns:a16="http://schemas.microsoft.com/office/drawing/2014/main" id="{32E67FE1-9B08-419E-A287-FF1CD7EF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956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list-n-2">
            <a:extLst xmlns:a="http://schemas.openxmlformats.org/drawingml/2006/main">
              <a:ext uri="{FF2B5EF4-FFF2-40B4-BE49-F238E27FC236}">
                <a16:creationId xmlns:a16="http://schemas.microsoft.com/office/drawing/2014/main" id="{C24E3E01-BD09-4F4D-8174-883D8242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list-row-2">
            <a:extLst xmlns:a="http://schemas.openxmlformats.org/drawingml/2006/main">
              <a:ext uri="{FF2B5EF4-FFF2-40B4-BE49-F238E27FC236}">
                <a16:creationId xmlns:a16="http://schemas.microsoft.com/office/drawing/2014/main" id="{4E6FD923-A357-4B5F-B8B5-D97523A7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0765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Search and ranking systems: </a:t>
            </a:r>
            <a:r>
              <a:rPr>
                <a:solidFill>
                  <a:srgbClr val="F4511E"/>
                </a:solidFill>
              </a:rPr>
              <a:t>choose sorting method for candidate scores before top-k output</a:t>
            </a:r>
          </a:p>
        </p:txBody>
      </p:sp>
      <p:sp>
        <p:nvSpPr>
          <p:cNvPr id="15" name="list-line-2">
            <a:extLst xmlns:a="http://schemas.openxmlformats.org/drawingml/2006/main">
              <a:ext uri="{FF2B5EF4-FFF2-40B4-BE49-F238E27FC236}">
                <a16:creationId xmlns:a16="http://schemas.microsoft.com/office/drawing/2014/main" id="{30F2DB93-D104-4A71-B310-8FBD276A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957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6" name="list-n-3">
            <a:extLst xmlns:a="http://schemas.openxmlformats.org/drawingml/2006/main">
              <a:ext uri="{FF2B5EF4-FFF2-40B4-BE49-F238E27FC236}">
                <a16:creationId xmlns:a16="http://schemas.microsoft.com/office/drawing/2014/main" id="{E998EE85-FCBF-41DB-BA67-838E8C03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7" name="list-row-3">
            <a:extLst xmlns:a="http://schemas.openxmlformats.org/drawingml/2006/main">
              <a:ext uri="{FF2B5EF4-FFF2-40B4-BE49-F238E27FC236}">
                <a16:creationId xmlns:a16="http://schemas.microsoft.com/office/drawing/2014/main" id="{7EBB42B7-456E-4749-AC3C-06844A9F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766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72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Financial time-series processing: </a:t>
            </a:r>
            <a:r>
              <a:rPr>
                <a:solidFill>
                  <a:srgbClr val="F4511E"/>
                </a:solidFill>
              </a:rPr>
              <a:t>choose sorting method for rolling windows, events, prices, and order-book values</a:t>
            </a:r>
          </a:p>
        </p:txBody>
      </p:sp>
      <p:sp>
        <p:nvSpPr>
          <p:cNvPr id="18" name="list-line-3">
            <a:extLst xmlns:a="http://schemas.openxmlformats.org/drawingml/2006/main">
              <a:ext uri="{FF2B5EF4-FFF2-40B4-BE49-F238E27FC236}">
                <a16:creationId xmlns:a16="http://schemas.microsoft.com/office/drawing/2014/main" id="{92290F45-31FE-4A67-8C9C-6EAEE299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958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9" name="list-n-4">
            <a:extLst xmlns:a="http://schemas.openxmlformats.org/drawingml/2006/main">
              <a:ext uri="{FF2B5EF4-FFF2-40B4-BE49-F238E27FC236}">
                <a16:creationId xmlns:a16="http://schemas.microsoft.com/office/drawing/2014/main" id="{63E0ABFA-B065-4750-A1E1-663EC7F1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05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0" name="list-row-4">
            <a:extLst xmlns:a="http://schemas.openxmlformats.org/drawingml/2006/main">
              <a:ext uri="{FF2B5EF4-FFF2-40B4-BE49-F238E27FC236}">
                <a16:creationId xmlns:a16="http://schemas.microsoft.com/office/drawing/2014/main" id="{0A1DEE8A-B78F-4747-B7D2-A35C097A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6767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711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Scientific and telemetry processing: </a:t>
            </a:r>
            <a:r>
              <a:rPr>
                <a:solidFill>
                  <a:srgbClr val="F4511E"/>
                </a:solidFill>
              </a:rPr>
              <a:t>choose sorting method for sensor traces, physics logs, weather data, and F1 telemetry</a:t>
            </a:r>
          </a:p>
        </p:txBody>
      </p:sp>
      <p:sp>
        <p:nvSpPr>
          <p:cNvPr id="21" name="list-line-4">
            <a:extLst xmlns:a="http://schemas.openxmlformats.org/drawingml/2006/main">
              <a:ext uri="{FF2B5EF4-FFF2-40B4-BE49-F238E27FC236}">
                <a16:creationId xmlns:a16="http://schemas.microsoft.com/office/drawing/2014/main" id="{42AC3173-11CA-411F-8F15-026FD276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2959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22" name="list-n-5">
            <a:extLst xmlns:a="http://schemas.openxmlformats.org/drawingml/2006/main">
              <a:ext uri="{FF2B5EF4-FFF2-40B4-BE49-F238E27FC236}">
                <a16:creationId xmlns:a16="http://schemas.microsoft.com/office/drawing/2014/main" id="{2D747DAA-3293-4781-8586-4BC8B32E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05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23" name="list-row-5">
            <a:extLst xmlns:a="http://schemas.openxmlformats.org/drawingml/2006/main">
              <a:ext uri="{FF2B5EF4-FFF2-40B4-BE49-F238E27FC236}">
                <a16:creationId xmlns:a16="http://schemas.microsoft.com/office/drawing/2014/main" id="{D846873A-7DE5-49EE-84DB-96120CD7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4768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Selector action: </a:t>
            </a:r>
            <a:r>
              <a:rPr>
                <a:solidFill>
                  <a:srgbClr val="F4511E"/>
                </a:solidFill>
              </a:rPr>
              <a:t>extract features first, predict fastest algorithm, choose Introsort / Heapsort / Timsort</a:t>
            </a:r>
          </a:p>
        </p:txBody>
      </p:sp>
      <p:sp>
        <p:nvSpPr>
          <p:cNvPr id="24" name="list-line-5">
            <a:extLst xmlns:a="http://schemas.openxmlformats.org/drawingml/2006/main">
              <a:ext uri="{FF2B5EF4-FFF2-40B4-BE49-F238E27FC236}">
                <a16:creationId xmlns:a16="http://schemas.microsoft.com/office/drawing/2014/main" id="{C7C51002-62F1-4398-A65E-03434B91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0960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804789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95BEC756-5570-4C69-9A3A-29C97057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67451469-A9AB-4E67-87C4-60AF6DD8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90B083A-92FD-453A-B349-D2F71873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44FEED-7BFC-4413-AE45-5CB63555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Contributions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9411F30-30DC-4BB6-9BB8-3F30E382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5D00097-D9AA-4EDA-9721-8B421667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26/28</a:t>
            </a:r>
          </a:p>
        </p:txBody>
      </p:sp>
      <p:sp>
        <p:nvSpPr>
          <p:cNvPr id="7" name="list-n-0">
            <a:extLst xmlns:a="http://schemas.openxmlformats.org/drawingml/2006/main">
              <a:ext uri="{FF2B5EF4-FFF2-40B4-BE49-F238E27FC236}">
                <a16:creationId xmlns:a16="http://schemas.microsoft.com/office/drawing/2014/main" id="{A67F4281-CD5C-41ED-BA85-57A2FBEF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list-row-0">
            <a:extLst xmlns:a="http://schemas.openxmlformats.org/drawingml/2006/main">
              <a:ext uri="{FF2B5EF4-FFF2-40B4-BE49-F238E27FC236}">
                <a16:creationId xmlns:a16="http://schemas.microsoft.com/office/drawing/2014/main" id="{86C4D8BB-A183-4F8E-A49D-26A9B5CC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6692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65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Deployable selector: </a:t>
            </a:r>
            <a:r>
              <a:rPr>
                <a:solidFill>
                  <a:srgbClr val="171717"/>
                </a:solidFill>
              </a:rPr>
              <a:t>compact pipeline combines sixteen O(n) structural features with a gradient-boosted classifier</a:t>
            </a:r>
          </a:p>
        </p:txBody>
      </p:sp>
      <p:sp>
        <p:nvSpPr>
          <p:cNvPr id="9" name="list-line-0">
            <a:extLst xmlns:a="http://schemas.openxmlformats.org/drawingml/2006/main">
              <a:ext uri="{FF2B5EF4-FFF2-40B4-BE49-F238E27FC236}">
                <a16:creationId xmlns:a16="http://schemas.microsoft.com/office/drawing/2014/main" id="{F8AE0710-BCF3-40F0-8D42-DA21C609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860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list-n-1">
            <a:extLst xmlns:a="http://schemas.openxmlformats.org/drawingml/2006/main">
              <a:ext uri="{FF2B5EF4-FFF2-40B4-BE49-F238E27FC236}">
                <a16:creationId xmlns:a16="http://schemas.microsoft.com/office/drawing/2014/main" id="{444A24EC-16BA-46E7-9FE2-5355DFB2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52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list-row-1">
            <a:extLst xmlns:a="http://schemas.openxmlformats.org/drawingml/2006/main">
              <a:ext uri="{FF2B5EF4-FFF2-40B4-BE49-F238E27FC236}">
                <a16:creationId xmlns:a16="http://schemas.microsoft.com/office/drawing/2014/main" id="{5E58FBDA-E393-4E8F-802F-752BFB39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32422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6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Evaluation discipline: </a:t>
            </a:r>
            <a:r>
              <a:rPr>
                <a:solidFill>
                  <a:srgbClr val="171717"/>
                </a:solidFill>
              </a:rPr>
              <a:t>source-level separation, near-tie filtering, LODO testing, and regret metrics give a stronger view than accuracy alone</a:t>
            </a:r>
          </a:p>
        </p:txBody>
      </p:sp>
      <p:sp>
        <p:nvSpPr>
          <p:cNvPr id="12" name="list-line-1">
            <a:extLst xmlns:a="http://schemas.openxmlformats.org/drawingml/2006/main">
              <a:ext uri="{FF2B5EF4-FFF2-40B4-BE49-F238E27FC236}">
                <a16:creationId xmlns:a16="http://schemas.microsoft.com/office/drawing/2014/main" id="{BE9FB5A2-ACC7-48C7-A4C4-A43D5C7A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9433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list-n-2">
            <a:extLst xmlns:a="http://schemas.openxmlformats.org/drawingml/2006/main">
              <a:ext uri="{FF2B5EF4-FFF2-40B4-BE49-F238E27FC236}">
                <a16:creationId xmlns:a16="http://schemas.microsoft.com/office/drawing/2014/main" id="{7865948A-8065-4495-A313-BFC9A4E7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0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list-row-2">
            <a:extLst xmlns:a="http://schemas.openxmlformats.org/drawingml/2006/main">
              <a:ext uri="{FF2B5EF4-FFF2-40B4-BE49-F238E27FC236}">
                <a16:creationId xmlns:a16="http://schemas.microsoft.com/office/drawing/2014/main" id="{BC58D678-DC47-4133-B4F5-113CCD7D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58152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69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Reproducible artifact: </a:t>
            </a:r>
            <a:r>
              <a:rPr>
                <a:solidFill>
                  <a:srgbClr val="171717"/>
                </a:solidFill>
              </a:rPr>
              <a:t>one source-of-truth feature extractor, data pipeline, and exported XGBoost JSON / ONNX models support replication</a:t>
            </a:r>
          </a:p>
        </p:txBody>
      </p:sp>
      <p:sp>
        <p:nvSpPr>
          <p:cNvPr id="15" name="list-line-2">
            <a:extLst xmlns:a="http://schemas.openxmlformats.org/drawingml/2006/main">
              <a:ext uri="{FF2B5EF4-FFF2-40B4-BE49-F238E27FC236}">
                <a16:creationId xmlns:a16="http://schemas.microsoft.com/office/drawing/2014/main" id="{0BDC7DA7-02E4-4BF3-9740-03B5CF9D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2006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81018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C267EC5-9A97-442D-B29E-34D71DE7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CB5E5A16-75E9-422A-8D7C-6107B707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FFE46F0-31DC-4D1A-BD3D-9C5F1D81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31B73A-0CB6-4D8C-8DB5-DFCE8D25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Limitations and Future Work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61FBC04-3A11-4EDE-9AD5-4A2DBDAD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255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2413555-B7C9-4D85-8ED4-450F6AE0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27/28</a:t>
            </a:r>
          </a:p>
        </p:txBody>
      </p:sp>
      <p:sp>
        <p:nvSpPr>
          <p:cNvPr id="7" name="list-n-0">
            <a:extLst xmlns:a="http://schemas.openxmlformats.org/drawingml/2006/main">
              <a:ext uri="{FF2B5EF4-FFF2-40B4-BE49-F238E27FC236}">
                <a16:creationId xmlns:a16="http://schemas.microsoft.com/office/drawing/2014/main" id="{9640588A-133D-4863-AECA-9C4537FC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04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8" name="list-row-0">
            <a:extLst xmlns:a="http://schemas.openxmlformats.org/drawingml/2006/main">
              <a:ext uri="{FF2B5EF4-FFF2-40B4-BE49-F238E27FC236}">
                <a16:creationId xmlns:a16="http://schemas.microsoft.com/office/drawing/2014/main" id="{24C9E566-6BDD-4F13-A8D3-CEADEE5E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4763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Portfolio: </a:t>
            </a:r>
            <a:r>
              <a:rPr>
                <a:solidFill>
                  <a:srgbClr val="171717"/>
                </a:solidFill>
              </a:rPr>
              <a:t>limited to three C-level comparison sorts</a:t>
            </a:r>
          </a:p>
        </p:txBody>
      </p:sp>
      <p:sp>
        <p:nvSpPr>
          <p:cNvPr id="9" name="list-line-0">
            <a:extLst xmlns:a="http://schemas.openxmlformats.org/drawingml/2006/main">
              <a:ext uri="{FF2B5EF4-FFF2-40B4-BE49-F238E27FC236}">
                <a16:creationId xmlns:a16="http://schemas.microsoft.com/office/drawing/2014/main" id="{3A8ADA8C-887F-4827-8B3A-32F9BC22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955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list-n-1">
            <a:extLst xmlns:a="http://schemas.openxmlformats.org/drawingml/2006/main">
              <a:ext uri="{FF2B5EF4-FFF2-40B4-BE49-F238E27FC236}">
                <a16:creationId xmlns:a16="http://schemas.microsoft.com/office/drawing/2014/main" id="{59B734EB-E14E-4508-AE9C-78EE1073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05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" name="list-row-1">
            <a:extLst xmlns:a="http://schemas.openxmlformats.org/drawingml/2006/main">
              <a:ext uri="{FF2B5EF4-FFF2-40B4-BE49-F238E27FC236}">
                <a16:creationId xmlns:a16="http://schemas.microsoft.com/office/drawing/2014/main" id="{C5C75C24-416B-4EA4-AA5D-4F851FC3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2764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Environment: </a:t>
            </a:r>
            <a:r>
              <a:rPr>
                <a:solidFill>
                  <a:srgbClr val="171717"/>
                </a:solidFill>
              </a:rPr>
              <a:t>absolute regret is tied to one hardware/software environment</a:t>
            </a:r>
          </a:p>
        </p:txBody>
      </p:sp>
      <p:sp>
        <p:nvSpPr>
          <p:cNvPr id="12" name="list-line-1">
            <a:extLst xmlns:a="http://schemas.openxmlformats.org/drawingml/2006/main">
              <a:ext uri="{FF2B5EF4-FFF2-40B4-BE49-F238E27FC236}">
                <a16:creationId xmlns:a16="http://schemas.microsoft.com/office/drawing/2014/main" id="{5C7EA0BD-B1A4-494E-9AE4-0FC4D4D4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956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list-n-2">
            <a:extLst xmlns:a="http://schemas.openxmlformats.org/drawingml/2006/main">
              <a:ext uri="{FF2B5EF4-FFF2-40B4-BE49-F238E27FC236}">
                <a16:creationId xmlns:a16="http://schemas.microsoft.com/office/drawing/2014/main" id="{7005B449-64B1-4515-BA0C-2354CAAD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4" name="list-row-2">
            <a:extLst xmlns:a="http://schemas.openxmlformats.org/drawingml/2006/main">
              <a:ext uri="{FF2B5EF4-FFF2-40B4-BE49-F238E27FC236}">
                <a16:creationId xmlns:a16="http://schemas.microsoft.com/office/drawing/2014/main" id="{CDB62380-E95C-42E3-962A-A9C9855E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0765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Source-aware split: </a:t>
            </a:r>
            <a:r>
              <a:rPr>
                <a:solidFill>
                  <a:srgbClr val="171717"/>
                </a:solidFill>
              </a:rPr>
              <a:t>stricter validation lowers performance, so deployment needs domain testing</a:t>
            </a:r>
          </a:p>
        </p:txBody>
      </p:sp>
      <p:sp>
        <p:nvSpPr>
          <p:cNvPr id="15" name="list-line-2">
            <a:extLst xmlns:a="http://schemas.openxmlformats.org/drawingml/2006/main">
              <a:ext uri="{FF2B5EF4-FFF2-40B4-BE49-F238E27FC236}">
                <a16:creationId xmlns:a16="http://schemas.microsoft.com/office/drawing/2014/main" id="{5044BD13-4418-4398-87A0-491A2E1C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957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6" name="list-n-3">
            <a:extLst xmlns:a="http://schemas.openxmlformats.org/drawingml/2006/main">
              <a:ext uri="{FF2B5EF4-FFF2-40B4-BE49-F238E27FC236}">
                <a16:creationId xmlns:a16="http://schemas.microsoft.com/office/drawing/2014/main" id="{82679A04-9D72-4C02-ACE5-3F6AD762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7" name="list-row-3">
            <a:extLst xmlns:a="http://schemas.openxmlformats.org/drawingml/2006/main">
              <a:ext uri="{FF2B5EF4-FFF2-40B4-BE49-F238E27FC236}">
                <a16:creationId xmlns:a16="http://schemas.microsoft.com/office/drawing/2014/main" id="{F88C3105-466D-4CA3-AF2A-C2147EF3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766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Extraction cost: </a:t>
            </a:r>
            <a:r>
              <a:rPr>
                <a:solidFill>
                  <a:srgbClr val="171717"/>
                </a:solidFill>
              </a:rPr>
              <a:t>feature extraction becomes unprofitable below about 1,000 elements</a:t>
            </a:r>
          </a:p>
        </p:txBody>
      </p:sp>
      <p:sp>
        <p:nvSpPr>
          <p:cNvPr id="18" name="list-line-3">
            <a:extLst xmlns:a="http://schemas.openxmlformats.org/drawingml/2006/main">
              <a:ext uri="{FF2B5EF4-FFF2-40B4-BE49-F238E27FC236}">
                <a16:creationId xmlns:a16="http://schemas.microsoft.com/office/drawing/2014/main" id="{AB938220-AB00-4E73-A37A-C9B4679B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958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9" name="list-n-4">
            <a:extLst xmlns:a="http://schemas.openxmlformats.org/drawingml/2006/main">
              <a:ext uri="{FF2B5EF4-FFF2-40B4-BE49-F238E27FC236}">
                <a16:creationId xmlns:a16="http://schemas.microsoft.com/office/drawing/2014/main" id="{D913ED9F-66DA-43FD-8EE6-AE65DA50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05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0" name="list-row-4">
            <a:extLst xmlns:a="http://schemas.openxmlformats.org/drawingml/2006/main">
              <a:ext uri="{FF2B5EF4-FFF2-40B4-BE49-F238E27FC236}">
                <a16:creationId xmlns:a16="http://schemas.microsoft.com/office/drawing/2014/main" id="{6F4DE360-EA5F-4309-8D32-FA3F3A67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6767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Larger portfolios: </a:t>
            </a:r>
            <a:r>
              <a:rPr>
                <a:solidFill>
                  <a:srgbClr val="171717"/>
                </a:solidFill>
              </a:rPr>
              <a:t>Powersort, radix/bucket/quads, SIMD/GPU sorts</a:t>
            </a:r>
          </a:p>
        </p:txBody>
      </p:sp>
      <p:sp>
        <p:nvSpPr>
          <p:cNvPr id="21" name="list-line-4">
            <a:extLst xmlns:a="http://schemas.openxmlformats.org/drawingml/2006/main">
              <a:ext uri="{FF2B5EF4-FFF2-40B4-BE49-F238E27FC236}">
                <a16:creationId xmlns:a16="http://schemas.microsoft.com/office/drawing/2014/main" id="{A4120DE7-FDBB-492F-A67F-858C6A15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2959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22" name="list-n-5">
            <a:extLst xmlns:a="http://schemas.openxmlformats.org/drawingml/2006/main">
              <a:ext uri="{FF2B5EF4-FFF2-40B4-BE49-F238E27FC236}">
                <a16:creationId xmlns:a16="http://schemas.microsoft.com/office/drawing/2014/main" id="{9EE50115-0D62-4E41-AAF2-93B13C85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05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511E"/>
                </a:solidFill>
              </a:defRPr>
            </a:pPr>
            <a:r>
              <a:rPr sz="1350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23" name="list-row-5">
            <a:extLst xmlns:a="http://schemas.openxmlformats.org/drawingml/2006/main">
              <a:ext uri="{FF2B5EF4-FFF2-40B4-BE49-F238E27FC236}">
                <a16:creationId xmlns:a16="http://schemas.microsoft.com/office/drawing/2014/main" id="{BEAA373B-BD2B-4349-8DC9-FD108B46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4768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Deployment: </a:t>
            </a:r>
            <a:r>
              <a:rPr>
                <a:solidFill>
                  <a:srgbClr val="171717"/>
                </a:solidFill>
              </a:rPr>
              <a:t>cross-platform validation with feature-extraction overhead</a:t>
            </a:r>
          </a:p>
        </p:txBody>
      </p:sp>
      <p:sp>
        <p:nvSpPr>
          <p:cNvPr id="24" name="list-line-5">
            <a:extLst xmlns:a="http://schemas.openxmlformats.org/drawingml/2006/main">
              <a:ext uri="{FF2B5EF4-FFF2-40B4-BE49-F238E27FC236}">
                <a16:creationId xmlns:a16="http://schemas.microsoft.com/office/drawing/2014/main" id="{7B84DCF3-1E07-47DD-86A0-0FA9F80B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0960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82833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F18D0296-4D58-498B-AA5E-3F42671C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05109BE7-68E7-481E-8100-DAF9D670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0B0CB51-E739-439B-82F2-FA247782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645070B-1276-4CA9-83AA-ADD58D91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8039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28/28</a:t>
            </a:r>
          </a:p>
        </p:txBody>
      </p:sp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234C3AA1-2888-448B-877D-0ABC4715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>
                <a:solidFill>
                  <a:srgbClr val="171717"/>
                </a:solidFill>
              </a:defRPr>
            </a:pPr>
            <a:r>
              <a:rPr sz="3600">
                <a:solidFill>
                  <a:srgbClr val="171717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92181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2026-07-06T08:20:55.6010000Z</dcterms:created>
  <dcterms:modified xsi:type="dcterms:W3CDTF">2026-07-06T08:20:55.6010000Z</dcterms:modified>
</coreProperties>
</file>