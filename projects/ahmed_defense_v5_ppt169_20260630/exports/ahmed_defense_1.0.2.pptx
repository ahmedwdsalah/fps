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9"/>
    <p:restoredTop sz="94659"/>
  </p:normalViewPr>
  <p:slideViewPr>
    <p:cSldViewPr snapToGrid="0" snapToObjects="1">
      <p:cViewPr>
        <p:scale>
          <a:sx n="183" d="100"/>
          <a:sy n="183" d="100"/>
        </p:scale>
        <p:origin x="-312" y="-1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8" name="Slide title - Presentation Outline"/>
          <p:cNvSpPr txBox="1"/>
          <p:nvPr/>
        </p:nvSpPr>
        <p:spPr>
          <a:xfrm>
            <a:off x="647700" y="533400"/>
            <a:ext cx="5905500" cy="457200"/>
          </a:xfrm>
          <a:prstGeom prst="rect">
            <a:avLst/>
          </a:prstGeom>
          <a:noFill/>
        </p:spPr>
        <p:txBody>
          <a:bodyPr wrap="none" lIns="0" rIns="0" t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utline number 01"/>
          <p:cNvSpPr txBox="1"/>
          <p:nvPr/>
        </p:nvSpPr>
        <p:spPr>
          <a:xfrm>
            <a:off x="1123950" y="1733550"/>
            <a:ext cx="552450" cy="285750"/>
          </a:xfrm>
          <a:prstGeom prst="rect">
            <a:avLst/>
          </a:prstGeom>
          <a:noFill/>
        </p:spPr>
        <p:txBody>
          <a:bodyPr wrap="none" lIns="0" rIns="0" t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rIns="0" tIns="0" bIns="0">
            <a:spAutoFit/>
          </a:bodyPr>
          <a:lstStyle/>
          <a:p>
            <a:pPr algn="l"/>
            <a:r>
              <a:rPr sz="2000" b="1">
                <a:solidFill>
                  <a:srgbClr val="191919"/>
                </a:solidFill>
                <a:latin typeface="Arial"/>
              </a:rPr>
              <a:t>Introduction and Motivation</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utline number 02"/>
          <p:cNvSpPr txBox="1"/>
          <p:nvPr/>
        </p:nvSpPr>
        <p:spPr>
          <a:xfrm>
            <a:off x="1123950" y="2857500"/>
            <a:ext cx="552450" cy="285750"/>
          </a:xfrm>
          <a:prstGeom prst="rect">
            <a:avLst/>
          </a:prstGeom>
          <a:noFill/>
        </p:spPr>
        <p:txBody>
          <a:bodyPr wrap="none" lIns="0" rIns="0" t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rIns="0" tIns="0" bIns="0">
            <a:spAutoFit/>
          </a:bodyPr>
          <a:lstStyle/>
          <a:p>
            <a:pPr algn="l"/>
            <a:r>
              <a:rPr sz="2000" b="1">
                <a:solidFill>
                  <a:srgbClr val="191919"/>
                </a:solidFill>
                <a:latin typeface="Arial"/>
              </a:rPr>
              <a:t>Algorithm Selection Problem</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utline number 03"/>
          <p:cNvSpPr txBox="1"/>
          <p:nvPr/>
        </p:nvSpPr>
        <p:spPr>
          <a:xfrm>
            <a:off x="1123950" y="3981450"/>
            <a:ext cx="552450" cy="285750"/>
          </a:xfrm>
          <a:prstGeom prst="rect">
            <a:avLst/>
          </a:prstGeom>
          <a:noFill/>
        </p:spPr>
        <p:txBody>
          <a:bodyPr wrap="none" lIns="0" rIns="0" t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rIns="0" t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utline number 04"/>
          <p:cNvSpPr txBox="1"/>
          <p:nvPr/>
        </p:nvSpPr>
        <p:spPr>
          <a:xfrm>
            <a:off x="6496050" y="1733550"/>
            <a:ext cx="552450" cy="285750"/>
          </a:xfrm>
          <a:prstGeom prst="rect">
            <a:avLst/>
          </a:prstGeom>
          <a:noFill/>
        </p:spPr>
        <p:txBody>
          <a:bodyPr wrap="none" lIns="0" rIns="0" t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rIns="0" t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utline number 05"/>
          <p:cNvSpPr txBox="1"/>
          <p:nvPr/>
        </p:nvSpPr>
        <p:spPr>
          <a:xfrm>
            <a:off x="6496050" y="2857500"/>
            <a:ext cx="552450" cy="285750"/>
          </a:xfrm>
          <a:prstGeom prst="rect">
            <a:avLst/>
          </a:prstGeom>
          <a:noFill/>
        </p:spPr>
        <p:txBody>
          <a:bodyPr wrap="none" lIns="0" rIns="0" t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rIns="0" t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utline number 06"/>
          <p:cNvSpPr txBox="1"/>
          <p:nvPr/>
        </p:nvSpPr>
        <p:spPr>
          <a:xfrm>
            <a:off x="6496050" y="3981450"/>
            <a:ext cx="552450" cy="285750"/>
          </a:xfrm>
          <a:prstGeom prst="rect">
            <a:avLst/>
          </a:prstGeom>
          <a:noFill/>
        </p:spPr>
        <p:txBody>
          <a:bodyPr wrap="none" lIns="0" rIns="0" t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rIns="0" t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56" name="Slide title"/>
          <p:cNvSpPr txBox="1"/>
          <p:nvPr/>
        </p:nvSpPr>
        <p:spPr>
          <a:xfrm>
            <a:off x="647700" y="533400"/>
            <a:ext cx="5334000" cy="361950"/>
          </a:xfrm>
          <a:prstGeom prst="rect">
            <a:avLst/>
          </a:prstGeom>
          <a:noFill/>
        </p:spPr>
        <p:txBody>
          <a:bodyPr wrap="square" lIns="0" rIns="0" tIns="0" bIns="0">
            <a:spAutoFit/>
          </a:bodyPr>
          <a:lstStyle/>
          <a:p>
            <a:pPr algn="l"/>
            <a:r>
              <a:rPr sz="2800" b="1">
                <a:solidFill>
                  <a:srgbClr val="191919"/>
                </a:solidFill>
                <a:latin typeface="Arial"/>
              </a:rPr>
              <a:t>Algorithm Selection Problem</a:t>
            </a:r>
          </a:p>
        </p:txBody>
      </p:sp>
      <p:sp>
        <p:nvSpPr>
          <p:cNvPr id="157" name="Goal rule"/>
          <p:cNvSpPr/>
          <p:nvPr/>
        </p:nvSpPr>
        <p:spPr>
          <a:xfrm>
            <a:off x="647700" y="990600"/>
            <a:ext cx="1083945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Goal text"/>
          <p:cNvSpPr txBox="1"/>
          <p:nvPr/>
        </p:nvSpPr>
        <p:spPr>
          <a:xfrm>
            <a:off x="647700" y="1123950"/>
            <a:ext cx="10096500" cy="228600"/>
          </a:xfrm>
          <a:prstGeom prst="rect">
            <a:avLst/>
          </a:prstGeom>
          <a:noFill/>
        </p:spPr>
        <p:txBody>
          <a:bodyPr wrap="none" lIns="0" rIns="0" tIns="0" bIns="0">
            <a:spAutoFit/>
          </a:bodyPr>
          <a:lstStyle/>
          <a:p>
            <a:pPr algn="l"/>
            <a:r>
              <a:rPr sz="1500" b="0">
                <a:solidFill>
                  <a:srgbClr val="566682"/>
                </a:solidFill>
                <a:latin typeface="Arial"/>
              </a:rPr>
              <a:t>Select the sorting algorithm expected to minimize runtime for a given numeric array.</a:t>
            </a:r>
          </a:p>
        </p:txBody>
      </p:sp>
      <p:sp>
        <p:nvSpPr>
          <p:cNvPr id="159" name="Online label"/>
          <p:cNvSpPr txBox="1"/>
          <p:nvPr/>
        </p:nvSpPr>
        <p:spPr>
          <a:xfrm>
            <a:off x="647700" y="1657350"/>
            <a:ext cx="1809750" cy="190500"/>
          </a:xfrm>
          <a:prstGeom prst="rect">
            <a:avLst/>
          </a:prstGeom>
          <a:noFill/>
        </p:spPr>
        <p:txBody>
          <a:bodyPr wrap="none" lIns="0" rIns="0" tIns="0" bIns="0">
            <a:spAutoFit/>
          </a:bodyPr>
          <a:lstStyle/>
          <a:p>
            <a:pPr algn="l"/>
            <a:r>
              <a:rPr sz="1400" b="1">
                <a:solidFill>
                  <a:srgbClr val="8F1D3A"/>
                </a:solidFill>
                <a:latin typeface="Arial"/>
              </a:rPr>
              <a:t>Online selection</a:t>
            </a:r>
          </a:p>
        </p:txBody>
      </p:sp>
      <p:sp>
        <p:nvSpPr>
          <p:cNvPr id="160" name="Online note"/>
          <p:cNvSpPr txBox="1"/>
          <p:nvPr/>
        </p:nvSpPr>
        <p:spPr>
          <a:xfrm>
            <a:off x="2476500" y="1657350"/>
            <a:ext cx="4286250" cy="190500"/>
          </a:xfrm>
          <a:prstGeom prst="rect">
            <a:avLst/>
          </a:prstGeom>
          <a:noFill/>
        </p:spPr>
        <p:txBody>
          <a:bodyPr wrap="none" lIns="0" rIns="0" tIns="0" bIns="0">
            <a:spAutoFit/>
          </a:bodyPr>
          <a:lstStyle/>
          <a:p>
            <a:pPr algn="l"/>
            <a:r>
              <a:rPr sz="1250" b="0">
                <a:solidFill>
                  <a:srgbClr val="566682"/>
                </a:solidFill>
                <a:latin typeface="Arial"/>
              </a:rPr>
              <a:t>features are computed before sorting execution</a:t>
            </a:r>
          </a:p>
        </p:txBody>
      </p:sp>
      <p:sp>
        <p:nvSpPr>
          <p:cNvPr id="161" name="Offline label"/>
          <p:cNvSpPr txBox="1"/>
          <p:nvPr/>
        </p:nvSpPr>
        <p:spPr>
          <a:xfrm>
            <a:off x="647700" y="4800600"/>
            <a:ext cx="2190750" cy="190500"/>
          </a:xfrm>
          <a:prstGeom prst="rect">
            <a:avLst/>
          </a:prstGeom>
          <a:noFill/>
        </p:spPr>
        <p:txBody>
          <a:bodyPr wrap="none" lIns="0" rIns="0" tIns="0" bIns="0">
            <a:spAutoFit/>
          </a:bodyPr>
          <a:lstStyle/>
          <a:p>
            <a:pPr algn="l"/>
            <a:r>
              <a:rPr sz="1400" b="1">
                <a:solidFill>
                  <a:srgbClr val="8F1D3A"/>
                </a:solidFill>
                <a:latin typeface="Arial"/>
              </a:rPr>
              <a:t>Offline label construction</a:t>
            </a:r>
          </a:p>
        </p:txBody>
      </p:sp>
      <p:sp>
        <p:nvSpPr>
          <p:cNvPr id="162" name="Offline note"/>
          <p:cNvSpPr txBox="1"/>
          <p:nvPr/>
        </p:nvSpPr>
        <p:spPr>
          <a:xfrm>
            <a:off x="2905125" y="4800600"/>
            <a:ext cx="4953000" cy="190500"/>
          </a:xfrm>
          <a:prstGeom prst="rect">
            <a:avLst/>
          </a:prstGeom>
          <a:noFill/>
        </p:spPr>
        <p:txBody>
          <a:bodyPr wrap="none" lIns="0" rIns="0" tIns="0" bIns="0">
            <a:spAutoFit/>
          </a:bodyPr>
          <a:lstStyle/>
          <a:p>
            <a:pPr algn="l"/>
            <a:r>
              <a:rPr sz="1250" b="0">
                <a:solidFill>
                  <a:srgbClr val="566682"/>
                </a:solidFill>
                <a:latin typeface="Arial"/>
              </a:rPr>
              <a:t>measured runtimes define the supervised training target</a:t>
            </a:r>
          </a:p>
        </p:txBody>
      </p:sp>
      <p:sp>
        <p:nvSpPr>
          <p:cNvPr id="163" name="Problem space P box"/>
          <p:cNvSpPr/>
          <p:nvPr/>
        </p:nvSpPr>
        <p:spPr>
          <a:xfrm>
            <a:off x="685800" y="2000250"/>
            <a:ext cx="2095500" cy="2238375"/>
          </a:xfrm>
          <a:prstGeom prst="rect">
            <a:avLst/>
          </a:prstGeom>
          <a:solidFill>
            <a:srgbClr val="FFFF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roblem space P header"/>
          <p:cNvSpPr/>
          <p:nvPr/>
        </p:nvSpPr>
        <p:spPr>
          <a:xfrm>
            <a:off x="685800" y="2000250"/>
            <a:ext cx="2095500" cy="361950"/>
          </a:xfrm>
          <a:prstGeom prst="rect">
            <a:avLst/>
          </a:prstGeom>
          <a:solidFill>
            <a:srgbClr val="F8FAFC"/>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roblem space P header text"/>
          <p:cNvSpPr txBox="1"/>
          <p:nvPr/>
        </p:nvSpPr>
        <p:spPr>
          <a:xfrm>
            <a:off x="800100" y="2095500"/>
            <a:ext cx="1866900" cy="152400"/>
          </a:xfrm>
          <a:prstGeom prst="rect">
            <a:avLst/>
          </a:prstGeom>
          <a:noFill/>
        </p:spPr>
        <p:txBody>
          <a:bodyPr wrap="none" lIns="0" rIns="0" tIns="0" bIns="0">
            <a:spAutoFit/>
          </a:bodyPr>
          <a:lstStyle/>
          <a:p>
            <a:pPr algn="ctr"/>
            <a:r>
              <a:rPr sz="1400" b="1">
                <a:solidFill>
                  <a:srgbClr val="191919"/>
                </a:solidFill>
                <a:latin typeface="Arial"/>
              </a:rPr>
              <a:t>Problem space P</a:t>
            </a:r>
          </a:p>
        </p:txBody>
      </p:sp>
      <p:sp>
        <p:nvSpPr>
          <p:cNvPr id="166" name="Feature space F box"/>
          <p:cNvSpPr/>
          <p:nvPr/>
        </p:nvSpPr>
        <p:spPr>
          <a:xfrm>
            <a:off x="3429000" y="2000250"/>
            <a:ext cx="2381250" cy="2238375"/>
          </a:xfrm>
          <a:prstGeom prst="rect">
            <a:avLst/>
          </a:prstGeom>
          <a:solidFill>
            <a:srgbClr val="FFFF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eature space F header"/>
          <p:cNvSpPr/>
          <p:nvPr/>
        </p:nvSpPr>
        <p:spPr>
          <a:xfrm>
            <a:off x="3429000" y="2000250"/>
            <a:ext cx="2381250" cy="361950"/>
          </a:xfrm>
          <a:prstGeom prst="rect">
            <a:avLst/>
          </a:prstGeom>
          <a:solidFill>
            <a:srgbClr val="F8FAFC"/>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eature space F header text"/>
          <p:cNvSpPr txBox="1"/>
          <p:nvPr/>
        </p:nvSpPr>
        <p:spPr>
          <a:xfrm>
            <a:off x="3543300" y="2095500"/>
            <a:ext cx="2152650" cy="152400"/>
          </a:xfrm>
          <a:prstGeom prst="rect">
            <a:avLst/>
          </a:prstGeom>
          <a:noFill/>
        </p:spPr>
        <p:txBody>
          <a:bodyPr wrap="none" lIns="0" rIns="0" tIns="0" bIns="0">
            <a:spAutoFit/>
          </a:bodyPr>
          <a:lstStyle/>
          <a:p>
            <a:pPr algn="ctr"/>
            <a:r>
              <a:rPr sz="1400" b="1">
                <a:solidFill>
                  <a:srgbClr val="191919"/>
                </a:solidFill>
                <a:latin typeface="Arial"/>
              </a:rPr>
              <a:t>Feature space F</a:t>
            </a:r>
          </a:p>
        </p:txBody>
      </p:sp>
      <p:sp>
        <p:nvSpPr>
          <p:cNvPr id="169" name="Selector box"/>
          <p:cNvSpPr/>
          <p:nvPr/>
        </p:nvSpPr>
        <p:spPr>
          <a:xfrm>
            <a:off x="6591300" y="2209800"/>
            <a:ext cx="1885950" cy="180975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Algorithm space A box"/>
          <p:cNvSpPr/>
          <p:nvPr/>
        </p:nvSpPr>
        <p:spPr>
          <a:xfrm>
            <a:off x="9353550" y="2000250"/>
            <a:ext cx="2143125" cy="2238375"/>
          </a:xfrm>
          <a:prstGeom prst="rect">
            <a:avLst/>
          </a:prstGeom>
          <a:solidFill>
            <a:srgbClr val="FFFF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Algorithm space A header"/>
          <p:cNvSpPr/>
          <p:nvPr/>
        </p:nvSpPr>
        <p:spPr>
          <a:xfrm>
            <a:off x="9353550" y="2000250"/>
            <a:ext cx="2143125" cy="361950"/>
          </a:xfrm>
          <a:prstGeom prst="rect">
            <a:avLst/>
          </a:prstGeom>
          <a:solidFill>
            <a:srgbClr val="F8FAFC"/>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Algorithm space A header text"/>
          <p:cNvSpPr txBox="1"/>
          <p:nvPr/>
        </p:nvSpPr>
        <p:spPr>
          <a:xfrm>
            <a:off x="9467850" y="2095500"/>
            <a:ext cx="1914525" cy="152400"/>
          </a:xfrm>
          <a:prstGeom prst="rect">
            <a:avLst/>
          </a:prstGeom>
          <a:noFill/>
        </p:spPr>
        <p:txBody>
          <a:bodyPr wrap="none" lIns="0" rIns="0" tIns="0" bIns="0">
            <a:spAutoFit/>
          </a:bodyPr>
          <a:lstStyle/>
          <a:p>
            <a:pPr algn="ctr"/>
            <a:r>
              <a:rPr sz="1400" b="1">
                <a:solidFill>
                  <a:srgbClr val="191919"/>
                </a:solidFill>
                <a:latin typeface="Arial"/>
              </a:rPr>
              <a:t>Algorithm space A</a:t>
            </a:r>
          </a:p>
        </p:txBody>
      </p:sp>
      <p:sp>
        <p:nvSpPr>
          <p:cNvPr id="173" name="Problem notation"/>
          <p:cNvSpPr txBox="1"/>
          <p:nvPr/>
        </p:nvSpPr>
        <p:spPr>
          <a:xfrm>
            <a:off x="933450" y="2628900"/>
            <a:ext cx="1428750" cy="171450"/>
          </a:xfrm>
          <a:prstGeom prst="rect">
            <a:avLst/>
          </a:prstGeom>
          <a:noFill/>
        </p:spPr>
        <p:txBody>
          <a:bodyPr wrap="none" lIns="0" rIns="0" tIns="0" bIns="0">
            <a:spAutoFit/>
          </a:bodyPr>
          <a:lstStyle/>
          <a:p>
            <a:pPr algn="l"/>
            <a:r>
              <a:rPr sz="1400" b="0">
                <a:solidFill>
                  <a:srgbClr val="566682"/>
                </a:solidFill>
                <a:latin typeface="Arial"/>
              </a:rPr>
              <a:t>x = numeric array</a:t>
            </a:r>
          </a:p>
        </p:txBody>
      </p:sp>
      <p:sp>
        <p:nvSpPr>
          <p:cNvPr id="174" name="Problem array"/>
          <p:cNvSpPr txBox="1"/>
          <p:nvPr/>
        </p:nvSpPr>
        <p:spPr>
          <a:xfrm>
            <a:off x="933450" y="2914650"/>
            <a:ext cx="1428750" cy="552450"/>
          </a:xfrm>
          <a:prstGeom prst="rect">
            <a:avLst/>
          </a:prstGeom>
          <a:noFill/>
        </p:spPr>
        <p:txBody>
          <a:bodyPr wrap="none" lIns="0" rIns="0" tIns="0" bIns="0">
            <a:spAutoFit/>
          </a:bodyPr>
          <a:lstStyle/>
          <a:p>
            <a:pPr algn="l"/>
            <a:r>
              <a:rPr sz="1050" b="0">
                <a:solidFill>
                  <a:srgbClr val="191919"/>
                </a:solidFill>
                <a:latin typeface="Courier New"/>
              </a:rPr>
              <a:t>[4, 5, 5, 6, 17,
18, 19, 2, 2, 3,
31, 45]</a:t>
            </a:r>
          </a:p>
        </p:txBody>
      </p:sp>
      <p:sp>
        <p:nvSpPr>
          <p:cNvPr id="175" name="Problem mini bar"/>
          <p:cNvSpPr/>
          <p:nvPr/>
        </p:nvSpPr>
        <p:spPr>
          <a:xfrm>
            <a:off x="933450" y="3657600"/>
            <a:ext cx="95250" cy="123825"/>
          </a:xfrm>
          <a:prstGeom prst="rect">
            <a:avLst/>
          </a:prstGeom>
          <a:solidFill>
            <a:srgbClr val="E0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roblem mini bar"/>
          <p:cNvSpPr/>
          <p:nvPr/>
        </p:nvSpPr>
        <p:spPr>
          <a:xfrm>
            <a:off x="1076325" y="3638550"/>
            <a:ext cx="95250" cy="142875"/>
          </a:xfrm>
          <a:prstGeom prst="rect">
            <a:avLst/>
          </a:prstGeom>
          <a:solidFill>
            <a:srgbClr val="E0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roblem mini bar"/>
          <p:cNvSpPr/>
          <p:nvPr/>
        </p:nvSpPr>
        <p:spPr>
          <a:xfrm>
            <a:off x="1219200" y="3638550"/>
            <a:ext cx="95250" cy="142875"/>
          </a:xfrm>
          <a:prstGeom prst="rect">
            <a:avLst/>
          </a:prstGeom>
          <a:solidFill>
            <a:srgbClr val="E0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roblem mini bar"/>
          <p:cNvSpPr/>
          <p:nvPr/>
        </p:nvSpPr>
        <p:spPr>
          <a:xfrm>
            <a:off x="1362075" y="3609975"/>
            <a:ext cx="95250" cy="171450"/>
          </a:xfrm>
          <a:prstGeom prst="rect">
            <a:avLst/>
          </a:prstGeom>
          <a:solidFill>
            <a:srgbClr val="E0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roblem mini bar"/>
          <p:cNvSpPr/>
          <p:nvPr/>
        </p:nvSpPr>
        <p:spPr>
          <a:xfrm>
            <a:off x="1504950" y="3324225"/>
            <a:ext cx="95250" cy="45720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roblem mini bar"/>
          <p:cNvSpPr/>
          <p:nvPr/>
        </p:nvSpPr>
        <p:spPr>
          <a:xfrm>
            <a:off x="1647825" y="3228975"/>
            <a:ext cx="95250" cy="5524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roblem mini bar"/>
          <p:cNvSpPr/>
          <p:nvPr/>
        </p:nvSpPr>
        <p:spPr>
          <a:xfrm>
            <a:off x="1790700" y="3171825"/>
            <a:ext cx="95250" cy="60960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roblem mini bar"/>
          <p:cNvSpPr/>
          <p:nvPr/>
        </p:nvSpPr>
        <p:spPr>
          <a:xfrm>
            <a:off x="1933575" y="3695700"/>
            <a:ext cx="95250" cy="85725"/>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roblem mini bar"/>
          <p:cNvSpPr/>
          <p:nvPr/>
        </p:nvSpPr>
        <p:spPr>
          <a:xfrm>
            <a:off x="2076450" y="3695700"/>
            <a:ext cx="95250" cy="85725"/>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roblem terms"/>
          <p:cNvSpPr txBox="1"/>
          <p:nvPr/>
        </p:nvSpPr>
        <p:spPr>
          <a:xfrm>
            <a:off x="933450" y="3943350"/>
            <a:ext cx="1524000" cy="133350"/>
          </a:xfrm>
          <a:prstGeom prst="rect">
            <a:avLst/>
          </a:prstGeom>
          <a:noFill/>
        </p:spPr>
        <p:txBody>
          <a:bodyPr wrap="none" lIns="0" rIns="0" tIns="0" bIns="0">
            <a:spAutoFit/>
          </a:bodyPr>
          <a:lstStyle/>
          <a:p>
            <a:pPr algn="l"/>
            <a:r>
              <a:rPr sz="1000" b="0">
                <a:solidFill>
                  <a:srgbClr val="566682"/>
                </a:solidFill>
                <a:latin typeface="Arial"/>
              </a:rPr>
              <a:t>order, runs, duplicates, spread</a:t>
            </a:r>
          </a:p>
        </p:txBody>
      </p:sp>
      <p:sp>
        <p:nvSpPr>
          <p:cNvPr id="185" name="Feature notation"/>
          <p:cNvSpPr txBox="1"/>
          <p:nvPr/>
        </p:nvSpPr>
        <p:spPr>
          <a:xfrm>
            <a:off x="3810000" y="2571750"/>
            <a:ext cx="1619250" cy="190500"/>
          </a:xfrm>
          <a:prstGeom prst="rect">
            <a:avLst/>
          </a:prstGeom>
          <a:noFill/>
        </p:spPr>
        <p:txBody>
          <a:bodyPr wrap="none" lIns="0" rIns="0" tIns="0" bIns="0">
            <a:spAutoFit/>
          </a:bodyPr>
          <a:lstStyle/>
          <a:p>
            <a:pPr algn="ctr"/>
            <a:r>
              <a:rPr sz="1700" b="1">
                <a:solidFill>
                  <a:srgbClr val="8F1D3A"/>
                </a:solidFill>
                <a:latin typeface="Arial"/>
              </a:rPr>
              <a:t>f(x) ∈ R^16</a:t>
            </a:r>
          </a:p>
        </p:txBody>
      </p:sp>
      <p:sp>
        <p:nvSpPr>
          <p:cNvPr id="186" name="Feature row"/>
          <p:cNvSpPr/>
          <p:nvPr/>
        </p:nvSpPr>
        <p:spPr>
          <a:xfrm>
            <a:off x="3790950" y="3000375"/>
            <a:ext cx="1676400" cy="219075"/>
          </a:xfrm>
          <a:prstGeom prst="rect">
            <a:avLst/>
          </a:prstGeom>
          <a:solidFill>
            <a:srgbClr val="FCFD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Feature row text"/>
          <p:cNvSpPr txBox="1"/>
          <p:nvPr/>
        </p:nvSpPr>
        <p:spPr>
          <a:xfrm>
            <a:off x="3905250" y="3048000"/>
            <a:ext cx="1428750" cy="114300"/>
          </a:xfrm>
          <a:prstGeom prst="rect">
            <a:avLst/>
          </a:prstGeom>
          <a:noFill/>
        </p:spPr>
        <p:txBody>
          <a:bodyPr wrap="none" lIns="0" rIns="0" tIns="0" bIns="0">
            <a:spAutoFit/>
          </a:bodyPr>
          <a:lstStyle/>
          <a:p>
            <a:pPr algn="l"/>
            <a:r>
              <a:rPr sz="940" b="0">
                <a:solidFill>
                  <a:srgbClr val="191919"/>
                </a:solidFill>
                <a:latin typeface="Arial"/>
              </a:rPr>
              <a:t>size / range / spread</a:t>
            </a:r>
          </a:p>
        </p:txBody>
      </p:sp>
      <p:sp>
        <p:nvSpPr>
          <p:cNvPr id="188" name="Feature row"/>
          <p:cNvSpPr/>
          <p:nvPr/>
        </p:nvSpPr>
        <p:spPr>
          <a:xfrm>
            <a:off x="3790950" y="3238500"/>
            <a:ext cx="1676400" cy="219075"/>
          </a:xfrm>
          <a:prstGeom prst="rect">
            <a:avLst/>
          </a:prstGeom>
          <a:solidFill>
            <a:srgbClr val="FCFD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Feature row text"/>
          <p:cNvSpPr txBox="1"/>
          <p:nvPr/>
        </p:nvSpPr>
        <p:spPr>
          <a:xfrm>
            <a:off x="3905250" y="3286125"/>
            <a:ext cx="1428750" cy="114300"/>
          </a:xfrm>
          <a:prstGeom prst="rect">
            <a:avLst/>
          </a:prstGeom>
          <a:noFill/>
        </p:spPr>
        <p:txBody>
          <a:bodyPr wrap="none" lIns="0" rIns="0" tIns="0" bIns="0">
            <a:spAutoFit/>
          </a:bodyPr>
          <a:lstStyle/>
          <a:p>
            <a:pPr algn="l"/>
            <a:r>
              <a:rPr sz="940" b="0">
                <a:solidFill>
                  <a:srgbClr val="191919"/>
                </a:solidFill>
                <a:latin typeface="Arial"/>
              </a:rPr>
              <a:t>sortedness / disorder</a:t>
            </a:r>
          </a:p>
        </p:txBody>
      </p:sp>
      <p:sp>
        <p:nvSpPr>
          <p:cNvPr id="190" name="Feature row"/>
          <p:cNvSpPr/>
          <p:nvPr/>
        </p:nvSpPr>
        <p:spPr>
          <a:xfrm>
            <a:off x="3790950" y="3476625"/>
            <a:ext cx="1676400" cy="219075"/>
          </a:xfrm>
          <a:prstGeom prst="rect">
            <a:avLst/>
          </a:prstGeom>
          <a:solidFill>
            <a:srgbClr val="FCFD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Feature row text"/>
          <p:cNvSpPr txBox="1"/>
          <p:nvPr/>
        </p:nvSpPr>
        <p:spPr>
          <a:xfrm>
            <a:off x="3905250" y="3524250"/>
            <a:ext cx="1428750" cy="114300"/>
          </a:xfrm>
          <a:prstGeom prst="rect">
            <a:avLst/>
          </a:prstGeom>
          <a:noFill/>
        </p:spPr>
        <p:txBody>
          <a:bodyPr wrap="none" lIns="0" rIns="0" tIns="0" bIns="0">
            <a:spAutoFit/>
          </a:bodyPr>
          <a:lstStyle/>
          <a:p>
            <a:pPr algn="l"/>
            <a:r>
              <a:rPr sz="940" b="0">
                <a:solidFill>
                  <a:srgbClr val="191919"/>
                </a:solidFill>
                <a:latin typeface="Arial"/>
              </a:rPr>
              <a:t>runs / monotonicity</a:t>
            </a:r>
          </a:p>
        </p:txBody>
      </p:sp>
      <p:sp>
        <p:nvSpPr>
          <p:cNvPr id="192" name="Feature row"/>
          <p:cNvSpPr/>
          <p:nvPr/>
        </p:nvSpPr>
        <p:spPr>
          <a:xfrm>
            <a:off x="3790950" y="3714750"/>
            <a:ext cx="1676400" cy="219075"/>
          </a:xfrm>
          <a:prstGeom prst="rect">
            <a:avLst/>
          </a:prstGeom>
          <a:solidFill>
            <a:srgbClr val="FCFD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Feature row text"/>
          <p:cNvSpPr txBox="1"/>
          <p:nvPr/>
        </p:nvSpPr>
        <p:spPr>
          <a:xfrm>
            <a:off x="3905250" y="3762375"/>
            <a:ext cx="1428750" cy="114300"/>
          </a:xfrm>
          <a:prstGeom prst="rect">
            <a:avLst/>
          </a:prstGeom>
          <a:noFill/>
        </p:spPr>
        <p:txBody>
          <a:bodyPr wrap="none" lIns="0" rIns="0" tIns="0" bIns="0">
            <a:spAutoFit/>
          </a:bodyPr>
          <a:lstStyle/>
          <a:p>
            <a:pPr algn="l"/>
            <a:r>
              <a:rPr sz="940" b="0">
                <a:solidFill>
                  <a:srgbClr val="191919"/>
                </a:solidFill>
                <a:latin typeface="Arial"/>
              </a:rPr>
              <a:t>duplicates / entropy</a:t>
            </a:r>
          </a:p>
        </p:txBody>
      </p:sp>
      <p:sp>
        <p:nvSpPr>
          <p:cNvPr id="194" name="Feature row"/>
          <p:cNvSpPr/>
          <p:nvPr/>
        </p:nvSpPr>
        <p:spPr>
          <a:xfrm>
            <a:off x="3790950" y="3952875"/>
            <a:ext cx="1676400" cy="219075"/>
          </a:xfrm>
          <a:prstGeom prst="rect">
            <a:avLst/>
          </a:prstGeom>
          <a:solidFill>
            <a:srgbClr val="FCFD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Feature row text"/>
          <p:cNvSpPr txBox="1"/>
          <p:nvPr/>
        </p:nvSpPr>
        <p:spPr>
          <a:xfrm>
            <a:off x="3905250" y="4000500"/>
            <a:ext cx="1428750" cy="114300"/>
          </a:xfrm>
          <a:prstGeom prst="rect">
            <a:avLst/>
          </a:prstGeom>
          <a:noFill/>
        </p:spPr>
        <p:txBody>
          <a:bodyPr wrap="none" lIns="0" rIns="0" tIns="0" bIns="0">
            <a:spAutoFit/>
          </a:bodyPr>
          <a:lstStyle/>
          <a:p>
            <a:pPr algn="l"/>
            <a:r>
              <a:rPr sz="940" b="0">
                <a:solidFill>
                  <a:srgbClr val="191919"/>
                </a:solidFill>
                <a:latin typeface="Arial"/>
              </a:rPr>
              <a:t>local structure</a:t>
            </a:r>
          </a:p>
        </p:txBody>
      </p:sp>
      <p:sp>
        <p:nvSpPr>
          <p:cNvPr id="197" name="Selector title"/>
          <p:cNvSpPr txBox="1"/>
          <p:nvPr/>
        </p:nvSpPr>
        <p:spPr>
          <a:xfrm>
            <a:off x="6877050" y="2457450"/>
            <a:ext cx="1314450" cy="247650"/>
          </a:xfrm>
          <a:prstGeom prst="rect">
            <a:avLst/>
          </a:prstGeom>
          <a:noFill/>
        </p:spPr>
        <p:txBody>
          <a:bodyPr wrap="none" lIns="0" rIns="0" tIns="0" bIns="0">
            <a:spAutoFit/>
          </a:bodyPr>
          <a:lstStyle/>
          <a:p>
            <a:pPr algn="ctr"/>
            <a:r>
              <a:rPr sz="2300" b="1">
                <a:solidFill>
                  <a:srgbClr val="FFFFFF"/>
                </a:solidFill>
                <a:latin typeface="Arial"/>
              </a:rPr>
              <a:t>Selector</a:t>
            </a:r>
          </a:p>
        </p:txBody>
      </p:sp>
      <p:sp>
        <p:nvSpPr>
          <p:cNvPr id="198" name="Selector mapping"/>
          <p:cNvSpPr txBox="1"/>
          <p:nvPr/>
        </p:nvSpPr>
        <p:spPr>
          <a:xfrm>
            <a:off x="6819900" y="2876550"/>
            <a:ext cx="1428750" cy="209550"/>
          </a:xfrm>
          <a:prstGeom prst="rect">
            <a:avLst/>
          </a:prstGeom>
          <a:noFill/>
        </p:spPr>
        <p:txBody>
          <a:bodyPr wrap="none" lIns="0" rIns="0" tIns="0" bIns="0">
            <a:spAutoFit/>
          </a:bodyPr>
          <a:lstStyle/>
          <a:p>
            <a:pPr algn="ctr"/>
            <a:r>
              <a:rPr sz="1700" b="0">
                <a:solidFill>
                  <a:srgbClr val="F4511E"/>
                </a:solidFill>
                <a:latin typeface="Arial"/>
              </a:rPr>
              <a:t>S(f(x)) ∈ A</a:t>
            </a:r>
          </a:p>
        </p:txBody>
      </p:sp>
      <p:sp>
        <p:nvSpPr>
          <p:cNvPr id="199" name="Selector divider"/>
          <p:cNvSpPr/>
          <p:nvPr/>
        </p:nvSpPr>
        <p:spPr>
          <a:xfrm>
            <a:off x="6953250" y="3181350"/>
            <a:ext cx="1162050" cy="10477"/>
          </a:xfrm>
          <a:prstGeom prst="rect">
            <a:avLst/>
          </a:prstGeom>
          <a:solidFill>
            <a:srgbClr val="73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Selector model"/>
          <p:cNvSpPr txBox="1"/>
          <p:nvPr/>
        </p:nvSpPr>
        <p:spPr>
          <a:xfrm>
            <a:off x="6838950" y="3429000"/>
            <a:ext cx="1428750" cy="190500"/>
          </a:xfrm>
          <a:prstGeom prst="rect">
            <a:avLst/>
          </a:prstGeom>
          <a:noFill/>
        </p:spPr>
        <p:txBody>
          <a:bodyPr wrap="none" lIns="0" rIns="0" tIns="0" bIns="0">
            <a:spAutoFit/>
          </a:bodyPr>
          <a:lstStyle/>
          <a:p>
            <a:pPr algn="ctr"/>
            <a:r>
              <a:rPr sz="1600" b="1">
                <a:solidFill>
                  <a:srgbClr val="FFFFFF"/>
                </a:solidFill>
                <a:latin typeface="Arial"/>
              </a:rPr>
              <a:t>XGBoost v5</a:t>
            </a:r>
          </a:p>
        </p:txBody>
      </p:sp>
      <p:sp>
        <p:nvSpPr>
          <p:cNvPr id="201" name="Selector type"/>
          <p:cNvSpPr txBox="1"/>
          <p:nvPr/>
        </p:nvSpPr>
        <p:spPr>
          <a:xfrm>
            <a:off x="6838950" y="3686175"/>
            <a:ext cx="1428750" cy="152400"/>
          </a:xfrm>
          <a:prstGeom prst="rect">
            <a:avLst/>
          </a:prstGeom>
          <a:noFill/>
        </p:spPr>
        <p:txBody>
          <a:bodyPr wrap="none" lIns="0" rIns="0" tIns="0" bIns="0">
            <a:spAutoFit/>
          </a:bodyPr>
          <a:lstStyle/>
          <a:p>
            <a:pPr algn="ctr"/>
            <a:r>
              <a:rPr sz="1100" b="0">
                <a:solidFill>
                  <a:srgbClr val="CDD5E1"/>
                </a:solidFill>
                <a:latin typeface="Arial"/>
              </a:rPr>
              <a:t>classification model</a:t>
            </a:r>
          </a:p>
        </p:txBody>
      </p:sp>
      <p:sp>
        <p:nvSpPr>
          <p:cNvPr id="202" name="Portfolio note"/>
          <p:cNvSpPr txBox="1"/>
          <p:nvPr/>
        </p:nvSpPr>
        <p:spPr>
          <a:xfrm>
            <a:off x="9658350" y="2571750"/>
            <a:ext cx="1524000" cy="142875"/>
          </a:xfrm>
          <a:prstGeom prst="rect">
            <a:avLst/>
          </a:prstGeom>
          <a:noFill/>
        </p:spPr>
        <p:txBody>
          <a:bodyPr wrap="none" lIns="0" rIns="0" tIns="0" bIns="0">
            <a:spAutoFit/>
          </a:bodyPr>
          <a:lstStyle/>
          <a:p>
            <a:pPr algn="ctr"/>
            <a:r>
              <a:rPr sz="1100" b="0">
                <a:solidFill>
                  <a:srgbClr val="566682"/>
                </a:solidFill>
                <a:latin typeface="Arial"/>
              </a:rPr>
              <a:t>fixed sorting portfolio</a:t>
            </a:r>
          </a:p>
        </p:txBody>
      </p:sp>
      <p:sp>
        <p:nvSpPr>
          <p:cNvPr id="203" name="Algorithm Introsort"/>
          <p:cNvSpPr/>
          <p:nvPr/>
        </p:nvSpPr>
        <p:spPr>
          <a:xfrm>
            <a:off x="9734550" y="2924175"/>
            <a:ext cx="1390650" cy="295275"/>
          </a:xfrm>
          <a:prstGeom prst="rect">
            <a:avLst/>
          </a:prstGeom>
          <a:solidFill>
            <a:srgbClr val="FFFFFF"/>
          </a:solidFill>
          <a:ln w="10160">
            <a:solidFill>
              <a:srgbClr val="8F1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Algorithm text Introsort"/>
          <p:cNvSpPr txBox="1"/>
          <p:nvPr/>
        </p:nvSpPr>
        <p:spPr>
          <a:xfrm>
            <a:off x="9810750" y="3000375"/>
            <a:ext cx="1238250" cy="133350"/>
          </a:xfrm>
          <a:prstGeom prst="rect">
            <a:avLst/>
          </a:prstGeom>
          <a:noFill/>
        </p:spPr>
        <p:txBody>
          <a:bodyPr wrap="none" lIns="0" rIns="0" tIns="0" bIns="0">
            <a:spAutoFit/>
          </a:bodyPr>
          <a:lstStyle/>
          <a:p>
            <a:pPr algn="ctr"/>
            <a:r>
              <a:rPr sz="1150" b="1">
                <a:solidFill>
                  <a:srgbClr val="191919"/>
                </a:solidFill>
                <a:latin typeface="Arial"/>
              </a:rPr>
              <a:t>Introsort</a:t>
            </a:r>
          </a:p>
        </p:txBody>
      </p:sp>
      <p:sp>
        <p:nvSpPr>
          <p:cNvPr id="205" name="Algorithm Heapsort"/>
          <p:cNvSpPr/>
          <p:nvPr/>
        </p:nvSpPr>
        <p:spPr>
          <a:xfrm>
            <a:off x="9734550" y="3381375"/>
            <a:ext cx="1390650" cy="295275"/>
          </a:xfrm>
          <a:prstGeom prst="rect">
            <a:avLst/>
          </a:prstGeom>
          <a:solidFill>
            <a:srgbClr val="FFFFFF"/>
          </a:solidFill>
          <a:ln w="10160">
            <a:solidFill>
              <a:srgbClr val="8F1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Algorithm text Heapsort"/>
          <p:cNvSpPr txBox="1"/>
          <p:nvPr/>
        </p:nvSpPr>
        <p:spPr>
          <a:xfrm>
            <a:off x="9810750" y="3457575"/>
            <a:ext cx="1238250" cy="133350"/>
          </a:xfrm>
          <a:prstGeom prst="rect">
            <a:avLst/>
          </a:prstGeom>
          <a:noFill/>
        </p:spPr>
        <p:txBody>
          <a:bodyPr wrap="none" lIns="0" rIns="0" tIns="0" bIns="0">
            <a:spAutoFit/>
          </a:bodyPr>
          <a:lstStyle/>
          <a:p>
            <a:pPr algn="ctr"/>
            <a:r>
              <a:rPr sz="1150" b="1">
                <a:solidFill>
                  <a:srgbClr val="191919"/>
                </a:solidFill>
                <a:latin typeface="Arial"/>
              </a:rPr>
              <a:t>Heapsort</a:t>
            </a:r>
          </a:p>
        </p:txBody>
      </p:sp>
      <p:sp>
        <p:nvSpPr>
          <p:cNvPr id="207" name="Algorithm Timsort"/>
          <p:cNvSpPr/>
          <p:nvPr/>
        </p:nvSpPr>
        <p:spPr>
          <a:xfrm>
            <a:off x="9734550" y="3838575"/>
            <a:ext cx="1390650" cy="295275"/>
          </a:xfrm>
          <a:prstGeom prst="rect">
            <a:avLst/>
          </a:prstGeom>
          <a:solidFill>
            <a:srgbClr val="F4511E"/>
          </a:solidFill>
          <a:ln w="10160">
            <a:solidFill>
              <a:srgbClr val="F451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Algorithm text Timsort"/>
          <p:cNvSpPr txBox="1"/>
          <p:nvPr/>
        </p:nvSpPr>
        <p:spPr>
          <a:xfrm>
            <a:off x="9810750" y="3914775"/>
            <a:ext cx="1238250" cy="133350"/>
          </a:xfrm>
          <a:prstGeom prst="rect">
            <a:avLst/>
          </a:prstGeom>
          <a:noFill/>
        </p:spPr>
        <p:txBody>
          <a:bodyPr wrap="none" lIns="0" rIns="0" tIns="0" bIns="0">
            <a:spAutoFit/>
          </a:bodyPr>
          <a:lstStyle/>
          <a:p>
            <a:pPr algn="ctr"/>
            <a:r>
              <a:rPr sz="1150" b="1">
                <a:solidFill>
                  <a:srgbClr val="FFFFFF"/>
                </a:solidFill>
                <a:latin typeface="Arial"/>
              </a:rPr>
              <a:t>Timsort</a:t>
            </a:r>
          </a:p>
        </p:txBody>
      </p:sp>
      <p:cxnSp>
        <p:nvCxnSpPr>
          <p:cNvPr id="210" name="Feature extraction arrow"/>
          <p:cNvCxnSpPr/>
          <p:nvPr/>
        </p:nvCxnSpPr>
        <p:spPr>
          <a:xfrm>
            <a:off x="2781300" y="3124200"/>
            <a:ext cx="647700" cy="0"/>
          </a:xfrm>
          <a:prstGeom prst="line">
            <a:avLst/>
          </a:prstGeom>
          <a:ln w="25400">
            <a:solidFill>
              <a:srgbClr val="F4511E"/>
            </a:solidFill>
          </a:ln>
        </p:spPr>
        <p:style>
          <a:lnRef idx="2">
            <a:schemeClr val="accent1"/>
          </a:lnRef>
          <a:fillRef idx="0">
            <a:schemeClr val="accent1"/>
          </a:fillRef>
          <a:effectRef idx="1">
            <a:schemeClr val="accent1"/>
          </a:effectRef>
          <a:fontRef idx="minor">
            <a:schemeClr val="tx1"/>
          </a:fontRef>
        </p:style>
      </p:cxnSp>
      <p:sp>
        <p:nvSpPr>
          <p:cNvPr id="211" name="Feature extraction label"/>
          <p:cNvSpPr txBox="1"/>
          <p:nvPr/>
        </p:nvSpPr>
        <p:spPr>
          <a:xfrm>
            <a:off x="2876550" y="2876550"/>
            <a:ext cx="723900" cy="228600"/>
          </a:xfrm>
          <a:prstGeom prst="rect">
            <a:avLst/>
          </a:prstGeom>
          <a:noFill/>
        </p:spPr>
        <p:txBody>
          <a:bodyPr wrap="square" lIns="0" rIns="0" tIns="0" bIns="0">
            <a:spAutoFit/>
          </a:bodyPr>
          <a:lstStyle/>
          <a:p>
            <a:pPr algn="ctr"/>
            <a:r>
              <a:rPr sz="880" b="0">
                <a:solidFill>
                  <a:srgbClr val="566682"/>
                </a:solidFill>
                <a:latin typeface="Arial"/>
              </a:rPr>
              <a:t>feature
extraction</a:t>
            </a:r>
          </a:p>
        </p:txBody>
      </p:sp>
      <p:cxnSp>
        <p:nvCxnSpPr>
          <p:cNvPr id="212" name="Prediction arrow"/>
          <p:cNvCxnSpPr/>
          <p:nvPr/>
        </p:nvCxnSpPr>
        <p:spPr>
          <a:xfrm>
            <a:off x="5810250" y="3124200"/>
            <a:ext cx="781050" cy="0"/>
          </a:xfrm>
          <a:prstGeom prst="line">
            <a:avLst/>
          </a:prstGeom>
          <a:ln w="25400">
            <a:solidFill>
              <a:srgbClr val="F4511E"/>
            </a:solidFill>
          </a:ln>
        </p:spPr>
        <p:style>
          <a:lnRef idx="2">
            <a:schemeClr val="accent1"/>
          </a:lnRef>
          <a:fillRef idx="0">
            <a:schemeClr val="accent1"/>
          </a:fillRef>
          <a:effectRef idx="1">
            <a:schemeClr val="accent1"/>
          </a:effectRef>
          <a:fontRef idx="minor">
            <a:schemeClr val="tx1"/>
          </a:fontRef>
        </p:style>
      </p:cxnSp>
      <p:sp>
        <p:nvSpPr>
          <p:cNvPr id="213" name="Prediction label"/>
          <p:cNvSpPr txBox="1"/>
          <p:nvPr/>
        </p:nvSpPr>
        <p:spPr>
          <a:xfrm>
            <a:off x="6000750" y="2914650"/>
            <a:ext cx="552450" cy="114300"/>
          </a:xfrm>
          <a:prstGeom prst="rect">
            <a:avLst/>
          </a:prstGeom>
          <a:noFill/>
        </p:spPr>
        <p:txBody>
          <a:bodyPr wrap="none" lIns="0" rIns="0" tIns="0" bIns="0">
            <a:spAutoFit/>
          </a:bodyPr>
          <a:lstStyle/>
          <a:p>
            <a:pPr algn="ctr"/>
            <a:r>
              <a:rPr sz="900" b="0">
                <a:solidFill>
                  <a:srgbClr val="566682"/>
                </a:solidFill>
                <a:latin typeface="Arial"/>
              </a:rPr>
              <a:t>predict</a:t>
            </a:r>
          </a:p>
        </p:txBody>
      </p:sp>
      <p:cxnSp>
        <p:nvCxnSpPr>
          <p:cNvPr id="214" name="Choice arrow"/>
          <p:cNvCxnSpPr/>
          <p:nvPr/>
        </p:nvCxnSpPr>
        <p:spPr>
          <a:xfrm>
            <a:off x="8477250" y="3124200"/>
            <a:ext cx="876300" cy="0"/>
          </a:xfrm>
          <a:prstGeom prst="line">
            <a:avLst/>
          </a:prstGeom>
          <a:ln w="25400">
            <a:solidFill>
              <a:srgbClr val="F4511E"/>
            </a:solidFill>
          </a:ln>
        </p:spPr>
        <p:style>
          <a:lnRef idx="2">
            <a:schemeClr val="accent1"/>
          </a:lnRef>
          <a:fillRef idx="0">
            <a:schemeClr val="accent1"/>
          </a:fillRef>
          <a:effectRef idx="1">
            <a:schemeClr val="accent1"/>
          </a:effectRef>
          <a:fontRef idx="minor">
            <a:schemeClr val="tx1"/>
          </a:fontRef>
        </p:style>
      </p:cxnSp>
      <p:sp>
        <p:nvSpPr>
          <p:cNvPr id="215" name="Choice label"/>
          <p:cNvSpPr txBox="1"/>
          <p:nvPr/>
        </p:nvSpPr>
        <p:spPr>
          <a:xfrm>
            <a:off x="8839200" y="2914650"/>
            <a:ext cx="495300" cy="114300"/>
          </a:xfrm>
          <a:prstGeom prst="rect">
            <a:avLst/>
          </a:prstGeom>
          <a:noFill/>
        </p:spPr>
        <p:txBody>
          <a:bodyPr wrap="none" lIns="0" rIns="0" tIns="0" bIns="0">
            <a:spAutoFit/>
          </a:bodyPr>
          <a:lstStyle/>
          <a:p>
            <a:pPr algn="ctr"/>
            <a:r>
              <a:rPr sz="900" b="0">
                <a:solidFill>
                  <a:srgbClr val="566682"/>
                </a:solidFill>
                <a:latin typeface="Arial"/>
              </a:rPr>
              <a:t>choose</a:t>
            </a:r>
          </a:p>
        </p:txBody>
      </p:sp>
      <p:sp>
        <p:nvSpPr>
          <p:cNvPr id="216" name="Offline band"/>
          <p:cNvSpPr/>
          <p:nvPr/>
        </p:nvSpPr>
        <p:spPr>
          <a:xfrm>
            <a:off x="1666875" y="5143500"/>
            <a:ext cx="8858250" cy="1028700"/>
          </a:xfrm>
          <a:prstGeom prst="rect">
            <a:avLst/>
          </a:prstGeom>
          <a:solidFill>
            <a:srgbClr val="FFFF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untime metric"/>
          <p:cNvSpPr txBox="1"/>
          <p:nvPr/>
        </p:nvSpPr>
        <p:spPr>
          <a:xfrm>
            <a:off x="1981200" y="5381625"/>
            <a:ext cx="2476500" cy="171450"/>
          </a:xfrm>
          <a:prstGeom prst="rect">
            <a:avLst/>
          </a:prstGeom>
          <a:noFill/>
        </p:spPr>
        <p:txBody>
          <a:bodyPr wrap="none" lIns="0" rIns="0" tIns="0" bIns="0">
            <a:spAutoFit/>
          </a:bodyPr>
          <a:lstStyle/>
          <a:p>
            <a:pPr algn="l"/>
            <a:r>
              <a:rPr sz="1400" b="1">
                <a:solidFill>
                  <a:srgbClr val="191919"/>
                </a:solidFill>
                <a:latin typeface="Arial"/>
              </a:rPr>
              <a:t>Performance metric: runtime</a:t>
            </a:r>
          </a:p>
        </p:txBody>
      </p:sp>
      <p:sp>
        <p:nvSpPr>
          <p:cNvPr id="218" name="Runtime formula"/>
          <p:cNvSpPr txBox="1"/>
          <p:nvPr/>
        </p:nvSpPr>
        <p:spPr>
          <a:xfrm>
            <a:off x="1981200" y="5695950"/>
            <a:ext cx="3619500" cy="190500"/>
          </a:xfrm>
          <a:prstGeom prst="rect">
            <a:avLst/>
          </a:prstGeom>
          <a:noFill/>
        </p:spPr>
        <p:txBody>
          <a:bodyPr wrap="none" lIns="0" rIns="0" tIns="0" bIns="0">
            <a:spAutoFit/>
          </a:bodyPr>
          <a:lstStyle/>
          <a:p>
            <a:pPr algn="l"/>
            <a:r>
              <a:rPr sz="1400" b="0">
                <a:solidFill>
                  <a:srgbClr val="191919"/>
                </a:solidFill>
                <a:latin typeface="Courier New"/>
              </a:rPr>
              <a:t>label(x) = argmin_a T(a, x)</a:t>
            </a:r>
          </a:p>
        </p:txBody>
      </p:sp>
      <p:sp>
        <p:nvSpPr>
          <p:cNvPr id="219" name="Runtime definition"/>
          <p:cNvSpPr txBox="1"/>
          <p:nvPr/>
        </p:nvSpPr>
        <p:spPr>
          <a:xfrm>
            <a:off x="1981200" y="5934075"/>
            <a:ext cx="3619500" cy="133350"/>
          </a:xfrm>
          <a:prstGeom prst="rect">
            <a:avLst/>
          </a:prstGeom>
          <a:noFill/>
        </p:spPr>
        <p:txBody>
          <a:bodyPr wrap="none" lIns="0" rIns="0" tIns="0" bIns="0">
            <a:spAutoFit/>
          </a:bodyPr>
          <a:lstStyle/>
          <a:p>
            <a:pPr algn="l"/>
            <a:r>
              <a:rPr sz="950" b="0">
                <a:solidFill>
                  <a:srgbClr val="566682"/>
                </a:solidFill>
                <a:latin typeface="Arial"/>
              </a:rPr>
              <a:t>T(a, x): measured runtime of algorithm a on array x</a:t>
            </a:r>
          </a:p>
        </p:txBody>
      </p:sp>
      <p:sp>
        <p:nvSpPr>
          <p:cNvPr id="220" name="Runtime cell"/>
          <p:cNvSpPr/>
          <p:nvPr/>
        </p:nvSpPr>
        <p:spPr>
          <a:xfrm>
            <a:off x="6210300" y="5467350"/>
            <a:ext cx="1200150" cy="523875"/>
          </a:xfrm>
          <a:prstGeom prst="rect">
            <a:avLst/>
          </a:prstGeom>
          <a:solidFill>
            <a:srgbClr val="FCFD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untime alg Introsort"/>
          <p:cNvSpPr txBox="1"/>
          <p:nvPr/>
        </p:nvSpPr>
        <p:spPr>
          <a:xfrm>
            <a:off x="6286500" y="5581650"/>
            <a:ext cx="1047750" cy="123825"/>
          </a:xfrm>
          <a:prstGeom prst="rect">
            <a:avLst/>
          </a:prstGeom>
          <a:noFill/>
        </p:spPr>
        <p:txBody>
          <a:bodyPr wrap="none" lIns="0" rIns="0" tIns="0" bIns="0">
            <a:spAutoFit/>
          </a:bodyPr>
          <a:lstStyle/>
          <a:p>
            <a:pPr algn="ctr"/>
            <a:r>
              <a:rPr sz="950" b="0">
                <a:solidFill>
                  <a:srgbClr val="566682"/>
                </a:solidFill>
                <a:latin typeface="Arial"/>
              </a:rPr>
              <a:t>Introsort</a:t>
            </a:r>
          </a:p>
        </p:txBody>
      </p:sp>
      <p:sp>
        <p:nvSpPr>
          <p:cNvPr id="222" name="Runtime val Introsort"/>
          <p:cNvSpPr txBox="1"/>
          <p:nvPr/>
        </p:nvSpPr>
        <p:spPr>
          <a:xfrm>
            <a:off x="6286500" y="5800725"/>
            <a:ext cx="1047750" cy="123825"/>
          </a:xfrm>
          <a:prstGeom prst="rect">
            <a:avLst/>
          </a:prstGeom>
          <a:noFill/>
        </p:spPr>
        <p:txBody>
          <a:bodyPr wrap="none" lIns="0" rIns="0" tIns="0" bIns="0">
            <a:spAutoFit/>
          </a:bodyPr>
          <a:lstStyle/>
          <a:p>
            <a:pPr algn="ctr"/>
            <a:r>
              <a:rPr sz="1050" b="1">
                <a:solidFill>
                  <a:srgbClr val="566682"/>
                </a:solidFill>
                <a:latin typeface="Arial"/>
              </a:rPr>
              <a:t>18.7 μs</a:t>
            </a:r>
          </a:p>
        </p:txBody>
      </p:sp>
      <p:sp>
        <p:nvSpPr>
          <p:cNvPr id="223" name="Runtime cell"/>
          <p:cNvSpPr/>
          <p:nvPr/>
        </p:nvSpPr>
        <p:spPr>
          <a:xfrm>
            <a:off x="7410450" y="5467350"/>
            <a:ext cx="1200150" cy="523875"/>
          </a:xfrm>
          <a:prstGeom prst="rect">
            <a:avLst/>
          </a:prstGeom>
          <a:solidFill>
            <a:srgbClr val="FCFD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untime alg Heapsort"/>
          <p:cNvSpPr txBox="1"/>
          <p:nvPr/>
        </p:nvSpPr>
        <p:spPr>
          <a:xfrm>
            <a:off x="7486650" y="5581650"/>
            <a:ext cx="1047750" cy="123825"/>
          </a:xfrm>
          <a:prstGeom prst="rect">
            <a:avLst/>
          </a:prstGeom>
          <a:noFill/>
        </p:spPr>
        <p:txBody>
          <a:bodyPr wrap="none" lIns="0" rIns="0" tIns="0" bIns="0">
            <a:spAutoFit/>
          </a:bodyPr>
          <a:lstStyle/>
          <a:p>
            <a:pPr algn="ctr"/>
            <a:r>
              <a:rPr sz="950" b="0">
                <a:solidFill>
                  <a:srgbClr val="566682"/>
                </a:solidFill>
                <a:latin typeface="Arial"/>
              </a:rPr>
              <a:t>Heapsort</a:t>
            </a:r>
          </a:p>
        </p:txBody>
      </p:sp>
      <p:sp>
        <p:nvSpPr>
          <p:cNvPr id="225" name="Runtime val Heapsort"/>
          <p:cNvSpPr txBox="1"/>
          <p:nvPr/>
        </p:nvSpPr>
        <p:spPr>
          <a:xfrm>
            <a:off x="7486650" y="5800725"/>
            <a:ext cx="1047750" cy="123825"/>
          </a:xfrm>
          <a:prstGeom prst="rect">
            <a:avLst/>
          </a:prstGeom>
          <a:noFill/>
        </p:spPr>
        <p:txBody>
          <a:bodyPr wrap="none" lIns="0" rIns="0" tIns="0" bIns="0">
            <a:spAutoFit/>
          </a:bodyPr>
          <a:lstStyle/>
          <a:p>
            <a:pPr algn="ctr"/>
            <a:r>
              <a:rPr sz="1050" b="1">
                <a:solidFill>
                  <a:srgbClr val="566682"/>
                </a:solidFill>
                <a:latin typeface="Arial"/>
              </a:rPr>
              <a:t>24.5 μs</a:t>
            </a:r>
          </a:p>
        </p:txBody>
      </p:sp>
      <p:sp>
        <p:nvSpPr>
          <p:cNvPr id="226" name="Runtime cell"/>
          <p:cNvSpPr/>
          <p:nvPr/>
        </p:nvSpPr>
        <p:spPr>
          <a:xfrm>
            <a:off x="8610600" y="5467350"/>
            <a:ext cx="1200150" cy="523875"/>
          </a:xfrm>
          <a:prstGeom prst="rect">
            <a:avLst/>
          </a:prstGeom>
          <a:solidFill>
            <a:srgbClr val="FCFDFF"/>
          </a:solidFill>
          <a:ln w="10160">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untime alg Timsort"/>
          <p:cNvSpPr txBox="1"/>
          <p:nvPr/>
        </p:nvSpPr>
        <p:spPr>
          <a:xfrm>
            <a:off x="8686800" y="5581650"/>
            <a:ext cx="1047750" cy="123825"/>
          </a:xfrm>
          <a:prstGeom prst="rect">
            <a:avLst/>
          </a:prstGeom>
          <a:noFill/>
        </p:spPr>
        <p:txBody>
          <a:bodyPr wrap="none" lIns="0" rIns="0" tIns="0" bIns="0">
            <a:spAutoFit/>
          </a:bodyPr>
          <a:lstStyle/>
          <a:p>
            <a:pPr algn="ctr"/>
            <a:r>
              <a:rPr sz="950" b="0">
                <a:solidFill>
                  <a:srgbClr val="F4511E"/>
                </a:solidFill>
                <a:latin typeface="Arial"/>
              </a:rPr>
              <a:t>Timsort</a:t>
            </a:r>
          </a:p>
        </p:txBody>
      </p:sp>
      <p:sp>
        <p:nvSpPr>
          <p:cNvPr id="228" name="Runtime val Timsort"/>
          <p:cNvSpPr txBox="1"/>
          <p:nvPr/>
        </p:nvSpPr>
        <p:spPr>
          <a:xfrm>
            <a:off x="8686800" y="5800725"/>
            <a:ext cx="1047750" cy="123825"/>
          </a:xfrm>
          <a:prstGeom prst="rect">
            <a:avLst/>
          </a:prstGeom>
          <a:noFill/>
        </p:spPr>
        <p:txBody>
          <a:bodyPr wrap="none" lIns="0" rIns="0" tIns="0" bIns="0">
            <a:spAutoFit/>
          </a:bodyPr>
          <a:lstStyle/>
          <a:p>
            <a:pPr algn="ctr"/>
            <a:r>
              <a:rPr sz="1050" b="1">
                <a:solidFill>
                  <a:srgbClr val="F4511E"/>
                </a:solidFill>
                <a:latin typeface="Arial"/>
              </a:rPr>
              <a:t>13.2 μs</a:t>
            </a:r>
          </a:p>
        </p:txBody>
      </p:sp>
      <p:sp>
        <p:nvSpPr>
          <p:cNvPr id="229" name="Feature cost note"/>
          <p:cNvSpPr txBox="1"/>
          <p:nvPr/>
        </p:nvSpPr>
        <p:spPr>
          <a:xfrm>
            <a:off x="8143875" y="6019800"/>
            <a:ext cx="2095500" cy="114300"/>
          </a:xfrm>
          <a:prstGeom prst="rect">
            <a:avLst/>
          </a:prstGeom>
          <a:noFill/>
        </p:spPr>
        <p:txBody>
          <a:bodyPr wrap="none" lIns="0" rIns="0" tIns="0" bIns="0">
            <a:spAutoFit/>
          </a:bodyPr>
          <a:lstStyle/>
          <a:p>
            <a:pPr algn="r"/>
            <a:r>
              <a:rPr sz="900" b="0">
                <a:solidFill>
                  <a:srgbClr val="566682"/>
                </a:solidFill>
                <a:latin typeface="Arial"/>
              </a:rPr>
              <a:t>feature cost &lt; runtime gain</a:t>
            </a:r>
          </a:p>
        </p:txBody>
      </p:sp>
      <p:sp>
        <p:nvSpPr>
          <p:cNvPr id="23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3/22</a:t>
            </a:r>
          </a:p>
        </p:txBody>
      </p:sp>
      <p:sp>
        <p:nvSpPr>
          <p:cNvPr id="231" name="Before execution note"/>
          <p:cNvSpPr txBox="1"/>
          <p:nvPr/>
        </p:nvSpPr>
        <p:spPr>
          <a:xfrm>
            <a:off x="9601200" y="4305300"/>
            <a:ext cx="1714500" cy="133350"/>
          </a:xfrm>
          <a:prstGeom prst="rect">
            <a:avLst/>
          </a:prstGeom>
          <a:noFill/>
        </p:spPr>
        <p:txBody>
          <a:bodyPr wrap="none" lIns="0" rIns="0" tIns="0" bIns="0">
            <a:spAutoFit/>
          </a:bodyPr>
          <a:lstStyle/>
          <a:p>
            <a:pPr algn="ctr"/>
            <a:r>
              <a:rPr sz="950" b="1">
                <a:solidFill>
                  <a:srgbClr val="F4511E"/>
                </a:solidFill>
                <a:latin typeface="Arial"/>
              </a:rPr>
              <a:t>selected before execution</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4/22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3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5/22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6/22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7/22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8/22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9/22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10/22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13/22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14/22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15/22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16/22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17/22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18/22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19/22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20/22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84052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I claim, and what I do not claim</a:t>
            </a:r>
          </a:p>
        </p:txBody>
      </p:sp>
      <p:sp>
        <p:nvSpPr>
          <p:cNvPr id="6" name="TextBox 6"/>
          <p:cNvSpPr txBox="1"/>
          <p:nvPr/>
        </p:nvSpPr>
        <p:spPr>
          <a:xfrm>
            <a:off x="601599" y="858679"/>
            <a:ext cx="72571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7" name="Freeform 7"/>
          <p:cNvSpPr/>
          <p:nvPr/>
        </p:nvSpPr>
        <p:spPr>
          <a:xfrm>
            <a:off x="857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191919"/>
          </a:solidFill>
          <a:ln>
            <a:noFill/>
          </a:ln>
        </p:spPr>
        <p:txBody>
          <a:bodyPr/>
          <a:p/>
        </p:txBody>
      </p:sp>
      <p:sp>
        <p:nvSpPr>
          <p:cNvPr id="8" name="TextBox 8"/>
          <p:cNvSpPr txBox="1"/>
          <p:nvPr/>
        </p:nvSpPr>
        <p:spPr>
          <a:xfrm>
            <a:off x="1179195" y="1947862"/>
            <a:ext cx="104778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9" name="TextBox 9"/>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0" name="TextBox 10"/>
          <p:cNvSpPr txBox="1"/>
          <p:nvPr/>
        </p:nvSpPr>
        <p:spPr>
          <a:xfrm>
            <a:off x="1179195" y="3138488"/>
            <a:ext cx="579302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1" name="TextBox 11"/>
          <p:cNvSpPr txBox="1"/>
          <p:nvPr/>
        </p:nvSpPr>
        <p:spPr>
          <a:xfrm>
            <a:off x="1179195" y="3662362"/>
            <a:ext cx="5653486"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2" name="Freeform 12"/>
          <p:cNvSpPr/>
          <p:nvPr/>
        </p:nvSpPr>
        <p:spPr>
          <a:xfrm>
            <a:off x="6572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6894195" y="1947862"/>
            <a:ext cx="212115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4" name="TextBox 14"/>
          <p:cNvSpPr txBox="1"/>
          <p:nvPr/>
        </p:nvSpPr>
        <p:spPr>
          <a:xfrm>
            <a:off x="6894195" y="2614612"/>
            <a:ext cx="326679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5" name="TextBox 15"/>
          <p:cNvSpPr txBox="1"/>
          <p:nvPr/>
        </p:nvSpPr>
        <p:spPr>
          <a:xfrm>
            <a:off x="6894195" y="3138488"/>
            <a:ext cx="5398846"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6" name="TextBox 16"/>
          <p:cNvSpPr txBox="1"/>
          <p:nvPr/>
        </p:nvSpPr>
        <p:spPr>
          <a:xfrm>
            <a:off x="6894195" y="3662362"/>
            <a:ext cx="5175474"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7" name="TextBox 17"/>
          <p:cNvSpPr txBox="1"/>
          <p:nvPr/>
        </p:nvSpPr>
        <p:spPr>
          <a:xfrm>
            <a:off x="848106" y="5425440"/>
            <a:ext cx="1002033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0" name="Freeform 20"/>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Rectangle 3"/>
          <p:cNvSpPr/>
          <p:nvPr/>
        </p:nvSpPr>
        <p:spPr>
          <a:xfrm>
            <a:off x="0" y="0"/>
            <a:ext cx="12192000" cy="819150"/>
          </a:xfrm>
          <a:prstGeom prst="rect">
            <a:avLst/>
          </a:prstGeom>
          <a:solidFill>
            <a:srgbClr val="191919"/>
          </a:solidFill>
          <a:ln>
            <a:noFill/>
          </a:ln>
        </p:spPr>
        <p:txBody>
          <a:bodyPr/>
          <a:p/>
        </p:txBody>
      </p:sp>
      <p:sp>
        <p:nvSpPr>
          <p:cNvPr id="4" name="Rectangle 4"/>
          <p:cNvSpPr/>
          <p:nvPr/>
        </p:nvSpPr>
        <p:spPr>
          <a:xfrm>
            <a:off x="0" y="0"/>
            <a:ext cx="95250" cy="819150"/>
          </a:xfrm>
          <a:prstGeom prst="rect">
            <a:avLst/>
          </a:prstGeom>
          <a:solidFill>
            <a:srgbClr val="D97757"/>
          </a:solidFill>
          <a:ln>
            <a:noFill/>
          </a:ln>
        </p:spPr>
        <p:txBody>
          <a:bodyPr/>
          <a:p/>
        </p:txBody>
      </p:sp>
      <p:sp>
        <p:nvSpPr>
          <p:cNvPr id="5" name="TextBox 5"/>
          <p:cNvSpPr txBox="1"/>
          <p:nvPr/>
        </p:nvSpPr>
        <p:spPr>
          <a:xfrm>
            <a:off x="411099" y="344329"/>
            <a:ext cx="351243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305070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914536"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Freeform 8"/>
          <p:cNvSpPr/>
          <p:nvPr/>
        </p:nvSpPr>
        <p:spPr>
          <a:xfrm>
            <a:off x="6858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97917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82206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Freeform 12"/>
          <p:cNvSpPr/>
          <p:nvPr/>
        </p:nvSpPr>
        <p:spPr>
          <a:xfrm>
            <a:off x="447675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477012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Freeform 16"/>
          <p:cNvSpPr/>
          <p:nvPr/>
        </p:nvSpPr>
        <p:spPr>
          <a:xfrm>
            <a:off x="82677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191919"/>
          </a:solidFill>
          <a:ln>
            <a:noFill/>
          </a:ln>
        </p:spPr>
        <p:txBody>
          <a:bodyPr/>
          <a:p/>
        </p:txBody>
      </p:sp>
      <p:sp>
        <p:nvSpPr>
          <p:cNvPr id="17" name="TextBox 17"/>
          <p:cNvSpPr txBox="1"/>
          <p:nvPr/>
        </p:nvSpPr>
        <p:spPr>
          <a:xfrm>
            <a:off x="8561070" y="3424238"/>
            <a:ext cx="229579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5472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2428</Words>
  <Application>Microsoft Macintosh PowerPoint</Application>
  <PresentationFormat>Widescreen</PresentationFormat>
  <Paragraphs>306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2026-07-01T07:22:15Z</dcterms:modified>
  <cp:category/>
  <cp:contentStatus/>
  <dc:language/>
</cp:coreProperties>
</file>