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99ef95bb9404e" /><Relationship Type="http://schemas.openxmlformats.org/officeDocument/2006/relationships/extended-properties" Target="/docProps/app.xml" Id="R842432072f7b4d2e" /><Relationship Type="http://schemas.openxmlformats.org/officeDocument/2006/relationships/officeDocument" Target="/ppt/presentation.xml" Id="R10c92e370a644d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5eb16e31654111"/>
  </p:sldMasterIdLst>
  <p:notesMasterIdLst>
    <p:notesMasterId xmlns:r="http://schemas.openxmlformats.org/officeDocument/2006/relationships" r:id="R21b70d0be9c8414c"/>
  </p:notesMasterIdLst>
  <p:sldIdLst>
    <p:sldId xmlns:r="http://schemas.openxmlformats.org/officeDocument/2006/relationships" id="256" r:id="Re036e73cedf94421"/>
    <p:sldId xmlns:r="http://schemas.openxmlformats.org/officeDocument/2006/relationships" id="257" r:id="R85cf51cb836c4cbd"/>
    <p:sldId xmlns:r="http://schemas.openxmlformats.org/officeDocument/2006/relationships" id="258" r:id="R5105060c509e4df2"/>
    <p:sldId xmlns:r="http://schemas.openxmlformats.org/officeDocument/2006/relationships" id="259" r:id="Rbcfe3725211d4951"/>
    <p:sldId xmlns:r="http://schemas.openxmlformats.org/officeDocument/2006/relationships" id="260" r:id="R34bf1b80a0584874"/>
    <p:sldId xmlns:r="http://schemas.openxmlformats.org/officeDocument/2006/relationships" id="261" r:id="R3a778781804a445a"/>
    <p:sldId xmlns:r="http://schemas.openxmlformats.org/officeDocument/2006/relationships" id="262" r:id="Rb3f4d5a789a24551"/>
    <p:sldId xmlns:r="http://schemas.openxmlformats.org/officeDocument/2006/relationships" id="263" r:id="R3e04c90ee5ad45b6"/>
    <p:sldId xmlns:r="http://schemas.openxmlformats.org/officeDocument/2006/relationships" id="264" r:id="R301ae619ac424b0d"/>
    <p:sldId xmlns:r="http://schemas.openxmlformats.org/officeDocument/2006/relationships" id="265" r:id="R113a2460a21a4a1a"/>
    <p:sldId xmlns:r="http://schemas.openxmlformats.org/officeDocument/2006/relationships" id="266" r:id="R443902cc831b41f4"/>
    <p:sldId xmlns:r="http://schemas.openxmlformats.org/officeDocument/2006/relationships" id="267" r:id="R51e48cf75bd74071"/>
    <p:sldId xmlns:r="http://schemas.openxmlformats.org/officeDocument/2006/relationships" id="268" r:id="R09714ce53b0d49a1"/>
    <p:sldId xmlns:r="http://schemas.openxmlformats.org/officeDocument/2006/relationships" id="269" r:id="R574bc169360a4d25"/>
    <p:sldId xmlns:r="http://schemas.openxmlformats.org/officeDocument/2006/relationships" id="270" r:id="R046bcf0ef5ba4419"/>
    <p:sldId xmlns:r="http://schemas.openxmlformats.org/officeDocument/2006/relationships" id="271" r:id="R0e9795320beb4b6a"/>
    <p:sldId xmlns:r="http://schemas.openxmlformats.org/officeDocument/2006/relationships" id="272" r:id="Rb576fc66013748c6"/>
    <p:sldId xmlns:r="http://schemas.openxmlformats.org/officeDocument/2006/relationships" id="273" r:id="Rcadce3d709494b77"/>
    <p:sldId xmlns:r="http://schemas.openxmlformats.org/officeDocument/2006/relationships" id="274" r:id="R55b001d8da414a6c"/>
    <p:sldId xmlns:r="http://schemas.openxmlformats.org/officeDocument/2006/relationships" id="275" r:id="Rde6f3a6565bf4307"/>
    <p:sldId xmlns:r="http://schemas.openxmlformats.org/officeDocument/2006/relationships" id="276" r:id="Rd4210d1dab124a84"/>
    <p:sldId xmlns:r="http://schemas.openxmlformats.org/officeDocument/2006/relationships" id="277" r:id="Rf9031c3920ee4408"/>
    <p:sldId xmlns:r="http://schemas.openxmlformats.org/officeDocument/2006/relationships" id="278" r:id="Rfc7fb1c6535847ba"/>
    <p:sldId xmlns:r="http://schemas.openxmlformats.org/officeDocument/2006/relationships" id="279" r:id="Re510d8ef0df34d5b"/>
    <p:sldId xmlns:r="http://schemas.openxmlformats.org/officeDocument/2006/relationships" id="280" r:id="R88960b7439ca497a"/>
    <p:sldId xmlns:r="http://schemas.openxmlformats.org/officeDocument/2006/relationships" id="281" r:id="R00db5eda47fc409e"/>
    <p:sldId xmlns:r="http://schemas.openxmlformats.org/officeDocument/2006/relationships" id="282" r:id="Ref01a6043fa742da"/>
    <p:sldId xmlns:r="http://schemas.openxmlformats.org/officeDocument/2006/relationships" id="283" r:id="R6954fe288a954876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e87411ec54597" /><Relationship Type="http://schemas.openxmlformats.org/officeDocument/2006/relationships/slideMaster" Target="/ppt/slideMasters/slideMaster1.xml" Id="R045eb16e31654111" /><Relationship Type="http://schemas.openxmlformats.org/officeDocument/2006/relationships/notesMaster" Target="/ppt/notesMasters/notesMaster1.xml" Id="R21b70d0be9c8414c" /><Relationship Type="http://schemas.openxmlformats.org/officeDocument/2006/relationships/presProps" Target="/ppt/presProps.xml" Id="R4a3995e08f784487" /><Relationship Type="http://schemas.openxmlformats.org/officeDocument/2006/relationships/tableStyles" Target="/ppt/tableStyles.xml" Id="R6543ed751f874b72" /><Relationship Type="http://schemas.openxmlformats.org/officeDocument/2006/relationships/slide" Target="/ppt/slides/slide1.xml" Id="Re036e73cedf94421" /><Relationship Type="http://schemas.openxmlformats.org/officeDocument/2006/relationships/slide" Target="/ppt/slides/slide2.xml" Id="R85cf51cb836c4cbd" /><Relationship Type="http://schemas.openxmlformats.org/officeDocument/2006/relationships/slide" Target="/ppt/slides/slide3.xml" Id="R5105060c509e4df2" /><Relationship Type="http://schemas.openxmlformats.org/officeDocument/2006/relationships/slide" Target="/ppt/slides/slide4.xml" Id="Rbcfe3725211d4951" /><Relationship Type="http://schemas.openxmlformats.org/officeDocument/2006/relationships/slide" Target="/ppt/slides/slide5.xml" Id="R34bf1b80a0584874" /><Relationship Type="http://schemas.openxmlformats.org/officeDocument/2006/relationships/slide" Target="/ppt/slides/slide6.xml" Id="R3a778781804a445a" /><Relationship Type="http://schemas.openxmlformats.org/officeDocument/2006/relationships/slide" Target="/ppt/slides/slide7.xml" Id="Rb3f4d5a789a24551" /><Relationship Type="http://schemas.openxmlformats.org/officeDocument/2006/relationships/slide" Target="/ppt/slides/slide8.xml" Id="R3e04c90ee5ad45b6" /><Relationship Type="http://schemas.openxmlformats.org/officeDocument/2006/relationships/slide" Target="/ppt/slides/slide9.xml" Id="R301ae619ac424b0d" /><Relationship Type="http://schemas.openxmlformats.org/officeDocument/2006/relationships/slide" Target="/ppt/slides/slide10.xml" Id="R113a2460a21a4a1a" /><Relationship Type="http://schemas.openxmlformats.org/officeDocument/2006/relationships/slide" Target="/ppt/slides/slide11.xml" Id="R443902cc831b41f4" /><Relationship Type="http://schemas.openxmlformats.org/officeDocument/2006/relationships/slide" Target="/ppt/slides/slide12.xml" Id="R51e48cf75bd74071" /><Relationship Type="http://schemas.openxmlformats.org/officeDocument/2006/relationships/slide" Target="/ppt/slides/slide13.xml" Id="R09714ce53b0d49a1" /><Relationship Type="http://schemas.openxmlformats.org/officeDocument/2006/relationships/slide" Target="/ppt/slides/slide14.xml" Id="R574bc169360a4d25" /><Relationship Type="http://schemas.openxmlformats.org/officeDocument/2006/relationships/slide" Target="/ppt/slides/slide15.xml" Id="R046bcf0ef5ba4419" /><Relationship Type="http://schemas.openxmlformats.org/officeDocument/2006/relationships/slide" Target="/ppt/slides/slide16.xml" Id="R0e9795320beb4b6a" /><Relationship Type="http://schemas.openxmlformats.org/officeDocument/2006/relationships/slide" Target="/ppt/slides/slide17.xml" Id="Rb576fc66013748c6" /><Relationship Type="http://schemas.openxmlformats.org/officeDocument/2006/relationships/slide" Target="/ppt/slides/slide18.xml" Id="Rcadce3d709494b77" /><Relationship Type="http://schemas.openxmlformats.org/officeDocument/2006/relationships/slide" Target="/ppt/slides/slide19.xml" Id="R55b001d8da414a6c" /><Relationship Type="http://schemas.openxmlformats.org/officeDocument/2006/relationships/slide" Target="/ppt/slides/slide20.xml" Id="Rde6f3a6565bf4307" /><Relationship Type="http://schemas.openxmlformats.org/officeDocument/2006/relationships/slide" Target="/ppt/slides/slide21.xml" Id="Rd4210d1dab124a84" /><Relationship Type="http://schemas.openxmlformats.org/officeDocument/2006/relationships/slide" Target="/ppt/slides/slide22.xml" Id="Rf9031c3920ee4408" /><Relationship Type="http://schemas.openxmlformats.org/officeDocument/2006/relationships/slide" Target="/ppt/slides/slide23.xml" Id="Rfc7fb1c6535847ba" /><Relationship Type="http://schemas.openxmlformats.org/officeDocument/2006/relationships/slide" Target="/ppt/slides/slide24.xml" Id="Re510d8ef0df34d5b" /><Relationship Type="http://schemas.openxmlformats.org/officeDocument/2006/relationships/slide" Target="/ppt/slides/slide25.xml" Id="R88960b7439ca497a" /><Relationship Type="http://schemas.openxmlformats.org/officeDocument/2006/relationships/slide" Target="/ppt/slides/slide26.xml" Id="R00db5eda47fc409e" /><Relationship Type="http://schemas.openxmlformats.org/officeDocument/2006/relationships/slide" Target="/ppt/slides/slide27.xml" Id="Ref01a6043fa742da" /><Relationship Type="http://schemas.openxmlformats.org/officeDocument/2006/relationships/slide" Target="/ppt/slides/slide28.xml" Id="R6954fe288a9548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e6e057f9ad4e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a1aa401ea4653" /><Relationship Type="http://schemas.openxmlformats.org/officeDocument/2006/relationships/notesMaster" Target="/ppt/notesMasters/notesMaster1.xml" Id="R7702e62f5487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ecd44c040d4c59" /><Relationship Type="http://schemas.openxmlformats.org/officeDocument/2006/relationships/notesMaster" Target="/ppt/notesMasters/notesMaster1.xml" Id="R9bbc92afdbb944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5000f838ea465f" /><Relationship Type="http://schemas.openxmlformats.org/officeDocument/2006/relationships/notesMaster" Target="/ppt/notesMasters/notesMaster1.xml" Id="R93ada07529144c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eaf5d359b4e9b" /><Relationship Type="http://schemas.openxmlformats.org/officeDocument/2006/relationships/notesMaster" Target="/ppt/notesMasters/notesMaster1.xml" Id="Rbc19d5af3e67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17c41410ad4819" /><Relationship Type="http://schemas.openxmlformats.org/officeDocument/2006/relationships/notesMaster" Target="/ppt/notesMasters/notesMaster1.xml" Id="R52a2052dc63046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ba89fa9beb4255" /><Relationship Type="http://schemas.openxmlformats.org/officeDocument/2006/relationships/notesMaster" Target="/ppt/notesMasters/notesMaster1.xml" Id="Rcd40b128ff2145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c8ad0f5deb4a31" /><Relationship Type="http://schemas.openxmlformats.org/officeDocument/2006/relationships/notesMaster" Target="/ppt/notesMasters/notesMaster1.xml" Id="R271caddec8d342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916642577b4bbd" /><Relationship Type="http://schemas.openxmlformats.org/officeDocument/2006/relationships/notesMaster" Target="/ppt/notesMasters/notesMaster1.xml" Id="Ra3c83dd92785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961e7521684c18" /><Relationship Type="http://schemas.openxmlformats.org/officeDocument/2006/relationships/notesMaster" Target="/ppt/notesMasters/notesMaster1.xml" Id="R69dd5f80692d48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3fb97dd2c04070" /><Relationship Type="http://schemas.openxmlformats.org/officeDocument/2006/relationships/notesMaster" Target="/ppt/notesMasters/notesMaster1.xml" Id="R95cf8a8f78ac4e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2ab0c7fa1e4193" /><Relationship Type="http://schemas.openxmlformats.org/officeDocument/2006/relationships/notesMaster" Target="/ppt/notesMasters/notesMaster1.xml" Id="Rbc3fe991602040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175be4fdf7451c" /><Relationship Type="http://schemas.openxmlformats.org/officeDocument/2006/relationships/notesMaster" Target="/ppt/notesMasters/notesMaster1.xml" Id="R66c4ee59c46c44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8c436afc374a41" /><Relationship Type="http://schemas.openxmlformats.org/officeDocument/2006/relationships/notesMaster" Target="/ppt/notesMasters/notesMaster1.xml" Id="Ra715f93785424e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58ab76f75b425f" /><Relationship Type="http://schemas.openxmlformats.org/officeDocument/2006/relationships/notesMaster" Target="/ppt/notesMasters/notesMaster1.xml" Id="Rdf1af4fdaaf443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9d0ddf321a4184" /><Relationship Type="http://schemas.openxmlformats.org/officeDocument/2006/relationships/notesMaster" Target="/ppt/notesMasters/notesMaster1.xml" Id="Read0da633ba947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6a930ac8fc4c17" /><Relationship Type="http://schemas.openxmlformats.org/officeDocument/2006/relationships/notesMaster" Target="/ppt/notesMasters/notesMaster1.xml" Id="R3cfc12ab18e04e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0b340f29d14603" /><Relationship Type="http://schemas.openxmlformats.org/officeDocument/2006/relationships/notesMaster" Target="/ppt/notesMasters/notesMaster1.xml" Id="R45befb19220b43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e0e355c6e24a79" /><Relationship Type="http://schemas.openxmlformats.org/officeDocument/2006/relationships/notesMaster" Target="/ppt/notesMasters/notesMaster1.xml" Id="R87bcb4edd9b54a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b5be2d102445f1" /><Relationship Type="http://schemas.openxmlformats.org/officeDocument/2006/relationships/notesMaster" Target="/ppt/notesMasters/notesMaster1.xml" Id="R464df07565a642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70696461984120" /><Relationship Type="http://schemas.openxmlformats.org/officeDocument/2006/relationships/notesMaster" Target="/ppt/notesMasters/notesMaster1.xml" Id="R2a226d69a37d4b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3d26f1950444f0" /><Relationship Type="http://schemas.openxmlformats.org/officeDocument/2006/relationships/notesMaster" Target="/ppt/notesMasters/notesMaster1.xml" Id="Raaea17a6295e44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cc48063f534c66" /><Relationship Type="http://schemas.openxmlformats.org/officeDocument/2006/relationships/notesMaster" Target="/ppt/notesMasters/notesMaster1.xml" Id="R68142a19620d4c2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122b6fd38f4983" /><Relationship Type="http://schemas.openxmlformats.org/officeDocument/2006/relationships/notesMaster" Target="/ppt/notesMasters/notesMaster1.xml" Id="Rccb2b7c5a5f346b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747468fbef4ca9" /><Relationship Type="http://schemas.openxmlformats.org/officeDocument/2006/relationships/notesMaster" Target="/ppt/notesMasters/notesMaster1.xml" Id="R3255d94ddf364e9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8d057e19e4b4493" /><Relationship Type="http://schemas.openxmlformats.org/officeDocument/2006/relationships/notesMaster" Target="/ppt/notesMasters/notesMaster1.xml" Id="R70acb23b002e44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5ed614e55e4a85" /><Relationship Type="http://schemas.openxmlformats.org/officeDocument/2006/relationships/notesMaster" Target="/ppt/notesMasters/notesMaster1.xml" Id="Rdaf39b5f5e5142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1b5132b81a4bea" /><Relationship Type="http://schemas.openxmlformats.org/officeDocument/2006/relationships/notesMaster" Target="/ppt/notesMasters/notesMaster1.xml" Id="R4a38613c79744d7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96c2f5acc7c427e" /><Relationship Type="http://schemas.openxmlformats.org/officeDocument/2006/relationships/notesMaster" Target="/ppt/notesMasters/notesMaster1.xml" Id="Rcf773654d4634f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417c7bda441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ed5586b48647d0" /><Relationship Type="http://schemas.openxmlformats.org/officeDocument/2006/relationships/slideLayout" Target="/ppt/slideLayouts/slideLayout1.xml" Id="R50157554a03d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57554a03d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3a3a2807f40ba" /><Relationship Type="http://schemas.openxmlformats.org/officeDocument/2006/relationships/image" Target="/ppt/media/image.png" Id="R4caf2640832b4b41" /><Relationship Type="http://schemas.openxmlformats.org/officeDocument/2006/relationships/notesSlide" Target="/ppt/notesSlides/notesSlide1.xml" Id="R1af3f5e3319d45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8ed016889401c" /><Relationship Type="http://schemas.openxmlformats.org/officeDocument/2006/relationships/notesSlide" Target="/ppt/notesSlides/notesSlide2.xml" Id="R1b616e79b90249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207907f0044e1" /><Relationship Type="http://schemas.openxmlformats.org/officeDocument/2006/relationships/notesSlide" Target="/ppt/notesSlides/notesSlide3.xml" Id="R202ddd86b3b448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57fed97534add" /><Relationship Type="http://schemas.openxmlformats.org/officeDocument/2006/relationships/notesSlide" Target="/ppt/notesSlides/notesSlide4.xml" Id="R6de1ba73528349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3e547e6cd42c1" /><Relationship Type="http://schemas.openxmlformats.org/officeDocument/2006/relationships/notesSlide" Target="/ppt/notesSlides/notesSlide5.xml" Id="R77e90b5696844e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a72059a2f42af" /><Relationship Type="http://schemas.openxmlformats.org/officeDocument/2006/relationships/notesSlide" Target="/ppt/notesSlides/notesSlide6.xml" Id="Re818695c96b8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233c2af24325" /><Relationship Type="http://schemas.openxmlformats.org/officeDocument/2006/relationships/notesSlide" Target="/ppt/notesSlides/notesSlide7.xml" Id="Rda4a663cad1249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37743b7924da8" /><Relationship Type="http://schemas.openxmlformats.org/officeDocument/2006/relationships/notesSlide" Target="/ppt/notesSlides/notesSlide8.xml" Id="Rab5f7875a72b4c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3781fc61d451f" /><Relationship Type="http://schemas.openxmlformats.org/officeDocument/2006/relationships/notesSlide" Target="/ppt/notesSlides/notesSlide9.xml" Id="Rebdf328f92b34c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01c6698584d59" /><Relationship Type="http://schemas.openxmlformats.org/officeDocument/2006/relationships/notesSlide" Target="/ppt/notesSlides/notesSlide10.xml" Id="Rb49b5e86558a4c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22eb4ff0d419d" /><Relationship Type="http://schemas.openxmlformats.org/officeDocument/2006/relationships/notesSlide" Target="/ppt/notesSlides/notesSlide11.xml" Id="R09517e490fe644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c967bf0b44845" /><Relationship Type="http://schemas.openxmlformats.org/officeDocument/2006/relationships/notesSlide" Target="/ppt/notesSlides/notesSlide12.xml" Id="Rb3d39df1934244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eb381ec3e48f1" /><Relationship Type="http://schemas.openxmlformats.org/officeDocument/2006/relationships/notesSlide" Target="/ppt/notesSlides/notesSlide13.xml" Id="R0b3e2b2fb1704a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754a33dbe4813" /><Relationship Type="http://schemas.openxmlformats.org/officeDocument/2006/relationships/notesSlide" Target="/ppt/notesSlides/notesSlide14.xml" Id="Rb07e6c7bbf2d4c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4d8da71994e1e" /><Relationship Type="http://schemas.openxmlformats.org/officeDocument/2006/relationships/notesSlide" Target="/ppt/notesSlides/notesSlide15.xml" Id="R7445f2d9c14244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fd92cb799486b" /><Relationship Type="http://schemas.openxmlformats.org/officeDocument/2006/relationships/notesSlide" Target="/ppt/notesSlides/notesSlide16.xml" Id="R2658372d690445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3ff0034974daf" /><Relationship Type="http://schemas.openxmlformats.org/officeDocument/2006/relationships/notesSlide" Target="/ppt/notesSlides/notesSlide17.xml" Id="Rca22800eed014c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950dcc1724823" /><Relationship Type="http://schemas.openxmlformats.org/officeDocument/2006/relationships/notesSlide" Target="/ppt/notesSlides/notesSlide18.xml" Id="R2ad8c56dcdb94c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38232a7a144d1" /><Relationship Type="http://schemas.openxmlformats.org/officeDocument/2006/relationships/notesSlide" Target="/ppt/notesSlides/notesSlide19.xml" Id="Rb4fcc84c09dc48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6bc61560a48a3" /><Relationship Type="http://schemas.openxmlformats.org/officeDocument/2006/relationships/notesSlide" Target="/ppt/notesSlides/notesSlide20.xml" Id="R86cafe4e6f784c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5204780c84a5a" /><Relationship Type="http://schemas.openxmlformats.org/officeDocument/2006/relationships/notesSlide" Target="/ppt/notesSlides/notesSlide21.xml" Id="R5891d92b4e1f40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d9f1865214ac7" /><Relationship Type="http://schemas.openxmlformats.org/officeDocument/2006/relationships/notesSlide" Target="/ppt/notesSlides/notesSlide22.xml" Id="Re55cdf64674644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29c63c70e4768" /><Relationship Type="http://schemas.openxmlformats.org/officeDocument/2006/relationships/notesSlide" Target="/ppt/notesSlides/notesSlide23.xml" Id="R568e88e41bed4e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893c26efa4033" /><Relationship Type="http://schemas.openxmlformats.org/officeDocument/2006/relationships/notesSlide" Target="/ppt/notesSlides/notesSlide24.xml" Id="Re45892dc319a40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ac3791887464d" /><Relationship Type="http://schemas.openxmlformats.org/officeDocument/2006/relationships/notesSlide" Target="/ppt/notesSlides/notesSlide25.xml" Id="Rdbd2d0bd319843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de144af9048d6" /><Relationship Type="http://schemas.openxmlformats.org/officeDocument/2006/relationships/notesSlide" Target="/ppt/notesSlides/notesSlide26.xml" Id="R5f3fedb9cf864e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b516f82fd4fb1" /><Relationship Type="http://schemas.openxmlformats.org/officeDocument/2006/relationships/notesSlide" Target="/ppt/notesSlides/notesSlide27.xml" Id="R31f45af720b549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e74f080d14844" /><Relationship Type="http://schemas.openxmlformats.org/officeDocument/2006/relationships/notesSlide" Target="/ppt/notesSlides/notesSlide28.xml" Id="Re63f56eb914d4d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47E3229-7564-4B17-84C2-A803DAA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ECC3187-33DD-4174-8613-B7B8815F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2A5088F-51B8-4698-96AA-14914CEC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B3217A3-0E71-45E1-9B38-16BFBB1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1/28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849E5154-AD62-4943-A2F0-A3EB90F3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14450"/>
            <a:ext cx="948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MACHINE LEARNING BASED ALGORITHM SELECTION FOR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86100607-43A9-4E24-8326-652471D6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SORTING NUMERIC ARRAYS</a:t>
            </a:r>
          </a:p>
        </p:txBody>
      </p:sp>
      <p:sp>
        <p:nvSpPr>
          <p:cNvPr id="7" name="title-main-rule">
            <a:extLst xmlns:a="http://schemas.openxmlformats.org/drawingml/2006/main">
              <a:ext uri="{FF2B5EF4-FFF2-40B4-BE49-F238E27FC236}">
                <a16:creationId xmlns:a16="http://schemas.microsoft.com/office/drawing/2014/main" id="{AF725C42-68BA-4E2F-86CD-96E61C2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F1D3A"/>
            </a:solidFill>
            <a:prstDash val="solid"/>
          </a:ln>
        </p:spPr>
      </p:sp>
      <p:sp>
        <p:nvSpPr>
          <p:cNvPr id="8" name="presented-by">
            <a:extLst xmlns:a="http://schemas.openxmlformats.org/drawingml/2006/main">
              <a:ext uri="{FF2B5EF4-FFF2-40B4-BE49-F238E27FC236}">
                <a16:creationId xmlns:a16="http://schemas.microsoft.com/office/drawing/2014/main" id="{4344C1D9-25F9-464D-8A4C-CDC2CD8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718096"/>
                </a:solidFill>
              </a:defRPr>
            </a:pPr>
            <a:r>
              <a:rPr sz="1125">
                <a:solidFill>
                  <a:srgbClr val="718096"/>
                </a:solidFill>
              </a:rPr>
              <a:t>Presented by</a:t>
            </a:r>
          </a:p>
        </p:txBody>
      </p:sp>
      <p:sp>
        <p:nvSpPr>
          <p:cNvPr id="9" name="ahmed">
            <a:extLst xmlns:a="http://schemas.openxmlformats.org/drawingml/2006/main">
              <a:ext uri="{FF2B5EF4-FFF2-40B4-BE49-F238E27FC236}">
                <a16:creationId xmlns:a16="http://schemas.microsoft.com/office/drawing/2014/main" id="{02C69F71-2610-4197-9063-3B40A4FB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AHMED SALAH ABDALHI MOHAMMED</a:t>
            </a:r>
          </a:p>
        </p:txBody>
      </p:sp>
      <p:sp>
        <p:nvSpPr>
          <p:cNvPr id="10" name="supervised-by">
            <a:extLst xmlns:a="http://schemas.openxmlformats.org/drawingml/2006/main">
              <a:ext uri="{FF2B5EF4-FFF2-40B4-BE49-F238E27FC236}">
                <a16:creationId xmlns:a16="http://schemas.microsoft.com/office/drawing/2014/main" id="{69B6C8EB-42E6-49E9-BB9A-2311F51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718096"/>
                </a:solidFill>
              </a:defRPr>
            </a:pPr>
            <a:r>
              <a:rPr sz="1125">
                <a:solidFill>
                  <a:srgbClr val="718096"/>
                </a:solidFill>
              </a:rPr>
              <a:t>Supervised by</a:t>
            </a:r>
          </a:p>
        </p:txBody>
      </p:sp>
      <p:sp>
        <p:nvSpPr>
          <p:cNvPr id="11" name="supervisor">
            <a:extLst xmlns:a="http://schemas.openxmlformats.org/drawingml/2006/main">
              <a:ext uri="{FF2B5EF4-FFF2-40B4-BE49-F238E27FC236}">
                <a16:creationId xmlns:a16="http://schemas.microsoft.com/office/drawing/2014/main" id="{07803C8B-0E66-42C0-A5F1-EFF05986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Assoc. Prof. Dr. Emre Özbilge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f2640832b4b41"/>
          <a:stretch xmlns:a="http://schemas.openxmlformats.org/drawingml/2006/main"/>
        </p:blipFill>
        <p:spPr>
          <a:xfrm xmlns:a="http://schemas.openxmlformats.org/drawingml/2006/main">
            <a:off x="12477750" y="1905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99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2D72886B-3474-4745-83AF-4AAB7A41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CCE7ED6-0D04-43EB-968D-4A464617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DD9EC52-6609-4EC1-8E5A-B732B5B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989846-6CB4-409A-A4AC-CF432C2D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Research Objective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2BF688-8189-47FA-AC74-F0BB0A62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09EC3F0-2336-4AB3-9D1A-788E548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2/28</a:t>
            </a:r>
          </a:p>
        </p:txBody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81C502E9-9004-4350-80B5-43F3253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10382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objective-formula">
            <a:extLst xmlns:a="http://schemas.openxmlformats.org/drawingml/2006/main">
              <a:ext uri="{FF2B5EF4-FFF2-40B4-BE49-F238E27FC236}">
                <a16:creationId xmlns:a16="http://schemas.microsoft.com/office/drawing/2014/main" id="{408D71F7-E573-4778-9DD7-BA1CB542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</a:defRPr>
            </a:pPr>
            <a:r>
              <a:rPr b="1">
                <a:solidFill>
                  <a:srgbClr val="B9152A"/>
                </a:solidFill>
              </a:rPr>
              <a:t>S : f(x) → A</a:t>
            </a:r>
            <a:r>
              <a:rPr>
                <a:solidFill>
                  <a:srgbClr val="5C6A7F"/>
                </a:solidFill>
              </a:rPr>
              <a:t>      reduce expected regret with respect to the oracle</a:t>
            </a:r>
          </a:p>
        </p:txBody>
      </p:sp>
      <p:sp>
        <p:nvSpPr>
          <p:cNvPr id="9" name="obj-0">
            <a:extLst xmlns:a="http://schemas.openxmlformats.org/drawingml/2006/main">
              <a:ext uri="{FF2B5EF4-FFF2-40B4-BE49-F238E27FC236}">
                <a16:creationId xmlns:a16="http://schemas.microsoft.com/office/drawing/2014/main" id="{603AF7FE-10C5-4C5E-BD61-B563A08D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obj-0-title">
            <a:extLst xmlns:a="http://schemas.openxmlformats.org/drawingml/2006/main">
              <a:ext uri="{FF2B5EF4-FFF2-40B4-BE49-F238E27FC236}">
                <a16:creationId xmlns:a16="http://schemas.microsoft.com/office/drawing/2014/main" id="{E75E29CA-4586-4715-AEAA-C3D4CC9F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compact structural array features</a:t>
            </a:r>
          </a:p>
        </p:txBody>
      </p:sp>
      <p:sp>
        <p:nvSpPr>
          <p:cNvPr id="11" name="obj-0-body">
            <a:extLst xmlns:a="http://schemas.openxmlformats.org/drawingml/2006/main">
              <a:ext uri="{FF2B5EF4-FFF2-40B4-BE49-F238E27FC236}">
                <a16:creationId xmlns:a16="http://schemas.microsoft.com/office/drawing/2014/main" id="{1133F3F2-572E-4CB7-89B5-4108A848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informative for algorithm selection and inexpensive to extract</a:t>
            </a:r>
          </a:p>
        </p:txBody>
      </p:sp>
      <p:sp>
        <p:nvSpPr>
          <p:cNvPr id="12" name="obj-num-0">
            <a:extLst xmlns:a="http://schemas.openxmlformats.org/drawingml/2006/main">
              <a:ext uri="{FF2B5EF4-FFF2-40B4-BE49-F238E27FC236}">
                <a16:creationId xmlns:a16="http://schemas.microsoft.com/office/drawing/2014/main" id="{09C697C9-BBE1-4DE9-9831-A0D25286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3" name="obj-1">
            <a:extLst xmlns:a="http://schemas.openxmlformats.org/drawingml/2006/main">
              <a:ext uri="{FF2B5EF4-FFF2-40B4-BE49-F238E27FC236}">
                <a16:creationId xmlns:a16="http://schemas.microsoft.com/office/drawing/2014/main" id="{5C50FA4C-C60E-4EF3-A681-61875864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obj-1-title">
            <a:extLst xmlns:a="http://schemas.openxmlformats.org/drawingml/2006/main">
              <a:ext uri="{FF2B5EF4-FFF2-40B4-BE49-F238E27FC236}">
                <a16:creationId xmlns:a16="http://schemas.microsoft.com/office/drawing/2014/main" id="{99D77316-C36A-46A8-95A4-5A0CFA41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offline XGBoost model</a:t>
            </a:r>
          </a:p>
        </p:txBody>
      </p:sp>
      <p:sp>
        <p:nvSpPr>
          <p:cNvPr id="15" name="obj-1-body">
            <a:extLst xmlns:a="http://schemas.openxmlformats.org/drawingml/2006/main">
              <a:ext uri="{FF2B5EF4-FFF2-40B4-BE49-F238E27FC236}">
                <a16:creationId xmlns:a16="http://schemas.microsoft.com/office/drawing/2014/main" id="{B11478B5-E3D5-441A-9DDA-102EF22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train and evaluate per-instance algorithm selection</a:t>
            </a:r>
          </a:p>
        </p:txBody>
      </p:sp>
      <p:sp>
        <p:nvSpPr>
          <p:cNvPr id="16" name="obj-num-1">
            <a:extLst xmlns:a="http://schemas.openxmlformats.org/drawingml/2006/main">
              <a:ext uri="{FF2B5EF4-FFF2-40B4-BE49-F238E27FC236}">
                <a16:creationId xmlns:a16="http://schemas.microsoft.com/office/drawing/2014/main" id="{EF1F216B-B26E-49A0-8485-8787F945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7" name="obj-2">
            <a:extLst xmlns:a="http://schemas.openxmlformats.org/drawingml/2006/main">
              <a:ext uri="{FF2B5EF4-FFF2-40B4-BE49-F238E27FC236}">
                <a16:creationId xmlns:a16="http://schemas.microsoft.com/office/drawing/2014/main" id="{5B1ADF9F-5A3A-4C95-9273-9C0611A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obj-2-title">
            <a:extLst xmlns:a="http://schemas.openxmlformats.org/drawingml/2006/main">
              <a:ext uri="{FF2B5EF4-FFF2-40B4-BE49-F238E27FC236}">
                <a16:creationId xmlns:a16="http://schemas.microsoft.com/office/drawing/2014/main" id="{263481C7-38BE-4557-A88F-B8A94047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leakage-resistant evaluation</a:t>
            </a:r>
          </a:p>
        </p:txBody>
      </p:sp>
      <p:sp>
        <p:nvSpPr>
          <p:cNvPr id="19" name="obj-2-body">
            <a:extLst xmlns:a="http://schemas.openxmlformats.org/drawingml/2006/main">
              <a:ext uri="{FF2B5EF4-FFF2-40B4-BE49-F238E27FC236}">
                <a16:creationId xmlns:a16="http://schemas.microsoft.com/office/drawing/2014/main" id="{575A4F5C-2399-4CEC-BEA7-34BD8A95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quantify valid, selection-under-ignorance protocol</a:t>
            </a:r>
          </a:p>
        </p:txBody>
      </p:sp>
      <p:sp>
        <p:nvSpPr>
          <p:cNvPr id="20" name="obj-num-2">
            <a:extLst xmlns:a="http://schemas.openxmlformats.org/drawingml/2006/main">
              <a:ext uri="{FF2B5EF4-FFF2-40B4-BE49-F238E27FC236}">
                <a16:creationId xmlns:a16="http://schemas.microsoft.com/office/drawing/2014/main" id="{13A9D8F0-C014-492F-AE8E-4487434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21" name="obj-3">
            <a:extLst xmlns:a="http://schemas.openxmlformats.org/drawingml/2006/main">
              <a:ext uri="{FF2B5EF4-FFF2-40B4-BE49-F238E27FC236}">
                <a16:creationId xmlns:a16="http://schemas.microsoft.com/office/drawing/2014/main" id="{61198BF6-0075-490E-8F8E-5BD5B885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obj-3-title">
            <a:extLst xmlns:a="http://schemas.openxmlformats.org/drawingml/2006/main">
              <a:ext uri="{FF2B5EF4-FFF2-40B4-BE49-F238E27FC236}">
                <a16:creationId xmlns:a16="http://schemas.microsoft.com/office/drawing/2014/main" id="{D82D9B32-6EF1-470D-AE8F-85332A65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reproducible Python library</a:t>
            </a:r>
          </a:p>
        </p:txBody>
      </p:sp>
      <p:sp>
        <p:nvSpPr>
          <p:cNvPr id="23" name="obj-3-body">
            <a:extLst xmlns:a="http://schemas.openxmlformats.org/drawingml/2006/main">
              <a:ext uri="{FF2B5EF4-FFF2-40B4-BE49-F238E27FC236}">
                <a16:creationId xmlns:a16="http://schemas.microsoft.com/office/drawing/2014/main" id="{06B1117E-3732-4CEE-849C-AF437A9E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package the complete method for deployment and further research</a:t>
            </a:r>
          </a:p>
        </p:txBody>
      </p:sp>
      <p:sp>
        <p:nvSpPr>
          <p:cNvPr id="24" name="obj-num-3">
            <a:extLst xmlns:a="http://schemas.openxmlformats.org/drawingml/2006/main">
              <a:ext uri="{FF2B5EF4-FFF2-40B4-BE49-F238E27FC236}">
                <a16:creationId xmlns:a16="http://schemas.microsoft.com/office/drawing/2014/main" id="{D52A00A0-5E0F-4525-A428-13FD8702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09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9AEC7E26-DD91-4F66-AE55-9F90F01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933022D-8644-4DB4-88F0-6E5379C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251E45D-2352-4B91-9B83-2416514A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0F99C1-15D9-477B-99A7-851DB970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Prediction is made before any candidate algorithm is executed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6B45B43-E00D-4571-A711-647E06E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30BAF54-8654-4248-93F5-F8C4522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3/28</a:t>
            </a:r>
          </a:p>
        </p:txBody>
      </p:sp>
      <p:sp>
        <p:nvSpPr>
          <p:cNvPr id="7" name="allowed">
            <a:extLst xmlns:a="http://schemas.openxmlformats.org/drawingml/2006/main">
              <a:ext uri="{FF2B5EF4-FFF2-40B4-BE49-F238E27FC236}">
                <a16:creationId xmlns:a16="http://schemas.microsoft.com/office/drawing/2014/main" id="{C5425E6B-9AD4-4AC7-8627-1BF6503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llowed-title">
            <a:extLst xmlns:a="http://schemas.openxmlformats.org/drawingml/2006/main">
              <a:ext uri="{FF2B5EF4-FFF2-40B4-BE49-F238E27FC236}">
                <a16:creationId xmlns:a16="http://schemas.microsoft.com/office/drawing/2014/main" id="{2081FFE4-40C8-4A4A-887F-AA8F915F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Allowed before sorting</a:t>
            </a:r>
          </a:p>
        </p:txBody>
      </p:sp>
      <p:sp>
        <p:nvSpPr>
          <p:cNvPr id="9" name="allowed-body">
            <a:extLst xmlns:a="http://schemas.openxmlformats.org/drawingml/2006/main">
              <a:ext uri="{FF2B5EF4-FFF2-40B4-BE49-F238E27FC236}">
                <a16:creationId xmlns:a16="http://schemas.microsoft.com/office/drawing/2014/main" id="{985EBD47-00FE-4406-BBA5-13242315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Extract O(n) features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Measure order, runs, repetition, distribution, robust scale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Predict introsort, heapsort, or timsort</a:t>
            </a:r>
          </a:p>
        </p:txBody>
      </p:sp>
      <p:sp>
        <p:nvSpPr>
          <p:cNvPr id="10" name="blocked">
            <a:extLst xmlns:a="http://schemas.openxmlformats.org/drawingml/2006/main">
              <a:ext uri="{FF2B5EF4-FFF2-40B4-BE49-F238E27FC236}">
                <a16:creationId xmlns:a16="http://schemas.microsoft.com/office/drawing/2014/main" id="{505DC87C-1C15-461D-B402-C8093D7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647639A2-3F1F-4793-AEFA-AB0AE186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Not allowed at prediction time</a:t>
            </a:r>
          </a:p>
        </p:txBody>
      </p:sp>
      <p:sp>
        <p:nvSpPr>
          <p:cNvPr id="12" name="blocked-body">
            <a:extLst xmlns:a="http://schemas.openxmlformats.org/drawingml/2006/main">
              <a:ext uri="{FF2B5EF4-FFF2-40B4-BE49-F238E27FC236}">
                <a16:creationId xmlns:a16="http://schemas.microsoft.com/office/drawing/2014/main" id="{5125904F-A3D7-482C-8852-FF5D80BD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introsort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heapsort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timsort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Pick after seeing all times</a:t>
            </a:r>
          </a:p>
        </p:txBody>
      </p:sp>
      <p:sp>
        <p:nvSpPr>
          <p:cNvPr id="13" name="allowed-arrow-from">
            <a:extLst xmlns:a="http://schemas.openxmlformats.org/drawingml/2006/main">
              <a:ext uri="{FF2B5EF4-FFF2-40B4-BE49-F238E27FC236}">
                <a16:creationId xmlns:a16="http://schemas.microsoft.com/office/drawing/2014/main" id="{D328A9FD-5170-42B6-97E9-D2996A5A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lowed-arrow-to">
            <a:extLst xmlns:a="http://schemas.openxmlformats.org/drawingml/2006/main">
              <a:ext uri="{FF2B5EF4-FFF2-40B4-BE49-F238E27FC236}">
                <a16:creationId xmlns:a16="http://schemas.microsoft.com/office/drawing/2014/main" id="{CDD7956F-9CB5-40E3-9CAA-59224F6E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allowed-arrow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543675" y="29432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6" name="oracle">
            <a:extLst xmlns:a="http://schemas.openxmlformats.org/drawingml/2006/main">
              <a:ext uri="{FF2B5EF4-FFF2-40B4-BE49-F238E27FC236}">
                <a16:creationId xmlns:a16="http://schemas.microsoft.com/office/drawing/2014/main" id="{DF67E320-6871-46DF-A300-6FC40CA9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1717"/>
                </a:solidFill>
              </a:defRPr>
            </a:pPr>
            <a:r>
              <a:rPr sz="1425">
                <a:solidFill>
                  <a:srgbClr val="171717"/>
                </a:solidFill>
              </a:rPr>
              <a:t>The oracle is used only for evaluation; it is not available at run time.</a:t>
            </a:r>
          </a:p>
        </p:txBody>
      </p:sp>
    </p:spTree>
    <p:extLst>
      <p:ext uri="{BB962C8B-B14F-4D97-AF65-F5344CB8AC3E}">
        <p14:creationId xmlns:p14="http://schemas.microsoft.com/office/powerpoint/2010/main" val="458225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24CF203B-D430-43A4-A19E-77EB899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5D668D2-9E95-463B-9046-C4CFDC45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0A802E0-FF52-4D17-93F6-20D2DB6B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2AED8C-55FD-4D57-A9D3-09B7714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Algorithm Selection Problem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2CCEB2-C387-41A1-B90B-9C3B42A3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A16C304-1EF5-445D-B700-BCE21DB7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4/28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1DB2C84F-71FB-4CF5-9BB8-BF6381A5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024C650F-6DE5-4E36-8CB8-9DA8E3F7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Problem space P</a:t>
            </a:r>
          </a:p>
        </p:txBody>
      </p:sp>
      <p:sp>
        <p:nvSpPr>
          <p:cNvPr id="9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5EA60E02-A18C-4CC9-828E-AFAD8B99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one numeric array</a:t>
            </a:r>
          </a:p>
        </p:txBody>
      </p:sp>
      <p:sp>
        <p:nvSpPr>
          <p:cNvPr id="10" name="array-ex">
            <a:extLst xmlns:a="http://schemas.openxmlformats.org/drawingml/2006/main">
              <a:ext uri="{FF2B5EF4-FFF2-40B4-BE49-F238E27FC236}">
                <a16:creationId xmlns:a16="http://schemas.microsoft.com/office/drawing/2014/main" id="{D7EF599A-8AB2-433D-8F58-57D6692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[4, 5, 5, 6, 17, 18,</a:t>
            </a:r>
          </a:p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19, 2, 2, 3, 31, 45]</a:t>
            </a:r>
          </a:p>
        </p:txBody>
      </p:sp>
      <p:sp>
        <p:nvSpPr>
          <p:cNvPr id="11" name="mini-bar-135-294-0">
            <a:extLst xmlns:a="http://schemas.openxmlformats.org/drawingml/2006/main">
              <a:ext uri="{FF2B5EF4-FFF2-40B4-BE49-F238E27FC236}">
                <a16:creationId xmlns:a16="http://schemas.microsoft.com/office/drawing/2014/main" id="{A826EF14-5852-42E8-9113-255C281E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63290"/>
            <a:ext cx="152400" cy="156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bar-135-294-1">
            <a:extLst xmlns:a="http://schemas.openxmlformats.org/drawingml/2006/main">
              <a:ext uri="{FF2B5EF4-FFF2-40B4-BE49-F238E27FC236}">
                <a16:creationId xmlns:a16="http://schemas.microsoft.com/office/drawing/2014/main" id="{F2B216B7-90DE-4096-8B94-5172B52D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4593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ni-bar-135-294-2">
            <a:extLst xmlns:a="http://schemas.openxmlformats.org/drawingml/2006/main">
              <a:ext uri="{FF2B5EF4-FFF2-40B4-BE49-F238E27FC236}">
                <a16:creationId xmlns:a16="http://schemas.microsoft.com/office/drawing/2014/main" id="{35A4390D-A43D-440B-8CBA-945BD11F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11220"/>
            <a:ext cx="152400" cy="20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ni-bar-135-294-3">
            <a:extLst xmlns:a="http://schemas.openxmlformats.org/drawingml/2006/main">
              <a:ext uri="{FF2B5EF4-FFF2-40B4-BE49-F238E27FC236}">
                <a16:creationId xmlns:a16="http://schemas.microsoft.com/office/drawing/2014/main" id="{4739563D-2734-4EAA-9E70-0D371BB2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94660"/>
            <a:ext cx="152400" cy="62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ni-bar-135-294-4">
            <a:extLst xmlns:a="http://schemas.openxmlformats.org/drawingml/2006/main">
              <a:ext uri="{FF2B5EF4-FFF2-40B4-BE49-F238E27FC236}">
                <a16:creationId xmlns:a16="http://schemas.microsoft.com/office/drawing/2014/main" id="{E726561E-0840-4C6A-B0C5-C1010FB4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25233"/>
            <a:ext cx="152400" cy="694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ini-bar-135-294-5">
            <a:extLst xmlns:a="http://schemas.openxmlformats.org/drawingml/2006/main">
              <a:ext uri="{FF2B5EF4-FFF2-40B4-BE49-F238E27FC236}">
                <a16:creationId xmlns:a16="http://schemas.microsoft.com/office/drawing/2014/main" id="{305BAEC2-8A79-4AB5-8400-6719DA3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0520"/>
            <a:ext cx="152400" cy="728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135-294-6">
            <a:extLst xmlns:a="http://schemas.openxmlformats.org/drawingml/2006/main">
              <a:ext uri="{FF2B5EF4-FFF2-40B4-BE49-F238E27FC236}">
                <a16:creationId xmlns:a16="http://schemas.microsoft.com/office/drawing/2014/main" id="{5CB4DFB7-C67C-4FEB-AECE-13E92BD3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98003"/>
            <a:ext cx="152400" cy="1214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axis-135-294">
            <a:extLst xmlns:a="http://schemas.openxmlformats.org/drawingml/2006/main">
              <a:ext uri="{FF2B5EF4-FFF2-40B4-BE49-F238E27FC236}">
                <a16:creationId xmlns:a16="http://schemas.microsoft.com/office/drawing/2014/main" id="{1EB5C517-2BB2-475D-A059-74D9DF94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1950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struct">
            <a:extLst xmlns:a="http://schemas.openxmlformats.org/drawingml/2006/main">
              <a:ext uri="{FF2B5EF4-FFF2-40B4-BE49-F238E27FC236}">
                <a16:creationId xmlns:a16="http://schemas.microsoft.com/office/drawing/2014/main" id="{88B10D5F-CECF-4582-BE62-3CF6C0B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instance-dependent structure</a:t>
            </a:r>
          </a:p>
        </p:txBody>
      </p:sp>
      <p:sp>
        <p:nvSpPr>
          <p:cNvPr id="20" name="features">
            <a:extLst xmlns:a="http://schemas.openxmlformats.org/drawingml/2006/main">
              <a:ext uri="{FF2B5EF4-FFF2-40B4-BE49-F238E27FC236}">
                <a16:creationId xmlns:a16="http://schemas.microsoft.com/office/drawing/2014/main" id="{9A387A59-EF95-47EA-B4D8-FCF9EF95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BC3AA143-EE6B-4C10-8583-6A3F86CC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Feature space F</a:t>
            </a:r>
          </a:p>
        </p:txBody>
      </p:sp>
      <p:sp>
        <p:nvSpPr>
          <p:cNvPr id="22" name="features-body">
            <a:extLst xmlns:a="http://schemas.openxmlformats.org/drawingml/2006/main">
              <a:ext uri="{FF2B5EF4-FFF2-40B4-BE49-F238E27FC236}">
                <a16:creationId xmlns:a16="http://schemas.microsoft.com/office/drawing/2014/main" id="{2D26CBF9-7979-4639-9879-0B78B85F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structural array features</a:t>
            </a:r>
          </a:p>
        </p:txBody>
      </p:sp>
      <p:sp>
        <p:nvSpPr>
          <p:cNvPr id="23" name="feat-row-0">
            <a:extLst xmlns:a="http://schemas.openxmlformats.org/drawingml/2006/main">
              <a:ext uri="{FF2B5EF4-FFF2-40B4-BE49-F238E27FC236}">
                <a16:creationId xmlns:a16="http://schemas.microsoft.com/office/drawing/2014/main" id="{864BF354-273E-403C-B593-B5C7EFF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05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feat-text-0">
            <a:extLst xmlns:a="http://schemas.openxmlformats.org/drawingml/2006/main">
              <a:ext uri="{FF2B5EF4-FFF2-40B4-BE49-F238E27FC236}">
                <a16:creationId xmlns:a16="http://schemas.microsoft.com/office/drawing/2014/main" id="{2573BBFC-B8C0-45DC-9C18-CE82DF1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526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25" name="feat-row-1">
            <a:extLst xmlns:a="http://schemas.openxmlformats.org/drawingml/2006/main">
              <a:ext uri="{FF2B5EF4-FFF2-40B4-BE49-F238E27FC236}">
                <a16:creationId xmlns:a16="http://schemas.microsoft.com/office/drawing/2014/main" id="{47ADDD57-AA24-4E74-BEB2-896D65B8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6" name="feat-text-1">
            <a:extLst xmlns:a="http://schemas.openxmlformats.org/drawingml/2006/main">
              <a:ext uri="{FF2B5EF4-FFF2-40B4-BE49-F238E27FC236}">
                <a16:creationId xmlns:a16="http://schemas.microsoft.com/office/drawing/2014/main" id="{4C5F224F-ABB9-4E87-974D-E909CCF2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955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sortedness / disorder</a:t>
            </a:r>
          </a:p>
        </p:txBody>
      </p:sp>
      <p:sp>
        <p:nvSpPr>
          <p:cNvPr id="27" name="feat-row-2">
            <a:extLst xmlns:a="http://schemas.openxmlformats.org/drawingml/2006/main">
              <a:ext uri="{FF2B5EF4-FFF2-40B4-BE49-F238E27FC236}">
                <a16:creationId xmlns:a16="http://schemas.microsoft.com/office/drawing/2014/main" id="{7F37014A-E0CE-4444-981E-73AB149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90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feat-text-2">
            <a:extLst xmlns:a="http://schemas.openxmlformats.org/drawingml/2006/main">
              <a:ext uri="{FF2B5EF4-FFF2-40B4-BE49-F238E27FC236}">
                <a16:creationId xmlns:a16="http://schemas.microsoft.com/office/drawing/2014/main" id="{20940C4F-BC77-47F8-A462-9FE73F08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384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runs</a:t>
            </a:r>
          </a:p>
        </p:txBody>
      </p:sp>
      <p:sp>
        <p:nvSpPr>
          <p:cNvPr id="29" name="feat-row-3">
            <a:extLst xmlns:a="http://schemas.openxmlformats.org/drawingml/2006/main">
              <a:ext uri="{FF2B5EF4-FFF2-40B4-BE49-F238E27FC236}">
                <a16:creationId xmlns:a16="http://schemas.microsoft.com/office/drawing/2014/main" id="{25DE979D-F9F3-4778-8D62-1283FD56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0" name="feat-text-3">
            <a:extLst xmlns:a="http://schemas.openxmlformats.org/drawingml/2006/main">
              <a:ext uri="{FF2B5EF4-FFF2-40B4-BE49-F238E27FC236}">
                <a16:creationId xmlns:a16="http://schemas.microsoft.com/office/drawing/2014/main" id="{F5B07486-5A6E-4676-A5CE-9AD68A1D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813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duplicates / entropy</a:t>
            </a:r>
          </a:p>
        </p:txBody>
      </p:sp>
      <p:sp>
        <p:nvSpPr>
          <p:cNvPr id="31" name="feature-space">
            <a:extLst xmlns:a="http://schemas.openxmlformats.org/drawingml/2006/main">
              <a:ext uri="{FF2B5EF4-FFF2-40B4-BE49-F238E27FC236}">
                <a16:creationId xmlns:a16="http://schemas.microsoft.com/office/drawing/2014/main" id="{9CF760EF-DBBA-47C4-A12A-98DA9CE5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81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4511E"/>
                </a:solidFill>
              </a:defRPr>
            </a:pPr>
            <a:r>
              <a:rPr sz="1050">
                <a:solidFill>
                  <a:srgbClr val="F4511E"/>
                </a:solidFill>
              </a:rPr>
              <a:t>x ∈ R^16</a:t>
            </a:r>
          </a:p>
        </p:txBody>
      </p:sp>
      <p:sp>
        <p:nvSpPr>
          <p:cNvPr id="32" name="selector">
            <a:extLst xmlns:a="http://schemas.openxmlformats.org/drawingml/2006/main">
              <a:ext uri="{FF2B5EF4-FFF2-40B4-BE49-F238E27FC236}">
                <a16:creationId xmlns:a16="http://schemas.microsoft.com/office/drawing/2014/main" id="{44E45F76-3973-457C-AED9-0F55B0B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000250" cy="23050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lector-title">
            <a:extLst xmlns:a="http://schemas.openxmlformats.org/drawingml/2006/main">
              <a:ext uri="{FF2B5EF4-FFF2-40B4-BE49-F238E27FC236}">
                <a16:creationId xmlns:a16="http://schemas.microsoft.com/office/drawing/2014/main" id="{6AF4BC67-36C0-4814-914F-55645C7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34" name="selector-map">
            <a:extLst xmlns:a="http://schemas.openxmlformats.org/drawingml/2006/main">
              <a:ext uri="{FF2B5EF4-FFF2-40B4-BE49-F238E27FC236}">
                <a16:creationId xmlns:a16="http://schemas.microsoft.com/office/drawing/2014/main" id="{680240FC-0034-4FFE-B833-896879B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S : F → A</a:t>
            </a:r>
          </a:p>
        </p:txBody>
      </p:sp>
      <p:sp>
        <p:nvSpPr>
          <p:cNvPr id="35" name="selector-rule">
            <a:extLst xmlns:a="http://schemas.openxmlformats.org/drawingml/2006/main">
              <a:ext uri="{FF2B5EF4-FFF2-40B4-BE49-F238E27FC236}">
                <a16:creationId xmlns:a16="http://schemas.microsoft.com/office/drawing/2014/main" id="{A5DA69C3-700F-4C8C-9EF9-7E368ED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" name="selector-model">
            <a:extLst xmlns:a="http://schemas.openxmlformats.org/drawingml/2006/main">
              <a:ext uri="{FF2B5EF4-FFF2-40B4-BE49-F238E27FC236}">
                <a16:creationId xmlns:a16="http://schemas.microsoft.com/office/drawing/2014/main" id="{1BDA0D73-E55C-44EF-9E6B-258FCA5F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4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XGBoost classifier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predicts fastest class</a:t>
            </a:r>
          </a:p>
        </p:txBody>
      </p:sp>
      <p:sp>
        <p:nvSpPr>
          <p:cNvPr id="37" name="algos">
            <a:extLst xmlns:a="http://schemas.openxmlformats.org/drawingml/2006/main">
              <a:ext uri="{FF2B5EF4-FFF2-40B4-BE49-F238E27FC236}">
                <a16:creationId xmlns:a16="http://schemas.microsoft.com/office/drawing/2014/main" id="{D0AD19D4-ED16-4336-A3A1-9DF25299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algos-title">
            <a:extLst xmlns:a="http://schemas.openxmlformats.org/drawingml/2006/main">
              <a:ext uri="{FF2B5EF4-FFF2-40B4-BE49-F238E27FC236}">
                <a16:creationId xmlns:a16="http://schemas.microsoft.com/office/drawing/2014/main" id="{4F86D7D9-D02A-4C26-A4FD-A909991B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Algorithm space A</a:t>
            </a:r>
          </a:p>
        </p:txBody>
      </p:sp>
      <p:sp>
        <p:nvSpPr>
          <p:cNvPr id="39" name="algos-body">
            <a:extLst xmlns:a="http://schemas.openxmlformats.org/drawingml/2006/main">
              <a:ext uri="{FF2B5EF4-FFF2-40B4-BE49-F238E27FC236}">
                <a16:creationId xmlns:a16="http://schemas.microsoft.com/office/drawing/2014/main" id="{6089B5DA-671C-4A75-A91E-D7E877BF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algorithm portfolio</a:t>
            </a:r>
          </a:p>
        </p:txBody>
      </p:sp>
      <p:sp>
        <p:nvSpPr>
          <p:cNvPr id="40" name="algo-pill-0">
            <a:extLst xmlns:a="http://schemas.openxmlformats.org/drawingml/2006/main">
              <a:ext uri="{FF2B5EF4-FFF2-40B4-BE49-F238E27FC236}">
                <a16:creationId xmlns:a16="http://schemas.microsoft.com/office/drawing/2014/main" id="{889989E1-44D7-4B53-9301-855B957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1" name="algo-t-0">
            <a:extLst xmlns:a="http://schemas.openxmlformats.org/drawingml/2006/main">
              <a:ext uri="{FF2B5EF4-FFF2-40B4-BE49-F238E27FC236}">
                <a16:creationId xmlns:a16="http://schemas.microsoft.com/office/drawing/2014/main" id="{B7E22A81-8FAA-4C3A-9FD1-B87FC5D9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42" name="algo-pill-1">
            <a:extLst xmlns:a="http://schemas.openxmlformats.org/drawingml/2006/main">
              <a:ext uri="{FF2B5EF4-FFF2-40B4-BE49-F238E27FC236}">
                <a16:creationId xmlns:a16="http://schemas.microsoft.com/office/drawing/2014/main" id="{05853F53-DFD9-4273-BE71-F1563419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3" name="algo-t-1">
            <a:extLst xmlns:a="http://schemas.openxmlformats.org/drawingml/2006/main">
              <a:ext uri="{FF2B5EF4-FFF2-40B4-BE49-F238E27FC236}">
                <a16:creationId xmlns:a16="http://schemas.microsoft.com/office/drawing/2014/main" id="{896549D9-5E2E-4308-8767-9D99C5ED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71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44" name="algo-pill-2">
            <a:extLst xmlns:a="http://schemas.openxmlformats.org/drawingml/2006/main">
              <a:ext uri="{FF2B5EF4-FFF2-40B4-BE49-F238E27FC236}">
                <a16:creationId xmlns:a16="http://schemas.microsoft.com/office/drawing/2014/main" id="{7FED40CD-F276-4452-8F4C-C41D4299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480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lgo-t-2">
            <a:extLst xmlns:a="http://schemas.openxmlformats.org/drawingml/2006/main">
              <a:ext uri="{FF2B5EF4-FFF2-40B4-BE49-F238E27FC236}">
                <a16:creationId xmlns:a16="http://schemas.microsoft.com/office/drawing/2014/main" id="{F5A2FFA0-3079-4A76-9470-7E4C2521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Timsort</a:t>
            </a:r>
          </a:p>
        </p:txBody>
      </p:sp>
      <p:sp>
        <p:nvSpPr>
          <p:cNvPr id="46" name="p-f-from">
            <a:extLst xmlns:a="http://schemas.openxmlformats.org/drawingml/2006/main">
              <a:ext uri="{FF2B5EF4-FFF2-40B4-BE49-F238E27FC236}">
                <a16:creationId xmlns:a16="http://schemas.microsoft.com/office/drawing/2014/main" id="{6D0F7D48-15C2-4EFD-BEB4-EB19AD3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-f-to">
            <a:extLst xmlns:a="http://schemas.openxmlformats.org/drawingml/2006/main">
              <a:ext uri="{FF2B5EF4-FFF2-40B4-BE49-F238E27FC236}">
                <a16:creationId xmlns:a16="http://schemas.microsoft.com/office/drawing/2014/main" id="{CB63F200-BD51-474A-AF39-0A545BD1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8" name="p-f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3352800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49" name="f-s-from">
            <a:extLst xmlns:a="http://schemas.openxmlformats.org/drawingml/2006/main">
              <a:ext uri="{FF2B5EF4-FFF2-40B4-BE49-F238E27FC236}">
                <a16:creationId xmlns:a16="http://schemas.microsoft.com/office/drawing/2014/main" id="{98EE875F-07EA-4EFC-8078-DC43007F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-s-to">
            <a:extLst xmlns:a="http://schemas.openxmlformats.org/drawingml/2006/main">
              <a:ext uri="{FF2B5EF4-FFF2-40B4-BE49-F238E27FC236}">
                <a16:creationId xmlns:a16="http://schemas.microsoft.com/office/drawing/2014/main" id="{97239636-335A-40F7-859B-A92E9D2B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1" name="f-s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6353175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2" name="s-a-from">
            <a:extLst xmlns:a="http://schemas.openxmlformats.org/drawingml/2006/main">
              <a:ext uri="{FF2B5EF4-FFF2-40B4-BE49-F238E27FC236}">
                <a16:creationId xmlns:a16="http://schemas.microsoft.com/office/drawing/2014/main" id="{1C58F5CB-3218-4A24-AF39-058ADA98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-a-to">
            <a:extLst xmlns:a="http://schemas.openxmlformats.org/drawingml/2006/main">
              <a:ext uri="{FF2B5EF4-FFF2-40B4-BE49-F238E27FC236}">
                <a16:creationId xmlns:a16="http://schemas.microsoft.com/office/drawing/2014/main" id="{0C486A7E-F1F0-4E16-A4DC-4E7F8BB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4" name="s-a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9067800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5" name="perf">
            <a:extLst xmlns:a="http://schemas.openxmlformats.org/drawingml/2006/main">
              <a:ext uri="{FF2B5EF4-FFF2-40B4-BE49-F238E27FC236}">
                <a16:creationId xmlns:a16="http://schemas.microsoft.com/office/drawing/2014/main" id="{DFA8C3AA-9D63-46E7-92F9-1138FB4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6" name="perf-title">
            <a:extLst xmlns:a="http://schemas.openxmlformats.org/drawingml/2006/main">
              <a:ext uri="{FF2B5EF4-FFF2-40B4-BE49-F238E27FC236}">
                <a16:creationId xmlns:a16="http://schemas.microsoft.com/office/drawing/2014/main" id="{1A3395DD-C691-468B-83CA-2E12CBE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76850"/>
            <a:ext cx="1022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Performance space Y</a:t>
            </a:r>
          </a:p>
        </p:txBody>
      </p:sp>
      <p:sp>
        <p:nvSpPr>
          <p:cNvPr id="57" name="perf-body">
            <a:extLst xmlns:a="http://schemas.openxmlformats.org/drawingml/2006/main">
              <a:ext uri="{FF2B5EF4-FFF2-40B4-BE49-F238E27FC236}">
                <a16:creationId xmlns:a16="http://schemas.microsoft.com/office/drawing/2014/main" id="{13E25703-70E8-4D7B-B491-F32E33A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022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label(x) = argmin_a T(a, x)     example: Timsort 13.2 µs, Introsort 18.7 µs, Heapsort 24.5 µs</a:t>
            </a:r>
          </a:p>
        </p:txBody>
      </p:sp>
      <p:sp>
        <p:nvSpPr>
          <p:cNvPr id="58" name="a-y-from">
            <a:extLst xmlns:a="http://schemas.openxmlformats.org/drawingml/2006/main">
              <a:ext uri="{FF2B5EF4-FFF2-40B4-BE49-F238E27FC236}">
                <a16:creationId xmlns:a16="http://schemas.microsoft.com/office/drawing/2014/main" id="{43719F02-05F2-49D4-8632-AC1145E7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a-y-to">
            <a:extLst xmlns:a="http://schemas.openxmlformats.org/drawingml/2006/main">
              <a:ext uri="{FF2B5EF4-FFF2-40B4-BE49-F238E27FC236}">
                <a16:creationId xmlns:a16="http://schemas.microsoft.com/office/drawing/2014/main" id="{9F2E34E9-942C-467A-8760-1AC3E10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476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0" name="a-y"/>
          <p:cNvCxnSpPr>
            <a:stCxn xmlns:a="http://schemas.openxmlformats.org/drawingml/2006/main" id="58" idx="0"/>
            <a:endCxn xmlns:a="http://schemas.openxmlformats.org/drawingml/2006/main" id="59" idx="1"/>
          </p:cNvCxnSpPr>
          <p:nvPr/>
        </p:nvCxnSpPr>
        <p:spPr>
          <a:xfrm xmlns:a="http://schemas.openxmlformats.org/drawingml/2006/main" rot="5400000">
            <a:off x="10510838" y="4462463"/>
            <a:ext cx="657225" cy="704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988660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AFDA793-5EA8-4379-9CC3-234D7C5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AFFEB259-90CB-4252-9B09-584480B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CF35756-EABA-428C-8537-2F01BF23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56A37B-F27A-4D71-A97A-9810B242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System Architecture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2819BC-A01F-45BA-A5CC-9C0E996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2C25FB7-3EBE-401B-8DE1-F3C34C0F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5/28</a:t>
            </a:r>
          </a:p>
        </p:txBody>
      </p:sp>
      <p:sp>
        <p:nvSpPr>
          <p:cNvPr id="7" name="main">
            <a:extLst xmlns:a="http://schemas.openxmlformats.org/drawingml/2006/main">
              <a:ext uri="{FF2B5EF4-FFF2-40B4-BE49-F238E27FC236}">
                <a16:creationId xmlns:a16="http://schemas.microsoft.com/office/drawing/2014/main" id="{BDCB9B7E-6642-4EC4-9418-A439ACE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6202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9A513114-CF92-4E23-937A-5E895C41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1143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arch-node-0-title">
            <a:extLst xmlns:a="http://schemas.openxmlformats.org/drawingml/2006/main">
              <a:ext uri="{FF2B5EF4-FFF2-40B4-BE49-F238E27FC236}">
                <a16:creationId xmlns:a16="http://schemas.microsoft.com/office/drawing/2014/main" id="{C6F63C8E-1823-453F-820A-12C4BCF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95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input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array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37284696-8B1C-4478-B193-5FC9C150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arch-node-1-title">
            <a:extLst xmlns:a="http://schemas.openxmlformats.org/drawingml/2006/main">
              <a:ext uri="{FF2B5EF4-FFF2-40B4-BE49-F238E27FC236}">
                <a16:creationId xmlns:a16="http://schemas.microsoft.com/office/drawing/2014/main" id="{2A6574AE-B944-4E41-B5BF-9F177AE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O(n)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features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ABB737F-F7BE-4B6B-9A98-4CC62C5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619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arch-node-2-title">
            <a:extLst xmlns:a="http://schemas.openxmlformats.org/drawingml/2006/main">
              <a:ext uri="{FF2B5EF4-FFF2-40B4-BE49-F238E27FC236}">
                <a16:creationId xmlns:a16="http://schemas.microsoft.com/office/drawing/2014/main" id="{077BF35E-F10E-475D-8046-ABF85B20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XGBoost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selector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D2116B86-5764-4225-A8BD-61768C8D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1524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arch-node-3-title">
            <a:extLst xmlns:a="http://schemas.openxmlformats.org/drawingml/2006/main">
              <a:ext uri="{FF2B5EF4-FFF2-40B4-BE49-F238E27FC236}">
                <a16:creationId xmlns:a16="http://schemas.microsoft.com/office/drawing/2014/main" id="{9A61D3B3-C215-4160-A8F6-D387DC6E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chosen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algorithm</a:t>
            </a:r>
          </a:p>
        </p:txBody>
      </p:sp>
      <p:sp>
        <p:nvSpPr>
          <p:cNvPr id="16" name="arch-1-from">
            <a:extLst xmlns:a="http://schemas.openxmlformats.org/drawingml/2006/main">
              <a:ext uri="{FF2B5EF4-FFF2-40B4-BE49-F238E27FC236}">
                <a16:creationId xmlns:a16="http://schemas.microsoft.com/office/drawing/2014/main" id="{B10D22C8-8175-49A2-8D74-95065AD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to">
            <a:extLst xmlns:a="http://schemas.openxmlformats.org/drawingml/2006/main">
              <a:ext uri="{FF2B5EF4-FFF2-40B4-BE49-F238E27FC236}">
                <a16:creationId xmlns:a16="http://schemas.microsoft.com/office/drawing/2014/main" id="{09EF5727-4A17-4F68-B7FA-7598F094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1" name="arch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0194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arch-2-from">
            <a:extLst xmlns:a="http://schemas.openxmlformats.org/drawingml/2006/main">
              <a:ext uri="{FF2B5EF4-FFF2-40B4-BE49-F238E27FC236}">
                <a16:creationId xmlns:a16="http://schemas.microsoft.com/office/drawing/2014/main" id="{C992269E-A972-423E-B095-0B88B2A5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2-to">
            <a:extLst xmlns:a="http://schemas.openxmlformats.org/drawingml/2006/main">
              <a:ext uri="{FF2B5EF4-FFF2-40B4-BE49-F238E27FC236}">
                <a16:creationId xmlns:a16="http://schemas.microsoft.com/office/drawing/2014/main" id="{0B34330A-993F-4008-ACFA-78D67F40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arch-2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51149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2" name="arch-3-from">
            <a:extLst xmlns:a="http://schemas.openxmlformats.org/drawingml/2006/main">
              <a:ext uri="{FF2B5EF4-FFF2-40B4-BE49-F238E27FC236}">
                <a16:creationId xmlns:a16="http://schemas.microsoft.com/office/drawing/2014/main" id="{27849B66-4DA1-4657-9327-0CFFCBD2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3-to">
            <a:extLst xmlns:a="http://schemas.openxmlformats.org/drawingml/2006/main">
              <a:ext uri="{FF2B5EF4-FFF2-40B4-BE49-F238E27FC236}">
                <a16:creationId xmlns:a16="http://schemas.microsoft.com/office/drawing/2014/main" id="{5F271AD1-170D-47A3-89B3-ABF9A756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arch-3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37235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main-track">
            <a:extLst xmlns:a="http://schemas.openxmlformats.org/drawingml/2006/main">
              <a:ext uri="{FF2B5EF4-FFF2-40B4-BE49-F238E27FC236}">
                <a16:creationId xmlns:a16="http://schemas.microsoft.com/office/drawing/2014/main" id="{60E0A716-2B4B-4ABA-BD81-7C31FC1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81150"/>
            <a:ext cx="2762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main-track-title">
            <a:extLst xmlns:a="http://schemas.openxmlformats.org/drawingml/2006/main">
              <a:ext uri="{FF2B5EF4-FFF2-40B4-BE49-F238E27FC236}">
                <a16:creationId xmlns:a16="http://schemas.microsoft.com/office/drawing/2014/main" id="{4C67AF14-A64E-45E0-974A-7A7598B3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33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27" name="main-track-body">
            <a:extLst xmlns:a="http://schemas.openxmlformats.org/drawingml/2006/main">
              <a:ext uri="{FF2B5EF4-FFF2-40B4-BE49-F238E27FC236}">
                <a16:creationId xmlns:a16="http://schemas.microsoft.com/office/drawing/2014/main" id="{36B584F5-8A71-48BA-8D35-A8FAB202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28" name="predict">
            <a:extLst xmlns:a="http://schemas.openxmlformats.org/drawingml/2006/main">
              <a:ext uri="{FF2B5EF4-FFF2-40B4-BE49-F238E27FC236}">
                <a16:creationId xmlns:a16="http://schemas.microsoft.com/office/drawing/2014/main" id="{30281610-870F-4096-BB00-848CD10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81300"/>
            <a:ext cx="27622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predict-title">
            <a:extLst xmlns:a="http://schemas.openxmlformats.org/drawingml/2006/main">
              <a:ext uri="{FF2B5EF4-FFF2-40B4-BE49-F238E27FC236}">
                <a16:creationId xmlns:a16="http://schemas.microsoft.com/office/drawing/2014/main" id="{AAE13FAD-26A6-4209-A88B-72BF9D0B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337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Prediction path</a:t>
            </a:r>
          </a:p>
        </p:txBody>
      </p:sp>
      <p:sp>
        <p:nvSpPr>
          <p:cNvPr id="30" name="predict-body">
            <a:extLst xmlns:a="http://schemas.openxmlformats.org/drawingml/2006/main">
              <a:ext uri="{FF2B5EF4-FFF2-40B4-BE49-F238E27FC236}">
                <a16:creationId xmlns:a16="http://schemas.microsoft.com/office/drawing/2014/main" id="{B9445531-76C9-4ED0-B4CF-BAE42020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features → XGBoost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31" name="separate">
            <a:extLst xmlns:a="http://schemas.openxmlformats.org/drawingml/2006/main">
              <a:ext uri="{FF2B5EF4-FFF2-40B4-BE49-F238E27FC236}">
                <a16:creationId xmlns:a16="http://schemas.microsoft.com/office/drawing/2014/main" id="{64C194D3-7893-4D43-9173-DA9CE68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2762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eparate-title">
            <a:extLst xmlns:a="http://schemas.openxmlformats.org/drawingml/2006/main">
              <a:ext uri="{FF2B5EF4-FFF2-40B4-BE49-F238E27FC236}">
                <a16:creationId xmlns:a16="http://schemas.microsoft.com/office/drawing/2014/main" id="{F6826B12-9044-48B3-A8F3-05BADDB4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3243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Separate track</a:t>
            </a:r>
          </a:p>
        </p:txBody>
      </p:sp>
      <p:sp>
        <p:nvSpPr>
          <p:cNvPr id="33" name="separate-body">
            <a:extLst xmlns:a="http://schemas.openxmlformats.org/drawingml/2006/main">
              <a:ext uri="{FF2B5EF4-FFF2-40B4-BE49-F238E27FC236}">
                <a16:creationId xmlns:a16="http://schemas.microsoft.com/office/drawing/2014/main" id="{B5F3DBCD-237B-42FB-8A43-DB9AC82B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F1-specific routing stays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separate from the main result</a:t>
            </a:r>
          </a:p>
        </p:txBody>
      </p:sp>
    </p:spTree>
    <p:extLst>
      <p:ext uri="{BB962C8B-B14F-4D97-AF65-F5344CB8AC3E}">
        <p14:creationId xmlns:p14="http://schemas.microsoft.com/office/powerpoint/2010/main" val="1623757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FBDFF73-6D46-4904-84EC-FD5BDF52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BC31B3D-A83F-4E9B-8240-B086383A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75A78AC-8C41-4C54-8659-7FE1D734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575CEE-6E70-45ED-B75F-C45AB786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corpus uses five structurally diverse real-world domains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737364-1841-4941-ACF9-9F666478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17AF759-55C6-4408-A7F2-6B48558C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6/28</a:t>
            </a:r>
          </a:p>
        </p:txBody>
      </p:sp>
      <p:sp>
        <p:nvSpPr>
          <p:cNvPr id="7" name="metric-1.18M-90">
            <a:extLst xmlns:a="http://schemas.openxmlformats.org/drawingml/2006/main">
              <a:ext uri="{FF2B5EF4-FFF2-40B4-BE49-F238E27FC236}">
                <a16:creationId xmlns:a16="http://schemas.microsoft.com/office/drawing/2014/main" id="{2489C555-1200-4795-970B-916CF286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4765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1.18M</a:t>
            </a:r>
          </a:p>
        </p:txBody>
      </p:sp>
      <p:sp>
        <p:nvSpPr>
          <p:cNvPr id="8" name="metric-label-1.18M-90">
            <a:extLst xmlns:a="http://schemas.openxmlformats.org/drawingml/2006/main">
              <a:ext uri="{FF2B5EF4-FFF2-40B4-BE49-F238E27FC236}">
                <a16:creationId xmlns:a16="http://schemas.microsoft.com/office/drawing/2014/main" id="{C9C1E3F3-F9A2-4EE2-97DA-349CCB53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9810"/>
            <a:ext cx="2476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labeled array instances</a:t>
            </a:r>
          </a:p>
        </p:txBody>
      </p:sp>
      <p:sp>
        <p:nvSpPr>
          <p:cNvPr id="9" name="domain-0">
            <a:extLst xmlns:a="http://schemas.openxmlformats.org/drawingml/2006/main">
              <a:ext uri="{FF2B5EF4-FFF2-40B4-BE49-F238E27FC236}">
                <a16:creationId xmlns:a16="http://schemas.microsoft.com/office/drawing/2014/main" id="{4332E3EF-19D4-464D-8938-090FC078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domain-0-title">
            <a:extLst xmlns:a="http://schemas.openxmlformats.org/drawingml/2006/main">
              <a:ext uri="{FF2B5EF4-FFF2-40B4-BE49-F238E27FC236}">
                <a16:creationId xmlns:a16="http://schemas.microsoft.com/office/drawing/2014/main" id="{49827FE4-0629-4F4D-BEA7-58C44953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Formula 1 telemetry</a:t>
            </a:r>
          </a:p>
        </p:txBody>
      </p:sp>
      <p:sp>
        <p:nvSpPr>
          <p:cNvPr id="11" name="domain-1">
            <a:extLst xmlns:a="http://schemas.openxmlformats.org/drawingml/2006/main">
              <a:ext uri="{FF2B5EF4-FFF2-40B4-BE49-F238E27FC236}">
                <a16:creationId xmlns:a16="http://schemas.microsoft.com/office/drawing/2014/main" id="{FE6CBA6B-2B84-433B-96FA-ECBBB1BE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domain-1-title">
            <a:extLst xmlns:a="http://schemas.openxmlformats.org/drawingml/2006/main">
              <a:ext uri="{FF2B5EF4-FFF2-40B4-BE49-F238E27FC236}">
                <a16:creationId xmlns:a16="http://schemas.microsoft.com/office/drawing/2014/main" id="{99CC7496-942F-4B68-97D1-3066C446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Equity prices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7BA4597E-2C51-4FCE-B9E0-339915B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domain-2-title">
            <a:extLst xmlns:a="http://schemas.openxmlformats.org/drawingml/2006/main">
              <a:ext uri="{FF2B5EF4-FFF2-40B4-BE49-F238E27FC236}">
                <a16:creationId xmlns:a16="http://schemas.microsoft.com/office/drawing/2014/main" id="{A67968E3-A3B4-41E4-B920-4DE56031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Cryptocurrency OHLCV</a:t>
            </a:r>
          </a:p>
        </p:txBody>
      </p:sp>
      <p:sp>
        <p:nvSpPr>
          <p:cNvPr id="15" name="domain-3">
            <a:extLst xmlns:a="http://schemas.openxmlformats.org/drawingml/2006/main">
              <a:ext uri="{FF2B5EF4-FFF2-40B4-BE49-F238E27FC236}">
                <a16:creationId xmlns:a16="http://schemas.microsoft.com/office/drawing/2014/main" id="{60F77838-2D8B-477B-9ACF-22E41F6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domain-3-title">
            <a:extLst xmlns:a="http://schemas.openxmlformats.org/drawingml/2006/main">
              <a:ext uri="{FF2B5EF4-FFF2-40B4-BE49-F238E27FC236}">
                <a16:creationId xmlns:a16="http://schemas.microsoft.com/office/drawing/2014/main" id="{014A67BB-CED7-4930-9400-E1C8797F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Weather</a:t>
            </a:r>
          </a:p>
        </p:txBody>
      </p:sp>
      <p:sp>
        <p:nvSpPr>
          <p:cNvPr id="17" name="domain-4">
            <a:extLst xmlns:a="http://schemas.openxmlformats.org/drawingml/2006/main">
              <a:ext uri="{FF2B5EF4-FFF2-40B4-BE49-F238E27FC236}">
                <a16:creationId xmlns:a16="http://schemas.microsoft.com/office/drawing/2014/main" id="{1B67FF7D-5687-4F90-BA83-BA71C1BC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5775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domain-4-title">
            <a:extLst xmlns:a="http://schemas.openxmlformats.org/drawingml/2006/main">
              <a:ext uri="{FF2B5EF4-FFF2-40B4-BE49-F238E27FC236}">
                <a16:creationId xmlns:a16="http://schemas.microsoft.com/office/drawing/2014/main" id="{0D6F6830-6327-4BEA-91BB-815A0F0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101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Seismic measurements</a:t>
            </a:r>
          </a:p>
        </p:txBody>
      </p:sp>
      <p:sp>
        <p:nvSpPr>
          <p:cNvPr id="19" name="domain-note">
            <a:extLst xmlns:a="http://schemas.openxmlformats.org/drawingml/2006/main">
              <a:ext uri="{FF2B5EF4-FFF2-40B4-BE49-F238E27FC236}">
                <a16:creationId xmlns:a16="http://schemas.microsoft.com/office/drawing/2014/main" id="{499424DE-2425-4744-8025-FBC55E23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3412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Real data was preferred because synthetic distributions failed to converge to genuine structure.</a:t>
            </a:r>
          </a:p>
        </p:txBody>
      </p:sp>
    </p:spTree>
    <p:extLst>
      <p:ext uri="{BB962C8B-B14F-4D97-AF65-F5344CB8AC3E}">
        <p14:creationId xmlns:p14="http://schemas.microsoft.com/office/powerpoint/2010/main" val="2037317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4522CE5-8DCB-4A55-80A2-FA265B94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7ABC99B-993C-47CE-882D-6970F497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CBA6D3FE-D8B0-4FBA-BF14-A351418A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6414FF-B9DA-4013-8909-BEE29BF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7865A8-FCF7-4B9D-B57D-7E416C4D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F1D2B4E-A83F-4274-A421-F53B8617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7/28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5FE5EBAD-64AA-4EBB-8660-1018F717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11430000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holdout-axis">
            <a:extLst xmlns:a="http://schemas.openxmlformats.org/drawingml/2006/main">
              <a:ext uri="{FF2B5EF4-FFF2-40B4-BE49-F238E27FC236}">
                <a16:creationId xmlns:a16="http://schemas.microsoft.com/office/drawing/2014/main" id="{9587F943-B8F0-4A29-931A-BBBCB85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1490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holdout-yaxis">
            <a:extLst xmlns:a="http://schemas.openxmlformats.org/drawingml/2006/main">
              <a:ext uri="{FF2B5EF4-FFF2-40B4-BE49-F238E27FC236}">
                <a16:creationId xmlns:a16="http://schemas.microsoft.com/office/drawing/2014/main" id="{79C0FC62-09A4-47B5-A700-8EE89B8A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holdout-bar-0-0">
            <a:extLst xmlns:a="http://schemas.openxmlformats.org/drawingml/2006/main">
              <a:ext uri="{FF2B5EF4-FFF2-40B4-BE49-F238E27FC236}">
                <a16:creationId xmlns:a16="http://schemas.microsoft.com/office/drawing/2014/main" id="{C0595D7A-061A-4172-AB19-20B75B78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1306"/>
            <a:ext cx="419100" cy="2083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oldout-val-0-0">
            <a:extLst xmlns:a="http://schemas.openxmlformats.org/drawingml/2006/main">
              <a:ext uri="{FF2B5EF4-FFF2-40B4-BE49-F238E27FC236}">
                <a16:creationId xmlns:a16="http://schemas.microsoft.com/office/drawing/2014/main" id="{0DE42A71-E93E-46D8-AB86-9D33E67A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836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87.5%</a:t>
            </a:r>
          </a:p>
        </p:txBody>
      </p:sp>
      <p:sp>
        <p:nvSpPr>
          <p:cNvPr id="12" name="holdout-bar-0-1">
            <a:extLst xmlns:a="http://schemas.openxmlformats.org/drawingml/2006/main">
              <a:ext uri="{FF2B5EF4-FFF2-40B4-BE49-F238E27FC236}">
                <a16:creationId xmlns:a16="http://schemas.microsoft.com/office/drawing/2014/main" id="{FA34906C-4ECE-4BB7-8E99-B5908C1D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9394"/>
            <a:ext cx="419100" cy="214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ldout-val-0-1">
            <a:extLst xmlns:a="http://schemas.openxmlformats.org/drawingml/2006/main">
              <a:ext uri="{FF2B5EF4-FFF2-40B4-BE49-F238E27FC236}">
                <a16:creationId xmlns:a16="http://schemas.microsoft.com/office/drawing/2014/main" id="{66E5E07A-6318-491C-B5D7-71160230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217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90.1%</a:t>
            </a:r>
          </a:p>
        </p:txBody>
      </p:sp>
      <p:sp>
        <p:nvSpPr>
          <p:cNvPr id="14" name="holdout-cat-0">
            <a:extLst xmlns:a="http://schemas.openxmlformats.org/drawingml/2006/main">
              <a:ext uri="{FF2B5EF4-FFF2-40B4-BE49-F238E27FC236}">
                <a16:creationId xmlns:a16="http://schemas.microsoft.com/office/drawing/2014/main" id="{E726F07A-EFCA-4A13-9D14-A9D4F09B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Crypto</a:t>
            </a:r>
          </a:p>
        </p:txBody>
      </p:sp>
      <p:sp>
        <p:nvSpPr>
          <p:cNvPr id="15" name="holdout-bar-1-0">
            <a:extLst xmlns:a="http://schemas.openxmlformats.org/drawingml/2006/main">
              <a:ext uri="{FF2B5EF4-FFF2-40B4-BE49-F238E27FC236}">
                <a16:creationId xmlns:a16="http://schemas.microsoft.com/office/drawing/2014/main" id="{747B8E15-A45E-4381-9D97-2D58B76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59894"/>
            <a:ext cx="419100" cy="1955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ldout-val-1-0">
            <a:extLst xmlns:a="http://schemas.openxmlformats.org/drawingml/2006/main">
              <a:ext uri="{FF2B5EF4-FFF2-40B4-BE49-F238E27FC236}">
                <a16:creationId xmlns:a16="http://schemas.microsoft.com/office/drawing/2014/main" id="{809A9E12-E664-4F40-B567-F93332E4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27122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82.1%</a:t>
            </a:r>
          </a:p>
        </p:txBody>
      </p:sp>
      <p:sp>
        <p:nvSpPr>
          <p:cNvPr id="17" name="holdout-bar-1-1">
            <a:extLst xmlns:a="http://schemas.openxmlformats.org/drawingml/2006/main">
              <a:ext uri="{FF2B5EF4-FFF2-40B4-BE49-F238E27FC236}">
                <a16:creationId xmlns:a16="http://schemas.microsoft.com/office/drawing/2014/main" id="{F544EECE-DF82-427A-8920-099D8EE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445" y="2652713"/>
            <a:ext cx="419100" cy="2262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oldout-val-1-1">
            <a:extLst xmlns:a="http://schemas.openxmlformats.org/drawingml/2006/main">
              <a:ext uri="{FF2B5EF4-FFF2-40B4-BE49-F238E27FC236}">
                <a16:creationId xmlns:a16="http://schemas.microsoft.com/office/drawing/2014/main" id="{B2034A44-BD39-4FA0-8CDD-F3501311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240506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95.0%</a:t>
            </a:r>
          </a:p>
        </p:txBody>
      </p:sp>
      <p:sp>
        <p:nvSpPr>
          <p:cNvPr id="19" name="holdout-cat-1">
            <a:extLst xmlns:a="http://schemas.openxmlformats.org/drawingml/2006/main">
              <a:ext uri="{FF2B5EF4-FFF2-40B4-BE49-F238E27FC236}">
                <a16:creationId xmlns:a16="http://schemas.microsoft.com/office/drawing/2014/main" id="{7624477D-1EE8-4B08-9C5D-B7DAA67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Earthquake</a:t>
            </a:r>
          </a:p>
        </p:txBody>
      </p:sp>
      <p:sp>
        <p:nvSpPr>
          <p:cNvPr id="20" name="holdout-bar-2-0">
            <a:extLst xmlns:a="http://schemas.openxmlformats.org/drawingml/2006/main">
              <a:ext uri="{FF2B5EF4-FFF2-40B4-BE49-F238E27FC236}">
                <a16:creationId xmlns:a16="http://schemas.microsoft.com/office/drawing/2014/main" id="{7EF278B1-38F6-446F-88FD-4F18391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2800350"/>
            <a:ext cx="419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oldout-val-2-0">
            <a:extLst xmlns:a="http://schemas.openxmlformats.org/drawingml/2006/main">
              <a:ext uri="{FF2B5EF4-FFF2-40B4-BE49-F238E27FC236}">
                <a16:creationId xmlns:a16="http://schemas.microsoft.com/office/drawing/2014/main" id="{8AF6D9DB-F05F-43F9-9777-D3746436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40" y="2552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88.8%</a:t>
            </a:r>
          </a:p>
        </p:txBody>
      </p:sp>
      <p:sp>
        <p:nvSpPr>
          <p:cNvPr id="22" name="holdout-bar-2-1">
            <a:extLst xmlns:a="http://schemas.openxmlformats.org/drawingml/2006/main">
              <a:ext uri="{FF2B5EF4-FFF2-40B4-BE49-F238E27FC236}">
                <a16:creationId xmlns:a16="http://schemas.microsoft.com/office/drawing/2014/main" id="{CD02E197-30A4-4E3A-B907-646873B2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515" y="3117056"/>
            <a:ext cx="419100" cy="17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oldout-val-2-1">
            <a:extLst xmlns:a="http://schemas.openxmlformats.org/drawingml/2006/main">
              <a:ext uri="{FF2B5EF4-FFF2-40B4-BE49-F238E27FC236}">
                <a16:creationId xmlns:a16="http://schemas.microsoft.com/office/drawing/2014/main" id="{52D33D15-43E2-4837-BDB3-AA1E26D5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965" y="286940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75.5%</a:t>
            </a:r>
          </a:p>
        </p:txBody>
      </p:sp>
      <p:sp>
        <p:nvSpPr>
          <p:cNvPr id="24" name="holdout-cat-2">
            <a:extLst xmlns:a="http://schemas.openxmlformats.org/drawingml/2006/main">
              <a:ext uri="{FF2B5EF4-FFF2-40B4-BE49-F238E27FC236}">
                <a16:creationId xmlns:a16="http://schemas.microsoft.com/office/drawing/2014/main" id="{23AA7429-7A60-40A0-80BE-DE0A35E8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F1</a:t>
            </a:r>
          </a:p>
        </p:txBody>
      </p:sp>
      <p:sp>
        <p:nvSpPr>
          <p:cNvPr id="25" name="holdout-bar-3-0">
            <a:extLst xmlns:a="http://schemas.openxmlformats.org/drawingml/2006/main">
              <a:ext uri="{FF2B5EF4-FFF2-40B4-BE49-F238E27FC236}">
                <a16:creationId xmlns:a16="http://schemas.microsoft.com/office/drawing/2014/main" id="{80E8773C-14E2-4AF4-A9F5-2E8FF3B9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2819400"/>
            <a:ext cx="419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oldout-val-3-0">
            <a:extLst xmlns:a="http://schemas.openxmlformats.org/drawingml/2006/main">
              <a:ext uri="{FF2B5EF4-FFF2-40B4-BE49-F238E27FC236}">
                <a16:creationId xmlns:a16="http://schemas.microsoft.com/office/drawing/2014/main" id="{BDD5BD81-215C-4351-BFF9-F80EC8DC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310" y="25717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88.0%</a:t>
            </a:r>
          </a:p>
        </p:txBody>
      </p:sp>
      <p:sp>
        <p:nvSpPr>
          <p:cNvPr id="27" name="holdout-bar-3-1">
            <a:extLst xmlns:a="http://schemas.openxmlformats.org/drawingml/2006/main">
              <a:ext uri="{FF2B5EF4-FFF2-40B4-BE49-F238E27FC236}">
                <a16:creationId xmlns:a16="http://schemas.microsoft.com/office/drawing/2014/main" id="{A8AD68DF-C845-46C9-BB70-A7B1029C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755106"/>
            <a:ext cx="419100" cy="2159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oldout-val-3-1">
            <a:extLst xmlns:a="http://schemas.openxmlformats.org/drawingml/2006/main">
              <a:ext uri="{FF2B5EF4-FFF2-40B4-BE49-F238E27FC236}">
                <a16:creationId xmlns:a16="http://schemas.microsoft.com/office/drawing/2014/main" id="{1B2C0D9C-D4C8-48AF-AB3D-F57AAF55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035" y="25074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90.7%</a:t>
            </a:r>
          </a:p>
        </p:txBody>
      </p:sp>
      <p:sp>
        <p:nvSpPr>
          <p:cNvPr id="29" name="holdout-cat-3">
            <a:extLst xmlns:a="http://schemas.openxmlformats.org/drawingml/2006/main">
              <a:ext uri="{FF2B5EF4-FFF2-40B4-BE49-F238E27FC236}">
                <a16:creationId xmlns:a16="http://schemas.microsoft.com/office/drawing/2014/main" id="{C461A9F1-4060-4C28-AF7C-3F0C75C5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Stock</a:t>
            </a:r>
          </a:p>
        </p:txBody>
      </p:sp>
      <p:sp>
        <p:nvSpPr>
          <p:cNvPr id="30" name="holdout-bar-4-0">
            <a:extLst xmlns:a="http://schemas.openxmlformats.org/drawingml/2006/main">
              <a:ext uri="{FF2B5EF4-FFF2-40B4-BE49-F238E27FC236}">
                <a16:creationId xmlns:a16="http://schemas.microsoft.com/office/drawing/2014/main" id="{553F5708-81BA-40D5-9553-1DD2D41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930" y="3471863"/>
            <a:ext cx="419100" cy="1443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oldout-val-4-0">
            <a:extLst xmlns:a="http://schemas.openxmlformats.org/drawingml/2006/main">
              <a:ext uri="{FF2B5EF4-FFF2-40B4-BE49-F238E27FC236}">
                <a16:creationId xmlns:a16="http://schemas.microsoft.com/office/drawing/2014/main" id="{B6B397BB-8F62-4541-92D0-6F595FAB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22421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60.6%</a:t>
            </a:r>
          </a:p>
        </p:txBody>
      </p:sp>
      <p:sp>
        <p:nvSpPr>
          <p:cNvPr id="32" name="holdout-bar-4-1">
            <a:extLst xmlns:a="http://schemas.openxmlformats.org/drawingml/2006/main">
              <a:ext uri="{FF2B5EF4-FFF2-40B4-BE49-F238E27FC236}">
                <a16:creationId xmlns:a16="http://schemas.microsoft.com/office/drawing/2014/main" id="{D09CE95C-EE22-469F-9AEA-CF2BAA8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55" y="2778919"/>
            <a:ext cx="419100" cy="2135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oldout-val-4-1">
            <a:extLst xmlns:a="http://schemas.openxmlformats.org/drawingml/2006/main">
              <a:ext uri="{FF2B5EF4-FFF2-40B4-BE49-F238E27FC236}">
                <a16:creationId xmlns:a16="http://schemas.microsoft.com/office/drawing/2014/main" id="{221A6185-DD64-4EE2-8348-8403A822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105" y="2531269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89.7%</a:t>
            </a:r>
          </a:p>
        </p:txBody>
      </p:sp>
      <p:sp>
        <p:nvSpPr>
          <p:cNvPr id="34" name="holdout-cat-4">
            <a:extLst xmlns:a="http://schemas.openxmlformats.org/drawingml/2006/main">
              <a:ext uri="{FF2B5EF4-FFF2-40B4-BE49-F238E27FC236}">
                <a16:creationId xmlns:a16="http://schemas.microsoft.com/office/drawing/2014/main" id="{E4EEDD80-1C9C-4FBF-9A28-756CC2D0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Weather</a:t>
            </a:r>
          </a:p>
        </p:txBody>
      </p:sp>
      <p:sp>
        <p:nvSpPr>
          <p:cNvPr id="35" name="legend-a">
            <a:extLst xmlns:a="http://schemas.openxmlformats.org/drawingml/2006/main">
              <a:ext uri="{FF2B5EF4-FFF2-40B4-BE49-F238E27FC236}">
                <a16:creationId xmlns:a16="http://schemas.microsoft.com/office/drawing/2014/main" id="{8F49725F-C7B7-42E1-9A02-403412B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66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9BD5"/>
                </a:solidFill>
              </a:defRPr>
            </a:pPr>
            <a:r>
              <a:rPr sz="1125">
                <a:solidFill>
                  <a:srgbClr val="5B9BD5"/>
                </a:solidFill>
              </a:rPr>
              <a:t>accuracy</a:t>
            </a:r>
          </a:p>
        </p:txBody>
      </p:sp>
      <p:sp>
        <p:nvSpPr>
          <p:cNvPr id="36" name="legend-b">
            <a:extLst xmlns:a="http://schemas.openxmlformats.org/drawingml/2006/main">
              <a:ext uri="{FF2B5EF4-FFF2-40B4-BE49-F238E27FC236}">
                <a16:creationId xmlns:a16="http://schemas.microsoft.com/office/drawing/2014/main" id="{671700C2-527E-4547-9485-F6B59298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14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4511E"/>
                </a:solidFill>
              </a:defRPr>
            </a:pPr>
            <a:r>
              <a:rPr sz="1125">
                <a:solidFill>
                  <a:srgbClr val="F4511E"/>
                </a:solidFill>
              </a:rPr>
              <a:t>gap closed</a:t>
            </a:r>
          </a:p>
        </p:txBody>
      </p:sp>
    </p:spTree>
    <p:extLst>
      <p:ext uri="{BB962C8B-B14F-4D97-AF65-F5344CB8AC3E}">
        <p14:creationId xmlns:p14="http://schemas.microsoft.com/office/powerpoint/2010/main" val="1291892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D3D5FC7-0720-4B45-9DE8-3EC739D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6471BAA-4DCB-46EB-A263-8E41204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31C9749-910B-4973-9DBA-E905E37B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AA377D-A4D6-4E15-BC6D-0FAAA4F5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Five real domains, five different numeric traces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0DFB18-3FDE-404A-843A-D1ABC67C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463ED48-86F2-43EB-B793-6CFC961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8/28</a:t>
            </a:r>
          </a:p>
        </p:txBody>
      </p:sp>
      <p:sp>
        <p:nvSpPr>
          <p:cNvPr id="7" name="sample-n-0">
            <a:extLst xmlns:a="http://schemas.openxmlformats.org/drawingml/2006/main">
              <a:ext uri="{FF2B5EF4-FFF2-40B4-BE49-F238E27FC236}">
                <a16:creationId xmlns:a16="http://schemas.microsoft.com/office/drawing/2014/main" id="{EC22EB73-863A-4E8D-9CFF-67A3616A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sample-row-0">
            <a:extLst xmlns:a="http://schemas.openxmlformats.org/drawingml/2006/main">
              <a:ext uri="{FF2B5EF4-FFF2-40B4-BE49-F238E27FC236}">
                <a16:creationId xmlns:a16="http://schemas.microsoft.com/office/drawing/2014/main" id="{5BF13B27-A18A-4BD4-8AF6-8CB6803B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002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Stock market: </a:t>
            </a:r>
            <a:r>
              <a:rPr>
                <a:solidFill>
                  <a:srgbClr val="171717"/>
                </a:solidFill>
              </a:rPr>
              <a:t>[5.873, 5.919, 5.968, 5.974, 6.021, 6.044, 6.081, 6.114, 6.156, 6.203]</a:t>
            </a:r>
          </a:p>
        </p:txBody>
      </p:sp>
      <p:sp>
        <p:nvSpPr>
          <p:cNvPr id="9" name="sample-line-0">
            <a:extLst xmlns:a="http://schemas.openxmlformats.org/drawingml/2006/main">
              <a:ext uri="{FF2B5EF4-FFF2-40B4-BE49-F238E27FC236}">
                <a16:creationId xmlns:a16="http://schemas.microsoft.com/office/drawing/2014/main" id="{B5F5C8A5-DAF5-4DA4-84C3-47404DC9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526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sample-n-1">
            <a:extLst xmlns:a="http://schemas.openxmlformats.org/drawingml/2006/main">
              <a:ext uri="{FF2B5EF4-FFF2-40B4-BE49-F238E27FC236}">
                <a16:creationId xmlns:a16="http://schemas.microsoft.com/office/drawing/2014/main" id="{6E038FD0-EBEE-470A-B6AD-61B34E02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0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sample-row-1">
            <a:extLst xmlns:a="http://schemas.openxmlformats.org/drawingml/2006/main">
              <a:ext uri="{FF2B5EF4-FFF2-40B4-BE49-F238E27FC236}">
                <a16:creationId xmlns:a16="http://schemas.microsoft.com/office/drawing/2014/main" id="{52B4FCB9-38C9-45EF-B8E6-CCADDA90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908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Cryptocurrency: </a:t>
            </a:r>
            <a:r>
              <a:rPr>
                <a:solidFill>
                  <a:srgbClr val="171717"/>
                </a:solidFill>
              </a:rPr>
              <a:t>[0.0009, 0.0005, 0.0002, -0.0003, 0.0001, 0.0007, -0.0002, 0.0010, 0.0004, -0.0001]</a:t>
            </a:r>
          </a:p>
        </p:txBody>
      </p:sp>
      <p:sp>
        <p:nvSpPr>
          <p:cNvPr id="12" name="sample-line-1">
            <a:extLst xmlns:a="http://schemas.openxmlformats.org/drawingml/2006/main">
              <a:ext uri="{FF2B5EF4-FFF2-40B4-BE49-F238E27FC236}">
                <a16:creationId xmlns:a16="http://schemas.microsoft.com/office/drawing/2014/main" id="{B1046B00-8EF3-4C9B-8597-E197BEE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sample-n-2">
            <a:extLst xmlns:a="http://schemas.openxmlformats.org/drawingml/2006/main">
              <a:ext uri="{FF2B5EF4-FFF2-40B4-BE49-F238E27FC236}">
                <a16:creationId xmlns:a16="http://schemas.microsoft.com/office/drawing/2014/main" id="{C067005F-4EB1-4049-BAFA-7FF6FA41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00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sample-row-2">
            <a:extLst xmlns:a="http://schemas.openxmlformats.org/drawingml/2006/main">
              <a:ext uri="{FF2B5EF4-FFF2-40B4-BE49-F238E27FC236}">
                <a16:creationId xmlns:a16="http://schemas.microsoft.com/office/drawing/2014/main" id="{7DFFEA99-1B83-4001-8EBF-285EB670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814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Weather: </a:t>
            </a:r>
            <a:r>
              <a:rPr>
                <a:solidFill>
                  <a:srgbClr val="171717"/>
                </a:solidFill>
              </a:rPr>
              <a:t>[3.389, 3.385, 3.341, 3.269, 3.164, 3.201, 3.244, 3.302, 3.355, 3.410]</a:t>
            </a:r>
          </a:p>
        </p:txBody>
      </p:sp>
      <p:sp>
        <p:nvSpPr>
          <p:cNvPr id="15" name="sample-line-2">
            <a:extLst xmlns:a="http://schemas.openxmlformats.org/drawingml/2006/main">
              <a:ext uri="{FF2B5EF4-FFF2-40B4-BE49-F238E27FC236}">
                <a16:creationId xmlns:a16="http://schemas.microsoft.com/office/drawing/2014/main" id="{72EB8EDF-8FD0-41BF-B81B-0B602D15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338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sample-n-3">
            <a:extLst xmlns:a="http://schemas.openxmlformats.org/drawingml/2006/main">
              <a:ext uri="{FF2B5EF4-FFF2-40B4-BE49-F238E27FC236}">
                <a16:creationId xmlns:a16="http://schemas.microsoft.com/office/drawing/2014/main" id="{B70CD5A3-C60E-4B8E-B533-6D627AE1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sample-row-3">
            <a:extLst xmlns:a="http://schemas.openxmlformats.org/drawingml/2006/main">
              <a:ext uri="{FF2B5EF4-FFF2-40B4-BE49-F238E27FC236}">
                <a16:creationId xmlns:a16="http://schemas.microsoft.com/office/drawing/2014/main" id="{6ED48910-ECC9-4C28-BC4A-59108539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Formula 1 telemetry: </a:t>
            </a:r>
            <a:r>
              <a:rPr>
                <a:solidFill>
                  <a:srgbClr val="171717"/>
                </a:solidFill>
              </a:rPr>
              <a:t>[0.0797, 12.79, 28.74, 51.06, 79.76, 108.46, 141.30, 172.55, 201.10, 238.42]</a:t>
            </a:r>
          </a:p>
        </p:txBody>
      </p:sp>
      <p:sp>
        <p:nvSpPr>
          <p:cNvPr id="18" name="sample-line-3">
            <a:extLst xmlns:a="http://schemas.openxmlformats.org/drawingml/2006/main">
              <a:ext uri="{FF2B5EF4-FFF2-40B4-BE49-F238E27FC236}">
                <a16:creationId xmlns:a16="http://schemas.microsoft.com/office/drawing/2014/main" id="{8D1C34B5-2A07-4274-9EB1-9CBF7F3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244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sample-n-4">
            <a:extLst xmlns:a="http://schemas.openxmlformats.org/drawingml/2006/main">
              <a:ext uri="{FF2B5EF4-FFF2-40B4-BE49-F238E27FC236}">
                <a16:creationId xmlns:a16="http://schemas.microsoft.com/office/drawing/2014/main" id="{1674E1A8-188B-46E6-A9C4-C0F070BF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816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sample-row-4">
            <a:extLst xmlns:a="http://schemas.openxmlformats.org/drawingml/2006/main">
              <a:ext uri="{FF2B5EF4-FFF2-40B4-BE49-F238E27FC236}">
                <a16:creationId xmlns:a16="http://schemas.microsoft.com/office/drawing/2014/main" id="{2B0ECF05-15F1-48F5-9D9F-1246650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626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Seismic events: </a:t>
            </a:r>
            <a:r>
              <a:rPr>
                <a:solidFill>
                  <a:srgbClr val="171717"/>
                </a:solidFill>
              </a:rPr>
              <a:t>[37.83, 34.02, 36.10, 35.95, 33.54, 36.80, 38.21, 35.12, 34.88, 36.42]</a:t>
            </a:r>
          </a:p>
        </p:txBody>
      </p:sp>
      <p:sp>
        <p:nvSpPr>
          <p:cNvPr id="21" name="sample-line-4">
            <a:extLst xmlns:a="http://schemas.openxmlformats.org/drawingml/2006/main">
              <a:ext uri="{FF2B5EF4-FFF2-40B4-BE49-F238E27FC236}">
                <a16:creationId xmlns:a16="http://schemas.microsoft.com/office/drawing/2014/main" id="{86014636-307A-4F2C-92CE-99895B94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150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2551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5C48430-0607-4F4F-8614-27FD063A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098A9E9-64AC-4A70-BE4D-100C11CD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3E5B1BB-FBE1-4C56-9F56-F7654A01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5BDB58-8240-4C6A-BA5C-85CA7F6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Sixteen O(n) structural features characterise each array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DA4CFE-F6C4-49A6-9CA5-B59F7FF8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03A1495-677D-4A9F-BD1C-67687E3A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9/28</a:t>
            </a:r>
          </a:p>
        </p:txBody>
      </p:sp>
      <p:sp>
        <p:nvSpPr>
          <p:cNvPr id="7" name="flow">
            <a:extLst xmlns:a="http://schemas.openxmlformats.org/drawingml/2006/main">
              <a:ext uri="{FF2B5EF4-FFF2-40B4-BE49-F238E27FC236}">
                <a16:creationId xmlns:a16="http://schemas.microsoft.com/office/drawing/2014/main" id="{4172E7E5-6633-42AE-8FFA-8E40D7CC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0F9B12EF-8F58-4FD6-955E-91B907FD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2D194BF8-134D-44CA-ABEF-DAD7996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02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Raw array</a:t>
            </a:r>
          </a:p>
        </p:txBody>
      </p:sp>
      <p:sp>
        <p:nvSpPr>
          <p:cNvPr id="10" name="flow-arrow-0-from">
            <a:extLst xmlns:a="http://schemas.openxmlformats.org/drawingml/2006/main">
              <a:ext uri="{FF2B5EF4-FFF2-40B4-BE49-F238E27FC236}">
                <a16:creationId xmlns:a16="http://schemas.microsoft.com/office/drawing/2014/main" id="{480094FF-E154-4940-82A4-A67A7A59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arrow-0-to">
            <a:extLst xmlns:a="http://schemas.openxmlformats.org/drawingml/2006/main">
              <a:ext uri="{FF2B5EF4-FFF2-40B4-BE49-F238E27FC236}">
                <a16:creationId xmlns:a16="http://schemas.microsoft.com/office/drawing/2014/main" id="{C9D6F472-F9E6-4C97-A303-10C6F989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flow-arrow-0"/>
          <p:cNvCxnSpPr>
            <a:stCxn xmlns:a="http://schemas.openxmlformats.org/drawingml/2006/main" id="1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2343150" y="2571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DC5B9B28-0CFD-4C8D-A123-FEE942C2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5F7637A3-B776-4CAC-9805-BF608B83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Structural scan</a:t>
            </a:r>
          </a:p>
        </p:txBody>
      </p:sp>
      <p:sp>
        <p:nvSpPr>
          <p:cNvPr id="15" name="flow-arrow-1-from">
            <a:extLst xmlns:a="http://schemas.openxmlformats.org/drawingml/2006/main">
              <a:ext uri="{FF2B5EF4-FFF2-40B4-BE49-F238E27FC236}">
                <a16:creationId xmlns:a16="http://schemas.microsoft.com/office/drawing/2014/main" id="{70FB008C-A084-4CFB-B30F-8ED7928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rrow-1-to">
            <a:extLst xmlns:a="http://schemas.openxmlformats.org/drawingml/2006/main">
              <a:ext uri="{FF2B5EF4-FFF2-40B4-BE49-F238E27FC236}">
                <a16:creationId xmlns:a16="http://schemas.microsoft.com/office/drawing/2014/main" id="{BE3F85A2-EA63-419B-B6B0-389924CE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flow-arrow-1"/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2343150" y="33528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D2350642-0611-471C-BBCC-86BA2431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2DA21D01-9D73-4B4C-B49A-89D92E4A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 vector</a:t>
            </a:r>
          </a:p>
        </p:txBody>
      </p:sp>
      <p:sp>
        <p:nvSpPr>
          <p:cNvPr id="20" name="flow-arrow-2-from">
            <a:extLst xmlns:a="http://schemas.openxmlformats.org/drawingml/2006/main">
              <a:ext uri="{FF2B5EF4-FFF2-40B4-BE49-F238E27FC236}">
                <a16:creationId xmlns:a16="http://schemas.microsoft.com/office/drawing/2014/main" id="{6D0EAB28-4886-4E91-B384-9AD56B3D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434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arrow-2-to">
            <a:extLst xmlns:a="http://schemas.openxmlformats.org/drawingml/2006/main">
              <a:ext uri="{FF2B5EF4-FFF2-40B4-BE49-F238E27FC236}">
                <a16:creationId xmlns:a16="http://schemas.microsoft.com/office/drawing/2014/main" id="{274DC9EA-42C0-4719-B4FC-63F51E06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flow-arrow-2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2343150" y="4133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23" name="flow-3">
            <a:extLst xmlns:a="http://schemas.openxmlformats.org/drawingml/2006/main">
              <a:ext uri="{FF2B5EF4-FFF2-40B4-BE49-F238E27FC236}">
                <a16:creationId xmlns:a16="http://schemas.microsoft.com/office/drawing/2014/main" id="{D110F0D0-43C5-491A-97C0-AC649FB7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F2423F9F-64FD-4C7C-BA96-FAA0657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Model input</a:t>
            </a:r>
          </a:p>
        </p:txBody>
      </p:sp>
      <p:sp>
        <p:nvSpPr>
          <p:cNvPr id="25" name="feature-core">
            <a:extLst xmlns:a="http://schemas.openxmlformats.org/drawingml/2006/main">
              <a:ext uri="{FF2B5EF4-FFF2-40B4-BE49-F238E27FC236}">
                <a16:creationId xmlns:a16="http://schemas.microsoft.com/office/drawing/2014/main" id="{C17B2E5F-2EC4-461A-AFD8-BFE2C1F6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95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feature-core-title">
            <a:extLst xmlns:a="http://schemas.openxmlformats.org/drawingml/2006/main">
              <a:ext uri="{FF2B5EF4-FFF2-40B4-BE49-F238E27FC236}">
                <a16:creationId xmlns:a16="http://schemas.microsoft.com/office/drawing/2014/main" id="{231E73C8-067D-4E46-B36E-C175B7DE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7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 ∈ R^16</a:t>
            </a:r>
          </a:p>
        </p:txBody>
      </p:sp>
      <p:sp>
        <p:nvSpPr>
          <p:cNvPr id="27" name="flow-core-from">
            <a:extLst xmlns:a="http://schemas.openxmlformats.org/drawingml/2006/main">
              <a:ext uri="{FF2B5EF4-FFF2-40B4-BE49-F238E27FC236}">
                <a16:creationId xmlns:a16="http://schemas.microsoft.com/office/drawing/2014/main" id="{55D48B1B-F662-43D8-A2B3-018F5F0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core-to">
            <a:extLst xmlns:a="http://schemas.openxmlformats.org/drawingml/2006/main">
              <a:ext uri="{FF2B5EF4-FFF2-40B4-BE49-F238E27FC236}">
                <a16:creationId xmlns:a16="http://schemas.microsoft.com/office/drawing/2014/main" id="{B936ADA4-D644-4815-B467-26DF23DD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1" name="flow-core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3114675" y="32956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30" name="fg-0">
            <a:extLst xmlns:a="http://schemas.openxmlformats.org/drawingml/2006/main">
              <a:ext uri="{FF2B5EF4-FFF2-40B4-BE49-F238E27FC236}">
                <a16:creationId xmlns:a16="http://schemas.microsoft.com/office/drawing/2014/main" id="{87DD725D-2249-4E5D-866C-8A6C2B2E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fg-0-title">
            <a:extLst xmlns:a="http://schemas.openxmlformats.org/drawingml/2006/main">
              <a:ext uri="{FF2B5EF4-FFF2-40B4-BE49-F238E27FC236}">
                <a16:creationId xmlns:a16="http://schemas.microsoft.com/office/drawing/2014/main" id="{A6A01EC3-1166-4373-9DCF-D6A33E8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32" name="fg-0-body">
            <a:extLst xmlns:a="http://schemas.openxmlformats.org/drawingml/2006/main">
              <a:ext uri="{FF2B5EF4-FFF2-40B4-BE49-F238E27FC236}">
                <a16:creationId xmlns:a16="http://schemas.microsoft.com/office/drawing/2014/main" id="{995F6D8C-05F0-4FBF-A93A-A90759B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length_norm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size effects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cache / constants</a:t>
            </a:r>
          </a:p>
        </p:txBody>
      </p:sp>
      <p:sp>
        <p:nvSpPr>
          <p:cNvPr id="33" name="fg-1">
            <a:extLst xmlns:a="http://schemas.openxmlformats.org/drawingml/2006/main">
              <a:ext uri="{FF2B5EF4-FFF2-40B4-BE49-F238E27FC236}">
                <a16:creationId xmlns:a16="http://schemas.microsoft.com/office/drawing/2014/main" id="{D7233062-3429-468C-878F-519CC076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fg-1-title">
            <a:extLst xmlns:a="http://schemas.openxmlformats.org/drawingml/2006/main">
              <a:ext uri="{FF2B5EF4-FFF2-40B4-BE49-F238E27FC236}">
                <a16:creationId xmlns:a16="http://schemas.microsoft.com/office/drawing/2014/main" id="{D7F18348-E0D1-4B32-8FCB-E1042C5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Ordering</a:t>
            </a:r>
          </a:p>
        </p:txBody>
      </p:sp>
      <p:sp>
        <p:nvSpPr>
          <p:cNvPr id="35" name="fg-1-body">
            <a:extLst xmlns:a="http://schemas.openxmlformats.org/drawingml/2006/main">
              <a:ext uri="{FF2B5EF4-FFF2-40B4-BE49-F238E27FC236}">
                <a16:creationId xmlns:a16="http://schemas.microsoft.com/office/drawing/2014/main" id="{526D9EE4-E3AD-451E-B908-42D8795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adj_sorted_ratio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runs_ratio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inversion_ratio</a:t>
            </a:r>
          </a:p>
        </p:txBody>
      </p:sp>
      <p:sp>
        <p:nvSpPr>
          <p:cNvPr id="36" name="fg-2">
            <a:extLst xmlns:a="http://schemas.openxmlformats.org/drawingml/2006/main">
              <a:ext uri="{FF2B5EF4-FFF2-40B4-BE49-F238E27FC236}">
                <a16:creationId xmlns:a16="http://schemas.microsoft.com/office/drawing/2014/main" id="{FEFAB222-0832-4111-979B-32CB12D3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fg-2-title">
            <a:extLst xmlns:a="http://schemas.openxmlformats.org/drawingml/2006/main">
              <a:ext uri="{FF2B5EF4-FFF2-40B4-BE49-F238E27FC236}">
                <a16:creationId xmlns:a16="http://schemas.microsoft.com/office/drawing/2014/main" id="{311B3C83-7736-4CBA-AB6C-DB3651C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Repetition</a:t>
            </a:r>
          </a:p>
        </p:txBody>
      </p:sp>
      <p:sp>
        <p:nvSpPr>
          <p:cNvPr id="38" name="fg-2-body">
            <a:extLst xmlns:a="http://schemas.openxmlformats.org/drawingml/2006/main">
              <a:ext uri="{FF2B5EF4-FFF2-40B4-BE49-F238E27FC236}">
                <a16:creationId xmlns:a16="http://schemas.microsoft.com/office/drawing/2014/main" id="{4CA61883-9438-4D8A-BC97-62B60F41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duplicate_ratio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top1_freq_ratio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top5_freq_ratio</a:t>
            </a:r>
          </a:p>
        </p:txBody>
      </p:sp>
      <p:sp>
        <p:nvSpPr>
          <p:cNvPr id="39" name="fg-3">
            <a:extLst xmlns:a="http://schemas.openxmlformats.org/drawingml/2006/main">
              <a:ext uri="{FF2B5EF4-FFF2-40B4-BE49-F238E27FC236}">
                <a16:creationId xmlns:a16="http://schemas.microsoft.com/office/drawing/2014/main" id="{4877F5CB-0632-40FE-92D0-2867B512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0" name="fg-3-title">
            <a:extLst xmlns:a="http://schemas.openxmlformats.org/drawingml/2006/main">
              <a:ext uri="{FF2B5EF4-FFF2-40B4-BE49-F238E27FC236}">
                <a16:creationId xmlns:a16="http://schemas.microsoft.com/office/drawing/2014/main" id="{9BC4A0C3-D620-46F2-AEB8-98AAA266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Distribution</a:t>
            </a:r>
          </a:p>
        </p:txBody>
      </p:sp>
      <p:sp>
        <p:nvSpPr>
          <p:cNvPr id="41" name="fg-3-body">
            <a:extLst xmlns:a="http://schemas.openxmlformats.org/drawingml/2006/main">
              <a:ext uri="{FF2B5EF4-FFF2-40B4-BE49-F238E27FC236}">
                <a16:creationId xmlns:a16="http://schemas.microsoft.com/office/drawing/2014/main" id="{9FE09890-42BE-4893-989D-08A2586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entropy_ratio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skewness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outlier_ratio</a:t>
            </a:r>
          </a:p>
        </p:txBody>
      </p:sp>
      <p:sp>
        <p:nvSpPr>
          <p:cNvPr id="42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ADFDBE38-EECD-457B-BFF1-8DFDF78C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A single canonical feature extractor is shared across data generation, training,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1199669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01A05F9-1075-4D81-A823-23F49264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EB3F45D-0A2F-4B02-BE01-0C821D86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9CC0681-FBA9-482F-A011-20BCEED6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0AA82B-C850-4080-AB45-971BF706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Feature importance follows structural sorting signals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D182850-5B22-4D0F-AE59-326668EC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1CC262E-4B35-4D35-AB85-D9B20807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87B33275-399C-4DC3-A5E7-0A7B402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76375"/>
            <a:ext cx="12049125" cy="51435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i-name-0">
            <a:extLst xmlns:a="http://schemas.openxmlformats.org/drawingml/2006/main">
              <a:ext uri="{FF2B5EF4-FFF2-40B4-BE49-F238E27FC236}">
                <a16:creationId xmlns:a16="http://schemas.microsoft.com/office/drawing/2014/main" id="{220D3EF5-19A0-4004-A859-FB2C8E50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9526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length_norm</a:t>
            </a:r>
          </a:p>
        </p:txBody>
      </p:sp>
      <p:sp>
        <p:nvSpPr>
          <p:cNvPr id="9" name="fi-bar-0">
            <a:extLst xmlns:a="http://schemas.openxmlformats.org/drawingml/2006/main">
              <a:ext uri="{FF2B5EF4-FFF2-40B4-BE49-F238E27FC236}">
                <a16:creationId xmlns:a16="http://schemas.microsoft.com/office/drawing/2014/main" id="{1448C165-6332-4839-A8BE-EB7CBF2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582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-val-0">
            <a:extLst xmlns:a="http://schemas.openxmlformats.org/drawingml/2006/main">
              <a:ext uri="{FF2B5EF4-FFF2-40B4-BE49-F238E27FC236}">
                <a16:creationId xmlns:a16="http://schemas.microsoft.com/office/drawing/2014/main" id="{B96A51C7-D7D8-4639-B2A0-70E6B2C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952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0.262</a:t>
            </a:r>
          </a:p>
        </p:txBody>
      </p:sp>
      <p:sp>
        <p:nvSpPr>
          <p:cNvPr id="11" name="fi-name-1">
            <a:extLst xmlns:a="http://schemas.openxmlformats.org/drawingml/2006/main">
              <a:ext uri="{FF2B5EF4-FFF2-40B4-BE49-F238E27FC236}">
                <a16:creationId xmlns:a16="http://schemas.microsoft.com/office/drawing/2014/main" id="{835041C7-D718-4068-A941-4CC2E54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955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top5_freq_ratio</a:t>
            </a:r>
          </a:p>
        </p:txBody>
      </p:sp>
      <p:sp>
        <p:nvSpPr>
          <p:cNvPr id="12" name="fi-bar-1">
            <a:extLst xmlns:a="http://schemas.openxmlformats.org/drawingml/2006/main">
              <a:ext uri="{FF2B5EF4-FFF2-40B4-BE49-F238E27FC236}">
                <a16:creationId xmlns:a16="http://schemas.microsoft.com/office/drawing/2014/main" id="{9077E19A-E60C-494C-9EBC-2146F3F4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408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-val-1">
            <a:extLst xmlns:a="http://schemas.openxmlformats.org/drawingml/2006/main">
              <a:ext uri="{FF2B5EF4-FFF2-40B4-BE49-F238E27FC236}">
                <a16:creationId xmlns:a16="http://schemas.microsoft.com/office/drawing/2014/main" id="{9C37FD27-1256-41A4-865F-861CA59E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95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0.184</a:t>
            </a:r>
          </a:p>
        </p:txBody>
      </p:sp>
      <p:sp>
        <p:nvSpPr>
          <p:cNvPr id="14" name="fi-name-2">
            <a:extLst xmlns:a="http://schemas.openxmlformats.org/drawingml/2006/main">
              <a:ext uri="{FF2B5EF4-FFF2-40B4-BE49-F238E27FC236}">
                <a16:creationId xmlns:a16="http://schemas.microsoft.com/office/drawing/2014/main" id="{45CD8264-0B57-4654-8B34-5D2E3D73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384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longest_run_ratio</a:t>
            </a:r>
          </a:p>
        </p:txBody>
      </p:sp>
      <p:sp>
        <p:nvSpPr>
          <p:cNvPr id="15" name="fi-bar-2">
            <a:extLst xmlns:a="http://schemas.openxmlformats.org/drawingml/2006/main">
              <a:ext uri="{FF2B5EF4-FFF2-40B4-BE49-F238E27FC236}">
                <a16:creationId xmlns:a16="http://schemas.microsoft.com/office/drawing/2014/main" id="{B2A725CA-BBCB-49DC-951E-B1302069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76525"/>
            <a:ext cx="177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-val-2">
            <a:extLst xmlns:a="http://schemas.openxmlformats.org/drawingml/2006/main">
              <a:ext uri="{FF2B5EF4-FFF2-40B4-BE49-F238E27FC236}">
                <a16:creationId xmlns:a16="http://schemas.microsoft.com/office/drawing/2014/main" id="{2738FAB3-87AF-4B26-AFF0-A7E814F5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384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0.080</a:t>
            </a:r>
          </a:p>
        </p:txBody>
      </p:sp>
      <p:sp>
        <p:nvSpPr>
          <p:cNvPr id="17" name="fi-name-3">
            <a:extLst xmlns:a="http://schemas.openxmlformats.org/drawingml/2006/main">
              <a:ext uri="{FF2B5EF4-FFF2-40B4-BE49-F238E27FC236}">
                <a16:creationId xmlns:a16="http://schemas.microsoft.com/office/drawing/2014/main" id="{D9D24229-7605-4105-85C1-39D7D5D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duplicate_ratio</a:t>
            </a:r>
          </a:p>
        </p:txBody>
      </p:sp>
      <p:sp>
        <p:nvSpPr>
          <p:cNvPr id="18" name="fi-bar-3">
            <a:extLst xmlns:a="http://schemas.openxmlformats.org/drawingml/2006/main">
              <a:ext uri="{FF2B5EF4-FFF2-40B4-BE49-F238E27FC236}">
                <a16:creationId xmlns:a16="http://schemas.microsoft.com/office/drawing/2014/main" id="{C5B1B38A-4932-44B0-B199-9CBF796F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1755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-val-3">
            <a:extLst xmlns:a="http://schemas.openxmlformats.org/drawingml/2006/main">
              <a:ext uri="{FF2B5EF4-FFF2-40B4-BE49-F238E27FC236}">
                <a16:creationId xmlns:a16="http://schemas.microsoft.com/office/drawing/2014/main" id="{5A75BCA5-2423-4EB6-AECD-8F2637F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1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0.079</a:t>
            </a:r>
          </a:p>
        </p:txBody>
      </p:sp>
      <p:sp>
        <p:nvSpPr>
          <p:cNvPr id="20" name="fi-name-4">
            <a:extLst xmlns:a="http://schemas.openxmlformats.org/drawingml/2006/main">
              <a:ext uri="{FF2B5EF4-FFF2-40B4-BE49-F238E27FC236}">
                <a16:creationId xmlns:a16="http://schemas.microsoft.com/office/drawing/2014/main" id="{FBE60248-99D3-4519-A953-2A30A2C3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242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entropy_ratio</a:t>
            </a:r>
          </a:p>
        </p:txBody>
      </p:sp>
      <p:sp>
        <p:nvSpPr>
          <p:cNvPr id="21" name="fi-bar-4">
            <a:extLst xmlns:a="http://schemas.openxmlformats.org/drawingml/2006/main">
              <a:ext uri="{FF2B5EF4-FFF2-40B4-BE49-F238E27FC236}">
                <a16:creationId xmlns:a16="http://schemas.microsoft.com/office/drawing/2014/main" id="{40FF5188-4EDF-4F58-AD80-4460818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62325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-val-4">
            <a:extLst xmlns:a="http://schemas.openxmlformats.org/drawingml/2006/main">
              <a:ext uri="{FF2B5EF4-FFF2-40B4-BE49-F238E27FC236}">
                <a16:creationId xmlns:a16="http://schemas.microsoft.com/office/drawing/2014/main" id="{F532FFD1-6243-4031-804F-CEA94B2A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24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0.075</a:t>
            </a:r>
          </a:p>
        </p:txBody>
      </p:sp>
      <p:sp>
        <p:nvSpPr>
          <p:cNvPr id="23" name="fi-name-5">
            <a:extLst xmlns:a="http://schemas.openxmlformats.org/drawingml/2006/main">
              <a:ext uri="{FF2B5EF4-FFF2-40B4-BE49-F238E27FC236}">
                <a16:creationId xmlns:a16="http://schemas.microsoft.com/office/drawing/2014/main" id="{B1B07E6F-F65D-46E5-BBA6-89A4E51A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671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top1_freq_ratio</a:t>
            </a:r>
          </a:p>
        </p:txBody>
      </p:sp>
      <p:sp>
        <p:nvSpPr>
          <p:cNvPr id="24" name="fi-bar-5">
            <a:extLst xmlns:a="http://schemas.openxmlformats.org/drawingml/2006/main">
              <a:ext uri="{FF2B5EF4-FFF2-40B4-BE49-F238E27FC236}">
                <a16:creationId xmlns:a16="http://schemas.microsoft.com/office/drawing/2014/main" id="{C083C50E-2AFF-4E0B-9D52-F36259E6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1133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i-val-5">
            <a:extLst xmlns:a="http://schemas.openxmlformats.org/drawingml/2006/main">
              <a:ext uri="{FF2B5EF4-FFF2-40B4-BE49-F238E27FC236}">
                <a16:creationId xmlns:a16="http://schemas.microsoft.com/office/drawing/2014/main" id="{61D37A2F-617B-468D-A109-E1B14ED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67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0.051</a:t>
            </a:r>
          </a:p>
        </p:txBody>
      </p:sp>
      <p:sp>
        <p:nvSpPr>
          <p:cNvPr id="26" name="fi-name-6">
            <a:extLst xmlns:a="http://schemas.openxmlformats.org/drawingml/2006/main">
              <a:ext uri="{FF2B5EF4-FFF2-40B4-BE49-F238E27FC236}">
                <a16:creationId xmlns:a16="http://schemas.microsoft.com/office/drawing/2014/main" id="{3A67A666-C5B3-43B1-B7AA-4408EC44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100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runs_ratio</a:t>
            </a:r>
          </a:p>
        </p:txBody>
      </p:sp>
      <p:sp>
        <p:nvSpPr>
          <p:cNvPr id="27" name="fi-bar-6">
            <a:extLst xmlns:a="http://schemas.openxmlformats.org/drawingml/2006/main">
              <a:ext uri="{FF2B5EF4-FFF2-40B4-BE49-F238E27FC236}">
                <a16:creationId xmlns:a16="http://schemas.microsoft.com/office/drawing/2014/main" id="{C9F8F77D-51DF-4FEB-8C94-EC36751C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48125"/>
            <a:ext cx="911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i-val-6">
            <a:extLst xmlns:a="http://schemas.openxmlformats.org/drawingml/2006/main">
              <a:ext uri="{FF2B5EF4-FFF2-40B4-BE49-F238E27FC236}">
                <a16:creationId xmlns:a16="http://schemas.microsoft.com/office/drawing/2014/main" id="{EC8B662E-E939-4628-8EAA-17E58BD9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100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29" name="fi-name-7">
            <a:extLst xmlns:a="http://schemas.openxmlformats.org/drawingml/2006/main">
              <a:ext uri="{FF2B5EF4-FFF2-40B4-BE49-F238E27FC236}">
                <a16:creationId xmlns:a16="http://schemas.microsoft.com/office/drawing/2014/main" id="{F11BE46D-BEC0-40FF-818E-9E3C4DE4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529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adj_sorted_ratio</a:t>
            </a:r>
          </a:p>
        </p:txBody>
      </p:sp>
      <p:sp>
        <p:nvSpPr>
          <p:cNvPr id="30" name="fi-bar-7">
            <a:extLst xmlns:a="http://schemas.openxmlformats.org/drawingml/2006/main">
              <a:ext uri="{FF2B5EF4-FFF2-40B4-BE49-F238E27FC236}">
                <a16:creationId xmlns:a16="http://schemas.microsoft.com/office/drawing/2014/main" id="{F01F7E23-52B2-4F47-ADF4-BF1F6D00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91025"/>
            <a:ext cx="911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i-val-7">
            <a:extLst xmlns:a="http://schemas.openxmlformats.org/drawingml/2006/main">
              <a:ext uri="{FF2B5EF4-FFF2-40B4-BE49-F238E27FC236}">
                <a16:creationId xmlns:a16="http://schemas.microsoft.com/office/drawing/2014/main" id="{A6E6CA98-3337-4826-950D-DAC92814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529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32" name="fi-name-8">
            <a:extLst xmlns:a="http://schemas.openxmlformats.org/drawingml/2006/main">
              <a:ext uri="{FF2B5EF4-FFF2-40B4-BE49-F238E27FC236}">
                <a16:creationId xmlns:a16="http://schemas.microsoft.com/office/drawing/2014/main" id="{8AA4E06C-95E2-47C1-8396-35C5F96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958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mean_abs_diff_norm</a:t>
            </a:r>
          </a:p>
        </p:txBody>
      </p:sp>
      <p:sp>
        <p:nvSpPr>
          <p:cNvPr id="33" name="fi-bar-8">
            <a:extLst xmlns:a="http://schemas.openxmlformats.org/drawingml/2006/main">
              <a:ext uri="{FF2B5EF4-FFF2-40B4-BE49-F238E27FC236}">
                <a16:creationId xmlns:a16="http://schemas.microsoft.com/office/drawing/2014/main" id="{9007B284-EC9D-4AC6-8F63-C7ECB9FD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33925"/>
            <a:ext cx="866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-val-8">
            <a:extLst xmlns:a="http://schemas.openxmlformats.org/drawingml/2006/main">
              <a:ext uri="{FF2B5EF4-FFF2-40B4-BE49-F238E27FC236}">
                <a16:creationId xmlns:a16="http://schemas.microsoft.com/office/drawing/2014/main" id="{5AABC584-3B24-4EFC-89AB-6938BEA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958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0.039</a:t>
            </a:r>
          </a:p>
        </p:txBody>
      </p:sp>
      <p:sp>
        <p:nvSpPr>
          <p:cNvPr id="35" name="fi-name-9">
            <a:extLst xmlns:a="http://schemas.openxmlformats.org/drawingml/2006/main">
              <a:ext uri="{FF2B5EF4-FFF2-40B4-BE49-F238E27FC236}">
                <a16:creationId xmlns:a16="http://schemas.microsoft.com/office/drawing/2014/main" id="{6D7EE105-C38F-412C-B590-669A21B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387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inversion_ratio</a:t>
            </a:r>
          </a:p>
        </p:txBody>
      </p:sp>
      <p:sp>
        <p:nvSpPr>
          <p:cNvPr id="36" name="fi-bar-9">
            <a:extLst xmlns:a="http://schemas.openxmlformats.org/drawingml/2006/main">
              <a:ext uri="{FF2B5EF4-FFF2-40B4-BE49-F238E27FC236}">
                <a16:creationId xmlns:a16="http://schemas.microsoft.com/office/drawing/2014/main" id="{CD7667C4-C259-41E3-ACE4-6F248D7B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76825"/>
            <a:ext cx="777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-val-9">
            <a:extLst xmlns:a="http://schemas.openxmlformats.org/drawingml/2006/main">
              <a:ext uri="{FF2B5EF4-FFF2-40B4-BE49-F238E27FC236}">
                <a16:creationId xmlns:a16="http://schemas.microsoft.com/office/drawing/2014/main" id="{E207FD8E-713C-458A-A284-2C92B74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38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0.035</a:t>
            </a:r>
          </a:p>
        </p:txBody>
      </p:sp>
      <p:sp>
        <p:nvSpPr>
          <p:cNvPr id="38" name="fi-name-10">
            <a:extLst xmlns:a="http://schemas.openxmlformats.org/drawingml/2006/main">
              <a:ext uri="{FF2B5EF4-FFF2-40B4-BE49-F238E27FC236}">
                <a16:creationId xmlns:a16="http://schemas.microsoft.com/office/drawing/2014/main" id="{40542393-F429-405F-BE5E-7323BD06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816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dispersion_ratio</a:t>
            </a:r>
          </a:p>
        </p:txBody>
      </p:sp>
      <p:sp>
        <p:nvSpPr>
          <p:cNvPr id="39" name="fi-bar-10">
            <a:extLst xmlns:a="http://schemas.openxmlformats.org/drawingml/2006/main">
              <a:ext uri="{FF2B5EF4-FFF2-40B4-BE49-F238E27FC236}">
                <a16:creationId xmlns:a16="http://schemas.microsoft.com/office/drawing/2014/main" id="{15A9D2C4-3A67-42F1-BACF-84D9116A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511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-val-10">
            <a:extLst xmlns:a="http://schemas.openxmlformats.org/drawingml/2006/main">
              <a:ext uri="{FF2B5EF4-FFF2-40B4-BE49-F238E27FC236}">
                <a16:creationId xmlns:a16="http://schemas.microsoft.com/office/drawing/2014/main" id="{996A9CF4-4955-4B08-A80D-EFFDC025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81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0.023</a:t>
            </a:r>
          </a:p>
        </p:txBody>
      </p:sp>
      <p:sp>
        <p:nvSpPr>
          <p:cNvPr id="41" name="fi-name-11">
            <a:extLst xmlns:a="http://schemas.openxmlformats.org/drawingml/2006/main">
              <a:ext uri="{FF2B5EF4-FFF2-40B4-BE49-F238E27FC236}">
                <a16:creationId xmlns:a16="http://schemas.microsoft.com/office/drawing/2014/main" id="{C149852B-9A0B-45CF-BE37-E8D3C2B7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mad_norm</a:t>
            </a:r>
          </a:p>
        </p:txBody>
      </p:sp>
      <p:sp>
        <p:nvSpPr>
          <p:cNvPr id="42" name="fi-bar-11">
            <a:extLst xmlns:a="http://schemas.openxmlformats.org/drawingml/2006/main">
              <a:ext uri="{FF2B5EF4-FFF2-40B4-BE49-F238E27FC236}">
                <a16:creationId xmlns:a16="http://schemas.microsoft.com/office/drawing/2014/main" id="{16ACFB94-B04C-449E-83C5-36DCAB06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422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i-val-11">
            <a:extLst xmlns:a="http://schemas.openxmlformats.org/drawingml/2006/main">
              <a:ext uri="{FF2B5EF4-FFF2-40B4-BE49-F238E27FC236}">
                <a16:creationId xmlns:a16="http://schemas.microsoft.com/office/drawing/2014/main" id="{C21260D6-FDB9-4E39-AA29-88528578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24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0.019</a:t>
            </a:r>
          </a:p>
        </p:txBody>
      </p:sp>
    </p:spTree>
    <p:extLst>
      <p:ext uri="{BB962C8B-B14F-4D97-AF65-F5344CB8AC3E}">
        <p14:creationId xmlns:p14="http://schemas.microsoft.com/office/powerpoint/2010/main" val="1209231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BB6E045-6FE4-4F25-9ACA-4498195E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E80BB7E-F443-4AB2-AC76-3CA5A709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2E84624-7E1C-49A2-A328-29B1E02C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BEB7D5-0DF2-4D13-92E9-2049B62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Labels are empirical fastest-algorithm measurements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F5E6C4A-8BAA-4FB7-A787-5BEA6665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4D68C3A-5681-41B8-821C-8019A879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11/28</a:t>
            </a:r>
          </a:p>
        </p:txBody>
      </p:sp>
      <p:sp>
        <p:nvSpPr>
          <p:cNvPr id="7" name="pipe">
            <a:extLst xmlns:a="http://schemas.openxmlformats.org/drawingml/2006/main">
              <a:ext uri="{FF2B5EF4-FFF2-40B4-BE49-F238E27FC236}">
                <a16:creationId xmlns:a16="http://schemas.microsoft.com/office/drawing/2014/main" id="{EED6569E-8A67-4CA3-97FD-86543DC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1239500" cy="3095625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ans-0">
            <a:extLst xmlns:a="http://schemas.openxmlformats.org/drawingml/2006/main">
              <a:ext uri="{FF2B5EF4-FFF2-40B4-BE49-F238E27FC236}">
                <a16:creationId xmlns:a16="http://schemas.microsoft.com/office/drawing/2014/main" id="{CDA4CA83-A4B6-4FE1-8A79-C021AC7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ans-0-title">
            <a:extLst xmlns:a="http://schemas.openxmlformats.org/drawingml/2006/main">
              <a:ext uri="{FF2B5EF4-FFF2-40B4-BE49-F238E27FC236}">
                <a16:creationId xmlns:a16="http://schemas.microsoft.com/office/drawing/2014/main" id="{94406C1A-7AD2-4A8C-8C93-12811389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RAW</a:t>
            </a:r>
          </a:p>
        </p:txBody>
      </p:sp>
      <p:sp>
        <p:nvSpPr>
          <p:cNvPr id="10" name="trans-1">
            <a:extLst xmlns:a="http://schemas.openxmlformats.org/drawingml/2006/main">
              <a:ext uri="{FF2B5EF4-FFF2-40B4-BE49-F238E27FC236}">
                <a16:creationId xmlns:a16="http://schemas.microsoft.com/office/drawing/2014/main" id="{C8782C09-4232-4C44-B816-FA136135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ns-1-title">
            <a:extLst xmlns:a="http://schemas.openxmlformats.org/drawingml/2006/main">
              <a:ext uri="{FF2B5EF4-FFF2-40B4-BE49-F238E27FC236}">
                <a16:creationId xmlns:a16="http://schemas.microsoft.com/office/drawing/2014/main" id="{844A5C0A-B70B-43D6-920F-B90C22C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</a:t>
            </a:r>
          </a:p>
        </p:txBody>
      </p:sp>
      <p:sp>
        <p:nvSpPr>
          <p:cNvPr id="12" name="trans-2">
            <a:extLst xmlns:a="http://schemas.openxmlformats.org/drawingml/2006/main">
              <a:ext uri="{FF2B5EF4-FFF2-40B4-BE49-F238E27FC236}">
                <a16:creationId xmlns:a16="http://schemas.microsoft.com/office/drawing/2014/main" id="{21674956-2D62-43E8-8446-0FACA47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ans-2-title">
            <a:extLst xmlns:a="http://schemas.openxmlformats.org/drawingml/2006/main">
              <a:ext uri="{FF2B5EF4-FFF2-40B4-BE49-F238E27FC236}">
                <a16:creationId xmlns:a16="http://schemas.microsoft.com/office/drawing/2014/main" id="{F61F6A9F-317F-4A46-B480-6D48FEA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SHUF</a:t>
            </a:r>
          </a:p>
        </p:txBody>
      </p:sp>
      <p:sp>
        <p:nvSpPr>
          <p:cNvPr id="14" name="trans-3">
            <a:extLst xmlns:a="http://schemas.openxmlformats.org/drawingml/2006/main">
              <a:ext uri="{FF2B5EF4-FFF2-40B4-BE49-F238E27FC236}">
                <a16:creationId xmlns:a16="http://schemas.microsoft.com/office/drawing/2014/main" id="{9E07F21B-33E5-492C-80AF-60678194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A6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ns-3-title">
            <a:extLst xmlns:a="http://schemas.openxmlformats.org/drawingml/2006/main">
              <a:ext uri="{FF2B5EF4-FFF2-40B4-BE49-F238E27FC236}">
                <a16:creationId xmlns:a16="http://schemas.microsoft.com/office/drawing/2014/main" id="{D5EAB594-873C-412F-A784-570D43D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QBIN50</a:t>
            </a:r>
          </a:p>
        </p:txBody>
      </p:sp>
      <p:sp>
        <p:nvSpPr>
          <p:cNvPr id="16" name="trans-4">
            <a:extLst xmlns:a="http://schemas.openxmlformats.org/drawingml/2006/main">
              <a:ext uri="{FF2B5EF4-FFF2-40B4-BE49-F238E27FC236}">
                <a16:creationId xmlns:a16="http://schemas.microsoft.com/office/drawing/2014/main" id="{5D43D756-2320-4946-9BE2-C0EB2F0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ans-4-title">
            <a:extLst xmlns:a="http://schemas.openxmlformats.org/drawingml/2006/main">
              <a:ext uri="{FF2B5EF4-FFF2-40B4-BE49-F238E27FC236}">
                <a16:creationId xmlns:a16="http://schemas.microsoft.com/office/drawing/2014/main" id="{EF75D031-9417-46E1-B9BC-2AC2502B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PSORT10</a:t>
            </a:r>
          </a:p>
        </p:txBody>
      </p:sp>
      <p:sp>
        <p:nvSpPr>
          <p:cNvPr id="18" name="timer">
            <a:extLst xmlns:a="http://schemas.openxmlformats.org/drawingml/2006/main">
              <a:ext uri="{FF2B5EF4-FFF2-40B4-BE49-F238E27FC236}">
                <a16:creationId xmlns:a16="http://schemas.microsoft.com/office/drawing/2014/main" id="{1015C254-CE3D-4ADC-AC02-D945873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2524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imer-title">
            <a:extLst xmlns:a="http://schemas.openxmlformats.org/drawingml/2006/main">
              <a:ext uri="{FF2B5EF4-FFF2-40B4-BE49-F238E27FC236}">
                <a16:creationId xmlns:a16="http://schemas.microsoft.com/office/drawing/2014/main" id="{CEDC8E34-73F8-49BB-A993-F29F88A1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002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timed copies</a:t>
            </a:r>
          </a:p>
        </p:txBody>
      </p:sp>
      <p:sp>
        <p:nvSpPr>
          <p:cNvPr id="20" name="timer-body">
            <a:extLst xmlns:a="http://schemas.openxmlformats.org/drawingml/2006/main">
              <a:ext uri="{FF2B5EF4-FFF2-40B4-BE49-F238E27FC236}">
                <a16:creationId xmlns:a16="http://schemas.microsoft.com/office/drawing/2014/main" id="{7C7E99EA-9141-4BB0-B4D2-77FEE22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33875"/>
            <a:ext cx="2181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Introsort / Heapsort / Timsort</a:t>
            </a:r>
          </a:p>
        </p:txBody>
      </p:sp>
      <p:sp>
        <p:nvSpPr>
          <p:cNvPr id="21" name="label-arr-from">
            <a:extLst xmlns:a="http://schemas.openxmlformats.org/drawingml/2006/main">
              <a:ext uri="{FF2B5EF4-FFF2-40B4-BE49-F238E27FC236}">
                <a16:creationId xmlns:a16="http://schemas.microsoft.com/office/drawing/2014/main" id="{3CE7EC83-26CA-404B-8EA0-B2AA278F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bel-arr-to">
            <a:extLst xmlns:a="http://schemas.openxmlformats.org/drawingml/2006/main">
              <a:ext uri="{FF2B5EF4-FFF2-40B4-BE49-F238E27FC236}">
                <a16:creationId xmlns:a16="http://schemas.microsoft.com/office/drawing/2014/main" id="{C6CBB141-13B5-406B-B120-FBBD4639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label-arr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6867525" y="34956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label-equation">
            <a:extLst xmlns:a="http://schemas.openxmlformats.org/drawingml/2006/main">
              <a:ext uri="{FF2B5EF4-FFF2-40B4-BE49-F238E27FC236}">
                <a16:creationId xmlns:a16="http://schemas.microsoft.com/office/drawing/2014/main" id="{143C3627-1A33-484E-8C33-192CF87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label(x) = argmin_a T(a, x)</a:t>
            </a:r>
          </a:p>
        </p:txBody>
      </p:sp>
      <p:sp>
        <p:nvSpPr>
          <p:cNvPr id="25" name="label-note">
            <a:extLst xmlns:a="http://schemas.openxmlformats.org/drawingml/2006/main">
              <a:ext uri="{FF2B5EF4-FFF2-40B4-BE49-F238E27FC236}">
                <a16:creationId xmlns:a16="http://schemas.microsoft.com/office/drawing/2014/main" id="{BDEC129B-2E8C-483C-82C8-CF10269C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9125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RAW, REV, SHUF, QBIN50, and PSORT10 force a non-trivial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442532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278525E-4BF3-4B37-95AF-7914D3E6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B2DC8B5-6010-4168-BAE2-6417201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B9D8869-6CE3-4E56-9BAE-568DCFC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94B29-F4B7-4F24-A1C2-97438D3D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Training Dataset and Split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DF96CE-6A51-4F1E-BE0A-6D0B39D0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71F27CB-3F27-43B1-B00A-7986E763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12/28</a:t>
            </a:r>
          </a:p>
        </p:txBody>
      </p:sp>
      <p:sp>
        <p:nvSpPr>
          <p:cNvPr id="7" name="split-0">
            <a:extLst xmlns:a="http://schemas.openxmlformats.org/drawingml/2006/main">
              <a:ext uri="{FF2B5EF4-FFF2-40B4-BE49-F238E27FC236}">
                <a16:creationId xmlns:a16="http://schemas.microsoft.com/office/drawing/2014/main" id="{01762426-D077-41B2-839C-059A37BA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plit-0-title">
            <a:extLst xmlns:a="http://schemas.openxmlformats.org/drawingml/2006/main">
              <a:ext uri="{FF2B5EF4-FFF2-40B4-BE49-F238E27FC236}">
                <a16:creationId xmlns:a16="http://schemas.microsoft.com/office/drawing/2014/main" id="{35227FDD-B2ED-4C9B-81A1-AAB117C8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1,188,265</a:t>
            </a:r>
          </a:p>
        </p:txBody>
      </p:sp>
      <p:sp>
        <p:nvSpPr>
          <p:cNvPr id="9" name="split-0-body">
            <a:extLst xmlns:a="http://schemas.openxmlformats.org/drawingml/2006/main">
              <a:ext uri="{FF2B5EF4-FFF2-40B4-BE49-F238E27FC236}">
                <a16:creationId xmlns:a16="http://schemas.microsoft.com/office/drawing/2014/main" id="{B4B89DF7-E860-4451-82EA-13D227C1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collected arrays</a:t>
            </a:r>
          </a:p>
        </p:txBody>
      </p:sp>
      <p:sp>
        <p:nvSpPr>
          <p:cNvPr id="10" name="split-arr-0-from">
            <a:extLst xmlns:a="http://schemas.openxmlformats.org/drawingml/2006/main">
              <a:ext uri="{FF2B5EF4-FFF2-40B4-BE49-F238E27FC236}">
                <a16:creationId xmlns:a16="http://schemas.microsoft.com/office/drawing/2014/main" id="{3F80D0DC-C3E5-4271-92A2-15E0715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lit-arr-0-to">
            <a:extLst xmlns:a="http://schemas.openxmlformats.org/drawingml/2006/main">
              <a:ext uri="{FF2B5EF4-FFF2-40B4-BE49-F238E27FC236}">
                <a16:creationId xmlns:a16="http://schemas.microsoft.com/office/drawing/2014/main" id="{31F51D91-E311-4970-9B2D-3E9307EE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split-arr-0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4805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3" name="split-1">
            <a:extLst xmlns:a="http://schemas.openxmlformats.org/drawingml/2006/main">
              <a:ext uri="{FF2B5EF4-FFF2-40B4-BE49-F238E27FC236}">
                <a16:creationId xmlns:a16="http://schemas.microsoft.com/office/drawing/2014/main" id="{C16D092D-3B5A-4463-A13E-89CDF08D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split-1-title">
            <a:extLst xmlns:a="http://schemas.openxmlformats.org/drawingml/2006/main">
              <a:ext uri="{FF2B5EF4-FFF2-40B4-BE49-F238E27FC236}">
                <a16:creationId xmlns:a16="http://schemas.microsoft.com/office/drawing/2014/main" id="{89657E0F-FD11-47A5-818B-04CEBA21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1,082,547</a:t>
            </a:r>
          </a:p>
        </p:txBody>
      </p:sp>
      <p:sp>
        <p:nvSpPr>
          <p:cNvPr id="15" name="split-1-body">
            <a:extLst xmlns:a="http://schemas.openxmlformats.org/drawingml/2006/main">
              <a:ext uri="{FF2B5EF4-FFF2-40B4-BE49-F238E27FC236}">
                <a16:creationId xmlns:a16="http://schemas.microsoft.com/office/drawing/2014/main" id="{C045E6E7-0CD5-4B68-9850-1F1FAC6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near-tie filter</a:t>
            </a:r>
          </a:p>
        </p:txBody>
      </p:sp>
      <p:sp>
        <p:nvSpPr>
          <p:cNvPr id="16" name="split-arr-1-from">
            <a:extLst xmlns:a="http://schemas.openxmlformats.org/drawingml/2006/main">
              <a:ext uri="{FF2B5EF4-FFF2-40B4-BE49-F238E27FC236}">
                <a16:creationId xmlns:a16="http://schemas.microsoft.com/office/drawing/2014/main" id="{5FA4C064-74B1-4FD5-87DC-B0862753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lit-arr-1-to">
            <a:extLst xmlns:a="http://schemas.openxmlformats.org/drawingml/2006/main">
              <a:ext uri="{FF2B5EF4-FFF2-40B4-BE49-F238E27FC236}">
                <a16:creationId xmlns:a16="http://schemas.microsoft.com/office/drawing/2014/main" id="{17533EE8-E994-477E-809A-10A15A04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split-arr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78167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split-2">
            <a:extLst xmlns:a="http://schemas.openxmlformats.org/drawingml/2006/main">
              <a:ext uri="{FF2B5EF4-FFF2-40B4-BE49-F238E27FC236}">
                <a16:creationId xmlns:a16="http://schemas.microsoft.com/office/drawing/2014/main" id="{BE65BCD0-B7B6-46E5-8EDB-819BCF52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plit-2-title">
            <a:extLst xmlns:a="http://schemas.openxmlformats.org/drawingml/2006/main">
              <a:ext uri="{FF2B5EF4-FFF2-40B4-BE49-F238E27FC236}">
                <a16:creationId xmlns:a16="http://schemas.microsoft.com/office/drawing/2014/main" id="{86FD07FD-7925-4B05-B1E4-F234BD2D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196,624</a:t>
            </a:r>
          </a:p>
        </p:txBody>
      </p:sp>
      <p:sp>
        <p:nvSpPr>
          <p:cNvPr id="21" name="split-2-body">
            <a:extLst xmlns:a="http://schemas.openxmlformats.org/drawingml/2006/main">
              <a:ext uri="{FF2B5EF4-FFF2-40B4-BE49-F238E27FC236}">
                <a16:creationId xmlns:a16="http://schemas.microsoft.com/office/drawing/2014/main" id="{9DF07E23-5D59-4CDE-99E1-D149A19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majority cap</a:t>
            </a:r>
          </a:p>
        </p:txBody>
      </p:sp>
      <p:sp>
        <p:nvSpPr>
          <p:cNvPr id="22" name="split-arr-2-from">
            <a:extLst xmlns:a="http://schemas.openxmlformats.org/drawingml/2006/main">
              <a:ext uri="{FF2B5EF4-FFF2-40B4-BE49-F238E27FC236}">
                <a16:creationId xmlns:a16="http://schemas.microsoft.com/office/drawing/2014/main" id="{EAE97008-1786-4EF2-BBF8-63F4426E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lit-arr-2-to">
            <a:extLst xmlns:a="http://schemas.openxmlformats.org/drawingml/2006/main">
              <a:ext uri="{FF2B5EF4-FFF2-40B4-BE49-F238E27FC236}">
                <a16:creationId xmlns:a16="http://schemas.microsoft.com/office/drawing/2014/main" id="{52CB6399-F0C4-4C2C-B06E-B81C9B5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split-arr-2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11530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split-3">
            <a:extLst xmlns:a="http://schemas.openxmlformats.org/drawingml/2006/main">
              <a:ext uri="{FF2B5EF4-FFF2-40B4-BE49-F238E27FC236}">
                <a16:creationId xmlns:a16="http://schemas.microsoft.com/office/drawing/2014/main" id="{B88EF7FB-4953-4AA7-A599-A693E5F5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split-3-title">
            <a:extLst xmlns:a="http://schemas.openxmlformats.org/drawingml/2006/main">
              <a:ext uri="{FF2B5EF4-FFF2-40B4-BE49-F238E27FC236}">
                <a16:creationId xmlns:a16="http://schemas.microsoft.com/office/drawing/2014/main" id="{922804FB-27A2-45DE-A0E9-55E68959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137,636</a:t>
            </a:r>
          </a:p>
        </p:txBody>
      </p:sp>
      <p:sp>
        <p:nvSpPr>
          <p:cNvPr id="27" name="split-3-body">
            <a:extLst xmlns:a="http://schemas.openxmlformats.org/drawingml/2006/main">
              <a:ext uri="{FF2B5EF4-FFF2-40B4-BE49-F238E27FC236}">
                <a16:creationId xmlns:a16="http://schemas.microsoft.com/office/drawing/2014/main" id="{0875ACC0-7474-4C82-A0C7-B72E254B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train</a:t>
            </a:r>
          </a:p>
        </p:txBody>
      </p:sp>
      <p:sp>
        <p:nvSpPr>
          <p:cNvPr id="28" name="split-arr-3-from">
            <a:extLst xmlns:a="http://schemas.openxmlformats.org/drawingml/2006/main">
              <a:ext uri="{FF2B5EF4-FFF2-40B4-BE49-F238E27FC236}">
                <a16:creationId xmlns:a16="http://schemas.microsoft.com/office/drawing/2014/main" id="{470CDA57-A8FF-47D5-BE7A-D777EAC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lit-arr-3-to">
            <a:extLst xmlns:a="http://schemas.openxmlformats.org/drawingml/2006/main">
              <a:ext uri="{FF2B5EF4-FFF2-40B4-BE49-F238E27FC236}">
                <a16:creationId xmlns:a16="http://schemas.microsoft.com/office/drawing/2014/main" id="{D533FA55-D7E4-42F8-8612-4AB7849F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split-arr-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1044892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plit-4">
            <a:extLst xmlns:a="http://schemas.openxmlformats.org/drawingml/2006/main">
              <a:ext uri="{FF2B5EF4-FFF2-40B4-BE49-F238E27FC236}">
                <a16:creationId xmlns:a16="http://schemas.microsoft.com/office/drawing/2014/main" id="{1E017A0F-6667-4137-90FD-17FD421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plit-4-title">
            <a:extLst xmlns:a="http://schemas.openxmlformats.org/drawingml/2006/main">
              <a:ext uri="{FF2B5EF4-FFF2-40B4-BE49-F238E27FC236}">
                <a16:creationId xmlns:a16="http://schemas.microsoft.com/office/drawing/2014/main" id="{D2F119F3-05AF-4644-9D43-284562B8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29,494 / 29,494</a:t>
            </a:r>
          </a:p>
        </p:txBody>
      </p:sp>
      <p:sp>
        <p:nvSpPr>
          <p:cNvPr id="33" name="split-4-body">
            <a:extLst xmlns:a="http://schemas.openxmlformats.org/drawingml/2006/main">
              <a:ext uri="{FF2B5EF4-FFF2-40B4-BE49-F238E27FC236}">
                <a16:creationId xmlns:a16="http://schemas.microsoft.com/office/drawing/2014/main" id="{1CEA2EDC-D3AD-4C0A-A7CF-5562F15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validation / test</a:t>
            </a:r>
          </a:p>
        </p:txBody>
      </p:sp>
      <p:sp>
        <p:nvSpPr>
          <p:cNvPr id="34" name="control-0">
            <a:extLst xmlns:a="http://schemas.openxmlformats.org/drawingml/2006/main">
              <a:ext uri="{FF2B5EF4-FFF2-40B4-BE49-F238E27FC236}">
                <a16:creationId xmlns:a16="http://schemas.microsoft.com/office/drawing/2014/main" id="{EC6ACD30-3E38-4CF6-8AFC-1B9D815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control-0-title">
            <a:extLst xmlns:a="http://schemas.openxmlformats.org/drawingml/2006/main">
              <a:ext uri="{FF2B5EF4-FFF2-40B4-BE49-F238E27FC236}">
                <a16:creationId xmlns:a16="http://schemas.microsoft.com/office/drawing/2014/main" id="{5EA9F7CA-BB87-4565-AE74-419E9517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near-tie filtering</a:t>
            </a:r>
          </a:p>
        </p:txBody>
      </p:sp>
      <p:sp>
        <p:nvSpPr>
          <p:cNvPr id="36" name="control-0-body">
            <a:extLst xmlns:a="http://schemas.openxmlformats.org/drawingml/2006/main">
              <a:ext uri="{FF2B5EF4-FFF2-40B4-BE49-F238E27FC236}">
                <a16:creationId xmlns:a16="http://schemas.microsoft.com/office/drawing/2014/main" id="{170BE790-395B-4F36-A745-97BBB847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remove ambiguous fastest labels</a:t>
            </a:r>
          </a:p>
        </p:txBody>
      </p:sp>
      <p:sp>
        <p:nvSpPr>
          <p:cNvPr id="37" name="control-1">
            <a:extLst xmlns:a="http://schemas.openxmlformats.org/drawingml/2006/main">
              <a:ext uri="{FF2B5EF4-FFF2-40B4-BE49-F238E27FC236}">
                <a16:creationId xmlns:a16="http://schemas.microsoft.com/office/drawing/2014/main" id="{A746ECD1-7A2C-4A9E-ADD9-7C23DF6B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control-1-title">
            <a:extLst xmlns:a="http://schemas.openxmlformats.org/drawingml/2006/main">
              <a:ext uri="{FF2B5EF4-FFF2-40B4-BE49-F238E27FC236}">
                <a16:creationId xmlns:a16="http://schemas.microsoft.com/office/drawing/2014/main" id="{FCA7346D-CFE7-4CAD-9C62-E5ACCC1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3x majority cap</a:t>
            </a:r>
          </a:p>
        </p:txBody>
      </p:sp>
      <p:sp>
        <p:nvSpPr>
          <p:cNvPr id="39" name="control-1-body">
            <a:extLst xmlns:a="http://schemas.openxmlformats.org/drawingml/2006/main">
              <a:ext uri="{FF2B5EF4-FFF2-40B4-BE49-F238E27FC236}">
                <a16:creationId xmlns:a16="http://schemas.microsoft.com/office/drawing/2014/main" id="{C2840A6B-B2ED-4888-8FF8-588F53C9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stop Timsort dominance</a:t>
            </a:r>
          </a:p>
        </p:txBody>
      </p:sp>
      <p:sp>
        <p:nvSpPr>
          <p:cNvPr id="40" name="control-2">
            <a:extLst xmlns:a="http://schemas.openxmlformats.org/drawingml/2006/main">
              <a:ext uri="{FF2B5EF4-FFF2-40B4-BE49-F238E27FC236}">
                <a16:creationId xmlns:a16="http://schemas.microsoft.com/office/drawing/2014/main" id="{1FC3633E-15BF-446E-8F6F-8CE4693A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control-2-title">
            <a:extLst xmlns:a="http://schemas.openxmlformats.org/drawingml/2006/main">
              <a:ext uri="{FF2B5EF4-FFF2-40B4-BE49-F238E27FC236}">
                <a16:creationId xmlns:a16="http://schemas.microsoft.com/office/drawing/2014/main" id="{7E97B477-455B-4C7A-BF86-41D2647C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inverse-frequency weights</a:t>
            </a:r>
          </a:p>
        </p:txBody>
      </p:sp>
      <p:sp>
        <p:nvSpPr>
          <p:cNvPr id="42" name="control-2-body">
            <a:extLst xmlns:a="http://schemas.openxmlformats.org/drawingml/2006/main">
              <a:ext uri="{FF2B5EF4-FFF2-40B4-BE49-F238E27FC236}">
                <a16:creationId xmlns:a16="http://schemas.microsoft.com/office/drawing/2014/main" id="{73A41BA4-3317-4EA9-93F0-91F8AB8B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minority classes matter during loss</a:t>
            </a:r>
          </a:p>
        </p:txBody>
      </p:sp>
      <p:sp>
        <p:nvSpPr>
          <p:cNvPr id="43" name="control-3">
            <a:extLst xmlns:a="http://schemas.openxmlformats.org/drawingml/2006/main">
              <a:ext uri="{FF2B5EF4-FFF2-40B4-BE49-F238E27FC236}">
                <a16:creationId xmlns:a16="http://schemas.microsoft.com/office/drawing/2014/main" id="{A56D65F6-F2E3-401E-9CEE-333FCFD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4" name="control-3-title">
            <a:extLst xmlns:a="http://schemas.openxmlformats.org/drawingml/2006/main">
              <a:ext uri="{FF2B5EF4-FFF2-40B4-BE49-F238E27FC236}">
                <a16:creationId xmlns:a16="http://schemas.microsoft.com/office/drawing/2014/main" id="{98174EE3-C4AA-4431-A3A5-7DEDC60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seed 42</a:t>
            </a:r>
          </a:p>
        </p:txBody>
      </p:sp>
      <p:sp>
        <p:nvSpPr>
          <p:cNvPr id="45" name="control-3-body">
            <a:extLst xmlns:a="http://schemas.openxmlformats.org/drawingml/2006/main">
              <a:ext uri="{FF2B5EF4-FFF2-40B4-BE49-F238E27FC236}">
                <a16:creationId xmlns:a16="http://schemas.microsoft.com/office/drawing/2014/main" id="{589C5EAB-3ECB-4694-BECA-CBDF703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stratified 70 / 15 / 15 split</a:t>
            </a:r>
          </a:p>
        </p:txBody>
      </p:sp>
    </p:spTree>
    <p:extLst>
      <p:ext uri="{BB962C8B-B14F-4D97-AF65-F5344CB8AC3E}">
        <p14:creationId xmlns:p14="http://schemas.microsoft.com/office/powerpoint/2010/main" val="9167784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4DA2D41-2876-4E66-9570-8E3A08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27E1F04-31EA-4691-A23C-74088C6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6AFAE1C-8C10-4CE0-8431-9B7D1BA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90AB55-51E6-4F02-9D71-284C795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model learns a probability for each sorting choice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4B0B60-20BF-4116-BDC3-2926D1D5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F2BB1C4-40D4-4A45-A180-4C199A5E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13/28</a:t>
            </a:r>
          </a:p>
        </p:txBody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C055E1AC-8045-4313-9EB3-B11862BA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2095500" cy="2952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input-title">
            <a:extLst xmlns:a="http://schemas.openxmlformats.org/drawingml/2006/main">
              <a:ext uri="{FF2B5EF4-FFF2-40B4-BE49-F238E27FC236}">
                <a16:creationId xmlns:a16="http://schemas.microsoft.com/office/drawing/2014/main" id="{2424D117-8249-4B89-8001-ED4A9CBB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52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</a:defRPr>
            </a:pPr>
            <a:r>
              <a:rPr sz="1650" b="1">
                <a:solidFill>
                  <a:srgbClr val="B9152A"/>
                </a:solidFill>
              </a:rPr>
              <a:t>f(x) in R^16</a:t>
            </a:r>
          </a:p>
        </p:txBody>
      </p:sp>
      <p:sp>
        <p:nvSpPr>
          <p:cNvPr id="9" name="input-body">
            <a:extLst xmlns:a="http://schemas.openxmlformats.org/drawingml/2006/main">
              <a:ext uri="{FF2B5EF4-FFF2-40B4-BE49-F238E27FC236}">
                <a16:creationId xmlns:a16="http://schemas.microsoft.com/office/drawing/2014/main" id="{E43ABBCA-03FA-45CE-B4F0-0B417DB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76500"/>
            <a:ext cx="1752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length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sortedness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duplicates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entropy</a:t>
            </a:r>
          </a:p>
        </p:txBody>
      </p:sp>
      <p:sp>
        <p:nvSpPr>
          <p:cNvPr id="10" name="model">
            <a:extLst xmlns:a="http://schemas.openxmlformats.org/drawingml/2006/main">
              <a:ext uri="{FF2B5EF4-FFF2-40B4-BE49-F238E27FC236}">
                <a16:creationId xmlns:a16="http://schemas.microsoft.com/office/drawing/2014/main" id="{D396BA52-694E-4FE3-8B5F-410C28A9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857500" cy="2952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1C32D44B-8755-4C4C-AD25-AB7B2C71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52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class probability model</a:t>
            </a:r>
          </a:p>
        </p:txBody>
      </p:sp>
      <p:sp>
        <p:nvSpPr>
          <p:cNvPr id="12" name="tree-dot-0">
            <a:extLst xmlns:a="http://schemas.openxmlformats.org/drawingml/2006/main">
              <a:ext uri="{FF2B5EF4-FFF2-40B4-BE49-F238E27FC236}">
                <a16:creationId xmlns:a16="http://schemas.microsoft.com/office/drawing/2014/main" id="{A620E6E7-ED25-4446-ADF3-34D38F60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dot-1">
            <a:extLst xmlns:a="http://schemas.openxmlformats.org/drawingml/2006/main">
              <a:ext uri="{FF2B5EF4-FFF2-40B4-BE49-F238E27FC236}">
                <a16:creationId xmlns:a16="http://schemas.microsoft.com/office/drawing/2014/main" id="{1FA9E377-95A4-43E9-8021-FC168249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dot-2">
            <a:extLst xmlns:a="http://schemas.openxmlformats.org/drawingml/2006/main">
              <a:ext uri="{FF2B5EF4-FFF2-40B4-BE49-F238E27FC236}">
                <a16:creationId xmlns:a16="http://schemas.microsoft.com/office/drawing/2014/main" id="{1BF3CF1C-15A1-4F7B-BA15-1D82D666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ee-dot-3">
            <a:extLst xmlns:a="http://schemas.openxmlformats.org/drawingml/2006/main">
              <a:ext uri="{FF2B5EF4-FFF2-40B4-BE49-F238E27FC236}">
                <a16:creationId xmlns:a16="http://schemas.microsoft.com/office/drawing/2014/main" id="{924CCFFE-1AC3-4486-B11F-D13A6B6F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dot-4">
            <a:extLst xmlns:a="http://schemas.openxmlformats.org/drawingml/2006/main">
              <a:ext uri="{FF2B5EF4-FFF2-40B4-BE49-F238E27FC236}">
                <a16:creationId xmlns:a16="http://schemas.microsoft.com/office/drawing/2014/main" id="{D96C6F3D-7434-4EE1-8BBA-731004A6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ee-l1">
            <a:extLst xmlns:a="http://schemas.openxmlformats.org/drawingml/2006/main">
              <a:ext uri="{FF2B5EF4-FFF2-40B4-BE49-F238E27FC236}">
                <a16:creationId xmlns:a16="http://schemas.microsoft.com/office/drawing/2014/main" id="{7363FC84-0EB0-4ABC-96EE-375A7EE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52750"/>
            <a:ext cx="37147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ee-l2">
            <a:extLst xmlns:a="http://schemas.openxmlformats.org/drawingml/2006/main">
              <a:ext uri="{FF2B5EF4-FFF2-40B4-BE49-F238E27FC236}">
                <a16:creationId xmlns:a16="http://schemas.microsoft.com/office/drawing/2014/main" id="{F0E68895-D878-455E-B218-36C6F419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-3810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l3">
            <a:extLst xmlns:a="http://schemas.openxmlformats.org/drawingml/2006/main">
              <a:ext uri="{FF2B5EF4-FFF2-40B4-BE49-F238E27FC236}">
                <a16:creationId xmlns:a16="http://schemas.microsoft.com/office/drawing/2014/main" id="{F93B2A82-FF0F-4B9C-9DBE-E365B0EA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-1809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0" name="tree-l4">
            <a:extLst xmlns:a="http://schemas.openxmlformats.org/drawingml/2006/main">
              <a:ext uri="{FF2B5EF4-FFF2-40B4-BE49-F238E27FC236}">
                <a16:creationId xmlns:a16="http://schemas.microsoft.com/office/drawing/2014/main" id="{400683AE-15ED-43FD-8EE5-55612A7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2000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1" name="model-metric">
            <a:extLst xmlns:a="http://schemas.openxmlformats.org/drawingml/2006/main">
              <a:ext uri="{FF2B5EF4-FFF2-40B4-BE49-F238E27FC236}">
                <a16:creationId xmlns:a16="http://schemas.microsoft.com/office/drawing/2014/main" id="{1999C9E9-8BEA-4BCF-87E3-59372A8F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objective: multi:softprob</a:t>
            </a:r>
          </a:p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metric: mlogloss</a:t>
            </a:r>
          </a:p>
        </p:txBody>
      </p:sp>
      <p:sp>
        <p:nvSpPr>
          <p:cNvPr id="22" name="output">
            <a:extLst xmlns:a="http://schemas.openxmlformats.org/drawingml/2006/main">
              <a:ext uri="{FF2B5EF4-FFF2-40B4-BE49-F238E27FC236}">
                <a16:creationId xmlns:a16="http://schemas.microsoft.com/office/drawing/2014/main" id="{D5B5F6F9-FC6A-4E5D-AC44-E17974B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2286000" cy="2952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0E0E2066-AD3E-4AFA-BA94-04EEFA7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output</a:t>
            </a:r>
          </a:p>
        </p:txBody>
      </p:sp>
      <p:sp>
        <p:nvSpPr>
          <p:cNvPr id="24" name="prob-name-0">
            <a:extLst xmlns:a="http://schemas.openxmlformats.org/drawingml/2006/main">
              <a:ext uri="{FF2B5EF4-FFF2-40B4-BE49-F238E27FC236}">
                <a16:creationId xmlns:a16="http://schemas.microsoft.com/office/drawing/2014/main" id="{6371A47F-D029-49F6-BE09-DF26D244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146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25" name="prob-bar-0">
            <a:extLst xmlns:a="http://schemas.openxmlformats.org/drawingml/2006/main">
              <a:ext uri="{FF2B5EF4-FFF2-40B4-BE49-F238E27FC236}">
                <a16:creationId xmlns:a16="http://schemas.microsoft.com/office/drawing/2014/main" id="{2511F62C-4786-4885-9EC2-6F9CC4D5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717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b-name-1">
            <a:extLst xmlns:a="http://schemas.openxmlformats.org/drawingml/2006/main">
              <a:ext uri="{FF2B5EF4-FFF2-40B4-BE49-F238E27FC236}">
                <a16:creationId xmlns:a16="http://schemas.microsoft.com/office/drawing/2014/main" id="{6DB85538-F210-44FE-B1FB-D7CB651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051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27" name="prob-bar-1">
            <a:extLst xmlns:a="http://schemas.openxmlformats.org/drawingml/2006/main">
              <a:ext uri="{FF2B5EF4-FFF2-40B4-BE49-F238E27FC236}">
                <a16:creationId xmlns:a16="http://schemas.microsoft.com/office/drawing/2014/main" id="{2370C372-001D-4789-AA90-D1451E5D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-name-2">
            <a:extLst xmlns:a="http://schemas.openxmlformats.org/drawingml/2006/main">
              <a:ext uri="{FF2B5EF4-FFF2-40B4-BE49-F238E27FC236}">
                <a16:creationId xmlns:a16="http://schemas.microsoft.com/office/drawing/2014/main" id="{F4F8B8E8-3174-4E0E-BDD1-BFC08900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957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Timsort</a:t>
            </a:r>
          </a:p>
        </p:txBody>
      </p:sp>
      <p:sp>
        <p:nvSpPr>
          <p:cNvPr id="29" name="prob-bar-2">
            <a:extLst xmlns:a="http://schemas.openxmlformats.org/drawingml/2006/main">
              <a:ext uri="{FF2B5EF4-FFF2-40B4-BE49-F238E27FC236}">
                <a16:creationId xmlns:a16="http://schemas.microsoft.com/office/drawing/2014/main" id="{4EFAC895-4374-41C3-B76C-A9742655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52875"/>
            <a:ext cx="904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oose">
            <a:extLst xmlns:a="http://schemas.openxmlformats.org/drawingml/2006/main">
              <a:ext uri="{FF2B5EF4-FFF2-40B4-BE49-F238E27FC236}">
                <a16:creationId xmlns:a16="http://schemas.microsoft.com/office/drawing/2014/main" id="{C940B8D8-6EBF-47AC-9404-5C777B4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338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choose highest probability</a:t>
            </a:r>
          </a:p>
        </p:txBody>
      </p:sp>
      <p:sp>
        <p:nvSpPr>
          <p:cNvPr id="31" name="prob-a1-from">
            <a:extLst xmlns:a="http://schemas.openxmlformats.org/drawingml/2006/main">
              <a:ext uri="{FF2B5EF4-FFF2-40B4-BE49-F238E27FC236}">
                <a16:creationId xmlns:a16="http://schemas.microsoft.com/office/drawing/2014/main" id="{F67E62B3-F80C-436C-BB5D-DF134DA7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b-a1-to">
            <a:extLst xmlns:a="http://schemas.openxmlformats.org/drawingml/2006/main">
              <a:ext uri="{FF2B5EF4-FFF2-40B4-BE49-F238E27FC236}">
                <a16:creationId xmlns:a16="http://schemas.microsoft.com/office/drawing/2014/main" id="{73AD91E4-45C7-4B28-9A1A-DEB81698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prob-a1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638550" y="34861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prob-a2-from">
            <a:extLst xmlns:a="http://schemas.openxmlformats.org/drawingml/2006/main">
              <a:ext uri="{FF2B5EF4-FFF2-40B4-BE49-F238E27FC236}">
                <a16:creationId xmlns:a16="http://schemas.microsoft.com/office/drawing/2014/main" id="{C1D3528A-E3BA-493F-A505-18964DB0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b-a2-to">
            <a:extLst xmlns:a="http://schemas.openxmlformats.org/drawingml/2006/main">
              <a:ext uri="{FF2B5EF4-FFF2-40B4-BE49-F238E27FC236}">
                <a16:creationId xmlns:a16="http://schemas.microsoft.com/office/drawing/2014/main" id="{5D3AFDD8-56F9-4DC0-8B3D-F3CCC0D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2" name="prob-a2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543925" y="34861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883868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BCE1B53-EDB8-4E81-BB69-2A458AE9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BD8E3A2-0558-46DF-8BB1-BA169CDA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F65722A-2FA7-4057-A8A6-B84D965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5196FC-A5F5-4166-910F-FC16CEC1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training signal is balanced before the trees learn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42E79F-6218-445F-968D-F239A82C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01FC277-D827-4055-9A0F-95E90091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14/28</a:t>
            </a:r>
          </a:p>
        </p:txBody>
      </p:sp>
      <p:sp>
        <p:nvSpPr>
          <p:cNvPr id="7" name="sig-0">
            <a:extLst xmlns:a="http://schemas.openxmlformats.org/drawingml/2006/main">
              <a:ext uri="{FF2B5EF4-FFF2-40B4-BE49-F238E27FC236}">
                <a16:creationId xmlns:a16="http://schemas.microsoft.com/office/drawing/2014/main" id="{46D8A210-8EE3-4CF1-9DA2-EF12D800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ig-0-title">
            <a:extLst xmlns:a="http://schemas.openxmlformats.org/drawingml/2006/main">
              <a:ext uri="{FF2B5EF4-FFF2-40B4-BE49-F238E27FC236}">
                <a16:creationId xmlns:a16="http://schemas.microsoft.com/office/drawing/2014/main" id="{FD880488-84F3-416E-8241-AADDB93C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raw fastest-label signal</a:t>
            </a:r>
          </a:p>
        </p:txBody>
      </p:sp>
      <p:sp>
        <p:nvSpPr>
          <p:cNvPr id="9" name="mini-bar-260-300-0">
            <a:extLst xmlns:a="http://schemas.openxmlformats.org/drawingml/2006/main">
              <a:ext uri="{FF2B5EF4-FFF2-40B4-BE49-F238E27FC236}">
                <a16:creationId xmlns:a16="http://schemas.microsoft.com/office/drawing/2014/main" id="{3CB28933-D889-48CA-907D-0FCD54E8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308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ni-bar-260-300-1">
            <a:extLst xmlns:a="http://schemas.openxmlformats.org/drawingml/2006/main">
              <a:ext uri="{FF2B5EF4-FFF2-40B4-BE49-F238E27FC236}">
                <a16:creationId xmlns:a16="http://schemas.microsoft.com/office/drawing/2014/main" id="{32ABD7DE-01ED-4C14-B217-EABA8BE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587"/>
            <a:ext cx="152400" cy="295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ni-bar-260-300-2">
            <a:extLst xmlns:a="http://schemas.openxmlformats.org/drawingml/2006/main">
              <a:ext uri="{FF2B5EF4-FFF2-40B4-BE49-F238E27FC236}">
                <a16:creationId xmlns:a16="http://schemas.microsoft.com/office/drawing/2014/main" id="{4C915161-5AC2-4A03-B569-7162DC0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0313"/>
            <a:ext cx="152400" cy="746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axis-260-300">
            <a:extLst xmlns:a="http://schemas.openxmlformats.org/drawingml/2006/main">
              <a:ext uri="{FF2B5EF4-FFF2-40B4-BE49-F238E27FC236}">
                <a16:creationId xmlns:a16="http://schemas.microsoft.com/office/drawing/2014/main" id="{7B8F6DB3-421C-43A4-A01F-1369922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sig-label-0">
            <a:extLst xmlns:a="http://schemas.openxmlformats.org/drawingml/2006/main">
              <a:ext uri="{FF2B5EF4-FFF2-40B4-BE49-F238E27FC236}">
                <a16:creationId xmlns:a16="http://schemas.microsoft.com/office/drawing/2014/main" id="{D489DC56-491A-4038-86A8-7F6631F7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14" name="sig-1">
            <a:extLst xmlns:a="http://schemas.openxmlformats.org/drawingml/2006/main">
              <a:ext uri="{FF2B5EF4-FFF2-40B4-BE49-F238E27FC236}">
                <a16:creationId xmlns:a16="http://schemas.microsoft.com/office/drawing/2014/main" id="{7D9CA05E-8862-44AA-936B-D2DBBC3E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sig-1-title">
            <a:extLst xmlns:a="http://schemas.openxmlformats.org/drawingml/2006/main">
              <a:ext uri="{FF2B5EF4-FFF2-40B4-BE49-F238E27FC236}">
                <a16:creationId xmlns:a16="http://schemas.microsoft.com/office/drawing/2014/main" id="{43493351-0FEC-4800-B9C9-40947515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training controls</a:t>
            </a:r>
          </a:p>
        </p:txBody>
      </p:sp>
      <p:sp>
        <p:nvSpPr>
          <p:cNvPr id="16" name="mini-bar-675-300-0">
            <a:extLst xmlns:a="http://schemas.openxmlformats.org/drawingml/2006/main">
              <a:ext uri="{FF2B5EF4-FFF2-40B4-BE49-F238E27FC236}">
                <a16:creationId xmlns:a16="http://schemas.microsoft.com/office/drawing/2014/main" id="{7827365B-0F45-48F9-AE26-A4964D5B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4803"/>
            <a:ext cx="152400" cy="381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675-300-1">
            <a:extLst xmlns:a="http://schemas.openxmlformats.org/drawingml/2006/main">
              <a:ext uri="{FF2B5EF4-FFF2-40B4-BE49-F238E27FC236}">
                <a16:creationId xmlns:a16="http://schemas.microsoft.com/office/drawing/2014/main" id="{4BC8DC4A-1FC4-4000-A077-388584D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08020"/>
            <a:ext cx="1524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bar-675-300-2">
            <a:extLst xmlns:a="http://schemas.openxmlformats.org/drawingml/2006/main">
              <a:ext uri="{FF2B5EF4-FFF2-40B4-BE49-F238E27FC236}">
                <a16:creationId xmlns:a16="http://schemas.microsoft.com/office/drawing/2014/main" id="{8A8E12BA-98EC-4B4E-8528-62749FCF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ni-axis-675-300">
            <a:extLst xmlns:a="http://schemas.openxmlformats.org/drawingml/2006/main">
              <a:ext uri="{FF2B5EF4-FFF2-40B4-BE49-F238E27FC236}">
                <a16:creationId xmlns:a16="http://schemas.microsoft.com/office/drawing/2014/main" id="{930EA9DB-CEC3-475C-B9A5-6A7EEAB4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ig-label-1">
            <a:extLst xmlns:a="http://schemas.openxmlformats.org/drawingml/2006/main">
              <a:ext uri="{FF2B5EF4-FFF2-40B4-BE49-F238E27FC236}">
                <a16:creationId xmlns:a16="http://schemas.microsoft.com/office/drawing/2014/main" id="{CFB6108E-F41E-43F1-A509-D47490D0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1" name="sig-2">
            <a:extLst xmlns:a="http://schemas.openxmlformats.org/drawingml/2006/main">
              <a:ext uri="{FF2B5EF4-FFF2-40B4-BE49-F238E27FC236}">
                <a16:creationId xmlns:a16="http://schemas.microsoft.com/office/drawing/2014/main" id="{3144C061-E160-4885-85C8-1B6E6DE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sig-2-title">
            <a:extLst xmlns:a="http://schemas.openxmlformats.org/drawingml/2006/main">
              <a:ext uri="{FF2B5EF4-FFF2-40B4-BE49-F238E27FC236}">
                <a16:creationId xmlns:a16="http://schemas.microsoft.com/office/drawing/2014/main" id="{8C57F416-C8C6-4281-A077-60DE0F8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balanced loss pressure</a:t>
            </a:r>
          </a:p>
        </p:txBody>
      </p:sp>
      <p:sp>
        <p:nvSpPr>
          <p:cNvPr id="23" name="mini-bar-1090-300-0">
            <a:extLst xmlns:a="http://schemas.openxmlformats.org/drawingml/2006/main">
              <a:ext uri="{FF2B5EF4-FFF2-40B4-BE49-F238E27FC236}">
                <a16:creationId xmlns:a16="http://schemas.microsoft.com/office/drawing/2014/main" id="{4EE13FBB-0984-4C9E-BF51-28FCE7B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ini-bar-1090-300-1">
            <a:extLst xmlns:a="http://schemas.openxmlformats.org/drawingml/2006/main">
              <a:ext uri="{FF2B5EF4-FFF2-40B4-BE49-F238E27FC236}">
                <a16:creationId xmlns:a16="http://schemas.microsoft.com/office/drawing/2014/main" id="{9F4A08B7-3878-465C-971B-792E37F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25377"/>
            <a:ext cx="152400" cy="45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ni-bar-1090-300-2">
            <a:extLst xmlns:a="http://schemas.openxmlformats.org/drawingml/2006/main">
              <a:ext uri="{FF2B5EF4-FFF2-40B4-BE49-F238E27FC236}">
                <a16:creationId xmlns:a16="http://schemas.microsoft.com/office/drawing/2014/main" id="{63F9A73E-879C-4BF1-8B4D-92271F0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4055"/>
            <a:ext cx="152400" cy="442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ini-axis-1090-300">
            <a:extLst xmlns:a="http://schemas.openxmlformats.org/drawingml/2006/main">
              <a:ext uri="{FF2B5EF4-FFF2-40B4-BE49-F238E27FC236}">
                <a16:creationId xmlns:a16="http://schemas.microsoft.com/office/drawing/2014/main" id="{04BE6D32-7BAD-48C2-9650-ACBEE2B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sig-label-2">
            <a:extLst xmlns:a="http://schemas.openxmlformats.org/drawingml/2006/main">
              <a:ext uri="{FF2B5EF4-FFF2-40B4-BE49-F238E27FC236}">
                <a16:creationId xmlns:a16="http://schemas.microsoft.com/office/drawing/2014/main" id="{57037B8C-6BF9-4243-A00C-1C111F2E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8" name="sig-a1-from">
            <a:extLst xmlns:a="http://schemas.openxmlformats.org/drawingml/2006/main">
              <a:ext uri="{FF2B5EF4-FFF2-40B4-BE49-F238E27FC236}">
                <a16:creationId xmlns:a16="http://schemas.microsoft.com/office/drawing/2014/main" id="{27C8AB8E-CE4F-4FF9-93DE-C6D25D6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ig-a1-to">
            <a:extLst xmlns:a="http://schemas.openxmlformats.org/drawingml/2006/main">
              <a:ext uri="{FF2B5EF4-FFF2-40B4-BE49-F238E27FC236}">
                <a16:creationId xmlns:a16="http://schemas.microsoft.com/office/drawing/2014/main" id="{3EEF2994-9CD7-4269-854B-BDE6AFB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sig-a1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400550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ig-a2-from">
            <a:extLst xmlns:a="http://schemas.openxmlformats.org/drawingml/2006/main">
              <a:ext uri="{FF2B5EF4-FFF2-40B4-BE49-F238E27FC236}">
                <a16:creationId xmlns:a16="http://schemas.microsoft.com/office/drawing/2014/main" id="{4AE390C1-87FC-467D-A1E4-64449CD8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ig-a2-to">
            <a:extLst xmlns:a="http://schemas.openxmlformats.org/drawingml/2006/main">
              <a:ext uri="{FF2B5EF4-FFF2-40B4-BE49-F238E27FC236}">
                <a16:creationId xmlns:a16="http://schemas.microsoft.com/office/drawing/2014/main" id="{C6F1A531-58CA-49DD-B6C9-08E1D186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sig-a2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353425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sig-bottom">
            <a:extLst xmlns:a="http://schemas.openxmlformats.org/drawingml/2006/main">
              <a:ext uri="{FF2B5EF4-FFF2-40B4-BE49-F238E27FC236}">
                <a16:creationId xmlns:a16="http://schemas.microsoft.com/office/drawing/2014/main" id="{CC393A68-26E3-4C94-9386-C874145A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767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near-tie filtering + majority cap + inverse-frequency sample weights</a:t>
            </a:r>
          </a:p>
        </p:txBody>
      </p:sp>
    </p:spTree>
    <p:extLst>
      <p:ext uri="{BB962C8B-B14F-4D97-AF65-F5344CB8AC3E}">
        <p14:creationId xmlns:p14="http://schemas.microsoft.com/office/powerpoint/2010/main" val="4543854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6E7F53A-9C2C-4E4D-A863-5C860D0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7C2916D-F9D2-4747-8141-6672A737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F2396EA-D39F-44A1-9FD4-681ADD0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64D0E1-E4A6-4AD4-B4B1-F5266078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XGBoost corrects class scores using first and second order information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0935EF-C71E-4C76-92ED-C94BA482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55E4779-70CB-488B-8FA1-F00A559C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15/28</a:t>
            </a:r>
          </a:p>
        </p:txBody>
      </p:sp>
      <p:sp>
        <p:nvSpPr>
          <p:cNvPr id="7" name="gradframe">
            <a:extLst xmlns:a="http://schemas.openxmlformats.org/drawingml/2006/main">
              <a:ext uri="{FF2B5EF4-FFF2-40B4-BE49-F238E27FC236}">
                <a16:creationId xmlns:a16="http://schemas.microsoft.com/office/drawing/2014/main" id="{302596DC-E51D-41B3-A0CE-5840E555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105251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grad">
            <a:extLst xmlns:a="http://schemas.openxmlformats.org/drawingml/2006/main">
              <a:ext uri="{FF2B5EF4-FFF2-40B4-BE49-F238E27FC236}">
                <a16:creationId xmlns:a16="http://schemas.microsoft.com/office/drawing/2014/main" id="{20D06440-1E77-4462-8FAC-4E5D15DA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grad-title">
            <a:extLst xmlns:a="http://schemas.openxmlformats.org/drawingml/2006/main">
              <a:ext uri="{FF2B5EF4-FFF2-40B4-BE49-F238E27FC236}">
                <a16:creationId xmlns:a16="http://schemas.microsoft.com/office/drawing/2014/main" id="{5ADDAD2D-4456-485A-ABD1-8191CE18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</a:defRPr>
            </a:pPr>
            <a:r>
              <a:rPr sz="1650" b="1">
                <a:solidFill>
                  <a:srgbClr val="B9152A"/>
                </a:solidFill>
              </a:rPr>
              <a:t>first-order gradient</a:t>
            </a:r>
          </a:p>
        </p:txBody>
      </p:sp>
      <p:sp>
        <p:nvSpPr>
          <p:cNvPr id="10" name="grad-body">
            <a:extLst xmlns:a="http://schemas.openxmlformats.org/drawingml/2006/main">
              <a:ext uri="{FF2B5EF4-FFF2-40B4-BE49-F238E27FC236}">
                <a16:creationId xmlns:a16="http://schemas.microsoft.com/office/drawing/2014/main" id="{835790F2-C41F-418C-B7A3-9FE16D0F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direction of score correction</a:t>
            </a:r>
          </a:p>
        </p:txBody>
      </p:sp>
      <p:sp>
        <p:nvSpPr>
          <p:cNvPr id="11" name="grad-symbol">
            <a:extLst xmlns:a="http://schemas.openxmlformats.org/drawingml/2006/main">
              <a:ext uri="{FF2B5EF4-FFF2-40B4-BE49-F238E27FC236}">
                <a16:creationId xmlns:a16="http://schemas.microsoft.com/office/drawing/2014/main" id="{507F2E38-942E-42BF-9E93-4E530FB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∂L/∂ŷ</a:t>
            </a:r>
          </a:p>
        </p:txBody>
      </p:sp>
      <p:sp>
        <p:nvSpPr>
          <p:cNvPr id="12" name="hess">
            <a:extLst xmlns:a="http://schemas.openxmlformats.org/drawingml/2006/main">
              <a:ext uri="{FF2B5EF4-FFF2-40B4-BE49-F238E27FC236}">
                <a16:creationId xmlns:a16="http://schemas.microsoft.com/office/drawing/2014/main" id="{F361F34A-EB48-4395-B6E9-8049400C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hess-title">
            <a:extLst xmlns:a="http://schemas.openxmlformats.org/drawingml/2006/main">
              <a:ext uri="{FF2B5EF4-FFF2-40B4-BE49-F238E27FC236}">
                <a16:creationId xmlns:a16="http://schemas.microsoft.com/office/drawing/2014/main" id="{236FE385-C7C8-4CD6-A006-B9EFF8F2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</a:defRPr>
            </a:pPr>
            <a:r>
              <a:rPr sz="1650" b="1">
                <a:solidFill>
                  <a:srgbClr val="B9152A"/>
                </a:solidFill>
              </a:rPr>
              <a:t>second-order Hessian</a:t>
            </a:r>
          </a:p>
        </p:txBody>
      </p:sp>
      <p:sp>
        <p:nvSpPr>
          <p:cNvPr id="14" name="hess-body">
            <a:extLst xmlns:a="http://schemas.openxmlformats.org/drawingml/2006/main">
              <a:ext uri="{FF2B5EF4-FFF2-40B4-BE49-F238E27FC236}">
                <a16:creationId xmlns:a16="http://schemas.microsoft.com/office/drawing/2014/main" id="{FA85E720-225E-4754-A053-CC0EC47D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curvature / strength of correction</a:t>
            </a:r>
          </a:p>
        </p:txBody>
      </p:sp>
      <p:sp>
        <p:nvSpPr>
          <p:cNvPr id="15" name="hess-symbol">
            <a:extLst xmlns:a="http://schemas.openxmlformats.org/drawingml/2006/main">
              <a:ext uri="{FF2B5EF4-FFF2-40B4-BE49-F238E27FC236}">
                <a16:creationId xmlns:a16="http://schemas.microsoft.com/office/drawing/2014/main" id="{927DCA84-7979-4BD3-8109-9793302C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∂²L/∂ŷ²</a:t>
            </a:r>
          </a:p>
        </p:txBody>
      </p:sp>
      <p:sp>
        <p:nvSpPr>
          <p:cNvPr id="16" name="gh-arrow-from">
            <a:extLst xmlns:a="http://schemas.openxmlformats.org/drawingml/2006/main">
              <a:ext uri="{FF2B5EF4-FFF2-40B4-BE49-F238E27FC236}">
                <a16:creationId xmlns:a16="http://schemas.microsoft.com/office/drawing/2014/main" id="{93C142A1-89C5-45EA-A6DB-C04717EF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h-arrow-to">
            <a:extLst xmlns:a="http://schemas.openxmlformats.org/drawingml/2006/main">
              <a:ext uri="{FF2B5EF4-FFF2-40B4-BE49-F238E27FC236}">
                <a16:creationId xmlns:a16="http://schemas.microsoft.com/office/drawing/2014/main" id="{DC8042D8-3849-431C-A904-C35AA384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gh-arrow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305550" y="35814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gh-bottom">
            <a:extLst xmlns:a="http://schemas.openxmlformats.org/drawingml/2006/main">
              <a:ext uri="{FF2B5EF4-FFF2-40B4-BE49-F238E27FC236}">
                <a16:creationId xmlns:a16="http://schemas.microsoft.com/office/drawing/2014/main" id="{25159725-109F-4A32-84D8-976CB799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multi:softprob + mlogloss</a:t>
            </a:r>
          </a:p>
        </p:txBody>
      </p:sp>
    </p:spTree>
    <p:extLst>
      <p:ext uri="{BB962C8B-B14F-4D97-AF65-F5344CB8AC3E}">
        <p14:creationId xmlns:p14="http://schemas.microsoft.com/office/powerpoint/2010/main" val="8442253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8B16646-2C6D-42F3-B56A-8E09830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9BB2644-9572-45D0-81F8-19BD1009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945D80A-F849-47A6-81FE-02096F5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CF5774-DA21-45E1-B3E6-B9549E9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5BEDDB-F4CB-4883-B173-BA2282AF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8DA04CE-54FA-4E6E-B76E-373029F6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16/28</a:t>
            </a:r>
          </a:p>
        </p:txBody>
      </p:sp>
      <p:sp>
        <p:nvSpPr>
          <p:cNvPr id="7" name="tree-0">
            <a:extLst xmlns:a="http://schemas.openxmlformats.org/drawingml/2006/main">
              <a:ext uri="{FF2B5EF4-FFF2-40B4-BE49-F238E27FC236}">
                <a16:creationId xmlns:a16="http://schemas.microsoft.com/office/drawing/2014/main" id="{F04B2B56-DBAC-4B71-AFD6-FCFFB95D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-dot-0-0">
            <a:extLst xmlns:a="http://schemas.openxmlformats.org/drawingml/2006/main">
              <a:ext uri="{FF2B5EF4-FFF2-40B4-BE49-F238E27FC236}">
                <a16:creationId xmlns:a16="http://schemas.microsoft.com/office/drawing/2014/main" id="{F2B6C86F-187A-49E2-82B4-8E1571A5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-dot-0-1">
            <a:extLst xmlns:a="http://schemas.openxmlformats.org/drawingml/2006/main">
              <a:ext uri="{FF2B5EF4-FFF2-40B4-BE49-F238E27FC236}">
                <a16:creationId xmlns:a16="http://schemas.microsoft.com/office/drawing/2014/main" id="{CF0E6905-04F3-4604-8131-0A8810F6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-dot-0-2">
            <a:extLst xmlns:a="http://schemas.openxmlformats.org/drawingml/2006/main">
              <a:ext uri="{FF2B5EF4-FFF2-40B4-BE49-F238E27FC236}">
                <a16:creationId xmlns:a16="http://schemas.microsoft.com/office/drawing/2014/main" id="{728EBD22-6788-4DD6-A087-B32312F0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-line-0-1">
            <a:extLst xmlns:a="http://schemas.openxmlformats.org/drawingml/2006/main">
              <a:ext uri="{FF2B5EF4-FFF2-40B4-BE49-F238E27FC236}">
                <a16:creationId xmlns:a16="http://schemas.microsoft.com/office/drawing/2014/main" id="{FA884EFB-5ECC-4500-AB5F-C3A18F1B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2" name="tr-line-0-2">
            <a:extLst xmlns:a="http://schemas.openxmlformats.org/drawingml/2006/main">
              <a:ext uri="{FF2B5EF4-FFF2-40B4-BE49-F238E27FC236}">
                <a16:creationId xmlns:a16="http://schemas.microsoft.com/office/drawing/2014/main" id="{088E4B1D-61AD-4D1F-81A6-518D09CD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3" name="tree-1">
            <a:extLst xmlns:a="http://schemas.openxmlformats.org/drawingml/2006/main">
              <a:ext uri="{FF2B5EF4-FFF2-40B4-BE49-F238E27FC236}">
                <a16:creationId xmlns:a16="http://schemas.microsoft.com/office/drawing/2014/main" id="{BAAE7CF4-0565-46B7-B4E2-DCB20E72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tr-dot-1-0">
            <a:extLst xmlns:a="http://schemas.openxmlformats.org/drawingml/2006/main">
              <a:ext uri="{FF2B5EF4-FFF2-40B4-BE49-F238E27FC236}">
                <a16:creationId xmlns:a16="http://schemas.microsoft.com/office/drawing/2014/main" id="{DDFBCDDB-0766-4A0F-9B3C-588828F6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-dot-1-1">
            <a:extLst xmlns:a="http://schemas.openxmlformats.org/drawingml/2006/main">
              <a:ext uri="{FF2B5EF4-FFF2-40B4-BE49-F238E27FC236}">
                <a16:creationId xmlns:a16="http://schemas.microsoft.com/office/drawing/2014/main" id="{F08004A2-A6C9-4A79-80C3-D15EFEF9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-dot-1-2">
            <a:extLst xmlns:a="http://schemas.openxmlformats.org/drawingml/2006/main">
              <a:ext uri="{FF2B5EF4-FFF2-40B4-BE49-F238E27FC236}">
                <a16:creationId xmlns:a16="http://schemas.microsoft.com/office/drawing/2014/main" id="{DFC7419D-4BB8-4EE1-BE3A-B39A4A68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-line-1-1">
            <a:extLst xmlns:a="http://schemas.openxmlformats.org/drawingml/2006/main">
              <a:ext uri="{FF2B5EF4-FFF2-40B4-BE49-F238E27FC236}">
                <a16:creationId xmlns:a16="http://schemas.microsoft.com/office/drawing/2014/main" id="{FD7990B2-CA2B-407A-B031-BAA0554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-line-1-2">
            <a:extLst xmlns:a="http://schemas.openxmlformats.org/drawingml/2006/main">
              <a:ext uri="{FF2B5EF4-FFF2-40B4-BE49-F238E27FC236}">
                <a16:creationId xmlns:a16="http://schemas.microsoft.com/office/drawing/2014/main" id="{3B9D8F3A-FE3B-4D76-BF10-778C9A8C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2">
            <a:extLst xmlns:a="http://schemas.openxmlformats.org/drawingml/2006/main">
              <a:ext uri="{FF2B5EF4-FFF2-40B4-BE49-F238E27FC236}">
                <a16:creationId xmlns:a16="http://schemas.microsoft.com/office/drawing/2014/main" id="{FAFFC92A-B2DF-4ED2-9455-14D6000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tr-dot-2-0">
            <a:extLst xmlns:a="http://schemas.openxmlformats.org/drawingml/2006/main">
              <a:ext uri="{FF2B5EF4-FFF2-40B4-BE49-F238E27FC236}">
                <a16:creationId xmlns:a16="http://schemas.microsoft.com/office/drawing/2014/main" id="{F149FF6F-AB82-42DC-B386-71B67C3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-dot-2-1">
            <a:extLst xmlns:a="http://schemas.openxmlformats.org/drawingml/2006/main">
              <a:ext uri="{FF2B5EF4-FFF2-40B4-BE49-F238E27FC236}">
                <a16:creationId xmlns:a16="http://schemas.microsoft.com/office/drawing/2014/main" id="{6C6CEF9A-F46A-4F41-B732-C76D40BC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-dot-2-2">
            <a:extLst xmlns:a="http://schemas.openxmlformats.org/drawingml/2006/main">
              <a:ext uri="{FF2B5EF4-FFF2-40B4-BE49-F238E27FC236}">
                <a16:creationId xmlns:a16="http://schemas.microsoft.com/office/drawing/2014/main" id="{19AC37EE-55EB-4BD6-B327-8669EBA0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-line-2-1">
            <a:extLst xmlns:a="http://schemas.openxmlformats.org/drawingml/2006/main">
              <a:ext uri="{FF2B5EF4-FFF2-40B4-BE49-F238E27FC236}">
                <a16:creationId xmlns:a16="http://schemas.microsoft.com/office/drawing/2014/main" id="{95F3518A-1DB5-4410-9F9D-0DC85E5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4" name="tr-line-2-2">
            <a:extLst xmlns:a="http://schemas.openxmlformats.org/drawingml/2006/main">
              <a:ext uri="{FF2B5EF4-FFF2-40B4-BE49-F238E27FC236}">
                <a16:creationId xmlns:a16="http://schemas.microsoft.com/office/drawing/2014/main" id="{616BEED0-B3C8-48FE-9D62-22B328C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5" name="ens-lab-0">
            <a:extLst xmlns:a="http://schemas.openxmlformats.org/drawingml/2006/main">
              <a:ext uri="{FF2B5EF4-FFF2-40B4-BE49-F238E27FC236}">
                <a16:creationId xmlns:a16="http://schemas.microsoft.com/office/drawing/2014/main" id="{33CA5757-8BEA-4401-8BB3-498FFB9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ens-lab-0-title">
            <a:extLst xmlns:a="http://schemas.openxmlformats.org/drawingml/2006/main">
              <a:ext uri="{FF2B5EF4-FFF2-40B4-BE49-F238E27FC236}">
                <a16:creationId xmlns:a16="http://schemas.microsoft.com/office/drawing/2014/main" id="{BE383E49-168E-4646-B1EC-C94221E7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learning rate 0.05</a:t>
            </a:r>
          </a:p>
        </p:txBody>
      </p:sp>
      <p:sp>
        <p:nvSpPr>
          <p:cNvPr id="27" name="ens-line-0">
            <a:extLst xmlns:a="http://schemas.openxmlformats.org/drawingml/2006/main">
              <a:ext uri="{FF2B5EF4-FFF2-40B4-BE49-F238E27FC236}">
                <a16:creationId xmlns:a16="http://schemas.microsoft.com/office/drawing/2014/main" id="{1174F629-7D05-4E14-BAC5-37079CAA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9775"/>
            <a:ext cx="4286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28" name="ens-lab-1">
            <a:extLst xmlns:a="http://schemas.openxmlformats.org/drawingml/2006/main">
              <a:ext uri="{FF2B5EF4-FFF2-40B4-BE49-F238E27FC236}">
                <a16:creationId xmlns:a16="http://schemas.microsoft.com/office/drawing/2014/main" id="{00F61FC9-D592-4CF8-AC25-078645A4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ens-lab-1-title">
            <a:extLst xmlns:a="http://schemas.openxmlformats.org/drawingml/2006/main">
              <a:ext uri="{FF2B5EF4-FFF2-40B4-BE49-F238E27FC236}">
                <a16:creationId xmlns:a16="http://schemas.microsoft.com/office/drawing/2014/main" id="{F6E86962-F519-4CAE-977C-0D9A137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depth 7</a:t>
            </a:r>
          </a:p>
        </p:txBody>
      </p:sp>
      <p:sp>
        <p:nvSpPr>
          <p:cNvPr id="30" name="ens-line-1">
            <a:extLst xmlns:a="http://schemas.openxmlformats.org/drawingml/2006/main">
              <a:ext uri="{FF2B5EF4-FFF2-40B4-BE49-F238E27FC236}">
                <a16:creationId xmlns:a16="http://schemas.microsoft.com/office/drawing/2014/main" id="{606276AB-85F8-40C6-8340-16C6C97E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2857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1" name="ens-lab-2">
            <a:extLst xmlns:a="http://schemas.openxmlformats.org/drawingml/2006/main">
              <a:ext uri="{FF2B5EF4-FFF2-40B4-BE49-F238E27FC236}">
                <a16:creationId xmlns:a16="http://schemas.microsoft.com/office/drawing/2014/main" id="{549F4D9B-F67A-4ECF-A3C7-3AE93F76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ens-lab-2-title">
            <a:extLst xmlns:a="http://schemas.openxmlformats.org/drawingml/2006/main">
              <a:ext uri="{FF2B5EF4-FFF2-40B4-BE49-F238E27FC236}">
                <a16:creationId xmlns:a16="http://schemas.microsoft.com/office/drawing/2014/main" id="{9FB5E14D-24F5-424B-ABA6-718AD8C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500 trees</a:t>
            </a:r>
          </a:p>
        </p:txBody>
      </p:sp>
      <p:sp>
        <p:nvSpPr>
          <p:cNvPr id="33" name="ens-line-2">
            <a:extLst xmlns:a="http://schemas.openxmlformats.org/drawingml/2006/main">
              <a:ext uri="{FF2B5EF4-FFF2-40B4-BE49-F238E27FC236}">
                <a16:creationId xmlns:a16="http://schemas.microsoft.com/office/drawing/2014/main" id="{06997910-3CC3-4727-A635-B5002934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9775"/>
            <a:ext cx="-109537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34" name="ens-lab-3">
            <a:extLst xmlns:a="http://schemas.openxmlformats.org/drawingml/2006/main">
              <a:ext uri="{FF2B5EF4-FFF2-40B4-BE49-F238E27FC236}">
                <a16:creationId xmlns:a16="http://schemas.microsoft.com/office/drawing/2014/main" id="{F99E3A97-49A1-4414-BE7F-B1343A3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ens-lab-3-title">
            <a:extLst xmlns:a="http://schemas.openxmlformats.org/drawingml/2006/main">
              <a:ext uri="{FF2B5EF4-FFF2-40B4-BE49-F238E27FC236}">
                <a16:creationId xmlns:a16="http://schemas.microsoft.com/office/drawing/2014/main" id="{90448465-BA31-41C2-AE57-8DE8F533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row sample 80%</a:t>
            </a:r>
          </a:p>
        </p:txBody>
      </p:sp>
      <p:sp>
        <p:nvSpPr>
          <p:cNvPr id="36" name="ens-line-3">
            <a:extLst xmlns:a="http://schemas.openxmlformats.org/drawingml/2006/main">
              <a:ext uri="{FF2B5EF4-FFF2-40B4-BE49-F238E27FC236}">
                <a16:creationId xmlns:a16="http://schemas.microsoft.com/office/drawing/2014/main" id="{AB9F7D06-EA4B-4703-B234-4832D2FC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43525"/>
            <a:ext cx="4286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7" name="ens-lab-4">
            <a:extLst xmlns:a="http://schemas.openxmlformats.org/drawingml/2006/main">
              <a:ext uri="{FF2B5EF4-FFF2-40B4-BE49-F238E27FC236}">
                <a16:creationId xmlns:a16="http://schemas.microsoft.com/office/drawing/2014/main" id="{8ECAAAD7-A008-4DCC-AEEE-8D57D0A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ens-lab-4-title">
            <a:extLst xmlns:a="http://schemas.openxmlformats.org/drawingml/2006/main">
              <a:ext uri="{FF2B5EF4-FFF2-40B4-BE49-F238E27FC236}">
                <a16:creationId xmlns:a16="http://schemas.microsoft.com/office/drawing/2014/main" id="{09ED1D5F-F892-45A0-AE02-21F99C65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feature sample 80%</a:t>
            </a:r>
          </a:p>
        </p:txBody>
      </p:sp>
      <p:sp>
        <p:nvSpPr>
          <p:cNvPr id="39" name="ens-line-4">
            <a:extLst xmlns:a="http://schemas.openxmlformats.org/drawingml/2006/main">
              <a:ext uri="{FF2B5EF4-FFF2-40B4-BE49-F238E27FC236}">
                <a16:creationId xmlns:a16="http://schemas.microsoft.com/office/drawing/2014/main" id="{124A0773-1A39-492F-8553-B0C3E43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29275"/>
            <a:ext cx="285750" cy="-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40" name="ens-lab-5">
            <a:extLst xmlns:a="http://schemas.openxmlformats.org/drawingml/2006/main">
              <a:ext uri="{FF2B5EF4-FFF2-40B4-BE49-F238E27FC236}">
                <a16:creationId xmlns:a16="http://schemas.microsoft.com/office/drawing/2014/main" id="{3F44DA0E-4576-4EA2-A289-AA625A1D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ens-lab-5-title">
            <a:extLst xmlns:a="http://schemas.openxmlformats.org/drawingml/2006/main">
              <a:ext uri="{FF2B5EF4-FFF2-40B4-BE49-F238E27FC236}">
                <a16:creationId xmlns:a16="http://schemas.microsoft.com/office/drawing/2014/main" id="{48C48ACC-E51B-4DAC-B4BE-AF4DEC42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L1 / L2 regularisation</a:t>
            </a:r>
          </a:p>
        </p:txBody>
      </p:sp>
      <p:sp>
        <p:nvSpPr>
          <p:cNvPr id="42" name="ens-line-5">
            <a:extLst xmlns:a="http://schemas.openxmlformats.org/drawingml/2006/main">
              <a:ext uri="{FF2B5EF4-FFF2-40B4-BE49-F238E27FC236}">
                <a16:creationId xmlns:a16="http://schemas.microsoft.com/office/drawing/2014/main" id="{4DC098C0-1AF0-4C6C-8574-010601D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43525"/>
            <a:ext cx="-10001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31590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0E99C27-6450-41F4-863E-AB1DC6C7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25DF71C-3E71-44F0-A897-2A751AC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576C26A-03D7-4DFD-A8B3-582A6F6E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7F145C-8176-427D-B631-C938148B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Strict checks define the boundary of the reported result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3530AE-3760-43E5-95B9-49E94D2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881E51B-87E4-4F9F-B7F9-7F8157C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17/28</a:t>
            </a:r>
          </a:p>
        </p:txBody>
      </p:sp>
      <p:sp>
        <p:nvSpPr>
          <p:cNvPr id="7" name="strict-chart">
            <a:extLst xmlns:a="http://schemas.openxmlformats.org/drawingml/2006/main">
              <a:ext uri="{FF2B5EF4-FFF2-40B4-BE49-F238E27FC236}">
                <a16:creationId xmlns:a16="http://schemas.microsoft.com/office/drawing/2014/main" id="{A5C7C17C-472F-4629-9F49-97C7738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14500"/>
            <a:ext cx="10858500" cy="4238625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trict-axis">
            <a:extLst xmlns:a="http://schemas.openxmlformats.org/drawingml/2006/main">
              <a:ext uri="{FF2B5EF4-FFF2-40B4-BE49-F238E27FC236}">
                <a16:creationId xmlns:a16="http://schemas.microsoft.com/office/drawing/2014/main" id="{2693183D-18D1-47E9-AF8D-D648C0CE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1490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strict-yaxis">
            <a:extLst xmlns:a="http://schemas.openxmlformats.org/drawingml/2006/main">
              <a:ext uri="{FF2B5EF4-FFF2-40B4-BE49-F238E27FC236}">
                <a16:creationId xmlns:a16="http://schemas.microsoft.com/office/drawing/2014/main" id="{41EFB6CC-8950-4799-BB74-ADE36118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strict-bar-0-0">
            <a:extLst xmlns:a="http://schemas.openxmlformats.org/drawingml/2006/main">
              <a:ext uri="{FF2B5EF4-FFF2-40B4-BE49-F238E27FC236}">
                <a16:creationId xmlns:a16="http://schemas.microsoft.com/office/drawing/2014/main" id="{A6ACF95C-6AB7-4FFA-AB80-B1E91296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75254"/>
            <a:ext cx="419100" cy="173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ict-val-0-0">
            <a:extLst xmlns:a="http://schemas.openxmlformats.org/drawingml/2006/main">
              <a:ext uri="{FF2B5EF4-FFF2-40B4-BE49-F238E27FC236}">
                <a16:creationId xmlns:a16="http://schemas.microsoft.com/office/drawing/2014/main" id="{DD4101DC-0B4C-434E-B5AD-30510E49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760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12" name="strict-bar-0-1">
            <a:extLst xmlns:a="http://schemas.openxmlformats.org/drawingml/2006/main">
              <a:ext uri="{FF2B5EF4-FFF2-40B4-BE49-F238E27FC236}">
                <a16:creationId xmlns:a16="http://schemas.microsoft.com/office/drawing/2014/main" id="{F35B21AC-0A9C-4715-B32B-3B8E9CCF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2414"/>
            <a:ext cx="419100" cy="1602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ict-val-0-1">
            <a:extLst xmlns:a="http://schemas.openxmlformats.org/drawingml/2006/main">
              <a:ext uri="{FF2B5EF4-FFF2-40B4-BE49-F238E27FC236}">
                <a16:creationId xmlns:a16="http://schemas.microsoft.com/office/drawing/2014/main" id="{AB4FC0D9-E680-48BD-A4C0-63DC59D8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6476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70.1%</a:t>
            </a:r>
          </a:p>
        </p:txBody>
      </p:sp>
      <p:sp>
        <p:nvSpPr>
          <p:cNvPr id="14" name="strict-cat-0">
            <a:extLst xmlns:a="http://schemas.openxmlformats.org/drawingml/2006/main">
              <a:ext uri="{FF2B5EF4-FFF2-40B4-BE49-F238E27FC236}">
                <a16:creationId xmlns:a16="http://schemas.microsoft.com/office/drawing/2014/main" id="{B3225319-E88F-4C6F-8D3F-B7A47C6D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15" name="strict-bar-1-0">
            <a:extLst xmlns:a="http://schemas.openxmlformats.org/drawingml/2006/main">
              <a:ext uri="{FF2B5EF4-FFF2-40B4-BE49-F238E27FC236}">
                <a16:creationId xmlns:a16="http://schemas.microsoft.com/office/drawing/2014/main" id="{BEF6F523-D514-40A1-925E-F409E76D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3287268"/>
            <a:ext cx="419100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ict-val-1-0">
            <a:extLst xmlns:a="http://schemas.openxmlformats.org/drawingml/2006/main">
              <a:ext uri="{FF2B5EF4-FFF2-40B4-BE49-F238E27FC236}">
                <a16:creationId xmlns:a16="http://schemas.microsoft.com/office/drawing/2014/main" id="{B87EF4A0-1231-4B82-8D3E-BA8BDD8A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303961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17" name="strict-bar-1-1">
            <a:extLst xmlns:a="http://schemas.openxmlformats.org/drawingml/2006/main">
              <a:ext uri="{FF2B5EF4-FFF2-40B4-BE49-F238E27FC236}">
                <a16:creationId xmlns:a16="http://schemas.microsoft.com/office/drawing/2014/main" id="{8E058EA1-86F8-42F2-8C5C-449A73C3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396996"/>
            <a:ext cx="419100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ict-val-1-1">
            <a:extLst xmlns:a="http://schemas.openxmlformats.org/drawingml/2006/main">
              <a:ext uri="{FF2B5EF4-FFF2-40B4-BE49-F238E27FC236}">
                <a16:creationId xmlns:a16="http://schemas.microsoft.com/office/drawing/2014/main" id="{E588A343-3836-4B5F-80E0-1088B1D2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314934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66.4%</a:t>
            </a:r>
          </a:p>
        </p:txBody>
      </p:sp>
      <p:sp>
        <p:nvSpPr>
          <p:cNvPr id="19" name="strict-cat-1">
            <a:extLst xmlns:a="http://schemas.openxmlformats.org/drawingml/2006/main">
              <a:ext uri="{FF2B5EF4-FFF2-40B4-BE49-F238E27FC236}">
                <a16:creationId xmlns:a16="http://schemas.microsoft.com/office/drawing/2014/main" id="{D0C3C365-0820-4496-B470-69E2F0C2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20" name="strict-bar-2-0">
            <a:extLst xmlns:a="http://schemas.openxmlformats.org/drawingml/2006/main">
              <a:ext uri="{FF2B5EF4-FFF2-40B4-BE49-F238E27FC236}">
                <a16:creationId xmlns:a16="http://schemas.microsoft.com/office/drawing/2014/main" id="{09024DF5-566D-4D56-BA90-5BE74794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48406"/>
            <a:ext cx="419100" cy="1666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rict-val-2-0">
            <a:extLst xmlns:a="http://schemas.openxmlformats.org/drawingml/2006/main">
              <a:ext uri="{FF2B5EF4-FFF2-40B4-BE49-F238E27FC236}">
                <a16:creationId xmlns:a16="http://schemas.microsoft.com/office/drawing/2014/main" id="{9E837D30-351C-401B-99EF-0AC0AFBC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007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22" name="strict-bar-2-1">
            <a:extLst xmlns:a="http://schemas.openxmlformats.org/drawingml/2006/main">
              <a:ext uri="{FF2B5EF4-FFF2-40B4-BE49-F238E27FC236}">
                <a16:creationId xmlns:a16="http://schemas.microsoft.com/office/drawing/2014/main" id="{5B5AFB31-8770-47BC-85BF-4F2EB2A9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9282"/>
            <a:ext cx="419100" cy="15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rict-val-2-1">
            <a:extLst xmlns:a="http://schemas.openxmlformats.org/drawingml/2006/main">
              <a:ext uri="{FF2B5EF4-FFF2-40B4-BE49-F238E27FC236}">
                <a16:creationId xmlns:a16="http://schemas.microsoft.com/office/drawing/2014/main" id="{0B1443B9-ABAA-452C-ACDB-7A5E2C11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5163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66.3%</a:t>
            </a:r>
          </a:p>
        </p:txBody>
      </p:sp>
      <p:sp>
        <p:nvSpPr>
          <p:cNvPr id="24" name="strict-cat-2">
            <a:extLst xmlns:a="http://schemas.openxmlformats.org/drawingml/2006/main">
              <a:ext uri="{FF2B5EF4-FFF2-40B4-BE49-F238E27FC236}">
                <a16:creationId xmlns:a16="http://schemas.microsoft.com/office/drawing/2014/main" id="{97DFC4CD-AB41-4E50-A116-7674325F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25" name="strict-bar-3-0">
            <a:extLst xmlns:a="http://schemas.openxmlformats.org/drawingml/2006/main">
              <a:ext uri="{FF2B5EF4-FFF2-40B4-BE49-F238E27FC236}">
                <a16:creationId xmlns:a16="http://schemas.microsoft.com/office/drawing/2014/main" id="{422AEA3A-9113-4310-A7A9-826E08B3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255264"/>
            <a:ext cx="419100" cy="1659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rict-val-3-0">
            <a:extLst xmlns:a="http://schemas.openxmlformats.org/drawingml/2006/main">
              <a:ext uri="{FF2B5EF4-FFF2-40B4-BE49-F238E27FC236}">
                <a16:creationId xmlns:a16="http://schemas.microsoft.com/office/drawing/2014/main" id="{19FD2CC5-11A6-41DB-8BA5-522635C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300761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27" name="strict-bar-3-1">
            <a:extLst xmlns:a="http://schemas.openxmlformats.org/drawingml/2006/main">
              <a:ext uri="{FF2B5EF4-FFF2-40B4-BE49-F238E27FC236}">
                <a16:creationId xmlns:a16="http://schemas.microsoft.com/office/drawing/2014/main" id="{A8F1D707-FA39-4682-ABC6-18995E5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536442"/>
            <a:ext cx="419100" cy="137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rict-val-3-1">
            <a:extLst xmlns:a="http://schemas.openxmlformats.org/drawingml/2006/main">
              <a:ext uri="{FF2B5EF4-FFF2-40B4-BE49-F238E27FC236}">
                <a16:creationId xmlns:a16="http://schemas.microsoft.com/office/drawing/2014/main" id="{B6204EC0-68A3-456B-9620-016DA6C1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838" y="328879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60.3%</a:t>
            </a:r>
          </a:p>
        </p:txBody>
      </p:sp>
      <p:sp>
        <p:nvSpPr>
          <p:cNvPr id="29" name="strict-cat-3">
            <a:extLst xmlns:a="http://schemas.openxmlformats.org/drawingml/2006/main">
              <a:ext uri="{FF2B5EF4-FFF2-40B4-BE49-F238E27FC236}">
                <a16:creationId xmlns:a16="http://schemas.microsoft.com/office/drawing/2014/main" id="{509A45DA-5D9B-4AF3-926F-C1F73A4D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v8</a:t>
            </a:r>
          </a:p>
        </p:txBody>
      </p:sp>
      <p:sp>
        <p:nvSpPr>
          <p:cNvPr id="30" name="strict-legend">
            <a:extLst xmlns:a="http://schemas.openxmlformats.org/drawingml/2006/main">
              <a:ext uri="{FF2B5EF4-FFF2-40B4-BE49-F238E27FC236}">
                <a16:creationId xmlns:a16="http://schemas.microsoft.com/office/drawing/2014/main" id="{7F5DDB85-B908-4655-BED1-7972344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97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Accuracy / balanced accuracy</a:t>
            </a:r>
          </a:p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under stricter checks</a:t>
            </a:r>
          </a:p>
        </p:txBody>
      </p:sp>
    </p:spTree>
    <p:extLst>
      <p:ext uri="{BB962C8B-B14F-4D97-AF65-F5344CB8AC3E}">
        <p14:creationId xmlns:p14="http://schemas.microsoft.com/office/powerpoint/2010/main" val="6684566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187ABBE-1578-4930-B2E4-22234644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B225389-0830-4497-93BD-B220ACC1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DF47754-6F9D-4B91-A144-E65925E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B4A430-01D7-4E69-AA0D-E7D72AFB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Model evolution reduced the problem to its deployable form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B1F687-4C1A-4C61-88F1-D5FCBD4E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104CD66-27A1-4D57-AF17-DDECEFAA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18/28</a:t>
            </a:r>
          </a:p>
        </p:txBody>
      </p:sp>
      <p:sp>
        <p:nvSpPr>
          <p:cNvPr id="7" name="evo-frame">
            <a:extLst xmlns:a="http://schemas.openxmlformats.org/drawingml/2006/main">
              <a:ext uri="{FF2B5EF4-FFF2-40B4-BE49-F238E27FC236}">
                <a16:creationId xmlns:a16="http://schemas.microsoft.com/office/drawing/2014/main" id="{51E53A2F-2A8A-4543-B3D9-C01C71A6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1133475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o-bar-0">
            <a:extLst xmlns:a="http://schemas.openxmlformats.org/drawingml/2006/main">
              <a:ext uri="{FF2B5EF4-FFF2-40B4-BE49-F238E27FC236}">
                <a16:creationId xmlns:a16="http://schemas.microsoft.com/office/drawing/2014/main" id="{E996437B-52F6-40D3-91BC-FB3B8C51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9998"/>
            <a:ext cx="666750" cy="1163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-val-0">
            <a:extLst xmlns:a="http://schemas.openxmlformats.org/drawingml/2006/main">
              <a:ext uri="{FF2B5EF4-FFF2-40B4-BE49-F238E27FC236}">
                <a16:creationId xmlns:a16="http://schemas.microsoft.com/office/drawing/2014/main" id="{2C5677A3-83B4-437F-8B15-97D42799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61398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44.4%</a:t>
            </a:r>
          </a:p>
        </p:txBody>
      </p:sp>
      <p:sp>
        <p:nvSpPr>
          <p:cNvPr id="10" name="evo-ver-0">
            <a:extLst xmlns:a="http://schemas.openxmlformats.org/drawingml/2006/main">
              <a:ext uri="{FF2B5EF4-FFF2-40B4-BE49-F238E27FC236}">
                <a16:creationId xmlns:a16="http://schemas.microsoft.com/office/drawing/2014/main" id="{9895576F-0394-4E28-82E8-E8582EA6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v1</a:t>
            </a:r>
          </a:p>
        </p:txBody>
      </p:sp>
      <p:sp>
        <p:nvSpPr>
          <p:cNvPr id="11" name="evo-note-0">
            <a:extLst xmlns:a="http://schemas.openxmlformats.org/drawingml/2006/main">
              <a:ext uri="{FF2B5EF4-FFF2-40B4-BE49-F238E27FC236}">
                <a16:creationId xmlns:a16="http://schemas.microsoft.com/office/drawing/2014/main" id="{B615400A-23A2-44DA-AC9E-DF637346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regression</a:t>
            </a:r>
          </a:p>
        </p:txBody>
      </p:sp>
      <p:sp>
        <p:nvSpPr>
          <p:cNvPr id="12" name="evo-bar-1">
            <a:extLst xmlns:a="http://schemas.openxmlformats.org/drawingml/2006/main">
              <a:ext uri="{FF2B5EF4-FFF2-40B4-BE49-F238E27FC236}">
                <a16:creationId xmlns:a16="http://schemas.microsoft.com/office/drawing/2014/main" id="{7C3C1D1C-2176-4F52-AA4B-09930FC2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5891"/>
            <a:ext cx="666750" cy="1637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-val-1">
            <a:extLst xmlns:a="http://schemas.openxmlformats.org/drawingml/2006/main">
              <a:ext uri="{FF2B5EF4-FFF2-40B4-BE49-F238E27FC236}">
                <a16:creationId xmlns:a16="http://schemas.microsoft.com/office/drawing/2014/main" id="{209C7699-EDFA-48F5-864A-1AEA61B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87291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62.5%</a:t>
            </a:r>
          </a:p>
        </p:txBody>
      </p:sp>
      <p:sp>
        <p:nvSpPr>
          <p:cNvPr id="14" name="evo-ver-1">
            <a:extLst xmlns:a="http://schemas.openxmlformats.org/drawingml/2006/main">
              <a:ext uri="{FF2B5EF4-FFF2-40B4-BE49-F238E27FC236}">
                <a16:creationId xmlns:a16="http://schemas.microsoft.com/office/drawing/2014/main" id="{EF80F56C-214A-4C11-A0EB-782EE02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v2</a:t>
            </a:r>
          </a:p>
        </p:txBody>
      </p:sp>
      <p:sp>
        <p:nvSpPr>
          <p:cNvPr id="15" name="evo-note-1">
            <a:extLst xmlns:a="http://schemas.openxmlformats.org/drawingml/2006/main">
              <a:ext uri="{FF2B5EF4-FFF2-40B4-BE49-F238E27FC236}">
                <a16:creationId xmlns:a16="http://schemas.microsoft.com/office/drawing/2014/main" id="{C1450DBB-A0DE-4459-914B-EAFBF8E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16" name="evo-bar-2">
            <a:extLst xmlns:a="http://schemas.openxmlformats.org/drawingml/2006/main">
              <a:ext uri="{FF2B5EF4-FFF2-40B4-BE49-F238E27FC236}">
                <a16:creationId xmlns:a16="http://schemas.microsoft.com/office/drawing/2014/main" id="{EFFBF565-B4E1-4D40-A21E-07D4BA83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66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-val-2">
            <a:extLst xmlns:a="http://schemas.openxmlformats.org/drawingml/2006/main">
              <a:ext uri="{FF2B5EF4-FFF2-40B4-BE49-F238E27FC236}">
                <a16:creationId xmlns:a16="http://schemas.microsoft.com/office/drawing/2014/main" id="{208AEDC5-6326-43FC-83E2-0AB16133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100.0%</a:t>
            </a:r>
          </a:p>
        </p:txBody>
      </p:sp>
      <p:sp>
        <p:nvSpPr>
          <p:cNvPr id="18" name="evo-ver-2">
            <a:extLst xmlns:a="http://schemas.openxmlformats.org/drawingml/2006/main">
              <a:ext uri="{FF2B5EF4-FFF2-40B4-BE49-F238E27FC236}">
                <a16:creationId xmlns:a16="http://schemas.microsoft.com/office/drawing/2014/main" id="{6DC7CAD8-988E-4004-B84B-24B7F07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v3</a:t>
            </a:r>
          </a:p>
        </p:txBody>
      </p:sp>
      <p:sp>
        <p:nvSpPr>
          <p:cNvPr id="19" name="evo-note-2">
            <a:extLst xmlns:a="http://schemas.openxmlformats.org/drawingml/2006/main">
              <a:ext uri="{FF2B5EF4-FFF2-40B4-BE49-F238E27FC236}">
                <a16:creationId xmlns:a16="http://schemas.microsoft.com/office/drawing/2014/main" id="{D7EDAAC3-CB2F-452F-83E2-29F69346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leakage</a:t>
            </a:r>
          </a:p>
        </p:txBody>
      </p:sp>
      <p:sp>
        <p:nvSpPr>
          <p:cNvPr id="20" name="evo-bar-3">
            <a:extLst xmlns:a="http://schemas.openxmlformats.org/drawingml/2006/main">
              <a:ext uri="{FF2B5EF4-FFF2-40B4-BE49-F238E27FC236}">
                <a16:creationId xmlns:a16="http://schemas.microsoft.com/office/drawing/2014/main" id="{4693DF5E-8E2A-4215-92D0-8825FBC6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9656"/>
            <a:ext cx="666750" cy="199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o-val-3">
            <a:extLst xmlns:a="http://schemas.openxmlformats.org/drawingml/2006/main">
              <a:ext uri="{FF2B5EF4-FFF2-40B4-BE49-F238E27FC236}">
                <a16:creationId xmlns:a16="http://schemas.microsoft.com/office/drawing/2014/main" id="{EC025A37-B4B2-4753-9FC6-2BAF0B27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3105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76.1%</a:t>
            </a:r>
          </a:p>
        </p:txBody>
      </p:sp>
      <p:sp>
        <p:nvSpPr>
          <p:cNvPr id="22" name="evo-ver-3">
            <a:extLst xmlns:a="http://schemas.openxmlformats.org/drawingml/2006/main">
              <a:ext uri="{FF2B5EF4-FFF2-40B4-BE49-F238E27FC236}">
                <a16:creationId xmlns:a16="http://schemas.microsoft.com/office/drawing/2014/main" id="{7CB517D8-C007-48D6-92B2-0638553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v5</a:t>
            </a:r>
          </a:p>
        </p:txBody>
      </p:sp>
      <p:sp>
        <p:nvSpPr>
          <p:cNvPr id="23" name="evo-note-3">
            <a:extLst xmlns:a="http://schemas.openxmlformats.org/drawingml/2006/main">
              <a:ext uri="{FF2B5EF4-FFF2-40B4-BE49-F238E27FC236}">
                <a16:creationId xmlns:a16="http://schemas.microsoft.com/office/drawing/2014/main" id="{96B15B7B-4FF1-4CCB-87E2-527F5C7E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production</a:t>
            </a:r>
          </a:p>
        </p:txBody>
      </p:sp>
      <p:sp>
        <p:nvSpPr>
          <p:cNvPr id="24" name="evo-bar-4">
            <a:extLst xmlns:a="http://schemas.openxmlformats.org/drawingml/2006/main">
              <a:ext uri="{FF2B5EF4-FFF2-40B4-BE49-F238E27FC236}">
                <a16:creationId xmlns:a16="http://schemas.microsoft.com/office/drawing/2014/main" id="{5F928700-0F69-45B2-8D81-2E76F01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8005"/>
            <a:ext cx="666750" cy="186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o-val-4">
            <a:extLst xmlns:a="http://schemas.openxmlformats.org/drawingml/2006/main">
              <a:ext uri="{FF2B5EF4-FFF2-40B4-BE49-F238E27FC236}">
                <a16:creationId xmlns:a16="http://schemas.microsoft.com/office/drawing/2014/main" id="{8C8F6BF3-59C0-442B-B8D7-909F8688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940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71.2%</a:t>
            </a:r>
          </a:p>
        </p:txBody>
      </p:sp>
      <p:sp>
        <p:nvSpPr>
          <p:cNvPr id="26" name="evo-ver-4">
            <a:extLst xmlns:a="http://schemas.openxmlformats.org/drawingml/2006/main">
              <a:ext uri="{FF2B5EF4-FFF2-40B4-BE49-F238E27FC236}">
                <a16:creationId xmlns:a16="http://schemas.microsoft.com/office/drawing/2014/main" id="{BE4D2235-2BE5-4B4C-87ED-A975C32D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v6</a:t>
            </a:r>
          </a:p>
        </p:txBody>
      </p:sp>
      <p:sp>
        <p:nvSpPr>
          <p:cNvPr id="27" name="evo-note-4">
            <a:extLst xmlns:a="http://schemas.openxmlformats.org/drawingml/2006/main">
              <a:ext uri="{FF2B5EF4-FFF2-40B4-BE49-F238E27FC236}">
                <a16:creationId xmlns:a16="http://schemas.microsoft.com/office/drawing/2014/main" id="{44BA651F-22F0-4BCD-BECF-42EA86BB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source-aware</a:t>
            </a:r>
          </a:p>
        </p:txBody>
      </p:sp>
      <p:sp>
        <p:nvSpPr>
          <p:cNvPr id="28" name="evo-bar-5">
            <a:extLst xmlns:a="http://schemas.openxmlformats.org/drawingml/2006/main">
              <a:ext uri="{FF2B5EF4-FFF2-40B4-BE49-F238E27FC236}">
                <a16:creationId xmlns:a16="http://schemas.microsoft.com/office/drawing/2014/main" id="{9E1DA60B-9FE4-440E-B218-5ABA2A14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3476"/>
            <a:ext cx="666750" cy="1909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vo-val-5">
            <a:extLst xmlns:a="http://schemas.openxmlformats.org/drawingml/2006/main">
              <a:ext uri="{FF2B5EF4-FFF2-40B4-BE49-F238E27FC236}">
                <a16:creationId xmlns:a16="http://schemas.microsoft.com/office/drawing/2014/main" id="{ED8D2E38-1400-4A8B-8389-054093C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487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72.9%</a:t>
            </a:r>
          </a:p>
        </p:txBody>
      </p:sp>
      <p:sp>
        <p:nvSpPr>
          <p:cNvPr id="30" name="evo-ver-5">
            <a:extLst xmlns:a="http://schemas.openxmlformats.org/drawingml/2006/main">
              <a:ext uri="{FF2B5EF4-FFF2-40B4-BE49-F238E27FC236}">
                <a16:creationId xmlns:a16="http://schemas.microsoft.com/office/drawing/2014/main" id="{8261DB2C-3746-438A-B8E7-5E23B54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v7</a:t>
            </a:r>
          </a:p>
        </p:txBody>
      </p:sp>
      <p:sp>
        <p:nvSpPr>
          <p:cNvPr id="31" name="evo-note-5">
            <a:extLst xmlns:a="http://schemas.openxmlformats.org/drawingml/2006/main">
              <a:ext uri="{FF2B5EF4-FFF2-40B4-BE49-F238E27FC236}">
                <a16:creationId xmlns:a16="http://schemas.microsoft.com/office/drawing/2014/main" id="{F825DA36-D809-407D-985E-A2706385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regret</a:t>
            </a:r>
          </a:p>
        </p:txBody>
      </p:sp>
      <p:sp>
        <p:nvSpPr>
          <p:cNvPr id="32" name="evo-bar-6">
            <a:extLst xmlns:a="http://schemas.openxmlformats.org/drawingml/2006/main">
              <a:ext uri="{FF2B5EF4-FFF2-40B4-BE49-F238E27FC236}">
                <a16:creationId xmlns:a16="http://schemas.microsoft.com/office/drawing/2014/main" id="{4663874B-E7C6-46A1-9A91-BEF54D2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1334"/>
            <a:ext cx="666750" cy="1901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vo-val-6">
            <a:extLst xmlns:a="http://schemas.openxmlformats.org/drawingml/2006/main">
              <a:ext uri="{FF2B5EF4-FFF2-40B4-BE49-F238E27FC236}">
                <a16:creationId xmlns:a16="http://schemas.microsoft.com/office/drawing/2014/main" id="{FCB21480-EDDD-4A93-8C32-1EB9FCC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227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72.6%</a:t>
            </a:r>
          </a:p>
        </p:txBody>
      </p:sp>
      <p:sp>
        <p:nvSpPr>
          <p:cNvPr id="34" name="evo-ver-6">
            <a:extLst xmlns:a="http://schemas.openxmlformats.org/drawingml/2006/main">
              <a:ext uri="{FF2B5EF4-FFF2-40B4-BE49-F238E27FC236}">
                <a16:creationId xmlns:a16="http://schemas.microsoft.com/office/drawing/2014/main" id="{D3757CD8-B9F1-4661-A8C6-75C38046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v8</a:t>
            </a:r>
          </a:p>
        </p:txBody>
      </p:sp>
      <p:sp>
        <p:nvSpPr>
          <p:cNvPr id="35" name="evo-note-6">
            <a:extLst xmlns:a="http://schemas.openxmlformats.org/drawingml/2006/main">
              <a:ext uri="{FF2B5EF4-FFF2-40B4-BE49-F238E27FC236}">
                <a16:creationId xmlns:a16="http://schemas.microsoft.com/office/drawing/2014/main" id="{C508B117-DE39-45A3-8EFD-C052FC2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cascade</a:t>
            </a:r>
          </a:p>
        </p:txBody>
      </p:sp>
      <p:sp>
        <p:nvSpPr>
          <p:cNvPr id="36" name="evo-axis">
            <a:extLst xmlns:a="http://schemas.openxmlformats.org/drawingml/2006/main">
              <a:ext uri="{FF2B5EF4-FFF2-40B4-BE49-F238E27FC236}">
                <a16:creationId xmlns:a16="http://schemas.microsoft.com/office/drawing/2014/main" id="{C4521337-46BA-4341-81B9-70419ED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80590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2232D5F-BC49-4D19-855C-7DDE0F2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4A24926-BF0C-4BA4-9CE1-03FBDBF5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834B3BA-EBFF-476B-A1BC-B389998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89F0D9-D50E-4300-B2C0-3824F717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Evaluation measures distance from SBS to VBS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D093D0-AB44-451F-AF68-D3B86A22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0BB3D49-6258-44C7-A5DF-C743D21A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19/28</a:t>
            </a:r>
          </a:p>
        </p:txBody>
      </p:sp>
      <p:sp>
        <p:nvSpPr>
          <p:cNvPr id="7" name="eval-0">
            <a:extLst xmlns:a="http://schemas.openxmlformats.org/drawingml/2006/main">
              <a:ext uri="{FF2B5EF4-FFF2-40B4-BE49-F238E27FC236}">
                <a16:creationId xmlns:a16="http://schemas.microsoft.com/office/drawing/2014/main" id="{B583FA39-D2FB-4B82-8424-B14DD85F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al-0-title">
            <a:extLst xmlns:a="http://schemas.openxmlformats.org/drawingml/2006/main">
              <a:ext uri="{FF2B5EF4-FFF2-40B4-BE49-F238E27FC236}">
                <a16:creationId xmlns:a16="http://schemas.microsoft.com/office/drawing/2014/main" id="{DD143C65-D49E-46BD-919E-E94EA2C7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SBS</a:t>
            </a:r>
          </a:p>
        </p:txBody>
      </p:sp>
      <p:sp>
        <p:nvSpPr>
          <p:cNvPr id="9" name="eval-0-body">
            <a:extLst xmlns:a="http://schemas.openxmlformats.org/drawingml/2006/main">
              <a:ext uri="{FF2B5EF4-FFF2-40B4-BE49-F238E27FC236}">
                <a16:creationId xmlns:a16="http://schemas.microsoft.com/office/drawing/2014/main" id="{D3759067-00FA-4942-82E8-943CF396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best fixed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over the evaluation set</a:t>
            </a:r>
          </a:p>
        </p:txBody>
      </p:sp>
      <p:sp>
        <p:nvSpPr>
          <p:cNvPr id="10" name="eval-1">
            <a:extLst xmlns:a="http://schemas.openxmlformats.org/drawingml/2006/main">
              <a:ext uri="{FF2B5EF4-FFF2-40B4-BE49-F238E27FC236}">
                <a16:creationId xmlns:a16="http://schemas.microsoft.com/office/drawing/2014/main" id="{3BD7AD9E-EFC1-489A-B4BE-6CF4C847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eval-1-title">
            <a:extLst xmlns:a="http://schemas.openxmlformats.org/drawingml/2006/main">
              <a:ext uri="{FF2B5EF4-FFF2-40B4-BE49-F238E27FC236}">
                <a16:creationId xmlns:a16="http://schemas.microsoft.com/office/drawing/2014/main" id="{C9918880-FCD8-4DB6-94E6-E87F64B9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VBS</a:t>
            </a:r>
          </a:p>
        </p:txBody>
      </p:sp>
      <p:sp>
        <p:nvSpPr>
          <p:cNvPr id="12" name="eval-1-body">
            <a:extLst xmlns:a="http://schemas.openxmlformats.org/drawingml/2006/main">
              <a:ext uri="{FF2B5EF4-FFF2-40B4-BE49-F238E27FC236}">
                <a16:creationId xmlns:a16="http://schemas.microsoft.com/office/drawing/2014/main" id="{5B134508-F16C-44FF-8A80-48308507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oracle fastest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for each array</a:t>
            </a:r>
          </a:p>
        </p:txBody>
      </p:sp>
      <p:sp>
        <p:nvSpPr>
          <p:cNvPr id="13" name="eval-2">
            <a:extLst xmlns:a="http://schemas.openxmlformats.org/drawingml/2006/main">
              <a:ext uri="{FF2B5EF4-FFF2-40B4-BE49-F238E27FC236}">
                <a16:creationId xmlns:a16="http://schemas.microsoft.com/office/drawing/2014/main" id="{3E8F9946-435F-4446-8A68-54122E0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eval-2-title">
            <a:extLst xmlns:a="http://schemas.openxmlformats.org/drawingml/2006/main">
              <a:ext uri="{FF2B5EF4-FFF2-40B4-BE49-F238E27FC236}">
                <a16:creationId xmlns:a16="http://schemas.microsoft.com/office/drawing/2014/main" id="{E74E9DD3-235E-4382-B542-2F6D7234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Model</a:t>
            </a:r>
          </a:p>
        </p:txBody>
      </p:sp>
      <p:sp>
        <p:nvSpPr>
          <p:cNvPr id="15" name="eval-2-body">
            <a:extLst xmlns:a="http://schemas.openxmlformats.org/drawingml/2006/main">
              <a:ext uri="{FF2B5EF4-FFF2-40B4-BE49-F238E27FC236}">
                <a16:creationId xmlns:a16="http://schemas.microsoft.com/office/drawing/2014/main" id="{BB91305C-0D30-4ADB-B8C1-5B2B8F11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choose before execution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using structural features</a:t>
            </a:r>
          </a:p>
        </p:txBody>
      </p:sp>
      <p:sp>
        <p:nvSpPr>
          <p:cNvPr id="16" name="regret">
            <a:extLst xmlns:a="http://schemas.openxmlformats.org/drawingml/2006/main">
              <a:ext uri="{FF2B5EF4-FFF2-40B4-BE49-F238E27FC236}">
                <a16:creationId xmlns:a16="http://schemas.microsoft.com/office/drawing/2014/main" id="{BA26FE5D-E888-48D7-AFEB-8869C374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i="1">
                <a:solidFill>
                  <a:srgbClr val="171717"/>
                </a:solidFill>
              </a:defRPr>
            </a:pPr>
            <a:r>
              <a:rPr sz="1875" i="1">
                <a:solidFill>
                  <a:srgbClr val="171717"/>
                </a:solidFill>
              </a:rPr>
              <a:t>Regret = T_model − T_VBS</a:t>
            </a:r>
          </a:p>
        </p:txBody>
      </p:sp>
      <p:sp>
        <p:nvSpPr>
          <p:cNvPr id="17" name="gap">
            <a:extLst xmlns:a="http://schemas.openxmlformats.org/drawingml/2006/main">
              <a:ext uri="{FF2B5EF4-FFF2-40B4-BE49-F238E27FC236}">
                <a16:creationId xmlns:a16="http://schemas.microsoft.com/office/drawing/2014/main" id="{8E92D7A3-54C9-4661-8214-7290DDBF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i="1">
                <a:solidFill>
                  <a:srgbClr val="171717"/>
                </a:solidFill>
              </a:defRPr>
            </a:pPr>
            <a:r>
              <a:rPr sz="1575" i="1">
                <a:solidFill>
                  <a:srgbClr val="171717"/>
                </a:solidFill>
              </a:rPr>
              <a:t>Gap Closed = (T_SBS − T_model) / (T_SBS − T_VBS)</a:t>
            </a:r>
          </a:p>
        </p:txBody>
      </p:sp>
      <p:sp>
        <p:nvSpPr>
          <p:cNvPr id="18" name="eval-note">
            <a:extLst xmlns:a="http://schemas.openxmlformats.org/drawingml/2006/main">
              <a:ext uri="{FF2B5EF4-FFF2-40B4-BE49-F238E27FC236}">
                <a16:creationId xmlns:a16="http://schemas.microsoft.com/office/drawing/2014/main" id="{6401D714-118F-49C1-B272-189EB1B8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Gap closed gives the fraction of the SBS-to-VBS improvement captured by the selector.</a:t>
            </a:r>
          </a:p>
        </p:txBody>
      </p:sp>
    </p:spTree>
    <p:extLst>
      <p:ext uri="{BB962C8B-B14F-4D97-AF65-F5344CB8AC3E}">
        <p14:creationId xmlns:p14="http://schemas.microsoft.com/office/powerpoint/2010/main" val="9723998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8113460-2C62-4FDA-BF30-47E12073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5FB2510-EF85-4428-BCB6-656F0118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FE9979C-D6A1-42FB-A660-41F1E6F7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DC5EAC-B772-4BE4-9BF8-67C8EB6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Accuracy alone is insufficient for algorithm selection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4C30F79-3516-4029-990C-2165A1DB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2FE56F5-C245-46DB-BCE8-C923AE0D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20/28</a:t>
            </a:r>
          </a:p>
        </p:txBody>
      </p:sp>
      <p:sp>
        <p:nvSpPr>
          <p:cNvPr id="7" name="acc-frame">
            <a:extLst xmlns:a="http://schemas.openxmlformats.org/drawingml/2006/main">
              <a:ext uri="{FF2B5EF4-FFF2-40B4-BE49-F238E27FC236}">
                <a16:creationId xmlns:a16="http://schemas.microsoft.com/office/drawing/2014/main" id="{86CB4DD4-2570-40D3-86EA-5DFED406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66875"/>
            <a:ext cx="10810875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ccgap-axis">
            <a:extLst xmlns:a="http://schemas.openxmlformats.org/drawingml/2006/main">
              <a:ext uri="{FF2B5EF4-FFF2-40B4-BE49-F238E27FC236}">
                <a16:creationId xmlns:a16="http://schemas.microsoft.com/office/drawing/2014/main" id="{61F5921B-3CB5-4564-BE72-2F848E3D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62525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accgap-yaxis">
            <a:extLst xmlns:a="http://schemas.openxmlformats.org/drawingml/2006/main">
              <a:ext uri="{FF2B5EF4-FFF2-40B4-BE49-F238E27FC236}">
                <a16:creationId xmlns:a16="http://schemas.microsoft.com/office/drawing/2014/main" id="{2E73FE1D-DA90-4D27-A358-9F411C21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accgap-bar-0-0">
            <a:extLst xmlns:a="http://schemas.openxmlformats.org/drawingml/2006/main">
              <a:ext uri="{FF2B5EF4-FFF2-40B4-BE49-F238E27FC236}">
                <a16:creationId xmlns:a16="http://schemas.microsoft.com/office/drawing/2014/main" id="{F141EE38-B650-4FBE-BE22-E67E052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419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gap-val-0-0">
            <a:extLst xmlns:a="http://schemas.openxmlformats.org/drawingml/2006/main">
              <a:ext uri="{FF2B5EF4-FFF2-40B4-BE49-F238E27FC236}">
                <a16:creationId xmlns:a16="http://schemas.microsoft.com/office/drawing/2014/main" id="{4CBF766A-C987-4330-B441-1DF53766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576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44.4%</a:t>
            </a:r>
          </a:p>
        </p:txBody>
      </p:sp>
      <p:sp>
        <p:nvSpPr>
          <p:cNvPr id="12" name="accgap-bar-0-1">
            <a:extLst xmlns:a="http://schemas.openxmlformats.org/drawingml/2006/main">
              <a:ext uri="{FF2B5EF4-FFF2-40B4-BE49-F238E27FC236}">
                <a16:creationId xmlns:a16="http://schemas.microsoft.com/office/drawing/2014/main" id="{261522CC-168D-4E60-911C-18262C4E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8963"/>
            <a:ext cx="419100" cy="1833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gap-val-0-1">
            <a:extLst xmlns:a="http://schemas.openxmlformats.org/drawingml/2006/main">
              <a:ext uri="{FF2B5EF4-FFF2-40B4-BE49-F238E27FC236}">
                <a16:creationId xmlns:a16="http://schemas.microsoft.com/office/drawing/2014/main" id="{585F1724-A087-40A9-BAAC-34CD613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8131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77.0%</a:t>
            </a:r>
          </a:p>
        </p:txBody>
      </p:sp>
      <p:sp>
        <p:nvSpPr>
          <p:cNvPr id="14" name="accgap-cat-0">
            <a:extLst xmlns:a="http://schemas.openxmlformats.org/drawingml/2006/main">
              <a:ext uri="{FF2B5EF4-FFF2-40B4-BE49-F238E27FC236}">
                <a16:creationId xmlns:a16="http://schemas.microsoft.com/office/drawing/2014/main" id="{E34D96E9-83A3-46BE-8C2C-EE1BE5AD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v1</a:t>
            </a:r>
          </a:p>
        </p:txBody>
      </p:sp>
      <p:sp>
        <p:nvSpPr>
          <p:cNvPr id="15" name="accgap-bar-1-0">
            <a:extLst xmlns:a="http://schemas.openxmlformats.org/drawingml/2006/main">
              <a:ext uri="{FF2B5EF4-FFF2-40B4-BE49-F238E27FC236}">
                <a16:creationId xmlns:a16="http://schemas.microsoft.com/office/drawing/2014/main" id="{BF4D1069-1370-4D0F-9D8C-3C9E12A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474244"/>
            <a:ext cx="419100" cy="1488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cgap-val-1-0">
            <a:extLst xmlns:a="http://schemas.openxmlformats.org/drawingml/2006/main">
              <a:ext uri="{FF2B5EF4-FFF2-40B4-BE49-F238E27FC236}">
                <a16:creationId xmlns:a16="http://schemas.microsoft.com/office/drawing/2014/main" id="{BAC43EF6-B420-4DDE-8F58-E6597D29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322659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62.5%</a:t>
            </a:r>
          </a:p>
        </p:txBody>
      </p:sp>
      <p:sp>
        <p:nvSpPr>
          <p:cNvPr id="17" name="accgap-bar-1-1">
            <a:extLst xmlns:a="http://schemas.openxmlformats.org/drawingml/2006/main">
              <a:ext uri="{FF2B5EF4-FFF2-40B4-BE49-F238E27FC236}">
                <a16:creationId xmlns:a16="http://schemas.microsoft.com/office/drawing/2014/main" id="{E36D5395-BD82-4474-9A42-9959EC52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962525"/>
            <a:ext cx="419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cgap-val-1-1">
            <a:extLst xmlns:a="http://schemas.openxmlformats.org/drawingml/2006/main">
              <a:ext uri="{FF2B5EF4-FFF2-40B4-BE49-F238E27FC236}">
                <a16:creationId xmlns:a16="http://schemas.microsoft.com/office/drawing/2014/main" id="{8A303173-0ACB-41C0-8596-F5B61A5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550" y="47148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ccgap-cat-1">
            <a:extLst xmlns:a="http://schemas.openxmlformats.org/drawingml/2006/main">
              <a:ext uri="{FF2B5EF4-FFF2-40B4-BE49-F238E27FC236}">
                <a16:creationId xmlns:a16="http://schemas.microsoft.com/office/drawing/2014/main" id="{C5F1126C-B36C-4EAC-8127-733B30EA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v2</a:t>
            </a:r>
          </a:p>
        </p:txBody>
      </p:sp>
      <p:sp>
        <p:nvSpPr>
          <p:cNvPr id="20" name="accgap-bar-2-0">
            <a:extLst xmlns:a="http://schemas.openxmlformats.org/drawingml/2006/main">
              <a:ext uri="{FF2B5EF4-FFF2-40B4-BE49-F238E27FC236}">
                <a16:creationId xmlns:a16="http://schemas.microsoft.com/office/drawing/2014/main" id="{6EF417F9-3ACB-45E9-8213-62420BA2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850" y="3150394"/>
            <a:ext cx="419100" cy="181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cgap-val-2-0">
            <a:extLst xmlns:a="http://schemas.openxmlformats.org/drawingml/2006/main">
              <a:ext uri="{FF2B5EF4-FFF2-40B4-BE49-F238E27FC236}">
                <a16:creationId xmlns:a16="http://schemas.microsoft.com/office/drawing/2014/main" id="{6AEE5117-44DC-46CD-B2D3-0A7ED682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29027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22" name="accgap-bar-2-1">
            <a:extLst xmlns:a="http://schemas.openxmlformats.org/drawingml/2006/main">
              <a:ext uri="{FF2B5EF4-FFF2-40B4-BE49-F238E27FC236}">
                <a16:creationId xmlns:a16="http://schemas.microsoft.com/office/drawing/2014/main" id="{2A818BB7-82A8-4D24-9131-0330205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575" y="2745581"/>
            <a:ext cx="419100" cy="2216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ccgap-val-2-1">
            <a:extLst xmlns:a="http://schemas.openxmlformats.org/drawingml/2006/main">
              <a:ext uri="{FF2B5EF4-FFF2-40B4-BE49-F238E27FC236}">
                <a16:creationId xmlns:a16="http://schemas.microsoft.com/office/drawing/2014/main" id="{E7858F92-B09F-4336-831C-3DDAF43C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497931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4" name="accgap-cat-2">
            <a:extLst xmlns:a="http://schemas.openxmlformats.org/drawingml/2006/main">
              <a:ext uri="{FF2B5EF4-FFF2-40B4-BE49-F238E27FC236}">
                <a16:creationId xmlns:a16="http://schemas.microsoft.com/office/drawing/2014/main" id="{CB253D9A-1DB0-4760-BA4C-3D58F6A2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25" name="accgap-bar-3-0">
            <a:extLst xmlns:a="http://schemas.openxmlformats.org/drawingml/2006/main">
              <a:ext uri="{FF2B5EF4-FFF2-40B4-BE49-F238E27FC236}">
                <a16:creationId xmlns:a16="http://schemas.microsoft.com/office/drawing/2014/main" id="{CA796F75-6A28-4B47-8272-6A819A23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67075"/>
            <a:ext cx="419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ccgap-val-3-0">
            <a:extLst xmlns:a="http://schemas.openxmlformats.org/drawingml/2006/main">
              <a:ext uri="{FF2B5EF4-FFF2-40B4-BE49-F238E27FC236}">
                <a16:creationId xmlns:a16="http://schemas.microsoft.com/office/drawing/2014/main" id="{E138D414-553D-461C-8418-2FDF7D00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27" name="accgap-bar-3-1">
            <a:extLst xmlns:a="http://schemas.openxmlformats.org/drawingml/2006/main">
              <a:ext uri="{FF2B5EF4-FFF2-40B4-BE49-F238E27FC236}">
                <a16:creationId xmlns:a16="http://schemas.microsoft.com/office/drawing/2014/main" id="{6ACA6B41-BAE8-47EC-8AF5-1BC15A0E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419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cgap-val-3-1">
            <a:extLst xmlns:a="http://schemas.openxmlformats.org/drawingml/2006/main">
              <a:ext uri="{FF2B5EF4-FFF2-40B4-BE49-F238E27FC236}">
                <a16:creationId xmlns:a16="http://schemas.microsoft.com/office/drawing/2014/main" id="{306F0190-CAF7-46B9-883F-7887AA7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45.6%</a:t>
            </a:r>
          </a:p>
        </p:txBody>
      </p:sp>
      <p:sp>
        <p:nvSpPr>
          <p:cNvPr id="29" name="accgap-cat-3">
            <a:extLst xmlns:a="http://schemas.openxmlformats.org/drawingml/2006/main">
              <a:ext uri="{FF2B5EF4-FFF2-40B4-BE49-F238E27FC236}">
                <a16:creationId xmlns:a16="http://schemas.microsoft.com/office/drawing/2014/main" id="{D2A22752-57C9-4CFB-9908-9E2EE4B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30" name="accgap-bar-4-0">
            <a:extLst xmlns:a="http://schemas.openxmlformats.org/drawingml/2006/main">
              <a:ext uri="{FF2B5EF4-FFF2-40B4-BE49-F238E27FC236}">
                <a16:creationId xmlns:a16="http://schemas.microsoft.com/office/drawing/2014/main" id="{5429E892-C8D9-4370-8558-A1A54A60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226594"/>
            <a:ext cx="419100" cy="1735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gap-val-4-0">
            <a:extLst xmlns:a="http://schemas.openxmlformats.org/drawingml/2006/main">
              <a:ext uri="{FF2B5EF4-FFF2-40B4-BE49-F238E27FC236}">
                <a16:creationId xmlns:a16="http://schemas.microsoft.com/office/drawing/2014/main" id="{F6A5CEB2-3FF1-4118-A56A-A5EB940E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9789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32" name="accgap-bar-4-1">
            <a:extLst xmlns:a="http://schemas.openxmlformats.org/drawingml/2006/main">
              <a:ext uri="{FF2B5EF4-FFF2-40B4-BE49-F238E27FC236}">
                <a16:creationId xmlns:a16="http://schemas.microsoft.com/office/drawing/2014/main" id="{B2E75906-4074-4DFE-AA2F-3F8C8034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3102769"/>
            <a:ext cx="419100" cy="1859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gap-val-4-1">
            <a:extLst xmlns:a="http://schemas.openxmlformats.org/drawingml/2006/main">
              <a:ext uri="{FF2B5EF4-FFF2-40B4-BE49-F238E27FC236}">
                <a16:creationId xmlns:a16="http://schemas.microsoft.com/office/drawing/2014/main" id="{F6692B27-0AAB-4969-B809-B9E670AF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2855119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78.1%</a:t>
            </a:r>
          </a:p>
        </p:txBody>
      </p:sp>
      <p:sp>
        <p:nvSpPr>
          <p:cNvPr id="34" name="accgap-cat-4">
            <a:extLst xmlns:a="http://schemas.openxmlformats.org/drawingml/2006/main">
              <a:ext uri="{FF2B5EF4-FFF2-40B4-BE49-F238E27FC236}">
                <a16:creationId xmlns:a16="http://schemas.microsoft.com/office/drawing/2014/main" id="{BC71A2A9-995F-489C-8BE2-941F734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35" name="accgap-bar-5-0">
            <a:extLst xmlns:a="http://schemas.openxmlformats.org/drawingml/2006/main">
              <a:ext uri="{FF2B5EF4-FFF2-40B4-BE49-F238E27FC236}">
                <a16:creationId xmlns:a16="http://schemas.microsoft.com/office/drawing/2014/main" id="{B5DC9079-4D87-47E2-82CA-1920058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3233738"/>
            <a:ext cx="419100" cy="1728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gap-val-5-0">
            <a:extLst xmlns:a="http://schemas.openxmlformats.org/drawingml/2006/main">
              <a:ext uri="{FF2B5EF4-FFF2-40B4-BE49-F238E27FC236}">
                <a16:creationId xmlns:a16="http://schemas.microsoft.com/office/drawing/2014/main" id="{EA31624D-F9AC-4EC7-95C5-F1091B7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29860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37" name="accgap-bar-5-1">
            <a:extLst xmlns:a="http://schemas.openxmlformats.org/drawingml/2006/main">
              <a:ext uri="{FF2B5EF4-FFF2-40B4-BE49-F238E27FC236}">
                <a16:creationId xmlns:a16="http://schemas.microsoft.com/office/drawing/2014/main" id="{7A53F2EE-BB8B-4C4A-9F5F-971A8F52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098006"/>
            <a:ext cx="419100" cy="186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cgap-val-5-1">
            <a:extLst xmlns:a="http://schemas.openxmlformats.org/drawingml/2006/main">
              <a:ext uri="{FF2B5EF4-FFF2-40B4-BE49-F238E27FC236}">
                <a16:creationId xmlns:a16="http://schemas.microsoft.com/office/drawing/2014/main" id="{F1CFE0A9-635E-491C-9278-92181A34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28503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78.3%</a:t>
            </a:r>
          </a:p>
        </p:txBody>
      </p:sp>
      <p:sp>
        <p:nvSpPr>
          <p:cNvPr id="39" name="accgap-cat-5">
            <a:extLst xmlns:a="http://schemas.openxmlformats.org/drawingml/2006/main">
              <a:ext uri="{FF2B5EF4-FFF2-40B4-BE49-F238E27FC236}">
                <a16:creationId xmlns:a16="http://schemas.microsoft.com/office/drawing/2014/main" id="{AC2FC2A9-EAB9-4967-9DD6-B70E9B7B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14822136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7EBE9751-B881-4A33-9B10-8D7997D6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329E76B-2C3D-4074-996E-28CE6A7E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B576C5C-6EB2-4152-9020-BE30DAB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896FCA-1F03-4952-8C14-43C045A1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v5 selector closes most of the SBS-to-VBS gap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DD3EC8-56B6-4E07-A044-EFA41D7D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D7E0D66-44C2-4519-9F37-A319E755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21/28</a:t>
            </a:r>
          </a:p>
        </p:txBody>
      </p:sp>
      <p:sp>
        <p:nvSpPr>
          <p:cNvPr id="7" name="mainres-frame">
            <a:extLst xmlns:a="http://schemas.openxmlformats.org/drawingml/2006/main">
              <a:ext uri="{FF2B5EF4-FFF2-40B4-BE49-F238E27FC236}">
                <a16:creationId xmlns:a16="http://schemas.microsoft.com/office/drawing/2014/main" id="{D6385EF4-EC2F-4550-9E36-0F2F1BC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11668125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mainres-axis">
            <a:extLst xmlns:a="http://schemas.openxmlformats.org/drawingml/2006/main">
              <a:ext uri="{FF2B5EF4-FFF2-40B4-BE49-F238E27FC236}">
                <a16:creationId xmlns:a16="http://schemas.microsoft.com/office/drawing/2014/main" id="{18F010E2-61E2-4FB2-85F2-7121F912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mainres-yaxis">
            <a:extLst xmlns:a="http://schemas.openxmlformats.org/drawingml/2006/main">
              <a:ext uri="{FF2B5EF4-FFF2-40B4-BE49-F238E27FC236}">
                <a16:creationId xmlns:a16="http://schemas.microsoft.com/office/drawing/2014/main" id="{1743C31E-3145-4378-A5D9-EFFAEB9E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mainres-bar-0-0">
            <a:extLst xmlns:a="http://schemas.openxmlformats.org/drawingml/2006/main">
              <a:ext uri="{FF2B5EF4-FFF2-40B4-BE49-F238E27FC236}">
                <a16:creationId xmlns:a16="http://schemas.microsoft.com/office/drawing/2014/main" id="{F0C43AC5-F8D2-4FC1-AD68-8263FC5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29448"/>
            <a:ext cx="419100" cy="1585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inres-val-0-0">
            <a:extLst xmlns:a="http://schemas.openxmlformats.org/drawingml/2006/main">
              <a:ext uri="{FF2B5EF4-FFF2-40B4-BE49-F238E27FC236}">
                <a16:creationId xmlns:a16="http://schemas.microsoft.com/office/drawing/2014/main" id="{021DC7C3-35DD-40F6-A82D-A6FFCB3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179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06F"/>
                </a:solidFill>
              </a:defRPr>
            </a:pPr>
            <a:r>
              <a:rPr sz="1200" b="1">
                <a:solidFill>
                  <a:srgbClr val="2FA06F"/>
                </a:solidFill>
              </a:rPr>
              <a:t>17.20s</a:t>
            </a:r>
          </a:p>
        </p:txBody>
      </p:sp>
      <p:sp>
        <p:nvSpPr>
          <p:cNvPr id="12" name="mainres-cat-0">
            <a:extLst xmlns:a="http://schemas.openxmlformats.org/drawingml/2006/main">
              <a:ext uri="{FF2B5EF4-FFF2-40B4-BE49-F238E27FC236}">
                <a16:creationId xmlns:a16="http://schemas.microsoft.com/office/drawing/2014/main" id="{97256313-B626-4A32-9004-8EAD941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oracle</a:t>
            </a:r>
          </a:p>
        </p:txBody>
      </p:sp>
      <p:sp>
        <p:nvSpPr>
          <p:cNvPr id="13" name="mainres-bar-1-0">
            <a:extLst xmlns:a="http://schemas.openxmlformats.org/drawingml/2006/main">
              <a:ext uri="{FF2B5EF4-FFF2-40B4-BE49-F238E27FC236}">
                <a16:creationId xmlns:a16="http://schemas.microsoft.com/office/drawing/2014/main" id="{80975BBA-11B3-4D9F-BB9E-F82630F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304560"/>
            <a:ext cx="419100" cy="1610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inres-val-1-0">
            <a:extLst xmlns:a="http://schemas.openxmlformats.org/drawingml/2006/main">
              <a:ext uri="{FF2B5EF4-FFF2-40B4-BE49-F238E27FC236}">
                <a16:creationId xmlns:a16="http://schemas.microsoft.com/office/drawing/2014/main" id="{358D1732-CC7E-4BD1-B781-A234FCA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305691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06F"/>
                </a:solidFill>
              </a:defRPr>
            </a:pPr>
            <a:r>
              <a:rPr sz="1200" b="1">
                <a:solidFill>
                  <a:srgbClr val="2FA06F"/>
                </a:solidFill>
              </a:rPr>
              <a:t>17.47s</a:t>
            </a:r>
          </a:p>
        </p:txBody>
      </p:sp>
      <p:sp>
        <p:nvSpPr>
          <p:cNvPr id="15" name="mainres-cat-1">
            <a:extLst xmlns:a="http://schemas.openxmlformats.org/drawingml/2006/main">
              <a:ext uri="{FF2B5EF4-FFF2-40B4-BE49-F238E27FC236}">
                <a16:creationId xmlns:a16="http://schemas.microsoft.com/office/drawing/2014/main" id="{C5613E80-88FD-41E1-B367-0598DD0C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Model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selector</a:t>
            </a:r>
          </a:p>
        </p:txBody>
      </p:sp>
      <p:sp>
        <p:nvSpPr>
          <p:cNvPr id="16" name="mainres-bar-2-0">
            <a:extLst xmlns:a="http://schemas.openxmlformats.org/drawingml/2006/main">
              <a:ext uri="{FF2B5EF4-FFF2-40B4-BE49-F238E27FC236}">
                <a16:creationId xmlns:a16="http://schemas.microsoft.com/office/drawing/2014/main" id="{FC61B22F-ABB3-4866-A6D7-72B79B8F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2954286"/>
            <a:ext cx="419100" cy="1960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inres-val-2-0">
            <a:extLst xmlns:a="http://schemas.openxmlformats.org/drawingml/2006/main">
              <a:ext uri="{FF2B5EF4-FFF2-40B4-BE49-F238E27FC236}">
                <a16:creationId xmlns:a16="http://schemas.microsoft.com/office/drawing/2014/main" id="{F79E3C62-303F-4710-BB7E-F04DCC74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270663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06F"/>
                </a:solidFill>
              </a:defRPr>
            </a:pPr>
            <a:r>
              <a:rPr sz="1200" b="1">
                <a:solidFill>
                  <a:srgbClr val="2FA06F"/>
                </a:solidFill>
              </a:rPr>
              <a:t>21.27s</a:t>
            </a:r>
          </a:p>
        </p:txBody>
      </p:sp>
      <p:sp>
        <p:nvSpPr>
          <p:cNvPr id="18" name="mainres-cat-2">
            <a:extLst xmlns:a="http://schemas.openxmlformats.org/drawingml/2006/main">
              <a:ext uri="{FF2B5EF4-FFF2-40B4-BE49-F238E27FC236}">
                <a16:creationId xmlns:a16="http://schemas.microsoft.com/office/drawing/2014/main" id="{1CC66F79-AC65-4623-B9CD-8B53D0B5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9" name="metric-93.1%-1035">
            <a:extLst xmlns:a="http://schemas.openxmlformats.org/drawingml/2006/main">
              <a:ext uri="{FF2B5EF4-FFF2-40B4-BE49-F238E27FC236}">
                <a16:creationId xmlns:a16="http://schemas.microsoft.com/office/drawing/2014/main" id="{E2947946-E02C-4260-91BE-D29FE1F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0" name="metric-label-93.1%-1035">
            <a:extLst xmlns:a="http://schemas.openxmlformats.org/drawingml/2006/main">
              <a:ext uri="{FF2B5EF4-FFF2-40B4-BE49-F238E27FC236}">
                <a16:creationId xmlns:a16="http://schemas.microsoft.com/office/drawing/2014/main" id="{7B6C4C05-3F3A-4406-A63E-18BC26F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17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SBS-to-VBS gap closed</a:t>
            </a:r>
          </a:p>
        </p:txBody>
      </p:sp>
      <p:sp>
        <p:nvSpPr>
          <p:cNvPr id="21" name="metric-89.6%-1035">
            <a:extLst xmlns:a="http://schemas.openxmlformats.org/drawingml/2006/main">
              <a:ext uri="{FF2B5EF4-FFF2-40B4-BE49-F238E27FC236}">
                <a16:creationId xmlns:a16="http://schemas.microsoft.com/office/drawing/2014/main" id="{29A7125B-C338-4A9F-8944-8883F826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A06F"/>
                </a:solidFill>
              </a:defRPr>
            </a:pPr>
            <a:r>
              <a:rPr sz="3150" b="1">
                <a:solidFill>
                  <a:srgbClr val="2FA06F"/>
                </a:solidFill>
              </a:rPr>
              <a:t>89.6%</a:t>
            </a:r>
          </a:p>
        </p:txBody>
      </p:sp>
      <p:sp>
        <p:nvSpPr>
          <p:cNvPr id="22" name="metric-label-89.6%-1035">
            <a:extLst xmlns:a="http://schemas.openxmlformats.org/drawingml/2006/main">
              <a:ext uri="{FF2B5EF4-FFF2-40B4-BE49-F238E27FC236}">
                <a16:creationId xmlns:a16="http://schemas.microsoft.com/office/drawing/2014/main" id="{43BE91ED-63C0-4409-8972-5E7AB825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852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zero regret decisions</a:t>
            </a:r>
          </a:p>
        </p:txBody>
      </p:sp>
    </p:spTree>
    <p:extLst>
      <p:ext uri="{BB962C8B-B14F-4D97-AF65-F5344CB8AC3E}">
        <p14:creationId xmlns:p14="http://schemas.microsoft.com/office/powerpoint/2010/main" val="3820162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A1EC394-0EFC-4FAD-9A76-903060A2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F09290E-5B74-468D-BF58-0E8E250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3539406-FB8B-4375-888D-63AB98F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62E0D5-3217-4E6A-A0CF-3B514A4C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Residual error is concentrated at the introsort-heapsort boundary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B0611-D3BB-4638-9D8E-6F3E5E75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EFED34F-7F79-4D74-9A17-8A89A0C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22/28</a:t>
            </a:r>
          </a:p>
        </p:txBody>
      </p:sp>
      <p:sp>
        <p:nvSpPr>
          <p:cNvPr id="7" name="hm-top-0">
            <a:extLst xmlns:a="http://schemas.openxmlformats.org/drawingml/2006/main">
              <a:ext uri="{FF2B5EF4-FFF2-40B4-BE49-F238E27FC236}">
                <a16:creationId xmlns:a16="http://schemas.microsoft.com/office/drawing/2014/main" id="{D51F7E4B-E1EA-41E6-9999-F98417F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8" name="hm-left-0">
            <a:extLst xmlns:a="http://schemas.openxmlformats.org/drawingml/2006/main">
              <a:ext uri="{FF2B5EF4-FFF2-40B4-BE49-F238E27FC236}">
                <a16:creationId xmlns:a16="http://schemas.microsoft.com/office/drawing/2014/main" id="{48BE57B0-9E4B-468D-BF24-49E95301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9" name="hm-top-1">
            <a:extLst xmlns:a="http://schemas.openxmlformats.org/drawingml/2006/main">
              <a:ext uri="{FF2B5EF4-FFF2-40B4-BE49-F238E27FC236}">
                <a16:creationId xmlns:a16="http://schemas.microsoft.com/office/drawing/2014/main" id="{83A10258-019B-4473-A65D-779F716C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0" name="hm-left-1">
            <a:extLst xmlns:a="http://schemas.openxmlformats.org/drawingml/2006/main">
              <a:ext uri="{FF2B5EF4-FFF2-40B4-BE49-F238E27FC236}">
                <a16:creationId xmlns:a16="http://schemas.microsoft.com/office/drawing/2014/main" id="{9FEB78D9-5CA8-4395-BC55-6D4A7A93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1" name="hm-top-2">
            <a:extLst xmlns:a="http://schemas.openxmlformats.org/drawingml/2006/main">
              <a:ext uri="{FF2B5EF4-FFF2-40B4-BE49-F238E27FC236}">
                <a16:creationId xmlns:a16="http://schemas.microsoft.com/office/drawing/2014/main" id="{7D5FD440-E2AE-4EDC-8E34-3AC44DCE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2" name="hm-left-2">
            <a:extLst xmlns:a="http://schemas.openxmlformats.org/drawingml/2006/main">
              <a:ext uri="{FF2B5EF4-FFF2-40B4-BE49-F238E27FC236}">
                <a16:creationId xmlns:a16="http://schemas.microsoft.com/office/drawing/2014/main" id="{AD9C8E1E-A268-4FB4-8427-E651B711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3" name="hm-0-0">
            <a:extLst xmlns:a="http://schemas.openxmlformats.org/drawingml/2006/main">
              <a:ext uri="{FF2B5EF4-FFF2-40B4-BE49-F238E27FC236}">
                <a16:creationId xmlns:a16="http://schemas.microsoft.com/office/drawing/2014/main" id="{CAB3ACC9-340F-4611-B3D4-F58866E5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hm-val-0-0">
            <a:extLst xmlns:a="http://schemas.openxmlformats.org/drawingml/2006/main">
              <a:ext uri="{FF2B5EF4-FFF2-40B4-BE49-F238E27FC236}">
                <a16:creationId xmlns:a16="http://schemas.microsoft.com/office/drawing/2014/main" id="{8E2C6958-3A3D-440B-8851-E528AFE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2350</a:t>
            </a:r>
          </a:p>
        </p:txBody>
      </p:sp>
      <p:sp>
        <p:nvSpPr>
          <p:cNvPr id="15" name="hm-0-1">
            <a:extLst xmlns:a="http://schemas.openxmlformats.org/drawingml/2006/main">
              <a:ext uri="{FF2B5EF4-FFF2-40B4-BE49-F238E27FC236}">
                <a16:creationId xmlns:a16="http://schemas.microsoft.com/office/drawing/2014/main" id="{7DE04F5D-E3A7-4B28-BDEF-7CB7E25D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hm-val-0-1">
            <a:extLst xmlns:a="http://schemas.openxmlformats.org/drawingml/2006/main">
              <a:ext uri="{FF2B5EF4-FFF2-40B4-BE49-F238E27FC236}">
                <a16:creationId xmlns:a16="http://schemas.microsoft.com/office/drawing/2014/main" id="{311819DB-AD78-4FD4-88EF-8D033970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1977</a:t>
            </a:r>
          </a:p>
        </p:txBody>
      </p:sp>
      <p:sp>
        <p:nvSpPr>
          <p:cNvPr id="17" name="hm-0-2">
            <a:extLst xmlns:a="http://schemas.openxmlformats.org/drawingml/2006/main">
              <a:ext uri="{FF2B5EF4-FFF2-40B4-BE49-F238E27FC236}">
                <a16:creationId xmlns:a16="http://schemas.microsoft.com/office/drawing/2014/main" id="{1FD00832-F6A6-442A-BC51-DA5CA222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hm-val-0-2">
            <a:extLst xmlns:a="http://schemas.openxmlformats.org/drawingml/2006/main">
              <a:ext uri="{FF2B5EF4-FFF2-40B4-BE49-F238E27FC236}">
                <a16:creationId xmlns:a16="http://schemas.microsoft.com/office/drawing/2014/main" id="{73D33BD8-39A4-43EB-91B6-B780607B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19" name="hm-1-0">
            <a:extLst xmlns:a="http://schemas.openxmlformats.org/drawingml/2006/main">
              <a:ext uri="{FF2B5EF4-FFF2-40B4-BE49-F238E27FC236}">
                <a16:creationId xmlns:a16="http://schemas.microsoft.com/office/drawing/2014/main" id="{26FDA785-D2CD-41E4-AF5E-DCD070CC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hm-val-1-0">
            <a:extLst xmlns:a="http://schemas.openxmlformats.org/drawingml/2006/main">
              <a:ext uri="{FF2B5EF4-FFF2-40B4-BE49-F238E27FC236}">
                <a16:creationId xmlns:a16="http://schemas.microsoft.com/office/drawing/2014/main" id="{C0F380A0-90BA-412A-A253-12D6E711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3805</a:t>
            </a:r>
          </a:p>
        </p:txBody>
      </p:sp>
      <p:sp>
        <p:nvSpPr>
          <p:cNvPr id="21" name="hm-1-1">
            <a:extLst xmlns:a="http://schemas.openxmlformats.org/drawingml/2006/main">
              <a:ext uri="{FF2B5EF4-FFF2-40B4-BE49-F238E27FC236}">
                <a16:creationId xmlns:a16="http://schemas.microsoft.com/office/drawing/2014/main" id="{CD226586-C49B-444D-9EB6-C63F8F33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hm-val-1-1">
            <a:extLst xmlns:a="http://schemas.openxmlformats.org/drawingml/2006/main">
              <a:ext uri="{FF2B5EF4-FFF2-40B4-BE49-F238E27FC236}">
                <a16:creationId xmlns:a16="http://schemas.microsoft.com/office/drawing/2014/main" id="{D0C429A4-9D94-428A-A616-36036283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7307</a:t>
            </a:r>
          </a:p>
        </p:txBody>
      </p:sp>
      <p:sp>
        <p:nvSpPr>
          <p:cNvPr id="23" name="hm-1-2">
            <a:extLst xmlns:a="http://schemas.openxmlformats.org/drawingml/2006/main">
              <a:ext uri="{FF2B5EF4-FFF2-40B4-BE49-F238E27FC236}">
                <a16:creationId xmlns:a16="http://schemas.microsoft.com/office/drawing/2014/main" id="{631A8144-3E3B-4C0E-9935-468131A8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hm-val-1-2">
            <a:extLst xmlns:a="http://schemas.openxmlformats.org/drawingml/2006/main">
              <a:ext uri="{FF2B5EF4-FFF2-40B4-BE49-F238E27FC236}">
                <a16:creationId xmlns:a16="http://schemas.microsoft.com/office/drawing/2014/main" id="{4D45BA61-10CB-41AB-B6CD-87F3040D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345</a:t>
            </a:r>
          </a:p>
        </p:txBody>
      </p:sp>
      <p:sp>
        <p:nvSpPr>
          <p:cNvPr id="25" name="hm-2-0">
            <a:extLst xmlns:a="http://schemas.openxmlformats.org/drawingml/2006/main">
              <a:ext uri="{FF2B5EF4-FFF2-40B4-BE49-F238E27FC236}">
                <a16:creationId xmlns:a16="http://schemas.microsoft.com/office/drawing/2014/main" id="{A6A2A65F-F7FD-4673-9EF2-2737AE5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hm-val-2-0">
            <a:extLst xmlns:a="http://schemas.openxmlformats.org/drawingml/2006/main">
              <a:ext uri="{FF2B5EF4-FFF2-40B4-BE49-F238E27FC236}">
                <a16:creationId xmlns:a16="http://schemas.microsoft.com/office/drawing/2014/main" id="{64011708-1E5F-4D6C-964E-360FF635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27" name="hm-2-1">
            <a:extLst xmlns:a="http://schemas.openxmlformats.org/drawingml/2006/main">
              <a:ext uri="{FF2B5EF4-FFF2-40B4-BE49-F238E27FC236}">
                <a16:creationId xmlns:a16="http://schemas.microsoft.com/office/drawing/2014/main" id="{DCB77A9B-CC2C-4139-BA0A-ABFEFC7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hm-val-2-1">
            <a:extLst xmlns:a="http://schemas.openxmlformats.org/drawingml/2006/main">
              <a:ext uri="{FF2B5EF4-FFF2-40B4-BE49-F238E27FC236}">
                <a16:creationId xmlns:a16="http://schemas.microsoft.com/office/drawing/2014/main" id="{328FE8B9-03A6-4F98-8CD2-20F407F5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565</a:t>
            </a:r>
          </a:p>
        </p:txBody>
      </p:sp>
      <p:sp>
        <p:nvSpPr>
          <p:cNvPr id="29" name="hm-2-2">
            <a:extLst xmlns:a="http://schemas.openxmlformats.org/drawingml/2006/main">
              <a:ext uri="{FF2B5EF4-FFF2-40B4-BE49-F238E27FC236}">
                <a16:creationId xmlns:a16="http://schemas.microsoft.com/office/drawing/2014/main" id="{CA76B36B-D391-4A5E-AA21-CEB8D749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hm-val-2-2">
            <a:extLst xmlns:a="http://schemas.openxmlformats.org/drawingml/2006/main">
              <a:ext uri="{FF2B5EF4-FFF2-40B4-BE49-F238E27FC236}">
                <a16:creationId xmlns:a16="http://schemas.microsoft.com/office/drawing/2014/main" id="{ABD22861-A654-4CEB-ADCD-A2E16A4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12781</a:t>
            </a:r>
          </a:p>
        </p:txBody>
      </p:sp>
      <p:sp>
        <p:nvSpPr>
          <p:cNvPr id="31" name="metric-94.5%-1010">
            <a:extLst xmlns:a="http://schemas.openxmlformats.org/drawingml/2006/main">
              <a:ext uri="{FF2B5EF4-FFF2-40B4-BE49-F238E27FC236}">
                <a16:creationId xmlns:a16="http://schemas.microsoft.com/office/drawing/2014/main" id="{3E8A8504-09F3-4D40-B619-9A23E201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4765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9152A"/>
                </a:solidFill>
              </a:defRPr>
            </a:pPr>
            <a:r>
              <a:rPr sz="3150" b="1">
                <a:solidFill>
                  <a:srgbClr val="B9152A"/>
                </a:solidFill>
              </a:rPr>
              <a:t>94.5%</a:t>
            </a:r>
          </a:p>
        </p:txBody>
      </p:sp>
      <p:sp>
        <p:nvSpPr>
          <p:cNvPr id="32" name="metric-label-94.5%-1010">
            <a:extLst xmlns:a="http://schemas.openxmlformats.org/drawingml/2006/main">
              <a:ext uri="{FF2B5EF4-FFF2-40B4-BE49-F238E27FC236}">
                <a16:creationId xmlns:a16="http://schemas.microsoft.com/office/drawing/2014/main" id="{5E497869-125D-46A7-B472-2A2BA801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6520"/>
            <a:ext cx="247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Timsort recall</a:t>
            </a:r>
          </a:p>
        </p:txBody>
      </p:sp>
      <p:sp>
        <p:nvSpPr>
          <p:cNvPr id="33" name="conf-note">
            <a:extLst xmlns:a="http://schemas.openxmlformats.org/drawingml/2006/main">
              <a:ext uri="{FF2B5EF4-FFF2-40B4-BE49-F238E27FC236}">
                <a16:creationId xmlns:a16="http://schemas.microsoft.com/office/drawing/2014/main" id="{E92D69EF-0BEE-4845-A373-505E17D4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3333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conf-note-title">
            <a:extLst xmlns:a="http://schemas.openxmlformats.org/drawingml/2006/main">
              <a:ext uri="{FF2B5EF4-FFF2-40B4-BE49-F238E27FC236}">
                <a16:creationId xmlns:a16="http://schemas.microsoft.com/office/drawing/2014/main" id="{506A6706-3B9A-40BB-BF36-BEEF75C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Interpretation</a:t>
            </a:r>
          </a:p>
        </p:txBody>
      </p:sp>
      <p:sp>
        <p:nvSpPr>
          <p:cNvPr id="35" name="conf-note-body">
            <a:extLst xmlns:a="http://schemas.openxmlformats.org/drawingml/2006/main">
              <a:ext uri="{FF2B5EF4-FFF2-40B4-BE49-F238E27FC236}">
                <a16:creationId xmlns:a16="http://schemas.microsoft.com/office/drawing/2014/main" id="{BA0E1EB5-B212-46F1-9476-CE8B164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43375"/>
            <a:ext cx="2990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Timsort is separable when runs/order are visible.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Introsort and heapsort remain close in the current feature space.</a:t>
            </a:r>
          </a:p>
        </p:txBody>
      </p:sp>
      <p:sp>
        <p:nvSpPr>
          <p:cNvPr id="36" name="conf-bottom">
            <a:extLst xmlns:a="http://schemas.openxmlformats.org/drawingml/2006/main">
              <a:ext uri="{FF2B5EF4-FFF2-40B4-BE49-F238E27FC236}">
                <a16:creationId xmlns:a16="http://schemas.microsoft.com/office/drawing/2014/main" id="{81F4C2A2-61A5-4948-9F8D-21EAC4E2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Most residual boundary errors carry low measured regret.</a:t>
            </a:r>
          </a:p>
        </p:txBody>
      </p:sp>
    </p:spTree>
    <p:extLst>
      <p:ext uri="{BB962C8B-B14F-4D97-AF65-F5344CB8AC3E}">
        <p14:creationId xmlns:p14="http://schemas.microsoft.com/office/powerpoint/2010/main" val="20732657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917D622-2F21-4822-BB43-79555107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2544D43-2E69-4B97-8BDD-8F7432BD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6B3ABB2-F090-4E9E-AEBD-214EFD68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E82809-F4EE-40FD-BDB5-AD161CC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F1 routing was treated as a separate specialization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F7133AD-E8BA-447F-9619-A26288A3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447E496-85D3-451E-9A9D-5DBE3DEF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23/28</a:t>
            </a:r>
          </a:p>
        </p:txBody>
      </p:sp>
      <p:sp>
        <p:nvSpPr>
          <p:cNvPr id="7" name="f1-fig">
            <a:extLst xmlns:a="http://schemas.openxmlformats.org/drawingml/2006/main">
              <a:ext uri="{FF2B5EF4-FFF2-40B4-BE49-F238E27FC236}">
                <a16:creationId xmlns:a16="http://schemas.microsoft.com/office/drawing/2014/main" id="{47E69F35-1F02-44E7-AC9D-01D10E93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85725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1-raw">
            <a:extLst xmlns:a="http://schemas.openxmlformats.org/drawingml/2006/main">
              <a:ext uri="{FF2B5EF4-FFF2-40B4-BE49-F238E27FC236}">
                <a16:creationId xmlns:a16="http://schemas.microsoft.com/office/drawing/2014/main" id="{1CD31DF8-37AE-4424-8DB5-0AD7AF70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1143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f1-raw-title">
            <a:extLst xmlns:a="http://schemas.openxmlformats.org/drawingml/2006/main">
              <a:ext uri="{FF2B5EF4-FFF2-40B4-BE49-F238E27FC236}">
                <a16:creationId xmlns:a16="http://schemas.microsoft.com/office/drawing/2014/main" id="{588D0D96-42F3-482A-B992-1DC45D65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52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F1 arrays</a:t>
            </a:r>
          </a:p>
        </p:txBody>
      </p:sp>
      <p:sp>
        <p:nvSpPr>
          <p:cNvPr id="10" name="f1-router">
            <a:extLst xmlns:a="http://schemas.openxmlformats.org/drawingml/2006/main">
              <a:ext uri="{FF2B5EF4-FFF2-40B4-BE49-F238E27FC236}">
                <a16:creationId xmlns:a16="http://schemas.microsoft.com/office/drawing/2014/main" id="{BCBFEB31-D0D6-42B4-8425-8C5E606C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428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f1-router-title">
            <a:extLst xmlns:a="http://schemas.openxmlformats.org/drawingml/2006/main">
              <a:ext uri="{FF2B5EF4-FFF2-40B4-BE49-F238E27FC236}">
                <a16:creationId xmlns:a16="http://schemas.microsoft.com/office/drawing/2014/main" id="{33763F7C-CA5C-4E9F-8ACF-4EE3789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channel</a:t>
            </a:r>
          </a:p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router</a:t>
            </a:r>
          </a:p>
        </p:txBody>
      </p:sp>
      <p:sp>
        <p:nvSpPr>
          <p:cNvPr id="12" name="f1-ch-0">
            <a:extLst xmlns:a="http://schemas.openxmlformats.org/drawingml/2006/main">
              <a:ext uri="{FF2B5EF4-FFF2-40B4-BE49-F238E27FC236}">
                <a16:creationId xmlns:a16="http://schemas.microsoft.com/office/drawing/2014/main" id="{637B5F3C-155F-44A2-93BC-A1C5A64C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1-ch-0-title">
            <a:extLst xmlns:a="http://schemas.openxmlformats.org/drawingml/2006/main">
              <a:ext uri="{FF2B5EF4-FFF2-40B4-BE49-F238E27FC236}">
                <a16:creationId xmlns:a16="http://schemas.microsoft.com/office/drawing/2014/main" id="{1A6F765B-639E-4744-91AB-5AD066C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4" name="f1-ch-1">
            <a:extLst xmlns:a="http://schemas.openxmlformats.org/drawingml/2006/main">
              <a:ext uri="{FF2B5EF4-FFF2-40B4-BE49-F238E27FC236}">
                <a16:creationId xmlns:a16="http://schemas.microsoft.com/office/drawing/2014/main" id="{F89CE653-A955-46CE-BF9E-DFE51A2B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1-ch-1-title">
            <a:extLst xmlns:a="http://schemas.openxmlformats.org/drawingml/2006/main">
              <a:ext uri="{FF2B5EF4-FFF2-40B4-BE49-F238E27FC236}">
                <a16:creationId xmlns:a16="http://schemas.microsoft.com/office/drawing/2014/main" id="{79D63843-FD81-4B91-9FAC-AAD37F1A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RPM</a:t>
            </a:r>
          </a:p>
        </p:txBody>
      </p:sp>
      <p:sp>
        <p:nvSpPr>
          <p:cNvPr id="16" name="f1-ch-2">
            <a:extLst xmlns:a="http://schemas.openxmlformats.org/drawingml/2006/main">
              <a:ext uri="{FF2B5EF4-FFF2-40B4-BE49-F238E27FC236}">
                <a16:creationId xmlns:a16="http://schemas.microsoft.com/office/drawing/2014/main" id="{2070F764-D81C-4A57-873D-279D41AD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718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1-ch-2-title">
            <a:extLst xmlns:a="http://schemas.openxmlformats.org/drawingml/2006/main">
              <a:ext uri="{FF2B5EF4-FFF2-40B4-BE49-F238E27FC236}">
                <a16:creationId xmlns:a16="http://schemas.microsoft.com/office/drawing/2014/main" id="{41DA3781-2B76-496C-98AB-75415050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24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DRS</a:t>
            </a:r>
          </a:p>
        </p:txBody>
      </p:sp>
      <p:sp>
        <p:nvSpPr>
          <p:cNvPr id="18" name="f1-ch-3">
            <a:extLst xmlns:a="http://schemas.openxmlformats.org/drawingml/2006/main">
              <a:ext uri="{FF2B5EF4-FFF2-40B4-BE49-F238E27FC236}">
                <a16:creationId xmlns:a16="http://schemas.microsoft.com/office/drawing/2014/main" id="{3065D4AE-CD8E-463C-81C4-870DBCF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576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1-ch-3-title">
            <a:extLst xmlns:a="http://schemas.openxmlformats.org/drawingml/2006/main">
              <a:ext uri="{FF2B5EF4-FFF2-40B4-BE49-F238E27FC236}">
                <a16:creationId xmlns:a16="http://schemas.microsoft.com/office/drawing/2014/main" id="{5AE4DDCB-E1CE-4C01-A6CB-09EDF52C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Throttle</a:t>
            </a:r>
          </a:p>
        </p:txBody>
      </p:sp>
      <p:sp>
        <p:nvSpPr>
          <p:cNvPr id="20" name="f1-model">
            <a:extLst xmlns:a="http://schemas.openxmlformats.org/drawingml/2006/main">
              <a:ext uri="{FF2B5EF4-FFF2-40B4-BE49-F238E27FC236}">
                <a16:creationId xmlns:a16="http://schemas.microsoft.com/office/drawing/2014/main" id="{27C7F8A6-6B22-4C82-97CE-8763736B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1000125" cy="114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1-model-title">
            <a:extLst xmlns:a="http://schemas.openxmlformats.org/drawingml/2006/main">
              <a:ext uri="{FF2B5EF4-FFF2-40B4-BE49-F238E27FC236}">
                <a16:creationId xmlns:a16="http://schemas.microsoft.com/office/drawing/2014/main" id="{9DCCDF10-51F5-444E-B776-BE3E74B3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1465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per channel</a:t>
            </a:r>
          </a:p>
        </p:txBody>
      </p:sp>
      <p:sp>
        <p:nvSpPr>
          <p:cNvPr id="22" name="f1-a1-from">
            <a:extLst xmlns:a="http://schemas.openxmlformats.org/drawingml/2006/main">
              <a:ext uri="{FF2B5EF4-FFF2-40B4-BE49-F238E27FC236}">
                <a16:creationId xmlns:a16="http://schemas.microsoft.com/office/drawing/2014/main" id="{2E351EEE-EF8F-423C-8E6D-141D7C7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1-a1-to">
            <a:extLst xmlns:a="http://schemas.openxmlformats.org/drawingml/2006/main">
              <a:ext uri="{FF2B5EF4-FFF2-40B4-BE49-F238E27FC236}">
                <a16:creationId xmlns:a16="http://schemas.microsoft.com/office/drawing/2014/main" id="{E6D8D440-BD3D-49E8-A727-0298E749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f1-a1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670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f1-a2-from">
            <a:extLst xmlns:a="http://schemas.openxmlformats.org/drawingml/2006/main">
              <a:ext uri="{FF2B5EF4-FFF2-40B4-BE49-F238E27FC236}">
                <a16:creationId xmlns:a16="http://schemas.microsoft.com/office/drawing/2014/main" id="{F4516FF8-A6CA-4A7F-8AE7-52259BB3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1-a2-to">
            <a:extLst xmlns:a="http://schemas.openxmlformats.org/drawingml/2006/main">
              <a:ext uri="{FF2B5EF4-FFF2-40B4-BE49-F238E27FC236}">
                <a16:creationId xmlns:a16="http://schemas.microsoft.com/office/drawing/2014/main" id="{EC2136A0-D010-4102-B297-4A4FF4A8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6" name="f1-a2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257800" y="33432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8" name="f1-a3-from">
            <a:extLst xmlns:a="http://schemas.openxmlformats.org/drawingml/2006/main">
              <a:ext uri="{FF2B5EF4-FFF2-40B4-BE49-F238E27FC236}">
                <a16:creationId xmlns:a16="http://schemas.microsoft.com/office/drawing/2014/main" id="{5858C417-C511-4944-BD8B-733A9D52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1-a3-to">
            <a:extLst xmlns:a="http://schemas.openxmlformats.org/drawingml/2006/main">
              <a:ext uri="{FF2B5EF4-FFF2-40B4-BE49-F238E27FC236}">
                <a16:creationId xmlns:a16="http://schemas.microsoft.com/office/drawing/2014/main" id="{8871D3C3-4A69-43A8-A03F-78C2A622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f1-a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686675" y="3343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f1-main">
            <a:extLst xmlns:a="http://schemas.openxmlformats.org/drawingml/2006/main">
              <a:ext uri="{FF2B5EF4-FFF2-40B4-BE49-F238E27FC236}">
                <a16:creationId xmlns:a16="http://schemas.microsoft.com/office/drawing/2014/main" id="{36955A58-FDA5-4A7C-ABDE-24344F9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f1-main-title">
            <a:extLst xmlns:a="http://schemas.openxmlformats.org/drawingml/2006/main">
              <a:ext uri="{FF2B5EF4-FFF2-40B4-BE49-F238E27FC236}">
                <a16:creationId xmlns:a16="http://schemas.microsoft.com/office/drawing/2014/main" id="{63779D28-61EE-4FAD-993E-0876BF3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62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33" name="f1-main-body">
            <a:extLst xmlns:a="http://schemas.openxmlformats.org/drawingml/2006/main">
              <a:ext uri="{FF2B5EF4-FFF2-40B4-BE49-F238E27FC236}">
                <a16:creationId xmlns:a16="http://schemas.microsoft.com/office/drawing/2014/main" id="{EECE81AF-42AB-4768-B4C6-5C84335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v5 general selector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34" name="f1-spec">
            <a:extLst xmlns:a="http://schemas.openxmlformats.org/drawingml/2006/main">
              <a:ext uri="{FF2B5EF4-FFF2-40B4-BE49-F238E27FC236}">
                <a16:creationId xmlns:a16="http://schemas.microsoft.com/office/drawing/2014/main" id="{1A8B34AC-6003-4486-9A26-24046E3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2857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f1-spec-title">
            <a:extLst xmlns:a="http://schemas.openxmlformats.org/drawingml/2006/main">
              <a:ext uri="{FF2B5EF4-FFF2-40B4-BE49-F238E27FC236}">
                <a16:creationId xmlns:a16="http://schemas.microsoft.com/office/drawing/2014/main" id="{B8D0E663-1FFD-4B0A-8BFC-DB1CA6BC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F1 specialization</a:t>
            </a:r>
          </a:p>
        </p:txBody>
      </p:sp>
      <p:sp>
        <p:nvSpPr>
          <p:cNvPr id="36" name="f1-spec-body">
            <a:extLst xmlns:a="http://schemas.openxmlformats.org/drawingml/2006/main">
              <a:ext uri="{FF2B5EF4-FFF2-40B4-BE49-F238E27FC236}">
                <a16:creationId xmlns:a16="http://schemas.microsoft.com/office/drawing/2014/main" id="{3796F415-286E-4646-8918-A0F901EE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channel flag routes F1 arrays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to specialized channel models</a:t>
            </a:r>
          </a:p>
        </p:txBody>
      </p:sp>
      <p:sp>
        <p:nvSpPr>
          <p:cNvPr id="37" name="f1-bound">
            <a:extLst xmlns:a="http://schemas.openxmlformats.org/drawingml/2006/main">
              <a:ext uri="{FF2B5EF4-FFF2-40B4-BE49-F238E27FC236}">
                <a16:creationId xmlns:a16="http://schemas.microsoft.com/office/drawing/2014/main" id="{7FC78305-1039-46F8-AE40-F251B81E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f1-bound-title">
            <a:extLst xmlns:a="http://schemas.openxmlformats.org/drawingml/2006/main">
              <a:ext uri="{FF2B5EF4-FFF2-40B4-BE49-F238E27FC236}">
                <a16:creationId xmlns:a16="http://schemas.microsoft.com/office/drawing/2014/main" id="{3F47352E-8160-4975-8F8B-3BC1EAE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244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Claim boundary</a:t>
            </a:r>
          </a:p>
        </p:txBody>
      </p:sp>
      <p:sp>
        <p:nvSpPr>
          <p:cNvPr id="39" name="f1-bound-body">
            <a:extLst xmlns:a="http://schemas.openxmlformats.org/drawingml/2006/main">
              <a:ext uri="{FF2B5EF4-FFF2-40B4-BE49-F238E27FC236}">
                <a16:creationId xmlns:a16="http://schemas.microsoft.com/office/drawing/2014/main" id="{4736E62E-FDE2-44E2-B2A6-4BCDF464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This does not replace v5.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It stays separate from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11749463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AB6E815-C0BB-4DA7-8E8F-C6C1170F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A48D305-45A1-4778-AC1B-F42EA5F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D7B9A97-835F-40C4-9C4B-25B7D53C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85D152-F88F-478D-B7BB-D58B0889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1D0699-3E9B-4618-9C48-B31E4FDF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7CF5857-1B70-4207-B1BB-8B24F9D4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24/28</a:t>
            </a:r>
          </a:p>
        </p:txBody>
      </p:sp>
      <p:sp>
        <p:nvSpPr>
          <p:cNvPr id="7" name="searched">
            <a:extLst xmlns:a="http://schemas.openxmlformats.org/drawingml/2006/main">
              <a:ext uri="{FF2B5EF4-FFF2-40B4-BE49-F238E27FC236}">
                <a16:creationId xmlns:a16="http://schemas.microsoft.com/office/drawing/2014/main" id="{34001D7D-5C19-46D2-A301-94C66142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09700"/>
            <a:ext cx="1176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Optuna searched: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8" name="searched-rule">
            <a:extLst xmlns:a="http://schemas.openxmlformats.org/drawingml/2006/main">
              <a:ext uri="{FF2B5EF4-FFF2-40B4-BE49-F238E27FC236}">
                <a16:creationId xmlns:a16="http://schemas.microsoft.com/office/drawing/2014/main" id="{C483AA3B-EB18-4A31-896C-E45BC10E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1185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9" name="op-h-0">
            <a:extLst xmlns:a="http://schemas.openxmlformats.org/drawingml/2006/main">
              <a:ext uri="{FF2B5EF4-FFF2-40B4-BE49-F238E27FC236}">
                <a16:creationId xmlns:a16="http://schemas.microsoft.com/office/drawing/2014/main" id="{7224333E-B275-43E6-B499-61B3596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Metric</a:t>
            </a:r>
          </a:p>
        </p:txBody>
      </p:sp>
      <p:sp>
        <p:nvSpPr>
          <p:cNvPr id="10" name="op-h-1">
            <a:extLst xmlns:a="http://schemas.openxmlformats.org/drawingml/2006/main">
              <a:ext uri="{FF2B5EF4-FFF2-40B4-BE49-F238E27FC236}">
                <a16:creationId xmlns:a16="http://schemas.microsoft.com/office/drawing/2014/main" id="{8CAD73BC-59E0-4A24-A7CD-1447D054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Before</a:t>
            </a:r>
          </a:p>
        </p:txBody>
      </p:sp>
      <p:sp>
        <p:nvSpPr>
          <p:cNvPr id="11" name="op-h-2">
            <a:extLst xmlns:a="http://schemas.openxmlformats.org/drawingml/2006/main">
              <a:ext uri="{FF2B5EF4-FFF2-40B4-BE49-F238E27FC236}">
                <a16:creationId xmlns:a16="http://schemas.microsoft.com/office/drawing/2014/main" id="{2F441328-FDD4-487B-8C4F-0D02218F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After Optuna</a:t>
            </a:r>
          </a:p>
        </p:txBody>
      </p:sp>
      <p:sp>
        <p:nvSpPr>
          <p:cNvPr id="12" name="op-h-3">
            <a:extLst xmlns:a="http://schemas.openxmlformats.org/drawingml/2006/main">
              <a:ext uri="{FF2B5EF4-FFF2-40B4-BE49-F238E27FC236}">
                <a16:creationId xmlns:a16="http://schemas.microsoft.com/office/drawing/2014/main" id="{892769A3-EC4C-4DE1-97F5-5C9E3E92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Change</a:t>
            </a:r>
          </a:p>
        </p:txBody>
      </p:sp>
      <p:sp>
        <p:nvSpPr>
          <p:cNvPr id="13" name="op-head">
            <a:extLst xmlns:a="http://schemas.openxmlformats.org/drawingml/2006/main">
              <a:ext uri="{FF2B5EF4-FFF2-40B4-BE49-F238E27FC236}">
                <a16:creationId xmlns:a16="http://schemas.microsoft.com/office/drawing/2014/main" id="{B297E837-0D76-4BBC-8A69-47210846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4" name="op-m-0">
            <a:extLst xmlns:a="http://schemas.openxmlformats.org/drawingml/2006/main">
              <a:ext uri="{FF2B5EF4-FFF2-40B4-BE49-F238E27FC236}">
                <a16:creationId xmlns:a16="http://schemas.microsoft.com/office/drawing/2014/main" id="{54BD4DE4-F90C-498A-8235-4272BE1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test accuracy</a:t>
            </a:r>
          </a:p>
        </p:txBody>
      </p:sp>
      <p:sp>
        <p:nvSpPr>
          <p:cNvPr id="15" name="op-b-0">
            <a:extLst xmlns:a="http://schemas.openxmlformats.org/drawingml/2006/main">
              <a:ext uri="{FF2B5EF4-FFF2-40B4-BE49-F238E27FC236}">
                <a16:creationId xmlns:a16="http://schemas.microsoft.com/office/drawing/2014/main" id="{488C959E-454D-49D6-9697-A5372F5D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241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46.0%</a:t>
            </a:r>
          </a:p>
        </p:txBody>
      </p:sp>
      <p:sp>
        <p:nvSpPr>
          <p:cNvPr id="16" name="op-a-0">
            <a:extLst xmlns:a="http://schemas.openxmlformats.org/drawingml/2006/main">
              <a:ext uri="{FF2B5EF4-FFF2-40B4-BE49-F238E27FC236}">
                <a16:creationId xmlns:a16="http://schemas.microsoft.com/office/drawing/2014/main" id="{5AADDBA5-38DC-4805-881E-779AF71F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24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7" name="op-c-0">
            <a:extLst xmlns:a="http://schemas.openxmlformats.org/drawingml/2006/main">
              <a:ext uri="{FF2B5EF4-FFF2-40B4-BE49-F238E27FC236}">
                <a16:creationId xmlns:a16="http://schemas.microsoft.com/office/drawing/2014/main" id="{B89CCBCE-43C3-4DDB-8546-2690D1CC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241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+7.6</a:t>
            </a:r>
          </a:p>
        </p:txBody>
      </p:sp>
      <p:sp>
        <p:nvSpPr>
          <p:cNvPr id="18" name="op-line-0">
            <a:extLst xmlns:a="http://schemas.openxmlformats.org/drawingml/2006/main">
              <a:ext uri="{FF2B5EF4-FFF2-40B4-BE49-F238E27FC236}">
                <a16:creationId xmlns:a16="http://schemas.microsoft.com/office/drawing/2014/main" id="{EB3C0537-3F69-4D42-87CB-EF1F5023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19" name="op-m-1">
            <a:extLst xmlns:a="http://schemas.openxmlformats.org/drawingml/2006/main">
              <a:ext uri="{FF2B5EF4-FFF2-40B4-BE49-F238E27FC236}">
                <a16:creationId xmlns:a16="http://schemas.microsoft.com/office/drawing/2014/main" id="{A3F4B57D-462E-4DDA-A101-79D39325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balanced accuracy</a:t>
            </a:r>
          </a:p>
        </p:txBody>
      </p:sp>
      <p:sp>
        <p:nvSpPr>
          <p:cNvPr id="20" name="op-b-1">
            <a:extLst xmlns:a="http://schemas.openxmlformats.org/drawingml/2006/main">
              <a:ext uri="{FF2B5EF4-FFF2-40B4-BE49-F238E27FC236}">
                <a16:creationId xmlns:a16="http://schemas.microsoft.com/office/drawing/2014/main" id="{66BE9746-C899-4311-AC6E-E64D4DC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48.2%</a:t>
            </a:r>
          </a:p>
        </p:txBody>
      </p:sp>
      <p:sp>
        <p:nvSpPr>
          <p:cNvPr id="21" name="op-a-1">
            <a:extLst xmlns:a="http://schemas.openxmlformats.org/drawingml/2006/main">
              <a:ext uri="{FF2B5EF4-FFF2-40B4-BE49-F238E27FC236}">
                <a16:creationId xmlns:a16="http://schemas.microsoft.com/office/drawing/2014/main" id="{FA7557D3-224D-407B-9A49-62177380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49.8%</a:t>
            </a:r>
          </a:p>
        </p:txBody>
      </p:sp>
      <p:sp>
        <p:nvSpPr>
          <p:cNvPr id="22" name="op-c-1">
            <a:extLst xmlns:a="http://schemas.openxmlformats.org/drawingml/2006/main">
              <a:ext uri="{FF2B5EF4-FFF2-40B4-BE49-F238E27FC236}">
                <a16:creationId xmlns:a16="http://schemas.microsoft.com/office/drawing/2014/main" id="{21F4EEAC-3DA5-45C6-B1AC-670E56AE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+1.6</a:t>
            </a:r>
          </a:p>
        </p:txBody>
      </p:sp>
      <p:sp>
        <p:nvSpPr>
          <p:cNvPr id="23" name="op-line-1">
            <a:extLst xmlns:a="http://schemas.openxmlformats.org/drawingml/2006/main">
              <a:ext uri="{FF2B5EF4-FFF2-40B4-BE49-F238E27FC236}">
                <a16:creationId xmlns:a16="http://schemas.microsoft.com/office/drawing/2014/main" id="{5490ACF1-C88E-4A07-984C-32B4DF1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766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op-m-2">
            <a:extLst xmlns:a="http://schemas.openxmlformats.org/drawingml/2006/main">
              <a:ext uri="{FF2B5EF4-FFF2-40B4-BE49-F238E27FC236}">
                <a16:creationId xmlns:a16="http://schemas.microsoft.com/office/drawing/2014/main" id="{065E5321-00AB-4740-93EE-01888EB7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DRS test accuracy</a:t>
            </a:r>
          </a:p>
        </p:txBody>
      </p:sp>
      <p:sp>
        <p:nvSpPr>
          <p:cNvPr id="25" name="op-b-2">
            <a:extLst xmlns:a="http://schemas.openxmlformats.org/drawingml/2006/main">
              <a:ext uri="{FF2B5EF4-FFF2-40B4-BE49-F238E27FC236}">
                <a16:creationId xmlns:a16="http://schemas.microsoft.com/office/drawing/2014/main" id="{CFAD6A50-9CE3-430E-878A-7C0F98EE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55.0%</a:t>
            </a:r>
          </a:p>
        </p:txBody>
      </p:sp>
      <p:sp>
        <p:nvSpPr>
          <p:cNvPr id="26" name="op-a-2">
            <a:extLst xmlns:a="http://schemas.openxmlformats.org/drawingml/2006/main">
              <a:ext uri="{FF2B5EF4-FFF2-40B4-BE49-F238E27FC236}">
                <a16:creationId xmlns:a16="http://schemas.microsoft.com/office/drawing/2014/main" id="{4B457132-7F08-48F6-8542-AAEE0C33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76.4%</a:t>
            </a:r>
          </a:p>
        </p:txBody>
      </p:sp>
      <p:sp>
        <p:nvSpPr>
          <p:cNvPr id="27" name="op-c-2">
            <a:extLst xmlns:a="http://schemas.openxmlformats.org/drawingml/2006/main">
              <a:ext uri="{FF2B5EF4-FFF2-40B4-BE49-F238E27FC236}">
                <a16:creationId xmlns:a16="http://schemas.microsoft.com/office/drawing/2014/main" id="{1877D09E-79FB-4B16-A6D1-A527072E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+21.4</a:t>
            </a:r>
          </a:p>
        </p:txBody>
      </p:sp>
      <p:sp>
        <p:nvSpPr>
          <p:cNvPr id="28" name="op-line-2">
            <a:extLst xmlns:a="http://schemas.openxmlformats.org/drawingml/2006/main">
              <a:ext uri="{FF2B5EF4-FFF2-40B4-BE49-F238E27FC236}">
                <a16:creationId xmlns:a16="http://schemas.microsoft.com/office/drawing/2014/main" id="{05C588ED-0CC5-4C58-AFB4-C1540823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9" name="op-m-3">
            <a:extLst xmlns:a="http://schemas.openxmlformats.org/drawingml/2006/main">
              <a:ext uri="{FF2B5EF4-FFF2-40B4-BE49-F238E27FC236}">
                <a16:creationId xmlns:a16="http://schemas.microsoft.com/office/drawing/2014/main" id="{E836DE7A-8B24-406E-BC71-C68B321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Throttle balanced accuracy</a:t>
            </a:r>
          </a:p>
        </p:txBody>
      </p:sp>
      <p:sp>
        <p:nvSpPr>
          <p:cNvPr id="30" name="op-b-3">
            <a:extLst xmlns:a="http://schemas.openxmlformats.org/drawingml/2006/main">
              <a:ext uri="{FF2B5EF4-FFF2-40B4-BE49-F238E27FC236}">
                <a16:creationId xmlns:a16="http://schemas.microsoft.com/office/drawing/2014/main" id="{DEB9503E-A4D0-4341-82AE-811DF22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815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24.0%</a:t>
            </a:r>
          </a:p>
        </p:txBody>
      </p:sp>
      <p:sp>
        <p:nvSpPr>
          <p:cNvPr id="31" name="op-a-3">
            <a:extLst xmlns:a="http://schemas.openxmlformats.org/drawingml/2006/main">
              <a:ext uri="{FF2B5EF4-FFF2-40B4-BE49-F238E27FC236}">
                <a16:creationId xmlns:a16="http://schemas.microsoft.com/office/drawing/2014/main" id="{1BB8697D-90E0-48A9-B8F4-2FE41D0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815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47.1%</a:t>
            </a:r>
          </a:p>
        </p:txBody>
      </p:sp>
      <p:sp>
        <p:nvSpPr>
          <p:cNvPr id="32" name="op-c-3">
            <a:extLst xmlns:a="http://schemas.openxmlformats.org/drawingml/2006/main">
              <a:ext uri="{FF2B5EF4-FFF2-40B4-BE49-F238E27FC236}">
                <a16:creationId xmlns:a16="http://schemas.microsoft.com/office/drawing/2014/main" id="{A530FC44-B85D-4141-A729-D90208F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81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+23.1</a:t>
            </a:r>
          </a:p>
        </p:txBody>
      </p:sp>
      <p:sp>
        <p:nvSpPr>
          <p:cNvPr id="33" name="op-line-3">
            <a:extLst xmlns:a="http://schemas.openxmlformats.org/drawingml/2006/main">
              <a:ext uri="{FF2B5EF4-FFF2-40B4-BE49-F238E27FC236}">
                <a16:creationId xmlns:a16="http://schemas.microsoft.com/office/drawing/2014/main" id="{AD7F6A4D-A9C3-43C1-87F0-F398ACBB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4" name="op-m-4">
            <a:extLst xmlns:a="http://schemas.openxmlformats.org/drawingml/2006/main">
              <a:ext uri="{FF2B5EF4-FFF2-40B4-BE49-F238E27FC236}">
                <a16:creationId xmlns:a16="http://schemas.microsoft.com/office/drawing/2014/main" id="{D5FAF28E-DE58-48AE-B944-1A446CD8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RPM test accuracy</a:t>
            </a:r>
          </a:p>
        </p:txBody>
      </p:sp>
      <p:sp>
        <p:nvSpPr>
          <p:cNvPr id="35" name="op-b-4">
            <a:extLst xmlns:a="http://schemas.openxmlformats.org/drawingml/2006/main">
              <a:ext uri="{FF2B5EF4-FFF2-40B4-BE49-F238E27FC236}">
                <a16:creationId xmlns:a16="http://schemas.microsoft.com/office/drawing/2014/main" id="{4080E1D1-9B10-4951-93D5-D236C0D5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339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32.9%</a:t>
            </a:r>
          </a:p>
        </p:txBody>
      </p:sp>
      <p:sp>
        <p:nvSpPr>
          <p:cNvPr id="36" name="op-a-4">
            <a:extLst xmlns:a="http://schemas.openxmlformats.org/drawingml/2006/main">
              <a:ext uri="{FF2B5EF4-FFF2-40B4-BE49-F238E27FC236}">
                <a16:creationId xmlns:a16="http://schemas.microsoft.com/office/drawing/2014/main" id="{28EB48C8-EF6D-4BFE-8259-4CB1DAB7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339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44.0%</a:t>
            </a:r>
          </a:p>
        </p:txBody>
      </p:sp>
      <p:sp>
        <p:nvSpPr>
          <p:cNvPr id="37" name="op-c-4">
            <a:extLst xmlns:a="http://schemas.openxmlformats.org/drawingml/2006/main">
              <a:ext uri="{FF2B5EF4-FFF2-40B4-BE49-F238E27FC236}">
                <a16:creationId xmlns:a16="http://schemas.microsoft.com/office/drawing/2014/main" id="{543E288C-EC4A-43B3-842C-299C7FF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339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+11.1</a:t>
            </a:r>
          </a:p>
        </p:txBody>
      </p:sp>
      <p:sp>
        <p:nvSpPr>
          <p:cNvPr id="38" name="op-line-4">
            <a:extLst xmlns:a="http://schemas.openxmlformats.org/drawingml/2006/main">
              <a:ext uri="{FF2B5EF4-FFF2-40B4-BE49-F238E27FC236}">
                <a16:creationId xmlns:a16="http://schemas.microsoft.com/office/drawing/2014/main" id="{DDB28837-5E9F-4DFC-8CD3-50566E1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9" name="op-div">
            <a:extLst xmlns:a="http://schemas.openxmlformats.org/drawingml/2006/main">
              <a:ext uri="{FF2B5EF4-FFF2-40B4-BE49-F238E27FC236}">
                <a16:creationId xmlns:a16="http://schemas.microsoft.com/office/drawing/2014/main" id="{A2FED6F2-36B0-429F-B4D8-52809F8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40" name="op-ct">
            <a:extLst xmlns:a="http://schemas.openxmlformats.org/drawingml/2006/main">
              <a:ext uri="{FF2B5EF4-FFF2-40B4-BE49-F238E27FC236}">
                <a16:creationId xmlns:a16="http://schemas.microsoft.com/office/drawing/2014/main" id="{D221ABCD-613F-405B-914C-0FB7FD70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F1 channel average</a:t>
            </a:r>
          </a:p>
        </p:txBody>
      </p:sp>
      <p:sp>
        <p:nvSpPr>
          <p:cNvPr id="41" name="op-chart-axis">
            <a:extLst xmlns:a="http://schemas.openxmlformats.org/drawingml/2006/main">
              <a:ext uri="{FF2B5EF4-FFF2-40B4-BE49-F238E27FC236}">
                <a16:creationId xmlns:a16="http://schemas.microsoft.com/office/drawing/2014/main" id="{2F6AD53C-B95E-477D-9928-963DA13E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9625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2" name="op-chart-yaxis">
            <a:extLst xmlns:a="http://schemas.openxmlformats.org/drawingml/2006/main">
              <a:ext uri="{FF2B5EF4-FFF2-40B4-BE49-F238E27FC236}">
                <a16:creationId xmlns:a16="http://schemas.microsoft.com/office/drawing/2014/main" id="{42513926-87F1-453B-9EFE-B714876C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90875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3" name="op-chart-bar-0-0">
            <a:extLst xmlns:a="http://schemas.openxmlformats.org/drawingml/2006/main">
              <a:ext uri="{FF2B5EF4-FFF2-40B4-BE49-F238E27FC236}">
                <a16:creationId xmlns:a16="http://schemas.microsoft.com/office/drawing/2014/main" id="{1FEB3529-B466-4FB6-A5EB-63A283B9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794125"/>
            <a:ext cx="4191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p-chart-val-0-0">
            <a:extLst xmlns:a="http://schemas.openxmlformats.org/drawingml/2006/main">
              <a:ext uri="{FF2B5EF4-FFF2-40B4-BE49-F238E27FC236}">
                <a16:creationId xmlns:a16="http://schemas.microsoft.com/office/drawing/2014/main" id="{2389B0DB-3D05-428C-B566-DA1540A7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5464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86A6"/>
                </a:solidFill>
              </a:defRPr>
            </a:pPr>
            <a:r>
              <a:rPr sz="1200" b="1">
                <a:solidFill>
                  <a:srgbClr val="7186A6"/>
                </a:solidFill>
              </a:rPr>
              <a:t>46.0%</a:t>
            </a:r>
          </a:p>
        </p:txBody>
      </p:sp>
      <p:sp>
        <p:nvSpPr>
          <p:cNvPr id="45" name="op-chart-cat-0">
            <a:extLst xmlns:a="http://schemas.openxmlformats.org/drawingml/2006/main">
              <a:ext uri="{FF2B5EF4-FFF2-40B4-BE49-F238E27FC236}">
                <a16:creationId xmlns:a16="http://schemas.microsoft.com/office/drawing/2014/main" id="{4EC698B5-3A88-4CCD-8E12-A90E9EF2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Before avg</a:t>
            </a:r>
          </a:p>
        </p:txBody>
      </p:sp>
      <p:sp>
        <p:nvSpPr>
          <p:cNvPr id="46" name="op-chart-bar-1-0">
            <a:extLst xmlns:a="http://schemas.openxmlformats.org/drawingml/2006/main">
              <a:ext uri="{FF2B5EF4-FFF2-40B4-BE49-F238E27FC236}">
                <a16:creationId xmlns:a16="http://schemas.microsoft.com/office/drawing/2014/main" id="{0876B78E-D210-4C3B-A48D-DDC04D75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601085"/>
            <a:ext cx="419100" cy="136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p-chart-val-1-0">
            <a:extLst xmlns:a="http://schemas.openxmlformats.org/drawingml/2006/main">
              <a:ext uri="{FF2B5EF4-FFF2-40B4-BE49-F238E27FC236}">
                <a16:creationId xmlns:a16="http://schemas.microsoft.com/office/drawing/2014/main" id="{9D2FE10E-3BDA-46EC-AB0A-1C46A670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35343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86A6"/>
                </a:solidFill>
              </a:defRPr>
            </a:pPr>
            <a:r>
              <a:rPr sz="1200" b="1">
                <a:solidFill>
                  <a:srgbClr val="7186A6"/>
                </a:solidFill>
              </a:rPr>
              <a:t>53.6%</a:t>
            </a:r>
          </a:p>
        </p:txBody>
      </p:sp>
      <p:sp>
        <p:nvSpPr>
          <p:cNvPr id="48" name="op-chart-cat-1">
            <a:extLst xmlns:a="http://schemas.openxmlformats.org/drawingml/2006/main">
              <a:ext uri="{FF2B5EF4-FFF2-40B4-BE49-F238E27FC236}">
                <a16:creationId xmlns:a16="http://schemas.microsoft.com/office/drawing/2014/main" id="{9C5B380E-446C-414D-B830-FCC388C0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After avg</a:t>
            </a:r>
          </a:p>
        </p:txBody>
      </p:sp>
    </p:spTree>
    <p:extLst>
      <p:ext uri="{BB962C8B-B14F-4D97-AF65-F5344CB8AC3E}">
        <p14:creationId xmlns:p14="http://schemas.microsoft.com/office/powerpoint/2010/main" val="13582463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317F57C-4603-4791-8A9E-EFBB0959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A398B88-7165-4ED9-901E-AE2F4C2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CFB7F62-C0CE-47A7-944A-8EBC4448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FB5E2B-5B00-4CD4-A074-67B72FD4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337B57-ED32-45C7-8FEF-14744720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52C1C62-17A1-4648-ABCE-6E83E262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25/28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4750B281-04C7-4263-AAA4-D748161B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4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4A39EE67-6D65-44FF-B3E2-0B0693A1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763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Database query engines: </a:t>
            </a:r>
            <a:r>
              <a:rPr>
                <a:solidFill>
                  <a:srgbClr val="F4511E"/>
                </a:solidFill>
              </a:rPr>
              <a:t>choose sorting method for ORDER BY, joins, grouping, and index builds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080CE8F6-083A-4E8C-BBAD-ABA2616B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955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A10B3222-C1F2-4BD5-88A4-F0F5418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D6394819-C9BF-483C-BACE-1274809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764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ETL and analytics pipelines: </a:t>
            </a:r>
            <a:r>
              <a:rPr>
                <a:solidFill>
                  <a:srgbClr val="F4511E"/>
                </a:solidFill>
              </a:rPr>
              <a:t>choose sorting method for IDs, timestamps, prices, partitions, and batches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3645A186-124B-4B3F-82AD-319D7AE2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956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D803102C-3EE6-492A-A8B7-6F6A9A4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D470B153-C779-4CC2-8358-94C9F689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765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and ranking systems: </a:t>
            </a:r>
            <a:r>
              <a:rPr>
                <a:solidFill>
                  <a:srgbClr val="F4511E"/>
                </a:solidFill>
              </a:rPr>
              <a:t>choose sorting method for candidate scores before top-k output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D439484D-1B78-4EC5-B49A-B9DF6D81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957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list-n-3">
            <a:extLst xmlns:a="http://schemas.openxmlformats.org/drawingml/2006/main">
              <a:ext uri="{FF2B5EF4-FFF2-40B4-BE49-F238E27FC236}">
                <a16:creationId xmlns:a16="http://schemas.microsoft.com/office/drawing/2014/main" id="{183DEC74-2B4A-46C9-A774-7FF56EA7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list-row-3">
            <a:extLst xmlns:a="http://schemas.openxmlformats.org/drawingml/2006/main">
              <a:ext uri="{FF2B5EF4-FFF2-40B4-BE49-F238E27FC236}">
                <a16:creationId xmlns:a16="http://schemas.microsoft.com/office/drawing/2014/main" id="{CA67F1D6-0DF6-4B1F-B5F7-CC15D473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72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Financial time-series processing: </a:t>
            </a:r>
            <a:r>
              <a:rPr>
                <a:solidFill>
                  <a:srgbClr val="F4511E"/>
                </a:solidFill>
              </a:rPr>
              <a:t>choose sorting method for rolling windows, events, prices, and order-book values</a:t>
            </a:r>
          </a:p>
        </p:txBody>
      </p:sp>
      <p:sp>
        <p:nvSpPr>
          <p:cNvPr id="18" name="list-line-3">
            <a:extLst xmlns:a="http://schemas.openxmlformats.org/drawingml/2006/main">
              <a:ext uri="{FF2B5EF4-FFF2-40B4-BE49-F238E27FC236}">
                <a16:creationId xmlns:a16="http://schemas.microsoft.com/office/drawing/2014/main" id="{967F84F1-FF41-4FD9-8F1C-2B6ECB9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list-n-4">
            <a:extLst xmlns:a="http://schemas.openxmlformats.org/drawingml/2006/main">
              <a:ext uri="{FF2B5EF4-FFF2-40B4-BE49-F238E27FC236}">
                <a16:creationId xmlns:a16="http://schemas.microsoft.com/office/drawing/2014/main" id="{BEF86CD2-FE97-4DBA-9DB1-6E5F437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list-row-4">
            <a:extLst xmlns:a="http://schemas.openxmlformats.org/drawingml/2006/main">
              <a:ext uri="{FF2B5EF4-FFF2-40B4-BE49-F238E27FC236}">
                <a16:creationId xmlns:a16="http://schemas.microsoft.com/office/drawing/2014/main" id="{A7AA6D75-C340-4733-A10F-B7977BC4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767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11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Scientific and telemetry processing: </a:t>
            </a:r>
            <a:r>
              <a:rPr>
                <a:solidFill>
                  <a:srgbClr val="F4511E"/>
                </a:solidFill>
              </a:rPr>
              <a:t>choose sorting method for sensor traces, physics logs, weather data, and F1 telemetry</a:t>
            </a:r>
          </a:p>
        </p:txBody>
      </p:sp>
      <p:sp>
        <p:nvSpPr>
          <p:cNvPr id="21" name="list-line-4">
            <a:extLst xmlns:a="http://schemas.openxmlformats.org/drawingml/2006/main">
              <a:ext uri="{FF2B5EF4-FFF2-40B4-BE49-F238E27FC236}">
                <a16:creationId xmlns:a16="http://schemas.microsoft.com/office/drawing/2014/main" id="{680D8519-E4B7-4D4C-A207-523B154A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959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22" name="list-n-5">
            <a:extLst xmlns:a="http://schemas.openxmlformats.org/drawingml/2006/main">
              <a:ext uri="{FF2B5EF4-FFF2-40B4-BE49-F238E27FC236}">
                <a16:creationId xmlns:a16="http://schemas.microsoft.com/office/drawing/2014/main" id="{A297EA47-900B-4AE0-A6EB-32932155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05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3" name="list-row-5">
            <a:extLst xmlns:a="http://schemas.openxmlformats.org/drawingml/2006/main">
              <a:ext uri="{FF2B5EF4-FFF2-40B4-BE49-F238E27FC236}">
                <a16:creationId xmlns:a16="http://schemas.microsoft.com/office/drawing/2014/main" id="{A9F55B8C-2C66-424F-90C5-914B87D9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768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Selector action: </a:t>
            </a:r>
            <a:r>
              <a:rPr>
                <a:solidFill>
                  <a:srgbClr val="F4511E"/>
                </a:solidFill>
              </a:rPr>
              <a:t>extract features first, predict fastest algorithm, choose Introsort / Heapsort / Timsort</a:t>
            </a:r>
          </a:p>
        </p:txBody>
      </p:sp>
      <p:sp>
        <p:nvSpPr>
          <p:cNvPr id="24" name="list-line-5">
            <a:extLst xmlns:a="http://schemas.openxmlformats.org/drawingml/2006/main">
              <a:ext uri="{FF2B5EF4-FFF2-40B4-BE49-F238E27FC236}">
                <a16:creationId xmlns:a16="http://schemas.microsoft.com/office/drawing/2014/main" id="{92C5235E-6AF8-4FEA-82A0-5A759E5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0960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4281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5012719-1B31-4097-A3F9-6CB1C55E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2E44C6E-0449-4541-B473-A6DD33F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D355DDF-1452-43F0-BA80-29C06DFB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E39ACC-4C00-4F19-91F7-D66C361B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Contributions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31A96BA-D8A4-4334-A0E6-755955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F48DDE9-240D-458F-A5F3-18F86C9B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26/28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D86B389E-5BD7-41B6-8BB9-4018D61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D2A4B250-46E0-4190-AC04-6C3FC59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669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65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Deployable selector: </a:t>
            </a:r>
            <a:r>
              <a:rPr>
                <a:solidFill>
                  <a:srgbClr val="171717"/>
                </a:solidFill>
              </a:rPr>
              <a:t>compact pipeline combines sixteen O(n) structural features with a gradient-boosted classifier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3F81ABD6-9317-48B5-BC35-99913AC4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860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3AD06E08-4348-485C-99A5-7FA1DB0C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8572D558-7C58-4857-8019-D2509BC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242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Evaluation discipline: </a:t>
            </a:r>
            <a:r>
              <a:rPr>
                <a:solidFill>
                  <a:srgbClr val="171717"/>
                </a:solidFill>
              </a:rPr>
              <a:t>source-level separation, near-tie filtering, LODO testing, and regret metrics give a stronger view than accuracy alone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596DA291-26E2-44A5-B6E9-C6BD18DD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433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C25A23F4-9FF9-4DB9-A9CD-2D52BFE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FF0353F5-9397-4BAC-A9C3-DD3B92FC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815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69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Reproducible artifact: </a:t>
            </a:r>
            <a:r>
              <a:rPr>
                <a:solidFill>
                  <a:srgbClr val="171717"/>
                </a:solidFill>
              </a:rPr>
              <a:t>one source-of-truth feature extractor, data pipeline, and exported XGBoost JSON / ONNX models support replication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622AC22E-E439-4047-AF99-3F7EB65E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006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36729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49A40BE-38F2-4AF6-AF38-07E575B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F58784A-1BD7-4949-972A-859F6F9C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3530FE0-5FAA-43B1-B61C-FD304F2F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0CB2A2-FAAA-4DF3-A026-DD1BAD21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Limitations and Future Work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FC3DAF-36A4-4EDD-9E23-6EBE6A1E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F75BBF4-D1B7-43A5-BA6B-AC2242B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27/28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F619D330-A137-4A14-BAEC-7009E266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4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55E07029-CEE5-4308-8B08-A226C1AC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763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Portfolio: </a:t>
            </a:r>
            <a:r>
              <a:rPr>
                <a:solidFill>
                  <a:srgbClr val="171717"/>
                </a:solidFill>
              </a:rPr>
              <a:t>limited to three C-level comparison sorts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530820A0-8D54-4006-B5F6-0C19341D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955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35D78522-A211-4337-87BD-43A32EB4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634C9537-1AC6-4FA2-A0AF-B129FF14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764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Environment: </a:t>
            </a:r>
            <a:r>
              <a:rPr>
                <a:solidFill>
                  <a:srgbClr val="171717"/>
                </a:solidFill>
              </a:rPr>
              <a:t>absolute regret is tied to one hardware/software environment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83042790-0B9E-4E61-81EC-F42E7DB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956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3E612CC3-4FBA-4A15-8510-21EFF7B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ED361D79-1DC9-48DA-A0E5-24C85CC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765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Source-aware split: </a:t>
            </a:r>
            <a:r>
              <a:rPr>
                <a:solidFill>
                  <a:srgbClr val="171717"/>
                </a:solidFill>
              </a:rPr>
              <a:t>stricter validation lowers performance, so deployment needs domain testing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5EA99745-6257-4305-A9D1-031CAB8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957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list-n-3">
            <a:extLst xmlns:a="http://schemas.openxmlformats.org/drawingml/2006/main">
              <a:ext uri="{FF2B5EF4-FFF2-40B4-BE49-F238E27FC236}">
                <a16:creationId xmlns:a16="http://schemas.microsoft.com/office/drawing/2014/main" id="{385A5C1B-A540-4E95-838D-9E3474C9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list-row-3">
            <a:extLst xmlns:a="http://schemas.openxmlformats.org/drawingml/2006/main">
              <a:ext uri="{FF2B5EF4-FFF2-40B4-BE49-F238E27FC236}">
                <a16:creationId xmlns:a16="http://schemas.microsoft.com/office/drawing/2014/main" id="{C497D7CF-F487-4C66-A20E-81342693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Extraction cost: </a:t>
            </a:r>
            <a:r>
              <a:rPr>
                <a:solidFill>
                  <a:srgbClr val="171717"/>
                </a:solidFill>
              </a:rPr>
              <a:t>feature extraction becomes unprofitable below about 1,000 elements</a:t>
            </a:r>
          </a:p>
        </p:txBody>
      </p:sp>
      <p:sp>
        <p:nvSpPr>
          <p:cNvPr id="18" name="list-line-3">
            <a:extLst xmlns:a="http://schemas.openxmlformats.org/drawingml/2006/main">
              <a:ext uri="{FF2B5EF4-FFF2-40B4-BE49-F238E27FC236}">
                <a16:creationId xmlns:a16="http://schemas.microsoft.com/office/drawing/2014/main" id="{9536A035-543E-4A27-B674-156D8E40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list-n-4">
            <a:extLst xmlns:a="http://schemas.openxmlformats.org/drawingml/2006/main">
              <a:ext uri="{FF2B5EF4-FFF2-40B4-BE49-F238E27FC236}">
                <a16:creationId xmlns:a16="http://schemas.microsoft.com/office/drawing/2014/main" id="{B9DEE7B7-16C1-4E7C-AB61-92AA121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list-row-4">
            <a:extLst xmlns:a="http://schemas.openxmlformats.org/drawingml/2006/main">
              <a:ext uri="{FF2B5EF4-FFF2-40B4-BE49-F238E27FC236}">
                <a16:creationId xmlns:a16="http://schemas.microsoft.com/office/drawing/2014/main" id="{E91105AA-64CB-494F-9CC6-E52BD02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767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Larger portfolios: </a:t>
            </a:r>
            <a:r>
              <a:rPr>
                <a:solidFill>
                  <a:srgbClr val="171717"/>
                </a:solidFill>
              </a:rPr>
              <a:t>Powersort, radix/bucket/quads, SIMD/GPU sorts</a:t>
            </a:r>
          </a:p>
        </p:txBody>
      </p:sp>
      <p:sp>
        <p:nvSpPr>
          <p:cNvPr id="21" name="list-line-4">
            <a:extLst xmlns:a="http://schemas.openxmlformats.org/drawingml/2006/main">
              <a:ext uri="{FF2B5EF4-FFF2-40B4-BE49-F238E27FC236}">
                <a16:creationId xmlns:a16="http://schemas.microsoft.com/office/drawing/2014/main" id="{7E7311F9-53BC-4FCB-9321-747CAA0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959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22" name="list-n-5">
            <a:extLst xmlns:a="http://schemas.openxmlformats.org/drawingml/2006/main">
              <a:ext uri="{FF2B5EF4-FFF2-40B4-BE49-F238E27FC236}">
                <a16:creationId xmlns:a16="http://schemas.microsoft.com/office/drawing/2014/main" id="{6C7FD33E-B97A-4F19-A41D-3E4EEF1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05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3" name="list-row-5">
            <a:extLst xmlns:a="http://schemas.openxmlformats.org/drawingml/2006/main">
              <a:ext uri="{FF2B5EF4-FFF2-40B4-BE49-F238E27FC236}">
                <a16:creationId xmlns:a16="http://schemas.microsoft.com/office/drawing/2014/main" id="{AF13F052-CEC3-4AC4-AB83-D0B8C625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768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Deployment: </a:t>
            </a:r>
            <a:r>
              <a:rPr>
                <a:solidFill>
                  <a:srgbClr val="171717"/>
                </a:solidFill>
              </a:rPr>
              <a:t>cross-platform validation with feature-extraction overhead</a:t>
            </a:r>
          </a:p>
        </p:txBody>
      </p:sp>
      <p:sp>
        <p:nvSpPr>
          <p:cNvPr id="24" name="list-line-5">
            <a:extLst xmlns:a="http://schemas.openxmlformats.org/drawingml/2006/main">
              <a:ext uri="{FF2B5EF4-FFF2-40B4-BE49-F238E27FC236}">
                <a16:creationId xmlns:a16="http://schemas.microsoft.com/office/drawing/2014/main" id="{A6F52BC9-E21F-47AA-9864-09CC4DC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0960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67140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8CA9780-6DC0-4D42-B11C-9326F7B1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A74DB6CE-3B1D-4476-9562-0A2D0A4C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E23D70B-7464-4CB0-8790-512D959C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4932673-8454-4AD4-AE44-B0E7631A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28/28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178DAE68-E4A6-4D24-9A7E-F3940D9D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171717"/>
                </a:solidFill>
              </a:defRPr>
            </a:pPr>
            <a:r>
              <a:rPr sz="3600">
                <a:solidFill>
                  <a:srgbClr val="171717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77294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2026-07-06T08:24:21.7310000Z</dcterms:created>
  <dcterms:modified xsi:type="dcterms:W3CDTF">2026-07-06T08:24:21.7310000Z</dcterms:modified>
</coreProperties>
</file>