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0" r:id="rId4"/>
    <p:sldId id="259" r:id="rId5"/>
    <p:sldId id="260" r:id="rId6"/>
    <p:sldId id="262" r:id="rId7"/>
    <p:sldId id="282" r:id="rId32"/>
    <p:sldId id="263" r:id="rId8"/>
    <p:sldId id="264" r:id="rId9"/>
    <p:sldId id="265" r:id="rId10"/>
    <p:sldId id="267" r:id="rId11"/>
    <p:sldId id="258" r:id="rId12"/>
    <p:sldId id="266" r:id="rId13"/>
    <p:sldId id="268" r:id="rId14"/>
    <p:sldId id="269" r:id="rId15"/>
    <p:sldId id="270" r:id="rId16"/>
    <p:sldId id="271" r:id="rId17"/>
    <p:sldId id="272" r:id="rId18"/>
    <p:sldId id="273" r:id="rId19"/>
    <p:sldId id="274" r:id="rId20"/>
    <p:sldId id="281"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4659"/>
  </p:normalViewPr>
  <p:slideViewPr>
    <p:cSldViewPr snapToGrid="0" snapToObjects="1">
      <p:cViewPr varScale="1">
        <p:scale>
          <a:sx n="146" d="100"/>
          <a:sy n="146" d="100"/>
        </p:scale>
        <p:origin x="1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r>
              <a:t>Problem, Motivation, and Prior Work</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r>
              <a:t>Data Collection,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r>
              <a:t>Algorithm Selection 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r>
              <a:t>Evaluation: SBS, VBS, Regret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r>
              <a:t>Rigor, Generalisation, and Scope</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r>
              <a:t>Contributions, Limits,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3/25</a:t>
            </a:r>
            <a:endParaRPr sz="600" dirty="0">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3"/>
          <a:stretch>
            <a:fillRect/>
          </a:stretch>
        </p:blipFill>
        <p:spPr>
          <a:xfrm>
            <a:off x="8709" y="0"/>
            <a:ext cx="12192000" cy="6858000"/>
          </a:xfrm>
          <a:prstGeom prst="rect">
            <a:avLst/>
          </a:prstGeom>
        </p:spPr>
      </p:pic>
      <p:sp>
        <p:nvSpPr>
          <p:cNvPr id="3" name="TextBox 2"/>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corpus uses five structurally diverse real-world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numeric arrays were extracted to maximise structural diversity.</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r>
              <a:t>Formula 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r>
              <a:t>Equity prices</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441574" y="3368720"/>
            <a:ext cx="1078992" cy="440055"/>
          </a:xfrm>
          <a:prstGeom prst="rect">
            <a:avLst/>
          </a:prstGeom>
          <a:noFill/>
          <a:ln>
            <a:noFill/>
          </a:ln>
        </p:spPr>
        <p:txBody>
          <a:bodyPr wrap="none" lIns="0" tIns="0" rIns="0" bIns="0" anchor="t" anchorCtr="0">
            <a:spAutoFit/>
          </a:bodyPr>
          <a:lstStyle/>
          <a:p>
            <a:r>
              <a:rPr dirty="0"/>
              <a:t>Cryptocurrency OHLCV</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032819" y="4800219"/>
            <a:ext cx="1745361" cy="440055"/>
          </a:xfrm>
          <a:prstGeom prst="rect">
            <a:avLst/>
          </a:prstGeom>
          <a:noFill/>
          <a:ln>
            <a:noFill/>
          </a:ln>
        </p:spPr>
        <p:txBody>
          <a:bodyPr wrap="none" lIns="0" tIns="0" rIns="0" bIns="0" anchor="t" anchorCtr="0">
            <a:spAutoFit/>
          </a:bodyPr>
          <a:lstStyle/>
          <a:p>
            <a:r>
              <a:rPr dirty="0"/>
              <a:t>Seismic measurements</a:t>
            </a:r>
          </a:p>
        </p:txBody>
      </p:sp>
      <p:sp>
        <p:nvSpPr>
          <p:cNvPr id="19" name="TextBox 19"/>
          <p:cNvSpPr txBox="1"/>
          <p:nvPr/>
        </p:nvSpPr>
        <p:spPr>
          <a:xfrm>
            <a:off x="1629039" y="5637645"/>
            <a:ext cx="8933921" cy="276999"/>
          </a:xfrm>
          <a:prstGeom prst="rect">
            <a:avLst/>
          </a:prstGeom>
          <a:noFill/>
          <a:ln>
            <a:noFill/>
          </a:ln>
        </p:spPr>
        <p:txBody>
          <a:bodyPr wrap="none" lIns="0" tIns="0" rIns="0" bIns="0" anchor="t" anchorCtr="0">
            <a:spAutoFit/>
          </a:bodyPr>
          <a:lstStyle/>
          <a:p>
            <a:r>
              <a:rPr dirty="0"/>
              <a:t>Real data was preferred because synthetic distributions failed to </a:t>
            </a:r>
            <a:r>
              <a:rPr lang="en-US" dirty="0"/>
              <a:t>converge</a:t>
            </a:r>
            <a:r>
              <a:rPr dirty="0"/>
              <a:t> to genuine structure.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domain_samples_v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Labels are empirical fastest-algorithm measurements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candidate algorithm is timed on a fresh copy; the minimum observed runtime becomes the label.</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RAW, REV, SHUF, QBIN50, and PSORT10 force a non-trivial decision boundary.</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Sixteen O(n) structural features characterise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Every feature must be cheap to compute and linked to differential sorting behaviour.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t>length_norm</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t>size effects</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t>cache / constants</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t>adj_sorted_ratio</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t>runs_ratio</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t>inversion_ratio</a:t>
            </a:r>
          </a:p>
        </p:txBody>
      </p:sp>
      <p:sp>
        <p:nvSpPr>
          <p:cNvPr id="18" name="TextBox 18"/>
          <p:cNvSpPr txBox="1"/>
          <p:nvPr/>
        </p:nvSpPr>
        <p:spPr>
          <a:xfrm>
            <a:off x="3450620" y="5369338"/>
            <a:ext cx="4494371" cy="276999"/>
          </a:xfrm>
          <a:prstGeom prst="rect">
            <a:avLst/>
          </a:prstGeom>
          <a:noFill/>
          <a:ln>
            <a:noFill/>
          </a:ln>
        </p:spPr>
        <p:txBody>
          <a:bodyPr wrap="none" lIns="0" tIns="0" rIns="0" bIns="0" anchor="t" anchorCtr="0">
            <a:spAutoFit/>
          </a:bodyPr>
          <a:lstStyle/>
          <a:p>
            <a:pPr algn="ctr"/>
            <a:r>
              <a:rPr dirty="0"/>
              <a:t>Timing features are excluded at prediction time.</a:t>
            </a:r>
          </a:p>
        </p:txBody>
      </p:sp>
      <p:sp>
        <p:nvSpPr>
          <p:cNvPr id="19" name="TextBox 19"/>
          <p:cNvSpPr txBox="1"/>
          <p:nvPr/>
        </p:nvSpPr>
        <p:spPr>
          <a:xfrm>
            <a:off x="1696880" y="5849969"/>
            <a:ext cx="8653459" cy="276999"/>
          </a:xfrm>
          <a:prstGeom prst="rect">
            <a:avLst/>
          </a:prstGeom>
          <a:noFill/>
          <a:ln>
            <a:noFill/>
          </a:ln>
        </p:spPr>
        <p:txBody>
          <a:bodyPr wrap="none" lIns="0" tIns="0" rIns="0" bIns="0" anchor="t" anchorCtr="0">
            <a:spAutoFit/>
          </a:bodyPr>
          <a:lstStyle/>
          <a:p>
            <a:pPr algn="ctr"/>
            <a:r>
              <a:rPr dirty="0"/>
              <a:t>A single canonical feature extractor is shared across data generation, training, and inference.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Prediction is made before any candidate algorithm is executed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extracts features once, runs one XGBoost prediction, and chooses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5498" y="2576131"/>
            <a:ext cx="3023306" cy="440055"/>
          </a:xfrm>
          <a:prstGeom prst="rect">
            <a:avLst/>
          </a:prstGeom>
          <a:noFill/>
          <a:ln>
            <a:noFill/>
          </a:ln>
        </p:spPr>
        <p:txBody>
          <a:bodyPr wrap="none" lIns="0" tIns="0" rIns="0" bIns="0" anchor="t" anchorCtr="0">
            <a:spAutoFit/>
          </a:bodyPr>
          <a:lstStyle/>
          <a:p>
            <a:r>
              <a:t>Extract O(n) features</a:t>
            </a:r>
          </a:p>
        </p:txBody>
      </p:sp>
      <p:sp>
        <p:nvSpPr>
          <p:cNvPr id="10" name="TextBox 10"/>
          <p:cNvSpPr txBox="1"/>
          <p:nvPr/>
        </p:nvSpPr>
        <p:spPr>
          <a:xfrm>
            <a:off x="1148592" y="3062695"/>
            <a:ext cx="4529398" cy="553998"/>
          </a:xfrm>
          <a:prstGeom prst="rect">
            <a:avLst/>
          </a:prstGeom>
          <a:noFill/>
          <a:ln>
            <a:noFill/>
          </a:ln>
        </p:spPr>
        <p:txBody>
          <a:bodyPr wrap="square" lIns="0" tIns="0" rIns="0" bIns="0" anchor="t" anchorCtr="0">
            <a:spAutoFit/>
          </a:bodyPr>
          <a:lstStyle/>
          <a:p>
            <a:r>
              <a:rPr dirty="0"/>
              <a:t>Measure order, runs, repetition, distribution, robust scale</a:t>
            </a:r>
          </a:p>
        </p:txBody>
      </p:sp>
      <p:sp>
        <p:nvSpPr>
          <p:cNvPr id="11" name="TextBox 11"/>
          <p:cNvSpPr txBox="1"/>
          <p:nvPr/>
        </p:nvSpPr>
        <p:spPr>
          <a:xfrm>
            <a:off x="1131570" y="3841815"/>
            <a:ext cx="4108371" cy="440055"/>
          </a:xfrm>
          <a:prstGeom prst="rect">
            <a:avLst/>
          </a:prstGeom>
          <a:noFill/>
          <a:ln>
            <a:noFill/>
          </a:ln>
        </p:spPr>
        <p:txBody>
          <a:bodyPr wrap="none" lIns="0" tIns="0" rIns="0" bIns="0" anchor="t" anchorCtr="0">
            <a:spAutoFit/>
          </a:bodyPr>
          <a:lstStyle/>
          <a:p>
            <a:r>
              <a:rPr dirty="0"/>
              <a:t>Predict </a:t>
            </a:r>
            <a:r>
              <a:rPr dirty="0" err="1"/>
              <a:t>introsort</a:t>
            </a:r>
            <a:r>
              <a:rPr dirty="0"/>
              <a:t>, heapsort, or </a:t>
            </a:r>
            <a:r>
              <a:rPr dirty="0" err="1"/>
              <a:t>timsort</a:t>
            </a:r>
            <a:endParaRPr dirty="0"/>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2156681"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introsort</a:t>
            </a:r>
          </a:p>
        </p:txBody>
      </p:sp>
      <p:sp>
        <p:nvSpPr>
          <p:cNvPr id="15" name="TextBox 15"/>
          <p:cNvSpPr txBox="1"/>
          <p:nvPr/>
        </p:nvSpPr>
        <p:spPr>
          <a:xfrm>
            <a:off x="6846570" y="3090862"/>
            <a:ext cx="2181879"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heapsort</a:t>
            </a:r>
          </a:p>
        </p:txBody>
      </p:sp>
      <p:sp>
        <p:nvSpPr>
          <p:cNvPr id="16" name="TextBox 16"/>
          <p:cNvSpPr txBox="1"/>
          <p:nvPr/>
        </p:nvSpPr>
        <p:spPr>
          <a:xfrm>
            <a:off x="6846570" y="3567112"/>
            <a:ext cx="1989327"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timsort</a:t>
            </a:r>
          </a:p>
        </p:txBody>
      </p:sp>
      <p:sp>
        <p:nvSpPr>
          <p:cNvPr id="17" name="TextBox 17"/>
          <p:cNvSpPr txBox="1"/>
          <p:nvPr/>
        </p:nvSpPr>
        <p:spPr>
          <a:xfrm>
            <a:off x="6846570" y="4043362"/>
            <a:ext cx="2967223"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Pick after seeing all times</a:t>
            </a:r>
          </a:p>
        </p:txBody>
      </p:sp>
      <p:sp>
        <p:nvSpPr>
          <p:cNvPr id="18" name="TextBox 18"/>
          <p:cNvSpPr txBox="1"/>
          <p:nvPr/>
        </p:nvSpPr>
        <p:spPr>
          <a:xfrm>
            <a:off x="1963353" y="5765673"/>
            <a:ext cx="6330259" cy="276999"/>
          </a:xfrm>
          <a:prstGeom prst="rect">
            <a:avLst/>
          </a:prstGeom>
          <a:noFill/>
          <a:ln>
            <a:noFill/>
          </a:ln>
        </p:spPr>
        <p:txBody>
          <a:bodyPr wrap="none" lIns="0" tIns="0" rIns="0" bIns="0" anchor="t" anchorCtr="0">
            <a:spAutoFit/>
          </a:bodyPr>
          <a:lstStyle/>
          <a:p>
            <a:r>
              <a:rPr dirty="0"/>
              <a:t>The oracle is used only for evaluation; it is not available at </a:t>
            </a:r>
            <a:r>
              <a:rPr lang="en-US" dirty="0"/>
              <a:t>run</a:t>
            </a:r>
            <a:r>
              <a:rPr dirty="0"/>
              <a:t> time.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04234" y="6620256"/>
            <a:ext cx="447558" cy="253916"/>
          </a:xfrm>
          <a:prstGeom prst="rect">
            <a:avLst/>
          </a:prstGeom>
          <a:noFill/>
        </p:spPr>
        <p:txBody>
          <a:bodyPr wrap="none">
            <a:spAutoFit/>
          </a:bodyPr>
          <a:lstStyle/>
          <a:p>
            <a:pPr algn="r"/>
            <a:r>
              <a:rPr sz="1000" dirty="0">
                <a:solidFill>
                  <a:srgbClr val="FFFFFF"/>
                </a:solidFill>
                <a:latin typeface="Arial"/>
              </a:rPr>
              <a:t>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10/25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txBody>
            <a:bodyPr/>
            <a:lstStyle/>
            <a:p>
              <a:endParaRPr lang="en-TR" dirty="0"/>
            </a:p>
          </p:txBody>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Model evolution reduced the problem to its deployable form</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Regression, timing features, source-aware checks, regret-aware loss, and cascade tests define why v5 is retained.</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502920" y="4333875"/>
            <a:ext cx="264033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t>v1 regressor</a:t>
            </a:r>
          </a:p>
        </p:txBody>
      </p:sp>
      <p:sp>
        <p:nvSpPr>
          <p:cNvPr id="10" name="TextBox 10"/>
          <p:cNvSpPr txBox="1"/>
          <p:nvPr/>
        </p:nvSpPr>
        <p:spPr>
          <a:xfrm>
            <a:off x="863865" y="4924329"/>
            <a:ext cx="1129141" cy="308039"/>
          </a:xfrm>
          <a:prstGeom prst="rect">
            <a:avLst/>
          </a:prstGeom>
          <a:noFill/>
          <a:ln>
            <a:noFill/>
          </a:ln>
        </p:spPr>
        <p:txBody>
          <a:bodyPr wrap="none" lIns="0" tIns="0" rIns="0" bIns="0" anchor="t" anchorCtr="0">
            <a:spAutoFit/>
          </a:bodyPr>
          <a:lstStyle/>
          <a:p>
            <a:r>
              <a:rPr dirty="0"/>
              <a:t>44.4%; size dominated</a:t>
            </a:r>
          </a:p>
        </p:txBody>
      </p:sp>
      <p:sp>
        <p:nvSpPr>
          <p:cNvPr id="11" name="Freeform 11"/>
          <p:cNvSpPr/>
          <p:nvPr/>
        </p:nvSpPr>
        <p:spPr>
          <a:xfrm>
            <a:off x="3524249" y="4333875"/>
            <a:ext cx="2358601"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t>timing-feature model</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dirty="0"/>
              <a:t>100%; non-deployable</a:t>
            </a:r>
          </a:p>
        </p:txBody>
      </p:sp>
      <p:sp>
        <p:nvSpPr>
          <p:cNvPr id="14" name="Freeform 14"/>
          <p:cNvSpPr/>
          <p:nvPr/>
        </p:nvSpPr>
        <p:spPr>
          <a:xfrm>
            <a:off x="6172199" y="4333875"/>
            <a:ext cx="2393807"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r>
              <a:t>v5 XGBoost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r>
              <a:rPr dirty="0"/>
              <a:t>main reported selector</a:t>
            </a:r>
          </a:p>
        </p:txBody>
      </p:sp>
      <p:sp>
        <p:nvSpPr>
          <p:cNvPr id="17" name="Freeform 17"/>
          <p:cNvSpPr/>
          <p:nvPr/>
        </p:nvSpPr>
        <p:spPr>
          <a:xfrm>
            <a:off x="8820150" y="4333875"/>
            <a:ext cx="29908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t>v6 / v7 / v8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dirty="0"/>
              <a:t>leakage, objective, boundary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Evaluation measures distance from SBS to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Accuracy is reported, but selector quality is judged by regret and gap closed.</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r>
              <a:t>best fixed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r>
              <a:t>over the evaluation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r>
              <a:t>oracle fastest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r>
              <a:t>for each array</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r>
              <a:t>choose before execution</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r>
              <a:t>using structural features</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Gap closed gives the fraction of the SBS-to-VBS improvement captured by the selector.</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14/25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v5 selector closes most of the SBS-to-VBS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is 76.1% top-1 accuracy, 93.1% gap closed, and 89.6% zero regret.</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r>
              <a:t>SBS-to-VBS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t>Regret, not only accuracy,</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t>is the main 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r>
              <a:t>top-1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334500" y="2558700"/>
            <a:ext cx="1245756" cy="308039"/>
          </a:xfrm>
          <a:prstGeom prst="rect">
            <a:avLst/>
          </a:prstGeom>
          <a:noFill/>
          <a:ln>
            <a:noFill/>
          </a:ln>
        </p:spPr>
        <p:txBody>
          <a:bodyPr wrap="none" lIns="0" tIns="0" rIns="0" bIns="0" anchor="t" anchorCtr="0">
            <a:spAutoFit/>
          </a:bodyPr>
          <a:lstStyle/>
          <a:p>
            <a:r>
              <a:rPr dirty="0"/>
              <a:t>zero-regret predictions</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15/25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Accuracy alone is insufficient for algorithm selection</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 wrong label can be harmless when the selected and optimal algorithms have nearly equal runtimes.</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r>
              <a:t>top-1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r>
              <a:t>SBS-to-VBS gap closed</a:t>
            </a:r>
          </a:p>
        </p:txBody>
      </p:sp>
      <p:sp>
        <p:nvSpPr>
          <p:cNvPr id="14" name="TextBox 14"/>
          <p:cNvSpPr txBox="1"/>
          <p:nvPr/>
        </p:nvSpPr>
        <p:spPr>
          <a:xfrm>
            <a:off x="3006471" y="5814822"/>
            <a:ext cx="3963348" cy="352044"/>
          </a:xfrm>
          <a:prstGeom prst="rect">
            <a:avLst/>
          </a:prstGeom>
          <a:noFill/>
          <a:ln>
            <a:noFill/>
          </a:ln>
        </p:spPr>
        <p:txBody>
          <a:bodyPr wrap="none" lIns="0" tIns="0" rIns="0" bIns="0" anchor="t" anchorCtr="0">
            <a:spAutoFit/>
          </a:bodyPr>
          <a:lstStyle/>
          <a:p>
            <a:r>
              <a:rPr dirty="0"/>
              <a:t>The result is evaluated by regret and gap closed, 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16/25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Residual error is concentrated at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Timsort has a strong structural trace; introsort and heapsort often depend on lower-level effects.</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5193792"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0034" y="3675098"/>
            <a:ext cx="5967558" cy="352044"/>
          </a:xfrm>
          <a:prstGeom prst="rect">
            <a:avLst/>
          </a:prstGeom>
          <a:noFill/>
          <a:ln>
            <a:noFill/>
          </a:ln>
        </p:spPr>
        <p:txBody>
          <a:bodyPr wrap="none" lIns="0" tIns="0" rIns="0" bIns="0" anchor="t" anchorCtr="0">
            <a:spAutoFit/>
          </a:bodyPr>
          <a:lstStyle/>
          <a:p>
            <a:r>
              <a:rPr dirty="0" err="1"/>
              <a:t>timsort</a:t>
            </a:r>
            <a:r>
              <a:rPr dirty="0"/>
              <a:t> is separable when runs/order are visible.</a:t>
            </a:r>
          </a:p>
        </p:txBody>
      </p:sp>
      <p:sp>
        <p:nvSpPr>
          <p:cNvPr id="14" name="TextBox 14"/>
          <p:cNvSpPr txBox="1"/>
          <p:nvPr/>
        </p:nvSpPr>
        <p:spPr>
          <a:xfrm>
            <a:off x="7130034" y="4089630"/>
            <a:ext cx="4624143" cy="553998"/>
          </a:xfrm>
          <a:prstGeom prst="rect">
            <a:avLst/>
          </a:prstGeom>
          <a:noFill/>
          <a:ln>
            <a:noFill/>
          </a:ln>
        </p:spPr>
        <p:txBody>
          <a:bodyPr wrap="square" lIns="0" tIns="0" rIns="0" bIns="0" anchor="t" anchorCtr="0">
            <a:spAutoFit/>
          </a:bodyPr>
          <a:lstStyle/>
          <a:p>
            <a:r>
              <a:rPr dirty="0" err="1"/>
              <a:t>introsort</a:t>
            </a:r>
            <a:r>
              <a:rPr dirty="0"/>
              <a:t> and heapsort remain close in the current feature space.</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t>Most residual boundary errors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t>carry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Feature importance follows structural sorting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Length, repetition, and ordering account for most of the discriminative signal.</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r>
              <a:t>Repetition / diversity</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16172"/>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Leave-one-domain-out testing supports cross-domain robustness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fold trains on four domains and tests on the unseen fifth domain.</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r>
              <a:t>&gt;75%</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r>
              <a:t>gap closed in every fold</a:t>
            </a:r>
          </a:p>
        </p:txBody>
      </p:sp>
      <p:sp>
        <p:nvSpPr>
          <p:cNvPr id="11" name="Freeform 11"/>
          <p:cNvSpPr/>
          <p:nvPr/>
        </p:nvSpPr>
        <p:spPr>
          <a:xfrm>
            <a:off x="8382000" y="3524250"/>
            <a:ext cx="31623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F1 sensitivity</a:t>
            </a:r>
          </a:p>
        </p:txBody>
      </p:sp>
      <p:sp>
        <p:nvSpPr>
          <p:cNvPr id="13" name="TextBox 13"/>
          <p:cNvSpPr txBox="1"/>
          <p:nvPr/>
        </p:nvSpPr>
        <p:spPr>
          <a:xfrm>
            <a:off x="8504210" y="4240489"/>
            <a:ext cx="2776027" cy="308039"/>
          </a:xfrm>
          <a:prstGeom prst="rect">
            <a:avLst/>
          </a:prstGeom>
          <a:noFill/>
          <a:ln>
            <a:noFill/>
          </a:ln>
        </p:spPr>
        <p:txBody>
          <a:bodyPr wrap="none" lIns="0" tIns="0" rIns="0" bIns="0" anchor="t" anchorCtr="0">
            <a:spAutoFit/>
          </a:bodyPr>
          <a:lstStyle/>
          <a:p>
            <a:r>
              <a:rPr dirty="0"/>
              <a:t>F1 telemetry is the weakest</a:t>
            </a:r>
          </a:p>
        </p:txBody>
      </p:sp>
      <p:sp>
        <p:nvSpPr>
          <p:cNvPr id="14" name="TextBox 14"/>
          <p:cNvSpPr txBox="1"/>
          <p:nvPr/>
        </p:nvSpPr>
        <p:spPr>
          <a:xfrm>
            <a:off x="8500219" y="4543452"/>
            <a:ext cx="2973772" cy="308039"/>
          </a:xfrm>
          <a:prstGeom prst="rect">
            <a:avLst/>
          </a:prstGeom>
          <a:noFill/>
          <a:ln>
            <a:noFill/>
          </a:ln>
        </p:spPr>
        <p:txBody>
          <a:bodyPr wrap="none" lIns="0" tIns="0" rIns="0" bIns="0" anchor="t" anchorCtr="0">
            <a:spAutoFit/>
          </a:bodyPr>
          <a:lstStyle/>
          <a:p>
            <a:r>
              <a:rPr dirty="0"/>
              <a:t>held-out fold because it contains</a:t>
            </a:r>
          </a:p>
        </p:txBody>
      </p:sp>
      <p:sp>
        <p:nvSpPr>
          <p:cNvPr id="15" name="TextBox 15"/>
          <p:cNvSpPr txBox="1"/>
          <p:nvPr/>
        </p:nvSpPr>
        <p:spPr>
          <a:xfrm>
            <a:off x="8500219" y="4832549"/>
            <a:ext cx="2888352" cy="308039"/>
          </a:xfrm>
          <a:prstGeom prst="rect">
            <a:avLst/>
          </a:prstGeom>
          <a:noFill/>
          <a:ln>
            <a:noFill/>
          </a:ln>
        </p:spPr>
        <p:txBody>
          <a:bodyPr wrap="none" lIns="0" tIns="0" rIns="0" bIns="0" anchor="t" anchorCtr="0">
            <a:spAutoFit/>
          </a:bodyPr>
          <a:lstStyle/>
          <a:p>
            <a:r>
              <a:rPr dirty="0"/>
              <a:t>many distinct channel regimes.</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28892" y="6620256"/>
            <a:ext cx="522900" cy="253916"/>
          </a:xfrm>
          <a:prstGeom prst="rect">
            <a:avLst/>
          </a:prstGeom>
          <a:noFill/>
        </p:spPr>
        <p:txBody>
          <a:bodyPr wrap="none">
            <a:spAutoFit/>
          </a:bodyPr>
          <a:lstStyle/>
          <a:p>
            <a:pPr algn="r"/>
            <a:r>
              <a:rPr sz="1050" dirty="0">
                <a:solidFill>
                  <a:srgbClr val="FFFFFF"/>
                </a:solidFill>
                <a:latin typeface="Arial"/>
              </a:rPr>
              <a:t>19/25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20/25</a:t>
            </a:r>
            <a:endParaRPr sz="600" dirty="0">
              <a:solidFill>
                <a:srgbClr val="FFFFFF"/>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Strict checks define the boundary of the reported result</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stays with v5; later variants explain leakage risk, objective risk, and the hard boundary.</a:t>
            </a:r>
          </a:p>
        </p:txBody>
      </p:sp>
      <p:sp>
        <p:nvSpPr>
          <p:cNvPr id="7" name="Freeform 7"/>
          <p:cNvSpPr/>
          <p:nvPr/>
        </p:nvSpPr>
        <p:spPr>
          <a:xfrm>
            <a:off x="762000" y="1476375"/>
            <a:ext cx="3498708"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r>
              <a:t>71.2% accuracy; 45.6% gap closed.</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t>source separation became</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r>
              <a:t>regret-weighted loss</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r>
              <a:t>was less stable:</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r>
              <a:t>78.1% gap closed.</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r>
              <a:t>Stage 2 AUC = 0.603</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t>for introsort vs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t>Stage 1 AUC = 0.982.</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v6, v7, and v8 are evidence for limits, not replacement results.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Sixteen O(n) structural features are enough to support useful per-instance sorting decisions.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selector improves practical runtime even when top-1 accuracy is imperfect.</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r>
              <a:t>The strongest cases are arrays where order, runs, and repetition leave a visible structural trace.</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r>
              <a:t>The main residual weakness is the introsort-heapsort boundary, where current value-level features miss microarchitectural effects.</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contributions are the selector, the evaluation discipline, and the reproducible artefact.</a:t>
            </a:r>
          </a:p>
        </p:txBody>
      </p:sp>
      <p:sp>
        <p:nvSpPr>
          <p:cNvPr id="9" name="TextBox 8"/>
          <p:cNvSpPr txBox="1"/>
          <p:nvPr/>
        </p:nvSpPr>
        <p:spPr>
          <a:xfrm>
            <a:off x="1143000" y="1945000"/>
            <a:ext cx="400050" cy="2600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1905000"/>
            <a:ext cx="9334500" cy="310000"/>
          </a:xfrm>
          <a:prstGeom prst="rect">
            <a:avLst/>
          </a:prstGeom>
          <a:noFill/>
        </p:spPr>
        <p:txBody>
          <a:bodyPr wrap="squar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15000"/>
            <a:ext cx="9334500" cy="520000"/>
          </a:xfrm>
          <a:prstGeom prst="rect">
            <a:avLst/>
          </a:prstGeom>
          <a:noFill/>
        </p:spPr>
        <p:txBody>
          <a:bodyPr wrap="square" lIns="0" tIns="0" rIns="0" bIns="0">
            <a:spAutoFit/>
          </a:bodyPr>
          <a:lstStyle/>
          <a:p>
            <a:r>
              <a:rPr sz="1800"/>
              <a:t>A compact pipeline combines sixteen O(n) structural features with a gradient-boosted classifier.</a:t>
            </a:r>
          </a:p>
        </p:txBody>
      </p:sp>
      <p:sp>
        <p:nvSpPr>
          <p:cNvPr id="12" name="Rectangle 11"/>
          <p:cNvSpPr/>
          <p:nvPr/>
        </p:nvSpPr>
        <p:spPr>
          <a:xfrm>
            <a:off x="1714500" y="29250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202300"/>
            <a:ext cx="400050" cy="2600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62300"/>
            <a:ext cx="9334500" cy="310000"/>
          </a:xfrm>
          <a:prstGeom prst="rect">
            <a:avLst/>
          </a:prstGeom>
          <a:noFill/>
        </p:spPr>
        <p:txBody>
          <a:bodyPr wrap="squar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572300"/>
            <a:ext cx="9334500" cy="520000"/>
          </a:xfrm>
          <a:prstGeom prst="rect">
            <a:avLst/>
          </a:prstGeom>
          <a:noFill/>
        </p:spPr>
        <p:txBody>
          <a:bodyPr wrap="square" lIns="0" tIns="0" rIns="0" bIns="0">
            <a:spAutoFit/>
          </a:bodyPr>
          <a:lstStyle/>
          <a:p>
            <a:r>
              <a:rPr dirty="0" sz="1700"/>
              <a:t>Source-level separation, near-tie filtering, LODO testing, and regret metrics give a stronger view than accuracy alone.</a:t>
            </a:r>
          </a:p>
        </p:txBody>
      </p:sp>
      <p:sp>
        <p:nvSpPr>
          <p:cNvPr id="16" name="Rectangle 15"/>
          <p:cNvSpPr/>
          <p:nvPr/>
        </p:nvSpPr>
        <p:spPr>
          <a:xfrm>
            <a:off x="1714500" y="41823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459600"/>
            <a:ext cx="400050" cy="2600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419600"/>
            <a:ext cx="9334500" cy="310000"/>
          </a:xfrm>
          <a:prstGeom prst="rect">
            <a:avLst/>
          </a:prstGeom>
          <a:noFill/>
        </p:spPr>
        <p:txBody>
          <a:bodyPr wrap="square" lIns="0" tIns="0" rIns="0" bIns="0">
            <a:spAutoFit/>
          </a:bodyPr>
          <a:lstStyle/>
          <a:p>
            <a:r>
              <a:rPr sz="1500" b="0" dirty="0">
                <a:solidFill>
                  <a:srgbClr val="566987"/>
                </a:solidFill>
                <a:latin typeface="Aptos"/>
              </a:rPr>
              <a:t>A reproducible artefact</a:t>
            </a:r>
          </a:p>
        </p:txBody>
      </p:sp>
      <p:sp>
        <p:nvSpPr>
          <p:cNvPr id="19" name="TextBox 18"/>
          <p:cNvSpPr txBox="1"/>
          <p:nvPr/>
        </p:nvSpPr>
        <p:spPr>
          <a:xfrm>
            <a:off x="1714500" y="4829600"/>
            <a:ext cx="9334500" cy="520000"/>
          </a:xfrm>
          <a:prstGeom prst="rect">
            <a:avLst/>
          </a:prstGeom>
          <a:noFill/>
        </p:spPr>
        <p:txBody>
          <a:bodyPr wrap="square" lIns="0" tIns="0" rIns="0" bIns="0">
            <a:spAutoFit/>
          </a:bodyPr>
          <a:lstStyle/>
          <a:p>
            <a:r>
              <a:rPr sz="1700"/>
              <a:t>One source-of-truth feature extractor, data pipeline, and exported XGBoost JSON / ONNX models support replication.</a:t>
            </a:r>
          </a:p>
        </p:txBody>
      </p:sp>
      <p:sp>
        <p:nvSpPr>
          <p:cNvPr id="20" name="Rectangle 19"/>
          <p:cNvSpPr/>
          <p:nvPr/>
        </p:nvSpPr>
        <p:spPr>
          <a:xfrm>
            <a:off x="1714500" y="54396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23/25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limits are portfolio scope, single hardware setting, unvalidated online adaptation, and small-array overhead.</a:t>
            </a:r>
          </a:p>
        </p:txBody>
      </p:sp>
      <p:sp>
        <p:nvSpPr>
          <p:cNvPr id="9" name="Rectangle 8"/>
          <p:cNvSpPr/>
          <p:nvPr/>
        </p:nvSpPr>
        <p:spPr>
          <a:xfrm>
            <a:off x="990600" y="2076450"/>
            <a:ext cx="4857750" cy="31908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64925" y="2390775"/>
            <a:ext cx="4300000" cy="260000"/>
          </a:xfrm>
          <a:prstGeom prst="rect">
            <a:avLst/>
          </a:prstGeom>
          <a:noFill/>
        </p:spPr>
        <p:txBody>
          <a:bodyPr wrap="square" lIns="0" tIns="0" rIns="0" bIns="0">
            <a:spAutoFit/>
          </a:bodyPr>
          <a:lstStyle/>
          <a:p>
            <a:pPr algn="l"/>
            <a:r>
              <a:rPr sz="2000" b="1">
                <a:solidFill>
                  <a:srgbClr val="1B1B1D"/>
                </a:solidFill>
                <a:latin typeface="Aptos"/>
              </a:rPr>
              <a:t>Limitations</a:t>
            </a:r>
          </a:p>
        </p:txBody>
      </p:sp>
      <p:sp>
        <p:nvSpPr>
          <p:cNvPr id="11" name="TextBox 10"/>
          <p:cNvSpPr txBox="1"/>
          <p:nvPr/>
        </p:nvSpPr>
        <p:spPr>
          <a:xfrm>
            <a:off x="1333500" y="2847975"/>
            <a:ext cx="4050000" cy="430000"/>
          </a:xfrm>
          <a:prstGeom prst="rect">
            <a:avLst/>
          </a:prstGeom>
          <a:noFill/>
        </p:spPr>
        <p:txBody>
          <a:bodyPr wrap="square" lIns="0" tIns="0" rIns="0" bIns="0">
            <a:spAutoFit/>
          </a:bodyPr>
          <a:lstStyle/>
          <a:p>
            <a:r>
              <a:rPr sz="1700"/>
              <a:t>portfolio limited to three C-level comparison sorts</a:t>
            </a:r>
          </a:p>
        </p:txBody>
      </p:sp>
      <p:sp>
        <p:nvSpPr>
          <p:cNvPr id="12" name="TextBox 11"/>
          <p:cNvSpPr txBox="1"/>
          <p:nvPr/>
        </p:nvSpPr>
        <p:spPr>
          <a:xfrm>
            <a:off x="1333500" y="3362325"/>
            <a:ext cx="4050000" cy="430000"/>
          </a:xfrm>
          <a:prstGeom prst="rect">
            <a:avLst/>
          </a:prstGeom>
          <a:noFill/>
        </p:spPr>
        <p:txBody>
          <a:bodyPr wrap="square" lIns="0" tIns="0" rIns="0" bIns="0">
            <a:spAutoFit/>
          </a:bodyPr>
          <a:lstStyle/>
          <a:p>
            <a:r>
              <a:rPr sz="1700"/>
              <a:t>absolute regret tied to one hardware/software environment</a:t>
            </a:r>
          </a:p>
        </p:txBody>
      </p:sp>
      <p:sp>
        <p:nvSpPr>
          <p:cNvPr id="13" name="TextBox 12"/>
          <p:cNvSpPr txBox="1"/>
          <p:nvPr/>
        </p:nvSpPr>
        <p:spPr>
          <a:xfrm>
            <a:off x="1333500" y="3876675"/>
            <a:ext cx="4050000" cy="430000"/>
          </a:xfrm>
          <a:prstGeom prst="rect">
            <a:avLst/>
          </a:prstGeom>
          <a:noFill/>
        </p:spPr>
        <p:txBody>
          <a:bodyPr wrap="square" lIns="0" tIns="0" rIns="0" bIns="0">
            <a:spAutoFit/>
          </a:bodyPr>
          <a:lstStyle/>
          <a:p>
            <a:r>
              <a:rPr dirty="0" err="1" sz="1700"/>
              <a:t>LinUCB</a:t>
            </a:r>
            <a:r>
              <a:rPr dirty="0" sz="1700"/>
              <a:t> contextual bandit designed but not validated</a:t>
            </a:r>
          </a:p>
        </p:txBody>
      </p:sp>
      <p:sp>
        <p:nvSpPr>
          <p:cNvPr id="14" name="TextBox 13"/>
          <p:cNvSpPr txBox="1"/>
          <p:nvPr/>
        </p:nvSpPr>
        <p:spPr>
          <a:xfrm>
            <a:off x="1333500" y="4391025"/>
            <a:ext cx="4050000" cy="430000"/>
          </a:xfrm>
          <a:prstGeom prst="rect">
            <a:avLst/>
          </a:prstGeom>
          <a:noFill/>
        </p:spPr>
        <p:txBody>
          <a:bodyPr wrap="square" lIns="0" tIns="0" rIns="0" bIns="0">
            <a:spAutoFit/>
          </a:bodyPr>
          <a:lstStyle/>
          <a:p>
            <a:r>
              <a:rPr dirty="0" sz="1700"/>
              <a:t>feature extraction becomes unprofitable below about 1,000 elements</a:t>
            </a:r>
          </a:p>
        </p:txBody>
      </p:sp>
      <p:sp>
        <p:nvSpPr>
          <p:cNvPr id="15" name="Rectangle 14"/>
          <p:cNvSpPr/>
          <p:nvPr/>
        </p:nvSpPr>
        <p:spPr>
          <a:xfrm>
            <a:off x="6413500" y="2076450"/>
            <a:ext cx="4857750" cy="31908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88000" y="2390775"/>
            <a:ext cx="4300000" cy="260000"/>
          </a:xfrm>
          <a:prstGeom prst="rect">
            <a:avLst/>
          </a:prstGeom>
          <a:noFill/>
        </p:spPr>
        <p:txBody>
          <a:bodyPr wrap="square" lIns="0" tIns="0" rIns="0" bIns="0">
            <a:spAutoFit/>
          </a:bodyPr>
          <a:lstStyle/>
          <a:p>
            <a:pPr algn="l"/>
            <a:r>
              <a:rPr sz="2000" b="1">
                <a:solidFill>
                  <a:srgbClr val="191919"/>
                </a:solidFill>
                <a:latin typeface="Aptos"/>
              </a:rPr>
              <a:t>Future work</a:t>
            </a:r>
          </a:p>
        </p:txBody>
      </p:sp>
      <p:sp>
        <p:nvSpPr>
          <p:cNvPr id="17" name="TextBox 16"/>
          <p:cNvSpPr txBox="1"/>
          <p:nvPr/>
        </p:nvSpPr>
        <p:spPr>
          <a:xfrm>
            <a:off x="6757000" y="2847975"/>
            <a:ext cx="4050000" cy="430000"/>
          </a:xfrm>
          <a:prstGeom prst="rect">
            <a:avLst/>
          </a:prstGeom>
          <a:noFill/>
        </p:spPr>
        <p:txBody>
          <a:bodyPr wrap="square" lIns="0" tIns="0" rIns="0" bIns="0">
            <a:spAutoFit/>
          </a:bodyPr>
          <a:lstStyle/>
          <a:p>
            <a:r>
              <a:rPr sz="1700"/>
              <a:t>larger portfolios: Powersort, radix/bucket guards, SIMD/GPU sorts</a:t>
            </a:r>
          </a:p>
        </p:txBody>
      </p:sp>
      <p:sp>
        <p:nvSpPr>
          <p:cNvPr id="18" name="TextBox 17"/>
          <p:cNvSpPr txBox="1"/>
          <p:nvPr/>
        </p:nvSpPr>
        <p:spPr>
          <a:xfrm>
            <a:off x="6757000" y="3362325"/>
            <a:ext cx="4050000" cy="430000"/>
          </a:xfrm>
          <a:prstGeom prst="rect">
            <a:avLst/>
          </a:prstGeom>
          <a:noFill/>
        </p:spPr>
        <p:txBody>
          <a:bodyPr wrap="square" lIns="0" tIns="0" rIns="0" bIns="0">
            <a:spAutoFit/>
          </a:bodyPr>
          <a:lstStyle/>
          <a:p>
            <a:r>
              <a:rPr sz="1700"/>
              <a:t>validated LinUCB under gradual and abrupt distribution shift</a:t>
            </a:r>
          </a:p>
        </p:txBody>
      </p:sp>
      <p:sp>
        <p:nvSpPr>
          <p:cNvPr id="19" name="TextBox 18"/>
          <p:cNvSpPr txBox="1"/>
          <p:nvPr/>
        </p:nvSpPr>
        <p:spPr>
          <a:xfrm>
            <a:off x="6757000" y="3876675"/>
            <a:ext cx="4050000" cy="430000"/>
          </a:xfrm>
          <a:prstGeom prst="rect">
            <a:avLst/>
          </a:prstGeom>
          <a:noFill/>
        </p:spPr>
        <p:txBody>
          <a:bodyPr wrap="square" lIns="0" tIns="0" rIns="0" bIns="0">
            <a:spAutoFit/>
          </a:bodyPr>
          <a:lstStyle/>
          <a:p>
            <a:r>
              <a:rPr sz="1700"/>
              <a:t>domain embeddings and stricter channel-level routing evaluation</a:t>
            </a:r>
          </a:p>
        </p:txBody>
      </p:sp>
      <p:sp>
        <p:nvSpPr>
          <p:cNvPr id="20" name="TextBox 19"/>
          <p:cNvSpPr txBox="1"/>
          <p:nvPr/>
        </p:nvSpPr>
        <p:spPr>
          <a:xfrm>
            <a:off x="6757000" y="4391025"/>
            <a:ext cx="4050000" cy="430000"/>
          </a:xfrm>
          <a:prstGeom prst="rect">
            <a:avLst/>
          </a:prstGeom>
          <a:noFill/>
        </p:spPr>
        <p:txBody>
          <a:bodyPr wrap="square" lIns="0" tIns="0" rIns="0" bIns="0">
            <a:spAutoFit/>
          </a:bodyPr>
          <a:lstStyle/>
          <a:p>
            <a:r>
              <a:rPr sz="1700"/>
              <a:t>cross-platform deployment with feature-extraction overhead</a:t>
            </a:r>
          </a:p>
        </p:txBody>
      </p:sp>
      <p:sp>
        <p:nvSpPr>
          <p:cNvPr id="21" name="TextBox 20"/>
          <p:cNvSpPr txBox="1"/>
          <p:nvPr/>
        </p:nvSpPr>
        <p:spPr>
          <a:xfrm>
            <a:off x="1524000" y="5524500"/>
            <a:ext cx="9144000" cy="420000"/>
          </a:xfrm>
          <a:prstGeom prst="rect">
            <a:avLst/>
          </a:prstGeom>
          <a:noFill/>
        </p:spPr>
        <p:txBody>
          <a:bodyPr wrap="square" lIns="0" tIns="0" rIns="0" bIns="0">
            <a:spAutoFit/>
          </a:bodyPr>
          <a:lstStyle/>
          <a:p>
            <a:r>
              <a:rPr sz="1800"/>
              <a:t>Future work extends the portfolio, adaptation, and generalisation axes while preserving cost-aware evaluation.</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24/25</a:t>
            </a:r>
            <a:endParaRPr sz="600" dirty="0">
              <a:solidFill>
                <a:srgbClr val="FFFFFF"/>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25/25</a:t>
            </a:r>
            <a:endParaRPr sz="600" dirty="0">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2155</Words>
  <Application>Microsoft Macintosh PowerPoint</Application>
  <PresentationFormat>Widescreen</PresentationFormat>
  <Paragraphs>259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6</cp:revision>
  <dcterms:created xsi:type="dcterms:W3CDTF">2026-06-30T17:56:25Z</dcterms:created>
  <dcterms:modified xsi:type="dcterms:W3CDTF">2026-07-03T20:08:46Z</dcterms:modified>
  <cp:category/>
  <cp:contentStatus/>
  <dc:language/>
</cp:coreProperties>
</file>