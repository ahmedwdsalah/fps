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9"/>
    <p:restoredTop sz="94658"/>
  </p:normalViewPr>
  <p:slideViewPr>
    <p:cSldViewPr snapToGrid="0" snapToObjects="1">
      <p:cViewPr varScale="1">
        <p:scale>
          <a:sx n="107" d="100"/>
          <a:sy n="107" d="100"/>
        </p:scale>
        <p:origin x="192" y="4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3/24</a:t>
            </a: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Algorithm Selection Background</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task is framed through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r>
              <a:rPr sz="1400" b="0">
                <a:solidFill>
                  <a:srgbClr val="191919"/>
                </a:solidFill>
                <a:latin typeface="Aptos"/>
              </a:rPr>
              <a:t>sorting choice as supervised algorithm selection.</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r>
              <a:rPr sz="1600" b="0">
                <a:solidFill>
                  <a:srgbClr val="566987"/>
                </a:solidFill>
                <a:latin typeface="Apto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r>
              <a:rPr sz="1400" b="0">
                <a:solidFill>
                  <a:srgbClr val="191919"/>
                </a:solidFill>
                <a:latin typeface="Aptos"/>
              </a:rPr>
              <a:t>structural descriptors expose these signals.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r>
              <a:rPr sz="1400" b="0">
                <a:solidFill>
                  <a:srgbClr val="191919"/>
                </a:solidFill>
                <a:latin typeface="Aptos"/>
              </a:rPr>
              <a:t>evaluate by regret, 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r>
              <a:rPr sz="1400" b="0">
                <a:solidFill>
                  <a:srgbClr val="191919"/>
                </a:solidFill>
                <a:latin typeface="Aptos"/>
              </a:rPr>
              <a:t>The contribution is a measured selector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r>
              <a:rPr sz="1400" b="0">
                <a:solidFill>
                  <a:srgbClr val="191919"/>
                </a:solidFill>
                <a:latin typeface="Aptos"/>
              </a:rPr>
              <a:t>around existing sorting implementations.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33" name="Rectangle 3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5/24</a:t>
            </a:r>
          </a:p>
        </p:txBody>
      </p:sp>
      <p:sp>
        <p:nvSpPr>
          <p:cNvPr id="37" name="Rectangle 36"/>
          <p:cNvSpPr/>
          <p:nvPr/>
        </p:nvSpPr>
        <p:spPr>
          <a:xfrm>
            <a:off x="502920" y="1227677"/>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Research objective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r>
              <a:rPr sz="2100" b="1">
                <a:solidFill>
                  <a:srgbClr val="191919"/>
                </a:solidFill>
                <a:latin typeface="Aptos Display"/>
              </a:rPr>
              <a:t>Can structural descriptors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r>
              <a:rPr sz="2100" b="1">
                <a:solidFill>
                  <a:srgbClr val="191919"/>
                </a:solidFill>
                <a:latin typeface="Aptos Display"/>
              </a:rPr>
              <a:t>the fastest sorting implementation before execution?</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rPr sz="1400" b="0">
                <a:solidFill>
                  <a:srgbClr val="566987"/>
                </a:solidFill>
                <a:latin typeface="Aptos"/>
              </a:rP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6/24</a:t>
            </a:r>
          </a:p>
        </p:txBody>
      </p:sp>
      <p:sp>
        <p:nvSpPr>
          <p:cNvPr id="26" name="Rectangle 25"/>
          <p:cNvSpPr/>
          <p:nvPr/>
        </p:nvSpPr>
        <p:spPr>
          <a:xfrm>
            <a:off x="502920" y="1214247"/>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7/24</a:t>
            </a: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8/24</a:t>
            </a: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feature vector describes size, ordering, repetition, distribution, and robust scale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9/24</a:t>
            </a:r>
          </a:p>
        </p:txBody>
      </p:sp>
      <p:sp>
        <p:nvSpPr>
          <p:cNvPr id="27" name="Rectangle 26"/>
          <p:cNvSpPr/>
          <p:nvPr/>
        </p:nvSpPr>
        <p:spPr>
          <a:xfrm>
            <a:off x="502920" y="1248918"/>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deployable path extracts features once and predicts one algorithm; portfolio timings are used only for training labels and evaluation.</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10/24</a:t>
            </a:r>
          </a:p>
        </p:txBody>
      </p:sp>
      <p:sp>
        <p:nvSpPr>
          <p:cNvPr id="26" name="Rectangle 25"/>
          <p:cNvSpPr/>
          <p:nvPr/>
        </p:nvSpPr>
        <p:spPr>
          <a:xfrm>
            <a:off x="692974" y="124968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v5 is the general cross-domain selector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r>
              <a:t>The F1-specific route exists, but it is a separate specialization outside the main v5 result.</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8" name="Rectangle 1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11/24</a:t>
            </a:r>
          </a:p>
        </p:txBody>
      </p:sp>
      <p:sp>
        <p:nvSpPr>
          <p:cNvPr id="22" name="Rectangle 21"/>
          <p:cNvSpPr/>
          <p:nvPr/>
        </p:nvSpPr>
        <p:spPr>
          <a:xfrm>
            <a:off x="523875" y="125063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portfolio contains three comparison-based implementations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model chooses among the three sorting implementations measured throughout the thesis.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r>
              <a:t>introsort</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r>
              <a:t>timsort</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r>
              <a:t>The evaluation measures whether this choice reduces regret against the VBS baseline.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12/24</a:t>
            </a:r>
          </a:p>
        </p:txBody>
      </p:sp>
      <p:sp>
        <p:nvSpPr>
          <p:cNvPr id="27" name="Rectangle 26"/>
          <p:cNvSpPr/>
          <p:nvPr/>
        </p:nvSpPr>
        <p:spPr>
          <a:xfrm>
            <a:off x="647700" y="124968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FFFFFF"/>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b="0" dirty="0">
                <a:solidFill>
                  <a:srgbClr val="FFFFFF"/>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13/24</a:t>
            </a:r>
          </a:p>
        </p:txBody>
      </p:sp>
      <p:sp>
        <p:nvSpPr>
          <p:cNvPr id="27" name="Rectangle 26"/>
          <p:cNvSpPr/>
          <p:nvPr/>
        </p:nvSpPr>
        <p:spPr>
          <a:xfrm>
            <a:off x="647700" y="124968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14/24</a:t>
            </a:r>
          </a:p>
        </p:txBody>
      </p:sp>
      <p:sp>
        <p:nvSpPr>
          <p:cNvPr id="29" name="Rectangle 28"/>
          <p:cNvSpPr/>
          <p:nvPr/>
        </p:nvSpPr>
        <p:spPr>
          <a:xfrm>
            <a:off x="647700" y="124968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94E1F"/>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b="0" dirty="0">
                <a:solidFill>
                  <a:srgbClr val="FFFFFF"/>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FFFFFF"/>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FFFFFF"/>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15/24</a:t>
            </a:r>
          </a:p>
        </p:txBody>
      </p:sp>
      <p:sp>
        <p:nvSpPr>
          <p:cNvPr id="26" name="Rectangle 25"/>
          <p:cNvSpPr/>
          <p:nvPr/>
        </p:nvSpPr>
        <p:spPr>
          <a:xfrm>
            <a:off x="647700" y="124968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16/24</a:t>
            </a:r>
          </a:p>
        </p:txBody>
      </p:sp>
      <p:sp>
        <p:nvSpPr>
          <p:cNvPr id="23" name="Rectangle 22"/>
          <p:cNvSpPr/>
          <p:nvPr/>
        </p:nvSpPr>
        <p:spPr>
          <a:xfrm>
            <a:off x="647700" y="124968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F94E1F"/>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FFFFFF"/>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17/24</a:t>
            </a:r>
          </a:p>
        </p:txBody>
      </p:sp>
      <p:sp>
        <p:nvSpPr>
          <p:cNvPr id="24" name="Rectangle 23"/>
          <p:cNvSpPr/>
          <p:nvPr/>
        </p:nvSpPr>
        <p:spPr>
          <a:xfrm>
            <a:off x="647700" y="124968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r>
              <a:t>Ordering</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r>
              <a:t>longest_run_ratio, runs_ratio, adj_sorted_ratio</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r>
              <a:t>Repetition /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r>
              <a:t>top5_freq_ratio, duplicate_ratio, entropy_ratio</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r>
              <a:t>Size / scale</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r>
              <a:t>length_norm, 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18/24</a:t>
            </a:r>
          </a:p>
        </p:txBody>
      </p:sp>
      <p:sp>
        <p:nvSpPr>
          <p:cNvPr id="24" name="Rectangle 23"/>
          <p:cNvSpPr/>
          <p:nvPr/>
        </p:nvSpPr>
        <p:spPr>
          <a:xfrm>
            <a:off x="647700" y="124968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19/24</a:t>
            </a:r>
          </a:p>
        </p:txBody>
      </p:sp>
      <p:sp>
        <p:nvSpPr>
          <p:cNvPr id="23" name="Rectangle 22"/>
          <p:cNvSpPr/>
          <p:nvPr/>
        </p:nvSpPr>
        <p:spPr>
          <a:xfrm>
            <a:off x="647700" y="124968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b="0" dirty="0">
                <a:solidFill>
                  <a:srgbClr val="FFFFFF"/>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FFFFFF"/>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FFFFFF"/>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20/24</a:t>
            </a:r>
          </a:p>
        </p:txBody>
      </p:sp>
      <p:sp>
        <p:nvSpPr>
          <p:cNvPr id="30" name="Rectangle 29"/>
          <p:cNvSpPr/>
          <p:nvPr/>
        </p:nvSpPr>
        <p:spPr>
          <a:xfrm>
            <a:off x="647700" y="124968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94E1F"/>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FFFFFF"/>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
        <p:nvSpPr>
          <p:cNvPr id="21" name="Rectangle 20"/>
          <p:cNvSpPr/>
          <p:nvPr/>
        </p:nvSpPr>
        <p:spPr>
          <a:xfrm>
            <a:off x="647700" y="124968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647700" y="124968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F94E1F"/>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pPr algn="l"/>
            <a:r>
              <a:rPr sz="1300" b="0">
                <a:solidFill>
                  <a:srgbClr val="FFFFFF"/>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pPr algn="l"/>
            <a:r>
              <a:rPr sz="1300" b="0">
                <a:solidFill>
                  <a:srgbClr val="FFFFFF"/>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pPr algn="l"/>
            <a:r>
              <a:rPr sz="1300" b="0">
                <a:solidFill>
                  <a:srgbClr val="FFFFFF"/>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pPr algn="l"/>
            <a:r>
              <a:rPr sz="1300" b="0">
                <a:solidFill>
                  <a:srgbClr val="FFFFFF"/>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rPr sz="1400" b="0">
                <a:solidFill>
                  <a:srgbClr val="191919"/>
                </a:solidFill>
                <a:latin typeface="Aptos"/>
              </a:rPr>
              <a:t>Future work extends the framework along portfolio, adaptation, and generalisation axes.</a:t>
            </a:r>
          </a:p>
        </p:txBody>
      </p:sp>
      <p:sp>
        <p:nvSpPr>
          <p:cNvPr id="22" name="Rectangle 21"/>
          <p:cNvSpPr/>
          <p:nvPr/>
        </p:nvSpPr>
        <p:spPr>
          <a:xfrm>
            <a:off x="647700" y="124968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2342</Words>
  <Application>Microsoft Macintosh PowerPoint</Application>
  <PresentationFormat>Widescreen</PresentationFormat>
  <Paragraphs>305</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3</cp:revision>
  <dcterms:created xsi:type="dcterms:W3CDTF">2026-06-30T17:56:25Z</dcterms:created>
  <dcterms:modified xsi:type="dcterms:W3CDTF">2026-07-01T14:24:37Z</dcterms:modified>
  <cp:category/>
  <cp:contentStatus/>
  <dc:language/>
</cp:coreProperties>
</file>