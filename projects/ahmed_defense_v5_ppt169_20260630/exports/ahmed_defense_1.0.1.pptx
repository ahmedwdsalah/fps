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19"/>
    <p:restoredTop sz="94659"/>
  </p:normalViewPr>
  <p:slideViewPr>
    <p:cSldViewPr snapToGrid="0" snapToObjects="1">
      <p:cViewPr>
        <p:scale>
          <a:sx n="183" d="100"/>
          <a:sy n="183" d="100"/>
        </p:scale>
        <p:origin x="-312" y="-13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Slide title - Presentation Outline"/>
          <p:cNvSpPr txBox="1"/>
          <p:nvPr/>
        </p:nvSpPr>
        <p:spPr>
          <a:xfrm>
            <a:off x="647700" y="533400"/>
            <a:ext cx="5905500" cy="457200"/>
          </a:xfrm>
          <a:prstGeom prst="rect">
            <a:avLst/>
          </a:prstGeom>
          <a:noFill/>
        </p:spPr>
        <p:txBody>
          <a:bodyPr wrap="none" lIns="0" rIns="0" t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utline number 01"/>
          <p:cNvSpPr txBox="1"/>
          <p:nvPr/>
        </p:nvSpPr>
        <p:spPr>
          <a:xfrm>
            <a:off x="1123950" y="1733550"/>
            <a:ext cx="552450" cy="285750"/>
          </a:xfrm>
          <a:prstGeom prst="rect">
            <a:avLst/>
          </a:prstGeom>
          <a:noFill/>
        </p:spPr>
        <p:txBody>
          <a:bodyPr wrap="none" lIns="0" rIns="0" t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rIns="0" tIns="0" bIns="0">
            <a:spAutoFit/>
          </a:bodyPr>
          <a:lstStyle/>
          <a:p>
            <a:pPr algn="l"/>
            <a:r>
              <a:rPr sz="2000" b="1">
                <a:solidFill>
                  <a:srgbClr val="191919"/>
                </a:solidFill>
                <a:latin typeface="Arial"/>
              </a:rPr>
              <a:t>Introduction and Motivation</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utline number 02"/>
          <p:cNvSpPr txBox="1"/>
          <p:nvPr/>
        </p:nvSpPr>
        <p:spPr>
          <a:xfrm>
            <a:off x="1123950" y="2857500"/>
            <a:ext cx="552450" cy="285750"/>
          </a:xfrm>
          <a:prstGeom prst="rect">
            <a:avLst/>
          </a:prstGeom>
          <a:noFill/>
        </p:spPr>
        <p:txBody>
          <a:bodyPr wrap="none" lIns="0" rIns="0" t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rIns="0" tIns="0" bIns="0">
            <a:spAutoFit/>
          </a:bodyPr>
          <a:lstStyle/>
          <a:p>
            <a:pPr algn="l"/>
            <a:r>
              <a:rPr sz="2000" b="1">
                <a:solidFill>
                  <a:srgbClr val="191919"/>
                </a:solidFill>
                <a:latin typeface="Arial"/>
              </a:rPr>
              <a:t>Algorithm Selection Problem</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utline number 03"/>
          <p:cNvSpPr txBox="1"/>
          <p:nvPr/>
        </p:nvSpPr>
        <p:spPr>
          <a:xfrm>
            <a:off x="1123950" y="3981450"/>
            <a:ext cx="552450" cy="285750"/>
          </a:xfrm>
          <a:prstGeom prst="rect">
            <a:avLst/>
          </a:prstGeom>
          <a:noFill/>
        </p:spPr>
        <p:txBody>
          <a:bodyPr wrap="none" lIns="0" rIns="0" t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rIns="0" t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utline number 04"/>
          <p:cNvSpPr txBox="1"/>
          <p:nvPr/>
        </p:nvSpPr>
        <p:spPr>
          <a:xfrm>
            <a:off x="6496050" y="1733550"/>
            <a:ext cx="552450" cy="285750"/>
          </a:xfrm>
          <a:prstGeom prst="rect">
            <a:avLst/>
          </a:prstGeom>
          <a:noFill/>
        </p:spPr>
        <p:txBody>
          <a:bodyPr wrap="none" lIns="0" rIns="0" t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rIns="0" t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utline number 05"/>
          <p:cNvSpPr txBox="1"/>
          <p:nvPr/>
        </p:nvSpPr>
        <p:spPr>
          <a:xfrm>
            <a:off x="6496050" y="2857500"/>
            <a:ext cx="552450" cy="285750"/>
          </a:xfrm>
          <a:prstGeom prst="rect">
            <a:avLst/>
          </a:prstGeom>
          <a:noFill/>
        </p:spPr>
        <p:txBody>
          <a:bodyPr wrap="none" lIns="0" rIns="0" t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rIns="0" t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utline number 06"/>
          <p:cNvSpPr txBox="1"/>
          <p:nvPr/>
        </p:nvSpPr>
        <p:spPr>
          <a:xfrm>
            <a:off x="6496050" y="3981450"/>
            <a:ext cx="552450" cy="285750"/>
          </a:xfrm>
          <a:prstGeom prst="rect">
            <a:avLst/>
          </a:prstGeom>
          <a:noFill/>
        </p:spPr>
        <p:txBody>
          <a:bodyPr wrap="none" lIns="0" rIns="0" t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rIns="0" t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a:solidFill>
                  <a:srgbClr val="FFFFFF"/>
                </a:solidFill>
                <a:latin typeface="Arial"/>
              </a:rPr>
              <a:t>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Freeform 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grpSp>
        <p:nvGrpSpPr>
          <p:cNvPr id="23" name="Group 23"/>
          <p:cNvGrpSpPr/>
          <p:nvPr/>
        </p:nvGrpSpPr>
        <p:grpSpPr>
          <a:xfrm>
            <a:off x="552450" y="11049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1049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3525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1049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6289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3624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55455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Why this matters in practice</a:t>
            </a:r>
          </a:p>
        </p:txBody>
      </p:sp>
      <p:sp>
        <p:nvSpPr>
          <p:cNvPr id="6" name="TextBox 6"/>
          <p:cNvSpPr txBox="1"/>
          <p:nvPr/>
        </p:nvSpPr>
        <p:spPr>
          <a:xfrm>
            <a:off x="601599" y="858679"/>
            <a:ext cx="104062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useful question is not only correctness; it is how much avoidable runtime we leave on the table.</a:t>
            </a:r>
          </a:p>
        </p:txBody>
      </p:sp>
      <p:sp>
        <p:nvSpPr>
          <p:cNvPr id="7" name="Freeform 7"/>
          <p:cNvSpPr/>
          <p:nvPr/>
        </p:nvSpPr>
        <p:spPr>
          <a:xfrm>
            <a:off x="781050" y="1619250"/>
            <a:ext cx="4819650" cy="3429000"/>
          </a:xfrm>
          <a:custGeom>
            <a:avLst/>
            <a:gdLst/>
            <a:ahLst/>
            <a:cxnLst/>
            <a:rect l="l" t="t" r="r" b="b"/>
            <a:pathLst>
              <a:path w="4819650" h="3429000">
                <a:moveTo>
                  <a:pt x="76200" y="0"/>
                </a:moveTo>
                <a:lnTo>
                  <a:pt x="4743450" y="0"/>
                </a:lnTo>
                <a:cubicBezTo>
                  <a:pt x="4785534" y="0"/>
                  <a:pt x="4819650" y="34116"/>
                  <a:pt x="4819650" y="76200"/>
                </a:cubicBezTo>
                <a:lnTo>
                  <a:pt x="4819650" y="3352800"/>
                </a:lnTo>
                <a:cubicBezTo>
                  <a:pt x="4819650" y="3394884"/>
                  <a:pt x="4785534" y="3429000"/>
                  <a:pt x="47434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86612" y="1802130"/>
            <a:ext cx="307295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Same input,</a:t>
            </a:r>
          </a:p>
        </p:txBody>
      </p:sp>
      <p:sp>
        <p:nvSpPr>
          <p:cNvPr id="9" name="TextBox 9"/>
          <p:cNvSpPr txBox="1"/>
          <p:nvPr/>
        </p:nvSpPr>
        <p:spPr>
          <a:xfrm>
            <a:off x="1086612" y="2373630"/>
            <a:ext cx="3700394"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different cost</a:t>
            </a:r>
          </a:p>
        </p:txBody>
      </p:sp>
      <p:sp>
        <p:nvSpPr>
          <p:cNvPr id="10" name="TextBox 10"/>
          <p:cNvSpPr txBox="1"/>
          <p:nvPr/>
        </p:nvSpPr>
        <p:spPr>
          <a:xfrm>
            <a:off x="1093470" y="3186112"/>
            <a:ext cx="56177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 sorted-like array, a random array,</a:t>
            </a:r>
          </a:p>
        </p:txBody>
      </p:sp>
      <p:sp>
        <p:nvSpPr>
          <p:cNvPr id="11" name="TextBox 11"/>
          <p:cNvSpPr txBox="1"/>
          <p:nvPr/>
        </p:nvSpPr>
        <p:spPr>
          <a:xfrm>
            <a:off x="1093470" y="3567112"/>
            <a:ext cx="5050917"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and a duplicated array can reward</a:t>
            </a:r>
          </a:p>
        </p:txBody>
      </p:sp>
      <p:sp>
        <p:nvSpPr>
          <p:cNvPr id="12" name="TextBox 12"/>
          <p:cNvSpPr txBox="1"/>
          <p:nvPr/>
        </p:nvSpPr>
        <p:spPr>
          <a:xfrm>
            <a:off x="1093470" y="3948112"/>
            <a:ext cx="5278088"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different implementation behavior.</a:t>
            </a:r>
          </a:p>
        </p:txBody>
      </p:sp>
      <p:sp>
        <p:nvSpPr>
          <p:cNvPr id="13" name="Freeform 13"/>
          <p:cNvSpPr/>
          <p:nvPr/>
        </p:nvSpPr>
        <p:spPr>
          <a:xfrm>
            <a:off x="63817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7070655" y="2110740"/>
            <a:ext cx="1003440" cy="352044"/>
          </a:xfrm>
          <a:prstGeom prst="rect">
            <a:avLst/>
          </a:prstGeom>
          <a:noFill/>
          <a:ln>
            <a:noFill/>
          </a:ln>
        </p:spPr>
        <p:txBody>
          <a:bodyPr wrap="none" lIns="0" tIns="0" rIns="0" bIns="0" anchor="t" anchorCtr="0">
            <a:spAutoFit/>
          </a:bodyPr>
          <a:lstStyle/>
          <a:p>
            <a:pPr algn="ctr"/>
            <a:r>
              <a:rPr lang="en-US" sz="1800" dirty="0">
                <a:solidFill>
                  <a:srgbClr val="64748B"/>
                </a:solidFill>
                <a:latin typeface="Anthropic Sans"/>
                <a:ea typeface="Anthropic Sans"/>
                <a:cs typeface="Anthropic Sans"/>
              </a:rPr>
              <a:t>Baseline</a:t>
            </a:r>
          </a:p>
        </p:txBody>
      </p:sp>
      <p:sp>
        <p:nvSpPr>
          <p:cNvPr id="15" name="TextBox 15"/>
          <p:cNvSpPr txBox="1"/>
          <p:nvPr/>
        </p:nvSpPr>
        <p:spPr>
          <a:xfrm>
            <a:off x="6991697" y="2640330"/>
            <a:ext cx="1161357" cy="704088"/>
          </a:xfrm>
          <a:prstGeom prst="rect">
            <a:avLst/>
          </a:prstGeom>
          <a:noFill/>
          <a:ln>
            <a:noFill/>
          </a:ln>
        </p:spPr>
        <p:txBody>
          <a:bodyPr wrap="none" lIns="0" tIns="0" rIns="0" bIns="0" anchor="t" anchorCtr="0">
            <a:spAutoFit/>
          </a:bodyPr>
          <a:lstStyle/>
          <a:p>
            <a:pPr algn="ctr"/>
            <a:r>
              <a:rPr lang="en-US" sz="3600" b="1" dirty="0">
                <a:solidFill>
                  <a:srgbClr val="191919"/>
                </a:solidFill>
                <a:latin typeface="Styrene A"/>
                <a:ea typeface="Styrene A"/>
                <a:cs typeface="Styrene A"/>
              </a:rPr>
              <a:t>SBS</a:t>
            </a:r>
          </a:p>
        </p:txBody>
      </p:sp>
      <p:sp>
        <p:nvSpPr>
          <p:cNvPr id="16" name="TextBox 16"/>
          <p:cNvSpPr txBox="1"/>
          <p:nvPr/>
        </p:nvSpPr>
        <p:spPr>
          <a:xfrm>
            <a:off x="6864687" y="3487579"/>
            <a:ext cx="1415377"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one algorithm</a:t>
            </a:r>
          </a:p>
        </p:txBody>
      </p:sp>
      <p:sp>
        <p:nvSpPr>
          <p:cNvPr id="17" name="TextBox 17"/>
          <p:cNvSpPr txBox="1"/>
          <p:nvPr/>
        </p:nvSpPr>
        <p:spPr>
          <a:xfrm>
            <a:off x="6880589" y="3773329"/>
            <a:ext cx="138357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for all inputs</a:t>
            </a:r>
          </a:p>
        </p:txBody>
      </p:sp>
      <p:sp>
        <p:nvSpPr>
          <p:cNvPr id="18" name="Freeform 18"/>
          <p:cNvSpPr/>
          <p:nvPr/>
        </p:nvSpPr>
        <p:spPr>
          <a:xfrm>
            <a:off x="9124950" y="1619250"/>
            <a:ext cx="2381250" cy="3429000"/>
          </a:xfrm>
          <a:custGeom>
            <a:avLst/>
            <a:gdLst/>
            <a:ahLst/>
            <a:cxnLst/>
            <a:rect l="l" t="t" r="r" b="b"/>
            <a:pathLst>
              <a:path w="2381250" h="3429000">
                <a:moveTo>
                  <a:pt x="76200" y="0"/>
                </a:moveTo>
                <a:lnTo>
                  <a:pt x="2305050" y="0"/>
                </a:lnTo>
                <a:cubicBezTo>
                  <a:pt x="2347134" y="0"/>
                  <a:pt x="2381250" y="34116"/>
                  <a:pt x="2381250" y="76200"/>
                </a:cubicBezTo>
                <a:lnTo>
                  <a:pt x="2381250" y="3352800"/>
                </a:lnTo>
                <a:cubicBezTo>
                  <a:pt x="2381250" y="3394884"/>
                  <a:pt x="2347134" y="3429000"/>
                  <a:pt x="2305050" y="3429000"/>
                </a:cubicBezTo>
                <a:lnTo>
                  <a:pt x="76200" y="3429000"/>
                </a:lnTo>
                <a:cubicBezTo>
                  <a:pt x="34116" y="3429000"/>
                  <a:pt x="0" y="3394884"/>
                  <a:pt x="0" y="3352800"/>
                </a:cubicBezTo>
                <a:lnTo>
                  <a:pt x="0" y="76200"/>
                </a:lnTo>
                <a:cubicBezTo>
                  <a:pt x="0" y="34116"/>
                  <a:pt x="34116" y="0"/>
                  <a:pt x="76200" y="0"/>
                </a:cubicBezTo>
                <a:close/>
              </a:path>
            </a:pathLst>
          </a:custGeom>
          <a:solidFill>
            <a:srgbClr val="191919"/>
          </a:solidFill>
          <a:ln>
            <a:noFill/>
          </a:ln>
        </p:spPr>
        <p:txBody>
          <a:bodyPr/>
          <a:p/>
        </p:txBody>
      </p:sp>
      <p:sp>
        <p:nvSpPr>
          <p:cNvPr id="19" name="TextBox 19"/>
          <p:cNvSpPr txBox="1"/>
          <p:nvPr/>
        </p:nvSpPr>
        <p:spPr>
          <a:xfrm>
            <a:off x="9883978" y="2110740"/>
            <a:ext cx="863194"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Target</a:t>
            </a:r>
          </a:p>
        </p:txBody>
      </p:sp>
      <p:sp>
        <p:nvSpPr>
          <p:cNvPr id="20" name="TextBox 20"/>
          <p:cNvSpPr txBox="1"/>
          <p:nvPr/>
        </p:nvSpPr>
        <p:spPr>
          <a:xfrm>
            <a:off x="9734897" y="2640330"/>
            <a:ext cx="1161357" cy="704088"/>
          </a:xfrm>
          <a:prstGeom prst="rect">
            <a:avLst/>
          </a:prstGeom>
          <a:noFill/>
          <a:ln>
            <a:noFill/>
          </a:ln>
        </p:spPr>
        <p:txBody>
          <a:bodyPr wrap="none" lIns="0" tIns="0" rIns="0" bIns="0" anchor="t" anchorCtr="0">
            <a:spAutoFit/>
          </a:bodyPr>
          <a:lstStyle/>
          <a:p>
            <a:pPr algn="ctr"/>
            <a:r>
              <a:rPr lang="en-US" sz="3600" b="1" dirty="0">
                <a:solidFill>
                  <a:srgbClr val="D97757"/>
                </a:solidFill>
                <a:latin typeface="Styrene A"/>
                <a:ea typeface="Styrene A"/>
                <a:cs typeface="Styrene A"/>
              </a:rPr>
              <a:t>VBS</a:t>
            </a:r>
          </a:p>
        </p:txBody>
      </p:sp>
      <p:sp>
        <p:nvSpPr>
          <p:cNvPr id="21" name="TextBox 21"/>
          <p:cNvSpPr txBox="1"/>
          <p:nvPr/>
        </p:nvSpPr>
        <p:spPr>
          <a:xfrm>
            <a:off x="9549579" y="3487579"/>
            <a:ext cx="1531991"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best algorithm</a:t>
            </a:r>
          </a:p>
        </p:txBody>
      </p:sp>
      <p:sp>
        <p:nvSpPr>
          <p:cNvPr id="22" name="TextBox 22"/>
          <p:cNvSpPr txBox="1"/>
          <p:nvPr/>
        </p:nvSpPr>
        <p:spPr>
          <a:xfrm>
            <a:off x="9835815" y="3773329"/>
            <a:ext cx="959520"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per input</a:t>
            </a:r>
          </a:p>
        </p:txBody>
      </p:sp>
      <p:sp>
        <p:nvSpPr>
          <p:cNvPr id="23" name="TextBox 23"/>
          <p:cNvSpPr txBox="1"/>
          <p:nvPr/>
        </p:nvSpPr>
        <p:spPr>
          <a:xfrm>
            <a:off x="769620" y="5233988"/>
            <a:ext cx="6583345"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model is useful if it moves close to VBS</a:t>
            </a:r>
          </a:p>
        </p:txBody>
      </p:sp>
      <p:sp>
        <p:nvSpPr>
          <p:cNvPr id="24" name="TextBox 24"/>
          <p:cNvSpPr txBox="1"/>
          <p:nvPr/>
        </p:nvSpPr>
        <p:spPr>
          <a:xfrm>
            <a:off x="769620" y="5614988"/>
            <a:ext cx="477831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without trying every algorithm.</a:t>
            </a:r>
          </a:p>
        </p:txBody>
      </p:sp>
      <p:sp>
        <p:nvSpPr>
          <p:cNvPr id="25" name="Line 2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7" name="Freeform 2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446048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previous work gives us</a:t>
            </a:r>
          </a:p>
        </p:txBody>
      </p:sp>
      <p:sp>
        <p:nvSpPr>
          <p:cNvPr id="6" name="TextBox 6"/>
          <p:cNvSpPr txBox="1"/>
          <p:nvPr/>
        </p:nvSpPr>
        <p:spPr>
          <a:xfrm>
            <a:off x="601599" y="858679"/>
            <a:ext cx="1046859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idea is connected to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sorting algorithm</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choice as a supervised task.</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expose these signals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as measurable features.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My use: evaluate by regret,</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So the contribution is not a new sorter.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It is a measured selector around existing sorters.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3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299106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Research objective</a:t>
            </a:r>
          </a:p>
        </p:txBody>
      </p:sp>
      <p:sp>
        <p:nvSpPr>
          <p:cNvPr id="6" name="TextBox 6"/>
          <p:cNvSpPr txBox="1"/>
          <p:nvPr/>
        </p:nvSpPr>
        <p:spPr>
          <a:xfrm>
            <a:off x="601599" y="858679"/>
            <a:ext cx="1084062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Can simple array structure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the best sorting algorithm?</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This is why the result is defended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21062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data was intentionally not from one shape</a:t>
            </a:r>
          </a:p>
        </p:txBody>
      </p:sp>
      <p:sp>
        <p:nvSpPr>
          <p:cNvPr id="6" name="TextBox 6"/>
          <p:cNvSpPr txBox="1"/>
          <p:nvPr/>
        </p:nvSpPr>
        <p:spPr>
          <a:xfrm>
            <a:off x="601599" y="858679"/>
            <a:ext cx="73709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final dataset contains 1.18M arrays from five real-data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point was to make the selector face different numeric patterns, not memorize one dataset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376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Labels came from measured runtime</a:t>
            </a:r>
          </a:p>
        </p:txBody>
      </p:sp>
      <p:sp>
        <p:nvSpPr>
          <p:cNvPr id="6" name="TextBox 6"/>
          <p:cNvSpPr txBox="1"/>
          <p:nvPr/>
        </p:nvSpPr>
        <p:spPr>
          <a:xfrm>
            <a:off x="601599" y="858679"/>
            <a:ext cx="11010927"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Transforms forced the model to see sorted, reversed, shuffled, quantized, and partially sorted behavior.</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57473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Features translate array shape into model input</a:t>
            </a:r>
          </a:p>
        </p:txBody>
      </p:sp>
      <p:sp>
        <p:nvSpPr>
          <p:cNvPr id="6" name="TextBox 6"/>
          <p:cNvSpPr txBox="1"/>
          <p:nvPr/>
        </p:nvSpPr>
        <p:spPr>
          <a:xfrm>
            <a:off x="601599" y="858679"/>
            <a:ext cx="1195508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16 features describe structure that sorting algorithms react to: size, order, duplicates, and local disorder.</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6751320" y="1814512"/>
            <a:ext cx="87196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Scale</a:t>
            </a:r>
          </a:p>
        </p:txBody>
      </p:sp>
      <p:sp>
        <p:nvSpPr>
          <p:cNvPr id="10" name="TextBox 10"/>
          <p:cNvSpPr txBox="1"/>
          <p:nvPr/>
        </p:nvSpPr>
        <p:spPr>
          <a:xfrm>
            <a:off x="6753606" y="2453640"/>
            <a:ext cx="75735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length</a:t>
            </a:r>
          </a:p>
        </p:txBody>
      </p:sp>
      <p:sp>
        <p:nvSpPr>
          <p:cNvPr id="11" name="TextBox 11"/>
          <p:cNvSpPr txBox="1"/>
          <p:nvPr/>
        </p:nvSpPr>
        <p:spPr>
          <a:xfrm>
            <a:off x="6753606" y="2796540"/>
            <a:ext cx="68465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range</a:t>
            </a:r>
          </a:p>
        </p:txBody>
      </p:sp>
      <p:sp>
        <p:nvSpPr>
          <p:cNvPr id="12" name="TextBox 12"/>
          <p:cNvSpPr txBox="1"/>
          <p:nvPr/>
        </p:nvSpPr>
        <p:spPr>
          <a:xfrm>
            <a:off x="6753606" y="3139440"/>
            <a:ext cx="817931"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4" name="TextBox 14"/>
          <p:cNvSpPr txBox="1"/>
          <p:nvPr/>
        </p:nvSpPr>
        <p:spPr>
          <a:xfrm>
            <a:off x="9208770" y="1814512"/>
            <a:ext cx="95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Shape</a:t>
            </a:r>
          </a:p>
        </p:txBody>
      </p:sp>
      <p:sp>
        <p:nvSpPr>
          <p:cNvPr id="15" name="TextBox 15"/>
          <p:cNvSpPr txBox="1"/>
          <p:nvPr/>
        </p:nvSpPr>
        <p:spPr>
          <a:xfrm>
            <a:off x="9211056" y="24536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inversions</a:t>
            </a:r>
          </a:p>
        </p:txBody>
      </p:sp>
      <p:sp>
        <p:nvSpPr>
          <p:cNvPr id="16" name="TextBox 16"/>
          <p:cNvSpPr txBox="1"/>
          <p:nvPr/>
        </p:nvSpPr>
        <p:spPr>
          <a:xfrm>
            <a:off x="9211056" y="2796540"/>
            <a:ext cx="551383"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runs</a:t>
            </a:r>
          </a:p>
        </p:txBody>
      </p:sp>
      <p:sp>
        <p:nvSpPr>
          <p:cNvPr id="17" name="TextBox 17"/>
          <p:cNvSpPr txBox="1"/>
          <p:nvPr/>
        </p:nvSpPr>
        <p:spPr>
          <a:xfrm>
            <a:off x="9211056" y="3139440"/>
            <a:ext cx="122986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duplicates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 features are not timing features.</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They are cheap summaries before sorting.</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924589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must be cheaper than the decision it improves</a:t>
            </a:r>
          </a:p>
        </p:txBody>
      </p:sp>
      <p:sp>
        <p:nvSpPr>
          <p:cNvPr id="6" name="TextBox 6"/>
          <p:cNvSpPr txBox="1"/>
          <p:nvPr/>
        </p:nvSpPr>
        <p:spPr>
          <a:xfrm>
            <a:off x="601599" y="858679"/>
            <a:ext cx="12102619"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Features are computed from the input structure; the system does not benchmark all algorithms at prediction time.</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the difference between a real selector and an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68810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main system is one general v5 selector</a:t>
            </a:r>
          </a:p>
        </p:txBody>
      </p:sp>
      <p:sp>
        <p:nvSpPr>
          <p:cNvPr id="6" name="TextBox 6"/>
          <p:cNvSpPr txBox="1"/>
          <p:nvPr/>
        </p:nvSpPr>
        <p:spPr>
          <a:xfrm>
            <a:off x="601599" y="858679"/>
            <a:ext cx="899532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 F1-specific route exists, but it is a separate specialization and not the main claim.</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8"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66560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portfolio has three real choices</a:t>
            </a:r>
          </a:p>
        </p:txBody>
      </p:sp>
      <p:sp>
        <p:nvSpPr>
          <p:cNvPr id="6" name="TextBox 6"/>
          <p:cNvSpPr txBox="1"/>
          <p:nvPr/>
        </p:nvSpPr>
        <p:spPr>
          <a:xfrm>
            <a:off x="601599" y="858679"/>
            <a:ext cx="10703285"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model does not rank every possible sorter; it chooses among the three measured implementations.</a:t>
            </a:r>
          </a:p>
        </p:txBody>
      </p:sp>
      <p:sp>
        <p:nvSpPr>
          <p:cNvPr id="7" name="Freeform 7"/>
          <p:cNvSpPr/>
          <p:nvPr/>
        </p:nvSpPr>
        <p:spPr>
          <a:xfrm>
            <a:off x="7620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29462" y="1897380"/>
            <a:ext cx="1395146" cy="704088"/>
          </a:xfrm>
          <a:prstGeom prst="rect">
            <a:avLst/>
          </a:prstGeom>
          <a:noFill/>
          <a:ln>
            <a:noFill/>
          </a:ln>
        </p:spPr>
        <p:txBody>
          <a:bodyPr wrap="none" lIns="0" tIns="0" rIns="0" bIns="0" anchor="t" anchorCtr="0">
            <a:spAutoFit/>
          </a:bodyPr>
          <a:lstStyle/>
          <a:p>
            <a:pPr algn="l"/>
            <a:r>
              <a:rPr lang="en-US" sz="3600" b="1" dirty="0">
                <a:solidFill>
                  <a:srgbClr val="191919"/>
                </a:solidFill>
                <a:latin typeface="Styrene A"/>
                <a:ea typeface="Styrene A"/>
                <a:cs typeface="Styrene A"/>
              </a:rPr>
              <a:t>Intro</a:t>
            </a:r>
          </a:p>
        </p:txBody>
      </p:sp>
      <p:sp>
        <p:nvSpPr>
          <p:cNvPr id="9" name="TextBox 9"/>
          <p:cNvSpPr txBox="1"/>
          <p:nvPr/>
        </p:nvSpPr>
        <p:spPr>
          <a:xfrm>
            <a:off x="1038606" y="2758440"/>
            <a:ext cx="2768575"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general-purpose hybrid</a:t>
            </a:r>
          </a:p>
        </p:txBody>
      </p:sp>
      <p:sp>
        <p:nvSpPr>
          <p:cNvPr id="10" name="TextBox 10"/>
          <p:cNvSpPr txBox="1"/>
          <p:nvPr/>
        </p:nvSpPr>
        <p:spPr>
          <a:xfrm>
            <a:off x="1038606" y="3139440"/>
            <a:ext cx="284126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strong default behavior</a:t>
            </a:r>
          </a:p>
        </p:txBody>
      </p:sp>
      <p:sp>
        <p:nvSpPr>
          <p:cNvPr id="11" name="Freeform 11"/>
          <p:cNvSpPr/>
          <p:nvPr/>
        </p:nvSpPr>
        <p:spPr>
          <a:xfrm>
            <a:off x="447675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46498" y="1945958"/>
            <a:ext cx="2074299" cy="616077"/>
          </a:xfrm>
          <a:prstGeom prst="rect">
            <a:avLst/>
          </a:prstGeom>
          <a:noFill/>
          <a:ln>
            <a:noFill/>
          </a:ln>
        </p:spPr>
        <p:txBody>
          <a:bodyPr wrap="none" lIns="0" tIns="0" rIns="0" bIns="0" anchor="t" anchorCtr="0">
            <a:spAutoFit/>
          </a:bodyPr>
          <a:lstStyle/>
          <a:p>
            <a:pPr algn="l"/>
            <a:r>
              <a:rPr lang="en-US" sz="3150" b="1" dirty="0">
                <a:solidFill>
                  <a:srgbClr val="191919"/>
                </a:solidFill>
                <a:latin typeface="Styrene A"/>
                <a:ea typeface="Styrene A"/>
                <a:cs typeface="Styrene A"/>
              </a:rPr>
              <a:t>Heapsort</a:t>
            </a:r>
          </a:p>
        </p:txBody>
      </p:sp>
      <p:sp>
        <p:nvSpPr>
          <p:cNvPr id="13" name="TextBox 13"/>
          <p:cNvSpPr txBox="1"/>
          <p:nvPr/>
        </p:nvSpPr>
        <p:spPr>
          <a:xfrm>
            <a:off x="4753356" y="2758440"/>
            <a:ext cx="348340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consistent worst-case bound</a:t>
            </a:r>
          </a:p>
        </p:txBody>
      </p:sp>
      <p:sp>
        <p:nvSpPr>
          <p:cNvPr id="14" name="TextBox 14"/>
          <p:cNvSpPr txBox="1"/>
          <p:nvPr/>
        </p:nvSpPr>
        <p:spPr>
          <a:xfrm>
            <a:off x="4753356" y="3139440"/>
            <a:ext cx="298665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often hard to distinguish</a:t>
            </a:r>
          </a:p>
        </p:txBody>
      </p:sp>
      <p:sp>
        <p:nvSpPr>
          <p:cNvPr id="15" name="Freeform 15"/>
          <p:cNvSpPr/>
          <p:nvPr/>
        </p:nvSpPr>
        <p:spPr>
          <a:xfrm>
            <a:off x="8191500" y="1619250"/>
            <a:ext cx="3238500" cy="3333750"/>
          </a:xfrm>
          <a:custGeom>
            <a:avLst/>
            <a:gdLst/>
            <a:ahLst/>
            <a:cxnLst/>
            <a:rect l="l" t="t" r="r" b="b"/>
            <a:pathLst>
              <a:path w="3238500" h="3333750">
                <a:moveTo>
                  <a:pt x="76200" y="0"/>
                </a:moveTo>
                <a:lnTo>
                  <a:pt x="3162300" y="0"/>
                </a:lnTo>
                <a:cubicBezTo>
                  <a:pt x="3204384" y="0"/>
                  <a:pt x="3238500" y="34116"/>
                  <a:pt x="3238500" y="76200"/>
                </a:cubicBezTo>
                <a:lnTo>
                  <a:pt x="3238500" y="3257550"/>
                </a:lnTo>
                <a:cubicBezTo>
                  <a:pt x="3238500" y="3299634"/>
                  <a:pt x="3204384" y="3333750"/>
                  <a:pt x="3162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458962" y="1897380"/>
            <a:ext cx="942929"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Tim</a:t>
            </a:r>
          </a:p>
        </p:txBody>
      </p:sp>
      <p:sp>
        <p:nvSpPr>
          <p:cNvPr id="17" name="TextBox 17"/>
          <p:cNvSpPr txBox="1"/>
          <p:nvPr/>
        </p:nvSpPr>
        <p:spPr>
          <a:xfrm>
            <a:off x="8468106" y="275844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adaptive to runs</a:t>
            </a:r>
          </a:p>
        </p:txBody>
      </p:sp>
      <p:sp>
        <p:nvSpPr>
          <p:cNvPr id="18" name="TextBox 18"/>
          <p:cNvSpPr txBox="1"/>
          <p:nvPr/>
        </p:nvSpPr>
        <p:spPr>
          <a:xfrm>
            <a:off x="8468106" y="3139440"/>
            <a:ext cx="3834765"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often clear when data has order</a:t>
            </a:r>
          </a:p>
        </p:txBody>
      </p:sp>
      <p:sp>
        <p:nvSpPr>
          <p:cNvPr id="19" name="TextBox 19"/>
          <p:cNvSpPr txBox="1"/>
          <p:nvPr/>
        </p:nvSpPr>
        <p:spPr>
          <a:xfrm>
            <a:off x="752856" y="5520690"/>
            <a:ext cx="9904049"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The defense is about learning this choice reliably enough to reduce runtime regret.</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624010"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v5 was chosen after weaker paths were rejected</a:t>
            </a:r>
          </a:p>
        </p:txBody>
      </p:sp>
      <p:sp>
        <p:nvSpPr>
          <p:cNvPr id="6" name="TextBox 6"/>
          <p:cNvSpPr txBox="1"/>
          <p:nvPr/>
        </p:nvSpPr>
        <p:spPr>
          <a:xfrm>
            <a:off x="601599" y="858679"/>
            <a:ext cx="1026788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research journey matters because it explains why the final model is measured, not accidental.</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enough</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Timing feature</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not deployable</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580" dirty="0">
                <a:solidFill>
                  <a:srgbClr val="D97757"/>
                </a:solidFill>
                <a:latin typeface="Anthropic San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Strict checks</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kept as evidence</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13/22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3068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Evaluation asks how close we are to the oracle</a:t>
            </a:r>
          </a:p>
        </p:txBody>
      </p:sp>
      <p:sp>
        <p:nvSpPr>
          <p:cNvPr id="6" name="TextBox 6"/>
          <p:cNvSpPr txBox="1"/>
          <p:nvPr/>
        </p:nvSpPr>
        <p:spPr>
          <a:xfrm>
            <a:off x="601599" y="858679"/>
            <a:ext cx="1029026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Accuracy says whether the class is right; regret says whether the runtime consequence matters.</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These formulas make the runtime result defensible, not just the classifier result.</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5"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14/22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694127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closes most of the runtime gap</a:t>
            </a:r>
          </a:p>
        </p:txBody>
      </p:sp>
      <p:sp>
        <p:nvSpPr>
          <p:cNvPr id="6" name="TextBox 6"/>
          <p:cNvSpPr txBox="1"/>
          <p:nvPr/>
        </p:nvSpPr>
        <p:spPr>
          <a:xfrm>
            <a:off x="601599" y="858679"/>
            <a:ext cx="9378320"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2550" dirty="0">
                <a:solidFill>
                  <a:srgbClr val="FFFFFF"/>
                </a:solidFill>
                <a:latin typeface="Anthropic San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This is the headline because a wrong</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label is not always an expensive mistake.</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4350" b="1" dirty="0">
                <a:solidFill>
                  <a:srgbClr val="191919"/>
                </a:solidFill>
                <a:latin typeface="Styrene A"/>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2"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15/22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14482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Accuracy alone does not explain runtime value</a:t>
            </a:r>
          </a:p>
        </p:txBody>
      </p:sp>
      <p:sp>
        <p:nvSpPr>
          <p:cNvPr id="6" name="TextBox 6"/>
          <p:cNvSpPr txBox="1"/>
          <p:nvPr/>
        </p:nvSpPr>
        <p:spPr>
          <a:xfrm>
            <a:off x="601599" y="858679"/>
            <a:ext cx="9409872"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Some wrong labels are cheap because two algorithms finish almost the same on that input.</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I do not defend the model as a</a:t>
            </a:r>
          </a:p>
        </p:txBody>
      </p:sp>
      <p:sp>
        <p:nvSpPr>
          <p:cNvPr id="15" name="TextBox 15"/>
          <p:cNvSpPr txBox="1"/>
          <p:nvPr/>
        </p:nvSpPr>
        <p:spPr>
          <a:xfrm>
            <a:off x="7944231" y="5092065"/>
            <a:ext cx="4792079"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perfect classifier. I defend its regret.</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16/22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81371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hardest boundary is between close algorithms</a:t>
            </a:r>
          </a:p>
        </p:txBody>
      </p:sp>
      <p:sp>
        <p:nvSpPr>
          <p:cNvPr id="6" name="TextBox 6"/>
          <p:cNvSpPr txBox="1"/>
          <p:nvPr/>
        </p:nvSpPr>
        <p:spPr>
          <a:xfrm>
            <a:off x="601599" y="858679"/>
            <a:ext cx="10681478"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Intro and heap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This is a limitation, but regret tells us</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many of these errors are low cost.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17/22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035815"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model uses structural signals, not magic</a:t>
            </a:r>
          </a:p>
        </p:txBody>
      </p:sp>
      <p:sp>
        <p:nvSpPr>
          <p:cNvPr id="6" name="TextBox 6"/>
          <p:cNvSpPr txBox="1"/>
          <p:nvPr/>
        </p:nvSpPr>
        <p:spPr>
          <a:xfrm>
            <a:off x="601599" y="858679"/>
            <a:ext cx="9334734"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Feature importance links the learned choices back to the array properties we extracted.</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Order signals</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runs, inversions, monotonicity</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Value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duplicates, range, entropy</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Anthropic Sans"/>
                <a:ea typeface="Anthropic Sans"/>
                <a:cs typeface="Anthropic Sans"/>
              </a:rPr>
              <a:t>Size context</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array length and scale</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0"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18/22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829021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The selector still transfers across held-out domains</a:t>
            </a:r>
          </a:p>
        </p:txBody>
      </p:sp>
      <p:sp>
        <p:nvSpPr>
          <p:cNvPr id="6" name="TextBox 6"/>
          <p:cNvSpPr txBox="1"/>
          <p:nvPr/>
        </p:nvSpPr>
        <p:spPr>
          <a:xfrm>
            <a:off x="601599" y="858679"/>
            <a:ext cx="10331233"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Domain holdout is stricter than a random split because the test domain was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pPr algn="l"/>
            <a:r>
              <a:rPr lang="en-US" sz="1800" b="1" dirty="0">
                <a:solidFill>
                  <a:srgbClr val="191919"/>
                </a:solidFill>
                <a:latin typeface="Anthropic Sans"/>
                <a:ea typeface="Anthropic Sans"/>
                <a:cs typeface="Anthropic Sans"/>
              </a:rPr>
              <a:t>Important caveat</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19"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19/22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7701442"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Strict checks changed what I was willing to claim</a:t>
            </a:r>
          </a:p>
        </p:txBody>
      </p:sp>
      <p:sp>
        <p:nvSpPr>
          <p:cNvPr id="6" name="TextBox 6"/>
          <p:cNvSpPr txBox="1"/>
          <p:nvPr/>
        </p:nvSpPr>
        <p:spPr>
          <a:xfrm>
            <a:off x="601599" y="858679"/>
            <a:ext cx="719247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Several experiments were useful because they reduced overclaiming.</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part of the defense.</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when intro and heap</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So the final claim stays focused: v5 works well under the submitted evaluation, with known limits.</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6"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20/22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p/>
        </p:txBody>
      </p:sp>
      <p:sp>
        <p:nvSpPr>
          <p:cNvPr id="5" name="TextBox 5"/>
          <p:cNvSpPr txBox="1"/>
          <p:nvPr/>
        </p:nvSpPr>
        <p:spPr>
          <a:xfrm>
            <a:off x="598170" y="442912"/>
            <a:ext cx="5840523"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Styrene A"/>
                <a:ea typeface="Styrene A"/>
                <a:cs typeface="Styrene A"/>
              </a:rPr>
              <a:t>What I claim, and what I do not claim</a:t>
            </a:r>
          </a:p>
        </p:txBody>
      </p:sp>
      <p:sp>
        <p:nvSpPr>
          <p:cNvPr id="6" name="TextBox 6"/>
          <p:cNvSpPr txBox="1"/>
          <p:nvPr/>
        </p:nvSpPr>
        <p:spPr>
          <a:xfrm>
            <a:off x="601599" y="858679"/>
            <a:ext cx="7257191" cy="308039"/>
          </a:xfrm>
          <a:prstGeom prst="rect">
            <a:avLst/>
          </a:prstGeom>
          <a:noFill/>
          <a:ln>
            <a:noFill/>
          </a:ln>
        </p:spPr>
        <p:txBody>
          <a:bodyPr wrap="none" lIns="0" tIns="0" rIns="0" bIns="0" anchor="t" anchorCtr="0">
            <a:spAutoFit/>
          </a:bodyPr>
          <a:lstStyle/>
          <a:p>
            <a:pPr algn="l"/>
            <a:r>
              <a:rPr lang="en-US" sz="1580" dirty="0">
                <a:solidFill>
                  <a:srgbClr val="191919"/>
                </a:solidFill>
                <a:latin typeface="Anthropic Sans"/>
                <a:ea typeface="Anthropic Sans"/>
                <a:cs typeface="Anthropic Sans"/>
              </a:rPr>
              <a:t>The contribution is strong, but it is not a universal sorting theorem.</a:t>
            </a:r>
          </a:p>
        </p:txBody>
      </p:sp>
      <p:sp>
        <p:nvSpPr>
          <p:cNvPr id="7" name="Freeform 7"/>
          <p:cNvSpPr/>
          <p:nvPr/>
        </p:nvSpPr>
        <p:spPr>
          <a:xfrm>
            <a:off x="857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191919"/>
          </a:solidFill>
          <a:ln>
            <a:noFill/>
          </a:ln>
        </p:spPr>
        <p:txBody>
          <a:bodyPr/>
          <a:p/>
        </p:txBody>
      </p:sp>
      <p:sp>
        <p:nvSpPr>
          <p:cNvPr id="8" name="TextBox 8"/>
          <p:cNvSpPr txBox="1"/>
          <p:nvPr/>
        </p:nvSpPr>
        <p:spPr>
          <a:xfrm>
            <a:off x="1179195" y="1947862"/>
            <a:ext cx="1047788"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I claim</a:t>
            </a:r>
          </a:p>
        </p:txBody>
      </p:sp>
      <p:sp>
        <p:nvSpPr>
          <p:cNvPr id="9" name="TextBox 9"/>
          <p:cNvSpPr txBox="1"/>
          <p:nvPr/>
        </p:nvSpPr>
        <p:spPr>
          <a:xfrm>
            <a:off x="1179195" y="2614612"/>
            <a:ext cx="5671852"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v5 closes most measured runtime gap.</a:t>
            </a:r>
          </a:p>
        </p:txBody>
      </p:sp>
      <p:sp>
        <p:nvSpPr>
          <p:cNvPr id="10" name="TextBox 10"/>
          <p:cNvSpPr txBox="1"/>
          <p:nvPr/>
        </p:nvSpPr>
        <p:spPr>
          <a:xfrm>
            <a:off x="1179195" y="3138488"/>
            <a:ext cx="5793028"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Cheap structural features are useful.</a:t>
            </a:r>
          </a:p>
        </p:txBody>
      </p:sp>
      <p:sp>
        <p:nvSpPr>
          <p:cNvPr id="11" name="TextBox 11"/>
          <p:cNvSpPr txBox="1"/>
          <p:nvPr/>
        </p:nvSpPr>
        <p:spPr>
          <a:xfrm>
            <a:off x="1179195" y="3662362"/>
            <a:ext cx="5653486" cy="440055"/>
          </a:xfrm>
          <a:prstGeom prst="rect">
            <a:avLst/>
          </a:prstGeom>
          <a:noFill/>
          <a:ln>
            <a:noFill/>
          </a:ln>
        </p:spPr>
        <p:txBody>
          <a:bodyPr wrap="none" lIns="0" tIns="0" rIns="0" bIns="0" anchor="t" anchorCtr="0">
            <a:spAutoFit/>
          </a:bodyPr>
          <a:lstStyle/>
          <a:p>
            <a:pPr algn="l"/>
            <a:r>
              <a:rPr lang="en-US" sz="2250" dirty="0">
                <a:solidFill>
                  <a:srgbClr val="FFFFFF"/>
                </a:solidFill>
                <a:latin typeface="Anthropic Sans"/>
                <a:ea typeface="Anthropic Sans"/>
                <a:cs typeface="Anthropic Sans"/>
              </a:rPr>
              <a:t>Limitations are visible in the results.</a:t>
            </a:r>
          </a:p>
        </p:txBody>
      </p:sp>
      <p:sp>
        <p:nvSpPr>
          <p:cNvPr id="12" name="Freeform 12"/>
          <p:cNvSpPr/>
          <p:nvPr/>
        </p:nvSpPr>
        <p:spPr>
          <a:xfrm>
            <a:off x="6572250" y="1619250"/>
            <a:ext cx="4762500" cy="3238500"/>
          </a:xfrm>
          <a:custGeom>
            <a:avLst/>
            <a:gdLst/>
            <a:ahLst/>
            <a:cxnLst/>
            <a:rect l="l" t="t" r="r" b="b"/>
            <a:pathLst>
              <a:path w="4762500" h="3238500">
                <a:moveTo>
                  <a:pt x="76200" y="0"/>
                </a:moveTo>
                <a:lnTo>
                  <a:pt x="4686300" y="0"/>
                </a:lnTo>
                <a:cubicBezTo>
                  <a:pt x="4728384" y="0"/>
                  <a:pt x="4762500" y="34116"/>
                  <a:pt x="4762500" y="76200"/>
                </a:cubicBezTo>
                <a:lnTo>
                  <a:pt x="4762500" y="3162300"/>
                </a:lnTo>
                <a:cubicBezTo>
                  <a:pt x="4762500" y="3204384"/>
                  <a:pt x="4728384" y="3238500"/>
                  <a:pt x="4686300" y="3238500"/>
                </a:cubicBezTo>
                <a:lnTo>
                  <a:pt x="76200" y="3238500"/>
                </a:lnTo>
                <a:cubicBezTo>
                  <a:pt x="34116" y="3238500"/>
                  <a:pt x="0" y="3204384"/>
                  <a:pt x="0" y="316230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6894195" y="1947862"/>
            <a:ext cx="2121159"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I do not claim</a:t>
            </a:r>
          </a:p>
        </p:txBody>
      </p:sp>
      <p:sp>
        <p:nvSpPr>
          <p:cNvPr id="14" name="TextBox 14"/>
          <p:cNvSpPr txBox="1"/>
          <p:nvPr/>
        </p:nvSpPr>
        <p:spPr>
          <a:xfrm>
            <a:off x="6894195" y="2614612"/>
            <a:ext cx="326679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The model is perfect.</a:t>
            </a:r>
          </a:p>
        </p:txBody>
      </p:sp>
      <p:sp>
        <p:nvSpPr>
          <p:cNvPr id="15" name="TextBox 15"/>
          <p:cNvSpPr txBox="1"/>
          <p:nvPr/>
        </p:nvSpPr>
        <p:spPr>
          <a:xfrm>
            <a:off x="6894195" y="3138488"/>
            <a:ext cx="5398846"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F1 specialization is the main result.</a:t>
            </a:r>
          </a:p>
        </p:txBody>
      </p:sp>
      <p:sp>
        <p:nvSpPr>
          <p:cNvPr id="16" name="TextBox 16"/>
          <p:cNvSpPr txBox="1"/>
          <p:nvPr/>
        </p:nvSpPr>
        <p:spPr>
          <a:xfrm>
            <a:off x="6894195" y="3662362"/>
            <a:ext cx="5175474"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LinUCB is validated in this thesis.</a:t>
            </a:r>
          </a:p>
        </p:txBody>
      </p:sp>
      <p:sp>
        <p:nvSpPr>
          <p:cNvPr id="17" name="TextBox 17"/>
          <p:cNvSpPr txBox="1"/>
          <p:nvPr/>
        </p:nvSpPr>
        <p:spPr>
          <a:xfrm>
            <a:off x="848106" y="5425440"/>
            <a:ext cx="10020336" cy="352044"/>
          </a:xfrm>
          <a:prstGeom prst="rect">
            <a:avLst/>
          </a:prstGeom>
          <a:noFill/>
          <a:ln>
            <a:noFill/>
          </a:ln>
        </p:spPr>
        <p:txBody>
          <a:bodyPr wrap="none" lIns="0" tIns="0" rIns="0" bIns="0" anchor="t" anchorCtr="0">
            <a:spAutoFit/>
          </a:bodyPr>
          <a:lstStyle/>
          <a:p>
            <a:pPr algn="l"/>
            <a:r>
              <a:rPr lang="en-US" sz="1800" dirty="0">
                <a:solidFill>
                  <a:srgbClr val="191919"/>
                </a:solidFill>
                <a:latin typeface="Anthropic Sans"/>
                <a:ea typeface="Anthropic Sans"/>
                <a:cs typeface="Anthropic Sans"/>
              </a:rPr>
              <a:t>The F1 route is a separate specialization: useful to discuss, but not mixed with v5.</a:t>
            </a:r>
          </a:p>
        </p:txBody>
      </p:sp>
      <p:sp>
        <p:nvSpPr>
          <p:cNvPr id="18" name="Line 18"/>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p/>
        </p:txBody>
      </p:sp>
      <p:sp>
        <p:nvSpPr>
          <p:cNvPr id="20" name="Freeform 20"/>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1"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21/22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p/>
        </p:txBody>
      </p:sp>
      <p:sp>
        <p:nvSpPr>
          <p:cNvPr id="3" name="Rectangle 3"/>
          <p:cNvSpPr/>
          <p:nvPr/>
        </p:nvSpPr>
        <p:spPr>
          <a:xfrm>
            <a:off x="0" y="0"/>
            <a:ext cx="12192000" cy="819150"/>
          </a:xfrm>
          <a:prstGeom prst="rect">
            <a:avLst/>
          </a:prstGeom>
          <a:solidFill>
            <a:srgbClr val="191919"/>
          </a:solidFill>
          <a:ln>
            <a:noFill/>
          </a:ln>
        </p:spPr>
        <p:txBody>
          <a:bodyPr/>
          <a:p/>
        </p:txBody>
      </p:sp>
      <p:sp>
        <p:nvSpPr>
          <p:cNvPr id="4" name="Rectangle 4"/>
          <p:cNvSpPr/>
          <p:nvPr/>
        </p:nvSpPr>
        <p:spPr>
          <a:xfrm>
            <a:off x="0" y="0"/>
            <a:ext cx="95250" cy="819150"/>
          </a:xfrm>
          <a:prstGeom prst="rect">
            <a:avLst/>
          </a:prstGeom>
          <a:solidFill>
            <a:srgbClr val="D97757"/>
          </a:solidFill>
          <a:ln>
            <a:noFill/>
          </a:ln>
        </p:spPr>
        <p:txBody>
          <a:bodyPr/>
          <a:p/>
        </p:txBody>
      </p:sp>
      <p:sp>
        <p:nvSpPr>
          <p:cNvPr id="5" name="TextBox 5"/>
          <p:cNvSpPr txBox="1"/>
          <p:nvPr/>
        </p:nvSpPr>
        <p:spPr>
          <a:xfrm>
            <a:off x="411099" y="344329"/>
            <a:ext cx="3512439" cy="308039"/>
          </a:xfrm>
          <a:prstGeom prst="rect">
            <a:avLst/>
          </a:prstGeom>
          <a:noFill/>
          <a:ln>
            <a:noFill/>
          </a:ln>
        </p:spPr>
        <p:txBody>
          <a:bodyPr wrap="none" lIns="0" tIns="0" rIns="0" bIns="0" anchor="t" anchorCtr="0">
            <a:spAutoFit/>
          </a:bodyPr>
          <a:lstStyle/>
          <a:p>
            <a:pPr algn="l"/>
            <a:r>
              <a:rPr lang="en-US" sz="1580" dirty="0">
                <a:solidFill>
                  <a:srgbClr val="FFFFFF"/>
                </a:solidFill>
                <a:latin typeface="Anthropic Sans"/>
                <a:ea typeface="Anthropic Sans"/>
                <a:cs typeface="Anthropic Sans"/>
              </a:rPr>
              <a:t>MSc Thesis Defense · June 2026</a:t>
            </a:r>
          </a:p>
        </p:txBody>
      </p:sp>
      <p:sp>
        <p:nvSpPr>
          <p:cNvPr id="6" name="TextBox 6"/>
          <p:cNvSpPr txBox="1"/>
          <p:nvPr/>
        </p:nvSpPr>
        <p:spPr>
          <a:xfrm>
            <a:off x="666750" y="1244918"/>
            <a:ext cx="3050707" cy="847725"/>
          </a:xfrm>
          <a:prstGeom prst="rect">
            <a:avLst/>
          </a:prstGeom>
          <a:noFill/>
          <a:ln>
            <a:noFill/>
          </a:ln>
        </p:spPr>
        <p:txBody>
          <a:bodyPr wrap="none" lIns="0" tIns="0" rIns="0" bIns="0" anchor="t" anchorCtr="0">
            <a:spAutoFit/>
          </a:bodyPr>
          <a:lstStyle/>
          <a:p>
            <a:pPr algn="l"/>
            <a:r>
              <a:rPr lang="en-US" sz="4350" b="1" dirty="0">
                <a:solidFill>
                  <a:srgbClr val="191919"/>
                </a:solidFill>
                <a:latin typeface="Styrene A"/>
                <a:ea typeface="Styrene A"/>
                <a:cs typeface="Styrene A"/>
              </a:rPr>
              <a:t>Thank you</a:t>
            </a:r>
          </a:p>
        </p:txBody>
      </p:sp>
      <p:sp>
        <p:nvSpPr>
          <p:cNvPr id="7" name="TextBox 7"/>
          <p:cNvSpPr txBox="1"/>
          <p:nvPr/>
        </p:nvSpPr>
        <p:spPr>
          <a:xfrm>
            <a:off x="667512" y="1945005"/>
            <a:ext cx="2914536" cy="704088"/>
          </a:xfrm>
          <a:prstGeom prst="rect">
            <a:avLst/>
          </a:prstGeom>
          <a:noFill/>
          <a:ln>
            <a:noFill/>
          </a:ln>
        </p:spPr>
        <p:txBody>
          <a:bodyPr wrap="none" lIns="0" tIns="0" rIns="0" bIns="0" anchor="t" anchorCtr="0">
            <a:spAutoFit/>
          </a:bodyPr>
          <a:lstStyle/>
          <a:p>
            <a:pPr algn="l"/>
            <a:r>
              <a:rPr lang="en-US" sz="3600" b="1" dirty="0">
                <a:solidFill>
                  <a:srgbClr val="D97757"/>
                </a:solidFill>
                <a:latin typeface="Styrene A"/>
                <a:ea typeface="Styrene A"/>
                <a:cs typeface="Styrene A"/>
              </a:rPr>
              <a:t>Questions?</a:t>
            </a:r>
          </a:p>
        </p:txBody>
      </p:sp>
      <p:sp>
        <p:nvSpPr>
          <p:cNvPr id="8" name="Freeform 8"/>
          <p:cNvSpPr/>
          <p:nvPr/>
        </p:nvSpPr>
        <p:spPr>
          <a:xfrm>
            <a:off x="6858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9" name="TextBox 9"/>
          <p:cNvSpPr txBox="1"/>
          <p:nvPr/>
        </p:nvSpPr>
        <p:spPr>
          <a:xfrm>
            <a:off x="97917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1</a:t>
            </a:r>
          </a:p>
        </p:txBody>
      </p:sp>
      <p:sp>
        <p:nvSpPr>
          <p:cNvPr id="10" name="TextBox 10"/>
          <p:cNvSpPr txBox="1"/>
          <p:nvPr/>
        </p:nvSpPr>
        <p:spPr>
          <a:xfrm>
            <a:off x="981456" y="3901440"/>
            <a:ext cx="330167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sorting selection framed as</a:t>
            </a:r>
          </a:p>
        </p:txBody>
      </p:sp>
      <p:sp>
        <p:nvSpPr>
          <p:cNvPr id="11" name="TextBox 11"/>
          <p:cNvSpPr txBox="1"/>
          <p:nvPr/>
        </p:nvSpPr>
        <p:spPr>
          <a:xfrm>
            <a:off x="981456" y="4225290"/>
            <a:ext cx="282206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 measured ML problem</a:t>
            </a:r>
          </a:p>
        </p:txBody>
      </p:sp>
      <p:sp>
        <p:nvSpPr>
          <p:cNvPr id="12" name="Freeform 12"/>
          <p:cNvSpPr/>
          <p:nvPr/>
        </p:nvSpPr>
        <p:spPr>
          <a:xfrm>
            <a:off x="447675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F8FAFC"/>
          </a:solidFill>
          <a:ln w="9525">
            <a:solidFill>
              <a:srgbClr val="E2E8F0"/>
            </a:solidFill>
          </a:ln>
        </p:spPr>
        <p:txBody>
          <a:bodyPr/>
          <a:p/>
        </p:txBody>
      </p:sp>
      <p:sp>
        <p:nvSpPr>
          <p:cNvPr id="13" name="TextBox 13"/>
          <p:cNvSpPr txBox="1"/>
          <p:nvPr/>
        </p:nvSpPr>
        <p:spPr>
          <a:xfrm>
            <a:off x="4770120" y="3424238"/>
            <a:ext cx="229579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Contribution 2</a:t>
            </a:r>
          </a:p>
        </p:txBody>
      </p:sp>
      <p:sp>
        <p:nvSpPr>
          <p:cNvPr id="14" name="TextBox 14"/>
          <p:cNvSpPr txBox="1"/>
          <p:nvPr/>
        </p:nvSpPr>
        <p:spPr>
          <a:xfrm>
            <a:off x="4772406" y="3901440"/>
            <a:ext cx="316839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cheap structural features</a:t>
            </a:r>
          </a:p>
        </p:txBody>
      </p:sp>
      <p:sp>
        <p:nvSpPr>
          <p:cNvPr id="15" name="TextBox 15"/>
          <p:cNvSpPr txBox="1"/>
          <p:nvPr/>
        </p:nvSpPr>
        <p:spPr>
          <a:xfrm>
            <a:off x="4772406" y="4225290"/>
            <a:ext cx="235663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across five domains</a:t>
            </a:r>
          </a:p>
        </p:txBody>
      </p:sp>
      <p:sp>
        <p:nvSpPr>
          <p:cNvPr id="16" name="Freeform 16"/>
          <p:cNvSpPr/>
          <p:nvPr/>
        </p:nvSpPr>
        <p:spPr>
          <a:xfrm>
            <a:off x="8267700" y="3143250"/>
            <a:ext cx="3238500" cy="1619250"/>
          </a:xfrm>
          <a:custGeom>
            <a:avLst/>
            <a:gdLst/>
            <a:ahLst/>
            <a:cxnLst/>
            <a:rect l="l" t="t" r="r" b="b"/>
            <a:pathLst>
              <a:path w="3238500" h="1619250">
                <a:moveTo>
                  <a:pt x="76200" y="0"/>
                </a:moveTo>
                <a:lnTo>
                  <a:pt x="3162300" y="0"/>
                </a:lnTo>
                <a:cubicBezTo>
                  <a:pt x="3204384" y="0"/>
                  <a:pt x="3238500" y="34116"/>
                  <a:pt x="3238500" y="76200"/>
                </a:cubicBezTo>
                <a:lnTo>
                  <a:pt x="3238500" y="1543050"/>
                </a:lnTo>
                <a:cubicBezTo>
                  <a:pt x="3238500" y="1585134"/>
                  <a:pt x="3204384" y="1619250"/>
                  <a:pt x="3162300" y="1619250"/>
                </a:cubicBezTo>
                <a:lnTo>
                  <a:pt x="76200" y="1619250"/>
                </a:lnTo>
                <a:cubicBezTo>
                  <a:pt x="34116" y="1619250"/>
                  <a:pt x="0" y="1585134"/>
                  <a:pt x="0" y="1543050"/>
                </a:cubicBezTo>
                <a:lnTo>
                  <a:pt x="0" y="76200"/>
                </a:lnTo>
                <a:cubicBezTo>
                  <a:pt x="0" y="34116"/>
                  <a:pt x="34116" y="0"/>
                  <a:pt x="76200" y="0"/>
                </a:cubicBezTo>
                <a:close/>
              </a:path>
            </a:pathLst>
          </a:custGeom>
          <a:solidFill>
            <a:srgbClr val="191919"/>
          </a:solidFill>
          <a:ln>
            <a:noFill/>
          </a:ln>
        </p:spPr>
        <p:txBody>
          <a:bodyPr/>
          <a:p/>
        </p:txBody>
      </p:sp>
      <p:sp>
        <p:nvSpPr>
          <p:cNvPr id="17" name="TextBox 17"/>
          <p:cNvSpPr txBox="1"/>
          <p:nvPr/>
        </p:nvSpPr>
        <p:spPr>
          <a:xfrm>
            <a:off x="8561070" y="3424238"/>
            <a:ext cx="2295794"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Contribution 3</a:t>
            </a:r>
          </a:p>
        </p:txBody>
      </p:sp>
      <p:sp>
        <p:nvSpPr>
          <p:cNvPr id="18" name="TextBox 18"/>
          <p:cNvSpPr txBox="1"/>
          <p:nvPr/>
        </p:nvSpPr>
        <p:spPr>
          <a:xfrm>
            <a:off x="8563356" y="3901440"/>
            <a:ext cx="2611069"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93.1% gap closed with</a:t>
            </a:r>
          </a:p>
        </p:txBody>
      </p:sp>
      <p:sp>
        <p:nvSpPr>
          <p:cNvPr id="19" name="TextBox 19"/>
          <p:cNvSpPr txBox="1"/>
          <p:nvPr/>
        </p:nvSpPr>
        <p:spPr>
          <a:xfrm>
            <a:off x="8563356" y="4225290"/>
            <a:ext cx="1968932"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clear limitations</a:t>
            </a:r>
          </a:p>
        </p:txBody>
      </p:sp>
      <p:sp>
        <p:nvSpPr>
          <p:cNvPr id="20" name="TextBox 20"/>
          <p:cNvSpPr txBox="1"/>
          <p:nvPr/>
        </p:nvSpPr>
        <p:spPr>
          <a:xfrm>
            <a:off x="676656" y="5520690"/>
            <a:ext cx="12547280"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Future work: stronger domain adaptation, validated online selection, and deeper F1-specific evaluation.</a:t>
            </a: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p/>
        </p:txBody>
      </p:sp>
      <p:sp>
        <p:nvSpPr>
          <p:cNvPr id="23" name="Codex page number"/>
          <p:cNvSpPr txBox="1"/>
          <p:nvPr/>
        </p:nvSpPr>
        <p:spPr>
          <a:xfrm>
            <a:off x="10991850" y="6619875"/>
            <a:ext cx="857250" cy="209550"/>
          </a:xfrm>
          <a:prstGeom prst="rect">
            <a:avLst/>
          </a:prstGeom>
          <a:noFill/>
        </p:spPr>
        <p:txBody>
          <a:bodyPr wrap="none" lIns="0" rIns="0" tIns="0" bIns="0" anchor="ctr">
            <a:spAutoFit/>
          </a:bodyPr>
          <a:lstStyle/>
          <a:p>
            <a:pPr algn="r"/>
            <a:r>
              <a:rPr sz="1000" b="0">
                <a:solidFill>
                  <a:srgbClr val="FFFFFF"/>
                </a:solidFill>
                <a:latin typeface="Arial"/>
              </a:rPr>
              <a:t>22/22</a:t>
            </a: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2428</Words>
  <Application>Microsoft Macintosh PowerPoint</Application>
  <PresentationFormat>Widescreen</PresentationFormat>
  <Paragraphs>306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Anthropic Sans</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2</cp:revision>
  <dcterms:created xsi:type="dcterms:W3CDTF">2026-06-30T17:56:25Z</dcterms:created>
  <dcterms:modified xsi:type="dcterms:W3CDTF">2026-07-01T07:22:15Z</dcterms:modified>
  <cp:category/>
  <cp:contentStatus/>
  <dc:language/>
</cp:coreProperties>
</file>