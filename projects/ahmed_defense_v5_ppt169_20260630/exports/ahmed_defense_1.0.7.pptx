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9"/>
    <p:sldId id="279"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730"/>
    <p:restoredTop sz="94658"/>
  </p:normalViewPr>
  <p:slideViewPr>
    <p:cSldViewPr snapToGrid="0" snapToObjects="1">
      <p:cViewPr varScale="1">
        <p:scale>
          <a:sx n="120" d="100"/>
          <a:sy n="120" d="100"/>
        </p:scale>
        <p:origin x="920"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29" Type="http://schemas.openxmlformats.org/officeDocument/2006/relationships/slide" Target="slides/slide23.xml"/><Relationship Id="rId30"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p:txBody>
          <a:bodyPr/>
          <a:lstStyle/>
          <a:p>
            <a:endParaRPr lang="en-US"/>
          </a:p>
        </p:txBody>
      </p:sp>
      <p:sp>
        <p:nvSpPr>
          <p:cNvPr id="3" name="Date Placeholder 2"/>
          <p:cNvSpPr>
            <a:spLocks noGrp="1"/>
          </p:cNvSpPr>
          <p:nvPr>
            <p:ph type="dt" sz="half" idx="1"/>
          </p:nvPr>
        </p:nvSpPr>
        <p:spPr/>
        <p:txBody>
          <a:bodyPr/>
          <a:lstStyle/>
          <a:p>
            <a:endParaRPr lang="en-US"/>
          </a:p>
        </p:txBody>
      </p:sp>
      <p:sp>
        <p:nvSpPr>
          <p:cNvPr id="4" name="Slide Image Placeholder 3"/>
          <p:cNvSpPr>
            <a:spLocks noGrp="1" noRot="1" noChangeAspect="1"/>
          </p:cNvSpPr>
          <p:nvPr>
            <p:ph type="sldImg" idx="2"/>
          </p:nvPr>
        </p:nvSpPr>
        <p:spPr/>
      </p:sp>
      <p:sp>
        <p:nvSpPr>
          <p:cNvPr id="5" name="Notes Placeholder 4"/>
          <p:cNvSpPr>
            <a:spLocks noGrp="1"/>
          </p:cNvSpPr>
          <p:nvPr>
            <p:ph type="body" sz="quarter" idx="3"/>
          </p:nvPr>
        </p:nvSpPr>
        <p:spPr/>
        <p:txBody>
          <a:bodyPr/>
          <a:lstStyle/>
          <a:p>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lang="en-US" sz="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thesis is about a small decision that happens before sorting: which implementation should we use for this input array. I will keep coming back to three numbers: the model closes 93.1 percent of the runtime gap, reaches 76.1 percent test accuracy, and makes zero-regret decisions for 89.6 percent of the test cases.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first explain the task and why it matters. Then I will explain the data, the extracted features, and the model. After that I will defend the result with runtime metrics, then show the limits and what I do not claim.</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task is not to invent a new sorting algorithm. The task is: given one array before sorting, choose introsort, heapsort, or timsort. The model sees cheap structural features and outputs one algorithm choice.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matters because the same input size can have different structure. A sorted-like array, random array, and duplicated array can reward different algorithms. So the useful target is not only classification accuracy; it is how much runtime loss we avoid compared with the best per-input choice.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 connects to algorithm selection, adaptive sorting, and learned performance prediction. I am not presenting literature as a separate survey. I use it to position the task: previous work gives the idea of selecting from features, and this thesis applies that idea to measured sorting behavior.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research question is whether simple array structure can predict the best sorting algorithm. I evaluate that question in two ways: whether the label is correct, and how expensive a mistake is when it is not correct.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was built from five domains: F1 telemetry, stock, crypto, earthquake, and weather. The reason for using multiple domains was to avoid building a selector that only understands one family of arrays.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domain, I generated transformed arrays and measured runtime across the three sorting algorithms. The label is not guessed; it is the fastest measured algorithm for that instance. The transformations create raw, reversed, shuffled, quantized, and partially sorted cases.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features are the bridge between the raw array and the model. They describe scale, order, duplicates, runs, inversions, and distribution. The important point is that these are structural features, not timing features.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prediction time, the selector cannot sort the array with all three algorithms and then choose the fastest. That would be the oracle, not a usable method. The selector must use cheaper information from the input before sorting.</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system is v5. It is one general XGBoost classifier trained across all domains and choosing among the three algorithms. The F1-specific route is separate and I will only mention it as a specialization, not the main result.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portfolio is deliberately limited to three real implementations: introsort, heapsort, and timsort. The model is not choosing from every sorting algorithm in theory. It is choosing from the measured implementations in this experiment.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model came after earlier paths were rejected. Regression was not strong enough, timing features were not deployable, and strict checks changed the interpretation. v5 became the main model because it gave the best practical balance under the submitted evaluation.</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SBS means one algorithm used for all test inputs. VBS means the fastest measured algorithm per input, which is an oracle for evaluation. The model is judged by how close it gets to VBS without having oracle information at prediction time.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result is runtime value: v5 closes 93.1 percent of the gap between SBS and VBS. Accuracy is 76.1 percent, but this does not tell the whole story. The zero-regret rate is 89.6 percent, which shows many decisions are either correct or not costly.</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why I do not defend the model only as a classifier. Some label mistakes happen between algorithms whose measured runtimes are very close. In those cases, the label is wrong, but the runtime regret is small.</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confusion matrix shows that timsort is often easier to identify when order signals are strong. The harder boundary is between introsort and heapsort because their runtime behavior is often closer. This is a limitation, but it is also why regret is necessary.</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importance shows that the model is using structural signals. This supports the method because the important features relate back to the properties that sorting algorithms react to: order, duplicates, distribution, and size.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Domain holdout is stricter because the held-out domain is unseen during training. The weighted gap closed is 79.7 percent. F1 is harder than the other domains, and that is why the F1-specific route exists separately.</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negative results are part of the rigor. v6 checked source-awareness, v7 showed that a regret-aware attempt did not improve the final result, and v8 showed that the intro-versus-heap boundary remains difficult. These results keep the claim measured.</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claim is that v5 closes most of the measured runtime gap with cheap structural features and known limitations. I do not claim a perfect classifier, I do not claim the F1 route is the main result, and I do not claim LinUCB is validated in this thesis.</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contribution is the framing, the data and feature pipeline, and the measured selector result. The future work is stronger domain adaptation, validated online selection, and deeper F1-specific evaluation.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6.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grpSp>
        <p:nvGrpSpPr>
          <p:cNvPr id="7" name="Group 7"/>
          <p:cNvGrpSpPr/>
          <p:nvPr/>
        </p:nvGrpSpPr>
        <p:grpSpPr>
          <a:xfrm>
            <a:off x="0" y="19812"/>
            <a:ext cx="12192000" cy="6858000"/>
            <a:chOff x="0" y="0"/>
            <a:chExt cx="12192000" cy="6858000"/>
          </a:xfrm>
        </p:grpSpPr>
        <p:sp>
          <p:nvSpPr>
            <p:cNvPr id="3" name="Rectangle 3"/>
            <p:cNvSpPr/>
            <p:nvPr/>
          </p:nvSpPr>
          <p:spPr>
            <a:xfrm>
              <a:off x="0" y="0"/>
              <a:ext cx="12192000" cy="6858000"/>
            </a:xfrm>
            <a:prstGeom prst="rect">
              <a:avLst/>
            </a:prstGeom>
            <a:solidFill>
              <a:srgbClr val="FFFFFF"/>
            </a:solidFill>
            <a:ln>
              <a:noFill/>
            </a:ln>
          </p:spPr>
        </p:sp>
        <p:sp>
          <p:nvSpPr>
            <p:cNvPr id="4" name="Freeform 4"/>
            <p:cNvSpPr/>
            <p:nvPr/>
          </p:nvSpPr>
          <p:spPr>
            <a:xfrm>
              <a:off x="0" y="0"/>
              <a:ext cx="12192000" cy="819150"/>
            </a:xfrm>
            <a:custGeom>
              <a:avLst/>
              <a:gdLst/>
              <a:ahLst/>
              <a:cxnLst/>
              <a:rect l="l" t="t" r="r" b="b"/>
              <a:pathLst>
                <a:path w="12192000" h="819150">
                  <a:moveTo>
                    <a:pt x="0" y="0"/>
                  </a:moveTo>
                  <a:lnTo>
                    <a:pt x="12192000" y="0"/>
                  </a:lnTo>
                  <a:lnTo>
                    <a:pt x="12192000" y="819150"/>
                  </a:lnTo>
                  <a:lnTo>
                    <a:pt x="0" y="819150"/>
                  </a:lnTo>
                  <a:close/>
                </a:path>
              </a:pathLst>
            </a:custGeom>
            <a:solidFill>
              <a:srgbClr val="8F1D3A"/>
            </a:solidFill>
            <a:ln>
              <a:noFill/>
            </a:ln>
          </p:spPr>
        </p:sp>
        <p:sp>
          <p:nvSpPr>
            <p:cNvPr id="5" name="Freeform 5"/>
            <p:cNvSpPr/>
            <p:nvPr/>
          </p:nvSpPr>
          <p:spPr>
            <a:xfrm>
              <a:off x="0" y="819150"/>
              <a:ext cx="12192000" cy="133350"/>
            </a:xfrm>
            <a:custGeom>
              <a:avLst/>
              <a:gdLst/>
              <a:ahLst/>
              <a:cxnLst/>
              <a:rect l="l" t="t" r="r" b="b"/>
              <a:pathLst>
                <a:path w="12192000" h="133350">
                  <a:moveTo>
                    <a:pt x="0" y="0"/>
                  </a:moveTo>
                  <a:lnTo>
                    <a:pt x="12192000" y="0"/>
                  </a:lnTo>
                  <a:lnTo>
                    <a:pt x="12192000" y="133350"/>
                  </a:lnTo>
                  <a:lnTo>
                    <a:pt x="0" y="133350"/>
                  </a:lnTo>
                  <a:close/>
                </a:path>
              </a:pathLst>
            </a:custGeom>
            <a:solidFill>
              <a:srgbClr val="F4511E"/>
            </a:solidFill>
            <a:ln>
              <a:noFill/>
            </a:ln>
          </p:spPr>
        </p:sp>
        <p:sp>
          <p:nvSpPr>
            <p:cNvPr id="6" name="Freeform 6"/>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sp>
      </p:grpSp>
      <p:pic>
        <p:nvPicPr>
          <p:cNvPr id="8" name="Image 8"/>
          <p:cNvPicPr>
            <a:picLocks noChangeAspect="1"/>
          </p:cNvPicPr>
          <p:nvPr/>
        </p:nvPicPr>
        <p:blipFill>
          <a:blip r:embed="rId3"/>
          <a:stretch>
            <a:fillRect/>
          </a:stretch>
        </p:blipFill>
        <p:spPr>
          <a:xfrm>
            <a:off x="10515600" y="114300"/>
            <a:ext cx="590550" cy="590550"/>
          </a:xfrm>
          <a:prstGeom prst="rect">
            <a:avLst/>
          </a:prstGeom>
        </p:spPr>
      </p:pic>
      <p:grpSp>
        <p:nvGrpSpPr>
          <p:cNvPr id="13" name="Group 13"/>
          <p:cNvGrpSpPr/>
          <p:nvPr/>
        </p:nvGrpSpPr>
        <p:grpSpPr>
          <a:xfrm>
            <a:off x="1066799" y="1658112"/>
            <a:ext cx="10058400" cy="1554194"/>
            <a:chOff x="1066800" y="2179606"/>
            <a:chExt cx="10058400" cy="1554194"/>
          </a:xfrm>
        </p:grpSpPr>
        <p:sp>
          <p:nvSpPr>
            <p:cNvPr id="9" name="TextBox 9"/>
            <p:cNvSpPr txBox="1"/>
            <p:nvPr/>
          </p:nvSpPr>
          <p:spPr>
            <a:xfrm>
              <a:off x="1691011" y="2179606"/>
              <a:ext cx="8809912" cy="738664"/>
            </a:xfrm>
            <a:prstGeom prst="rect">
              <a:avLst/>
            </a:prstGeom>
            <a:noFill/>
            <a:ln>
              <a:noFill/>
            </a:ln>
          </p:spPr>
          <p:txBody>
            <a:bodyPr wrap="none" lIns="0" tIns="0" rIns="0" bIns="0" anchor="t" anchorCtr="0">
              <a:spAutoFit/>
            </a:bodyPr>
            <a:lstStyle/>
            <a:p>
              <a:pPr algn="ctr"/>
              <a:r>
                <a:rPr lang="en-US" sz="2400" b="1" dirty="0">
                  <a:solidFill>
                    <a:srgbClr val="191919"/>
                  </a:solidFill>
                  <a:latin typeface="Arial"/>
                  <a:ea typeface="Arial"/>
                  <a:cs typeface="Arial"/>
                </a:rPr>
                <a:t>MACHINE LEARNING BASED ALGORITHM SELECTION FOR</a:t>
              </a:r>
            </a:p>
            <a:p>
              <a:pPr algn="ctr"/>
              <a:endParaRPr lang="en-US" sz="2400" b="1" dirty="0">
                <a:solidFill>
                  <a:srgbClr val="191919"/>
                </a:solidFill>
                <a:latin typeface="Arial"/>
                <a:ea typeface="Arial"/>
                <a:cs typeface="Arial"/>
              </a:endParaRPr>
            </a:p>
          </p:txBody>
        </p:sp>
        <p:sp>
          <p:nvSpPr>
            <p:cNvPr id="10" name="TextBox 10"/>
            <p:cNvSpPr txBox="1"/>
            <p:nvPr/>
          </p:nvSpPr>
          <p:spPr>
            <a:xfrm>
              <a:off x="6095967" y="2407920"/>
              <a:ext cx="64" cy="369332"/>
            </a:xfrm>
            <a:prstGeom prst="rect">
              <a:avLst/>
            </a:prstGeom>
            <a:noFill/>
            <a:ln>
              <a:noFill/>
            </a:ln>
          </p:spPr>
          <p:txBody>
            <a:bodyPr wrap="none" lIns="0" tIns="0" rIns="0" bIns="0" anchor="t" anchorCtr="0">
              <a:spAutoFit/>
            </a:bodyPr>
            <a:lstStyle/>
            <a:p>
              <a:pPr algn="ctr"/>
              <a:endParaRPr lang="en-US" sz="2400" b="1" dirty="0">
                <a:solidFill>
                  <a:srgbClr val="191919"/>
                </a:solidFill>
                <a:latin typeface="Arial"/>
                <a:ea typeface="Arial"/>
                <a:cs typeface="Arial"/>
              </a:endParaRPr>
            </a:p>
          </p:txBody>
        </p:sp>
        <p:sp>
          <p:nvSpPr>
            <p:cNvPr id="11" name="TextBox 11"/>
            <p:cNvSpPr txBox="1"/>
            <p:nvPr/>
          </p:nvSpPr>
          <p:spPr>
            <a:xfrm>
              <a:off x="3470648" y="2817829"/>
              <a:ext cx="5250637" cy="469392"/>
            </a:xfrm>
            <a:prstGeom prst="rect">
              <a:avLst/>
            </a:prstGeom>
            <a:noFill/>
            <a:ln>
              <a:noFill/>
            </a:ln>
          </p:spPr>
          <p:txBody>
            <a:bodyPr wrap="none" lIns="0" tIns="0" rIns="0" bIns="0" anchor="t" anchorCtr="0">
              <a:spAutoFit/>
            </a:bodyPr>
            <a:lstStyle/>
            <a:p>
              <a:pPr algn="ctr"/>
              <a:r>
                <a:rPr lang="en-US" sz="2400" b="1" dirty="0">
                  <a:solidFill>
                    <a:srgbClr val="191919"/>
                  </a:solidFill>
                  <a:latin typeface="Arial"/>
                  <a:ea typeface="Arial"/>
                  <a:cs typeface="Arial"/>
                </a:rPr>
                <a:t>SORTING NUMERIC ARRAYS</a:t>
              </a:r>
            </a:p>
          </p:txBody>
        </p:sp>
        <p:sp>
          <p:nvSpPr>
            <p:cNvPr id="12" name="Rectangle 12"/>
            <p:cNvSpPr/>
            <p:nvPr/>
          </p:nvSpPr>
          <p:spPr>
            <a:xfrm>
              <a:off x="1066800" y="3714750"/>
              <a:ext cx="10058400" cy="19050"/>
            </a:xfrm>
            <a:prstGeom prst="rect">
              <a:avLst/>
            </a:prstGeom>
            <a:solidFill>
              <a:srgbClr val="8F1D3A"/>
            </a:solidFill>
            <a:ln>
              <a:noFill/>
            </a:ln>
          </p:spPr>
        </p:sp>
      </p:grpSp>
      <p:grpSp>
        <p:nvGrpSpPr>
          <p:cNvPr id="18" name="Group 18"/>
          <p:cNvGrpSpPr/>
          <p:nvPr/>
        </p:nvGrpSpPr>
        <p:grpSpPr>
          <a:xfrm>
            <a:off x="3234551" y="3728513"/>
            <a:ext cx="5486733" cy="1496377"/>
            <a:chOff x="3352633" y="4649629"/>
            <a:chExt cx="5486733" cy="1496377"/>
          </a:xfrm>
        </p:grpSpPr>
        <p:sp>
          <p:nvSpPr>
            <p:cNvPr id="14" name="TextBox 14"/>
            <p:cNvSpPr txBox="1"/>
            <p:nvPr/>
          </p:nvSpPr>
          <p:spPr>
            <a:xfrm>
              <a:off x="5394030" y="4649629"/>
              <a:ext cx="1403939"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Presented by</a:t>
              </a:r>
            </a:p>
          </p:txBody>
        </p:sp>
        <p:sp>
          <p:nvSpPr>
            <p:cNvPr id="15" name="TextBox 15"/>
            <p:cNvSpPr txBox="1"/>
            <p:nvPr/>
          </p:nvSpPr>
          <p:spPr>
            <a:xfrm>
              <a:off x="3352633" y="4941094"/>
              <a:ext cx="5486733" cy="366712"/>
            </a:xfrm>
            <a:prstGeom prst="rect">
              <a:avLst/>
            </a:prstGeom>
            <a:noFill/>
            <a:ln>
              <a:noFill/>
            </a:ln>
          </p:spPr>
          <p:txBody>
            <a:bodyPr wrap="none" lIns="0" tIns="0" rIns="0" bIns="0" anchor="t" anchorCtr="0">
              <a:spAutoFit/>
            </a:bodyPr>
            <a:lstStyle/>
            <a:p>
              <a:pPr algn="ctr"/>
              <a:r>
                <a:rPr lang="en-US" sz="1880" b="1" dirty="0">
                  <a:solidFill>
                    <a:srgbClr val="191919"/>
                  </a:solidFill>
                  <a:latin typeface="Anthropic Sans"/>
                  <a:ea typeface="Anthropic Sans"/>
                  <a:cs typeface="Anthropic Sans"/>
                </a:rPr>
                <a:t>AHMED SALAH ABDALHI MOHAMMED</a:t>
              </a:r>
            </a:p>
          </p:txBody>
        </p:sp>
        <p:sp>
          <p:nvSpPr>
            <p:cNvPr id="16" name="TextBox 16"/>
            <p:cNvSpPr txBox="1"/>
            <p:nvPr/>
          </p:nvSpPr>
          <p:spPr>
            <a:xfrm>
              <a:off x="5363058" y="5487829"/>
              <a:ext cx="1465883"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Supervised by</a:t>
              </a:r>
            </a:p>
          </p:txBody>
        </p:sp>
        <p:sp>
          <p:nvSpPr>
            <p:cNvPr id="17" name="TextBox 17"/>
            <p:cNvSpPr txBox="1"/>
            <p:nvPr/>
          </p:nvSpPr>
          <p:spPr>
            <a:xfrm>
              <a:off x="3995259" y="5779294"/>
              <a:ext cx="4201482" cy="366712"/>
            </a:xfrm>
            <a:prstGeom prst="rect">
              <a:avLst/>
            </a:prstGeom>
            <a:noFill/>
            <a:ln>
              <a:noFill/>
            </a:ln>
          </p:spPr>
          <p:txBody>
            <a:bodyPr wrap="none" lIns="0" tIns="0" rIns="0" bIns="0" anchor="t" anchorCtr="0">
              <a:spAutoFit/>
            </a:bodyPr>
            <a:lstStyle/>
            <a:p>
              <a:pPr algn="ctr"/>
              <a:r>
                <a:rPr lang="en-US" sz="1880" b="1" dirty="0">
                  <a:solidFill>
                    <a:srgbClr val="191919"/>
                  </a:solidFill>
                  <a:latin typeface="Anthropic Sans"/>
                  <a:ea typeface="Anthropic Sans"/>
                  <a:cs typeface="Anthropic Sans"/>
                </a:rPr>
                <a:t>Assoc. Prof. Dr. Emre Özbilge</a:t>
              </a:r>
            </a:p>
          </p:txBody>
        </p:sp>
      </p:grpSp>
      <p:sp>
        <p:nvSpPr>
          <p:cNvPr id="19" name="Rectangle 18"/>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1/24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350"/>
                                        <p:tgtEl>
                                          <p:spTgt spid="13"/>
                                        </p:tgtEl>
                                      </p:cBhvr>
                                    </p:animEffect>
                                  </p:childTnLst>
                                </p:cTn>
                              </p:par>
                            </p:childTnLst>
                          </p:cTn>
                        </p:par>
                        <p:par>
                          <p:cTn id="8" fill="hold">
                            <p:stCondLst>
                              <p:cond delay="470"/>
                            </p:stCondLst>
                            <p:childTnLst>
                              <p:par>
                                <p:cTn id="9" presetID="22" presetClass="entr" presetSubtype="1"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ipe(left)">
                                      <p:cBhvr>
                                        <p:cTn id="11" dur="3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26" name="Freeform 26"/>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8" name="Slide title - Presentation Outline"/>
          <p:cNvSpPr txBox="1"/>
          <p:nvPr/>
        </p:nvSpPr>
        <p:spPr>
          <a:xfrm>
            <a:off x="647700" y="533400"/>
            <a:ext cx="5905500" cy="457200"/>
          </a:xfrm>
          <a:prstGeom prst="rect">
            <a:avLst/>
          </a:prstGeom>
          <a:noFill/>
        </p:spPr>
        <p:txBody>
          <a:bodyPr wrap="none" lIns="0" tIns="0" rIns="0" bIns="0">
            <a:spAutoFit/>
          </a:bodyPr>
          <a:lstStyle/>
          <a:p>
            <a:pPr algn="l"/>
            <a:r>
              <a:rPr sz="2800" b="1">
                <a:solidFill>
                  <a:srgbClr val="191919"/>
                </a:solidFill>
                <a:latin typeface="Arial"/>
              </a:rPr>
              <a:t>Presentation Outline</a:t>
            </a:r>
          </a:p>
        </p:txBody>
      </p:sp>
      <p:sp>
        <p:nvSpPr>
          <p:cNvPr id="29" name="Outline horizontal rule"/>
          <p:cNvSpPr/>
          <p:nvPr/>
        </p:nvSpPr>
        <p:spPr>
          <a:xfrm>
            <a:off x="647700" y="1123950"/>
            <a:ext cx="10896600" cy="13335"/>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utline number 01"/>
          <p:cNvSpPr txBox="1"/>
          <p:nvPr/>
        </p:nvSpPr>
        <p:spPr>
          <a:xfrm>
            <a:off x="1123950" y="1733550"/>
            <a:ext cx="552450" cy="285750"/>
          </a:xfrm>
          <a:prstGeom prst="rect">
            <a:avLst/>
          </a:prstGeom>
          <a:noFill/>
        </p:spPr>
        <p:txBody>
          <a:bodyPr wrap="none" lIns="0" tIns="0" rIns="0" bIns="0">
            <a:spAutoFit/>
          </a:bodyPr>
          <a:lstStyle/>
          <a:p>
            <a:pPr algn="l"/>
            <a:r>
              <a:rPr sz="1500" b="1">
                <a:solidFill>
                  <a:srgbClr val="8F1D3A"/>
                </a:solidFill>
                <a:latin typeface="Arial"/>
              </a:rPr>
              <a:t>01</a:t>
            </a:r>
          </a:p>
        </p:txBody>
      </p:sp>
      <p:sp>
        <p:nvSpPr>
          <p:cNvPr id="31" name="Outline item 01"/>
          <p:cNvSpPr txBox="1"/>
          <p:nvPr/>
        </p:nvSpPr>
        <p:spPr>
          <a:xfrm>
            <a:off x="1809750" y="1695450"/>
            <a:ext cx="4191000" cy="400050"/>
          </a:xfrm>
          <a:prstGeom prst="rect">
            <a:avLst/>
          </a:prstGeom>
          <a:noFill/>
        </p:spPr>
        <p:txBody>
          <a:bodyPr wrap="none" lIns="0" tIns="0" rIns="0" bIns="0">
            <a:spAutoFit/>
          </a:bodyPr>
          <a:lstStyle/>
          <a:p>
            <a:pPr algn="l"/>
            <a:r>
              <a:rPr sz="2000" b="1">
                <a:solidFill>
                  <a:srgbClr val="191919"/>
                </a:solidFill>
                <a:latin typeface="Arial"/>
              </a:rPr>
              <a:t>Algorithm Selection Problem</a:t>
            </a:r>
          </a:p>
        </p:txBody>
      </p:sp>
      <p:sp>
        <p:nvSpPr>
          <p:cNvPr id="32" name="Outline item rule 01"/>
          <p:cNvSpPr/>
          <p:nvPr/>
        </p:nvSpPr>
        <p:spPr>
          <a:xfrm>
            <a:off x="1809750" y="22098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utline number 02"/>
          <p:cNvSpPr txBox="1"/>
          <p:nvPr/>
        </p:nvSpPr>
        <p:spPr>
          <a:xfrm>
            <a:off x="1123950" y="2857500"/>
            <a:ext cx="552450" cy="285750"/>
          </a:xfrm>
          <a:prstGeom prst="rect">
            <a:avLst/>
          </a:prstGeom>
          <a:noFill/>
        </p:spPr>
        <p:txBody>
          <a:bodyPr wrap="none" lIns="0" tIns="0" rIns="0" bIns="0">
            <a:spAutoFit/>
          </a:bodyPr>
          <a:lstStyle/>
          <a:p>
            <a:pPr algn="l"/>
            <a:r>
              <a:rPr sz="1500" b="1">
                <a:solidFill>
                  <a:srgbClr val="8F1D3A"/>
                </a:solidFill>
                <a:latin typeface="Arial"/>
              </a:rPr>
              <a:t>02</a:t>
            </a:r>
          </a:p>
        </p:txBody>
      </p:sp>
      <p:sp>
        <p:nvSpPr>
          <p:cNvPr id="34" name="Outline item 02"/>
          <p:cNvSpPr txBox="1"/>
          <p:nvPr/>
        </p:nvSpPr>
        <p:spPr>
          <a:xfrm>
            <a:off x="1809750" y="2819400"/>
            <a:ext cx="4191000" cy="400050"/>
          </a:xfrm>
          <a:prstGeom prst="rect">
            <a:avLst/>
          </a:prstGeom>
          <a:noFill/>
        </p:spPr>
        <p:txBody>
          <a:bodyPr wrap="none" lIns="0" tIns="0" rIns="0" bIns="0">
            <a:spAutoFit/>
          </a:bodyPr>
          <a:lstStyle/>
          <a:p>
            <a:pPr algn="l"/>
            <a:r>
              <a:rPr sz="2000" b="1">
                <a:solidFill>
                  <a:srgbClr val="191919"/>
                </a:solidFill>
                <a:latin typeface="Arial"/>
              </a:rPr>
              <a:t>Motivation for Sorting Selection</a:t>
            </a:r>
          </a:p>
        </p:txBody>
      </p:sp>
      <p:sp>
        <p:nvSpPr>
          <p:cNvPr id="35" name="Outline item rule 02"/>
          <p:cNvSpPr/>
          <p:nvPr/>
        </p:nvSpPr>
        <p:spPr>
          <a:xfrm>
            <a:off x="1809750" y="333375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utline number 03"/>
          <p:cNvSpPr txBox="1"/>
          <p:nvPr/>
        </p:nvSpPr>
        <p:spPr>
          <a:xfrm>
            <a:off x="1123950" y="3981450"/>
            <a:ext cx="552450" cy="285750"/>
          </a:xfrm>
          <a:prstGeom prst="rect">
            <a:avLst/>
          </a:prstGeom>
          <a:noFill/>
        </p:spPr>
        <p:txBody>
          <a:bodyPr wrap="none" lIns="0" tIns="0" rIns="0" bIns="0">
            <a:spAutoFit/>
          </a:bodyPr>
          <a:lstStyle/>
          <a:p>
            <a:pPr algn="l"/>
            <a:r>
              <a:rPr sz="1500" b="1">
                <a:solidFill>
                  <a:srgbClr val="8F1D3A"/>
                </a:solidFill>
                <a:latin typeface="Arial"/>
              </a:rPr>
              <a:t>03</a:t>
            </a:r>
          </a:p>
        </p:txBody>
      </p:sp>
      <p:sp>
        <p:nvSpPr>
          <p:cNvPr id="37" name="Outline item 03"/>
          <p:cNvSpPr txBox="1"/>
          <p:nvPr/>
        </p:nvSpPr>
        <p:spPr>
          <a:xfrm>
            <a:off x="1809750" y="3943350"/>
            <a:ext cx="4191000" cy="400050"/>
          </a:xfrm>
          <a:prstGeom prst="rect">
            <a:avLst/>
          </a:prstGeom>
          <a:noFill/>
        </p:spPr>
        <p:txBody>
          <a:bodyPr wrap="none" lIns="0" tIns="0" rIns="0" bIns="0">
            <a:spAutoFit/>
          </a:bodyPr>
          <a:lstStyle/>
          <a:p>
            <a:pPr algn="l"/>
            <a:r>
              <a:rPr sz="2000" b="1">
                <a:solidFill>
                  <a:srgbClr val="191919"/>
                </a:solidFill>
                <a:latin typeface="Arial"/>
              </a:rPr>
              <a:t>Dataset and Feature Extraction</a:t>
            </a:r>
          </a:p>
        </p:txBody>
      </p:sp>
      <p:sp>
        <p:nvSpPr>
          <p:cNvPr id="38" name="Outline item rule 03"/>
          <p:cNvSpPr/>
          <p:nvPr/>
        </p:nvSpPr>
        <p:spPr>
          <a:xfrm>
            <a:off x="1809750" y="44577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utline number 04"/>
          <p:cNvSpPr txBox="1"/>
          <p:nvPr/>
        </p:nvSpPr>
        <p:spPr>
          <a:xfrm>
            <a:off x="6496050" y="1733550"/>
            <a:ext cx="552450" cy="285750"/>
          </a:xfrm>
          <a:prstGeom prst="rect">
            <a:avLst/>
          </a:prstGeom>
          <a:noFill/>
        </p:spPr>
        <p:txBody>
          <a:bodyPr wrap="none" lIns="0" tIns="0" rIns="0" bIns="0">
            <a:spAutoFit/>
          </a:bodyPr>
          <a:lstStyle/>
          <a:p>
            <a:pPr algn="l"/>
            <a:r>
              <a:rPr sz="1500" b="1">
                <a:solidFill>
                  <a:srgbClr val="8F1D3A"/>
                </a:solidFill>
                <a:latin typeface="Arial"/>
              </a:rPr>
              <a:t>04</a:t>
            </a:r>
          </a:p>
        </p:txBody>
      </p:sp>
      <p:sp>
        <p:nvSpPr>
          <p:cNvPr id="40" name="Outline item 04"/>
          <p:cNvSpPr txBox="1"/>
          <p:nvPr/>
        </p:nvSpPr>
        <p:spPr>
          <a:xfrm>
            <a:off x="7181850" y="1695450"/>
            <a:ext cx="4191000" cy="400050"/>
          </a:xfrm>
          <a:prstGeom prst="rect">
            <a:avLst/>
          </a:prstGeom>
          <a:noFill/>
        </p:spPr>
        <p:txBody>
          <a:bodyPr wrap="none" lIns="0" tIns="0" rIns="0" bIns="0">
            <a:spAutoFit/>
          </a:bodyPr>
          <a:lstStyle/>
          <a:p>
            <a:pPr algn="l"/>
            <a:r>
              <a:rPr sz="2000" b="1">
                <a:solidFill>
                  <a:srgbClr val="191919"/>
                </a:solidFill>
                <a:latin typeface="Arial"/>
              </a:rPr>
              <a:t>Model Development</a:t>
            </a:r>
          </a:p>
        </p:txBody>
      </p:sp>
      <p:sp>
        <p:nvSpPr>
          <p:cNvPr id="41" name="Outline item rule 04"/>
          <p:cNvSpPr/>
          <p:nvPr/>
        </p:nvSpPr>
        <p:spPr>
          <a:xfrm>
            <a:off x="7181850" y="22098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utline number 05"/>
          <p:cNvSpPr txBox="1"/>
          <p:nvPr/>
        </p:nvSpPr>
        <p:spPr>
          <a:xfrm>
            <a:off x="6496050" y="2857500"/>
            <a:ext cx="552450" cy="285750"/>
          </a:xfrm>
          <a:prstGeom prst="rect">
            <a:avLst/>
          </a:prstGeom>
          <a:noFill/>
        </p:spPr>
        <p:txBody>
          <a:bodyPr wrap="none" lIns="0" tIns="0" rIns="0" bIns="0">
            <a:spAutoFit/>
          </a:bodyPr>
          <a:lstStyle/>
          <a:p>
            <a:pPr algn="l"/>
            <a:r>
              <a:rPr sz="1500" b="1">
                <a:solidFill>
                  <a:srgbClr val="8F1D3A"/>
                </a:solidFill>
                <a:latin typeface="Arial"/>
              </a:rPr>
              <a:t>05</a:t>
            </a:r>
          </a:p>
        </p:txBody>
      </p:sp>
      <p:sp>
        <p:nvSpPr>
          <p:cNvPr id="43" name="Outline item 05"/>
          <p:cNvSpPr txBox="1"/>
          <p:nvPr/>
        </p:nvSpPr>
        <p:spPr>
          <a:xfrm>
            <a:off x="7181850" y="2819400"/>
            <a:ext cx="4191000" cy="400050"/>
          </a:xfrm>
          <a:prstGeom prst="rect">
            <a:avLst/>
          </a:prstGeom>
          <a:noFill/>
        </p:spPr>
        <p:txBody>
          <a:bodyPr wrap="none" lIns="0" tIns="0" rIns="0" bIns="0">
            <a:spAutoFit/>
          </a:bodyPr>
          <a:lstStyle/>
          <a:p>
            <a:pPr algn="l"/>
            <a:r>
              <a:rPr sz="2000" b="1">
                <a:solidFill>
                  <a:srgbClr val="191919"/>
                </a:solidFill>
                <a:latin typeface="Arial"/>
              </a:rPr>
              <a:t>Evaluation and Results</a:t>
            </a:r>
          </a:p>
        </p:txBody>
      </p:sp>
      <p:sp>
        <p:nvSpPr>
          <p:cNvPr id="44" name="Outline item rule 05"/>
          <p:cNvSpPr/>
          <p:nvPr/>
        </p:nvSpPr>
        <p:spPr>
          <a:xfrm>
            <a:off x="7181850" y="333375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utline number 06"/>
          <p:cNvSpPr txBox="1"/>
          <p:nvPr/>
        </p:nvSpPr>
        <p:spPr>
          <a:xfrm>
            <a:off x="6496050" y="3981450"/>
            <a:ext cx="552450" cy="285750"/>
          </a:xfrm>
          <a:prstGeom prst="rect">
            <a:avLst/>
          </a:prstGeom>
          <a:noFill/>
        </p:spPr>
        <p:txBody>
          <a:bodyPr wrap="none" lIns="0" tIns="0" rIns="0" bIns="0">
            <a:spAutoFit/>
          </a:bodyPr>
          <a:lstStyle/>
          <a:p>
            <a:pPr algn="l"/>
            <a:r>
              <a:rPr sz="1500" b="1">
                <a:solidFill>
                  <a:srgbClr val="8F1D3A"/>
                </a:solidFill>
                <a:latin typeface="Arial"/>
              </a:rPr>
              <a:t>06</a:t>
            </a:r>
          </a:p>
        </p:txBody>
      </p:sp>
      <p:sp>
        <p:nvSpPr>
          <p:cNvPr id="46" name="Outline item 06"/>
          <p:cNvSpPr txBox="1"/>
          <p:nvPr/>
        </p:nvSpPr>
        <p:spPr>
          <a:xfrm>
            <a:off x="7181850" y="3943350"/>
            <a:ext cx="4191000" cy="400050"/>
          </a:xfrm>
          <a:prstGeom prst="rect">
            <a:avLst/>
          </a:prstGeom>
          <a:noFill/>
        </p:spPr>
        <p:txBody>
          <a:bodyPr wrap="none" lIns="0" tIns="0" rIns="0" bIns="0">
            <a:spAutoFit/>
          </a:bodyPr>
          <a:lstStyle/>
          <a:p>
            <a:pPr algn="l"/>
            <a:r>
              <a:rPr sz="2000" b="1">
                <a:solidFill>
                  <a:srgbClr val="191919"/>
                </a:solidFill>
                <a:latin typeface="Arial"/>
              </a:rPr>
              <a:t>Limitations and Future Work</a:t>
            </a:r>
          </a:p>
        </p:txBody>
      </p:sp>
      <p:sp>
        <p:nvSpPr>
          <p:cNvPr id="47" name="Outline item rule 06"/>
          <p:cNvSpPr/>
          <p:nvPr/>
        </p:nvSpPr>
        <p:spPr>
          <a:xfrm>
            <a:off x="7181850" y="44577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utline research spine"/>
          <p:cNvSpPr/>
          <p:nvPr/>
        </p:nvSpPr>
        <p:spPr>
          <a:xfrm>
            <a:off x="762000" y="1676400"/>
            <a:ext cx="28575" cy="28003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utline spine marker"/>
          <p:cNvSpPr/>
          <p:nvPr/>
        </p:nvSpPr>
        <p:spPr>
          <a:xfrm>
            <a:off x="704850" y="177165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utline spine marker"/>
          <p:cNvSpPr/>
          <p:nvPr/>
        </p:nvSpPr>
        <p:spPr>
          <a:xfrm>
            <a:off x="704850" y="289560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utline spine marker"/>
          <p:cNvSpPr/>
          <p:nvPr/>
        </p:nvSpPr>
        <p:spPr>
          <a:xfrm>
            <a:off x="704850" y="401955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2/24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Freeform 5"/>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grpSp>
        <p:nvGrpSpPr>
          <p:cNvPr id="23" name="Group 23"/>
          <p:cNvGrpSpPr/>
          <p:nvPr/>
        </p:nvGrpSpPr>
        <p:grpSpPr>
          <a:xfrm>
            <a:off x="552450" y="1104900"/>
            <a:ext cx="2844241" cy="3257550"/>
            <a:chOff x="552450" y="1104900"/>
            <a:chExt cx="2844241" cy="3257550"/>
          </a:xfrm>
        </p:grpSpPr>
        <p:sp>
          <p:nvSpPr>
            <p:cNvPr id="6" name="Freeform 6"/>
            <p:cNvSpPr/>
            <p:nvPr/>
          </p:nvSpPr>
          <p:spPr>
            <a:xfrm>
              <a:off x="552450" y="1104900"/>
              <a:ext cx="2381250" cy="3257550"/>
            </a:xfrm>
            <a:custGeom>
              <a:avLst/>
              <a:gdLst/>
              <a:ahLst/>
              <a:cxnLst/>
              <a:rect l="l" t="t" r="r" b="b"/>
              <a:pathLst>
                <a:path w="2381250" h="3257550">
                  <a:moveTo>
                    <a:pt x="95250" y="0"/>
                  </a:moveTo>
                  <a:lnTo>
                    <a:pt x="2286000" y="0"/>
                  </a:lnTo>
                  <a:cubicBezTo>
                    <a:pt x="2338605" y="0"/>
                    <a:pt x="2381250" y="42645"/>
                    <a:pt x="2381250" y="95250"/>
                  </a:cubicBezTo>
                  <a:lnTo>
                    <a:pt x="2381250" y="3162300"/>
                  </a:lnTo>
                  <a:cubicBezTo>
                    <a:pt x="2381250" y="3214905"/>
                    <a:pt x="2338605" y="3257550"/>
                    <a:pt x="228600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7" name="Rectangle 7"/>
            <p:cNvSpPr/>
            <p:nvPr/>
          </p:nvSpPr>
          <p:spPr>
            <a:xfrm>
              <a:off x="552450" y="1104900"/>
              <a:ext cx="2381250" cy="476250"/>
            </a:xfrm>
            <a:prstGeom prst="rect">
              <a:avLst/>
            </a:prstGeom>
            <a:solidFill>
              <a:srgbClr val="F8FAFC"/>
            </a:solidFill>
            <a:ln w="9525">
              <a:solidFill>
                <a:srgbClr val="CBD5E1"/>
              </a:solidFill>
            </a:ln>
          </p:spPr>
        </p:sp>
        <p:sp>
          <p:nvSpPr>
            <p:cNvPr id="8" name="TextBox 8"/>
            <p:cNvSpPr txBox="1"/>
            <p:nvPr/>
          </p:nvSpPr>
          <p:spPr>
            <a:xfrm>
              <a:off x="876501" y="1257300"/>
              <a:ext cx="1733147"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Problem space P</a:t>
              </a:r>
            </a:p>
          </p:txBody>
        </p:sp>
        <p:sp>
          <p:nvSpPr>
            <p:cNvPr id="9" name="TextBox 9"/>
            <p:cNvSpPr txBox="1"/>
            <p:nvPr/>
          </p:nvSpPr>
          <p:spPr>
            <a:xfrm>
              <a:off x="831342" y="1778318"/>
              <a:ext cx="1258614" cy="264033"/>
            </a:xfrm>
            <a:prstGeom prst="rect">
              <a:avLst/>
            </a:prstGeom>
            <a:noFill/>
            <a:ln>
              <a:noFill/>
            </a:ln>
          </p:spPr>
          <p:txBody>
            <a:bodyPr wrap="none" lIns="0" tIns="0" rIns="0" bIns="0" anchor="t" anchorCtr="0">
              <a:spAutoFit/>
            </a:bodyPr>
            <a:lstStyle/>
            <a:p>
              <a:pPr algn="l"/>
              <a:r>
                <a:rPr lang="en-US" sz="1350" dirty="0">
                  <a:solidFill>
                    <a:srgbClr val="64748B"/>
                  </a:solidFill>
                  <a:latin typeface="Anthropic Sans"/>
                  <a:ea typeface="Anthropic Sans"/>
                  <a:cs typeface="Anthropic Sans"/>
                </a:rPr>
                <a:t>numeric array</a:t>
              </a:r>
            </a:p>
          </p:txBody>
        </p:sp>
        <p:sp>
          <p:nvSpPr>
            <p:cNvPr id="10" name="TextBox 10"/>
            <p:cNvSpPr txBox="1"/>
            <p:nvPr/>
          </p:nvSpPr>
          <p:spPr>
            <a:xfrm>
              <a:off x="832485" y="2126456"/>
              <a:ext cx="148804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Consolas"/>
                  <a:ea typeface="Consolas"/>
                  <a:cs typeface="Consolas"/>
                </a:rPr>
                <a:t>[4, 5, 5, 6, 17, 18,</a:t>
              </a:r>
            </a:p>
          </p:txBody>
        </p:sp>
        <p:sp>
          <p:nvSpPr>
            <p:cNvPr id="11" name="TextBox 11"/>
            <p:cNvSpPr txBox="1"/>
            <p:nvPr/>
          </p:nvSpPr>
          <p:spPr>
            <a:xfrm>
              <a:off x="832485" y="2355056"/>
              <a:ext cx="148804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Consolas"/>
                  <a:ea typeface="Consolas"/>
                  <a:cs typeface="Consolas"/>
                </a:rPr>
                <a:t>19, 2, 2, 3, 31, 45]</a:t>
              </a:r>
            </a:p>
          </p:txBody>
        </p:sp>
        <p:sp>
          <p:nvSpPr>
            <p:cNvPr id="12" name="Line 12"/>
            <p:cNvSpPr/>
            <p:nvPr/>
          </p:nvSpPr>
          <p:spPr>
            <a:xfrm>
              <a:off x="838200" y="2886075"/>
              <a:ext cx="1809750" cy="9525"/>
            </a:xfrm>
            <a:custGeom>
              <a:avLst/>
              <a:gdLst/>
              <a:ahLst/>
              <a:cxnLst/>
              <a:rect l="l" t="t" r="r" b="b"/>
              <a:pathLst>
                <a:path w="1809750" h="9525">
                  <a:moveTo>
                    <a:pt x="0" y="0"/>
                  </a:moveTo>
                  <a:lnTo>
                    <a:pt x="1809750" y="0"/>
                  </a:lnTo>
                </a:path>
              </a:pathLst>
            </a:custGeom>
            <a:noFill/>
            <a:ln w="9525">
              <a:solidFill>
                <a:srgbClr val="E2E8F0"/>
              </a:solidFill>
            </a:ln>
          </p:spPr>
        </p:sp>
        <p:sp>
          <p:nvSpPr>
            <p:cNvPr id="13" name="Rectangle 13"/>
            <p:cNvSpPr/>
            <p:nvPr/>
          </p:nvSpPr>
          <p:spPr>
            <a:xfrm>
              <a:off x="857250" y="3105150"/>
              <a:ext cx="142875" cy="209550"/>
            </a:xfrm>
            <a:prstGeom prst="rect">
              <a:avLst/>
            </a:prstGeom>
            <a:solidFill>
              <a:srgbClr val="E2E8F0"/>
            </a:solidFill>
            <a:ln>
              <a:noFill/>
            </a:ln>
          </p:spPr>
        </p:sp>
        <p:sp>
          <p:nvSpPr>
            <p:cNvPr id="14" name="Rectangle 14"/>
            <p:cNvSpPr/>
            <p:nvPr/>
          </p:nvSpPr>
          <p:spPr>
            <a:xfrm>
              <a:off x="1066800" y="3067050"/>
              <a:ext cx="142875" cy="247650"/>
            </a:xfrm>
            <a:prstGeom prst="rect">
              <a:avLst/>
            </a:prstGeom>
            <a:solidFill>
              <a:srgbClr val="E2E8F0"/>
            </a:solidFill>
            <a:ln>
              <a:noFill/>
            </a:ln>
          </p:spPr>
        </p:sp>
        <p:sp>
          <p:nvSpPr>
            <p:cNvPr id="15" name="Rectangle 15"/>
            <p:cNvSpPr/>
            <p:nvPr/>
          </p:nvSpPr>
          <p:spPr>
            <a:xfrm>
              <a:off x="1276350" y="3067050"/>
              <a:ext cx="142875" cy="247650"/>
            </a:xfrm>
            <a:prstGeom prst="rect">
              <a:avLst/>
            </a:prstGeom>
            <a:solidFill>
              <a:srgbClr val="E2E8F0"/>
            </a:solidFill>
            <a:ln>
              <a:noFill/>
            </a:ln>
          </p:spPr>
        </p:sp>
        <p:sp>
          <p:nvSpPr>
            <p:cNvPr id="16" name="Rectangle 16"/>
            <p:cNvSpPr/>
            <p:nvPr/>
          </p:nvSpPr>
          <p:spPr>
            <a:xfrm>
              <a:off x="1485900" y="3009900"/>
              <a:ext cx="142875" cy="304800"/>
            </a:xfrm>
            <a:prstGeom prst="rect">
              <a:avLst/>
            </a:prstGeom>
            <a:solidFill>
              <a:srgbClr val="E2E8F0"/>
            </a:solidFill>
            <a:ln>
              <a:noFill/>
            </a:ln>
          </p:spPr>
        </p:sp>
        <p:sp>
          <p:nvSpPr>
            <p:cNvPr id="17" name="Rectangle 17"/>
            <p:cNvSpPr/>
            <p:nvPr/>
          </p:nvSpPr>
          <p:spPr>
            <a:xfrm>
              <a:off x="1695450" y="2571750"/>
              <a:ext cx="142875" cy="742950"/>
            </a:xfrm>
            <a:prstGeom prst="rect">
              <a:avLst/>
            </a:prstGeom>
            <a:solidFill>
              <a:srgbClr val="D97757"/>
            </a:solidFill>
            <a:ln>
              <a:noFill/>
            </a:ln>
          </p:spPr>
        </p:sp>
        <p:sp>
          <p:nvSpPr>
            <p:cNvPr id="18" name="Rectangle 18"/>
            <p:cNvSpPr/>
            <p:nvPr/>
          </p:nvSpPr>
          <p:spPr>
            <a:xfrm>
              <a:off x="1905000" y="2533650"/>
              <a:ext cx="142875" cy="781050"/>
            </a:xfrm>
            <a:prstGeom prst="rect">
              <a:avLst/>
            </a:prstGeom>
            <a:solidFill>
              <a:srgbClr val="D97757"/>
            </a:solidFill>
            <a:ln>
              <a:noFill/>
            </a:ln>
          </p:spPr>
        </p:sp>
        <p:sp>
          <p:nvSpPr>
            <p:cNvPr id="19" name="Rectangle 19"/>
            <p:cNvSpPr/>
            <p:nvPr/>
          </p:nvSpPr>
          <p:spPr>
            <a:xfrm>
              <a:off x="2114550" y="2495550"/>
              <a:ext cx="142875" cy="819150"/>
            </a:xfrm>
            <a:prstGeom prst="rect">
              <a:avLst/>
            </a:prstGeom>
            <a:solidFill>
              <a:srgbClr val="D97757"/>
            </a:solidFill>
            <a:ln>
              <a:noFill/>
            </a:ln>
          </p:spPr>
        </p:sp>
        <p:sp>
          <p:nvSpPr>
            <p:cNvPr id="20" name="Rectangle 20"/>
            <p:cNvSpPr/>
            <p:nvPr/>
          </p:nvSpPr>
          <p:spPr>
            <a:xfrm>
              <a:off x="2324100" y="3219450"/>
              <a:ext cx="142875" cy="95250"/>
            </a:xfrm>
            <a:prstGeom prst="rect">
              <a:avLst/>
            </a:prstGeom>
            <a:solidFill>
              <a:srgbClr val="BA1D2C"/>
            </a:solidFill>
            <a:ln>
              <a:noFill/>
            </a:ln>
          </p:spPr>
        </p:sp>
        <p:sp>
          <p:nvSpPr>
            <p:cNvPr id="21" name="Rectangle 21"/>
            <p:cNvSpPr/>
            <p:nvPr/>
          </p:nvSpPr>
          <p:spPr>
            <a:xfrm>
              <a:off x="2533650" y="3219450"/>
              <a:ext cx="142875" cy="95250"/>
            </a:xfrm>
            <a:prstGeom prst="rect">
              <a:avLst/>
            </a:prstGeom>
            <a:solidFill>
              <a:srgbClr val="BA1D2C"/>
            </a:solidFill>
            <a:ln>
              <a:noFill/>
            </a:ln>
          </p:spPr>
        </p:sp>
        <p:sp>
          <p:nvSpPr>
            <p:cNvPr id="22" name="TextBox 22"/>
            <p:cNvSpPr txBox="1"/>
            <p:nvPr/>
          </p:nvSpPr>
          <p:spPr>
            <a:xfrm>
              <a:off x="832104" y="3680460"/>
              <a:ext cx="2564587" cy="234696"/>
            </a:xfrm>
            <a:prstGeom prst="rect">
              <a:avLst/>
            </a:prstGeom>
            <a:noFill/>
            <a:ln>
              <a:noFill/>
            </a:ln>
          </p:spPr>
          <p:txBody>
            <a:bodyPr wrap="none" lIns="0" tIns="0" rIns="0" bIns="0" anchor="t" anchorCtr="0">
              <a:spAutoFit/>
            </a:bodyPr>
            <a:lstStyle/>
            <a:p>
              <a:pPr algn="l"/>
              <a:r>
                <a:rPr lang="en-US" sz="1200" dirty="0">
                  <a:solidFill>
                    <a:srgbClr val="64748B"/>
                  </a:solidFill>
                  <a:latin typeface="Anthropic Sans"/>
                  <a:ea typeface="Anthropic Sans"/>
                  <a:cs typeface="Anthropic Sans"/>
                </a:rPr>
                <a:t>order, runs, duplicates, spread</a:t>
              </a:r>
            </a:p>
          </p:txBody>
        </p:sp>
      </p:grpSp>
      <p:grpSp>
        <p:nvGrpSpPr>
          <p:cNvPr id="39" name="Group 39"/>
          <p:cNvGrpSpPr/>
          <p:nvPr/>
        </p:nvGrpSpPr>
        <p:grpSpPr>
          <a:xfrm>
            <a:off x="3524250" y="1104900"/>
            <a:ext cx="2655189" cy="3257550"/>
            <a:chOff x="3524250" y="1104900"/>
            <a:chExt cx="2655189" cy="3257550"/>
          </a:xfrm>
        </p:grpSpPr>
        <p:sp>
          <p:nvSpPr>
            <p:cNvPr id="24" name="Freeform 24"/>
            <p:cNvSpPr/>
            <p:nvPr/>
          </p:nvSpPr>
          <p:spPr>
            <a:xfrm>
              <a:off x="3524250" y="1104900"/>
              <a:ext cx="2476500" cy="3257550"/>
            </a:xfrm>
            <a:custGeom>
              <a:avLst/>
              <a:gdLst/>
              <a:ahLst/>
              <a:cxnLst/>
              <a:rect l="l" t="t" r="r" b="b"/>
              <a:pathLst>
                <a:path w="2476500" h="3257550">
                  <a:moveTo>
                    <a:pt x="95250" y="0"/>
                  </a:moveTo>
                  <a:lnTo>
                    <a:pt x="2381250" y="0"/>
                  </a:lnTo>
                  <a:cubicBezTo>
                    <a:pt x="2433855" y="0"/>
                    <a:pt x="2476500" y="42645"/>
                    <a:pt x="2476500" y="95250"/>
                  </a:cubicBezTo>
                  <a:lnTo>
                    <a:pt x="2476500" y="3162300"/>
                  </a:lnTo>
                  <a:cubicBezTo>
                    <a:pt x="2476500" y="3214905"/>
                    <a:pt x="2433855" y="3257550"/>
                    <a:pt x="238125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25" name="Rectangle 25"/>
            <p:cNvSpPr/>
            <p:nvPr/>
          </p:nvSpPr>
          <p:spPr>
            <a:xfrm>
              <a:off x="3524250" y="1104900"/>
              <a:ext cx="2476500" cy="476250"/>
            </a:xfrm>
            <a:prstGeom prst="rect">
              <a:avLst/>
            </a:prstGeom>
            <a:solidFill>
              <a:srgbClr val="F8FAFC"/>
            </a:solidFill>
            <a:ln w="9525">
              <a:solidFill>
                <a:srgbClr val="CBD5E1"/>
              </a:solidFill>
            </a:ln>
          </p:spPr>
        </p:sp>
        <p:sp>
          <p:nvSpPr>
            <p:cNvPr id="26" name="TextBox 26"/>
            <p:cNvSpPr txBox="1"/>
            <p:nvPr/>
          </p:nvSpPr>
          <p:spPr>
            <a:xfrm>
              <a:off x="3890349" y="1257300"/>
              <a:ext cx="1744302"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Feature space F</a:t>
              </a:r>
            </a:p>
          </p:txBody>
        </p:sp>
        <p:sp>
          <p:nvSpPr>
            <p:cNvPr id="27" name="TextBox 27"/>
            <p:cNvSpPr txBox="1"/>
            <p:nvPr/>
          </p:nvSpPr>
          <p:spPr>
            <a:xfrm>
              <a:off x="3803142" y="1778318"/>
              <a:ext cx="2376297" cy="264033"/>
            </a:xfrm>
            <a:prstGeom prst="rect">
              <a:avLst/>
            </a:prstGeom>
            <a:noFill/>
            <a:ln>
              <a:noFill/>
            </a:ln>
          </p:spPr>
          <p:txBody>
            <a:bodyPr wrap="none" lIns="0" tIns="0" rIns="0" bIns="0" anchor="t" anchorCtr="0">
              <a:spAutoFit/>
            </a:bodyPr>
            <a:lstStyle/>
            <a:p>
              <a:pPr algn="l"/>
              <a:r>
                <a:rPr lang="en-US" sz="1350" dirty="0">
                  <a:solidFill>
                    <a:srgbClr val="64748B"/>
                  </a:solidFill>
                  <a:latin typeface="Anthropic Sans"/>
                  <a:ea typeface="Anthropic Sans"/>
                  <a:cs typeface="Anthropic Sans"/>
                </a:rPr>
                <a:t>structural array features</a:t>
              </a:r>
            </a:p>
          </p:txBody>
        </p:sp>
        <p:sp>
          <p:nvSpPr>
            <p:cNvPr id="28" name="Rectangle 28"/>
            <p:cNvSpPr/>
            <p:nvPr/>
          </p:nvSpPr>
          <p:spPr>
            <a:xfrm>
              <a:off x="3810000" y="2209800"/>
              <a:ext cx="1905000" cy="1524000"/>
            </a:xfrm>
            <a:prstGeom prst="rect">
              <a:avLst/>
            </a:prstGeom>
            <a:solidFill>
              <a:srgbClr val="FFFFFF"/>
            </a:solidFill>
            <a:ln w="9525">
              <a:solidFill>
                <a:srgbClr val="E2E8F0"/>
              </a:solidFill>
            </a:ln>
          </p:spPr>
        </p:sp>
        <p:sp>
          <p:nvSpPr>
            <p:cNvPr id="29" name="Line 29"/>
            <p:cNvSpPr/>
            <p:nvPr/>
          </p:nvSpPr>
          <p:spPr>
            <a:xfrm>
              <a:off x="3810000" y="25146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0" name="Line 30"/>
            <p:cNvSpPr/>
            <p:nvPr/>
          </p:nvSpPr>
          <p:spPr>
            <a:xfrm>
              <a:off x="3810000" y="28194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1" name="Line 31"/>
            <p:cNvSpPr/>
            <p:nvPr/>
          </p:nvSpPr>
          <p:spPr>
            <a:xfrm>
              <a:off x="3810000" y="31242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2" name="Line 32"/>
            <p:cNvSpPr/>
            <p:nvPr/>
          </p:nvSpPr>
          <p:spPr>
            <a:xfrm>
              <a:off x="3810000" y="34290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3" name="TextBox 33"/>
            <p:cNvSpPr txBox="1"/>
            <p:nvPr/>
          </p:nvSpPr>
          <p:spPr>
            <a:xfrm>
              <a:off x="3975735" y="2297906"/>
              <a:ext cx="30675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size</a:t>
              </a:r>
            </a:p>
          </p:txBody>
        </p:sp>
        <p:sp>
          <p:nvSpPr>
            <p:cNvPr id="34" name="TextBox 34"/>
            <p:cNvSpPr txBox="1"/>
            <p:nvPr/>
          </p:nvSpPr>
          <p:spPr>
            <a:xfrm>
              <a:off x="3975735" y="2602706"/>
              <a:ext cx="164706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sortedness / disorder</a:t>
              </a:r>
            </a:p>
          </p:txBody>
        </p:sp>
        <p:sp>
          <p:nvSpPr>
            <p:cNvPr id="35" name="TextBox 35"/>
            <p:cNvSpPr txBox="1"/>
            <p:nvPr/>
          </p:nvSpPr>
          <p:spPr>
            <a:xfrm>
              <a:off x="3975735" y="2907506"/>
              <a:ext cx="344615"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runs</a:t>
              </a:r>
            </a:p>
          </p:txBody>
        </p:sp>
        <p:sp>
          <p:nvSpPr>
            <p:cNvPr id="36" name="TextBox 36"/>
            <p:cNvSpPr txBox="1"/>
            <p:nvPr/>
          </p:nvSpPr>
          <p:spPr>
            <a:xfrm>
              <a:off x="3975735" y="3212306"/>
              <a:ext cx="1525905"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duplicates / entropy</a:t>
              </a:r>
            </a:p>
          </p:txBody>
        </p:sp>
        <p:sp>
          <p:nvSpPr>
            <p:cNvPr id="37" name="TextBox 37"/>
            <p:cNvSpPr txBox="1"/>
            <p:nvPr/>
          </p:nvSpPr>
          <p:spPr>
            <a:xfrm>
              <a:off x="3975735" y="3517106"/>
              <a:ext cx="1276017"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spread / outliers</a:t>
              </a:r>
            </a:p>
          </p:txBody>
        </p:sp>
        <p:sp>
          <p:nvSpPr>
            <p:cNvPr id="38" name="TextBox 38"/>
            <p:cNvSpPr txBox="1"/>
            <p:nvPr/>
          </p:nvSpPr>
          <p:spPr>
            <a:xfrm>
              <a:off x="4341076" y="3911918"/>
              <a:ext cx="842848" cy="264033"/>
            </a:xfrm>
            <a:prstGeom prst="rect">
              <a:avLst/>
            </a:prstGeom>
            <a:noFill/>
            <a:ln>
              <a:noFill/>
            </a:ln>
          </p:spPr>
          <p:txBody>
            <a:bodyPr wrap="none" lIns="0" tIns="0" rIns="0" bIns="0" anchor="t" anchorCtr="0">
              <a:spAutoFit/>
            </a:bodyPr>
            <a:lstStyle/>
            <a:p>
              <a:pPr algn="ctr"/>
              <a:r>
                <a:rPr lang="en-US" sz="1350" dirty="0">
                  <a:solidFill>
                    <a:srgbClr val="8F1D3A"/>
                  </a:solidFill>
                  <a:latin typeface="Consolas"/>
                  <a:ea typeface="Consolas"/>
                  <a:cs typeface="Consolas"/>
                </a:rPr>
                <a:t>x ∈ R^16</a:t>
              </a:r>
            </a:p>
          </p:txBody>
        </p:sp>
      </p:grpSp>
      <p:grpSp>
        <p:nvGrpSpPr>
          <p:cNvPr id="46" name="Group 46"/>
          <p:cNvGrpSpPr/>
          <p:nvPr/>
        </p:nvGrpSpPr>
        <p:grpSpPr>
          <a:xfrm>
            <a:off x="6496050" y="1352550"/>
            <a:ext cx="2190750" cy="2762250"/>
            <a:chOff x="6496050" y="1352550"/>
            <a:chExt cx="2190750" cy="2762250"/>
          </a:xfrm>
        </p:grpSpPr>
        <p:sp>
          <p:nvSpPr>
            <p:cNvPr id="40" name="Freeform 40"/>
            <p:cNvSpPr/>
            <p:nvPr/>
          </p:nvSpPr>
          <p:spPr>
            <a:xfrm>
              <a:off x="6496050" y="1352550"/>
              <a:ext cx="2190750" cy="2762250"/>
            </a:xfrm>
            <a:custGeom>
              <a:avLst/>
              <a:gdLst/>
              <a:ahLst/>
              <a:cxnLst/>
              <a:rect l="l" t="t" r="r" b="b"/>
              <a:pathLst>
                <a:path w="2190750" h="2762250">
                  <a:moveTo>
                    <a:pt x="114300" y="0"/>
                  </a:moveTo>
                  <a:lnTo>
                    <a:pt x="2076450" y="0"/>
                  </a:lnTo>
                  <a:cubicBezTo>
                    <a:pt x="2139576" y="0"/>
                    <a:pt x="2190750" y="51174"/>
                    <a:pt x="2190750" y="114300"/>
                  </a:cubicBezTo>
                  <a:lnTo>
                    <a:pt x="2190750" y="2647950"/>
                  </a:lnTo>
                  <a:cubicBezTo>
                    <a:pt x="2190750" y="2711076"/>
                    <a:pt x="2139576" y="2762250"/>
                    <a:pt x="2076450" y="2762250"/>
                  </a:cubicBezTo>
                  <a:lnTo>
                    <a:pt x="114300" y="2762250"/>
                  </a:lnTo>
                  <a:cubicBezTo>
                    <a:pt x="51174" y="2762250"/>
                    <a:pt x="0" y="2711076"/>
                    <a:pt x="0" y="2647950"/>
                  </a:cubicBezTo>
                  <a:lnTo>
                    <a:pt x="0" y="114300"/>
                  </a:lnTo>
                  <a:cubicBezTo>
                    <a:pt x="0" y="51174"/>
                    <a:pt x="51174" y="0"/>
                    <a:pt x="114300" y="0"/>
                  </a:cubicBezTo>
                  <a:close/>
                </a:path>
              </a:pathLst>
            </a:custGeom>
            <a:solidFill>
              <a:srgbClr val="191919"/>
            </a:solidFill>
            <a:ln>
              <a:noFill/>
            </a:ln>
          </p:spPr>
        </p:sp>
        <p:sp>
          <p:nvSpPr>
            <p:cNvPr id="41" name="TextBox 41"/>
            <p:cNvSpPr txBox="1"/>
            <p:nvPr/>
          </p:nvSpPr>
          <p:spPr>
            <a:xfrm>
              <a:off x="7008610" y="1750219"/>
              <a:ext cx="1165631" cy="366712"/>
            </a:xfrm>
            <a:prstGeom prst="rect">
              <a:avLst/>
            </a:prstGeom>
            <a:noFill/>
            <a:ln>
              <a:noFill/>
            </a:ln>
          </p:spPr>
          <p:txBody>
            <a:bodyPr wrap="none" lIns="0" tIns="0" rIns="0" bIns="0" anchor="t" anchorCtr="0">
              <a:spAutoFit/>
            </a:bodyPr>
            <a:lstStyle/>
            <a:p>
              <a:pPr algn="ctr"/>
              <a:r>
                <a:rPr lang="en-US" sz="1880" b="1" dirty="0">
                  <a:solidFill>
                    <a:srgbClr val="FFFFFF"/>
                  </a:solidFill>
                  <a:latin typeface="Anthropic Sans"/>
                  <a:ea typeface="Anthropic Sans"/>
                  <a:cs typeface="Anthropic Sans"/>
                </a:rPr>
                <a:t>Selector</a:t>
              </a:r>
            </a:p>
          </p:txBody>
        </p:sp>
        <p:sp>
          <p:nvSpPr>
            <p:cNvPr id="42" name="TextBox 42"/>
            <p:cNvSpPr txBox="1"/>
            <p:nvPr/>
          </p:nvSpPr>
          <p:spPr>
            <a:xfrm>
              <a:off x="6995360" y="2174558"/>
              <a:ext cx="1192130" cy="322707"/>
            </a:xfrm>
            <a:prstGeom prst="rect">
              <a:avLst/>
            </a:prstGeom>
            <a:noFill/>
            <a:ln>
              <a:noFill/>
            </a:ln>
          </p:spPr>
          <p:txBody>
            <a:bodyPr wrap="none" lIns="0" tIns="0" rIns="0" bIns="0" anchor="t" anchorCtr="0">
              <a:spAutoFit/>
            </a:bodyPr>
            <a:lstStyle/>
            <a:p>
              <a:pPr algn="ctr"/>
              <a:r>
                <a:rPr lang="en-US" sz="1650" dirty="0">
                  <a:solidFill>
                    <a:srgbClr val="F4511E"/>
                  </a:solidFill>
                  <a:latin typeface="Consolas"/>
                  <a:ea typeface="Consolas"/>
                  <a:cs typeface="Consolas"/>
                </a:rPr>
                <a:t>S : F → A</a:t>
              </a:r>
            </a:p>
          </p:txBody>
        </p:sp>
        <p:sp>
          <p:nvSpPr>
            <p:cNvPr id="43" name="Line 43"/>
            <p:cNvSpPr/>
            <p:nvPr/>
          </p:nvSpPr>
          <p:spPr>
            <a:xfrm>
              <a:off x="6934200" y="2724150"/>
              <a:ext cx="1314450" cy="9525"/>
            </a:xfrm>
            <a:custGeom>
              <a:avLst/>
              <a:gdLst/>
              <a:ahLst/>
              <a:cxnLst/>
              <a:rect l="l" t="t" r="r" b="b"/>
              <a:pathLst>
                <a:path w="1314450" h="9525">
                  <a:moveTo>
                    <a:pt x="0" y="0"/>
                  </a:moveTo>
                  <a:lnTo>
                    <a:pt x="1314450" y="0"/>
                  </a:lnTo>
                </a:path>
              </a:pathLst>
            </a:custGeom>
            <a:noFill/>
            <a:ln w="9525">
              <a:solidFill>
                <a:srgbClr val="64748B"/>
              </a:solidFill>
            </a:ln>
          </p:spPr>
        </p:sp>
        <p:sp>
          <p:nvSpPr>
            <p:cNvPr id="44" name="TextBox 44"/>
            <p:cNvSpPr txBox="1"/>
            <p:nvPr/>
          </p:nvSpPr>
          <p:spPr>
            <a:xfrm>
              <a:off x="6634123" y="2989421"/>
              <a:ext cx="1914604" cy="278702"/>
            </a:xfrm>
            <a:prstGeom prst="rect">
              <a:avLst/>
            </a:prstGeom>
            <a:noFill/>
            <a:ln>
              <a:noFill/>
            </a:ln>
          </p:spPr>
          <p:txBody>
            <a:bodyPr wrap="none" lIns="0" tIns="0" rIns="0" bIns="0" anchor="t" anchorCtr="0">
              <a:spAutoFit/>
            </a:bodyPr>
            <a:lstStyle/>
            <a:p>
              <a:pPr algn="ctr"/>
              <a:r>
                <a:rPr lang="en-US" sz="1420" b="1" dirty="0">
                  <a:solidFill>
                    <a:srgbClr val="FFFFFF"/>
                  </a:solidFill>
                  <a:latin typeface="Anthropic Sans"/>
                  <a:ea typeface="Anthropic Sans"/>
                  <a:cs typeface="Anthropic Sans"/>
                </a:rPr>
                <a:t>XGBoost classifier</a:t>
              </a:r>
            </a:p>
          </p:txBody>
        </p:sp>
        <p:sp>
          <p:nvSpPr>
            <p:cNvPr id="45" name="TextBox 45"/>
            <p:cNvSpPr txBox="1"/>
            <p:nvPr/>
          </p:nvSpPr>
          <p:spPr>
            <a:xfrm>
              <a:off x="6733184" y="3318510"/>
              <a:ext cx="1716481" cy="234696"/>
            </a:xfrm>
            <a:prstGeom prst="rect">
              <a:avLst/>
            </a:prstGeom>
            <a:noFill/>
            <a:ln>
              <a:noFill/>
            </a:ln>
          </p:spPr>
          <p:txBody>
            <a:bodyPr wrap="none" lIns="0" tIns="0" rIns="0" bIns="0" anchor="t" anchorCtr="0">
              <a:spAutoFit/>
            </a:bodyPr>
            <a:lstStyle/>
            <a:p>
              <a:pPr algn="ctr"/>
              <a:r>
                <a:rPr lang="en-US" sz="1200" dirty="0">
                  <a:solidFill>
                    <a:srgbClr val="CBD5E1"/>
                  </a:solidFill>
                  <a:latin typeface="Anthropic Sans"/>
                  <a:ea typeface="Anthropic Sans"/>
                  <a:cs typeface="Anthropic Sans"/>
                </a:rPr>
                <a:t>predict fastest class</a:t>
              </a:r>
            </a:p>
          </p:txBody>
        </p:sp>
      </p:grpSp>
      <p:grpSp>
        <p:nvGrpSpPr>
          <p:cNvPr id="56" name="Group 56"/>
          <p:cNvGrpSpPr/>
          <p:nvPr/>
        </p:nvGrpSpPr>
        <p:grpSpPr>
          <a:xfrm>
            <a:off x="9201150" y="1104900"/>
            <a:ext cx="2438400" cy="3257550"/>
            <a:chOff x="9201150" y="1104900"/>
            <a:chExt cx="2438400" cy="3257550"/>
          </a:xfrm>
        </p:grpSpPr>
        <p:sp>
          <p:nvSpPr>
            <p:cNvPr id="47" name="Freeform 47"/>
            <p:cNvSpPr/>
            <p:nvPr/>
          </p:nvSpPr>
          <p:spPr>
            <a:xfrm>
              <a:off x="9201150" y="1104900"/>
              <a:ext cx="2438400" cy="3257550"/>
            </a:xfrm>
            <a:custGeom>
              <a:avLst/>
              <a:gdLst/>
              <a:ahLst/>
              <a:cxnLst/>
              <a:rect l="l" t="t" r="r" b="b"/>
              <a:pathLst>
                <a:path w="2438400" h="3257550">
                  <a:moveTo>
                    <a:pt x="95250" y="0"/>
                  </a:moveTo>
                  <a:lnTo>
                    <a:pt x="2343150" y="0"/>
                  </a:lnTo>
                  <a:cubicBezTo>
                    <a:pt x="2395755" y="0"/>
                    <a:pt x="2438400" y="42645"/>
                    <a:pt x="2438400" y="95250"/>
                  </a:cubicBezTo>
                  <a:lnTo>
                    <a:pt x="2438400" y="3162300"/>
                  </a:lnTo>
                  <a:cubicBezTo>
                    <a:pt x="2438400" y="3214905"/>
                    <a:pt x="2395755" y="3257550"/>
                    <a:pt x="234315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48" name="Rectangle 48"/>
            <p:cNvSpPr/>
            <p:nvPr/>
          </p:nvSpPr>
          <p:spPr>
            <a:xfrm>
              <a:off x="9201150" y="1104900"/>
              <a:ext cx="2438400" cy="476250"/>
            </a:xfrm>
            <a:prstGeom prst="rect">
              <a:avLst/>
            </a:prstGeom>
            <a:solidFill>
              <a:srgbClr val="F8FAFC"/>
            </a:solidFill>
            <a:ln w="9525">
              <a:solidFill>
                <a:srgbClr val="CBD5E1"/>
              </a:solidFill>
            </a:ln>
          </p:spPr>
        </p:sp>
        <p:sp>
          <p:nvSpPr>
            <p:cNvPr id="49" name="TextBox 49"/>
            <p:cNvSpPr txBox="1"/>
            <p:nvPr/>
          </p:nvSpPr>
          <p:spPr>
            <a:xfrm>
              <a:off x="9465272" y="1257300"/>
              <a:ext cx="1910157"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Algorithm space A</a:t>
              </a:r>
            </a:p>
          </p:txBody>
        </p:sp>
        <p:sp>
          <p:nvSpPr>
            <p:cNvPr id="50" name="Freeform 50"/>
            <p:cNvSpPr/>
            <p:nvPr/>
          </p:nvSpPr>
          <p:spPr>
            <a:xfrm>
              <a:off x="9544050" y="207645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FFFFF"/>
            </a:solidFill>
            <a:ln w="19050">
              <a:solidFill>
                <a:srgbClr val="8F1D3A"/>
              </a:solidFill>
            </a:ln>
          </p:spPr>
        </p:sp>
        <p:sp>
          <p:nvSpPr>
            <p:cNvPr id="51" name="TextBox 51"/>
            <p:cNvSpPr txBox="1"/>
            <p:nvPr/>
          </p:nvSpPr>
          <p:spPr>
            <a:xfrm>
              <a:off x="9948134" y="2216468"/>
              <a:ext cx="944432" cy="264033"/>
            </a:xfrm>
            <a:prstGeom prst="rect">
              <a:avLst/>
            </a:prstGeom>
            <a:noFill/>
            <a:ln>
              <a:noFill/>
            </a:ln>
          </p:spPr>
          <p:txBody>
            <a:bodyPr wrap="none" lIns="0" tIns="0" rIns="0" bIns="0" anchor="t" anchorCtr="0">
              <a:spAutoFit/>
            </a:bodyPr>
            <a:lstStyle/>
            <a:p>
              <a:pPr algn="ctr"/>
              <a:r>
                <a:rPr lang="en-US" sz="1350" b="1" dirty="0">
                  <a:solidFill>
                    <a:srgbClr val="191919"/>
                  </a:solidFill>
                  <a:latin typeface="Anthropic Sans"/>
                  <a:ea typeface="Anthropic Sans"/>
                  <a:cs typeface="Anthropic Sans"/>
                </a:rPr>
                <a:t>Introsort</a:t>
              </a:r>
            </a:p>
          </p:txBody>
        </p:sp>
        <p:sp>
          <p:nvSpPr>
            <p:cNvPr id="52" name="Freeform 52"/>
            <p:cNvSpPr/>
            <p:nvPr/>
          </p:nvSpPr>
          <p:spPr>
            <a:xfrm>
              <a:off x="9544050" y="278130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FFFFF"/>
            </a:solidFill>
            <a:ln w="19050">
              <a:solidFill>
                <a:srgbClr val="BA1D2C"/>
              </a:solidFill>
            </a:ln>
          </p:spPr>
        </p:sp>
        <p:sp>
          <p:nvSpPr>
            <p:cNvPr id="53" name="TextBox 53"/>
            <p:cNvSpPr txBox="1"/>
            <p:nvPr/>
          </p:nvSpPr>
          <p:spPr>
            <a:xfrm>
              <a:off x="9975857" y="2921318"/>
              <a:ext cx="888985" cy="264033"/>
            </a:xfrm>
            <a:prstGeom prst="rect">
              <a:avLst/>
            </a:prstGeom>
            <a:noFill/>
            <a:ln>
              <a:noFill/>
            </a:ln>
          </p:spPr>
          <p:txBody>
            <a:bodyPr wrap="none" lIns="0" tIns="0" rIns="0" bIns="0" anchor="t" anchorCtr="0">
              <a:spAutoFit/>
            </a:bodyPr>
            <a:lstStyle/>
            <a:p>
              <a:pPr algn="ctr"/>
              <a:r>
                <a:rPr lang="en-US" sz="1350" b="1" dirty="0">
                  <a:solidFill>
                    <a:srgbClr val="191919"/>
                  </a:solidFill>
                  <a:latin typeface="Anthropic Sans"/>
                  <a:ea typeface="Anthropic Sans"/>
                  <a:cs typeface="Anthropic Sans"/>
                </a:rPr>
                <a:t>Heapsort</a:t>
              </a:r>
            </a:p>
          </p:txBody>
        </p:sp>
        <p:sp>
          <p:nvSpPr>
            <p:cNvPr id="54" name="Freeform 54"/>
            <p:cNvSpPr/>
            <p:nvPr/>
          </p:nvSpPr>
          <p:spPr>
            <a:xfrm>
              <a:off x="9544050" y="348615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4511E"/>
            </a:solidFill>
            <a:ln>
              <a:noFill/>
            </a:ln>
          </p:spPr>
        </p:sp>
        <p:sp>
          <p:nvSpPr>
            <p:cNvPr id="55" name="TextBox 55"/>
            <p:cNvSpPr txBox="1"/>
            <p:nvPr/>
          </p:nvSpPr>
          <p:spPr>
            <a:xfrm>
              <a:off x="10033336" y="3626168"/>
              <a:ext cx="774028"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Anthropic Sans"/>
                  <a:ea typeface="Anthropic Sans"/>
                  <a:cs typeface="Anthropic Sans"/>
                </a:rPr>
                <a:t>Timsort</a:t>
              </a:r>
            </a:p>
          </p:txBody>
        </p:sp>
      </p:grpSp>
      <p:grpSp>
        <p:nvGrpSpPr>
          <p:cNvPr id="63" name="Group 63"/>
          <p:cNvGrpSpPr/>
          <p:nvPr/>
        </p:nvGrpSpPr>
        <p:grpSpPr>
          <a:xfrm>
            <a:off x="2933700" y="2628900"/>
            <a:ext cx="6267450" cy="209550"/>
            <a:chOff x="2933700" y="2628900"/>
            <a:chExt cx="6267450" cy="209550"/>
          </a:xfrm>
        </p:grpSpPr>
        <p:sp>
          <p:nvSpPr>
            <p:cNvPr id="57" name="Freeform 57"/>
            <p:cNvSpPr/>
            <p:nvPr/>
          </p:nvSpPr>
          <p:spPr>
            <a:xfrm>
              <a:off x="2933700" y="2733675"/>
              <a:ext cx="590550" cy="9525"/>
            </a:xfrm>
            <a:custGeom>
              <a:avLst/>
              <a:gdLst/>
              <a:ahLst/>
              <a:cxnLst/>
              <a:rect l="l" t="t" r="r" b="b"/>
              <a:pathLst>
                <a:path w="590550" h="9525">
                  <a:moveTo>
                    <a:pt x="0" y="0"/>
                  </a:moveTo>
                  <a:lnTo>
                    <a:pt x="590550" y="0"/>
                  </a:lnTo>
                </a:path>
              </a:pathLst>
            </a:custGeom>
            <a:solidFill>
              <a:srgbClr val="000000"/>
            </a:solidFill>
            <a:ln w="38100">
              <a:solidFill>
                <a:srgbClr val="D97757"/>
              </a:solidFill>
            </a:ln>
          </p:spPr>
        </p:sp>
        <p:sp>
          <p:nvSpPr>
            <p:cNvPr id="58" name="Freeform 58"/>
            <p:cNvSpPr/>
            <p:nvPr/>
          </p:nvSpPr>
          <p:spPr>
            <a:xfrm>
              <a:off x="33528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sp>
          <p:nvSpPr>
            <p:cNvPr id="59" name="Freeform 59"/>
            <p:cNvSpPr/>
            <p:nvPr/>
          </p:nvSpPr>
          <p:spPr>
            <a:xfrm>
              <a:off x="6000750" y="2733675"/>
              <a:ext cx="495300" cy="9525"/>
            </a:xfrm>
            <a:custGeom>
              <a:avLst/>
              <a:gdLst/>
              <a:ahLst/>
              <a:cxnLst/>
              <a:rect l="l" t="t" r="r" b="b"/>
              <a:pathLst>
                <a:path w="495300" h="9525">
                  <a:moveTo>
                    <a:pt x="0" y="0"/>
                  </a:moveTo>
                  <a:lnTo>
                    <a:pt x="495300" y="0"/>
                  </a:lnTo>
                </a:path>
              </a:pathLst>
            </a:custGeom>
            <a:solidFill>
              <a:srgbClr val="000000"/>
            </a:solidFill>
            <a:ln w="38100">
              <a:solidFill>
                <a:srgbClr val="D97757"/>
              </a:solidFill>
            </a:ln>
          </p:spPr>
        </p:sp>
        <p:sp>
          <p:nvSpPr>
            <p:cNvPr id="60" name="Freeform 60"/>
            <p:cNvSpPr/>
            <p:nvPr/>
          </p:nvSpPr>
          <p:spPr>
            <a:xfrm>
              <a:off x="63246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sp>
          <p:nvSpPr>
            <p:cNvPr id="61" name="Freeform 61"/>
            <p:cNvSpPr/>
            <p:nvPr/>
          </p:nvSpPr>
          <p:spPr>
            <a:xfrm>
              <a:off x="8686800" y="2733675"/>
              <a:ext cx="514350" cy="9525"/>
            </a:xfrm>
            <a:custGeom>
              <a:avLst/>
              <a:gdLst/>
              <a:ahLst/>
              <a:cxnLst/>
              <a:rect l="l" t="t" r="r" b="b"/>
              <a:pathLst>
                <a:path w="514350" h="9525">
                  <a:moveTo>
                    <a:pt x="0" y="0"/>
                  </a:moveTo>
                  <a:lnTo>
                    <a:pt x="514350" y="0"/>
                  </a:lnTo>
                </a:path>
              </a:pathLst>
            </a:custGeom>
            <a:solidFill>
              <a:srgbClr val="000000"/>
            </a:solidFill>
            <a:ln w="38100">
              <a:solidFill>
                <a:srgbClr val="D97757"/>
              </a:solidFill>
            </a:ln>
          </p:spPr>
        </p:sp>
        <p:sp>
          <p:nvSpPr>
            <p:cNvPr id="62" name="Freeform 62"/>
            <p:cNvSpPr/>
            <p:nvPr/>
          </p:nvSpPr>
          <p:spPr>
            <a:xfrm>
              <a:off x="90297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grpSp>
      <p:grpSp>
        <p:nvGrpSpPr>
          <p:cNvPr id="79" name="Group 79"/>
          <p:cNvGrpSpPr/>
          <p:nvPr/>
        </p:nvGrpSpPr>
        <p:grpSpPr>
          <a:xfrm>
            <a:off x="1866900" y="4362450"/>
            <a:ext cx="8553450" cy="1847850"/>
            <a:chOff x="1866900" y="4362450"/>
            <a:chExt cx="8553450" cy="1847850"/>
          </a:xfrm>
        </p:grpSpPr>
        <p:sp>
          <p:nvSpPr>
            <p:cNvPr id="64" name="Freeform 64"/>
            <p:cNvSpPr/>
            <p:nvPr/>
          </p:nvSpPr>
          <p:spPr>
            <a:xfrm>
              <a:off x="1866900" y="5029200"/>
              <a:ext cx="8458200" cy="1181100"/>
            </a:xfrm>
            <a:custGeom>
              <a:avLst/>
              <a:gdLst/>
              <a:ahLst/>
              <a:cxnLst/>
              <a:rect l="l" t="t" r="r" b="b"/>
              <a:pathLst>
                <a:path w="8458200" h="1181100">
                  <a:moveTo>
                    <a:pt x="114300" y="0"/>
                  </a:moveTo>
                  <a:lnTo>
                    <a:pt x="8343900" y="0"/>
                  </a:lnTo>
                  <a:cubicBezTo>
                    <a:pt x="8407026" y="0"/>
                    <a:pt x="8458200" y="51174"/>
                    <a:pt x="8458200" y="114300"/>
                  </a:cubicBezTo>
                  <a:lnTo>
                    <a:pt x="8458200" y="1066800"/>
                  </a:lnTo>
                  <a:cubicBezTo>
                    <a:pt x="8458200" y="1129926"/>
                    <a:pt x="8407026" y="1181100"/>
                    <a:pt x="8343900" y="1181100"/>
                  </a:cubicBezTo>
                  <a:lnTo>
                    <a:pt x="114300" y="1181100"/>
                  </a:lnTo>
                  <a:cubicBezTo>
                    <a:pt x="51174" y="1181100"/>
                    <a:pt x="0" y="1129926"/>
                    <a:pt x="0" y="1066800"/>
                  </a:cubicBezTo>
                  <a:lnTo>
                    <a:pt x="0" y="114300"/>
                  </a:lnTo>
                  <a:cubicBezTo>
                    <a:pt x="0" y="51174"/>
                    <a:pt x="51174" y="0"/>
                    <a:pt x="114300" y="0"/>
                  </a:cubicBezTo>
                  <a:close/>
                </a:path>
              </a:pathLst>
            </a:custGeom>
            <a:solidFill>
              <a:srgbClr val="F8FAFC"/>
            </a:solidFill>
            <a:ln w="9525">
              <a:solidFill>
                <a:srgbClr val="CBD5E1"/>
              </a:solidFill>
            </a:ln>
          </p:spPr>
        </p:sp>
        <p:sp>
          <p:nvSpPr>
            <p:cNvPr id="65" name="TextBox 65"/>
            <p:cNvSpPr txBox="1"/>
            <p:nvPr/>
          </p:nvSpPr>
          <p:spPr>
            <a:xfrm>
              <a:off x="2183130" y="5248275"/>
              <a:ext cx="2253296" cy="293370"/>
            </a:xfrm>
            <a:prstGeom prst="rect">
              <a:avLst/>
            </a:prstGeom>
            <a:noFill/>
            <a:ln>
              <a:noFill/>
            </a:ln>
          </p:spPr>
          <p:txBody>
            <a:bodyPr wrap="none" lIns="0" tIns="0" rIns="0" bIns="0" anchor="t" anchorCtr="0">
              <a:spAutoFit/>
            </a:bodyPr>
            <a:lstStyle/>
            <a:p>
              <a:pPr algn="l"/>
              <a:r>
                <a:rPr lang="en-US" sz="1500" b="1" dirty="0">
                  <a:solidFill>
                    <a:srgbClr val="191919"/>
                  </a:solidFill>
                  <a:latin typeface="Anthropic Sans"/>
                  <a:ea typeface="Anthropic Sans"/>
                  <a:cs typeface="Anthropic Sans"/>
                </a:rPr>
                <a:t>Performance space Y</a:t>
              </a:r>
            </a:p>
          </p:txBody>
        </p:sp>
        <p:sp>
          <p:nvSpPr>
            <p:cNvPr id="66" name="TextBox 66"/>
            <p:cNvSpPr txBox="1"/>
            <p:nvPr/>
          </p:nvSpPr>
          <p:spPr>
            <a:xfrm>
              <a:off x="2184273" y="5586889"/>
              <a:ext cx="2407339" cy="249364"/>
            </a:xfrm>
            <a:prstGeom prst="rect">
              <a:avLst/>
            </a:prstGeom>
            <a:noFill/>
            <a:ln>
              <a:noFill/>
            </a:ln>
          </p:spPr>
          <p:txBody>
            <a:bodyPr wrap="none" lIns="0" tIns="0" rIns="0" bIns="0" anchor="t" anchorCtr="0">
              <a:spAutoFit/>
            </a:bodyPr>
            <a:lstStyle/>
            <a:p>
              <a:pPr algn="l"/>
              <a:r>
                <a:rPr lang="en-US" sz="1280" dirty="0">
                  <a:solidFill>
                    <a:srgbClr val="64748B"/>
                  </a:solidFill>
                  <a:latin typeface="Anthropic Sans"/>
                  <a:ea typeface="Anthropic Sans"/>
                  <a:cs typeface="Anthropic Sans"/>
                </a:rPr>
                <a:t>label from measured runtime</a:t>
              </a:r>
            </a:p>
          </p:txBody>
        </p:sp>
        <p:sp>
          <p:nvSpPr>
            <p:cNvPr id="67" name="TextBox 67"/>
            <p:cNvSpPr txBox="1"/>
            <p:nvPr/>
          </p:nvSpPr>
          <p:spPr>
            <a:xfrm>
              <a:off x="2184273" y="5882164"/>
              <a:ext cx="2344229" cy="249364"/>
            </a:xfrm>
            <a:prstGeom prst="rect">
              <a:avLst/>
            </a:prstGeom>
            <a:noFill/>
            <a:ln>
              <a:noFill/>
            </a:ln>
          </p:spPr>
          <p:txBody>
            <a:bodyPr wrap="none" lIns="0" tIns="0" rIns="0" bIns="0" anchor="t" anchorCtr="0">
              <a:spAutoFit/>
            </a:bodyPr>
            <a:lstStyle/>
            <a:p>
              <a:pPr algn="l"/>
              <a:r>
                <a:rPr lang="en-US" sz="1280" dirty="0">
                  <a:solidFill>
                    <a:srgbClr val="191919"/>
                  </a:solidFill>
                  <a:latin typeface="Consolas"/>
                  <a:ea typeface="Consolas"/>
                  <a:cs typeface="Consolas"/>
                </a:rPr>
                <a:t>label(x) = argmin_a T(a, x)</a:t>
              </a:r>
            </a:p>
          </p:txBody>
        </p:sp>
        <p:sp>
          <p:nvSpPr>
            <p:cNvPr id="68" name="Rectangle 68"/>
            <p:cNvSpPr/>
            <p:nvPr/>
          </p:nvSpPr>
          <p:spPr>
            <a:xfrm>
              <a:off x="6572250" y="5295900"/>
              <a:ext cx="3124200" cy="666750"/>
            </a:xfrm>
            <a:prstGeom prst="rect">
              <a:avLst/>
            </a:prstGeom>
            <a:solidFill>
              <a:srgbClr val="FFFFFF"/>
            </a:solidFill>
            <a:ln w="9525">
              <a:solidFill>
                <a:srgbClr val="E2E8F0"/>
              </a:solidFill>
            </a:ln>
          </p:spPr>
        </p:sp>
        <p:sp>
          <p:nvSpPr>
            <p:cNvPr id="69" name="Line 69"/>
            <p:cNvSpPr/>
            <p:nvPr/>
          </p:nvSpPr>
          <p:spPr>
            <a:xfrm>
              <a:off x="7620000" y="5295900"/>
              <a:ext cx="9525" cy="666750"/>
            </a:xfrm>
            <a:custGeom>
              <a:avLst/>
              <a:gdLst/>
              <a:ahLst/>
              <a:cxnLst/>
              <a:rect l="l" t="t" r="r" b="b"/>
              <a:pathLst>
                <a:path w="9525" h="666750">
                  <a:moveTo>
                    <a:pt x="0" y="0"/>
                  </a:moveTo>
                  <a:lnTo>
                    <a:pt x="0" y="666750"/>
                  </a:lnTo>
                </a:path>
              </a:pathLst>
            </a:custGeom>
            <a:noFill/>
            <a:ln w="9525">
              <a:solidFill>
                <a:srgbClr val="E2E8F0"/>
              </a:solidFill>
            </a:ln>
          </p:spPr>
        </p:sp>
        <p:sp>
          <p:nvSpPr>
            <p:cNvPr id="70" name="Line 70"/>
            <p:cNvSpPr/>
            <p:nvPr/>
          </p:nvSpPr>
          <p:spPr>
            <a:xfrm>
              <a:off x="8667750" y="5295900"/>
              <a:ext cx="9525" cy="666750"/>
            </a:xfrm>
            <a:custGeom>
              <a:avLst/>
              <a:gdLst/>
              <a:ahLst/>
              <a:cxnLst/>
              <a:rect l="l" t="t" r="r" b="b"/>
              <a:pathLst>
                <a:path w="9525" h="666750">
                  <a:moveTo>
                    <a:pt x="0" y="0"/>
                  </a:moveTo>
                  <a:lnTo>
                    <a:pt x="0" y="666750"/>
                  </a:lnTo>
                </a:path>
              </a:pathLst>
            </a:custGeom>
            <a:noFill/>
            <a:ln w="9525">
              <a:solidFill>
                <a:srgbClr val="E2E8F0"/>
              </a:solidFill>
            </a:ln>
          </p:spPr>
        </p:sp>
        <p:sp>
          <p:nvSpPr>
            <p:cNvPr id="71" name="TextBox 71"/>
            <p:cNvSpPr txBox="1"/>
            <p:nvPr/>
          </p:nvSpPr>
          <p:spPr>
            <a:xfrm>
              <a:off x="6721078" y="5412581"/>
              <a:ext cx="750094"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Anthropic Sans"/>
                  <a:ea typeface="Anthropic Sans"/>
                  <a:cs typeface="Anthropic Sans"/>
                </a:rPr>
                <a:t>Introsort</a:t>
              </a:r>
            </a:p>
          </p:txBody>
        </p:sp>
        <p:sp>
          <p:nvSpPr>
            <p:cNvPr id="72" name="TextBox 72"/>
            <p:cNvSpPr txBox="1"/>
            <p:nvPr/>
          </p:nvSpPr>
          <p:spPr>
            <a:xfrm>
              <a:off x="7790831" y="5412581"/>
              <a:ext cx="706088"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Anthropic Sans"/>
                  <a:ea typeface="Anthropic Sans"/>
                  <a:cs typeface="Anthropic Sans"/>
                </a:rPr>
                <a:t>Heapsort</a:t>
              </a:r>
            </a:p>
          </p:txBody>
        </p:sp>
        <p:sp>
          <p:nvSpPr>
            <p:cNvPr id="73" name="TextBox 73"/>
            <p:cNvSpPr txBox="1"/>
            <p:nvPr/>
          </p:nvSpPr>
          <p:spPr>
            <a:xfrm>
              <a:off x="8884199" y="5412581"/>
              <a:ext cx="614852" cy="220028"/>
            </a:xfrm>
            <a:prstGeom prst="rect">
              <a:avLst/>
            </a:prstGeom>
            <a:noFill/>
            <a:ln>
              <a:noFill/>
            </a:ln>
          </p:spPr>
          <p:txBody>
            <a:bodyPr wrap="none" lIns="0" tIns="0" rIns="0" bIns="0" anchor="t" anchorCtr="0">
              <a:spAutoFit/>
            </a:bodyPr>
            <a:lstStyle/>
            <a:p>
              <a:pPr algn="ctr"/>
              <a:r>
                <a:rPr lang="en-US" sz="1120" dirty="0">
                  <a:solidFill>
                    <a:srgbClr val="F4511E"/>
                  </a:solidFill>
                  <a:latin typeface="Anthropic Sans"/>
                  <a:ea typeface="Anthropic Sans"/>
                  <a:cs typeface="Anthropic Sans"/>
                </a:rPr>
                <a:t>Timsort</a:t>
              </a:r>
            </a:p>
          </p:txBody>
        </p:sp>
        <p:sp>
          <p:nvSpPr>
            <p:cNvPr id="74" name="TextBox 74"/>
            <p:cNvSpPr txBox="1"/>
            <p:nvPr/>
          </p:nvSpPr>
          <p:spPr>
            <a:xfrm>
              <a:off x="6817804" y="5707856"/>
              <a:ext cx="556641"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Consolas"/>
                  <a:ea typeface="Consolas"/>
                  <a:cs typeface="Consolas"/>
                </a:rPr>
                <a:t>18.7 μs</a:t>
              </a:r>
            </a:p>
          </p:txBody>
        </p:sp>
        <p:sp>
          <p:nvSpPr>
            <p:cNvPr id="75" name="TextBox 75"/>
            <p:cNvSpPr txBox="1"/>
            <p:nvPr/>
          </p:nvSpPr>
          <p:spPr>
            <a:xfrm>
              <a:off x="7865554" y="5707856"/>
              <a:ext cx="556641"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Consolas"/>
                  <a:ea typeface="Consolas"/>
                  <a:cs typeface="Consolas"/>
                </a:rPr>
                <a:t>24.5 μs</a:t>
              </a:r>
            </a:p>
          </p:txBody>
        </p:sp>
        <p:sp>
          <p:nvSpPr>
            <p:cNvPr id="76" name="TextBox 76"/>
            <p:cNvSpPr txBox="1"/>
            <p:nvPr/>
          </p:nvSpPr>
          <p:spPr>
            <a:xfrm>
              <a:off x="8899674" y="5707856"/>
              <a:ext cx="583902" cy="220028"/>
            </a:xfrm>
            <a:prstGeom prst="rect">
              <a:avLst/>
            </a:prstGeom>
            <a:noFill/>
            <a:ln>
              <a:noFill/>
            </a:ln>
          </p:spPr>
          <p:txBody>
            <a:bodyPr wrap="none" lIns="0" tIns="0" rIns="0" bIns="0" anchor="t" anchorCtr="0">
              <a:spAutoFit/>
            </a:bodyPr>
            <a:lstStyle/>
            <a:p>
              <a:pPr algn="ctr"/>
              <a:r>
                <a:rPr lang="en-US" sz="1120" b="1" dirty="0">
                  <a:solidFill>
                    <a:srgbClr val="F4511E"/>
                  </a:solidFill>
                  <a:latin typeface="Consolas"/>
                  <a:ea typeface="Consolas"/>
                  <a:cs typeface="Consolas"/>
                </a:rPr>
                <a:t>13.2 μs</a:t>
              </a:r>
            </a:p>
          </p:txBody>
        </p:sp>
        <p:sp>
          <p:nvSpPr>
            <p:cNvPr id="77" name="Freeform 77"/>
            <p:cNvSpPr/>
            <p:nvPr/>
          </p:nvSpPr>
          <p:spPr>
            <a:xfrm>
              <a:off x="9191625" y="4362450"/>
              <a:ext cx="1228725" cy="933450"/>
            </a:xfrm>
            <a:custGeom>
              <a:avLst/>
              <a:gdLst/>
              <a:ahLst/>
              <a:cxnLst/>
              <a:rect l="l" t="t" r="r" b="b"/>
              <a:pathLst>
                <a:path w="1228725" h="933450">
                  <a:moveTo>
                    <a:pt x="1228725" y="0"/>
                  </a:moveTo>
                  <a:cubicBezTo>
                    <a:pt x="1228725" y="400050"/>
                    <a:pt x="571500" y="533400"/>
                    <a:pt x="0" y="933450"/>
                  </a:cubicBezTo>
                </a:path>
              </a:pathLst>
            </a:custGeom>
            <a:noFill/>
            <a:ln w="28575">
              <a:solidFill>
                <a:srgbClr val="D97757"/>
              </a:solidFill>
            </a:ln>
          </p:spPr>
        </p:sp>
        <p:sp>
          <p:nvSpPr>
            <p:cNvPr id="78" name="Freeform 78"/>
            <p:cNvSpPr/>
            <p:nvPr/>
          </p:nvSpPr>
          <p:spPr>
            <a:xfrm>
              <a:off x="9191625" y="5219700"/>
              <a:ext cx="209550" cy="209550"/>
            </a:xfrm>
            <a:custGeom>
              <a:avLst/>
              <a:gdLst/>
              <a:ahLst/>
              <a:cxnLst/>
              <a:rect l="l" t="t" r="r" b="b"/>
              <a:pathLst>
                <a:path w="209550" h="209550">
                  <a:moveTo>
                    <a:pt x="0" y="76200"/>
                  </a:moveTo>
                  <a:lnTo>
                    <a:pt x="209550" y="0"/>
                  </a:lnTo>
                  <a:lnTo>
                    <a:pt x="133350" y="209550"/>
                  </a:lnTo>
                  <a:close/>
                </a:path>
              </a:pathLst>
            </a:custGeom>
            <a:solidFill>
              <a:srgbClr val="D97757"/>
            </a:solidFill>
            <a:ln>
              <a:noFill/>
            </a:ln>
          </p:spPr>
        </p:sp>
      </p:grpSp>
      <p:sp>
        <p:nvSpPr>
          <p:cNvPr id="81" name="Slide 3 added title"/>
          <p:cNvSpPr txBox="1"/>
          <p:nvPr/>
        </p:nvSpPr>
        <p:spPr>
          <a:xfrm>
            <a:off x="647700" y="552450"/>
            <a:ext cx="5905500" cy="361950"/>
          </a:xfrm>
          <a:prstGeom prst="rect">
            <a:avLst/>
          </a:prstGeom>
          <a:noFill/>
        </p:spPr>
        <p:txBody>
          <a:bodyPr wrap="none" lIns="0" tIns="0" rIns="0" bIns="0">
            <a:spAutoFit/>
          </a:bodyPr>
          <a:lstStyle/>
          <a:p>
            <a:pPr algn="l"/>
            <a:r>
              <a:rPr sz="2800" b="1">
                <a:solidFill>
                  <a:srgbClr val="191919"/>
                </a:solidFill>
                <a:latin typeface="Arial"/>
              </a:rPr>
              <a:t>Algorithm Selection Problem</a:t>
            </a:r>
          </a:p>
        </p:txBody>
      </p:sp>
      <p:sp>
        <p:nvSpPr>
          <p:cNvPr id="82" name="Slide 3 added title rule"/>
          <p:cNvSpPr/>
          <p:nvPr/>
        </p:nvSpPr>
        <p:spPr>
          <a:xfrm>
            <a:off x="647700" y="1047750"/>
            <a:ext cx="10896600" cy="11430"/>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Rectangle 8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3/24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slide(fromBottom)">
                                      <p:cBhvr>
                                        <p:cTn id="7" dur="350"/>
                                        <p:tgtEl>
                                          <p:spTgt spid="23"/>
                                        </p:tgtEl>
                                      </p:cBhvr>
                                    </p:animEffect>
                                  </p:childTnLst>
                                </p:cTn>
                              </p:par>
                            </p:childTnLst>
                          </p:cTn>
                        </p:par>
                        <p:par>
                          <p:cTn id="8" fill="hold">
                            <p:stCondLst>
                              <p:cond delay="470"/>
                            </p:stCondLst>
                            <p:childTnLst>
                              <p:par>
                                <p:cTn id="9" presetID="23" presetClass="entr" presetSubtype="0" fill="hold" nodeType="after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image">
                                      <p:cBhvr>
                                        <p:cTn id="11" dur="350"/>
                                        <p:tgtEl>
                                          <p:spTgt spid="39"/>
                                        </p:tgtEl>
                                      </p:cBhvr>
                                    </p:animEffect>
                                  </p:childTnLst>
                                </p:cTn>
                              </p:par>
                            </p:childTnLst>
                          </p:cTn>
                        </p:par>
                        <p:par>
                          <p:cTn id="12" fill="hold">
                            <p:stCondLst>
                              <p:cond delay="940"/>
                            </p:stCondLst>
                            <p:childTnLst>
                              <p:par>
                                <p:cTn id="13" presetID="10" presetClass="entr" presetSubtype="0" fill="hold" nodeType="after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fade">
                                      <p:cBhvr>
                                        <p:cTn id="15" dur="350"/>
                                        <p:tgtEl>
                                          <p:spTgt spid="46"/>
                                        </p:tgtEl>
                                      </p:cBhvr>
                                    </p:animEffect>
                                  </p:childTnLst>
                                </p:cTn>
                              </p:par>
                            </p:childTnLst>
                          </p:cTn>
                        </p:par>
                        <p:par>
                          <p:cTn id="16" fill="hold">
                            <p:stCondLst>
                              <p:cond delay="1410"/>
                            </p:stCondLst>
                            <p:childTnLst>
                              <p:par>
                                <p:cTn id="17" presetID="22" presetClass="entr" presetSubtype="1" fill="hold" nodeType="afterEffect">
                                  <p:stCondLst>
                                    <p:cond delay="0"/>
                                  </p:stCondLst>
                                  <p:childTnLst>
                                    <p:set>
                                      <p:cBhvr>
                                        <p:cTn id="18" dur="1" fill="hold">
                                          <p:stCondLst>
                                            <p:cond delay="0"/>
                                          </p:stCondLst>
                                        </p:cTn>
                                        <p:tgtEl>
                                          <p:spTgt spid="56"/>
                                        </p:tgtEl>
                                        <p:attrNameLst>
                                          <p:attrName>style.visibility</p:attrName>
                                        </p:attrNameLst>
                                      </p:cBhvr>
                                      <p:to>
                                        <p:strVal val="visible"/>
                                      </p:to>
                                    </p:set>
                                    <p:animEffect transition="in" filter="wipe(left)">
                                      <p:cBhvr>
                                        <p:cTn id="19" dur="350"/>
                                        <p:tgtEl>
                                          <p:spTgt spid="56"/>
                                        </p:tgtEl>
                                      </p:cBhvr>
                                    </p:animEffect>
                                  </p:childTnLst>
                                </p:cTn>
                              </p:par>
                            </p:childTnLst>
                          </p:cTn>
                        </p:par>
                        <p:par>
                          <p:cTn id="20" fill="hold">
                            <p:stCondLst>
                              <p:cond delay="1880"/>
                            </p:stCondLst>
                            <p:childTnLst>
                              <p:par>
                                <p:cTn id="21" presetID="2" presetClass="entr" presetSubtype="4" fill="hold" nodeType="afterEffect">
                                  <p:stCondLst>
                                    <p:cond delay="0"/>
                                  </p:stCondLst>
                                  <p:childTnLst>
                                    <p:set>
                                      <p:cBhvr>
                                        <p:cTn id="22" dur="1" fill="hold">
                                          <p:stCondLst>
                                            <p:cond delay="0"/>
                                          </p:stCondLst>
                                        </p:cTn>
                                        <p:tgtEl>
                                          <p:spTgt spid="63"/>
                                        </p:tgtEl>
                                        <p:attrNameLst>
                                          <p:attrName>style.visibility</p:attrName>
                                        </p:attrNameLst>
                                      </p:cBhvr>
                                      <p:to>
                                        <p:strVal val="visible"/>
                                      </p:to>
                                    </p:set>
                                    <p:animEffect transition="in" filter="slide(fromBottom)">
                                      <p:cBhvr>
                                        <p:cTn id="23" dur="350"/>
                                        <p:tgtEl>
                                          <p:spTgt spid="63"/>
                                        </p:tgtEl>
                                      </p:cBhvr>
                                    </p:animEffect>
                                  </p:childTnLst>
                                </p:cTn>
                              </p:par>
                            </p:childTnLst>
                          </p:cTn>
                        </p:par>
                        <p:par>
                          <p:cTn id="24" fill="hold">
                            <p:stCondLst>
                              <p:cond delay="2350"/>
                            </p:stCondLst>
                            <p:childTnLst>
                              <p:par>
                                <p:cTn id="25" presetID="23" presetClass="entr" presetSubtype="0" fill="hold" nodeType="afterEffect">
                                  <p:stCondLst>
                                    <p:cond delay="0"/>
                                  </p:stCondLst>
                                  <p:childTnLst>
                                    <p:set>
                                      <p:cBhvr>
                                        <p:cTn id="26" dur="1" fill="hold">
                                          <p:stCondLst>
                                            <p:cond delay="0"/>
                                          </p:stCondLst>
                                        </p:cTn>
                                        <p:tgtEl>
                                          <p:spTgt spid="79"/>
                                        </p:tgtEl>
                                        <p:attrNameLst>
                                          <p:attrName>style.visibility</p:attrName>
                                        </p:attrNameLst>
                                      </p:cBhvr>
                                      <p:to>
                                        <p:strVal val="visible"/>
                                      </p:to>
                                    </p:set>
                                    <p:animEffect transition="in" filter="image">
                                      <p:cBhvr>
                                        <p:cTn id="27" dur="35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39" grpId="0"/>
      <p:bldP spid="46" grpId="0"/>
      <p:bldP spid="56" grpId="0"/>
      <p:bldP spid="63" grpId="0"/>
      <p:bldP spid="7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4554551"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Why this matters in practice</a:t>
            </a:r>
          </a:p>
        </p:txBody>
      </p:sp>
      <p:sp>
        <p:nvSpPr>
          <p:cNvPr id="6" name="TextBox 6"/>
          <p:cNvSpPr txBox="1"/>
          <p:nvPr/>
        </p:nvSpPr>
        <p:spPr>
          <a:xfrm>
            <a:off x="601599" y="858679"/>
            <a:ext cx="10406278"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useful question is not only correctness; it is how much avoidable runtime we leave on the table.</a:t>
            </a:r>
          </a:p>
        </p:txBody>
      </p:sp>
      <p:sp>
        <p:nvSpPr>
          <p:cNvPr id="7" name="Freeform 7"/>
          <p:cNvSpPr/>
          <p:nvPr/>
        </p:nvSpPr>
        <p:spPr>
          <a:xfrm>
            <a:off x="781050" y="1619250"/>
            <a:ext cx="4819650" cy="3429000"/>
          </a:xfrm>
          <a:custGeom>
            <a:avLst/>
            <a:gdLst/>
            <a:ahLst/>
            <a:cxnLst/>
            <a:rect l="l" t="t" r="r" b="b"/>
            <a:pathLst>
              <a:path w="4819650" h="3429000">
                <a:moveTo>
                  <a:pt x="76200" y="0"/>
                </a:moveTo>
                <a:lnTo>
                  <a:pt x="4743450" y="0"/>
                </a:lnTo>
                <a:cubicBezTo>
                  <a:pt x="4785534" y="0"/>
                  <a:pt x="4819650" y="34116"/>
                  <a:pt x="4819650" y="76200"/>
                </a:cubicBezTo>
                <a:lnTo>
                  <a:pt x="4819650" y="3352800"/>
                </a:lnTo>
                <a:cubicBezTo>
                  <a:pt x="4819650" y="3394884"/>
                  <a:pt x="4785534" y="3429000"/>
                  <a:pt x="4743450" y="3429000"/>
                </a:cubicBezTo>
                <a:lnTo>
                  <a:pt x="76200" y="3429000"/>
                </a:lnTo>
                <a:cubicBezTo>
                  <a:pt x="34116" y="3429000"/>
                  <a:pt x="0" y="3394884"/>
                  <a:pt x="0" y="33528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086612" y="1802130"/>
            <a:ext cx="3072956" cy="704088"/>
          </a:xfrm>
          <a:prstGeom prst="rect">
            <a:avLst/>
          </a:prstGeom>
          <a:noFill/>
          <a:ln>
            <a:noFill/>
          </a:ln>
        </p:spPr>
        <p:txBody>
          <a:bodyPr wrap="none" lIns="0" tIns="0" rIns="0" bIns="0" anchor="t" anchorCtr="0">
            <a:spAutoFit/>
          </a:bodyPr>
          <a:lstStyle/>
          <a:p>
            <a:pPr algn="l"/>
            <a:r>
              <a:rPr lang="en-US" sz="3600" b="1" dirty="0">
                <a:solidFill>
                  <a:srgbClr val="191919"/>
                </a:solidFill>
                <a:latin typeface="Styrene A"/>
                <a:ea typeface="Styrene A"/>
                <a:cs typeface="Styrene A"/>
              </a:rPr>
              <a:t>Same input,</a:t>
            </a:r>
          </a:p>
        </p:txBody>
      </p:sp>
      <p:sp>
        <p:nvSpPr>
          <p:cNvPr id="9" name="TextBox 9"/>
          <p:cNvSpPr txBox="1"/>
          <p:nvPr/>
        </p:nvSpPr>
        <p:spPr>
          <a:xfrm>
            <a:off x="1086612" y="2373630"/>
            <a:ext cx="3700394" cy="704088"/>
          </a:xfrm>
          <a:prstGeom prst="rect">
            <a:avLst/>
          </a:prstGeom>
          <a:noFill/>
          <a:ln>
            <a:noFill/>
          </a:ln>
        </p:spPr>
        <p:txBody>
          <a:bodyPr wrap="none" lIns="0" tIns="0" rIns="0" bIns="0" anchor="t" anchorCtr="0">
            <a:spAutoFit/>
          </a:bodyPr>
          <a:lstStyle/>
          <a:p>
            <a:pPr algn="l"/>
            <a:r>
              <a:rPr lang="en-US" sz="3600" b="1" dirty="0">
                <a:solidFill>
                  <a:srgbClr val="191919"/>
                </a:solidFill>
                <a:latin typeface="Styrene A"/>
                <a:ea typeface="Styrene A"/>
                <a:cs typeface="Styrene A"/>
              </a:rPr>
              <a:t>different cost</a:t>
            </a:r>
          </a:p>
        </p:txBody>
      </p:sp>
      <p:sp>
        <p:nvSpPr>
          <p:cNvPr id="10" name="TextBox 10"/>
          <p:cNvSpPr txBox="1"/>
          <p:nvPr/>
        </p:nvSpPr>
        <p:spPr>
          <a:xfrm>
            <a:off x="1093470" y="3186112"/>
            <a:ext cx="5617743"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A sorted-like array, a random array,</a:t>
            </a:r>
          </a:p>
        </p:txBody>
      </p:sp>
      <p:sp>
        <p:nvSpPr>
          <p:cNvPr id="11" name="TextBox 11"/>
          <p:cNvSpPr txBox="1"/>
          <p:nvPr/>
        </p:nvSpPr>
        <p:spPr>
          <a:xfrm>
            <a:off x="1093470" y="3567112"/>
            <a:ext cx="5050917"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and a duplicated array can reward</a:t>
            </a:r>
          </a:p>
        </p:txBody>
      </p:sp>
      <p:sp>
        <p:nvSpPr>
          <p:cNvPr id="12" name="TextBox 12"/>
          <p:cNvSpPr txBox="1"/>
          <p:nvPr/>
        </p:nvSpPr>
        <p:spPr>
          <a:xfrm>
            <a:off x="1093470" y="3948112"/>
            <a:ext cx="5278088"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different implementation behavior.</a:t>
            </a:r>
          </a:p>
        </p:txBody>
      </p:sp>
      <p:sp>
        <p:nvSpPr>
          <p:cNvPr id="13" name="Freeform 13"/>
          <p:cNvSpPr/>
          <p:nvPr/>
        </p:nvSpPr>
        <p:spPr>
          <a:xfrm>
            <a:off x="6381750" y="1619250"/>
            <a:ext cx="2381250" cy="3429000"/>
          </a:xfrm>
          <a:custGeom>
            <a:avLst/>
            <a:gdLst/>
            <a:ahLst/>
            <a:cxnLst/>
            <a:rect l="l" t="t" r="r" b="b"/>
            <a:pathLst>
              <a:path w="2381250" h="3429000">
                <a:moveTo>
                  <a:pt x="76200" y="0"/>
                </a:moveTo>
                <a:lnTo>
                  <a:pt x="2305050" y="0"/>
                </a:lnTo>
                <a:cubicBezTo>
                  <a:pt x="2347134" y="0"/>
                  <a:pt x="2381250" y="34116"/>
                  <a:pt x="2381250" y="76200"/>
                </a:cubicBezTo>
                <a:lnTo>
                  <a:pt x="2381250" y="3352800"/>
                </a:lnTo>
                <a:cubicBezTo>
                  <a:pt x="2381250" y="3394884"/>
                  <a:pt x="2347134" y="3429000"/>
                  <a:pt x="2305050" y="3429000"/>
                </a:cubicBezTo>
                <a:lnTo>
                  <a:pt x="76200" y="3429000"/>
                </a:lnTo>
                <a:cubicBezTo>
                  <a:pt x="34116" y="3429000"/>
                  <a:pt x="0" y="3394884"/>
                  <a:pt x="0" y="33528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4" name="TextBox 14"/>
          <p:cNvSpPr txBox="1"/>
          <p:nvPr/>
        </p:nvSpPr>
        <p:spPr>
          <a:xfrm>
            <a:off x="7070655" y="2110740"/>
            <a:ext cx="1003440" cy="352044"/>
          </a:xfrm>
          <a:prstGeom prst="rect">
            <a:avLst/>
          </a:prstGeom>
          <a:noFill/>
          <a:ln>
            <a:noFill/>
          </a:ln>
        </p:spPr>
        <p:txBody>
          <a:bodyPr wrap="none" lIns="0" tIns="0" rIns="0" bIns="0" anchor="t" anchorCtr="0">
            <a:spAutoFit/>
          </a:bodyPr>
          <a:lstStyle/>
          <a:p>
            <a:pPr algn="ctr"/>
            <a:r>
              <a:rPr lang="en-US" sz="1800" dirty="0">
                <a:solidFill>
                  <a:srgbClr val="64748B"/>
                </a:solidFill>
                <a:latin typeface="Anthropic Sans"/>
                <a:ea typeface="Anthropic Sans"/>
                <a:cs typeface="Anthropic Sans"/>
              </a:rPr>
              <a:t>Baseline</a:t>
            </a:r>
          </a:p>
        </p:txBody>
      </p:sp>
      <p:sp>
        <p:nvSpPr>
          <p:cNvPr id="15" name="TextBox 15"/>
          <p:cNvSpPr txBox="1"/>
          <p:nvPr/>
        </p:nvSpPr>
        <p:spPr>
          <a:xfrm>
            <a:off x="6991697" y="2640330"/>
            <a:ext cx="1161357" cy="704088"/>
          </a:xfrm>
          <a:prstGeom prst="rect">
            <a:avLst/>
          </a:prstGeom>
          <a:noFill/>
          <a:ln>
            <a:noFill/>
          </a:ln>
        </p:spPr>
        <p:txBody>
          <a:bodyPr wrap="none" lIns="0" tIns="0" rIns="0" bIns="0" anchor="t" anchorCtr="0">
            <a:spAutoFit/>
          </a:bodyPr>
          <a:lstStyle/>
          <a:p>
            <a:pPr algn="ctr"/>
            <a:r>
              <a:rPr lang="en-US" sz="3600" b="1" dirty="0">
                <a:solidFill>
                  <a:srgbClr val="191919"/>
                </a:solidFill>
                <a:latin typeface="Styrene A"/>
                <a:ea typeface="Styrene A"/>
                <a:cs typeface="Styrene A"/>
              </a:rPr>
              <a:t>SBS</a:t>
            </a:r>
          </a:p>
        </p:txBody>
      </p:sp>
      <p:sp>
        <p:nvSpPr>
          <p:cNvPr id="16" name="TextBox 16"/>
          <p:cNvSpPr txBox="1"/>
          <p:nvPr/>
        </p:nvSpPr>
        <p:spPr>
          <a:xfrm>
            <a:off x="6864687" y="3487579"/>
            <a:ext cx="1415377"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one algorithm</a:t>
            </a:r>
          </a:p>
        </p:txBody>
      </p:sp>
      <p:sp>
        <p:nvSpPr>
          <p:cNvPr id="17" name="TextBox 17"/>
          <p:cNvSpPr txBox="1"/>
          <p:nvPr/>
        </p:nvSpPr>
        <p:spPr>
          <a:xfrm>
            <a:off x="6880589" y="3773329"/>
            <a:ext cx="1383573"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for all inputs</a:t>
            </a:r>
          </a:p>
        </p:txBody>
      </p:sp>
      <p:sp>
        <p:nvSpPr>
          <p:cNvPr id="18" name="Freeform 18"/>
          <p:cNvSpPr/>
          <p:nvPr/>
        </p:nvSpPr>
        <p:spPr>
          <a:xfrm>
            <a:off x="9124950" y="1619250"/>
            <a:ext cx="2381250" cy="3429000"/>
          </a:xfrm>
          <a:custGeom>
            <a:avLst/>
            <a:gdLst/>
            <a:ahLst/>
            <a:cxnLst/>
            <a:rect l="l" t="t" r="r" b="b"/>
            <a:pathLst>
              <a:path w="2381250" h="3429000">
                <a:moveTo>
                  <a:pt x="76200" y="0"/>
                </a:moveTo>
                <a:lnTo>
                  <a:pt x="2305050" y="0"/>
                </a:lnTo>
                <a:cubicBezTo>
                  <a:pt x="2347134" y="0"/>
                  <a:pt x="2381250" y="34116"/>
                  <a:pt x="2381250" y="76200"/>
                </a:cubicBezTo>
                <a:lnTo>
                  <a:pt x="2381250" y="3352800"/>
                </a:lnTo>
                <a:cubicBezTo>
                  <a:pt x="2381250" y="3394884"/>
                  <a:pt x="2347134" y="3429000"/>
                  <a:pt x="2305050" y="3429000"/>
                </a:cubicBezTo>
                <a:lnTo>
                  <a:pt x="76200" y="3429000"/>
                </a:lnTo>
                <a:cubicBezTo>
                  <a:pt x="34116" y="3429000"/>
                  <a:pt x="0" y="3394884"/>
                  <a:pt x="0" y="3352800"/>
                </a:cubicBezTo>
                <a:lnTo>
                  <a:pt x="0" y="76200"/>
                </a:lnTo>
                <a:cubicBezTo>
                  <a:pt x="0" y="34116"/>
                  <a:pt x="34116" y="0"/>
                  <a:pt x="76200" y="0"/>
                </a:cubicBezTo>
                <a:close/>
              </a:path>
            </a:pathLst>
          </a:custGeom>
          <a:solidFill>
            <a:srgbClr val="191919"/>
          </a:solidFill>
          <a:ln>
            <a:noFill/>
          </a:ln>
        </p:spPr>
        <p:txBody>
          <a:bodyPr/>
          <a:lstStyle/>
          <a:p>
            <a:endParaRPr/>
          </a:p>
        </p:txBody>
      </p:sp>
      <p:sp>
        <p:nvSpPr>
          <p:cNvPr id="19" name="TextBox 19"/>
          <p:cNvSpPr txBox="1"/>
          <p:nvPr/>
        </p:nvSpPr>
        <p:spPr>
          <a:xfrm>
            <a:off x="9883978" y="2110740"/>
            <a:ext cx="863194" cy="352044"/>
          </a:xfrm>
          <a:prstGeom prst="rect">
            <a:avLst/>
          </a:prstGeom>
          <a:noFill/>
          <a:ln>
            <a:noFill/>
          </a:ln>
        </p:spPr>
        <p:txBody>
          <a:bodyPr wrap="none" lIns="0" tIns="0" rIns="0" bIns="0" anchor="t" anchorCtr="0">
            <a:spAutoFit/>
          </a:bodyPr>
          <a:lstStyle/>
          <a:p>
            <a:pPr algn="ctr"/>
            <a:r>
              <a:rPr lang="en-US" sz="1800" dirty="0">
                <a:solidFill>
                  <a:srgbClr val="FFFFFF"/>
                </a:solidFill>
                <a:latin typeface="Anthropic Sans"/>
                <a:ea typeface="Anthropic Sans"/>
                <a:cs typeface="Anthropic Sans"/>
              </a:rPr>
              <a:t>Target</a:t>
            </a:r>
          </a:p>
        </p:txBody>
      </p:sp>
      <p:sp>
        <p:nvSpPr>
          <p:cNvPr id="20" name="TextBox 20"/>
          <p:cNvSpPr txBox="1"/>
          <p:nvPr/>
        </p:nvSpPr>
        <p:spPr>
          <a:xfrm>
            <a:off x="9734897" y="2640330"/>
            <a:ext cx="1161357" cy="704088"/>
          </a:xfrm>
          <a:prstGeom prst="rect">
            <a:avLst/>
          </a:prstGeom>
          <a:noFill/>
          <a:ln>
            <a:noFill/>
          </a:ln>
        </p:spPr>
        <p:txBody>
          <a:bodyPr wrap="none" lIns="0" tIns="0" rIns="0" bIns="0" anchor="t" anchorCtr="0">
            <a:spAutoFit/>
          </a:bodyPr>
          <a:lstStyle/>
          <a:p>
            <a:pPr algn="ctr"/>
            <a:r>
              <a:rPr lang="en-US" sz="3600" b="1" dirty="0">
                <a:solidFill>
                  <a:srgbClr val="D97757"/>
                </a:solidFill>
                <a:latin typeface="Styrene A"/>
                <a:ea typeface="Styrene A"/>
                <a:cs typeface="Styrene A"/>
              </a:rPr>
              <a:t>VBS</a:t>
            </a:r>
          </a:p>
        </p:txBody>
      </p:sp>
      <p:sp>
        <p:nvSpPr>
          <p:cNvPr id="21" name="TextBox 21"/>
          <p:cNvSpPr txBox="1"/>
          <p:nvPr/>
        </p:nvSpPr>
        <p:spPr>
          <a:xfrm>
            <a:off x="9549579" y="3487579"/>
            <a:ext cx="1531991" cy="308039"/>
          </a:xfrm>
          <a:prstGeom prst="rect">
            <a:avLst/>
          </a:prstGeom>
          <a:noFill/>
          <a:ln>
            <a:noFill/>
          </a:ln>
        </p:spPr>
        <p:txBody>
          <a:bodyPr wrap="none" lIns="0" tIns="0" rIns="0" bIns="0" anchor="t" anchorCtr="0">
            <a:spAutoFit/>
          </a:bodyPr>
          <a:lstStyle/>
          <a:p>
            <a:pPr algn="ctr"/>
            <a:r>
              <a:rPr lang="en-US" sz="1580" dirty="0">
                <a:solidFill>
                  <a:srgbClr val="FFFFFF"/>
                </a:solidFill>
                <a:latin typeface="Anthropic Sans"/>
                <a:ea typeface="Anthropic Sans"/>
                <a:cs typeface="Anthropic Sans"/>
              </a:rPr>
              <a:t>best algorithm</a:t>
            </a:r>
          </a:p>
        </p:txBody>
      </p:sp>
      <p:sp>
        <p:nvSpPr>
          <p:cNvPr id="22" name="TextBox 22"/>
          <p:cNvSpPr txBox="1"/>
          <p:nvPr/>
        </p:nvSpPr>
        <p:spPr>
          <a:xfrm>
            <a:off x="9835815" y="3773329"/>
            <a:ext cx="959520" cy="308039"/>
          </a:xfrm>
          <a:prstGeom prst="rect">
            <a:avLst/>
          </a:prstGeom>
          <a:noFill/>
          <a:ln>
            <a:noFill/>
          </a:ln>
        </p:spPr>
        <p:txBody>
          <a:bodyPr wrap="none" lIns="0" tIns="0" rIns="0" bIns="0" anchor="t" anchorCtr="0">
            <a:spAutoFit/>
          </a:bodyPr>
          <a:lstStyle/>
          <a:p>
            <a:pPr algn="ctr"/>
            <a:r>
              <a:rPr lang="en-US" sz="1580" dirty="0">
                <a:solidFill>
                  <a:srgbClr val="FFFFFF"/>
                </a:solidFill>
                <a:latin typeface="Anthropic Sans"/>
                <a:ea typeface="Anthropic Sans"/>
                <a:cs typeface="Anthropic Sans"/>
              </a:rPr>
              <a:t>per input</a:t>
            </a:r>
          </a:p>
        </p:txBody>
      </p:sp>
      <p:sp>
        <p:nvSpPr>
          <p:cNvPr id="23" name="TextBox 23"/>
          <p:cNvSpPr txBox="1"/>
          <p:nvPr/>
        </p:nvSpPr>
        <p:spPr>
          <a:xfrm>
            <a:off x="769620" y="5233988"/>
            <a:ext cx="6583345"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The model is useful if it moves close to VBS</a:t>
            </a:r>
          </a:p>
        </p:txBody>
      </p:sp>
      <p:sp>
        <p:nvSpPr>
          <p:cNvPr id="24" name="TextBox 24"/>
          <p:cNvSpPr txBox="1"/>
          <p:nvPr/>
        </p:nvSpPr>
        <p:spPr>
          <a:xfrm>
            <a:off x="769620" y="5614988"/>
            <a:ext cx="4778312"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without trying every algorithm.</a:t>
            </a:r>
          </a:p>
        </p:txBody>
      </p:sp>
      <p:sp>
        <p:nvSpPr>
          <p:cNvPr id="25" name="Line 25"/>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7" name="Freeform 27"/>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8" name="Rectangle 27"/>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4/24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4460480"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What previous work gives us</a:t>
            </a:r>
          </a:p>
        </p:txBody>
      </p:sp>
      <p:sp>
        <p:nvSpPr>
          <p:cNvPr id="6" name="TextBox 6"/>
          <p:cNvSpPr txBox="1"/>
          <p:nvPr/>
        </p:nvSpPr>
        <p:spPr>
          <a:xfrm>
            <a:off x="601599" y="858679"/>
            <a:ext cx="10468594"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idea is connected to algorithm selection, adaptive sorting, and learned performance prediction.</a:t>
            </a:r>
          </a:p>
        </p:txBody>
      </p:sp>
      <p:sp>
        <p:nvSpPr>
          <p:cNvPr id="7" name="Freeform 7"/>
          <p:cNvSpPr/>
          <p:nvPr/>
        </p:nvSpPr>
        <p:spPr>
          <a:xfrm>
            <a:off x="685800" y="1524000"/>
            <a:ext cx="3276600" cy="3619500"/>
          </a:xfrm>
          <a:custGeom>
            <a:avLst/>
            <a:gdLst/>
            <a:ahLst/>
            <a:cxnLst/>
            <a:rect l="l" t="t" r="r" b="b"/>
            <a:pathLst>
              <a:path w="3276600" h="3619500">
                <a:moveTo>
                  <a:pt x="76200" y="0"/>
                </a:moveTo>
                <a:lnTo>
                  <a:pt x="3200400" y="0"/>
                </a:lnTo>
                <a:cubicBezTo>
                  <a:pt x="3242484" y="0"/>
                  <a:pt x="3276600" y="34116"/>
                  <a:pt x="3276600" y="76200"/>
                </a:cubicBezTo>
                <a:lnTo>
                  <a:pt x="3276600" y="3543300"/>
                </a:lnTo>
                <a:cubicBezTo>
                  <a:pt x="3276600" y="3585384"/>
                  <a:pt x="3242484" y="3619500"/>
                  <a:pt x="32004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960120" y="1795462"/>
            <a:ext cx="3068841"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Algorithm selection</a:t>
            </a:r>
          </a:p>
        </p:txBody>
      </p:sp>
      <p:sp>
        <p:nvSpPr>
          <p:cNvPr id="9" name="TextBox 9"/>
          <p:cNvSpPr txBox="1"/>
          <p:nvPr/>
        </p:nvSpPr>
        <p:spPr>
          <a:xfrm>
            <a:off x="962406" y="2434590"/>
            <a:ext cx="2946363"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Rice formalized choosing</a:t>
            </a:r>
          </a:p>
        </p:txBody>
      </p:sp>
      <p:sp>
        <p:nvSpPr>
          <p:cNvPr id="10" name="TextBox 10"/>
          <p:cNvSpPr txBox="1"/>
          <p:nvPr/>
        </p:nvSpPr>
        <p:spPr>
          <a:xfrm>
            <a:off x="962406" y="2758440"/>
            <a:ext cx="261106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a solver from problem</a:t>
            </a:r>
          </a:p>
        </p:txBody>
      </p:sp>
      <p:sp>
        <p:nvSpPr>
          <p:cNvPr id="11" name="TextBox 11"/>
          <p:cNvSpPr txBox="1"/>
          <p:nvPr/>
        </p:nvSpPr>
        <p:spPr>
          <a:xfrm>
            <a:off x="962406" y="3082290"/>
            <a:ext cx="1217752"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features.</a:t>
            </a:r>
          </a:p>
        </p:txBody>
      </p:sp>
      <p:sp>
        <p:nvSpPr>
          <p:cNvPr id="12" name="TextBox 12"/>
          <p:cNvSpPr txBox="1"/>
          <p:nvPr/>
        </p:nvSpPr>
        <p:spPr>
          <a:xfrm>
            <a:off x="963549" y="4040029"/>
            <a:ext cx="2741514"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My use: sorting algorithm</a:t>
            </a:r>
          </a:p>
        </p:txBody>
      </p:sp>
      <p:sp>
        <p:nvSpPr>
          <p:cNvPr id="13" name="TextBox 13"/>
          <p:cNvSpPr txBox="1"/>
          <p:nvPr/>
        </p:nvSpPr>
        <p:spPr>
          <a:xfrm>
            <a:off x="963549" y="4344829"/>
            <a:ext cx="2963170"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choice as a supervised task.</a:t>
            </a:r>
          </a:p>
        </p:txBody>
      </p:sp>
      <p:sp>
        <p:nvSpPr>
          <p:cNvPr id="14" name="Freeform 14"/>
          <p:cNvSpPr/>
          <p:nvPr/>
        </p:nvSpPr>
        <p:spPr>
          <a:xfrm>
            <a:off x="4457700" y="1524000"/>
            <a:ext cx="3276600" cy="3619500"/>
          </a:xfrm>
          <a:custGeom>
            <a:avLst/>
            <a:gdLst/>
            <a:ahLst/>
            <a:cxnLst/>
            <a:rect l="l" t="t" r="r" b="b"/>
            <a:pathLst>
              <a:path w="3276600" h="3619500">
                <a:moveTo>
                  <a:pt x="76200" y="0"/>
                </a:moveTo>
                <a:lnTo>
                  <a:pt x="3200400" y="0"/>
                </a:lnTo>
                <a:cubicBezTo>
                  <a:pt x="3242484" y="0"/>
                  <a:pt x="3276600" y="34116"/>
                  <a:pt x="3276600" y="76200"/>
                </a:cubicBezTo>
                <a:lnTo>
                  <a:pt x="3276600" y="3543300"/>
                </a:lnTo>
                <a:cubicBezTo>
                  <a:pt x="3276600" y="3585384"/>
                  <a:pt x="3242484" y="3619500"/>
                  <a:pt x="32004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5" name="TextBox 15"/>
          <p:cNvSpPr txBox="1"/>
          <p:nvPr/>
        </p:nvSpPr>
        <p:spPr>
          <a:xfrm>
            <a:off x="4732020" y="1795462"/>
            <a:ext cx="264104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Adaptive sorting</a:t>
            </a:r>
          </a:p>
        </p:txBody>
      </p:sp>
      <p:sp>
        <p:nvSpPr>
          <p:cNvPr id="16" name="TextBox 16"/>
          <p:cNvSpPr txBox="1"/>
          <p:nvPr/>
        </p:nvSpPr>
        <p:spPr>
          <a:xfrm>
            <a:off x="4734306" y="2434590"/>
            <a:ext cx="3059288"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Timsort and related work</a:t>
            </a:r>
          </a:p>
        </p:txBody>
      </p:sp>
      <p:sp>
        <p:nvSpPr>
          <p:cNvPr id="17" name="TextBox 17"/>
          <p:cNvSpPr txBox="1"/>
          <p:nvPr/>
        </p:nvSpPr>
        <p:spPr>
          <a:xfrm>
            <a:off x="4734306" y="2758440"/>
            <a:ext cx="2926080"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exploit runs and existing</a:t>
            </a:r>
          </a:p>
        </p:txBody>
      </p:sp>
      <p:sp>
        <p:nvSpPr>
          <p:cNvPr id="18" name="TextBox 18"/>
          <p:cNvSpPr txBox="1"/>
          <p:nvPr/>
        </p:nvSpPr>
        <p:spPr>
          <a:xfrm>
            <a:off x="4734306" y="3082290"/>
            <a:ext cx="170238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order in data.</a:t>
            </a:r>
          </a:p>
        </p:txBody>
      </p:sp>
      <p:sp>
        <p:nvSpPr>
          <p:cNvPr id="19" name="TextBox 19"/>
          <p:cNvSpPr txBox="1"/>
          <p:nvPr/>
        </p:nvSpPr>
        <p:spPr>
          <a:xfrm>
            <a:off x="4735449" y="4040029"/>
            <a:ext cx="3049720"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My use: expose these signals</a:t>
            </a:r>
          </a:p>
        </p:txBody>
      </p:sp>
      <p:sp>
        <p:nvSpPr>
          <p:cNvPr id="20" name="TextBox 20"/>
          <p:cNvSpPr txBox="1"/>
          <p:nvPr/>
        </p:nvSpPr>
        <p:spPr>
          <a:xfrm>
            <a:off x="4735449" y="4344829"/>
            <a:ext cx="2581523"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as measurable features.</a:t>
            </a:r>
          </a:p>
        </p:txBody>
      </p:sp>
      <p:sp>
        <p:nvSpPr>
          <p:cNvPr id="21" name="Freeform 21"/>
          <p:cNvSpPr/>
          <p:nvPr/>
        </p:nvSpPr>
        <p:spPr>
          <a:xfrm>
            <a:off x="8229600" y="1524000"/>
            <a:ext cx="3276600" cy="3619500"/>
          </a:xfrm>
          <a:custGeom>
            <a:avLst/>
            <a:gdLst/>
            <a:ahLst/>
            <a:cxnLst/>
            <a:rect l="l" t="t" r="r" b="b"/>
            <a:pathLst>
              <a:path w="3276600" h="3619500">
                <a:moveTo>
                  <a:pt x="76200" y="0"/>
                </a:moveTo>
                <a:lnTo>
                  <a:pt x="3200400" y="0"/>
                </a:lnTo>
                <a:cubicBezTo>
                  <a:pt x="3242484" y="0"/>
                  <a:pt x="3276600" y="34116"/>
                  <a:pt x="3276600" y="76200"/>
                </a:cubicBezTo>
                <a:lnTo>
                  <a:pt x="3276600" y="3543300"/>
                </a:lnTo>
                <a:cubicBezTo>
                  <a:pt x="3276600" y="3585384"/>
                  <a:pt x="3242484" y="3619500"/>
                  <a:pt x="32004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22" name="TextBox 22"/>
          <p:cNvSpPr txBox="1"/>
          <p:nvPr/>
        </p:nvSpPr>
        <p:spPr>
          <a:xfrm>
            <a:off x="8503920" y="1795462"/>
            <a:ext cx="3201916"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Performance models</a:t>
            </a:r>
          </a:p>
        </p:txBody>
      </p:sp>
      <p:sp>
        <p:nvSpPr>
          <p:cNvPr id="23" name="TextBox 23"/>
          <p:cNvSpPr txBox="1"/>
          <p:nvPr/>
        </p:nvSpPr>
        <p:spPr>
          <a:xfrm>
            <a:off x="8506206" y="2434590"/>
            <a:ext cx="284179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ML can predict runtime</a:t>
            </a:r>
          </a:p>
        </p:txBody>
      </p:sp>
      <p:sp>
        <p:nvSpPr>
          <p:cNvPr id="24" name="TextBox 24"/>
          <p:cNvSpPr txBox="1"/>
          <p:nvPr/>
        </p:nvSpPr>
        <p:spPr>
          <a:xfrm>
            <a:off x="8506206" y="2758440"/>
            <a:ext cx="328955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behavior when features are</a:t>
            </a:r>
          </a:p>
        </p:txBody>
      </p:sp>
      <p:sp>
        <p:nvSpPr>
          <p:cNvPr id="25" name="TextBox 25"/>
          <p:cNvSpPr txBox="1"/>
          <p:nvPr/>
        </p:nvSpPr>
        <p:spPr>
          <a:xfrm>
            <a:off x="8506206" y="3082290"/>
            <a:ext cx="1690268"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cheap enough.</a:t>
            </a:r>
          </a:p>
        </p:txBody>
      </p:sp>
      <p:sp>
        <p:nvSpPr>
          <p:cNvPr id="26" name="TextBox 26"/>
          <p:cNvSpPr txBox="1"/>
          <p:nvPr/>
        </p:nvSpPr>
        <p:spPr>
          <a:xfrm>
            <a:off x="8507349" y="4040029"/>
            <a:ext cx="2989288"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My use: evaluate by regret,</a:t>
            </a:r>
          </a:p>
        </p:txBody>
      </p:sp>
      <p:sp>
        <p:nvSpPr>
          <p:cNvPr id="27" name="TextBox 27"/>
          <p:cNvSpPr txBox="1"/>
          <p:nvPr/>
        </p:nvSpPr>
        <p:spPr>
          <a:xfrm>
            <a:off x="8507349" y="4344829"/>
            <a:ext cx="2496712"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not only label accuracy.</a:t>
            </a:r>
          </a:p>
        </p:txBody>
      </p:sp>
      <p:sp>
        <p:nvSpPr>
          <p:cNvPr id="28" name="TextBox 28"/>
          <p:cNvSpPr txBox="1"/>
          <p:nvPr/>
        </p:nvSpPr>
        <p:spPr>
          <a:xfrm>
            <a:off x="674370" y="5233988"/>
            <a:ext cx="6053221"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So the contribution is not a new sorter.</a:t>
            </a:r>
          </a:p>
        </p:txBody>
      </p:sp>
      <p:sp>
        <p:nvSpPr>
          <p:cNvPr id="29" name="TextBox 29"/>
          <p:cNvSpPr txBox="1"/>
          <p:nvPr/>
        </p:nvSpPr>
        <p:spPr>
          <a:xfrm>
            <a:off x="674370" y="5614988"/>
            <a:ext cx="7564864"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It is a measured selector around existing sorters.</a:t>
            </a:r>
          </a:p>
        </p:txBody>
      </p:sp>
      <p:sp>
        <p:nvSpPr>
          <p:cNvPr id="30" name="Line 3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32" name="Freeform 3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33" name="Rectangle 3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5/24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2991060"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Research objective</a:t>
            </a:r>
          </a:p>
        </p:txBody>
      </p:sp>
      <p:sp>
        <p:nvSpPr>
          <p:cNvPr id="6" name="TextBox 6"/>
          <p:cNvSpPr txBox="1"/>
          <p:nvPr/>
        </p:nvSpPr>
        <p:spPr>
          <a:xfrm>
            <a:off x="601599" y="858679"/>
            <a:ext cx="10840628"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Build a selector that is cheap enough to run before sorting and close most of the practical runtime gap.</a:t>
            </a:r>
          </a:p>
        </p:txBody>
      </p:sp>
      <p:sp>
        <p:nvSpPr>
          <p:cNvPr id="7" name="TextBox 7"/>
          <p:cNvSpPr txBox="1"/>
          <p:nvPr/>
        </p:nvSpPr>
        <p:spPr>
          <a:xfrm>
            <a:off x="838962" y="1564005"/>
            <a:ext cx="8862383" cy="704088"/>
          </a:xfrm>
          <a:prstGeom prst="rect">
            <a:avLst/>
          </a:prstGeom>
          <a:noFill/>
          <a:ln>
            <a:noFill/>
          </a:ln>
        </p:spPr>
        <p:txBody>
          <a:bodyPr wrap="none" lIns="0" tIns="0" rIns="0" bIns="0" anchor="t" anchorCtr="0">
            <a:spAutoFit/>
          </a:bodyPr>
          <a:lstStyle/>
          <a:p>
            <a:pPr algn="l"/>
            <a:r>
              <a:rPr lang="en-US" sz="3600" b="1" dirty="0">
                <a:solidFill>
                  <a:srgbClr val="191919"/>
                </a:solidFill>
                <a:latin typeface="Styrene A"/>
                <a:ea typeface="Styrene A"/>
                <a:cs typeface="Styrene A"/>
              </a:rPr>
              <a:t>Can simple array structure predict</a:t>
            </a:r>
          </a:p>
        </p:txBody>
      </p:sp>
      <p:sp>
        <p:nvSpPr>
          <p:cNvPr id="8" name="TextBox 8"/>
          <p:cNvSpPr txBox="1"/>
          <p:nvPr/>
        </p:nvSpPr>
        <p:spPr>
          <a:xfrm>
            <a:off x="838962" y="2087880"/>
            <a:ext cx="6931678" cy="704088"/>
          </a:xfrm>
          <a:prstGeom prst="rect">
            <a:avLst/>
          </a:prstGeom>
          <a:noFill/>
          <a:ln>
            <a:noFill/>
          </a:ln>
        </p:spPr>
        <p:txBody>
          <a:bodyPr wrap="none" lIns="0" tIns="0" rIns="0" bIns="0" anchor="t" anchorCtr="0">
            <a:spAutoFit/>
          </a:bodyPr>
          <a:lstStyle/>
          <a:p>
            <a:pPr algn="l"/>
            <a:r>
              <a:rPr lang="en-US" sz="3600" b="1" dirty="0">
                <a:solidFill>
                  <a:srgbClr val="191919"/>
                </a:solidFill>
                <a:latin typeface="Styrene A"/>
                <a:ea typeface="Styrene A"/>
                <a:cs typeface="Styrene A"/>
              </a:rPr>
              <a:t>the best sorting algorithm?</a:t>
            </a:r>
          </a:p>
        </p:txBody>
      </p:sp>
      <p:sp>
        <p:nvSpPr>
          <p:cNvPr id="9" name="Freeform 9"/>
          <p:cNvSpPr/>
          <p:nvPr/>
        </p:nvSpPr>
        <p:spPr>
          <a:xfrm>
            <a:off x="857250" y="3238500"/>
            <a:ext cx="3143250" cy="1428750"/>
          </a:xfrm>
          <a:custGeom>
            <a:avLst/>
            <a:gdLst/>
            <a:ahLst/>
            <a:cxnLst/>
            <a:rect l="l" t="t" r="r" b="b"/>
            <a:pathLst>
              <a:path w="3143250" h="1428750">
                <a:moveTo>
                  <a:pt x="76200" y="0"/>
                </a:moveTo>
                <a:lnTo>
                  <a:pt x="3067050" y="0"/>
                </a:lnTo>
                <a:cubicBezTo>
                  <a:pt x="3109134" y="0"/>
                  <a:pt x="3143250" y="34116"/>
                  <a:pt x="3143250" y="76200"/>
                </a:cubicBezTo>
                <a:lnTo>
                  <a:pt x="3143250" y="1352550"/>
                </a:lnTo>
                <a:cubicBezTo>
                  <a:pt x="3143250" y="1394634"/>
                  <a:pt x="3109134" y="1428750"/>
                  <a:pt x="3067050" y="1428750"/>
                </a:cubicBezTo>
                <a:lnTo>
                  <a:pt x="76200" y="1428750"/>
                </a:lnTo>
                <a:cubicBezTo>
                  <a:pt x="34116" y="1428750"/>
                  <a:pt x="0" y="1394634"/>
                  <a:pt x="0" y="1352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0" name="TextBox 10"/>
          <p:cNvSpPr txBox="1"/>
          <p:nvPr/>
        </p:nvSpPr>
        <p:spPr>
          <a:xfrm>
            <a:off x="1112520" y="3490912"/>
            <a:ext cx="1481642"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Accuracy</a:t>
            </a:r>
          </a:p>
        </p:txBody>
      </p:sp>
      <p:sp>
        <p:nvSpPr>
          <p:cNvPr id="11" name="TextBox 11"/>
          <p:cNvSpPr txBox="1"/>
          <p:nvPr/>
        </p:nvSpPr>
        <p:spPr>
          <a:xfrm>
            <a:off x="1114806" y="3977640"/>
            <a:ext cx="2613436"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Does the label match?</a:t>
            </a:r>
          </a:p>
        </p:txBody>
      </p:sp>
      <p:sp>
        <p:nvSpPr>
          <p:cNvPr id="12" name="Freeform 12"/>
          <p:cNvSpPr/>
          <p:nvPr/>
        </p:nvSpPr>
        <p:spPr>
          <a:xfrm>
            <a:off x="4524375" y="3238500"/>
            <a:ext cx="3143250" cy="1428750"/>
          </a:xfrm>
          <a:custGeom>
            <a:avLst/>
            <a:gdLst/>
            <a:ahLst/>
            <a:cxnLst/>
            <a:rect l="l" t="t" r="r" b="b"/>
            <a:pathLst>
              <a:path w="3143250" h="1428750">
                <a:moveTo>
                  <a:pt x="76200" y="0"/>
                </a:moveTo>
                <a:lnTo>
                  <a:pt x="3067050" y="0"/>
                </a:lnTo>
                <a:cubicBezTo>
                  <a:pt x="3109134" y="0"/>
                  <a:pt x="3143250" y="34116"/>
                  <a:pt x="3143250" y="76200"/>
                </a:cubicBezTo>
                <a:lnTo>
                  <a:pt x="3143250" y="1352550"/>
                </a:lnTo>
                <a:cubicBezTo>
                  <a:pt x="3143250" y="1394634"/>
                  <a:pt x="3109134" y="1428750"/>
                  <a:pt x="3067050" y="1428750"/>
                </a:cubicBezTo>
                <a:lnTo>
                  <a:pt x="76200" y="1428750"/>
                </a:lnTo>
                <a:cubicBezTo>
                  <a:pt x="34116" y="1428750"/>
                  <a:pt x="0" y="1394634"/>
                  <a:pt x="0" y="1352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3" name="TextBox 13"/>
          <p:cNvSpPr txBox="1"/>
          <p:nvPr/>
        </p:nvSpPr>
        <p:spPr>
          <a:xfrm>
            <a:off x="4779645" y="3490912"/>
            <a:ext cx="1131799"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Regret</a:t>
            </a:r>
          </a:p>
        </p:txBody>
      </p:sp>
      <p:sp>
        <p:nvSpPr>
          <p:cNvPr id="14" name="TextBox 14"/>
          <p:cNvSpPr txBox="1"/>
          <p:nvPr/>
        </p:nvSpPr>
        <p:spPr>
          <a:xfrm>
            <a:off x="4781931" y="3977640"/>
            <a:ext cx="294105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How costly is a mistake?</a:t>
            </a:r>
          </a:p>
        </p:txBody>
      </p:sp>
      <p:sp>
        <p:nvSpPr>
          <p:cNvPr id="15" name="Freeform 15"/>
          <p:cNvSpPr/>
          <p:nvPr/>
        </p:nvSpPr>
        <p:spPr>
          <a:xfrm>
            <a:off x="8191500" y="3238500"/>
            <a:ext cx="3143250" cy="1428750"/>
          </a:xfrm>
          <a:custGeom>
            <a:avLst/>
            <a:gdLst/>
            <a:ahLst/>
            <a:cxnLst/>
            <a:rect l="l" t="t" r="r" b="b"/>
            <a:pathLst>
              <a:path w="3143250" h="1428750">
                <a:moveTo>
                  <a:pt x="76200" y="0"/>
                </a:moveTo>
                <a:lnTo>
                  <a:pt x="3067050" y="0"/>
                </a:lnTo>
                <a:cubicBezTo>
                  <a:pt x="3109134" y="0"/>
                  <a:pt x="3143250" y="34116"/>
                  <a:pt x="3143250" y="76200"/>
                </a:cubicBezTo>
                <a:lnTo>
                  <a:pt x="3143250" y="1352550"/>
                </a:lnTo>
                <a:cubicBezTo>
                  <a:pt x="3143250" y="1394634"/>
                  <a:pt x="3109134" y="1428750"/>
                  <a:pt x="3067050" y="1428750"/>
                </a:cubicBezTo>
                <a:lnTo>
                  <a:pt x="76200" y="1428750"/>
                </a:lnTo>
                <a:cubicBezTo>
                  <a:pt x="34116" y="1428750"/>
                  <a:pt x="0" y="1394634"/>
                  <a:pt x="0" y="1352550"/>
                </a:cubicBezTo>
                <a:lnTo>
                  <a:pt x="0" y="76200"/>
                </a:lnTo>
                <a:cubicBezTo>
                  <a:pt x="0" y="34116"/>
                  <a:pt x="34116" y="0"/>
                  <a:pt x="76200" y="0"/>
                </a:cubicBezTo>
                <a:close/>
              </a:path>
            </a:pathLst>
          </a:custGeom>
          <a:solidFill>
            <a:srgbClr val="191919"/>
          </a:solidFill>
          <a:ln>
            <a:noFill/>
          </a:ln>
        </p:spPr>
        <p:txBody>
          <a:bodyPr/>
          <a:lstStyle/>
          <a:p>
            <a:endParaRPr/>
          </a:p>
        </p:txBody>
      </p:sp>
      <p:sp>
        <p:nvSpPr>
          <p:cNvPr id="16" name="TextBox 16"/>
          <p:cNvSpPr txBox="1"/>
          <p:nvPr/>
        </p:nvSpPr>
        <p:spPr>
          <a:xfrm>
            <a:off x="8446770" y="3490912"/>
            <a:ext cx="2181330"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Anthropic Sans"/>
                <a:ea typeface="Anthropic Sans"/>
                <a:cs typeface="Anthropic Sans"/>
              </a:rPr>
              <a:t>Runtime value</a:t>
            </a:r>
          </a:p>
        </p:txBody>
      </p:sp>
      <p:sp>
        <p:nvSpPr>
          <p:cNvPr id="17" name="TextBox 17"/>
          <p:cNvSpPr txBox="1"/>
          <p:nvPr/>
        </p:nvSpPr>
        <p:spPr>
          <a:xfrm>
            <a:off x="8449056" y="3977640"/>
            <a:ext cx="2306592"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How close to VBS?</a:t>
            </a:r>
          </a:p>
        </p:txBody>
      </p:sp>
      <p:sp>
        <p:nvSpPr>
          <p:cNvPr id="18" name="TextBox 18"/>
          <p:cNvSpPr txBox="1"/>
          <p:nvPr/>
        </p:nvSpPr>
        <p:spPr>
          <a:xfrm>
            <a:off x="845820" y="5233988"/>
            <a:ext cx="11973606"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This is why the result is defended with both model accuracy and runtime regret.</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6/24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7210622"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data was intentionally not from one shape</a:t>
            </a:r>
          </a:p>
        </p:txBody>
      </p:sp>
      <p:sp>
        <p:nvSpPr>
          <p:cNvPr id="6" name="TextBox 6"/>
          <p:cNvSpPr txBox="1"/>
          <p:nvPr/>
        </p:nvSpPr>
        <p:spPr>
          <a:xfrm>
            <a:off x="601599" y="858679"/>
            <a:ext cx="7370978"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final dataset contains 1.18M arrays from five real-data domains.</a:t>
            </a:r>
          </a:p>
        </p:txBody>
      </p:sp>
      <p:sp>
        <p:nvSpPr>
          <p:cNvPr id="7" name="TextBox 7"/>
          <p:cNvSpPr txBox="1"/>
          <p:nvPr/>
        </p:nvSpPr>
        <p:spPr>
          <a:xfrm>
            <a:off x="685800" y="1416368"/>
            <a:ext cx="3305928" cy="1133475"/>
          </a:xfrm>
          <a:prstGeom prst="rect">
            <a:avLst/>
          </a:prstGeom>
          <a:noFill/>
          <a:ln>
            <a:noFill/>
          </a:ln>
        </p:spPr>
        <p:txBody>
          <a:bodyPr wrap="none" lIns="0" tIns="0" rIns="0" bIns="0" anchor="t" anchorCtr="0">
            <a:spAutoFit/>
          </a:bodyPr>
          <a:lstStyle/>
          <a:p>
            <a:pPr algn="l"/>
            <a:r>
              <a:rPr lang="en-US" sz="5850" b="1" dirty="0">
                <a:solidFill>
                  <a:srgbClr val="D97757"/>
                </a:solidFill>
                <a:latin typeface="Styrene A"/>
                <a:ea typeface="Styrene A"/>
                <a:cs typeface="Styrene A"/>
              </a:rPr>
              <a:t>1.18M</a:t>
            </a:r>
          </a:p>
        </p:txBody>
      </p:sp>
      <p:sp>
        <p:nvSpPr>
          <p:cNvPr id="8" name="TextBox 8"/>
          <p:cNvSpPr txBox="1"/>
          <p:nvPr/>
        </p:nvSpPr>
        <p:spPr>
          <a:xfrm>
            <a:off x="750570" y="2252662"/>
            <a:ext cx="3475863"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labeled array instances</a:t>
            </a:r>
          </a:p>
        </p:txBody>
      </p:sp>
      <p:sp>
        <p:nvSpPr>
          <p:cNvPr id="9" name="Freeform 9"/>
          <p:cNvSpPr/>
          <p:nvPr/>
        </p:nvSpPr>
        <p:spPr>
          <a:xfrm>
            <a:off x="76200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0" name="TextBox 10"/>
          <p:cNvSpPr txBox="1"/>
          <p:nvPr/>
        </p:nvSpPr>
        <p:spPr>
          <a:xfrm>
            <a:off x="954672" y="3376612"/>
            <a:ext cx="1995907"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F1 telemetry</a:t>
            </a:r>
          </a:p>
        </p:txBody>
      </p:sp>
      <p:sp>
        <p:nvSpPr>
          <p:cNvPr id="11" name="Freeform 11"/>
          <p:cNvSpPr/>
          <p:nvPr/>
        </p:nvSpPr>
        <p:spPr>
          <a:xfrm>
            <a:off x="352425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4258675" y="3376612"/>
            <a:ext cx="912400"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Stock</a:t>
            </a:r>
          </a:p>
        </p:txBody>
      </p:sp>
      <p:sp>
        <p:nvSpPr>
          <p:cNvPr id="13" name="Freeform 13"/>
          <p:cNvSpPr/>
          <p:nvPr/>
        </p:nvSpPr>
        <p:spPr>
          <a:xfrm>
            <a:off x="628650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4" name="TextBox 14"/>
          <p:cNvSpPr txBox="1"/>
          <p:nvPr/>
        </p:nvSpPr>
        <p:spPr>
          <a:xfrm>
            <a:off x="6937629" y="3376612"/>
            <a:ext cx="1078992"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Crypto</a:t>
            </a:r>
          </a:p>
        </p:txBody>
      </p:sp>
      <p:sp>
        <p:nvSpPr>
          <p:cNvPr id="15" name="Freeform 15"/>
          <p:cNvSpPr/>
          <p:nvPr/>
        </p:nvSpPr>
        <p:spPr>
          <a:xfrm>
            <a:off x="904875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6" name="TextBox 16"/>
          <p:cNvSpPr txBox="1"/>
          <p:nvPr/>
        </p:nvSpPr>
        <p:spPr>
          <a:xfrm>
            <a:off x="9584824" y="3376612"/>
            <a:ext cx="1309102"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Weather</a:t>
            </a:r>
          </a:p>
        </p:txBody>
      </p:sp>
      <p:sp>
        <p:nvSpPr>
          <p:cNvPr id="17" name="Freeform 17"/>
          <p:cNvSpPr/>
          <p:nvPr/>
        </p:nvSpPr>
        <p:spPr>
          <a:xfrm>
            <a:off x="4905375" y="4429125"/>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191919"/>
          </a:solidFill>
          <a:ln>
            <a:noFill/>
          </a:ln>
        </p:spPr>
        <p:txBody>
          <a:bodyPr/>
          <a:lstStyle/>
          <a:p>
            <a:endParaRPr/>
          </a:p>
        </p:txBody>
      </p:sp>
      <p:sp>
        <p:nvSpPr>
          <p:cNvPr id="18" name="TextBox 18"/>
          <p:cNvSpPr txBox="1"/>
          <p:nvPr/>
        </p:nvSpPr>
        <p:spPr>
          <a:xfrm>
            <a:off x="5223320" y="4757738"/>
            <a:ext cx="1745361" cy="440055"/>
          </a:xfrm>
          <a:prstGeom prst="rect">
            <a:avLst/>
          </a:prstGeom>
          <a:noFill/>
          <a:ln>
            <a:noFill/>
          </a:ln>
        </p:spPr>
        <p:txBody>
          <a:bodyPr wrap="none" lIns="0" tIns="0" rIns="0" bIns="0" anchor="t" anchorCtr="0">
            <a:spAutoFit/>
          </a:bodyPr>
          <a:lstStyle/>
          <a:p>
            <a:pPr algn="ctr"/>
            <a:r>
              <a:rPr lang="en-US" sz="2250" dirty="0">
                <a:solidFill>
                  <a:srgbClr val="FFFFFF"/>
                </a:solidFill>
                <a:latin typeface="Anthropic Sans"/>
                <a:ea typeface="Anthropic Sans"/>
                <a:cs typeface="Anthropic Sans"/>
              </a:rPr>
              <a:t>Earthquake</a:t>
            </a:r>
          </a:p>
        </p:txBody>
      </p:sp>
      <p:sp>
        <p:nvSpPr>
          <p:cNvPr id="19" name="TextBox 19"/>
          <p:cNvSpPr txBox="1"/>
          <p:nvPr/>
        </p:nvSpPr>
        <p:spPr>
          <a:xfrm>
            <a:off x="752856" y="5615940"/>
            <a:ext cx="1235397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The point was to make the selector face different numeric patterns, not memorize one dataset family.</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7/24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563764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Labels came from measured runtime</a:t>
            </a:r>
          </a:p>
        </p:txBody>
      </p:sp>
      <p:sp>
        <p:nvSpPr>
          <p:cNvPr id="6" name="TextBox 6"/>
          <p:cNvSpPr txBox="1"/>
          <p:nvPr/>
        </p:nvSpPr>
        <p:spPr>
          <a:xfrm>
            <a:off x="601599" y="858679"/>
            <a:ext cx="11010927"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Each array was transformed, timed across the portfolio, and labeled by the fastest observed algorithm.</a:t>
            </a:r>
          </a:p>
        </p:txBody>
      </p:sp>
      <p:pic>
        <p:nvPicPr>
          <p:cNvPr id="7" name="Image 7"/>
          <p:cNvPicPr>
            <a:picLocks noChangeAspect="1"/>
          </p:cNvPicPr>
          <p:nvPr/>
        </p:nvPicPr>
        <p:blipFill>
          <a:blip r:embed="rId3"/>
          <a:stretch>
            <a:fillRect/>
          </a:stretch>
        </p:blipFill>
        <p:spPr>
          <a:xfrm>
            <a:off x="3261455" y="1381125"/>
            <a:ext cx="5669089" cy="3143250"/>
          </a:xfrm>
          <a:prstGeom prst="rect">
            <a:avLst/>
          </a:prstGeom>
        </p:spPr>
      </p:pic>
      <p:sp>
        <p:nvSpPr>
          <p:cNvPr id="8" name="Freeform 8"/>
          <p:cNvSpPr/>
          <p:nvPr/>
        </p:nvSpPr>
        <p:spPr>
          <a:xfrm>
            <a:off x="762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1443190" y="5063490"/>
            <a:ext cx="618820"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RAW</a:t>
            </a:r>
          </a:p>
        </p:txBody>
      </p:sp>
      <p:sp>
        <p:nvSpPr>
          <p:cNvPr id="10" name="Freeform 10"/>
          <p:cNvSpPr/>
          <p:nvPr/>
        </p:nvSpPr>
        <p:spPr>
          <a:xfrm>
            <a:off x="3048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1" name="TextBox 11"/>
          <p:cNvSpPr txBox="1"/>
          <p:nvPr/>
        </p:nvSpPr>
        <p:spPr>
          <a:xfrm>
            <a:off x="3761651" y="5063490"/>
            <a:ext cx="553898"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REV</a:t>
            </a:r>
          </a:p>
        </p:txBody>
      </p:sp>
      <p:sp>
        <p:nvSpPr>
          <p:cNvPr id="12" name="Freeform 12"/>
          <p:cNvSpPr/>
          <p:nvPr/>
        </p:nvSpPr>
        <p:spPr>
          <a:xfrm>
            <a:off x="5334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3" name="TextBox 13"/>
          <p:cNvSpPr txBox="1"/>
          <p:nvPr/>
        </p:nvSpPr>
        <p:spPr>
          <a:xfrm>
            <a:off x="5958383" y="5063490"/>
            <a:ext cx="732434"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SHUF</a:t>
            </a:r>
          </a:p>
        </p:txBody>
      </p:sp>
      <p:sp>
        <p:nvSpPr>
          <p:cNvPr id="14" name="Freeform 14"/>
          <p:cNvSpPr/>
          <p:nvPr/>
        </p:nvSpPr>
        <p:spPr>
          <a:xfrm>
            <a:off x="7620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5" name="TextBox 15"/>
          <p:cNvSpPr txBox="1"/>
          <p:nvPr/>
        </p:nvSpPr>
        <p:spPr>
          <a:xfrm>
            <a:off x="8073962" y="5063490"/>
            <a:ext cx="1073277"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QBIN50</a:t>
            </a:r>
          </a:p>
        </p:txBody>
      </p:sp>
      <p:sp>
        <p:nvSpPr>
          <p:cNvPr id="16" name="Freeform 16"/>
          <p:cNvSpPr/>
          <p:nvPr/>
        </p:nvSpPr>
        <p:spPr>
          <a:xfrm>
            <a:off x="9906000" y="4810125"/>
            <a:ext cx="1600200" cy="742950"/>
          </a:xfrm>
          <a:custGeom>
            <a:avLst/>
            <a:gdLst/>
            <a:ahLst/>
            <a:cxnLst/>
            <a:rect l="l" t="t" r="r" b="b"/>
            <a:pathLst>
              <a:path w="1600200" h="742950">
                <a:moveTo>
                  <a:pt x="76200" y="0"/>
                </a:moveTo>
                <a:lnTo>
                  <a:pt x="1524000" y="0"/>
                </a:lnTo>
                <a:cubicBezTo>
                  <a:pt x="1566084" y="0"/>
                  <a:pt x="1600200" y="34116"/>
                  <a:pt x="1600200" y="76200"/>
                </a:cubicBezTo>
                <a:lnTo>
                  <a:pt x="1600200" y="666750"/>
                </a:lnTo>
                <a:cubicBezTo>
                  <a:pt x="1600200" y="708834"/>
                  <a:pt x="1566084" y="742950"/>
                  <a:pt x="1524000" y="742950"/>
                </a:cubicBezTo>
                <a:lnTo>
                  <a:pt x="76200" y="742950"/>
                </a:lnTo>
                <a:cubicBezTo>
                  <a:pt x="34116" y="742950"/>
                  <a:pt x="0" y="708834"/>
                  <a:pt x="0" y="666750"/>
                </a:cubicBezTo>
                <a:lnTo>
                  <a:pt x="0" y="76200"/>
                </a:lnTo>
                <a:cubicBezTo>
                  <a:pt x="0" y="34116"/>
                  <a:pt x="34116" y="0"/>
                  <a:pt x="76200" y="0"/>
                </a:cubicBezTo>
                <a:close/>
              </a:path>
            </a:pathLst>
          </a:custGeom>
          <a:solidFill>
            <a:srgbClr val="191919"/>
          </a:solidFill>
          <a:ln>
            <a:noFill/>
          </a:ln>
        </p:spPr>
        <p:txBody>
          <a:bodyPr/>
          <a:lstStyle/>
          <a:p>
            <a:endParaRPr/>
          </a:p>
        </p:txBody>
      </p:sp>
      <p:sp>
        <p:nvSpPr>
          <p:cNvPr id="17" name="TextBox 17"/>
          <p:cNvSpPr txBox="1"/>
          <p:nvPr/>
        </p:nvSpPr>
        <p:spPr>
          <a:xfrm>
            <a:off x="10039617" y="5063490"/>
            <a:ext cx="1332967" cy="352044"/>
          </a:xfrm>
          <a:prstGeom prst="rect">
            <a:avLst/>
          </a:prstGeom>
          <a:noFill/>
          <a:ln>
            <a:noFill/>
          </a:ln>
        </p:spPr>
        <p:txBody>
          <a:bodyPr wrap="none" lIns="0" tIns="0" rIns="0" bIns="0" anchor="t" anchorCtr="0">
            <a:spAutoFit/>
          </a:bodyPr>
          <a:lstStyle/>
          <a:p>
            <a:pPr algn="ctr"/>
            <a:r>
              <a:rPr lang="en-US" sz="1800" dirty="0">
                <a:solidFill>
                  <a:srgbClr val="FFFFFF"/>
                </a:solidFill>
                <a:latin typeface="Anthropic Sans"/>
                <a:ea typeface="Anthropic Sans"/>
                <a:cs typeface="Anthropic Sans"/>
              </a:rPr>
              <a:t>PSORT10</a:t>
            </a:r>
          </a:p>
        </p:txBody>
      </p:sp>
      <p:sp>
        <p:nvSpPr>
          <p:cNvPr id="18" name="TextBox 18"/>
          <p:cNvSpPr txBox="1"/>
          <p:nvPr/>
        </p:nvSpPr>
        <p:spPr>
          <a:xfrm>
            <a:off x="753999" y="5754529"/>
            <a:ext cx="11212639"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Transforms forced the model to see sorted, reversed, shuffled, quantized, and partially sorted behavior.</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8/24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757473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Features translate array shape into model input</a:t>
            </a:r>
          </a:p>
        </p:txBody>
      </p:sp>
      <p:sp>
        <p:nvSpPr>
          <p:cNvPr id="6" name="TextBox 6"/>
          <p:cNvSpPr txBox="1"/>
          <p:nvPr/>
        </p:nvSpPr>
        <p:spPr>
          <a:xfrm>
            <a:off x="601599" y="858679"/>
            <a:ext cx="11955081"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16 features describe structure that sorting algorithms react to: size, order, duplicates, and local disorder.</a:t>
            </a:r>
          </a:p>
        </p:txBody>
      </p:sp>
      <p:pic>
        <p:nvPicPr>
          <p:cNvPr id="7" name="Image 7"/>
          <p:cNvPicPr>
            <a:picLocks noChangeAspect="1"/>
          </p:cNvPicPr>
          <p:nvPr/>
        </p:nvPicPr>
        <p:blipFill>
          <a:blip r:embed="rId3"/>
          <a:stretch>
            <a:fillRect/>
          </a:stretch>
        </p:blipFill>
        <p:spPr>
          <a:xfrm>
            <a:off x="666750" y="1411319"/>
            <a:ext cx="5334000" cy="3749612"/>
          </a:xfrm>
          <a:prstGeom prst="rect">
            <a:avLst/>
          </a:prstGeom>
        </p:spPr>
      </p:pic>
      <p:sp>
        <p:nvSpPr>
          <p:cNvPr id="8" name="Freeform 8"/>
          <p:cNvSpPr/>
          <p:nvPr/>
        </p:nvSpPr>
        <p:spPr>
          <a:xfrm>
            <a:off x="6477000" y="1524000"/>
            <a:ext cx="2190750" cy="3143250"/>
          </a:xfrm>
          <a:custGeom>
            <a:avLst/>
            <a:gdLst/>
            <a:ahLst/>
            <a:cxnLst/>
            <a:rect l="l" t="t" r="r" b="b"/>
            <a:pathLst>
              <a:path w="2190750" h="3143250">
                <a:moveTo>
                  <a:pt x="76200" y="0"/>
                </a:moveTo>
                <a:lnTo>
                  <a:pt x="2114550" y="0"/>
                </a:lnTo>
                <a:cubicBezTo>
                  <a:pt x="2156634" y="0"/>
                  <a:pt x="2190750" y="34116"/>
                  <a:pt x="2190750" y="76200"/>
                </a:cubicBezTo>
                <a:lnTo>
                  <a:pt x="2190750" y="3067050"/>
                </a:lnTo>
                <a:cubicBezTo>
                  <a:pt x="2190750" y="3109134"/>
                  <a:pt x="2156634" y="3143250"/>
                  <a:pt x="2114550" y="3143250"/>
                </a:cubicBezTo>
                <a:lnTo>
                  <a:pt x="76200" y="3143250"/>
                </a:lnTo>
                <a:cubicBezTo>
                  <a:pt x="34116" y="3143250"/>
                  <a:pt x="0" y="3109134"/>
                  <a:pt x="0" y="30670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6751320" y="1814512"/>
            <a:ext cx="871966"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Scale</a:t>
            </a:r>
          </a:p>
        </p:txBody>
      </p:sp>
      <p:sp>
        <p:nvSpPr>
          <p:cNvPr id="10" name="TextBox 10"/>
          <p:cNvSpPr txBox="1"/>
          <p:nvPr/>
        </p:nvSpPr>
        <p:spPr>
          <a:xfrm>
            <a:off x="6753606" y="2453640"/>
            <a:ext cx="757352"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length</a:t>
            </a:r>
          </a:p>
        </p:txBody>
      </p:sp>
      <p:sp>
        <p:nvSpPr>
          <p:cNvPr id="11" name="TextBox 11"/>
          <p:cNvSpPr txBox="1"/>
          <p:nvPr/>
        </p:nvSpPr>
        <p:spPr>
          <a:xfrm>
            <a:off x="6753606" y="2796540"/>
            <a:ext cx="68465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range</a:t>
            </a:r>
          </a:p>
        </p:txBody>
      </p:sp>
      <p:sp>
        <p:nvSpPr>
          <p:cNvPr id="12" name="TextBox 12"/>
          <p:cNvSpPr txBox="1"/>
          <p:nvPr/>
        </p:nvSpPr>
        <p:spPr>
          <a:xfrm>
            <a:off x="6753606" y="3139440"/>
            <a:ext cx="817931"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spread</a:t>
            </a:r>
          </a:p>
        </p:txBody>
      </p:sp>
      <p:sp>
        <p:nvSpPr>
          <p:cNvPr id="13" name="Freeform 13"/>
          <p:cNvSpPr/>
          <p:nvPr/>
        </p:nvSpPr>
        <p:spPr>
          <a:xfrm>
            <a:off x="8934450" y="1524000"/>
            <a:ext cx="2190750" cy="3143250"/>
          </a:xfrm>
          <a:custGeom>
            <a:avLst/>
            <a:gdLst/>
            <a:ahLst/>
            <a:cxnLst/>
            <a:rect l="l" t="t" r="r" b="b"/>
            <a:pathLst>
              <a:path w="2190750" h="3143250">
                <a:moveTo>
                  <a:pt x="76200" y="0"/>
                </a:moveTo>
                <a:lnTo>
                  <a:pt x="2114550" y="0"/>
                </a:lnTo>
                <a:cubicBezTo>
                  <a:pt x="2156634" y="0"/>
                  <a:pt x="2190750" y="34116"/>
                  <a:pt x="2190750" y="76200"/>
                </a:cubicBezTo>
                <a:lnTo>
                  <a:pt x="2190750" y="3067050"/>
                </a:lnTo>
                <a:cubicBezTo>
                  <a:pt x="2190750" y="3109134"/>
                  <a:pt x="2156634" y="3143250"/>
                  <a:pt x="2114550" y="3143250"/>
                </a:cubicBezTo>
                <a:lnTo>
                  <a:pt x="76200" y="3143250"/>
                </a:lnTo>
                <a:cubicBezTo>
                  <a:pt x="34116" y="3143250"/>
                  <a:pt x="0" y="3109134"/>
                  <a:pt x="0" y="30670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4" name="TextBox 14"/>
          <p:cNvSpPr txBox="1"/>
          <p:nvPr/>
        </p:nvSpPr>
        <p:spPr>
          <a:xfrm>
            <a:off x="9208770" y="1814512"/>
            <a:ext cx="95687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Shape</a:t>
            </a:r>
          </a:p>
        </p:txBody>
      </p:sp>
      <p:sp>
        <p:nvSpPr>
          <p:cNvPr id="15" name="TextBox 15"/>
          <p:cNvSpPr txBox="1"/>
          <p:nvPr/>
        </p:nvSpPr>
        <p:spPr>
          <a:xfrm>
            <a:off x="9211056" y="2453640"/>
            <a:ext cx="1229868"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inversions</a:t>
            </a:r>
          </a:p>
        </p:txBody>
      </p:sp>
      <p:sp>
        <p:nvSpPr>
          <p:cNvPr id="16" name="TextBox 16"/>
          <p:cNvSpPr txBox="1"/>
          <p:nvPr/>
        </p:nvSpPr>
        <p:spPr>
          <a:xfrm>
            <a:off x="9211056" y="2796540"/>
            <a:ext cx="551383"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runs</a:t>
            </a:r>
          </a:p>
        </p:txBody>
      </p:sp>
      <p:sp>
        <p:nvSpPr>
          <p:cNvPr id="17" name="TextBox 17"/>
          <p:cNvSpPr txBox="1"/>
          <p:nvPr/>
        </p:nvSpPr>
        <p:spPr>
          <a:xfrm>
            <a:off x="9211056" y="3139440"/>
            <a:ext cx="1229868"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duplicates</a:t>
            </a:r>
          </a:p>
        </p:txBody>
      </p:sp>
      <p:sp>
        <p:nvSpPr>
          <p:cNvPr id="18" name="TextBox 18"/>
          <p:cNvSpPr txBox="1"/>
          <p:nvPr/>
        </p:nvSpPr>
        <p:spPr>
          <a:xfrm>
            <a:off x="6465570" y="4948238"/>
            <a:ext cx="5779672"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The features are not timing features.</a:t>
            </a:r>
          </a:p>
        </p:txBody>
      </p:sp>
      <p:sp>
        <p:nvSpPr>
          <p:cNvPr id="19" name="TextBox 19"/>
          <p:cNvSpPr txBox="1"/>
          <p:nvPr/>
        </p:nvSpPr>
        <p:spPr>
          <a:xfrm>
            <a:off x="6465570" y="5329238"/>
            <a:ext cx="6340120"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They are cheap summaries before sorting.</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9/24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9245890"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selector must be cheaper than the decision it improves</a:t>
            </a:r>
          </a:p>
        </p:txBody>
      </p:sp>
      <p:sp>
        <p:nvSpPr>
          <p:cNvPr id="6" name="TextBox 6"/>
          <p:cNvSpPr txBox="1"/>
          <p:nvPr/>
        </p:nvSpPr>
        <p:spPr>
          <a:xfrm>
            <a:off x="601599" y="858679"/>
            <a:ext cx="12102619"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Features are computed from the input structure; the system does not benchmark all algorithms at prediction time.</a:t>
            </a:r>
          </a:p>
        </p:txBody>
      </p:sp>
      <p:sp>
        <p:nvSpPr>
          <p:cNvPr id="7" name="Freeform 7"/>
          <p:cNvSpPr/>
          <p:nvPr/>
        </p:nvSpPr>
        <p:spPr>
          <a:xfrm>
            <a:off x="857250" y="1619250"/>
            <a:ext cx="4762500" cy="3619500"/>
          </a:xfrm>
          <a:custGeom>
            <a:avLst/>
            <a:gdLst/>
            <a:ahLst/>
            <a:cxnLst/>
            <a:rect l="l" t="t" r="r" b="b"/>
            <a:pathLst>
              <a:path w="4762500" h="3619500">
                <a:moveTo>
                  <a:pt x="76200" y="0"/>
                </a:moveTo>
                <a:lnTo>
                  <a:pt x="4686300" y="0"/>
                </a:lnTo>
                <a:cubicBezTo>
                  <a:pt x="4728384" y="0"/>
                  <a:pt x="4762500" y="34116"/>
                  <a:pt x="4762500" y="76200"/>
                </a:cubicBezTo>
                <a:lnTo>
                  <a:pt x="4762500" y="3543300"/>
                </a:lnTo>
                <a:cubicBezTo>
                  <a:pt x="4762500" y="3585384"/>
                  <a:pt x="4728384" y="3619500"/>
                  <a:pt x="4686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131570" y="1947862"/>
            <a:ext cx="359687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Allowed before sorting</a:t>
            </a:r>
          </a:p>
        </p:txBody>
      </p:sp>
      <p:sp>
        <p:nvSpPr>
          <p:cNvPr id="9" name="TextBox 9"/>
          <p:cNvSpPr txBox="1"/>
          <p:nvPr/>
        </p:nvSpPr>
        <p:spPr>
          <a:xfrm>
            <a:off x="1131570" y="2614612"/>
            <a:ext cx="3023306"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Read the array once</a:t>
            </a:r>
          </a:p>
        </p:txBody>
      </p:sp>
      <p:sp>
        <p:nvSpPr>
          <p:cNvPr id="10" name="TextBox 10"/>
          <p:cNvSpPr txBox="1"/>
          <p:nvPr/>
        </p:nvSpPr>
        <p:spPr>
          <a:xfrm>
            <a:off x="1131570" y="3090862"/>
            <a:ext cx="4971902"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Count order and duplicate signals</a:t>
            </a:r>
          </a:p>
        </p:txBody>
      </p:sp>
      <p:sp>
        <p:nvSpPr>
          <p:cNvPr id="11" name="TextBox 11"/>
          <p:cNvSpPr txBox="1"/>
          <p:nvPr/>
        </p:nvSpPr>
        <p:spPr>
          <a:xfrm>
            <a:off x="1131570" y="3567112"/>
            <a:ext cx="4108371"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Predict one algorithm class</a:t>
            </a:r>
          </a:p>
        </p:txBody>
      </p:sp>
      <p:sp>
        <p:nvSpPr>
          <p:cNvPr id="12" name="Freeform 12"/>
          <p:cNvSpPr/>
          <p:nvPr/>
        </p:nvSpPr>
        <p:spPr>
          <a:xfrm>
            <a:off x="6572250" y="1619250"/>
            <a:ext cx="4762500" cy="3619500"/>
          </a:xfrm>
          <a:custGeom>
            <a:avLst/>
            <a:gdLst/>
            <a:ahLst/>
            <a:cxnLst/>
            <a:rect l="l" t="t" r="r" b="b"/>
            <a:pathLst>
              <a:path w="4762500" h="3619500">
                <a:moveTo>
                  <a:pt x="76200" y="0"/>
                </a:moveTo>
                <a:lnTo>
                  <a:pt x="4686300" y="0"/>
                </a:lnTo>
                <a:cubicBezTo>
                  <a:pt x="4728384" y="0"/>
                  <a:pt x="4762500" y="34116"/>
                  <a:pt x="4762500" y="76200"/>
                </a:cubicBezTo>
                <a:lnTo>
                  <a:pt x="4762500" y="3543300"/>
                </a:lnTo>
                <a:cubicBezTo>
                  <a:pt x="4762500" y="3585384"/>
                  <a:pt x="4728384" y="3619500"/>
                  <a:pt x="4686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3" name="TextBox 13"/>
          <p:cNvSpPr txBox="1"/>
          <p:nvPr/>
        </p:nvSpPr>
        <p:spPr>
          <a:xfrm>
            <a:off x="6846570" y="1947862"/>
            <a:ext cx="4743004"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Not allowed at prediction time</a:t>
            </a:r>
          </a:p>
        </p:txBody>
      </p:sp>
      <p:sp>
        <p:nvSpPr>
          <p:cNvPr id="14" name="TextBox 14"/>
          <p:cNvSpPr txBox="1"/>
          <p:nvPr/>
        </p:nvSpPr>
        <p:spPr>
          <a:xfrm>
            <a:off x="6846570" y="2614612"/>
            <a:ext cx="3004191"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introsort</a:t>
            </a:r>
          </a:p>
        </p:txBody>
      </p:sp>
      <p:sp>
        <p:nvSpPr>
          <p:cNvPr id="15" name="TextBox 15"/>
          <p:cNvSpPr txBox="1"/>
          <p:nvPr/>
        </p:nvSpPr>
        <p:spPr>
          <a:xfrm>
            <a:off x="6846570" y="3090862"/>
            <a:ext cx="2915043"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heapsort</a:t>
            </a:r>
          </a:p>
        </p:txBody>
      </p:sp>
      <p:sp>
        <p:nvSpPr>
          <p:cNvPr id="16" name="TextBox 16"/>
          <p:cNvSpPr txBox="1"/>
          <p:nvPr/>
        </p:nvSpPr>
        <p:spPr>
          <a:xfrm>
            <a:off x="6846570" y="3567112"/>
            <a:ext cx="2733199"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timsort</a:t>
            </a:r>
          </a:p>
        </p:txBody>
      </p:sp>
      <p:sp>
        <p:nvSpPr>
          <p:cNvPr id="17" name="TextBox 17"/>
          <p:cNvSpPr txBox="1"/>
          <p:nvPr/>
        </p:nvSpPr>
        <p:spPr>
          <a:xfrm>
            <a:off x="6846570" y="4043362"/>
            <a:ext cx="3957165"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Pick after seeing all times</a:t>
            </a:r>
          </a:p>
        </p:txBody>
      </p:sp>
      <p:sp>
        <p:nvSpPr>
          <p:cNvPr id="18" name="TextBox 18"/>
          <p:cNvSpPr txBox="1"/>
          <p:nvPr/>
        </p:nvSpPr>
        <p:spPr>
          <a:xfrm>
            <a:off x="848106" y="5615940"/>
            <a:ext cx="10183373" cy="352044"/>
          </a:xfrm>
          <a:prstGeom prst="rect">
            <a:avLst/>
          </a:prstGeom>
          <a:noFill/>
          <a:ln>
            <a:noFill/>
          </a:ln>
        </p:spPr>
        <p:txBody>
          <a:bodyPr wrap="none" lIns="0" tIns="0" rIns="0" bIns="0" anchor="t" anchorCtr="0">
            <a:spAutoFit/>
          </a:bodyPr>
          <a:lstStyle/>
          <a:p>
            <a:pPr algn="l"/>
            <a:r>
              <a:rPr lang="en-US" sz="1800" dirty="0">
                <a:solidFill>
                  <a:srgbClr val="191919"/>
                </a:solidFill>
                <a:latin typeface="Anthropic Sans"/>
                <a:ea typeface="Anthropic Sans"/>
                <a:cs typeface="Anthropic Sans"/>
              </a:rPr>
              <a:t>This is the difference between a real selector and an oracle used only for evaluation.</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10/24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6688105"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main system is one general v5 selector</a:t>
            </a:r>
          </a:p>
        </p:txBody>
      </p:sp>
      <p:sp>
        <p:nvSpPr>
          <p:cNvPr id="6" name="TextBox 6"/>
          <p:cNvSpPr txBox="1"/>
          <p:nvPr/>
        </p:nvSpPr>
        <p:spPr>
          <a:xfrm>
            <a:off x="601599" y="858679"/>
            <a:ext cx="8995324"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v5 is trained across all domains and predicts among introsort, heapsort, and timsort.</a:t>
            </a:r>
          </a:p>
        </p:txBody>
      </p:sp>
      <p:pic>
        <p:nvPicPr>
          <p:cNvPr id="7" name="Image 7"/>
          <p:cNvPicPr>
            <a:picLocks noChangeAspect="1"/>
          </p:cNvPicPr>
          <p:nvPr/>
        </p:nvPicPr>
        <p:blipFill>
          <a:blip r:embed="rId3"/>
          <a:stretch>
            <a:fillRect/>
          </a:stretch>
        </p:blipFill>
        <p:spPr>
          <a:xfrm>
            <a:off x="698373" y="1381125"/>
            <a:ext cx="7175754" cy="4333875"/>
          </a:xfrm>
          <a:prstGeom prst="rect">
            <a:avLst/>
          </a:prstGeom>
        </p:spPr>
      </p:pic>
      <p:sp>
        <p:nvSpPr>
          <p:cNvPr id="8" name="Freeform 8"/>
          <p:cNvSpPr/>
          <p:nvPr/>
        </p:nvSpPr>
        <p:spPr>
          <a:xfrm>
            <a:off x="8477250" y="1619250"/>
            <a:ext cx="2762250" cy="762000"/>
          </a:xfrm>
          <a:custGeom>
            <a:avLst/>
            <a:gdLst/>
            <a:ahLst/>
            <a:cxnLst/>
            <a:rect l="l" t="t" r="r" b="b"/>
            <a:pathLst>
              <a:path w="2762250" h="762000">
                <a:moveTo>
                  <a:pt x="76200" y="0"/>
                </a:moveTo>
                <a:lnTo>
                  <a:pt x="2686050" y="0"/>
                </a:lnTo>
                <a:cubicBezTo>
                  <a:pt x="2728134" y="0"/>
                  <a:pt x="2762250" y="34116"/>
                  <a:pt x="2762250" y="76200"/>
                </a:cubicBezTo>
                <a:lnTo>
                  <a:pt x="2762250" y="685800"/>
                </a:lnTo>
                <a:cubicBezTo>
                  <a:pt x="2762250" y="727884"/>
                  <a:pt x="2728134" y="762000"/>
                  <a:pt x="2686050" y="762000"/>
                </a:cubicBezTo>
                <a:lnTo>
                  <a:pt x="76200" y="762000"/>
                </a:lnTo>
                <a:cubicBezTo>
                  <a:pt x="34116" y="762000"/>
                  <a:pt x="0" y="727884"/>
                  <a:pt x="0" y="6858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8923023" y="1910715"/>
            <a:ext cx="1870704"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Array features</a:t>
            </a:r>
          </a:p>
        </p:txBody>
      </p:sp>
      <p:sp>
        <p:nvSpPr>
          <p:cNvPr id="10" name="Freeform 10"/>
          <p:cNvSpPr/>
          <p:nvPr/>
        </p:nvSpPr>
        <p:spPr>
          <a:xfrm>
            <a:off x="8477250" y="2714625"/>
            <a:ext cx="2762250" cy="762000"/>
          </a:xfrm>
          <a:custGeom>
            <a:avLst/>
            <a:gdLst/>
            <a:ahLst/>
            <a:cxnLst/>
            <a:rect l="l" t="t" r="r" b="b"/>
            <a:pathLst>
              <a:path w="2762250" h="762000">
                <a:moveTo>
                  <a:pt x="76200" y="0"/>
                </a:moveTo>
                <a:lnTo>
                  <a:pt x="2686050" y="0"/>
                </a:lnTo>
                <a:cubicBezTo>
                  <a:pt x="2728134" y="0"/>
                  <a:pt x="2762250" y="34116"/>
                  <a:pt x="2762250" y="76200"/>
                </a:cubicBezTo>
                <a:lnTo>
                  <a:pt x="2762250" y="685800"/>
                </a:lnTo>
                <a:cubicBezTo>
                  <a:pt x="2762250" y="727884"/>
                  <a:pt x="2728134" y="762000"/>
                  <a:pt x="2686050" y="762000"/>
                </a:cubicBezTo>
                <a:lnTo>
                  <a:pt x="76200" y="762000"/>
                </a:lnTo>
                <a:cubicBezTo>
                  <a:pt x="34116" y="762000"/>
                  <a:pt x="0" y="727884"/>
                  <a:pt x="0" y="6858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1" name="TextBox 11"/>
          <p:cNvSpPr txBox="1"/>
          <p:nvPr/>
        </p:nvSpPr>
        <p:spPr>
          <a:xfrm>
            <a:off x="9132141" y="3006090"/>
            <a:ext cx="1452467"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XGBoost v5</a:t>
            </a:r>
          </a:p>
        </p:txBody>
      </p:sp>
      <p:sp>
        <p:nvSpPr>
          <p:cNvPr id="12" name="Freeform 12"/>
          <p:cNvSpPr/>
          <p:nvPr/>
        </p:nvSpPr>
        <p:spPr>
          <a:xfrm>
            <a:off x="8477250" y="3810000"/>
            <a:ext cx="2762250" cy="762000"/>
          </a:xfrm>
          <a:custGeom>
            <a:avLst/>
            <a:gdLst/>
            <a:ahLst/>
            <a:cxnLst/>
            <a:rect l="l" t="t" r="r" b="b"/>
            <a:pathLst>
              <a:path w="2762250" h="762000">
                <a:moveTo>
                  <a:pt x="76200" y="0"/>
                </a:moveTo>
                <a:lnTo>
                  <a:pt x="2686050" y="0"/>
                </a:lnTo>
                <a:cubicBezTo>
                  <a:pt x="2728134" y="0"/>
                  <a:pt x="2762250" y="34116"/>
                  <a:pt x="2762250" y="76200"/>
                </a:cubicBezTo>
                <a:lnTo>
                  <a:pt x="2762250" y="685800"/>
                </a:lnTo>
                <a:cubicBezTo>
                  <a:pt x="2762250" y="727884"/>
                  <a:pt x="2728134" y="762000"/>
                  <a:pt x="2686050" y="762000"/>
                </a:cubicBezTo>
                <a:lnTo>
                  <a:pt x="76200" y="762000"/>
                </a:lnTo>
                <a:cubicBezTo>
                  <a:pt x="34116" y="762000"/>
                  <a:pt x="0" y="727884"/>
                  <a:pt x="0" y="685800"/>
                </a:cubicBezTo>
                <a:lnTo>
                  <a:pt x="0" y="76200"/>
                </a:lnTo>
                <a:cubicBezTo>
                  <a:pt x="0" y="34116"/>
                  <a:pt x="34116" y="0"/>
                  <a:pt x="76200" y="0"/>
                </a:cubicBezTo>
                <a:close/>
              </a:path>
            </a:pathLst>
          </a:custGeom>
          <a:solidFill>
            <a:srgbClr val="191919"/>
          </a:solidFill>
          <a:ln>
            <a:noFill/>
          </a:ln>
        </p:spPr>
        <p:txBody>
          <a:bodyPr/>
          <a:lstStyle/>
          <a:p>
            <a:endParaRPr/>
          </a:p>
        </p:txBody>
      </p:sp>
      <p:sp>
        <p:nvSpPr>
          <p:cNvPr id="13" name="TextBox 13"/>
          <p:cNvSpPr txBox="1"/>
          <p:nvPr/>
        </p:nvSpPr>
        <p:spPr>
          <a:xfrm>
            <a:off x="8596274" y="4101465"/>
            <a:ext cx="2524201" cy="352044"/>
          </a:xfrm>
          <a:prstGeom prst="rect">
            <a:avLst/>
          </a:prstGeom>
          <a:noFill/>
          <a:ln>
            <a:noFill/>
          </a:ln>
        </p:spPr>
        <p:txBody>
          <a:bodyPr wrap="none" lIns="0" tIns="0" rIns="0" bIns="0" anchor="t" anchorCtr="0">
            <a:spAutoFit/>
          </a:bodyPr>
          <a:lstStyle/>
          <a:p>
            <a:pPr algn="ctr"/>
            <a:r>
              <a:rPr lang="en-US" sz="1800" dirty="0">
                <a:solidFill>
                  <a:srgbClr val="FFFFFF"/>
                </a:solidFill>
                <a:latin typeface="Anthropic Sans"/>
                <a:ea typeface="Anthropic Sans"/>
                <a:cs typeface="Anthropic Sans"/>
              </a:rPr>
              <a:t>One algorithm choice</a:t>
            </a:r>
          </a:p>
        </p:txBody>
      </p:sp>
      <p:sp>
        <p:nvSpPr>
          <p:cNvPr id="14" name="TextBox 14"/>
          <p:cNvSpPr txBox="1"/>
          <p:nvPr/>
        </p:nvSpPr>
        <p:spPr>
          <a:xfrm>
            <a:off x="8469249" y="5049679"/>
            <a:ext cx="9188255"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The F1-specific route exists, but it is a separate specialization and not the main claim.</a:t>
            </a:r>
          </a:p>
        </p:txBody>
      </p:sp>
      <p:sp>
        <p:nvSpPr>
          <p:cNvPr id="15" name="Line 15"/>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7" name="Freeform 17"/>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18" name="Rectangle 17"/>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11/24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566560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portfolio has three real choices</a:t>
            </a:r>
          </a:p>
        </p:txBody>
      </p:sp>
      <p:sp>
        <p:nvSpPr>
          <p:cNvPr id="6" name="TextBox 6"/>
          <p:cNvSpPr txBox="1"/>
          <p:nvPr/>
        </p:nvSpPr>
        <p:spPr>
          <a:xfrm>
            <a:off x="601599" y="858679"/>
            <a:ext cx="10703285"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model does not rank every possible sorter; it chooses among the three measured implementations.</a:t>
            </a:r>
          </a:p>
        </p:txBody>
      </p:sp>
      <p:sp>
        <p:nvSpPr>
          <p:cNvPr id="7" name="Freeform 7"/>
          <p:cNvSpPr/>
          <p:nvPr/>
        </p:nvSpPr>
        <p:spPr>
          <a:xfrm>
            <a:off x="762000" y="1619250"/>
            <a:ext cx="3238500" cy="3333750"/>
          </a:xfrm>
          <a:custGeom>
            <a:avLst/>
            <a:gdLst/>
            <a:ahLst/>
            <a:cxnLst/>
            <a:rect l="l" t="t" r="r" b="b"/>
            <a:pathLst>
              <a:path w="3238500" h="3333750">
                <a:moveTo>
                  <a:pt x="76200" y="0"/>
                </a:moveTo>
                <a:lnTo>
                  <a:pt x="3162300" y="0"/>
                </a:lnTo>
                <a:cubicBezTo>
                  <a:pt x="3204384" y="0"/>
                  <a:pt x="3238500" y="34116"/>
                  <a:pt x="3238500" y="76200"/>
                </a:cubicBezTo>
                <a:lnTo>
                  <a:pt x="3238500" y="3257550"/>
                </a:lnTo>
                <a:cubicBezTo>
                  <a:pt x="3238500" y="3299634"/>
                  <a:pt x="3204384" y="3333750"/>
                  <a:pt x="3162300" y="3333750"/>
                </a:cubicBezTo>
                <a:lnTo>
                  <a:pt x="76200" y="3333750"/>
                </a:lnTo>
                <a:cubicBezTo>
                  <a:pt x="34116" y="3333750"/>
                  <a:pt x="0" y="3299634"/>
                  <a:pt x="0" y="3257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029462" y="1897380"/>
            <a:ext cx="1395146" cy="704088"/>
          </a:xfrm>
          <a:prstGeom prst="rect">
            <a:avLst/>
          </a:prstGeom>
          <a:noFill/>
          <a:ln>
            <a:noFill/>
          </a:ln>
        </p:spPr>
        <p:txBody>
          <a:bodyPr wrap="none" lIns="0" tIns="0" rIns="0" bIns="0" anchor="t" anchorCtr="0">
            <a:spAutoFit/>
          </a:bodyPr>
          <a:lstStyle/>
          <a:p>
            <a:pPr algn="l"/>
            <a:r>
              <a:rPr lang="en-US" sz="3600" b="1" dirty="0">
                <a:solidFill>
                  <a:srgbClr val="191919"/>
                </a:solidFill>
                <a:latin typeface="Styrene A"/>
                <a:ea typeface="Styrene A"/>
                <a:cs typeface="Styrene A"/>
              </a:rPr>
              <a:t>Intro</a:t>
            </a:r>
          </a:p>
        </p:txBody>
      </p:sp>
      <p:sp>
        <p:nvSpPr>
          <p:cNvPr id="9" name="TextBox 9"/>
          <p:cNvSpPr txBox="1"/>
          <p:nvPr/>
        </p:nvSpPr>
        <p:spPr>
          <a:xfrm>
            <a:off x="1038606" y="2758440"/>
            <a:ext cx="2768575"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general-purpose hybrid</a:t>
            </a:r>
          </a:p>
        </p:txBody>
      </p:sp>
      <p:sp>
        <p:nvSpPr>
          <p:cNvPr id="10" name="TextBox 10"/>
          <p:cNvSpPr txBox="1"/>
          <p:nvPr/>
        </p:nvSpPr>
        <p:spPr>
          <a:xfrm>
            <a:off x="1038606" y="3139440"/>
            <a:ext cx="284126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strong default behavior</a:t>
            </a:r>
          </a:p>
        </p:txBody>
      </p:sp>
      <p:sp>
        <p:nvSpPr>
          <p:cNvPr id="11" name="Freeform 11"/>
          <p:cNvSpPr/>
          <p:nvPr/>
        </p:nvSpPr>
        <p:spPr>
          <a:xfrm>
            <a:off x="4476750" y="1619250"/>
            <a:ext cx="3238500" cy="3333750"/>
          </a:xfrm>
          <a:custGeom>
            <a:avLst/>
            <a:gdLst/>
            <a:ahLst/>
            <a:cxnLst/>
            <a:rect l="l" t="t" r="r" b="b"/>
            <a:pathLst>
              <a:path w="3238500" h="3333750">
                <a:moveTo>
                  <a:pt x="76200" y="0"/>
                </a:moveTo>
                <a:lnTo>
                  <a:pt x="3162300" y="0"/>
                </a:lnTo>
                <a:cubicBezTo>
                  <a:pt x="3204384" y="0"/>
                  <a:pt x="3238500" y="34116"/>
                  <a:pt x="3238500" y="76200"/>
                </a:cubicBezTo>
                <a:lnTo>
                  <a:pt x="3238500" y="3257550"/>
                </a:lnTo>
                <a:cubicBezTo>
                  <a:pt x="3238500" y="3299634"/>
                  <a:pt x="3204384" y="3333750"/>
                  <a:pt x="3162300" y="3333750"/>
                </a:cubicBezTo>
                <a:lnTo>
                  <a:pt x="76200" y="3333750"/>
                </a:lnTo>
                <a:cubicBezTo>
                  <a:pt x="34116" y="3333750"/>
                  <a:pt x="0" y="3299634"/>
                  <a:pt x="0" y="32575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4746498" y="1945958"/>
            <a:ext cx="2074299" cy="616077"/>
          </a:xfrm>
          <a:prstGeom prst="rect">
            <a:avLst/>
          </a:prstGeom>
          <a:noFill/>
          <a:ln>
            <a:noFill/>
          </a:ln>
        </p:spPr>
        <p:txBody>
          <a:bodyPr wrap="none" lIns="0" tIns="0" rIns="0" bIns="0" anchor="t" anchorCtr="0">
            <a:spAutoFit/>
          </a:bodyPr>
          <a:lstStyle/>
          <a:p>
            <a:pPr algn="l"/>
            <a:r>
              <a:rPr lang="en-US" sz="3150" b="1" dirty="0">
                <a:solidFill>
                  <a:srgbClr val="191919"/>
                </a:solidFill>
                <a:latin typeface="Styrene A"/>
                <a:ea typeface="Styrene A"/>
                <a:cs typeface="Styrene A"/>
              </a:rPr>
              <a:t>Heapsort</a:t>
            </a:r>
          </a:p>
        </p:txBody>
      </p:sp>
      <p:sp>
        <p:nvSpPr>
          <p:cNvPr id="13" name="TextBox 13"/>
          <p:cNvSpPr txBox="1"/>
          <p:nvPr/>
        </p:nvSpPr>
        <p:spPr>
          <a:xfrm>
            <a:off x="4753356" y="2758440"/>
            <a:ext cx="348340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consistent worst-case bound</a:t>
            </a:r>
          </a:p>
        </p:txBody>
      </p:sp>
      <p:sp>
        <p:nvSpPr>
          <p:cNvPr id="14" name="TextBox 14"/>
          <p:cNvSpPr txBox="1"/>
          <p:nvPr/>
        </p:nvSpPr>
        <p:spPr>
          <a:xfrm>
            <a:off x="4753356" y="3139440"/>
            <a:ext cx="298665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often hard to distinguish</a:t>
            </a:r>
          </a:p>
        </p:txBody>
      </p:sp>
      <p:sp>
        <p:nvSpPr>
          <p:cNvPr id="15" name="Freeform 15"/>
          <p:cNvSpPr/>
          <p:nvPr/>
        </p:nvSpPr>
        <p:spPr>
          <a:xfrm>
            <a:off x="8191500" y="1619250"/>
            <a:ext cx="3238500" cy="3333750"/>
          </a:xfrm>
          <a:custGeom>
            <a:avLst/>
            <a:gdLst/>
            <a:ahLst/>
            <a:cxnLst/>
            <a:rect l="l" t="t" r="r" b="b"/>
            <a:pathLst>
              <a:path w="3238500" h="3333750">
                <a:moveTo>
                  <a:pt x="76200" y="0"/>
                </a:moveTo>
                <a:lnTo>
                  <a:pt x="3162300" y="0"/>
                </a:lnTo>
                <a:cubicBezTo>
                  <a:pt x="3204384" y="0"/>
                  <a:pt x="3238500" y="34116"/>
                  <a:pt x="3238500" y="76200"/>
                </a:cubicBezTo>
                <a:lnTo>
                  <a:pt x="3238500" y="3257550"/>
                </a:lnTo>
                <a:cubicBezTo>
                  <a:pt x="3238500" y="3299634"/>
                  <a:pt x="3204384" y="3333750"/>
                  <a:pt x="3162300" y="3333750"/>
                </a:cubicBezTo>
                <a:lnTo>
                  <a:pt x="76200" y="3333750"/>
                </a:lnTo>
                <a:cubicBezTo>
                  <a:pt x="34116" y="3333750"/>
                  <a:pt x="0" y="3299634"/>
                  <a:pt x="0" y="3257550"/>
                </a:cubicBezTo>
                <a:lnTo>
                  <a:pt x="0" y="76200"/>
                </a:lnTo>
                <a:cubicBezTo>
                  <a:pt x="0" y="34116"/>
                  <a:pt x="34116" y="0"/>
                  <a:pt x="76200" y="0"/>
                </a:cubicBezTo>
                <a:close/>
              </a:path>
            </a:pathLst>
          </a:custGeom>
          <a:solidFill>
            <a:srgbClr val="191919"/>
          </a:solidFill>
          <a:ln>
            <a:noFill/>
          </a:ln>
        </p:spPr>
        <p:txBody>
          <a:bodyPr/>
          <a:lstStyle/>
          <a:p>
            <a:endParaRPr/>
          </a:p>
        </p:txBody>
      </p:sp>
      <p:sp>
        <p:nvSpPr>
          <p:cNvPr id="16" name="TextBox 16"/>
          <p:cNvSpPr txBox="1"/>
          <p:nvPr/>
        </p:nvSpPr>
        <p:spPr>
          <a:xfrm>
            <a:off x="8458962" y="1897380"/>
            <a:ext cx="942929" cy="704088"/>
          </a:xfrm>
          <a:prstGeom prst="rect">
            <a:avLst/>
          </a:prstGeom>
          <a:noFill/>
          <a:ln>
            <a:noFill/>
          </a:ln>
        </p:spPr>
        <p:txBody>
          <a:bodyPr wrap="none" lIns="0" tIns="0" rIns="0" bIns="0" anchor="t" anchorCtr="0">
            <a:spAutoFit/>
          </a:bodyPr>
          <a:lstStyle/>
          <a:p>
            <a:pPr algn="l"/>
            <a:r>
              <a:rPr lang="en-US" sz="3600" b="1" dirty="0">
                <a:solidFill>
                  <a:srgbClr val="D97757"/>
                </a:solidFill>
                <a:latin typeface="Styrene A"/>
                <a:ea typeface="Styrene A"/>
                <a:cs typeface="Styrene A"/>
              </a:rPr>
              <a:t>Tim</a:t>
            </a:r>
          </a:p>
        </p:txBody>
      </p:sp>
      <p:sp>
        <p:nvSpPr>
          <p:cNvPr id="17" name="TextBox 17"/>
          <p:cNvSpPr txBox="1"/>
          <p:nvPr/>
        </p:nvSpPr>
        <p:spPr>
          <a:xfrm>
            <a:off x="8468106" y="2758440"/>
            <a:ext cx="1968932"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adaptive to runs</a:t>
            </a:r>
          </a:p>
        </p:txBody>
      </p:sp>
      <p:sp>
        <p:nvSpPr>
          <p:cNvPr id="18" name="TextBox 18"/>
          <p:cNvSpPr txBox="1"/>
          <p:nvPr/>
        </p:nvSpPr>
        <p:spPr>
          <a:xfrm>
            <a:off x="8468106" y="3139440"/>
            <a:ext cx="3834765"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often clear when data has order</a:t>
            </a:r>
          </a:p>
        </p:txBody>
      </p:sp>
      <p:sp>
        <p:nvSpPr>
          <p:cNvPr id="19" name="TextBox 19"/>
          <p:cNvSpPr txBox="1"/>
          <p:nvPr/>
        </p:nvSpPr>
        <p:spPr>
          <a:xfrm>
            <a:off x="752856" y="5520690"/>
            <a:ext cx="990404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The defense is about learning this choice reliably enough to reduce runtime regret.</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12/24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7624010"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v5 was chosen after weaker paths were rejected</a:t>
            </a:r>
          </a:p>
        </p:txBody>
      </p:sp>
      <p:sp>
        <p:nvSpPr>
          <p:cNvPr id="6" name="TextBox 6"/>
          <p:cNvSpPr txBox="1"/>
          <p:nvPr/>
        </p:nvSpPr>
        <p:spPr>
          <a:xfrm>
            <a:off x="601599" y="858679"/>
            <a:ext cx="10267883"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research journey matters because it explains why the final model is measured, not accidental.</a:t>
            </a:r>
          </a:p>
        </p:txBody>
      </p:sp>
      <p:pic>
        <p:nvPicPr>
          <p:cNvPr id="7" name="Image 7"/>
          <p:cNvPicPr>
            <a:picLocks noChangeAspect="1"/>
          </p:cNvPicPr>
          <p:nvPr/>
        </p:nvPicPr>
        <p:blipFill>
          <a:blip r:embed="rId3"/>
          <a:stretch>
            <a:fillRect/>
          </a:stretch>
        </p:blipFill>
        <p:spPr>
          <a:xfrm>
            <a:off x="3570160" y="1428750"/>
            <a:ext cx="5051584" cy="2571750"/>
          </a:xfrm>
          <a:prstGeom prst="rect">
            <a:avLst/>
          </a:prstGeom>
        </p:spPr>
      </p:pic>
      <p:sp>
        <p:nvSpPr>
          <p:cNvPr id="8" name="Freeform 8"/>
          <p:cNvSpPr/>
          <p:nvPr/>
        </p:nvSpPr>
        <p:spPr>
          <a:xfrm>
            <a:off x="87630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1095756" y="4530090"/>
            <a:ext cx="1399421" cy="352044"/>
          </a:xfrm>
          <a:prstGeom prst="rect">
            <a:avLst/>
          </a:prstGeom>
          <a:noFill/>
          <a:ln>
            <a:noFill/>
          </a:ln>
        </p:spPr>
        <p:txBody>
          <a:bodyPr wrap="none" lIns="0" tIns="0" rIns="0" bIns="0" anchor="t" anchorCtr="0">
            <a:spAutoFit/>
          </a:bodyPr>
          <a:lstStyle/>
          <a:p>
            <a:pPr algn="l"/>
            <a:r>
              <a:rPr lang="en-US" sz="1800" b="1" dirty="0">
                <a:solidFill>
                  <a:srgbClr val="191919"/>
                </a:solidFill>
                <a:latin typeface="Anthropic Sans"/>
                <a:ea typeface="Anthropic Sans"/>
                <a:cs typeface="Anthropic Sans"/>
              </a:rPr>
              <a:t>Regression</a:t>
            </a:r>
          </a:p>
        </p:txBody>
      </p:sp>
      <p:sp>
        <p:nvSpPr>
          <p:cNvPr id="10" name="TextBox 10"/>
          <p:cNvSpPr txBox="1"/>
          <p:nvPr/>
        </p:nvSpPr>
        <p:spPr>
          <a:xfrm>
            <a:off x="1096899" y="4897279"/>
            <a:ext cx="1129141"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not enough</a:t>
            </a:r>
          </a:p>
        </p:txBody>
      </p:sp>
      <p:sp>
        <p:nvSpPr>
          <p:cNvPr id="11" name="Freeform 11"/>
          <p:cNvSpPr/>
          <p:nvPr/>
        </p:nvSpPr>
        <p:spPr>
          <a:xfrm>
            <a:off x="352425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3743706" y="4530090"/>
            <a:ext cx="1885001" cy="352044"/>
          </a:xfrm>
          <a:prstGeom prst="rect">
            <a:avLst/>
          </a:prstGeom>
          <a:noFill/>
          <a:ln>
            <a:noFill/>
          </a:ln>
        </p:spPr>
        <p:txBody>
          <a:bodyPr wrap="none" lIns="0" tIns="0" rIns="0" bIns="0" anchor="t" anchorCtr="0">
            <a:spAutoFit/>
          </a:bodyPr>
          <a:lstStyle/>
          <a:p>
            <a:pPr algn="l"/>
            <a:r>
              <a:rPr lang="en-US" sz="1800" b="1" dirty="0">
                <a:solidFill>
                  <a:srgbClr val="191919"/>
                </a:solidFill>
                <a:latin typeface="Anthropic Sans"/>
                <a:ea typeface="Anthropic Sans"/>
                <a:cs typeface="Anthropic Sans"/>
              </a:rPr>
              <a:t>Timing feature</a:t>
            </a:r>
          </a:p>
        </p:txBody>
      </p:sp>
      <p:sp>
        <p:nvSpPr>
          <p:cNvPr id="13" name="TextBox 13"/>
          <p:cNvSpPr txBox="1"/>
          <p:nvPr/>
        </p:nvSpPr>
        <p:spPr>
          <a:xfrm>
            <a:off x="3744849" y="4897279"/>
            <a:ext cx="1489586"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not deployable</a:t>
            </a:r>
          </a:p>
        </p:txBody>
      </p:sp>
      <p:sp>
        <p:nvSpPr>
          <p:cNvPr id="14" name="Freeform 14"/>
          <p:cNvSpPr/>
          <p:nvPr/>
        </p:nvSpPr>
        <p:spPr>
          <a:xfrm>
            <a:off x="617220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191919"/>
          </a:solidFill>
          <a:ln>
            <a:noFill/>
          </a:ln>
        </p:spPr>
        <p:txBody>
          <a:bodyPr/>
          <a:lstStyle/>
          <a:p>
            <a:endParaRPr/>
          </a:p>
        </p:txBody>
      </p:sp>
      <p:sp>
        <p:nvSpPr>
          <p:cNvPr id="15" name="TextBox 15"/>
          <p:cNvSpPr txBox="1"/>
          <p:nvPr/>
        </p:nvSpPr>
        <p:spPr>
          <a:xfrm>
            <a:off x="6391656" y="4530090"/>
            <a:ext cx="1583044" cy="352044"/>
          </a:xfrm>
          <a:prstGeom prst="rect">
            <a:avLst/>
          </a:prstGeom>
          <a:noFill/>
          <a:ln>
            <a:noFill/>
          </a:ln>
        </p:spPr>
        <p:txBody>
          <a:bodyPr wrap="none" lIns="0" tIns="0" rIns="0" bIns="0" anchor="t" anchorCtr="0">
            <a:spAutoFit/>
          </a:bodyPr>
          <a:lstStyle/>
          <a:p>
            <a:pPr algn="l"/>
            <a:r>
              <a:rPr lang="en-US" sz="1800" b="1" dirty="0">
                <a:solidFill>
                  <a:srgbClr val="FFFFFF"/>
                </a:solidFill>
                <a:latin typeface="Anthropic Sans"/>
                <a:ea typeface="Anthropic Sans"/>
                <a:cs typeface="Anthropic Sans"/>
              </a:rPr>
              <a:t>v5 classifier</a:t>
            </a:r>
          </a:p>
        </p:txBody>
      </p:sp>
      <p:sp>
        <p:nvSpPr>
          <p:cNvPr id="16" name="TextBox 16"/>
          <p:cNvSpPr txBox="1"/>
          <p:nvPr/>
        </p:nvSpPr>
        <p:spPr>
          <a:xfrm>
            <a:off x="6392799" y="4897279"/>
            <a:ext cx="1648606" cy="308039"/>
          </a:xfrm>
          <a:prstGeom prst="rect">
            <a:avLst/>
          </a:prstGeom>
          <a:noFill/>
          <a:ln>
            <a:noFill/>
          </a:ln>
        </p:spPr>
        <p:txBody>
          <a:bodyPr wrap="none" lIns="0" tIns="0" rIns="0" bIns="0" anchor="t" anchorCtr="0">
            <a:spAutoFit/>
          </a:bodyPr>
          <a:lstStyle/>
          <a:p>
            <a:pPr algn="l"/>
            <a:r>
              <a:rPr lang="en-US" sz="1580" dirty="0">
                <a:solidFill>
                  <a:srgbClr val="D97757"/>
                </a:solidFill>
                <a:latin typeface="Anthropic Sans"/>
                <a:ea typeface="Anthropic Sans"/>
                <a:cs typeface="Anthropic Sans"/>
              </a:rPr>
              <a:t>final main model</a:t>
            </a:r>
          </a:p>
        </p:txBody>
      </p:sp>
      <p:sp>
        <p:nvSpPr>
          <p:cNvPr id="17" name="Freeform 17"/>
          <p:cNvSpPr/>
          <p:nvPr/>
        </p:nvSpPr>
        <p:spPr>
          <a:xfrm>
            <a:off x="882015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8" name="TextBox 18"/>
          <p:cNvSpPr txBox="1"/>
          <p:nvPr/>
        </p:nvSpPr>
        <p:spPr>
          <a:xfrm>
            <a:off x="9039606" y="4530090"/>
            <a:ext cx="1758145" cy="352044"/>
          </a:xfrm>
          <a:prstGeom prst="rect">
            <a:avLst/>
          </a:prstGeom>
          <a:noFill/>
          <a:ln>
            <a:noFill/>
          </a:ln>
        </p:spPr>
        <p:txBody>
          <a:bodyPr wrap="none" lIns="0" tIns="0" rIns="0" bIns="0" anchor="t" anchorCtr="0">
            <a:spAutoFit/>
          </a:bodyPr>
          <a:lstStyle/>
          <a:p>
            <a:pPr algn="l"/>
            <a:r>
              <a:rPr lang="en-US" sz="1800" b="1" dirty="0">
                <a:solidFill>
                  <a:srgbClr val="191919"/>
                </a:solidFill>
                <a:latin typeface="Anthropic Sans"/>
                <a:ea typeface="Anthropic Sans"/>
                <a:cs typeface="Anthropic Sans"/>
              </a:rPr>
              <a:t>Strict checks</a:t>
            </a:r>
          </a:p>
        </p:txBody>
      </p:sp>
      <p:sp>
        <p:nvSpPr>
          <p:cNvPr id="19" name="TextBox 19"/>
          <p:cNvSpPr txBox="1"/>
          <p:nvPr/>
        </p:nvSpPr>
        <p:spPr>
          <a:xfrm>
            <a:off x="9040749" y="4897279"/>
            <a:ext cx="1722815"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kept as evidence</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13/24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7306886"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Evaluation asks how close we are to the oracle</a:t>
            </a:r>
          </a:p>
        </p:txBody>
      </p:sp>
      <p:sp>
        <p:nvSpPr>
          <p:cNvPr id="6" name="TextBox 6"/>
          <p:cNvSpPr txBox="1"/>
          <p:nvPr/>
        </p:nvSpPr>
        <p:spPr>
          <a:xfrm>
            <a:off x="601599" y="858679"/>
            <a:ext cx="10290261"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Accuracy says whether the class is right; regret says whether the runtime consequence matters.</a:t>
            </a:r>
          </a:p>
        </p:txBody>
      </p:sp>
      <p:sp>
        <p:nvSpPr>
          <p:cNvPr id="7" name="Freeform 7"/>
          <p:cNvSpPr/>
          <p:nvPr/>
        </p:nvSpPr>
        <p:spPr>
          <a:xfrm>
            <a:off x="762000"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036320" y="1804988"/>
            <a:ext cx="72584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SBS</a:t>
            </a:r>
          </a:p>
        </p:txBody>
      </p:sp>
      <p:sp>
        <p:nvSpPr>
          <p:cNvPr id="9" name="TextBox 9"/>
          <p:cNvSpPr txBox="1"/>
          <p:nvPr/>
        </p:nvSpPr>
        <p:spPr>
          <a:xfrm>
            <a:off x="1038606" y="2377440"/>
            <a:ext cx="250202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single best algorithm</a:t>
            </a:r>
          </a:p>
        </p:txBody>
      </p:sp>
      <p:sp>
        <p:nvSpPr>
          <p:cNvPr id="10" name="TextBox 10"/>
          <p:cNvSpPr txBox="1"/>
          <p:nvPr/>
        </p:nvSpPr>
        <p:spPr>
          <a:xfrm>
            <a:off x="1038606" y="2720340"/>
            <a:ext cx="2102206"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over the test set</a:t>
            </a:r>
          </a:p>
        </p:txBody>
      </p:sp>
      <p:sp>
        <p:nvSpPr>
          <p:cNvPr id="11" name="Freeform 11"/>
          <p:cNvSpPr/>
          <p:nvPr/>
        </p:nvSpPr>
        <p:spPr>
          <a:xfrm>
            <a:off x="4429125"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4703445" y="1804988"/>
            <a:ext cx="72584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VBS</a:t>
            </a:r>
          </a:p>
        </p:txBody>
      </p:sp>
      <p:sp>
        <p:nvSpPr>
          <p:cNvPr id="13" name="TextBox 13"/>
          <p:cNvSpPr txBox="1"/>
          <p:nvPr/>
        </p:nvSpPr>
        <p:spPr>
          <a:xfrm>
            <a:off x="4705731" y="2377440"/>
            <a:ext cx="333801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fastest measured algorithm</a:t>
            </a:r>
          </a:p>
        </p:txBody>
      </p:sp>
      <p:sp>
        <p:nvSpPr>
          <p:cNvPr id="14" name="TextBox 14"/>
          <p:cNvSpPr txBox="1"/>
          <p:nvPr/>
        </p:nvSpPr>
        <p:spPr>
          <a:xfrm>
            <a:off x="4705731" y="2720340"/>
            <a:ext cx="170238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for each input</a:t>
            </a:r>
          </a:p>
        </p:txBody>
      </p:sp>
      <p:sp>
        <p:nvSpPr>
          <p:cNvPr id="15" name="Freeform 15"/>
          <p:cNvSpPr/>
          <p:nvPr/>
        </p:nvSpPr>
        <p:spPr>
          <a:xfrm>
            <a:off x="8096250"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191919"/>
          </a:solidFill>
          <a:ln>
            <a:noFill/>
          </a:ln>
        </p:spPr>
        <p:txBody>
          <a:bodyPr/>
          <a:lstStyle/>
          <a:p>
            <a:endParaRPr/>
          </a:p>
        </p:txBody>
      </p:sp>
      <p:sp>
        <p:nvSpPr>
          <p:cNvPr id="16" name="TextBox 16"/>
          <p:cNvSpPr txBox="1"/>
          <p:nvPr/>
        </p:nvSpPr>
        <p:spPr>
          <a:xfrm>
            <a:off x="8370570" y="1804988"/>
            <a:ext cx="939895"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Anthropic Sans"/>
                <a:ea typeface="Anthropic Sans"/>
                <a:cs typeface="Anthropic Sans"/>
              </a:rPr>
              <a:t>Model</a:t>
            </a:r>
          </a:p>
        </p:txBody>
      </p:sp>
      <p:sp>
        <p:nvSpPr>
          <p:cNvPr id="17" name="TextBox 17"/>
          <p:cNvSpPr txBox="1"/>
          <p:nvPr/>
        </p:nvSpPr>
        <p:spPr>
          <a:xfrm>
            <a:off x="8372856" y="2377440"/>
            <a:ext cx="2635301"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choose before sorting</a:t>
            </a:r>
          </a:p>
        </p:txBody>
      </p:sp>
      <p:sp>
        <p:nvSpPr>
          <p:cNvPr id="18" name="TextBox 18"/>
          <p:cNvSpPr txBox="1"/>
          <p:nvPr/>
        </p:nvSpPr>
        <p:spPr>
          <a:xfrm>
            <a:off x="8372856" y="2720340"/>
            <a:ext cx="2308174"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using features only</a:t>
            </a:r>
          </a:p>
        </p:txBody>
      </p:sp>
      <p:pic>
        <p:nvPicPr>
          <p:cNvPr id="19" name="Image 19"/>
          <p:cNvPicPr>
            <a:picLocks noChangeAspect="1"/>
          </p:cNvPicPr>
          <p:nvPr/>
        </p:nvPicPr>
        <p:blipFill>
          <a:blip r:embed="rId3"/>
          <a:stretch>
            <a:fillRect/>
          </a:stretch>
        </p:blipFill>
        <p:spPr>
          <a:xfrm>
            <a:off x="1152620" y="4476750"/>
            <a:ext cx="4267010" cy="904875"/>
          </a:xfrm>
          <a:prstGeom prst="rect">
            <a:avLst/>
          </a:prstGeom>
        </p:spPr>
      </p:pic>
      <p:pic>
        <p:nvPicPr>
          <p:cNvPr id="20" name="Image 20"/>
          <p:cNvPicPr>
            <a:picLocks noChangeAspect="1"/>
          </p:cNvPicPr>
          <p:nvPr/>
        </p:nvPicPr>
        <p:blipFill>
          <a:blip r:embed="rId4"/>
          <a:stretch>
            <a:fillRect/>
          </a:stretch>
        </p:blipFill>
        <p:spPr>
          <a:xfrm>
            <a:off x="6572250" y="4539044"/>
            <a:ext cx="4381500" cy="780383"/>
          </a:xfrm>
          <a:prstGeom prst="rect">
            <a:avLst/>
          </a:prstGeom>
        </p:spPr>
      </p:pic>
      <p:sp>
        <p:nvSpPr>
          <p:cNvPr id="21" name="TextBox 21"/>
          <p:cNvSpPr txBox="1"/>
          <p:nvPr/>
        </p:nvSpPr>
        <p:spPr>
          <a:xfrm>
            <a:off x="1134999" y="5640229"/>
            <a:ext cx="8634688"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These formulas make the runtime result defensible, not just the classifier result.</a:t>
            </a:r>
          </a:p>
        </p:txBody>
      </p:sp>
      <p:sp>
        <p:nvSpPr>
          <p:cNvPr id="22" name="Line 22"/>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4" name="Freeform 24"/>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5" name="Rectangle 24"/>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14/24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6941275"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selector closes most of the runtime gap</a:t>
            </a:r>
          </a:p>
        </p:txBody>
      </p:sp>
      <p:sp>
        <p:nvSpPr>
          <p:cNvPr id="6" name="TextBox 6"/>
          <p:cNvSpPr txBox="1"/>
          <p:nvPr/>
        </p:nvSpPr>
        <p:spPr>
          <a:xfrm>
            <a:off x="601599" y="858679"/>
            <a:ext cx="9378320"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most important result is runtime value: v5 recovers 93.1% of the SBS-to-VBS gap.</a:t>
            </a:r>
          </a:p>
        </p:txBody>
      </p:sp>
      <p:sp>
        <p:nvSpPr>
          <p:cNvPr id="7" name="Freeform 7"/>
          <p:cNvSpPr/>
          <p:nvPr/>
        </p:nvSpPr>
        <p:spPr>
          <a:xfrm>
            <a:off x="762000" y="1571625"/>
            <a:ext cx="4953000" cy="3381375"/>
          </a:xfrm>
          <a:custGeom>
            <a:avLst/>
            <a:gdLst/>
            <a:ahLst/>
            <a:cxnLst/>
            <a:rect l="l" t="t" r="r" b="b"/>
            <a:pathLst>
              <a:path w="4953000" h="3381375">
                <a:moveTo>
                  <a:pt x="76200" y="0"/>
                </a:moveTo>
                <a:lnTo>
                  <a:pt x="4876800" y="0"/>
                </a:lnTo>
                <a:cubicBezTo>
                  <a:pt x="4918884" y="0"/>
                  <a:pt x="4953000" y="34116"/>
                  <a:pt x="4953000" y="76200"/>
                </a:cubicBezTo>
                <a:lnTo>
                  <a:pt x="4953000" y="3305175"/>
                </a:lnTo>
                <a:cubicBezTo>
                  <a:pt x="4953000" y="3347259"/>
                  <a:pt x="4918884" y="3381375"/>
                  <a:pt x="4876800" y="3381375"/>
                </a:cubicBezTo>
                <a:lnTo>
                  <a:pt x="76200" y="3381375"/>
                </a:lnTo>
                <a:cubicBezTo>
                  <a:pt x="34116" y="3381375"/>
                  <a:pt x="0" y="3347259"/>
                  <a:pt x="0" y="3305175"/>
                </a:cubicBezTo>
                <a:lnTo>
                  <a:pt x="0" y="76200"/>
                </a:lnTo>
                <a:cubicBezTo>
                  <a:pt x="0" y="34116"/>
                  <a:pt x="34116" y="0"/>
                  <a:pt x="76200" y="0"/>
                </a:cubicBezTo>
                <a:close/>
              </a:path>
            </a:pathLst>
          </a:custGeom>
          <a:solidFill>
            <a:srgbClr val="191919"/>
          </a:solidFill>
          <a:ln>
            <a:noFill/>
          </a:ln>
        </p:spPr>
        <p:txBody>
          <a:bodyPr/>
          <a:lstStyle/>
          <a:p>
            <a:endParaRPr/>
          </a:p>
        </p:txBody>
      </p:sp>
      <p:sp>
        <p:nvSpPr>
          <p:cNvPr id="8" name="TextBox 8"/>
          <p:cNvSpPr txBox="1"/>
          <p:nvPr/>
        </p:nvSpPr>
        <p:spPr>
          <a:xfrm>
            <a:off x="1143000" y="2130742"/>
            <a:ext cx="2477465" cy="1133475"/>
          </a:xfrm>
          <a:prstGeom prst="rect">
            <a:avLst/>
          </a:prstGeom>
          <a:noFill/>
          <a:ln>
            <a:noFill/>
          </a:ln>
        </p:spPr>
        <p:txBody>
          <a:bodyPr wrap="none" lIns="0" tIns="0" rIns="0" bIns="0" anchor="t" anchorCtr="0">
            <a:spAutoFit/>
          </a:bodyPr>
          <a:lstStyle/>
          <a:p>
            <a:pPr algn="l"/>
            <a:r>
              <a:rPr lang="en-US" sz="5850" b="1" dirty="0">
                <a:solidFill>
                  <a:srgbClr val="D97757"/>
                </a:solidFill>
                <a:latin typeface="Styrene A"/>
                <a:ea typeface="Styrene A"/>
                <a:cs typeface="Styrene A"/>
              </a:rPr>
              <a:t>93.1%</a:t>
            </a:r>
          </a:p>
        </p:txBody>
      </p:sp>
      <p:sp>
        <p:nvSpPr>
          <p:cNvPr id="9" name="TextBox 9"/>
          <p:cNvSpPr txBox="1"/>
          <p:nvPr/>
        </p:nvSpPr>
        <p:spPr>
          <a:xfrm>
            <a:off x="1187196" y="3058478"/>
            <a:ext cx="3149765" cy="498729"/>
          </a:xfrm>
          <a:prstGeom prst="rect">
            <a:avLst/>
          </a:prstGeom>
          <a:noFill/>
          <a:ln>
            <a:noFill/>
          </a:ln>
        </p:spPr>
        <p:txBody>
          <a:bodyPr wrap="none" lIns="0" tIns="0" rIns="0" bIns="0" anchor="t" anchorCtr="0">
            <a:spAutoFit/>
          </a:bodyPr>
          <a:lstStyle/>
          <a:p>
            <a:pPr algn="l"/>
            <a:r>
              <a:rPr lang="en-US" sz="2550" dirty="0">
                <a:solidFill>
                  <a:srgbClr val="FFFFFF"/>
                </a:solidFill>
                <a:latin typeface="Anthropic Sans"/>
                <a:ea typeface="Anthropic Sans"/>
                <a:cs typeface="Anthropic Sans"/>
              </a:rPr>
              <a:t>runtime gap closed</a:t>
            </a:r>
          </a:p>
        </p:txBody>
      </p:sp>
      <p:sp>
        <p:nvSpPr>
          <p:cNvPr id="10" name="TextBox 10"/>
          <p:cNvSpPr txBox="1"/>
          <p:nvPr/>
        </p:nvSpPr>
        <p:spPr>
          <a:xfrm>
            <a:off x="1191006" y="3663315"/>
            <a:ext cx="4306824"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This is the headline because a wrong</a:t>
            </a:r>
          </a:p>
        </p:txBody>
      </p:sp>
      <p:sp>
        <p:nvSpPr>
          <p:cNvPr id="11" name="TextBox 11"/>
          <p:cNvSpPr txBox="1"/>
          <p:nvPr/>
        </p:nvSpPr>
        <p:spPr>
          <a:xfrm>
            <a:off x="1191006" y="3977640"/>
            <a:ext cx="4852492"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label is not always an expensive mistake.</a:t>
            </a:r>
          </a:p>
        </p:txBody>
      </p:sp>
      <p:sp>
        <p:nvSpPr>
          <p:cNvPr id="12" name="Freeform 12"/>
          <p:cNvSpPr/>
          <p:nvPr/>
        </p:nvSpPr>
        <p:spPr>
          <a:xfrm>
            <a:off x="6381750" y="1571625"/>
            <a:ext cx="2286000" cy="1571625"/>
          </a:xfrm>
          <a:custGeom>
            <a:avLst/>
            <a:gdLst/>
            <a:ahLst/>
            <a:cxnLst/>
            <a:rect l="l" t="t" r="r" b="b"/>
            <a:pathLst>
              <a:path w="2286000" h="1571625">
                <a:moveTo>
                  <a:pt x="76200" y="0"/>
                </a:moveTo>
                <a:lnTo>
                  <a:pt x="2209800" y="0"/>
                </a:lnTo>
                <a:cubicBezTo>
                  <a:pt x="2251884" y="0"/>
                  <a:pt x="2286000" y="34116"/>
                  <a:pt x="2286000" y="76200"/>
                </a:cubicBezTo>
                <a:lnTo>
                  <a:pt x="2286000" y="1495425"/>
                </a:lnTo>
                <a:cubicBezTo>
                  <a:pt x="2286000" y="1537509"/>
                  <a:pt x="2251884" y="1571625"/>
                  <a:pt x="2209800" y="1571625"/>
                </a:cubicBezTo>
                <a:lnTo>
                  <a:pt x="76200" y="1571625"/>
                </a:lnTo>
                <a:cubicBezTo>
                  <a:pt x="34116" y="1571625"/>
                  <a:pt x="0" y="1537509"/>
                  <a:pt x="0" y="14954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3" name="TextBox 13"/>
          <p:cNvSpPr txBox="1"/>
          <p:nvPr/>
        </p:nvSpPr>
        <p:spPr>
          <a:xfrm>
            <a:off x="6598757" y="1816418"/>
            <a:ext cx="1851987" cy="847725"/>
          </a:xfrm>
          <a:prstGeom prst="rect">
            <a:avLst/>
          </a:prstGeom>
          <a:noFill/>
          <a:ln>
            <a:noFill/>
          </a:ln>
        </p:spPr>
        <p:txBody>
          <a:bodyPr wrap="none" lIns="0" tIns="0" rIns="0" bIns="0" anchor="t" anchorCtr="0">
            <a:spAutoFit/>
          </a:bodyPr>
          <a:lstStyle/>
          <a:p>
            <a:pPr algn="ctr"/>
            <a:r>
              <a:rPr lang="en-US" sz="4350" b="1" dirty="0">
                <a:solidFill>
                  <a:srgbClr val="191919"/>
                </a:solidFill>
                <a:latin typeface="Styrene A"/>
                <a:ea typeface="Styrene A"/>
                <a:cs typeface="Styrene A"/>
              </a:rPr>
              <a:t>76.1%</a:t>
            </a:r>
          </a:p>
        </p:txBody>
      </p:sp>
      <p:sp>
        <p:nvSpPr>
          <p:cNvPr id="14" name="TextBox 14"/>
          <p:cNvSpPr txBox="1"/>
          <p:nvPr/>
        </p:nvSpPr>
        <p:spPr>
          <a:xfrm>
            <a:off x="6785258" y="2516029"/>
            <a:ext cx="1478985"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test accuracy</a:t>
            </a:r>
          </a:p>
        </p:txBody>
      </p:sp>
      <p:sp>
        <p:nvSpPr>
          <p:cNvPr id="15" name="Freeform 15"/>
          <p:cNvSpPr/>
          <p:nvPr/>
        </p:nvSpPr>
        <p:spPr>
          <a:xfrm>
            <a:off x="9144000" y="1571625"/>
            <a:ext cx="2286000" cy="1571625"/>
          </a:xfrm>
          <a:custGeom>
            <a:avLst/>
            <a:gdLst/>
            <a:ahLst/>
            <a:cxnLst/>
            <a:rect l="l" t="t" r="r" b="b"/>
            <a:pathLst>
              <a:path w="2286000" h="1571625">
                <a:moveTo>
                  <a:pt x="76200" y="0"/>
                </a:moveTo>
                <a:lnTo>
                  <a:pt x="2209800" y="0"/>
                </a:lnTo>
                <a:cubicBezTo>
                  <a:pt x="2251884" y="0"/>
                  <a:pt x="2286000" y="34116"/>
                  <a:pt x="2286000" y="76200"/>
                </a:cubicBezTo>
                <a:lnTo>
                  <a:pt x="2286000" y="1495425"/>
                </a:lnTo>
                <a:cubicBezTo>
                  <a:pt x="2286000" y="1537509"/>
                  <a:pt x="2251884" y="1571625"/>
                  <a:pt x="2209800" y="1571625"/>
                </a:cubicBezTo>
                <a:lnTo>
                  <a:pt x="76200" y="1571625"/>
                </a:lnTo>
                <a:cubicBezTo>
                  <a:pt x="34116" y="1571625"/>
                  <a:pt x="0" y="1537509"/>
                  <a:pt x="0" y="14954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6" name="TextBox 16"/>
          <p:cNvSpPr txBox="1"/>
          <p:nvPr/>
        </p:nvSpPr>
        <p:spPr>
          <a:xfrm>
            <a:off x="9361007" y="1816418"/>
            <a:ext cx="1851987" cy="847725"/>
          </a:xfrm>
          <a:prstGeom prst="rect">
            <a:avLst/>
          </a:prstGeom>
          <a:noFill/>
          <a:ln>
            <a:noFill/>
          </a:ln>
        </p:spPr>
        <p:txBody>
          <a:bodyPr wrap="none" lIns="0" tIns="0" rIns="0" bIns="0" anchor="t" anchorCtr="0">
            <a:spAutoFit/>
          </a:bodyPr>
          <a:lstStyle/>
          <a:p>
            <a:pPr algn="ctr"/>
            <a:r>
              <a:rPr lang="en-US" sz="4350" b="1" dirty="0">
                <a:solidFill>
                  <a:srgbClr val="191919"/>
                </a:solidFill>
                <a:latin typeface="Styrene A"/>
                <a:ea typeface="Styrene A"/>
                <a:cs typeface="Styrene A"/>
              </a:rPr>
              <a:t>89.6%</a:t>
            </a:r>
          </a:p>
        </p:txBody>
      </p:sp>
      <p:sp>
        <p:nvSpPr>
          <p:cNvPr id="17" name="TextBox 17"/>
          <p:cNvSpPr txBox="1"/>
          <p:nvPr/>
        </p:nvSpPr>
        <p:spPr>
          <a:xfrm>
            <a:off x="9664122" y="2516029"/>
            <a:ext cx="1245756"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zero regret</a:t>
            </a:r>
          </a:p>
        </p:txBody>
      </p:sp>
      <p:pic>
        <p:nvPicPr>
          <p:cNvPr id="18" name="Image 18"/>
          <p:cNvPicPr>
            <a:picLocks noChangeAspect="1"/>
          </p:cNvPicPr>
          <p:nvPr/>
        </p:nvPicPr>
        <p:blipFill>
          <a:blip r:embed="rId3"/>
          <a:stretch>
            <a:fillRect/>
          </a:stretch>
        </p:blipFill>
        <p:spPr>
          <a:xfrm>
            <a:off x="7505033" y="3429000"/>
            <a:ext cx="2801779" cy="1952625"/>
          </a:xfrm>
          <a:prstGeom prst="rect">
            <a:avLst/>
          </a:prstGeom>
        </p:spPr>
      </p:pic>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15/24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714482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Accuracy alone does not explain runtime value</a:t>
            </a:r>
          </a:p>
        </p:txBody>
      </p:sp>
      <p:sp>
        <p:nvSpPr>
          <p:cNvPr id="6" name="TextBox 6"/>
          <p:cNvSpPr txBox="1"/>
          <p:nvPr/>
        </p:nvSpPr>
        <p:spPr>
          <a:xfrm>
            <a:off x="601599" y="858679"/>
            <a:ext cx="9409872"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Some wrong labels are cheap because two algorithms finish almost the same on that input.</a:t>
            </a:r>
          </a:p>
        </p:txBody>
      </p:sp>
      <p:pic>
        <p:nvPicPr>
          <p:cNvPr id="7" name="Image 7"/>
          <p:cNvPicPr>
            <a:picLocks noChangeAspect="1"/>
          </p:cNvPicPr>
          <p:nvPr/>
        </p:nvPicPr>
        <p:blipFill>
          <a:blip r:embed="rId3"/>
          <a:stretch>
            <a:fillRect/>
          </a:stretch>
        </p:blipFill>
        <p:spPr>
          <a:xfrm>
            <a:off x="760190" y="1428750"/>
            <a:ext cx="6480620" cy="4000500"/>
          </a:xfrm>
          <a:prstGeom prst="rect">
            <a:avLst/>
          </a:prstGeom>
        </p:spPr>
      </p:pic>
      <p:sp>
        <p:nvSpPr>
          <p:cNvPr id="8" name="Freeform 8"/>
          <p:cNvSpPr/>
          <p:nvPr/>
        </p:nvSpPr>
        <p:spPr>
          <a:xfrm>
            <a:off x="7953375" y="1619250"/>
            <a:ext cx="3286125" cy="1238250"/>
          </a:xfrm>
          <a:custGeom>
            <a:avLst/>
            <a:gdLst/>
            <a:ahLst/>
            <a:cxnLst/>
            <a:rect l="l" t="t" r="r" b="b"/>
            <a:pathLst>
              <a:path w="3286125" h="1238250">
                <a:moveTo>
                  <a:pt x="76200" y="0"/>
                </a:moveTo>
                <a:lnTo>
                  <a:pt x="3209925" y="0"/>
                </a:lnTo>
                <a:cubicBezTo>
                  <a:pt x="3252009" y="0"/>
                  <a:pt x="3286125" y="34116"/>
                  <a:pt x="3286125" y="76200"/>
                </a:cubicBezTo>
                <a:lnTo>
                  <a:pt x="3286125" y="1162050"/>
                </a:lnTo>
                <a:cubicBezTo>
                  <a:pt x="3286125" y="1204134"/>
                  <a:pt x="3252009" y="1238250"/>
                  <a:pt x="3209925" y="1238250"/>
                </a:cubicBezTo>
                <a:lnTo>
                  <a:pt x="76200" y="1238250"/>
                </a:lnTo>
                <a:cubicBezTo>
                  <a:pt x="34116" y="1238250"/>
                  <a:pt x="0" y="1204134"/>
                  <a:pt x="0" y="11620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8225409" y="1804035"/>
            <a:ext cx="1153293" cy="528066"/>
          </a:xfrm>
          <a:prstGeom prst="rect">
            <a:avLst/>
          </a:prstGeom>
          <a:noFill/>
          <a:ln>
            <a:noFill/>
          </a:ln>
        </p:spPr>
        <p:txBody>
          <a:bodyPr wrap="none" lIns="0" tIns="0" rIns="0" bIns="0" anchor="t" anchorCtr="0">
            <a:spAutoFit/>
          </a:bodyPr>
          <a:lstStyle/>
          <a:p>
            <a:pPr algn="l"/>
            <a:r>
              <a:rPr lang="en-US" sz="2700" b="1" dirty="0">
                <a:solidFill>
                  <a:srgbClr val="191919"/>
                </a:solidFill>
                <a:latin typeface="Styrene A"/>
                <a:ea typeface="Styrene A"/>
                <a:cs typeface="Styrene A"/>
              </a:rPr>
              <a:t>76.1%</a:t>
            </a:r>
          </a:p>
        </p:txBody>
      </p:sp>
      <p:sp>
        <p:nvSpPr>
          <p:cNvPr id="10" name="TextBox 10"/>
          <p:cNvSpPr txBox="1"/>
          <p:nvPr/>
        </p:nvSpPr>
        <p:spPr>
          <a:xfrm>
            <a:off x="8229981" y="2282190"/>
            <a:ext cx="170238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label accuracy</a:t>
            </a:r>
          </a:p>
        </p:txBody>
      </p:sp>
      <p:sp>
        <p:nvSpPr>
          <p:cNvPr id="11" name="Freeform 11"/>
          <p:cNvSpPr/>
          <p:nvPr/>
        </p:nvSpPr>
        <p:spPr>
          <a:xfrm>
            <a:off x="7953375" y="3143250"/>
            <a:ext cx="3286125" cy="1238250"/>
          </a:xfrm>
          <a:custGeom>
            <a:avLst/>
            <a:gdLst/>
            <a:ahLst/>
            <a:cxnLst/>
            <a:rect l="l" t="t" r="r" b="b"/>
            <a:pathLst>
              <a:path w="3286125" h="1238250">
                <a:moveTo>
                  <a:pt x="76200" y="0"/>
                </a:moveTo>
                <a:lnTo>
                  <a:pt x="3209925" y="0"/>
                </a:lnTo>
                <a:cubicBezTo>
                  <a:pt x="3252009" y="0"/>
                  <a:pt x="3286125" y="34116"/>
                  <a:pt x="3286125" y="76200"/>
                </a:cubicBezTo>
                <a:lnTo>
                  <a:pt x="3286125" y="1162050"/>
                </a:lnTo>
                <a:cubicBezTo>
                  <a:pt x="3286125" y="1204134"/>
                  <a:pt x="3252009" y="1238250"/>
                  <a:pt x="3209925" y="1238250"/>
                </a:cubicBezTo>
                <a:lnTo>
                  <a:pt x="76200" y="1238250"/>
                </a:lnTo>
                <a:cubicBezTo>
                  <a:pt x="34116" y="1238250"/>
                  <a:pt x="0" y="1204134"/>
                  <a:pt x="0" y="1162050"/>
                </a:cubicBezTo>
                <a:lnTo>
                  <a:pt x="0" y="76200"/>
                </a:lnTo>
                <a:cubicBezTo>
                  <a:pt x="0" y="34116"/>
                  <a:pt x="34116" y="0"/>
                  <a:pt x="76200" y="0"/>
                </a:cubicBezTo>
                <a:close/>
              </a:path>
            </a:pathLst>
          </a:custGeom>
          <a:solidFill>
            <a:srgbClr val="191919"/>
          </a:solidFill>
          <a:ln>
            <a:noFill/>
          </a:ln>
        </p:spPr>
        <p:txBody>
          <a:bodyPr/>
          <a:lstStyle/>
          <a:p>
            <a:endParaRPr/>
          </a:p>
        </p:txBody>
      </p:sp>
      <p:sp>
        <p:nvSpPr>
          <p:cNvPr id="12" name="TextBox 12"/>
          <p:cNvSpPr txBox="1"/>
          <p:nvPr/>
        </p:nvSpPr>
        <p:spPr>
          <a:xfrm>
            <a:off x="8225409" y="3328035"/>
            <a:ext cx="1153293" cy="528066"/>
          </a:xfrm>
          <a:prstGeom prst="rect">
            <a:avLst/>
          </a:prstGeom>
          <a:noFill/>
          <a:ln>
            <a:noFill/>
          </a:ln>
        </p:spPr>
        <p:txBody>
          <a:bodyPr wrap="none" lIns="0" tIns="0" rIns="0" bIns="0" anchor="t" anchorCtr="0">
            <a:spAutoFit/>
          </a:bodyPr>
          <a:lstStyle/>
          <a:p>
            <a:pPr algn="l"/>
            <a:r>
              <a:rPr lang="en-US" sz="2700" b="1" dirty="0">
                <a:solidFill>
                  <a:srgbClr val="D97757"/>
                </a:solidFill>
                <a:latin typeface="Styrene A"/>
                <a:ea typeface="Styrene A"/>
                <a:cs typeface="Styrene A"/>
              </a:rPr>
              <a:t>93.1%</a:t>
            </a:r>
          </a:p>
        </p:txBody>
      </p:sp>
      <p:sp>
        <p:nvSpPr>
          <p:cNvPr id="13" name="TextBox 13"/>
          <p:cNvSpPr txBox="1"/>
          <p:nvPr/>
        </p:nvSpPr>
        <p:spPr>
          <a:xfrm>
            <a:off x="8229981" y="3806190"/>
            <a:ext cx="1229868"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gap closed</a:t>
            </a:r>
          </a:p>
        </p:txBody>
      </p:sp>
      <p:sp>
        <p:nvSpPr>
          <p:cNvPr id="14" name="TextBox 14"/>
          <p:cNvSpPr txBox="1"/>
          <p:nvPr/>
        </p:nvSpPr>
        <p:spPr>
          <a:xfrm>
            <a:off x="7944231" y="4758690"/>
            <a:ext cx="3963348" cy="352044"/>
          </a:xfrm>
          <a:prstGeom prst="rect">
            <a:avLst/>
          </a:prstGeom>
          <a:noFill/>
          <a:ln>
            <a:noFill/>
          </a:ln>
        </p:spPr>
        <p:txBody>
          <a:bodyPr wrap="none" lIns="0" tIns="0" rIns="0" bIns="0" anchor="t" anchorCtr="0">
            <a:spAutoFit/>
          </a:bodyPr>
          <a:lstStyle/>
          <a:p>
            <a:pPr algn="l"/>
            <a:r>
              <a:rPr lang="en-US" sz="1800" dirty="0">
                <a:solidFill>
                  <a:srgbClr val="191919"/>
                </a:solidFill>
                <a:latin typeface="Anthropic Sans"/>
                <a:ea typeface="Anthropic Sans"/>
                <a:cs typeface="Anthropic Sans"/>
              </a:rPr>
              <a:t>So I do not defend the model as a</a:t>
            </a:r>
          </a:p>
        </p:txBody>
      </p:sp>
      <p:sp>
        <p:nvSpPr>
          <p:cNvPr id="15" name="TextBox 15"/>
          <p:cNvSpPr txBox="1"/>
          <p:nvPr/>
        </p:nvSpPr>
        <p:spPr>
          <a:xfrm>
            <a:off x="7944231" y="5092065"/>
            <a:ext cx="4792079" cy="352044"/>
          </a:xfrm>
          <a:prstGeom prst="rect">
            <a:avLst/>
          </a:prstGeom>
          <a:noFill/>
          <a:ln>
            <a:noFill/>
          </a:ln>
        </p:spPr>
        <p:txBody>
          <a:bodyPr wrap="none" lIns="0" tIns="0" rIns="0" bIns="0" anchor="t" anchorCtr="0">
            <a:spAutoFit/>
          </a:bodyPr>
          <a:lstStyle/>
          <a:p>
            <a:pPr algn="l"/>
            <a:r>
              <a:rPr lang="en-US" sz="1800" dirty="0">
                <a:solidFill>
                  <a:srgbClr val="191919"/>
                </a:solidFill>
                <a:latin typeface="Anthropic Sans"/>
                <a:ea typeface="Anthropic Sans"/>
                <a:cs typeface="Anthropic Sans"/>
              </a:rPr>
              <a:t>perfect classifier. I defend its regret.</a:t>
            </a:r>
          </a:p>
        </p:txBody>
      </p:sp>
      <p:sp>
        <p:nvSpPr>
          <p:cNvPr id="16" name="Line 16"/>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8" name="Freeform 18"/>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19" name="Rectangle 18"/>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16/24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7813719"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hardest boundary is between close algorithms</a:t>
            </a:r>
          </a:p>
        </p:txBody>
      </p:sp>
      <p:sp>
        <p:nvSpPr>
          <p:cNvPr id="6" name="TextBox 6"/>
          <p:cNvSpPr txBox="1"/>
          <p:nvPr/>
        </p:nvSpPr>
        <p:spPr>
          <a:xfrm>
            <a:off x="601599" y="858679"/>
            <a:ext cx="10681478"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confusion matrix shows strong timsort behavior and weaker separation where runtimes are close.</a:t>
            </a:r>
          </a:p>
        </p:txBody>
      </p:sp>
      <p:pic>
        <p:nvPicPr>
          <p:cNvPr id="7" name="Image 7"/>
          <p:cNvPicPr>
            <a:picLocks noChangeAspect="1"/>
          </p:cNvPicPr>
          <p:nvPr/>
        </p:nvPicPr>
        <p:blipFill>
          <a:blip r:embed="rId3"/>
          <a:stretch>
            <a:fillRect/>
          </a:stretch>
        </p:blipFill>
        <p:spPr>
          <a:xfrm>
            <a:off x="769906" y="1428750"/>
            <a:ext cx="5413343" cy="4429125"/>
          </a:xfrm>
          <a:prstGeom prst="rect">
            <a:avLst/>
          </a:prstGeom>
        </p:spPr>
      </p:pic>
      <p:sp>
        <p:nvSpPr>
          <p:cNvPr id="8" name="Freeform 8"/>
          <p:cNvSpPr/>
          <p:nvPr/>
        </p:nvSpPr>
        <p:spPr>
          <a:xfrm>
            <a:off x="6858000" y="1619250"/>
            <a:ext cx="4191000" cy="1143000"/>
          </a:xfrm>
          <a:custGeom>
            <a:avLst/>
            <a:gdLst/>
            <a:ahLst/>
            <a:cxnLst/>
            <a:rect l="l" t="t" r="r" b="b"/>
            <a:pathLst>
              <a:path w="4191000" h="1143000">
                <a:moveTo>
                  <a:pt x="76200" y="0"/>
                </a:moveTo>
                <a:lnTo>
                  <a:pt x="4114800" y="0"/>
                </a:lnTo>
                <a:cubicBezTo>
                  <a:pt x="4156884" y="0"/>
                  <a:pt x="4191000" y="34116"/>
                  <a:pt x="4191000" y="76200"/>
                </a:cubicBezTo>
                <a:lnTo>
                  <a:pt x="4191000" y="1066800"/>
                </a:lnTo>
                <a:cubicBezTo>
                  <a:pt x="4191000" y="1108884"/>
                  <a:pt x="4156884" y="1143000"/>
                  <a:pt x="4114800" y="1143000"/>
                </a:cubicBezTo>
                <a:lnTo>
                  <a:pt x="76200" y="1143000"/>
                </a:lnTo>
                <a:cubicBezTo>
                  <a:pt x="34116" y="1143000"/>
                  <a:pt x="0" y="1108884"/>
                  <a:pt x="0" y="1066800"/>
                </a:cubicBezTo>
                <a:lnTo>
                  <a:pt x="0" y="76200"/>
                </a:lnTo>
                <a:cubicBezTo>
                  <a:pt x="0" y="34116"/>
                  <a:pt x="34116" y="0"/>
                  <a:pt x="76200" y="0"/>
                </a:cubicBezTo>
                <a:close/>
              </a:path>
            </a:pathLst>
          </a:custGeom>
          <a:solidFill>
            <a:srgbClr val="191919"/>
          </a:solidFill>
          <a:ln>
            <a:noFill/>
          </a:ln>
        </p:spPr>
        <p:txBody>
          <a:bodyPr/>
          <a:lstStyle/>
          <a:p>
            <a:endParaRPr/>
          </a:p>
        </p:txBody>
      </p:sp>
      <p:sp>
        <p:nvSpPr>
          <p:cNvPr id="9" name="TextBox 9"/>
          <p:cNvSpPr txBox="1"/>
          <p:nvPr/>
        </p:nvSpPr>
        <p:spPr>
          <a:xfrm>
            <a:off x="7130034" y="1804035"/>
            <a:ext cx="1153293" cy="528066"/>
          </a:xfrm>
          <a:prstGeom prst="rect">
            <a:avLst/>
          </a:prstGeom>
          <a:noFill/>
          <a:ln>
            <a:noFill/>
          </a:ln>
        </p:spPr>
        <p:txBody>
          <a:bodyPr wrap="none" lIns="0" tIns="0" rIns="0" bIns="0" anchor="t" anchorCtr="0">
            <a:spAutoFit/>
          </a:bodyPr>
          <a:lstStyle/>
          <a:p>
            <a:pPr algn="l"/>
            <a:r>
              <a:rPr lang="en-US" sz="2700" b="1" dirty="0">
                <a:solidFill>
                  <a:srgbClr val="D97757"/>
                </a:solidFill>
                <a:latin typeface="Styrene A"/>
                <a:ea typeface="Styrene A"/>
                <a:cs typeface="Styrene A"/>
              </a:rPr>
              <a:t>94.5%</a:t>
            </a:r>
          </a:p>
        </p:txBody>
      </p:sp>
      <p:sp>
        <p:nvSpPr>
          <p:cNvPr id="10" name="TextBox 10"/>
          <p:cNvSpPr txBox="1"/>
          <p:nvPr/>
        </p:nvSpPr>
        <p:spPr>
          <a:xfrm>
            <a:off x="7134606" y="2282190"/>
            <a:ext cx="1690268"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timsort recall</a:t>
            </a:r>
          </a:p>
        </p:txBody>
      </p:sp>
      <p:sp>
        <p:nvSpPr>
          <p:cNvPr id="11" name="Freeform 11"/>
          <p:cNvSpPr/>
          <p:nvPr/>
        </p:nvSpPr>
        <p:spPr>
          <a:xfrm>
            <a:off x="6858000" y="3143250"/>
            <a:ext cx="4191000" cy="1762125"/>
          </a:xfrm>
          <a:custGeom>
            <a:avLst/>
            <a:gdLst/>
            <a:ahLst/>
            <a:cxnLst/>
            <a:rect l="l" t="t" r="r" b="b"/>
            <a:pathLst>
              <a:path w="4191000" h="1762125">
                <a:moveTo>
                  <a:pt x="76200" y="0"/>
                </a:moveTo>
                <a:lnTo>
                  <a:pt x="4114800" y="0"/>
                </a:lnTo>
                <a:cubicBezTo>
                  <a:pt x="4156884" y="0"/>
                  <a:pt x="4191000" y="34116"/>
                  <a:pt x="4191000" y="76200"/>
                </a:cubicBezTo>
                <a:lnTo>
                  <a:pt x="4191000" y="1685925"/>
                </a:lnTo>
                <a:cubicBezTo>
                  <a:pt x="4191000" y="1728009"/>
                  <a:pt x="4156884" y="1762125"/>
                  <a:pt x="4114800" y="1762125"/>
                </a:cubicBezTo>
                <a:lnTo>
                  <a:pt x="76200" y="1762125"/>
                </a:lnTo>
                <a:cubicBezTo>
                  <a:pt x="34116" y="1762125"/>
                  <a:pt x="0" y="1728009"/>
                  <a:pt x="0" y="1685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7132320" y="3395662"/>
            <a:ext cx="2368296"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Interpretation</a:t>
            </a:r>
          </a:p>
        </p:txBody>
      </p:sp>
      <p:sp>
        <p:nvSpPr>
          <p:cNvPr id="13" name="TextBox 13"/>
          <p:cNvSpPr txBox="1"/>
          <p:nvPr/>
        </p:nvSpPr>
        <p:spPr>
          <a:xfrm>
            <a:off x="7134606" y="3901440"/>
            <a:ext cx="5967558"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Timsort is easier when order signals are present.</a:t>
            </a:r>
          </a:p>
        </p:txBody>
      </p:sp>
      <p:sp>
        <p:nvSpPr>
          <p:cNvPr id="14" name="TextBox 14"/>
          <p:cNvSpPr txBox="1"/>
          <p:nvPr/>
        </p:nvSpPr>
        <p:spPr>
          <a:xfrm>
            <a:off x="7134606" y="4282440"/>
            <a:ext cx="4164940"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Intro and heap can be much closer.</a:t>
            </a:r>
          </a:p>
        </p:txBody>
      </p:sp>
      <p:sp>
        <p:nvSpPr>
          <p:cNvPr id="15" name="TextBox 15"/>
          <p:cNvSpPr txBox="1"/>
          <p:nvPr/>
        </p:nvSpPr>
        <p:spPr>
          <a:xfrm>
            <a:off x="6848856" y="5282565"/>
            <a:ext cx="4669675" cy="352044"/>
          </a:xfrm>
          <a:prstGeom prst="rect">
            <a:avLst/>
          </a:prstGeom>
          <a:noFill/>
          <a:ln>
            <a:noFill/>
          </a:ln>
        </p:spPr>
        <p:txBody>
          <a:bodyPr wrap="none" lIns="0" tIns="0" rIns="0" bIns="0" anchor="t" anchorCtr="0">
            <a:spAutoFit/>
          </a:bodyPr>
          <a:lstStyle/>
          <a:p>
            <a:pPr algn="l"/>
            <a:r>
              <a:rPr lang="en-US" sz="1800" dirty="0">
                <a:solidFill>
                  <a:srgbClr val="191919"/>
                </a:solidFill>
                <a:latin typeface="Anthropic Sans"/>
                <a:ea typeface="Anthropic Sans"/>
                <a:cs typeface="Anthropic Sans"/>
              </a:rPr>
              <a:t>This is a limitation, but regret tells us</a:t>
            </a:r>
          </a:p>
        </p:txBody>
      </p:sp>
      <p:sp>
        <p:nvSpPr>
          <p:cNvPr id="16" name="TextBox 16"/>
          <p:cNvSpPr txBox="1"/>
          <p:nvPr/>
        </p:nvSpPr>
        <p:spPr>
          <a:xfrm>
            <a:off x="6848856" y="5615940"/>
            <a:ext cx="4222471" cy="352044"/>
          </a:xfrm>
          <a:prstGeom prst="rect">
            <a:avLst/>
          </a:prstGeom>
          <a:noFill/>
          <a:ln>
            <a:noFill/>
          </a:ln>
        </p:spPr>
        <p:txBody>
          <a:bodyPr wrap="none" lIns="0" tIns="0" rIns="0" bIns="0" anchor="t" anchorCtr="0">
            <a:spAutoFit/>
          </a:bodyPr>
          <a:lstStyle/>
          <a:p>
            <a:pPr algn="l"/>
            <a:r>
              <a:rPr lang="en-US" sz="1800" dirty="0">
                <a:solidFill>
                  <a:srgbClr val="191919"/>
                </a:solidFill>
                <a:latin typeface="Anthropic Sans"/>
                <a:ea typeface="Anthropic Sans"/>
                <a:cs typeface="Anthropic Sans"/>
              </a:rPr>
              <a:t>many of these errors are low cost.</a:t>
            </a:r>
          </a:p>
        </p:txBody>
      </p:sp>
      <p:sp>
        <p:nvSpPr>
          <p:cNvPr id="17" name="Line 17"/>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9" name="Freeform 19"/>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0" name="Rectangle 19"/>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17/24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7035815"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model uses structural signals, not magic</a:t>
            </a:r>
          </a:p>
        </p:txBody>
      </p:sp>
      <p:sp>
        <p:nvSpPr>
          <p:cNvPr id="6" name="TextBox 6"/>
          <p:cNvSpPr txBox="1"/>
          <p:nvPr/>
        </p:nvSpPr>
        <p:spPr>
          <a:xfrm>
            <a:off x="601599" y="858679"/>
            <a:ext cx="9334734"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Feature importance links the learned choices back to the array properties we extracted.</a:t>
            </a:r>
          </a:p>
        </p:txBody>
      </p:sp>
      <p:pic>
        <p:nvPicPr>
          <p:cNvPr id="7" name="Image 7"/>
          <p:cNvPicPr>
            <a:picLocks noChangeAspect="1"/>
          </p:cNvPicPr>
          <p:nvPr/>
        </p:nvPicPr>
        <p:blipFill>
          <a:blip r:embed="rId3"/>
          <a:stretch>
            <a:fillRect/>
          </a:stretch>
        </p:blipFill>
        <p:spPr>
          <a:xfrm>
            <a:off x="1203579" y="1381125"/>
            <a:ext cx="6165247" cy="4238625"/>
          </a:xfrm>
          <a:prstGeom prst="rect">
            <a:avLst/>
          </a:prstGeom>
        </p:spPr>
      </p:pic>
      <p:sp>
        <p:nvSpPr>
          <p:cNvPr id="8" name="Freeform 8"/>
          <p:cNvSpPr/>
          <p:nvPr/>
        </p:nvSpPr>
        <p:spPr>
          <a:xfrm>
            <a:off x="8382000" y="1619250"/>
            <a:ext cx="2857500" cy="104775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8658606" y="1901190"/>
            <a:ext cx="1745064" cy="352044"/>
          </a:xfrm>
          <a:prstGeom prst="rect">
            <a:avLst/>
          </a:prstGeom>
          <a:noFill/>
          <a:ln>
            <a:noFill/>
          </a:ln>
        </p:spPr>
        <p:txBody>
          <a:bodyPr wrap="none" lIns="0" tIns="0" rIns="0" bIns="0" anchor="t" anchorCtr="0">
            <a:spAutoFit/>
          </a:bodyPr>
          <a:lstStyle/>
          <a:p>
            <a:pPr algn="l"/>
            <a:r>
              <a:rPr lang="en-US" sz="1800" b="1" dirty="0">
                <a:solidFill>
                  <a:srgbClr val="191919"/>
                </a:solidFill>
                <a:latin typeface="Anthropic Sans"/>
                <a:ea typeface="Anthropic Sans"/>
                <a:cs typeface="Anthropic Sans"/>
              </a:rPr>
              <a:t>Order signals</a:t>
            </a:r>
          </a:p>
        </p:txBody>
      </p:sp>
      <p:sp>
        <p:nvSpPr>
          <p:cNvPr id="10" name="TextBox 10"/>
          <p:cNvSpPr txBox="1"/>
          <p:nvPr/>
        </p:nvSpPr>
        <p:spPr>
          <a:xfrm>
            <a:off x="8659749" y="2230279"/>
            <a:ext cx="3238805"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runs, inversions, monotonicity</a:t>
            </a:r>
          </a:p>
        </p:txBody>
      </p:sp>
      <p:sp>
        <p:nvSpPr>
          <p:cNvPr id="11" name="Freeform 11"/>
          <p:cNvSpPr/>
          <p:nvPr/>
        </p:nvSpPr>
        <p:spPr>
          <a:xfrm>
            <a:off x="8382000" y="3000375"/>
            <a:ext cx="2857500" cy="104775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8658606" y="3282315"/>
            <a:ext cx="2263091" cy="352044"/>
          </a:xfrm>
          <a:prstGeom prst="rect">
            <a:avLst/>
          </a:prstGeom>
          <a:noFill/>
          <a:ln>
            <a:noFill/>
          </a:ln>
        </p:spPr>
        <p:txBody>
          <a:bodyPr wrap="none" lIns="0" tIns="0" rIns="0" bIns="0" anchor="t" anchorCtr="0">
            <a:spAutoFit/>
          </a:bodyPr>
          <a:lstStyle/>
          <a:p>
            <a:pPr algn="l"/>
            <a:r>
              <a:rPr lang="en-US" sz="1800" b="1" dirty="0">
                <a:solidFill>
                  <a:srgbClr val="191919"/>
                </a:solidFill>
                <a:latin typeface="Anthropic Sans"/>
                <a:ea typeface="Anthropic Sans"/>
                <a:cs typeface="Anthropic Sans"/>
              </a:rPr>
              <a:t>Value distribution</a:t>
            </a:r>
          </a:p>
        </p:txBody>
      </p:sp>
      <p:sp>
        <p:nvSpPr>
          <p:cNvPr id="13" name="TextBox 13"/>
          <p:cNvSpPr txBox="1"/>
          <p:nvPr/>
        </p:nvSpPr>
        <p:spPr>
          <a:xfrm>
            <a:off x="8659749" y="3611404"/>
            <a:ext cx="2835954"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duplicates, range, entropy</a:t>
            </a:r>
          </a:p>
        </p:txBody>
      </p:sp>
      <p:sp>
        <p:nvSpPr>
          <p:cNvPr id="14" name="Freeform 14"/>
          <p:cNvSpPr/>
          <p:nvPr/>
        </p:nvSpPr>
        <p:spPr>
          <a:xfrm>
            <a:off x="8382000" y="4381500"/>
            <a:ext cx="2857500" cy="104775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191919"/>
          </a:solidFill>
          <a:ln>
            <a:noFill/>
          </a:ln>
        </p:spPr>
        <p:txBody>
          <a:bodyPr/>
          <a:lstStyle/>
          <a:p>
            <a:endParaRPr/>
          </a:p>
        </p:txBody>
      </p:sp>
      <p:sp>
        <p:nvSpPr>
          <p:cNvPr id="15" name="TextBox 15"/>
          <p:cNvSpPr txBox="1"/>
          <p:nvPr/>
        </p:nvSpPr>
        <p:spPr>
          <a:xfrm>
            <a:off x="8658606" y="4663440"/>
            <a:ext cx="1618241" cy="352044"/>
          </a:xfrm>
          <a:prstGeom prst="rect">
            <a:avLst/>
          </a:prstGeom>
          <a:noFill/>
          <a:ln>
            <a:noFill/>
          </a:ln>
        </p:spPr>
        <p:txBody>
          <a:bodyPr wrap="none" lIns="0" tIns="0" rIns="0" bIns="0" anchor="t" anchorCtr="0">
            <a:spAutoFit/>
          </a:bodyPr>
          <a:lstStyle/>
          <a:p>
            <a:pPr algn="l"/>
            <a:r>
              <a:rPr lang="en-US" sz="1800" b="1" dirty="0">
                <a:solidFill>
                  <a:srgbClr val="FFFFFF"/>
                </a:solidFill>
                <a:latin typeface="Anthropic Sans"/>
                <a:ea typeface="Anthropic Sans"/>
                <a:cs typeface="Anthropic Sans"/>
              </a:rPr>
              <a:t>Size context</a:t>
            </a:r>
          </a:p>
        </p:txBody>
      </p:sp>
      <p:sp>
        <p:nvSpPr>
          <p:cNvPr id="16" name="TextBox 16"/>
          <p:cNvSpPr txBox="1"/>
          <p:nvPr/>
        </p:nvSpPr>
        <p:spPr>
          <a:xfrm>
            <a:off x="8659749" y="4992529"/>
            <a:ext cx="2316490" cy="308039"/>
          </a:xfrm>
          <a:prstGeom prst="rect">
            <a:avLst/>
          </a:prstGeom>
          <a:noFill/>
          <a:ln>
            <a:noFill/>
          </a:ln>
        </p:spPr>
        <p:txBody>
          <a:bodyPr wrap="none" lIns="0" tIns="0" rIns="0" bIns="0" anchor="t" anchorCtr="0">
            <a:spAutoFit/>
          </a:bodyPr>
          <a:lstStyle/>
          <a:p>
            <a:pPr algn="l"/>
            <a:r>
              <a:rPr lang="en-US" sz="1580" dirty="0">
                <a:solidFill>
                  <a:srgbClr val="FFFFFF"/>
                </a:solidFill>
                <a:latin typeface="Anthropic Sans"/>
                <a:ea typeface="Anthropic Sans"/>
                <a:cs typeface="Anthropic Sans"/>
              </a:rPr>
              <a:t>array length and scale</a:t>
            </a:r>
          </a:p>
        </p:txBody>
      </p:sp>
      <p:sp>
        <p:nvSpPr>
          <p:cNvPr id="17" name="Line 17"/>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9" name="Freeform 19"/>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0" name="Rectangle 19"/>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18/24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8290213"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selector still transfers across held-out domains</a:t>
            </a:r>
          </a:p>
        </p:txBody>
      </p:sp>
      <p:sp>
        <p:nvSpPr>
          <p:cNvPr id="6" name="TextBox 6"/>
          <p:cNvSpPr txBox="1"/>
          <p:nvPr/>
        </p:nvSpPr>
        <p:spPr>
          <a:xfrm>
            <a:off x="601599" y="858679"/>
            <a:ext cx="10331233"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Domain holdout is stricter than a random split because the test domain was unseen during training.</a:t>
            </a:r>
          </a:p>
        </p:txBody>
      </p:sp>
      <p:pic>
        <p:nvPicPr>
          <p:cNvPr id="7" name="Image 7"/>
          <p:cNvPicPr>
            <a:picLocks noChangeAspect="1"/>
          </p:cNvPicPr>
          <p:nvPr/>
        </p:nvPicPr>
        <p:blipFill>
          <a:blip r:embed="rId3"/>
          <a:stretch>
            <a:fillRect/>
          </a:stretch>
        </p:blipFill>
        <p:spPr>
          <a:xfrm>
            <a:off x="790194" y="1381125"/>
            <a:ext cx="6992017" cy="4333875"/>
          </a:xfrm>
          <a:prstGeom prst="rect">
            <a:avLst/>
          </a:prstGeom>
        </p:spPr>
      </p:pic>
      <p:sp>
        <p:nvSpPr>
          <p:cNvPr id="8" name="Freeform 8"/>
          <p:cNvSpPr/>
          <p:nvPr/>
        </p:nvSpPr>
        <p:spPr>
          <a:xfrm>
            <a:off x="8382000" y="1695450"/>
            <a:ext cx="2857500" cy="1476375"/>
          </a:xfrm>
          <a:custGeom>
            <a:avLst/>
            <a:gdLst/>
            <a:ahLst/>
            <a:cxnLst/>
            <a:rect l="l" t="t" r="r" b="b"/>
            <a:pathLst>
              <a:path w="2857500" h="1476375">
                <a:moveTo>
                  <a:pt x="76200" y="0"/>
                </a:moveTo>
                <a:lnTo>
                  <a:pt x="2781300" y="0"/>
                </a:lnTo>
                <a:cubicBezTo>
                  <a:pt x="2823384" y="0"/>
                  <a:pt x="2857500" y="34116"/>
                  <a:pt x="2857500" y="76200"/>
                </a:cubicBezTo>
                <a:lnTo>
                  <a:pt x="2857500" y="1400175"/>
                </a:lnTo>
                <a:cubicBezTo>
                  <a:pt x="2857500" y="1442259"/>
                  <a:pt x="2823384" y="1476375"/>
                  <a:pt x="2781300" y="1476375"/>
                </a:cubicBezTo>
                <a:lnTo>
                  <a:pt x="76200" y="1476375"/>
                </a:lnTo>
                <a:cubicBezTo>
                  <a:pt x="34116" y="1476375"/>
                  <a:pt x="0" y="1442259"/>
                  <a:pt x="0" y="1400175"/>
                </a:cubicBezTo>
                <a:lnTo>
                  <a:pt x="0" y="76200"/>
                </a:lnTo>
                <a:cubicBezTo>
                  <a:pt x="0" y="34116"/>
                  <a:pt x="34116" y="0"/>
                  <a:pt x="76200" y="0"/>
                </a:cubicBezTo>
                <a:close/>
              </a:path>
            </a:pathLst>
          </a:custGeom>
          <a:solidFill>
            <a:srgbClr val="191919"/>
          </a:solidFill>
          <a:ln>
            <a:noFill/>
          </a:ln>
        </p:spPr>
        <p:txBody>
          <a:bodyPr/>
          <a:lstStyle/>
          <a:p>
            <a:endParaRPr/>
          </a:p>
        </p:txBody>
      </p:sp>
      <p:sp>
        <p:nvSpPr>
          <p:cNvPr id="9" name="TextBox 9"/>
          <p:cNvSpPr txBox="1"/>
          <p:nvPr/>
        </p:nvSpPr>
        <p:spPr>
          <a:xfrm>
            <a:off x="8884757" y="1959292"/>
            <a:ext cx="1851987" cy="847725"/>
          </a:xfrm>
          <a:prstGeom prst="rect">
            <a:avLst/>
          </a:prstGeom>
          <a:noFill/>
          <a:ln>
            <a:noFill/>
          </a:ln>
        </p:spPr>
        <p:txBody>
          <a:bodyPr wrap="none" lIns="0" tIns="0" rIns="0" bIns="0" anchor="t" anchorCtr="0">
            <a:spAutoFit/>
          </a:bodyPr>
          <a:lstStyle/>
          <a:p>
            <a:pPr algn="ctr"/>
            <a:r>
              <a:rPr lang="en-US" sz="4350" b="1" dirty="0">
                <a:solidFill>
                  <a:srgbClr val="D97757"/>
                </a:solidFill>
                <a:latin typeface="Styrene A"/>
                <a:ea typeface="Styrene A"/>
                <a:cs typeface="Styrene A"/>
              </a:rPr>
              <a:t>79.7%</a:t>
            </a:r>
          </a:p>
        </p:txBody>
      </p:sp>
      <p:sp>
        <p:nvSpPr>
          <p:cNvPr id="10" name="TextBox 10"/>
          <p:cNvSpPr txBox="1"/>
          <p:nvPr/>
        </p:nvSpPr>
        <p:spPr>
          <a:xfrm>
            <a:off x="8779721" y="2639854"/>
            <a:ext cx="2062058" cy="308039"/>
          </a:xfrm>
          <a:prstGeom prst="rect">
            <a:avLst/>
          </a:prstGeom>
          <a:noFill/>
          <a:ln>
            <a:noFill/>
          </a:ln>
        </p:spPr>
        <p:txBody>
          <a:bodyPr wrap="none" lIns="0" tIns="0" rIns="0" bIns="0" anchor="t" anchorCtr="0">
            <a:spAutoFit/>
          </a:bodyPr>
          <a:lstStyle/>
          <a:p>
            <a:pPr algn="ctr"/>
            <a:r>
              <a:rPr lang="en-US" sz="1580" dirty="0">
                <a:solidFill>
                  <a:srgbClr val="FFFFFF"/>
                </a:solidFill>
                <a:latin typeface="Anthropic Sans"/>
                <a:ea typeface="Anthropic Sans"/>
                <a:cs typeface="Anthropic Sans"/>
              </a:rPr>
              <a:t>weighted gap closed</a:t>
            </a:r>
          </a:p>
        </p:txBody>
      </p:sp>
      <p:sp>
        <p:nvSpPr>
          <p:cNvPr id="11" name="Freeform 11"/>
          <p:cNvSpPr/>
          <p:nvPr/>
        </p:nvSpPr>
        <p:spPr>
          <a:xfrm>
            <a:off x="8382000" y="3524250"/>
            <a:ext cx="2857500" cy="1809750"/>
          </a:xfrm>
          <a:custGeom>
            <a:avLst/>
            <a:gdLst/>
            <a:ahLst/>
            <a:cxnLst/>
            <a:rect l="l" t="t" r="r" b="b"/>
            <a:pathLst>
              <a:path w="2857500" h="1809750">
                <a:moveTo>
                  <a:pt x="76200" y="0"/>
                </a:moveTo>
                <a:lnTo>
                  <a:pt x="2781300" y="0"/>
                </a:lnTo>
                <a:cubicBezTo>
                  <a:pt x="2823384" y="0"/>
                  <a:pt x="2857500" y="34116"/>
                  <a:pt x="2857500" y="76200"/>
                </a:cubicBezTo>
                <a:lnTo>
                  <a:pt x="2857500" y="1733550"/>
                </a:lnTo>
                <a:cubicBezTo>
                  <a:pt x="2857500" y="1775634"/>
                  <a:pt x="2823384" y="1809750"/>
                  <a:pt x="2781300" y="1809750"/>
                </a:cubicBezTo>
                <a:lnTo>
                  <a:pt x="76200" y="1809750"/>
                </a:lnTo>
                <a:cubicBezTo>
                  <a:pt x="34116" y="1809750"/>
                  <a:pt x="0" y="1775634"/>
                  <a:pt x="0" y="1733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8658606" y="3806190"/>
            <a:ext cx="2229924" cy="352044"/>
          </a:xfrm>
          <a:prstGeom prst="rect">
            <a:avLst/>
          </a:prstGeom>
          <a:noFill/>
          <a:ln>
            <a:noFill/>
          </a:ln>
        </p:spPr>
        <p:txBody>
          <a:bodyPr wrap="none" lIns="0" tIns="0" rIns="0" bIns="0" anchor="t" anchorCtr="0">
            <a:spAutoFit/>
          </a:bodyPr>
          <a:lstStyle/>
          <a:p>
            <a:pPr algn="l"/>
            <a:r>
              <a:rPr lang="en-US" sz="1800" b="1" dirty="0">
                <a:solidFill>
                  <a:srgbClr val="191919"/>
                </a:solidFill>
                <a:latin typeface="Anthropic Sans"/>
                <a:ea typeface="Anthropic Sans"/>
                <a:cs typeface="Anthropic Sans"/>
              </a:rPr>
              <a:t>Important caveat</a:t>
            </a:r>
          </a:p>
        </p:txBody>
      </p:sp>
      <p:sp>
        <p:nvSpPr>
          <p:cNvPr id="13" name="TextBox 13"/>
          <p:cNvSpPr txBox="1"/>
          <p:nvPr/>
        </p:nvSpPr>
        <p:spPr>
          <a:xfrm>
            <a:off x="8659749" y="4230529"/>
            <a:ext cx="2776027"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F1 is the hardest held-out</a:t>
            </a:r>
          </a:p>
        </p:txBody>
      </p:sp>
      <p:sp>
        <p:nvSpPr>
          <p:cNvPr id="14" name="TextBox 14"/>
          <p:cNvSpPr txBox="1"/>
          <p:nvPr/>
        </p:nvSpPr>
        <p:spPr>
          <a:xfrm>
            <a:off x="8659749" y="4535329"/>
            <a:ext cx="2973772"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domain, which motivates the</a:t>
            </a:r>
          </a:p>
        </p:txBody>
      </p:sp>
      <p:sp>
        <p:nvSpPr>
          <p:cNvPr id="15" name="TextBox 15"/>
          <p:cNvSpPr txBox="1"/>
          <p:nvPr/>
        </p:nvSpPr>
        <p:spPr>
          <a:xfrm>
            <a:off x="8659749" y="4840129"/>
            <a:ext cx="2888352"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separate F1 specialization.</a:t>
            </a:r>
          </a:p>
        </p:txBody>
      </p:sp>
      <p:sp>
        <p:nvSpPr>
          <p:cNvPr id="16" name="Line 16"/>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8" name="Freeform 18"/>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19" name="Rectangle 18"/>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19/24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98170" y="442912"/>
            <a:ext cx="7701442"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Strict checks changed what I was willing to claim</a:t>
            </a:r>
          </a:p>
        </p:txBody>
      </p:sp>
      <p:sp>
        <p:nvSpPr>
          <p:cNvPr id="6" name="TextBox 6"/>
          <p:cNvSpPr txBox="1"/>
          <p:nvPr/>
        </p:nvSpPr>
        <p:spPr>
          <a:xfrm>
            <a:off x="601599" y="858679"/>
            <a:ext cx="7192471"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Several experiments were useful because they reduced overclaiming.</a:t>
            </a:r>
          </a:p>
        </p:txBody>
      </p:sp>
      <p:sp>
        <p:nvSpPr>
          <p:cNvPr id="7" name="Freeform 7"/>
          <p:cNvSpPr/>
          <p:nvPr/>
        </p:nvSpPr>
        <p:spPr>
          <a:xfrm>
            <a:off x="76200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036320" y="1804988"/>
            <a:ext cx="2630786"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v6 source-aware</a:t>
            </a:r>
          </a:p>
        </p:txBody>
      </p:sp>
      <p:sp>
        <p:nvSpPr>
          <p:cNvPr id="9" name="TextBox 9"/>
          <p:cNvSpPr txBox="1"/>
          <p:nvPr/>
        </p:nvSpPr>
        <p:spPr>
          <a:xfrm>
            <a:off x="1038606" y="2425065"/>
            <a:ext cx="3416696"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Accuracy dropped to 71.2%.</a:t>
            </a:r>
          </a:p>
        </p:txBody>
      </p:sp>
      <p:sp>
        <p:nvSpPr>
          <p:cNvPr id="10" name="TextBox 10"/>
          <p:cNvSpPr txBox="1"/>
          <p:nvPr/>
        </p:nvSpPr>
        <p:spPr>
          <a:xfrm>
            <a:off x="1038606" y="2806065"/>
            <a:ext cx="3010042"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This made leakage checks</a:t>
            </a:r>
          </a:p>
        </p:txBody>
      </p:sp>
      <p:sp>
        <p:nvSpPr>
          <p:cNvPr id="11" name="TextBox 11"/>
          <p:cNvSpPr txBox="1"/>
          <p:nvPr/>
        </p:nvSpPr>
        <p:spPr>
          <a:xfrm>
            <a:off x="1038606" y="3187065"/>
            <a:ext cx="250202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part of the defense.</a:t>
            </a:r>
          </a:p>
        </p:txBody>
      </p:sp>
      <p:sp>
        <p:nvSpPr>
          <p:cNvPr id="12" name="Freeform 12"/>
          <p:cNvSpPr/>
          <p:nvPr/>
        </p:nvSpPr>
        <p:spPr>
          <a:xfrm>
            <a:off x="447675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3" name="TextBox 13"/>
          <p:cNvSpPr txBox="1"/>
          <p:nvPr/>
        </p:nvSpPr>
        <p:spPr>
          <a:xfrm>
            <a:off x="4751070" y="1804988"/>
            <a:ext cx="2630786"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v7 regret-aware</a:t>
            </a:r>
          </a:p>
        </p:txBody>
      </p:sp>
      <p:sp>
        <p:nvSpPr>
          <p:cNvPr id="14" name="TextBox 14"/>
          <p:cNvSpPr txBox="1"/>
          <p:nvPr/>
        </p:nvSpPr>
        <p:spPr>
          <a:xfrm>
            <a:off x="4753356" y="2425065"/>
            <a:ext cx="3323558"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Optimizing the wrong signal</a:t>
            </a:r>
          </a:p>
        </p:txBody>
      </p:sp>
      <p:sp>
        <p:nvSpPr>
          <p:cNvPr id="15" name="TextBox 15"/>
          <p:cNvSpPr txBox="1"/>
          <p:nvPr/>
        </p:nvSpPr>
        <p:spPr>
          <a:xfrm>
            <a:off x="4753356" y="2806065"/>
            <a:ext cx="2574722"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reduced gap closed to</a:t>
            </a:r>
          </a:p>
        </p:txBody>
      </p:sp>
      <p:sp>
        <p:nvSpPr>
          <p:cNvPr id="16" name="TextBox 16"/>
          <p:cNvSpPr txBox="1"/>
          <p:nvPr/>
        </p:nvSpPr>
        <p:spPr>
          <a:xfrm>
            <a:off x="4753356" y="3187065"/>
            <a:ext cx="86639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78.1%.</a:t>
            </a:r>
          </a:p>
        </p:txBody>
      </p:sp>
      <p:sp>
        <p:nvSpPr>
          <p:cNvPr id="17" name="Freeform 17"/>
          <p:cNvSpPr/>
          <p:nvPr/>
        </p:nvSpPr>
        <p:spPr>
          <a:xfrm>
            <a:off x="819150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191919"/>
          </a:solidFill>
          <a:ln>
            <a:noFill/>
          </a:ln>
        </p:spPr>
        <p:txBody>
          <a:bodyPr/>
          <a:lstStyle/>
          <a:p>
            <a:endParaRPr/>
          </a:p>
        </p:txBody>
      </p:sp>
      <p:sp>
        <p:nvSpPr>
          <p:cNvPr id="18" name="TextBox 18"/>
          <p:cNvSpPr txBox="1"/>
          <p:nvPr/>
        </p:nvSpPr>
        <p:spPr>
          <a:xfrm>
            <a:off x="8465820" y="1804988"/>
            <a:ext cx="1692569"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Anthropic Sans"/>
                <a:ea typeface="Anthropic Sans"/>
                <a:cs typeface="Anthropic Sans"/>
              </a:rPr>
              <a:t>v8 cascade</a:t>
            </a:r>
          </a:p>
        </p:txBody>
      </p:sp>
      <p:sp>
        <p:nvSpPr>
          <p:cNvPr id="19" name="TextBox 19"/>
          <p:cNvSpPr txBox="1"/>
          <p:nvPr/>
        </p:nvSpPr>
        <p:spPr>
          <a:xfrm>
            <a:off x="8468106" y="2425065"/>
            <a:ext cx="2471532"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Stage 2 stayed weak</a:t>
            </a:r>
          </a:p>
        </p:txBody>
      </p:sp>
      <p:sp>
        <p:nvSpPr>
          <p:cNvPr id="20" name="TextBox 20"/>
          <p:cNvSpPr txBox="1"/>
          <p:nvPr/>
        </p:nvSpPr>
        <p:spPr>
          <a:xfrm>
            <a:off x="8468106" y="2806065"/>
            <a:ext cx="2356637"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when intro and heap</a:t>
            </a:r>
          </a:p>
        </p:txBody>
      </p:sp>
      <p:sp>
        <p:nvSpPr>
          <p:cNvPr id="21" name="TextBox 21"/>
          <p:cNvSpPr txBox="1"/>
          <p:nvPr/>
        </p:nvSpPr>
        <p:spPr>
          <a:xfrm>
            <a:off x="8468106" y="3187065"/>
            <a:ext cx="1884121"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were too close.</a:t>
            </a:r>
          </a:p>
        </p:txBody>
      </p:sp>
      <p:sp>
        <p:nvSpPr>
          <p:cNvPr id="22" name="TextBox 22"/>
          <p:cNvSpPr txBox="1"/>
          <p:nvPr/>
        </p:nvSpPr>
        <p:spPr>
          <a:xfrm>
            <a:off x="752856" y="5520690"/>
            <a:ext cx="11772466" cy="352044"/>
          </a:xfrm>
          <a:prstGeom prst="rect">
            <a:avLst/>
          </a:prstGeom>
          <a:noFill/>
          <a:ln>
            <a:noFill/>
          </a:ln>
        </p:spPr>
        <p:txBody>
          <a:bodyPr wrap="none" lIns="0" tIns="0" rIns="0" bIns="0" anchor="t" anchorCtr="0">
            <a:spAutoFit/>
          </a:bodyPr>
          <a:lstStyle/>
          <a:p>
            <a:pPr algn="l"/>
            <a:r>
              <a:rPr lang="en-US" sz="1800" dirty="0">
                <a:solidFill>
                  <a:srgbClr val="191919"/>
                </a:solidFill>
                <a:latin typeface="Anthropic Sans"/>
                <a:ea typeface="Anthropic Sans"/>
                <a:cs typeface="Anthropic Sans"/>
              </a:rPr>
              <a:t>So the final claim stays focused: v5 works well under the submitted evaluation, with known limits.</a:t>
            </a:r>
          </a:p>
        </p:txBody>
      </p:sp>
      <p:sp>
        <p:nvSpPr>
          <p:cNvPr id="23" name="Line 23"/>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5" name="Freeform 25"/>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6" name="Rectangle 25"/>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20/24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21/24</a:t>
            </a:r>
          </a:p>
        </p:txBody>
      </p:sp>
      <p:sp>
        <p:nvSpPr>
          <p:cNvPr id="6" name="TextBox 5"/>
          <p:cNvSpPr txBox="1"/>
          <p:nvPr/>
        </p:nvSpPr>
        <p:spPr>
          <a:xfrm>
            <a:off x="647700" y="533400"/>
            <a:ext cx="9715500" cy="361950"/>
          </a:xfrm>
          <a:prstGeom prst="rect">
            <a:avLst/>
          </a:prstGeom>
          <a:noFill/>
        </p:spPr>
        <p:txBody>
          <a:bodyPr wrap="none" lIns="0" rIns="0" tIns="0" bIns="0">
            <a:spAutoFit/>
          </a:bodyPr>
          <a:lstStyle/>
          <a:p>
            <a:pPr algn="l"/>
            <a:r>
              <a:rPr sz="2700" b="1">
                <a:solidFill>
                  <a:srgbClr val="191919"/>
                </a:solidFill>
                <a:latin typeface="Arial"/>
              </a:rPr>
              <a:t>Conclusion</a:t>
            </a:r>
          </a:p>
        </p:txBody>
      </p:sp>
      <p:sp>
        <p:nvSpPr>
          <p:cNvPr id="7" name="Rectangle 6"/>
          <p:cNvSpPr/>
          <p:nvPr/>
        </p:nvSpPr>
        <p:spPr>
          <a:xfrm>
            <a:off x="647700" y="1028700"/>
            <a:ext cx="10896600" cy="11430"/>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7700" y="1200150"/>
            <a:ext cx="10287000" cy="209550"/>
          </a:xfrm>
          <a:prstGeom prst="rect">
            <a:avLst/>
          </a:prstGeom>
          <a:noFill/>
        </p:spPr>
        <p:txBody>
          <a:bodyPr wrap="none" lIns="0" rIns="0" tIns="0" bIns="0">
            <a:spAutoFit/>
          </a:bodyPr>
          <a:lstStyle/>
          <a:p>
            <a:pPr algn="l"/>
            <a:r>
              <a:rPr sz="1400" b="0">
                <a:solidFill>
                  <a:srgbClr val="566682"/>
                </a:solidFill>
                <a:latin typeface="Arial"/>
              </a:rPr>
              <a:t>The final result supports structural-feature-based sorting algorithm selection, but with clear boundaries.</a:t>
            </a:r>
          </a:p>
        </p:txBody>
      </p:sp>
      <p:sp>
        <p:nvSpPr>
          <p:cNvPr id="9" name="TextBox 8"/>
          <p:cNvSpPr txBox="1"/>
          <p:nvPr/>
        </p:nvSpPr>
        <p:spPr>
          <a:xfrm>
            <a:off x="1238250" y="2000250"/>
            <a:ext cx="9715500" cy="400050"/>
          </a:xfrm>
          <a:prstGeom prst="rect">
            <a:avLst/>
          </a:prstGeom>
          <a:noFill/>
        </p:spPr>
        <p:txBody>
          <a:bodyPr wrap="square" lIns="0" rIns="0" tIns="0" bIns="0">
            <a:spAutoFit/>
          </a:bodyPr>
          <a:lstStyle/>
          <a:p>
            <a:pPr algn="ctr"/>
            <a:r>
              <a:rPr sz="2500" b="1">
                <a:solidFill>
                  <a:srgbClr val="191919"/>
                </a:solidFill>
                <a:latin typeface="Arial"/>
              </a:rPr>
              <a:t>A feature-based selector can reduce sorting runtime on realistic numeric arrays.</a:t>
            </a:r>
          </a:p>
        </p:txBody>
      </p:sp>
      <p:sp>
        <p:nvSpPr>
          <p:cNvPr id="10" name="Rectangle 9"/>
          <p:cNvSpPr/>
          <p:nvPr/>
        </p:nvSpPr>
        <p:spPr>
          <a:xfrm>
            <a:off x="1762125" y="2905125"/>
            <a:ext cx="2381250" cy="1095375"/>
          </a:xfrm>
          <a:prstGeom prst="rect">
            <a:avLst/>
          </a:prstGeom>
          <a:solidFill>
            <a:srgbClr val="FFFFFF"/>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914525" y="3124200"/>
            <a:ext cx="2076450" cy="304800"/>
          </a:xfrm>
          <a:prstGeom prst="rect">
            <a:avLst/>
          </a:prstGeom>
          <a:noFill/>
        </p:spPr>
        <p:txBody>
          <a:bodyPr wrap="none" lIns="0" rIns="0" tIns="0" bIns="0">
            <a:spAutoFit/>
          </a:bodyPr>
          <a:lstStyle/>
          <a:p>
            <a:pPr algn="ctr"/>
            <a:r>
              <a:rPr sz="2400" b="1">
                <a:solidFill>
                  <a:srgbClr val="8F1D3A"/>
                </a:solidFill>
                <a:latin typeface="Arial"/>
              </a:rPr>
              <a:t>76.1%</a:t>
            </a:r>
          </a:p>
        </p:txBody>
      </p:sp>
      <p:sp>
        <p:nvSpPr>
          <p:cNvPr id="12" name="TextBox 11"/>
          <p:cNvSpPr txBox="1"/>
          <p:nvPr/>
        </p:nvSpPr>
        <p:spPr>
          <a:xfrm>
            <a:off x="1933575" y="3543300"/>
            <a:ext cx="2038350" cy="190500"/>
          </a:xfrm>
          <a:prstGeom prst="rect">
            <a:avLst/>
          </a:prstGeom>
          <a:noFill/>
        </p:spPr>
        <p:txBody>
          <a:bodyPr wrap="none" lIns="0" rIns="0" tIns="0" bIns="0">
            <a:spAutoFit/>
          </a:bodyPr>
          <a:lstStyle/>
          <a:p>
            <a:pPr algn="ctr"/>
            <a:r>
              <a:rPr sz="1150" b="0">
                <a:solidFill>
                  <a:srgbClr val="566682"/>
                </a:solidFill>
                <a:latin typeface="Arial"/>
              </a:rPr>
              <a:t>top-1 accuracy</a:t>
            </a:r>
          </a:p>
        </p:txBody>
      </p:sp>
      <p:sp>
        <p:nvSpPr>
          <p:cNvPr id="13" name="Rectangle 12"/>
          <p:cNvSpPr/>
          <p:nvPr/>
        </p:nvSpPr>
        <p:spPr>
          <a:xfrm>
            <a:off x="4762500" y="2905125"/>
            <a:ext cx="2381250" cy="1095375"/>
          </a:xfrm>
          <a:prstGeom prst="rect">
            <a:avLst/>
          </a:prstGeom>
          <a:solidFill>
            <a:srgbClr val="18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914900" y="3124200"/>
            <a:ext cx="2076450" cy="304800"/>
          </a:xfrm>
          <a:prstGeom prst="rect">
            <a:avLst/>
          </a:prstGeom>
          <a:noFill/>
        </p:spPr>
        <p:txBody>
          <a:bodyPr wrap="none" lIns="0" rIns="0" tIns="0" bIns="0">
            <a:spAutoFit/>
          </a:bodyPr>
          <a:lstStyle/>
          <a:p>
            <a:pPr algn="ctr"/>
            <a:r>
              <a:rPr sz="2400" b="1">
                <a:solidFill>
                  <a:srgbClr val="F4511E"/>
                </a:solidFill>
                <a:latin typeface="Arial"/>
              </a:rPr>
              <a:t>93.1%</a:t>
            </a:r>
          </a:p>
        </p:txBody>
      </p:sp>
      <p:sp>
        <p:nvSpPr>
          <p:cNvPr id="15" name="TextBox 14"/>
          <p:cNvSpPr txBox="1"/>
          <p:nvPr/>
        </p:nvSpPr>
        <p:spPr>
          <a:xfrm>
            <a:off x="4933950" y="3543300"/>
            <a:ext cx="2038350" cy="190500"/>
          </a:xfrm>
          <a:prstGeom prst="rect">
            <a:avLst/>
          </a:prstGeom>
          <a:noFill/>
        </p:spPr>
        <p:txBody>
          <a:bodyPr wrap="none" lIns="0" rIns="0" tIns="0" bIns="0">
            <a:spAutoFit/>
          </a:bodyPr>
          <a:lstStyle/>
          <a:p>
            <a:pPr algn="ctr"/>
            <a:r>
              <a:rPr sz="1150" b="0">
                <a:solidFill>
                  <a:srgbClr val="FFFFFF"/>
                </a:solidFill>
                <a:latin typeface="Arial"/>
              </a:rPr>
              <a:t>SBS-to-VBS gap closed</a:t>
            </a:r>
          </a:p>
        </p:txBody>
      </p:sp>
      <p:sp>
        <p:nvSpPr>
          <p:cNvPr id="16" name="Rectangle 15"/>
          <p:cNvSpPr/>
          <p:nvPr/>
        </p:nvSpPr>
        <p:spPr>
          <a:xfrm>
            <a:off x="7762875" y="2905125"/>
            <a:ext cx="2381250" cy="1095375"/>
          </a:xfrm>
          <a:prstGeom prst="rect">
            <a:avLst/>
          </a:prstGeom>
          <a:solidFill>
            <a:srgbClr val="FFFFFF"/>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15275" y="3124200"/>
            <a:ext cx="2076450" cy="304800"/>
          </a:xfrm>
          <a:prstGeom prst="rect">
            <a:avLst/>
          </a:prstGeom>
          <a:noFill/>
        </p:spPr>
        <p:txBody>
          <a:bodyPr wrap="none" lIns="0" rIns="0" tIns="0" bIns="0">
            <a:spAutoFit/>
          </a:bodyPr>
          <a:lstStyle/>
          <a:p>
            <a:pPr algn="ctr"/>
            <a:r>
              <a:rPr sz="2400" b="1">
                <a:solidFill>
                  <a:srgbClr val="8F1D3A"/>
                </a:solidFill>
                <a:latin typeface="Arial"/>
              </a:rPr>
              <a:t>89.6%</a:t>
            </a:r>
          </a:p>
        </p:txBody>
      </p:sp>
      <p:sp>
        <p:nvSpPr>
          <p:cNvPr id="18" name="TextBox 17"/>
          <p:cNvSpPr txBox="1"/>
          <p:nvPr/>
        </p:nvSpPr>
        <p:spPr>
          <a:xfrm>
            <a:off x="7934325" y="3543300"/>
            <a:ext cx="2038350" cy="190500"/>
          </a:xfrm>
          <a:prstGeom prst="rect">
            <a:avLst/>
          </a:prstGeom>
          <a:noFill/>
        </p:spPr>
        <p:txBody>
          <a:bodyPr wrap="none" lIns="0" rIns="0" tIns="0" bIns="0">
            <a:spAutoFit/>
          </a:bodyPr>
          <a:lstStyle/>
          <a:p>
            <a:pPr algn="ctr"/>
            <a:r>
              <a:rPr sz="1150" b="0">
                <a:solidFill>
                  <a:srgbClr val="566682"/>
                </a:solidFill>
                <a:latin typeface="Arial"/>
              </a:rPr>
              <a:t>zero-regret predictions</a:t>
            </a:r>
          </a:p>
        </p:txBody>
      </p:sp>
      <p:sp>
        <p:nvSpPr>
          <p:cNvPr id="19" name="TextBox 18"/>
          <p:cNvSpPr txBox="1"/>
          <p:nvPr/>
        </p:nvSpPr>
        <p:spPr>
          <a:xfrm>
            <a:off x="1571625" y="4572000"/>
            <a:ext cx="9048750" cy="323850"/>
          </a:xfrm>
          <a:prstGeom prst="rect">
            <a:avLst/>
          </a:prstGeom>
          <a:noFill/>
        </p:spPr>
        <p:txBody>
          <a:bodyPr wrap="square" lIns="0" rIns="0" tIns="0" bIns="0">
            <a:spAutoFit/>
          </a:bodyPr>
          <a:lstStyle/>
          <a:p>
            <a:pPr algn="ctr"/>
            <a:r>
              <a:rPr sz="1600" b="0">
                <a:solidFill>
                  <a:srgbClr val="566682"/>
                </a:solidFill>
                <a:latin typeface="Arial"/>
              </a:rPr>
              <a:t>The strongest cases are where array structure is visible, especially timsort-friendly inputs.</a:t>
            </a:r>
          </a:p>
        </p:txBody>
      </p:sp>
      <p:sp>
        <p:nvSpPr>
          <p:cNvPr id="20" name="TextBox 19"/>
          <p:cNvSpPr txBox="1"/>
          <p:nvPr/>
        </p:nvSpPr>
        <p:spPr>
          <a:xfrm>
            <a:off x="1571625" y="5095875"/>
            <a:ext cx="9048750" cy="323850"/>
          </a:xfrm>
          <a:prstGeom prst="rect">
            <a:avLst/>
          </a:prstGeom>
          <a:noFill/>
        </p:spPr>
        <p:txBody>
          <a:bodyPr wrap="square" lIns="0" rIns="0" tIns="0" bIns="0">
            <a:spAutoFit/>
          </a:bodyPr>
          <a:lstStyle/>
          <a:p>
            <a:pPr algn="ctr"/>
            <a:r>
              <a:rPr sz="1600" b="1">
                <a:solidFill>
                  <a:srgbClr val="8F1D3A"/>
                </a:solidFill>
                <a:latin typeface="Arial"/>
              </a:rPr>
              <a:t>The main residual weakness is the introsort/heapsort boundary, where the current feature space often cannot see enough difference.</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22/24</a:t>
            </a:r>
          </a:p>
        </p:txBody>
      </p:sp>
      <p:sp>
        <p:nvSpPr>
          <p:cNvPr id="6" name="TextBox 5"/>
          <p:cNvSpPr txBox="1"/>
          <p:nvPr/>
        </p:nvSpPr>
        <p:spPr>
          <a:xfrm>
            <a:off x="647700" y="533400"/>
            <a:ext cx="9715500" cy="361950"/>
          </a:xfrm>
          <a:prstGeom prst="rect">
            <a:avLst/>
          </a:prstGeom>
          <a:noFill/>
        </p:spPr>
        <p:txBody>
          <a:bodyPr wrap="none" lIns="0" rIns="0" tIns="0" bIns="0">
            <a:spAutoFit/>
          </a:bodyPr>
          <a:lstStyle/>
          <a:p>
            <a:pPr algn="l"/>
            <a:r>
              <a:rPr sz="2700" b="1">
                <a:solidFill>
                  <a:srgbClr val="191919"/>
                </a:solidFill>
                <a:latin typeface="Arial"/>
              </a:rPr>
              <a:t>Contributions</a:t>
            </a:r>
          </a:p>
        </p:txBody>
      </p:sp>
      <p:sp>
        <p:nvSpPr>
          <p:cNvPr id="7" name="Rectangle 6"/>
          <p:cNvSpPr/>
          <p:nvPr/>
        </p:nvSpPr>
        <p:spPr>
          <a:xfrm>
            <a:off x="647700" y="1028700"/>
            <a:ext cx="10896600" cy="11430"/>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7700" y="1200150"/>
            <a:ext cx="10287000" cy="209550"/>
          </a:xfrm>
          <a:prstGeom prst="rect">
            <a:avLst/>
          </a:prstGeom>
          <a:noFill/>
        </p:spPr>
        <p:txBody>
          <a:bodyPr wrap="none" lIns="0" rIns="0" tIns="0" bIns="0">
            <a:spAutoFit/>
          </a:bodyPr>
          <a:lstStyle/>
          <a:p>
            <a:pPr algn="l"/>
            <a:r>
              <a:rPr sz="1400" b="0">
                <a:solidFill>
                  <a:srgbClr val="566682"/>
                </a:solidFill>
                <a:latin typeface="Arial"/>
              </a:rPr>
              <a:t>The contribution is not only a model result; it is also the way the selector was framed and evaluated.</a:t>
            </a:r>
          </a:p>
        </p:txBody>
      </p:sp>
      <p:sp>
        <p:nvSpPr>
          <p:cNvPr id="9" name="TextBox 8"/>
          <p:cNvSpPr txBox="1"/>
          <p:nvPr/>
        </p:nvSpPr>
        <p:spPr>
          <a:xfrm>
            <a:off x="1143000" y="2000250"/>
            <a:ext cx="400050" cy="228600"/>
          </a:xfrm>
          <a:prstGeom prst="rect">
            <a:avLst/>
          </a:prstGeom>
          <a:noFill/>
        </p:spPr>
        <p:txBody>
          <a:bodyPr wrap="none" lIns="0" rIns="0" tIns="0" bIns="0">
            <a:spAutoFit/>
          </a:bodyPr>
          <a:lstStyle/>
          <a:p>
            <a:pPr algn="ctr"/>
            <a:r>
              <a:rPr sz="1600" b="1">
                <a:solidFill>
                  <a:srgbClr val="8F1D3A"/>
                </a:solidFill>
                <a:latin typeface="Arial"/>
              </a:rPr>
              <a:t>01</a:t>
            </a:r>
          </a:p>
        </p:txBody>
      </p:sp>
      <p:sp>
        <p:nvSpPr>
          <p:cNvPr id="10" name="TextBox 9"/>
          <p:cNvSpPr txBox="1"/>
          <p:nvPr/>
        </p:nvSpPr>
        <p:spPr>
          <a:xfrm>
            <a:off x="1714500" y="2000250"/>
            <a:ext cx="9334500" cy="228600"/>
          </a:xfrm>
          <a:prstGeom prst="rect">
            <a:avLst/>
          </a:prstGeom>
          <a:noFill/>
        </p:spPr>
        <p:txBody>
          <a:bodyPr wrap="none" lIns="0" rIns="0" tIns="0" bIns="0">
            <a:spAutoFit/>
          </a:bodyPr>
          <a:lstStyle/>
          <a:p>
            <a:pPr algn="l"/>
            <a:r>
              <a:rPr sz="1600" b="1">
                <a:solidFill>
                  <a:srgbClr val="191919"/>
                </a:solidFill>
                <a:latin typeface="Arial"/>
              </a:rPr>
              <a:t>Measured problem formulation</a:t>
            </a:r>
          </a:p>
        </p:txBody>
      </p:sp>
      <p:sp>
        <p:nvSpPr>
          <p:cNvPr id="11" name="TextBox 10"/>
          <p:cNvSpPr txBox="1"/>
          <p:nvPr/>
        </p:nvSpPr>
        <p:spPr>
          <a:xfrm>
            <a:off x="1714500" y="2324100"/>
            <a:ext cx="9334500" cy="361950"/>
          </a:xfrm>
          <a:prstGeom prst="rect">
            <a:avLst/>
          </a:prstGeom>
          <a:noFill/>
        </p:spPr>
        <p:txBody>
          <a:bodyPr wrap="square" lIns="0" rIns="0" tIns="0" bIns="0">
            <a:spAutoFit/>
          </a:bodyPr>
          <a:lstStyle/>
          <a:p>
            <a:pPr algn="l"/>
            <a:r>
              <a:rPr sz="1250" b="0">
                <a:solidFill>
                  <a:srgbClr val="566682"/>
                </a:solidFill>
                <a:latin typeface="Arial"/>
              </a:rPr>
              <a:t>Per-instance sorting algorithm selection was formulated as a supervised machine-learning task on real numeric arrays.</a:t>
            </a:r>
          </a:p>
        </p:txBody>
      </p:sp>
      <p:sp>
        <p:nvSpPr>
          <p:cNvPr id="12" name="Rectangle 11"/>
          <p:cNvSpPr/>
          <p:nvPr/>
        </p:nvSpPr>
        <p:spPr>
          <a:xfrm>
            <a:off x="1714500" y="2800350"/>
            <a:ext cx="9334500" cy="10477"/>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3143250"/>
            <a:ext cx="400050" cy="228600"/>
          </a:xfrm>
          <a:prstGeom prst="rect">
            <a:avLst/>
          </a:prstGeom>
          <a:noFill/>
        </p:spPr>
        <p:txBody>
          <a:bodyPr wrap="none" lIns="0" rIns="0" tIns="0" bIns="0">
            <a:spAutoFit/>
          </a:bodyPr>
          <a:lstStyle/>
          <a:p>
            <a:pPr algn="ctr"/>
            <a:r>
              <a:rPr sz="1600" b="1">
                <a:solidFill>
                  <a:srgbClr val="8F1D3A"/>
                </a:solidFill>
                <a:latin typeface="Arial"/>
              </a:rPr>
              <a:t>02</a:t>
            </a:r>
          </a:p>
        </p:txBody>
      </p:sp>
      <p:sp>
        <p:nvSpPr>
          <p:cNvPr id="14" name="TextBox 13"/>
          <p:cNvSpPr txBox="1"/>
          <p:nvPr/>
        </p:nvSpPr>
        <p:spPr>
          <a:xfrm>
            <a:off x="1714500" y="3143250"/>
            <a:ext cx="9334500" cy="228600"/>
          </a:xfrm>
          <a:prstGeom prst="rect">
            <a:avLst/>
          </a:prstGeom>
          <a:noFill/>
        </p:spPr>
        <p:txBody>
          <a:bodyPr wrap="none" lIns="0" rIns="0" tIns="0" bIns="0">
            <a:spAutoFit/>
          </a:bodyPr>
          <a:lstStyle/>
          <a:p>
            <a:pPr algn="l"/>
            <a:r>
              <a:rPr sz="1600" b="1">
                <a:solidFill>
                  <a:srgbClr val="191919"/>
                </a:solidFill>
                <a:latin typeface="Arial"/>
              </a:rPr>
              <a:t>Structural feature representation</a:t>
            </a:r>
          </a:p>
        </p:txBody>
      </p:sp>
      <p:sp>
        <p:nvSpPr>
          <p:cNvPr id="15" name="TextBox 14"/>
          <p:cNvSpPr txBox="1"/>
          <p:nvPr/>
        </p:nvSpPr>
        <p:spPr>
          <a:xfrm>
            <a:off x="1714500" y="3467100"/>
            <a:ext cx="9334500" cy="361950"/>
          </a:xfrm>
          <a:prstGeom prst="rect">
            <a:avLst/>
          </a:prstGeom>
          <a:noFill/>
        </p:spPr>
        <p:txBody>
          <a:bodyPr wrap="square" lIns="0" rIns="0" tIns="0" bIns="0">
            <a:spAutoFit/>
          </a:bodyPr>
          <a:lstStyle/>
          <a:p>
            <a:pPr algn="l"/>
            <a:r>
              <a:rPr sz="1250" b="0">
                <a:solidFill>
                  <a:srgbClr val="566682"/>
                </a:solidFill>
                <a:latin typeface="Arial"/>
              </a:rPr>
              <a:t>A 16-feature O(n) representation was used to describe size, order, duplicate density, value distribution, and local disorder across five domains.</a:t>
            </a:r>
          </a:p>
        </p:txBody>
      </p:sp>
      <p:sp>
        <p:nvSpPr>
          <p:cNvPr id="16" name="Rectangle 15"/>
          <p:cNvSpPr/>
          <p:nvPr/>
        </p:nvSpPr>
        <p:spPr>
          <a:xfrm>
            <a:off x="1714500" y="3943350"/>
            <a:ext cx="9334500" cy="10477"/>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43000" y="4286250"/>
            <a:ext cx="400050" cy="228600"/>
          </a:xfrm>
          <a:prstGeom prst="rect">
            <a:avLst/>
          </a:prstGeom>
          <a:noFill/>
        </p:spPr>
        <p:txBody>
          <a:bodyPr wrap="none" lIns="0" rIns="0" tIns="0" bIns="0">
            <a:spAutoFit/>
          </a:bodyPr>
          <a:lstStyle/>
          <a:p>
            <a:pPr algn="ctr"/>
            <a:r>
              <a:rPr sz="1600" b="1">
                <a:solidFill>
                  <a:srgbClr val="8F1D3A"/>
                </a:solidFill>
                <a:latin typeface="Arial"/>
              </a:rPr>
              <a:t>03</a:t>
            </a:r>
          </a:p>
        </p:txBody>
      </p:sp>
      <p:sp>
        <p:nvSpPr>
          <p:cNvPr id="18" name="TextBox 17"/>
          <p:cNvSpPr txBox="1"/>
          <p:nvPr/>
        </p:nvSpPr>
        <p:spPr>
          <a:xfrm>
            <a:off x="1714500" y="4286250"/>
            <a:ext cx="9334500" cy="228600"/>
          </a:xfrm>
          <a:prstGeom prst="rect">
            <a:avLst/>
          </a:prstGeom>
          <a:noFill/>
        </p:spPr>
        <p:txBody>
          <a:bodyPr wrap="none" lIns="0" rIns="0" tIns="0" bIns="0">
            <a:spAutoFit/>
          </a:bodyPr>
          <a:lstStyle/>
          <a:p>
            <a:pPr algn="l"/>
            <a:r>
              <a:rPr sz="1600" b="1">
                <a:solidFill>
                  <a:srgbClr val="191919"/>
                </a:solidFill>
                <a:latin typeface="Arial"/>
              </a:rPr>
              <a:t>Runtime-sensitive evaluation discipline</a:t>
            </a:r>
          </a:p>
        </p:txBody>
      </p:sp>
      <p:sp>
        <p:nvSpPr>
          <p:cNvPr id="19" name="TextBox 18"/>
          <p:cNvSpPr txBox="1"/>
          <p:nvPr/>
        </p:nvSpPr>
        <p:spPr>
          <a:xfrm>
            <a:off x="1714500" y="4610100"/>
            <a:ext cx="9334500" cy="361950"/>
          </a:xfrm>
          <a:prstGeom prst="rect">
            <a:avLst/>
          </a:prstGeom>
          <a:noFill/>
        </p:spPr>
        <p:txBody>
          <a:bodyPr wrap="square" lIns="0" rIns="0" tIns="0" bIns="0">
            <a:spAutoFit/>
          </a:bodyPr>
          <a:lstStyle/>
          <a:p>
            <a:pPr algn="l"/>
            <a:r>
              <a:rPr sz="1250" b="0">
                <a:solidFill>
                  <a:srgbClr val="566682"/>
                </a:solidFill>
                <a:latin typeface="Arial"/>
              </a:rPr>
              <a:t>The final evaluation combined accuracy with regret, SBS/VBS, gap closed, zero-regret rate, source-aware checks, and leave-one-domain-out testing.</a:t>
            </a:r>
          </a:p>
        </p:txBody>
      </p:sp>
      <p:sp>
        <p:nvSpPr>
          <p:cNvPr id="20" name="Rectangle 19"/>
          <p:cNvSpPr/>
          <p:nvPr/>
        </p:nvSpPr>
        <p:spPr>
          <a:xfrm>
            <a:off x="1714500" y="5086350"/>
            <a:ext cx="9334500" cy="10477"/>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428750" y="5810250"/>
            <a:ext cx="9334500" cy="209550"/>
          </a:xfrm>
          <a:prstGeom prst="rect">
            <a:avLst/>
          </a:prstGeom>
          <a:noFill/>
        </p:spPr>
        <p:txBody>
          <a:bodyPr wrap="none" lIns="0" rIns="0" tIns="0" bIns="0">
            <a:spAutoFit/>
          </a:bodyPr>
          <a:lstStyle/>
          <a:p>
            <a:pPr algn="ctr"/>
            <a:r>
              <a:rPr sz="1400" b="1">
                <a:solidFill>
                  <a:srgbClr val="191919"/>
                </a:solidFill>
                <a:latin typeface="Arial"/>
              </a:rPr>
              <a:t>These are the thesis contributions that remain defensible without overstating the model.</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23/24</a:t>
            </a:r>
          </a:p>
        </p:txBody>
      </p:sp>
      <p:sp>
        <p:nvSpPr>
          <p:cNvPr id="6" name="TextBox 5"/>
          <p:cNvSpPr txBox="1"/>
          <p:nvPr/>
        </p:nvSpPr>
        <p:spPr>
          <a:xfrm>
            <a:off x="647700" y="533400"/>
            <a:ext cx="9715500" cy="361950"/>
          </a:xfrm>
          <a:prstGeom prst="rect">
            <a:avLst/>
          </a:prstGeom>
          <a:noFill/>
        </p:spPr>
        <p:txBody>
          <a:bodyPr wrap="none" lIns="0" rIns="0" tIns="0" bIns="0">
            <a:spAutoFit/>
          </a:bodyPr>
          <a:lstStyle/>
          <a:p>
            <a:pPr algn="l"/>
            <a:r>
              <a:rPr sz="2700" b="1">
                <a:solidFill>
                  <a:srgbClr val="191919"/>
                </a:solidFill>
                <a:latin typeface="Arial"/>
              </a:rPr>
              <a:t>Limitations and Future Work</a:t>
            </a:r>
          </a:p>
        </p:txBody>
      </p:sp>
      <p:sp>
        <p:nvSpPr>
          <p:cNvPr id="7" name="Rectangle 6"/>
          <p:cNvSpPr/>
          <p:nvPr/>
        </p:nvSpPr>
        <p:spPr>
          <a:xfrm>
            <a:off x="647700" y="1028700"/>
            <a:ext cx="10896600" cy="11430"/>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7700" y="1200150"/>
            <a:ext cx="10287000" cy="209550"/>
          </a:xfrm>
          <a:prstGeom prst="rect">
            <a:avLst/>
          </a:prstGeom>
          <a:noFill/>
        </p:spPr>
        <p:txBody>
          <a:bodyPr wrap="none" lIns="0" rIns="0" tIns="0" bIns="0">
            <a:spAutoFit/>
          </a:bodyPr>
          <a:lstStyle/>
          <a:p>
            <a:pPr algn="l"/>
            <a:r>
              <a:rPr sz="1400" b="0">
                <a:solidFill>
                  <a:srgbClr val="566682"/>
                </a:solidFill>
                <a:latin typeface="Arial"/>
              </a:rPr>
              <a:t>The useful result should be interpreted within the experimental scope of the thesis.</a:t>
            </a:r>
          </a:p>
        </p:txBody>
      </p:sp>
      <p:sp>
        <p:nvSpPr>
          <p:cNvPr id="9" name="Rectangle 8"/>
          <p:cNvSpPr/>
          <p:nvPr/>
        </p:nvSpPr>
        <p:spPr>
          <a:xfrm>
            <a:off x="1190625" y="2143125"/>
            <a:ext cx="4381500" cy="2857500"/>
          </a:xfrm>
          <a:prstGeom prst="rect">
            <a:avLst/>
          </a:prstGeom>
          <a:solidFill>
            <a:srgbClr val="18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38275" y="2390775"/>
            <a:ext cx="3886200" cy="228600"/>
          </a:xfrm>
          <a:prstGeom prst="rect">
            <a:avLst/>
          </a:prstGeom>
          <a:noFill/>
        </p:spPr>
        <p:txBody>
          <a:bodyPr wrap="none" lIns="0" rIns="0" tIns="0" bIns="0">
            <a:spAutoFit/>
          </a:bodyPr>
          <a:lstStyle/>
          <a:p>
            <a:pPr algn="l"/>
            <a:r>
              <a:rPr sz="1800" b="1">
                <a:solidFill>
                  <a:srgbClr val="F4511E"/>
                </a:solidFill>
                <a:latin typeface="Arial"/>
              </a:rPr>
              <a:t>Limitations</a:t>
            </a:r>
          </a:p>
        </p:txBody>
      </p:sp>
      <p:sp>
        <p:nvSpPr>
          <p:cNvPr id="11" name="TextBox 10"/>
          <p:cNvSpPr txBox="1"/>
          <p:nvPr/>
        </p:nvSpPr>
        <p:spPr>
          <a:xfrm>
            <a:off x="1514475" y="2867025"/>
            <a:ext cx="3733800" cy="285750"/>
          </a:xfrm>
          <a:prstGeom prst="rect">
            <a:avLst/>
          </a:prstGeom>
          <a:noFill/>
        </p:spPr>
        <p:txBody>
          <a:bodyPr wrap="square" lIns="0" rIns="0" tIns="0" bIns="0">
            <a:spAutoFit/>
          </a:bodyPr>
          <a:lstStyle/>
          <a:p>
            <a:pPr algn="l"/>
            <a:r>
              <a:rPr sz="1250" b="0">
                <a:solidFill>
                  <a:srgbClr val="FFFFFF"/>
                </a:solidFill>
                <a:latin typeface="Arial"/>
              </a:rPr>
              <a:t>portfolio limited to introsort, heapsort, and timsort</a:t>
            </a:r>
          </a:p>
        </p:txBody>
      </p:sp>
      <p:sp>
        <p:nvSpPr>
          <p:cNvPr id="12" name="TextBox 11"/>
          <p:cNvSpPr txBox="1"/>
          <p:nvPr/>
        </p:nvSpPr>
        <p:spPr>
          <a:xfrm>
            <a:off x="1514475" y="3324225"/>
            <a:ext cx="3733800" cy="285750"/>
          </a:xfrm>
          <a:prstGeom prst="rect">
            <a:avLst/>
          </a:prstGeom>
          <a:noFill/>
        </p:spPr>
        <p:txBody>
          <a:bodyPr wrap="square" lIns="0" rIns="0" tIns="0" bIns="0">
            <a:spAutoFit/>
          </a:bodyPr>
          <a:lstStyle/>
          <a:p>
            <a:pPr algn="l"/>
            <a:r>
              <a:rPr sz="1250" b="0">
                <a:solidFill>
                  <a:srgbClr val="FFFFFF"/>
                </a:solidFill>
                <a:latin typeface="Arial"/>
              </a:rPr>
              <a:t>timing results collected on one hardware configuration</a:t>
            </a:r>
          </a:p>
        </p:txBody>
      </p:sp>
      <p:sp>
        <p:nvSpPr>
          <p:cNvPr id="13" name="TextBox 12"/>
          <p:cNvSpPr txBox="1"/>
          <p:nvPr/>
        </p:nvSpPr>
        <p:spPr>
          <a:xfrm>
            <a:off x="1514475" y="3781425"/>
            <a:ext cx="3733800" cy="285750"/>
          </a:xfrm>
          <a:prstGeom prst="rect">
            <a:avLst/>
          </a:prstGeom>
          <a:noFill/>
        </p:spPr>
        <p:txBody>
          <a:bodyPr wrap="square" lIns="0" rIns="0" tIns="0" bIns="0">
            <a:spAutoFit/>
          </a:bodyPr>
          <a:lstStyle/>
          <a:p>
            <a:pPr algn="l"/>
            <a:r>
              <a:rPr sz="1250" b="0">
                <a:solidFill>
                  <a:srgbClr val="FFFFFF"/>
                </a:solidFill>
                <a:latin typeface="Arial"/>
              </a:rPr>
              <a:t>LinUCB was designed but not empirically validated</a:t>
            </a:r>
          </a:p>
        </p:txBody>
      </p:sp>
      <p:sp>
        <p:nvSpPr>
          <p:cNvPr id="14" name="TextBox 13"/>
          <p:cNvSpPr txBox="1"/>
          <p:nvPr/>
        </p:nvSpPr>
        <p:spPr>
          <a:xfrm>
            <a:off x="1514475" y="4238625"/>
            <a:ext cx="3733800" cy="285750"/>
          </a:xfrm>
          <a:prstGeom prst="rect">
            <a:avLst/>
          </a:prstGeom>
          <a:noFill/>
        </p:spPr>
        <p:txBody>
          <a:bodyPr wrap="square" lIns="0" rIns="0" tIns="0" bIns="0">
            <a:spAutoFit/>
          </a:bodyPr>
          <a:lstStyle/>
          <a:p>
            <a:pPr algn="l"/>
            <a:r>
              <a:rPr sz="1250" b="0">
                <a:solidFill>
                  <a:srgbClr val="FFFFFF"/>
                </a:solidFill>
                <a:latin typeface="Arial"/>
              </a:rPr>
              <a:t>feature overhead is not profitable for very small arrays</a:t>
            </a:r>
          </a:p>
        </p:txBody>
      </p:sp>
      <p:sp>
        <p:nvSpPr>
          <p:cNvPr id="15" name="Rectangle 14"/>
          <p:cNvSpPr/>
          <p:nvPr/>
        </p:nvSpPr>
        <p:spPr>
          <a:xfrm>
            <a:off x="6619875" y="2143125"/>
            <a:ext cx="4381500" cy="2857500"/>
          </a:xfrm>
          <a:prstGeom prst="rect">
            <a:avLst/>
          </a:prstGeom>
          <a:solidFill>
            <a:srgbClr val="FFFFFF"/>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67525" y="2390775"/>
            <a:ext cx="3886200" cy="228600"/>
          </a:xfrm>
          <a:prstGeom prst="rect">
            <a:avLst/>
          </a:prstGeom>
          <a:noFill/>
        </p:spPr>
        <p:txBody>
          <a:bodyPr wrap="none" lIns="0" rIns="0" tIns="0" bIns="0">
            <a:spAutoFit/>
          </a:bodyPr>
          <a:lstStyle/>
          <a:p>
            <a:pPr algn="l"/>
            <a:r>
              <a:rPr sz="1800" b="1">
                <a:solidFill>
                  <a:srgbClr val="191919"/>
                </a:solidFill>
                <a:latin typeface="Arial"/>
              </a:rPr>
              <a:t>Future work</a:t>
            </a:r>
          </a:p>
        </p:txBody>
      </p:sp>
      <p:sp>
        <p:nvSpPr>
          <p:cNvPr id="17" name="TextBox 16"/>
          <p:cNvSpPr txBox="1"/>
          <p:nvPr/>
        </p:nvSpPr>
        <p:spPr>
          <a:xfrm>
            <a:off x="6943725" y="2867025"/>
            <a:ext cx="3733800" cy="285750"/>
          </a:xfrm>
          <a:prstGeom prst="rect">
            <a:avLst/>
          </a:prstGeom>
          <a:noFill/>
        </p:spPr>
        <p:txBody>
          <a:bodyPr wrap="square" lIns="0" rIns="0" tIns="0" bIns="0">
            <a:spAutoFit/>
          </a:bodyPr>
          <a:lstStyle/>
          <a:p>
            <a:pPr algn="l"/>
            <a:r>
              <a:rPr sz="1250" b="0">
                <a:solidFill>
                  <a:srgbClr val="566682"/>
                </a:solidFill>
                <a:latin typeface="Arial"/>
              </a:rPr>
              <a:t>broader algorithm portfolios and hardware-aware features</a:t>
            </a:r>
          </a:p>
        </p:txBody>
      </p:sp>
      <p:sp>
        <p:nvSpPr>
          <p:cNvPr id="18" name="TextBox 17"/>
          <p:cNvSpPr txBox="1"/>
          <p:nvPr/>
        </p:nvSpPr>
        <p:spPr>
          <a:xfrm>
            <a:off x="6943725" y="3324225"/>
            <a:ext cx="3733800" cy="285750"/>
          </a:xfrm>
          <a:prstGeom prst="rect">
            <a:avLst/>
          </a:prstGeom>
          <a:noFill/>
        </p:spPr>
        <p:txBody>
          <a:bodyPr wrap="square" lIns="0" rIns="0" tIns="0" bIns="0">
            <a:spAutoFit/>
          </a:bodyPr>
          <a:lstStyle/>
          <a:p>
            <a:pPr algn="l"/>
            <a:r>
              <a:rPr sz="1250" b="0">
                <a:solidFill>
                  <a:srgbClr val="566682"/>
                </a:solidFill>
                <a:latin typeface="Arial"/>
              </a:rPr>
              <a:t>validated online adaptation under workload drift</a:t>
            </a:r>
          </a:p>
        </p:txBody>
      </p:sp>
      <p:sp>
        <p:nvSpPr>
          <p:cNvPr id="19" name="TextBox 18"/>
          <p:cNvSpPr txBox="1"/>
          <p:nvPr/>
        </p:nvSpPr>
        <p:spPr>
          <a:xfrm>
            <a:off x="6943725" y="3781425"/>
            <a:ext cx="3733800" cy="285750"/>
          </a:xfrm>
          <a:prstGeom prst="rect">
            <a:avLst/>
          </a:prstGeom>
          <a:noFill/>
        </p:spPr>
        <p:txBody>
          <a:bodyPr wrap="square" lIns="0" rIns="0" tIns="0" bIns="0">
            <a:spAutoFit/>
          </a:bodyPr>
          <a:lstStyle/>
          <a:p>
            <a:pPr algn="l"/>
            <a:r>
              <a:rPr sz="1250" b="0">
                <a:solidFill>
                  <a:srgbClr val="566682"/>
                </a:solidFill>
                <a:latin typeface="Arial"/>
              </a:rPr>
              <a:t>stricter F1-specific evaluation and channel-level routing</a:t>
            </a:r>
          </a:p>
        </p:txBody>
      </p:sp>
      <p:sp>
        <p:nvSpPr>
          <p:cNvPr id="20" name="TextBox 19"/>
          <p:cNvSpPr txBox="1"/>
          <p:nvPr/>
        </p:nvSpPr>
        <p:spPr>
          <a:xfrm>
            <a:off x="6943725" y="4238625"/>
            <a:ext cx="3733800" cy="285750"/>
          </a:xfrm>
          <a:prstGeom prst="rect">
            <a:avLst/>
          </a:prstGeom>
          <a:noFill/>
        </p:spPr>
        <p:txBody>
          <a:bodyPr wrap="square" lIns="0" rIns="0" tIns="0" bIns="0">
            <a:spAutoFit/>
          </a:bodyPr>
          <a:lstStyle/>
          <a:p>
            <a:pPr algn="l"/>
            <a:r>
              <a:rPr sz="1250" b="0">
                <a:solidFill>
                  <a:srgbClr val="566682"/>
                </a:solidFill>
                <a:latin typeface="Arial"/>
              </a:rPr>
              <a:t>deployment study including feature-extraction overhead</a:t>
            </a:r>
          </a:p>
        </p:txBody>
      </p:sp>
      <p:sp>
        <p:nvSpPr>
          <p:cNvPr id="21" name="TextBox 20"/>
          <p:cNvSpPr txBox="1"/>
          <p:nvPr/>
        </p:nvSpPr>
        <p:spPr>
          <a:xfrm>
            <a:off x="1524000" y="5667375"/>
            <a:ext cx="9144000" cy="228600"/>
          </a:xfrm>
          <a:prstGeom prst="rect">
            <a:avLst/>
          </a:prstGeom>
          <a:noFill/>
        </p:spPr>
        <p:txBody>
          <a:bodyPr wrap="none" lIns="0" rIns="0" tIns="0" bIns="0">
            <a:spAutoFit/>
          </a:bodyPr>
          <a:lstStyle/>
          <a:p>
            <a:pPr algn="ctr"/>
            <a:r>
              <a:rPr sz="1450" b="1">
                <a:solidFill>
                  <a:srgbClr val="8F1D3A"/>
                </a:solidFill>
                <a:latin typeface="Arial"/>
              </a:rPr>
              <a:t>The next step is not a stronger claim; it is stronger validation under more realistic deployment conditions.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64592"/>
          </a:xfrm>
          <a:prstGeom prst="rect">
            <a:avLst/>
          </a:prstGeom>
          <a:solidFill>
            <a:srgbClr val="9A1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64592"/>
            <a:ext cx="12192000" cy="45720"/>
          </a:xfrm>
          <a:prstGeom prst="rect">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92000" cy="256032"/>
          </a:xfrm>
          <a:prstGeom prst="rect">
            <a:avLst/>
          </a:prstGeom>
          <a:solidFill>
            <a:srgbClr val="9A1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57400"/>
            <a:ext cx="10363200" cy="914400"/>
          </a:xfrm>
          <a:prstGeom prst="rect">
            <a:avLst/>
          </a:prstGeom>
          <a:noFill/>
        </p:spPr>
        <p:txBody>
          <a:bodyPr wrap="none">
            <a:spAutoFit/>
          </a:bodyPr>
          <a:lstStyle/>
          <a:p>
            <a:pPr algn="ctr"/>
            <a:r>
              <a:rPr sz="5800" b="1">
                <a:solidFill>
                  <a:srgbClr val="191919"/>
                </a:solidFill>
                <a:latin typeface="Aptos Display"/>
              </a:rPr>
              <a:t>Thank you</a:t>
            </a:r>
          </a:p>
        </p:txBody>
      </p:sp>
      <p:sp>
        <p:nvSpPr>
          <p:cNvPr id="6" name="TextBox 5"/>
          <p:cNvSpPr txBox="1"/>
          <p:nvPr/>
        </p:nvSpPr>
        <p:spPr>
          <a:xfrm>
            <a:off x="914400" y="2999232"/>
            <a:ext cx="10363200" cy="685800"/>
          </a:xfrm>
          <a:prstGeom prst="rect">
            <a:avLst/>
          </a:prstGeom>
          <a:noFill/>
        </p:spPr>
        <p:txBody>
          <a:bodyPr wrap="none">
            <a:spAutoFit/>
          </a:bodyPr>
          <a:lstStyle/>
          <a:p>
            <a:pPr algn="ctr"/>
            <a:r>
              <a:rPr sz="3600" b="1">
                <a:solidFill>
                  <a:srgbClr val="F94E1F"/>
                </a:solidFill>
                <a:latin typeface="Aptos Display"/>
              </a:rPr>
              <a:t>Questions?</a:t>
            </a:r>
          </a:p>
        </p:txBody>
      </p:sp>
      <p:sp>
        <p:nvSpPr>
          <p:cNvPr id="7" name="TextBox 6"/>
          <p:cNvSpPr txBox="1"/>
          <p:nvPr/>
        </p:nvSpPr>
        <p:spPr>
          <a:xfrm>
            <a:off x="11323320" y="6643116"/>
            <a:ext cx="685800" cy="164592"/>
          </a:xfrm>
          <a:prstGeom prst="rect">
            <a:avLst/>
          </a:prstGeom>
          <a:noFill/>
        </p:spPr>
        <p:txBody>
          <a:bodyPr wrap="none">
            <a:spAutoFit/>
          </a:bodyPr>
          <a:lstStyle/>
          <a:p>
            <a:pPr algn="r"/>
            <a:r>
              <a:rPr sz="900">
                <a:solidFill>
                  <a:srgbClr val="FFFFFF"/>
                </a:solidFill>
                <a:latin typeface="Aptos"/>
              </a:rPr>
              <a:t>24/24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TotalTime>
  <Words>2333</Words>
  <Application>Microsoft Macintosh PowerPoint</Application>
  <PresentationFormat>Widescreen</PresentationFormat>
  <Paragraphs>308</Paragraphs>
  <Slides>22</Slides>
  <Notes>22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Anthropic Sans</vt:lpstr>
      <vt:lpstr>Arial</vt:lpstr>
      <vt:lpstr>Calibri</vt:lpstr>
      <vt:lpstr>Consolas</vt:lpstr>
      <vt:lpstr>Styrene 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Salah Abdalhi</cp:lastModifiedBy>
  <cp:revision>2</cp:revision>
  <dcterms:created xsi:type="dcterms:W3CDTF">2026-06-30T17:56:25Z</dcterms:created>
  <dcterms:modified xsi:type="dcterms:W3CDTF">2026-07-01T08:28:38Z</dcterms:modified>
  <cp:category/>
  <cp:contentStatus/>
  <dc:language/>
</cp:coreProperties>
</file>