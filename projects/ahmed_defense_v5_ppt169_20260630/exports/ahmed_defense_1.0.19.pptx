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39"/>
    <p:restoredTop sz="94658"/>
  </p:normalViewPr>
  <p:slideViewPr>
    <p:cSldViewPr snapToGrid="0" snapToObjects="1">
      <p:cViewPr varScale="1">
        <p:scale>
          <a:sx n="107" d="100"/>
          <a:sy n="107" d="100"/>
        </p:scale>
        <p:origin x="192" y="4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thesis is about a small decision that happens before sorting: which implementation should we use for this input array. I will keep coming back to three numbers: the model closes 93.1 percent of the runtime gap, reaches 76.1 percent test accuracy, and makes zero-regret decisions for 89.6 percent of the test cases.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first explain the task and why it matters. Then I will explain the data, the extracted features, and the model. After that I will defend the result with runtime metrics, then show the limits and what I do not claim.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not to invent a new sorting algorithm. The task is: given one array before sorting, choose introsort, heapsort, or timsort. The model sees cheap structural features and outputs one algorithm choice.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matters because the same input size can have different structure. A sorted-like array, random array, and duplicated array can reward different algorithms. So the useful target is not only classification accuracy; it is how much runtime loss we avoid compared with the best per-input choice.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connects to algorithm selection, adaptive sorting, and learned performance prediction. I am not presenting literature as a separate survey. I use it to position the task: previous work gives the idea of selecting from features, and this thesis applies that idea to measured sorting behavior.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question is whether simple array structure can predict the best sorting algorithm. I evaluate that question in two ways: whether the label is correct, and how expensive a mistake is when it is not correct.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was built from five domains: F1 telemetry, stock, crypto, earthquake, and weather. The reason for using multiple domains was to avoid building a selector that only understands one family of arrays.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domain, I generated transformed arrays and measured runtime across the three sorting algorithms. The label is not guessed; it is the fastest measured algorithm for that instance. The transformations create raw, reversed, shuffled, quantized, and partially sorted cases.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features are the bridge between the raw array and the model. They describe scale, order, duplicates, runs, inversions, and distribution. The important point is that these are structural features, not timing features.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prediction time, the selector cannot sort the array with all three algorithms and then choose the fastest. That would be the oracle, not a usable method. The selector must use cheaper information from the input before sorting.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system is v5. It is one general XGBoost classifier trained across all domains and choosing among the three algorithms. The F1-specific route is separate and I will only mention it as a specialization, not the main result.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portfolio is deliberately limited to three real implementations: introsort, heapsort, and timsort. The model is not choosing from every sorting algorithm in theory. It is choosing from the measured implementations in this experiment.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model came after earlier paths were rejected. Regression was not strong enough, timing features were not deployable, and strict checks changed the interpretation. v5 became the main model because it gave the best practical balance under the submitted evaluation.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SBS means one algorithm used for all test inputs. VBS means the fastest measured algorithm per input, which is an oracle for evaluation. The model is judged by how close it gets to VBS without having oracle information at prediction time.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result is runtime value: v5 closes 93.1 percent of the gap between SBS and VBS. Accuracy is 76.1 percent, but this does not tell the whole story. The zero-regret rate is 89.6 percent, which shows many decisions are either correct or not costly.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I do not defend the model only as a classifier. Some label mistakes happen between algorithms whose measured runtimes are very close. In those cases, the label is wrong, but the runtime regret is small.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that timsort is often easier to identify when order signals are strong. The harder boundary is between introsort and heapsort because their runtime behavior is often closer. This is a limitation, but it is also why regret is necessary.</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shows that the model is using structural signals. This supports the method because the important features relate back to the properties that sorting algorithms react to: order, duplicates, distribution, and size.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holdout is stricter because the held-out domain is unseen during training. The weighted gap closed is 79.7 percent. F1 is harder than the other domains, and that is why the F1-specific route exists separately.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negative results are part of the rigor. v6 checked source-awareness, v7 showed that a regret-aware attempt did not improve the final result, and v8 showed that the intro-versus-heap boundary remains difficult. These results keep the claim measured.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claim is that v5 closes most of the measured runtime gap with cheap structural features and known limitations. I do not claim a perfect classifier, I do not claim the F1 route is the main result, and I do not claim LinUCB is validated in this thesis.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is the framing, the data and feature pipeline, and the measured selector result. The future work is stronger domain adaptation, validated online selection, and deeper F1-specific evaluation.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16.png"/><Relationship Id="rId5"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grpSp>
        <p:nvGrpSpPr>
          <p:cNvPr id="7" name="Group 7"/>
          <p:cNvGrpSpPr/>
          <p:nvPr/>
        </p:nvGrpSpPr>
        <p:grpSpPr>
          <a:xfrm>
            <a:off x="0" y="19812"/>
            <a:ext cx="12192000" cy="6858000"/>
            <a:chOff x="0" y="0"/>
            <a:chExt cx="12192000" cy="6858000"/>
          </a:xfrm>
        </p:grpSpPr>
        <p:sp>
          <p:nvSpPr>
            <p:cNvPr id="3" name="Rectangle 3"/>
            <p:cNvSpPr/>
            <p:nvPr/>
          </p:nvSpPr>
          <p:spPr>
            <a:xfrm>
              <a:off x="0" y="0"/>
              <a:ext cx="12192000" cy="6858000"/>
            </a:xfrm>
            <a:prstGeom prst="rect">
              <a:avLst/>
            </a:prstGeom>
            <a:solidFill>
              <a:srgbClr val="FFFFFF"/>
            </a:solidFill>
            <a:ln>
              <a:noFill/>
            </a:ln>
          </p:spPr>
        </p:sp>
        <p:sp>
          <p:nvSpPr>
            <p:cNvPr id="4" name="Freeform 4"/>
            <p:cNvSpPr/>
            <p:nvPr/>
          </p:nvSpPr>
          <p:spPr>
            <a:xfrm>
              <a:off x="0" y="0"/>
              <a:ext cx="12192000" cy="819150"/>
            </a:xfrm>
            <a:custGeom>
              <a:avLst/>
              <a:gdLst/>
              <a:ahLst/>
              <a:cxnLst/>
              <a:rect l="l" t="t" r="r" b="b"/>
              <a:pathLst>
                <a:path w="12192000" h="819150">
                  <a:moveTo>
                    <a:pt x="0" y="0"/>
                  </a:moveTo>
                  <a:lnTo>
                    <a:pt x="12192000" y="0"/>
                  </a:lnTo>
                  <a:lnTo>
                    <a:pt x="12192000" y="819150"/>
                  </a:lnTo>
                  <a:lnTo>
                    <a:pt x="0" y="819150"/>
                  </a:lnTo>
                  <a:close/>
                </a:path>
              </a:pathLst>
            </a:custGeom>
            <a:solidFill>
              <a:srgbClr val="8F1D3A"/>
            </a:solidFill>
            <a:ln>
              <a:noFill/>
            </a:ln>
          </p:spPr>
        </p:sp>
        <p:sp>
          <p:nvSpPr>
            <p:cNvPr id="5" name="Freeform 5"/>
            <p:cNvSpPr/>
            <p:nvPr/>
          </p:nvSpPr>
          <p:spPr>
            <a:xfrm>
              <a:off x="0" y="819150"/>
              <a:ext cx="12192000" cy="133350"/>
            </a:xfrm>
            <a:custGeom>
              <a:avLst/>
              <a:gdLst/>
              <a:ahLst/>
              <a:cxnLst/>
              <a:rect l="l" t="t" r="r" b="b"/>
              <a:pathLst>
                <a:path w="12192000" h="133350">
                  <a:moveTo>
                    <a:pt x="0" y="0"/>
                  </a:moveTo>
                  <a:lnTo>
                    <a:pt x="12192000" y="0"/>
                  </a:lnTo>
                  <a:lnTo>
                    <a:pt x="12192000" y="133350"/>
                  </a:lnTo>
                  <a:lnTo>
                    <a:pt x="0" y="133350"/>
                  </a:lnTo>
                  <a:close/>
                </a:path>
              </a:pathLst>
            </a:custGeom>
            <a:solidFill>
              <a:srgbClr val="F4511E"/>
            </a:solidFill>
            <a:ln>
              <a:noFill/>
            </a:ln>
          </p:spPr>
        </p:sp>
        <p:sp>
          <p:nvSpPr>
            <p:cNvPr id="6" name="Freeform 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grpSp>
      <p:pic>
        <p:nvPicPr>
          <p:cNvPr id="8" name="Image 8"/>
          <p:cNvPicPr>
            <a:picLocks noChangeAspect="1"/>
          </p:cNvPicPr>
          <p:nvPr/>
        </p:nvPicPr>
        <p:blipFill>
          <a:blip r:embed="rId3"/>
          <a:stretch>
            <a:fillRect/>
          </a:stretch>
        </p:blipFill>
        <p:spPr>
          <a:xfrm>
            <a:off x="10515600" y="114300"/>
            <a:ext cx="590550" cy="590550"/>
          </a:xfrm>
          <a:prstGeom prst="rect">
            <a:avLst/>
          </a:prstGeom>
        </p:spPr>
      </p:pic>
      <p:grpSp>
        <p:nvGrpSpPr>
          <p:cNvPr id="13" name="Group 13"/>
          <p:cNvGrpSpPr/>
          <p:nvPr/>
        </p:nvGrpSpPr>
        <p:grpSpPr>
          <a:xfrm>
            <a:off x="1066799" y="1658112"/>
            <a:ext cx="10058400" cy="1554194"/>
            <a:chOff x="1066800" y="2179606"/>
            <a:chExt cx="10058400" cy="1554194"/>
          </a:xfrm>
        </p:grpSpPr>
        <p:sp>
          <p:nvSpPr>
            <p:cNvPr id="9" name="TextBox 9"/>
            <p:cNvSpPr txBox="1"/>
            <p:nvPr/>
          </p:nvSpPr>
          <p:spPr>
            <a:xfrm>
              <a:off x="1691011" y="2179606"/>
              <a:ext cx="8809912" cy="738664"/>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MACHINE LEARNING BASED ALGORITHM SELECTION FOR</a:t>
              </a:r>
            </a:p>
            <a:p>
              <a:pPr algn="ctr"/>
              <a:endParaRPr lang="en-US" sz="2400" b="1" dirty="0">
                <a:solidFill>
                  <a:srgbClr val="191919"/>
                </a:solidFill>
                <a:latin typeface="Arial"/>
                <a:ea typeface="Arial"/>
                <a:cs typeface="Arial"/>
              </a:endParaRPr>
            </a:p>
          </p:txBody>
        </p:sp>
        <p:sp>
          <p:nvSpPr>
            <p:cNvPr id="10" name="TextBox 10"/>
            <p:cNvSpPr txBox="1"/>
            <p:nvPr/>
          </p:nvSpPr>
          <p:spPr>
            <a:xfrm>
              <a:off x="6095967" y="2407920"/>
              <a:ext cx="64" cy="369332"/>
            </a:xfrm>
            <a:prstGeom prst="rect">
              <a:avLst/>
            </a:prstGeom>
            <a:noFill/>
            <a:ln>
              <a:noFill/>
            </a:ln>
          </p:spPr>
          <p:txBody>
            <a:bodyPr wrap="none" lIns="0" tIns="0" rIns="0" bIns="0" anchor="t" anchorCtr="0">
              <a:spAutoFit/>
            </a:bodyPr>
            <a:lstStyle/>
            <a:p>
              <a:pPr algn="ctr"/>
              <a:endParaRPr lang="en-US" sz="2400" b="1" dirty="0">
                <a:solidFill>
                  <a:srgbClr val="191919"/>
                </a:solidFill>
                <a:latin typeface="Arial"/>
                <a:ea typeface="Arial"/>
                <a:cs typeface="Arial"/>
              </a:endParaRPr>
            </a:p>
          </p:txBody>
        </p:sp>
        <p:sp>
          <p:nvSpPr>
            <p:cNvPr id="11" name="TextBox 11"/>
            <p:cNvSpPr txBox="1"/>
            <p:nvPr/>
          </p:nvSpPr>
          <p:spPr>
            <a:xfrm>
              <a:off x="3470648" y="2817829"/>
              <a:ext cx="5250637" cy="469392"/>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SORTING NUMERIC ARRAYS</a:t>
              </a:r>
            </a:p>
          </p:txBody>
        </p:sp>
        <p:sp>
          <p:nvSpPr>
            <p:cNvPr id="12" name="Rectangle 12"/>
            <p:cNvSpPr/>
            <p:nvPr/>
          </p:nvSpPr>
          <p:spPr>
            <a:xfrm>
              <a:off x="1066800" y="3714750"/>
              <a:ext cx="10058400" cy="19050"/>
            </a:xfrm>
            <a:prstGeom prst="rect">
              <a:avLst/>
            </a:prstGeom>
            <a:solidFill>
              <a:srgbClr val="8F1D3A"/>
            </a:solidFill>
            <a:ln>
              <a:noFill/>
            </a:ln>
          </p:spPr>
        </p:sp>
      </p:grpSp>
      <p:grpSp>
        <p:nvGrpSpPr>
          <p:cNvPr id="18" name="Group 18"/>
          <p:cNvGrpSpPr/>
          <p:nvPr/>
        </p:nvGrpSpPr>
        <p:grpSpPr>
          <a:xfrm>
            <a:off x="3234551" y="3728513"/>
            <a:ext cx="5486733" cy="1496377"/>
            <a:chOff x="3352633" y="4649629"/>
            <a:chExt cx="5486733" cy="1496377"/>
          </a:xfrm>
        </p:grpSpPr>
        <p:sp>
          <p:nvSpPr>
            <p:cNvPr id="14" name="TextBox 14"/>
            <p:cNvSpPr txBox="1"/>
            <p:nvPr/>
          </p:nvSpPr>
          <p:spPr>
            <a:xfrm>
              <a:off x="5394030" y="4649629"/>
              <a:ext cx="1403939"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Presented by</a:t>
              </a:r>
            </a:p>
          </p:txBody>
        </p:sp>
        <p:sp>
          <p:nvSpPr>
            <p:cNvPr id="15" name="TextBox 15"/>
            <p:cNvSpPr txBox="1"/>
            <p:nvPr/>
          </p:nvSpPr>
          <p:spPr>
            <a:xfrm>
              <a:off x="3352633" y="4941094"/>
              <a:ext cx="5486733"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AHMED SALAH ABDALHI MOHAMMED</a:t>
              </a:r>
            </a:p>
          </p:txBody>
        </p:sp>
        <p:sp>
          <p:nvSpPr>
            <p:cNvPr id="16" name="TextBox 16"/>
            <p:cNvSpPr txBox="1"/>
            <p:nvPr/>
          </p:nvSpPr>
          <p:spPr>
            <a:xfrm>
              <a:off x="5363058" y="5487829"/>
              <a:ext cx="146588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Supervised by</a:t>
              </a:r>
            </a:p>
          </p:txBody>
        </p:sp>
        <p:sp>
          <p:nvSpPr>
            <p:cNvPr id="17" name="TextBox 17"/>
            <p:cNvSpPr txBox="1"/>
            <p:nvPr/>
          </p:nvSpPr>
          <p:spPr>
            <a:xfrm>
              <a:off x="3995259" y="5779294"/>
              <a:ext cx="4201482"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Assoc. Prof. Dr. Emre Özbilge</a:t>
              </a:r>
            </a:p>
          </p:txBody>
        </p:sp>
      </p:grpSp>
      <p:sp>
        <p:nvSpPr>
          <p:cNvPr id="19"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1/24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par>
                          <p:cTn id="8" fill="hold">
                            <p:stCondLst>
                              <p:cond delay="470"/>
                            </p:stCondLst>
                            <p:childTnLst>
                              <p:par>
                                <p:cTn id="9" presetID="22"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26" name="Freeform 2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8" name="Slide title - Presentation Outline"/>
          <p:cNvSpPr txBox="1"/>
          <p:nvPr/>
        </p:nvSpPr>
        <p:spPr>
          <a:xfrm>
            <a:off x="647700" y="533400"/>
            <a:ext cx="5905500" cy="457200"/>
          </a:xfrm>
          <a:prstGeom prst="rect">
            <a:avLst/>
          </a:prstGeom>
          <a:noFill/>
        </p:spPr>
        <p:txBody>
          <a:bodyPr wrap="none" lIns="0" tIns="0" rIns="0" bIns="0">
            <a:spAutoFit/>
          </a:bodyPr>
          <a:lstStyle/>
          <a:p>
            <a:pPr algn="l"/>
            <a:r>
              <a:rPr sz="2800" b="1">
                <a:solidFill>
                  <a:srgbClr val="191919"/>
                </a:solidFill>
                <a:latin typeface="Arial"/>
              </a:rPr>
              <a:t>Presentation Outline</a:t>
            </a:r>
          </a:p>
        </p:txBody>
      </p:sp>
      <p:sp>
        <p:nvSpPr>
          <p:cNvPr id="29" name="Outline horizontal rule"/>
          <p:cNvSpPr/>
          <p:nvPr/>
        </p:nvSpPr>
        <p:spPr>
          <a:xfrm>
            <a:off x="647700" y="1123950"/>
            <a:ext cx="10896600" cy="13335"/>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utline number 01"/>
          <p:cNvSpPr txBox="1"/>
          <p:nvPr/>
        </p:nvSpPr>
        <p:spPr>
          <a:xfrm>
            <a:off x="1123950" y="1733550"/>
            <a:ext cx="552450" cy="285750"/>
          </a:xfrm>
          <a:prstGeom prst="rect">
            <a:avLst/>
          </a:prstGeom>
          <a:noFill/>
        </p:spPr>
        <p:txBody>
          <a:bodyPr wrap="none" lIns="0" tIns="0" rIns="0" bIns="0">
            <a:spAutoFit/>
          </a:bodyPr>
          <a:lstStyle/>
          <a:p>
            <a:pPr algn="l"/>
            <a:r>
              <a:rPr sz="1500" b="1">
                <a:solidFill>
                  <a:srgbClr val="8F1D3A"/>
                </a:solidFill>
                <a:latin typeface="Arial"/>
              </a:rPr>
              <a:t>01</a:t>
            </a:r>
          </a:p>
        </p:txBody>
      </p:sp>
      <p:sp>
        <p:nvSpPr>
          <p:cNvPr id="31" name="Outline item 01"/>
          <p:cNvSpPr txBox="1"/>
          <p:nvPr/>
        </p:nvSpPr>
        <p:spPr>
          <a:xfrm>
            <a:off x="1809750" y="1695450"/>
            <a:ext cx="4191000" cy="400050"/>
          </a:xfrm>
          <a:prstGeom prst="rect">
            <a:avLst/>
          </a:prstGeom>
          <a:noFill/>
        </p:spPr>
        <p:txBody>
          <a:bodyPr wrap="none" lIns="0" tIns="0" rIns="0" bIns="0">
            <a:spAutoFit/>
          </a:bodyPr>
          <a:lstStyle/>
          <a:p>
            <a:pPr algn="l"/>
            <a:r>
              <a:rPr sz="2000" b="1">
                <a:solidFill>
                  <a:srgbClr val="191919"/>
                </a:solidFill>
                <a:latin typeface="Arial"/>
              </a:rPr>
              <a:t>Algorithm Selection Problem</a:t>
            </a:r>
          </a:p>
        </p:txBody>
      </p:sp>
      <p:sp>
        <p:nvSpPr>
          <p:cNvPr id="32" name="Outline item rule 01"/>
          <p:cNvSpPr/>
          <p:nvPr/>
        </p:nvSpPr>
        <p:spPr>
          <a:xfrm>
            <a:off x="18097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utline number 02"/>
          <p:cNvSpPr txBox="1"/>
          <p:nvPr/>
        </p:nvSpPr>
        <p:spPr>
          <a:xfrm>
            <a:off x="1123950" y="2857500"/>
            <a:ext cx="552450" cy="285750"/>
          </a:xfrm>
          <a:prstGeom prst="rect">
            <a:avLst/>
          </a:prstGeom>
          <a:noFill/>
        </p:spPr>
        <p:txBody>
          <a:bodyPr wrap="none" lIns="0" tIns="0" rIns="0" bIns="0">
            <a:spAutoFit/>
          </a:bodyPr>
          <a:lstStyle/>
          <a:p>
            <a:pPr algn="l"/>
            <a:r>
              <a:rPr sz="1500" b="1">
                <a:solidFill>
                  <a:srgbClr val="8F1D3A"/>
                </a:solidFill>
                <a:latin typeface="Arial"/>
              </a:rPr>
              <a:t>02</a:t>
            </a:r>
          </a:p>
        </p:txBody>
      </p:sp>
      <p:sp>
        <p:nvSpPr>
          <p:cNvPr id="34" name="Outline item 02"/>
          <p:cNvSpPr txBox="1"/>
          <p:nvPr/>
        </p:nvSpPr>
        <p:spPr>
          <a:xfrm>
            <a:off x="1809750" y="2819400"/>
            <a:ext cx="4191000" cy="400050"/>
          </a:xfrm>
          <a:prstGeom prst="rect">
            <a:avLst/>
          </a:prstGeom>
          <a:noFill/>
        </p:spPr>
        <p:txBody>
          <a:bodyPr wrap="none" lIns="0" tIns="0" rIns="0" bIns="0">
            <a:spAutoFit/>
          </a:bodyPr>
          <a:lstStyle/>
          <a:p>
            <a:pPr algn="l"/>
            <a:r>
              <a:rPr sz="2000" b="1">
                <a:solidFill>
                  <a:srgbClr val="191919"/>
                </a:solidFill>
                <a:latin typeface="Arial"/>
              </a:rPr>
              <a:t>Motivation for Sorting Selection</a:t>
            </a:r>
          </a:p>
        </p:txBody>
      </p:sp>
      <p:sp>
        <p:nvSpPr>
          <p:cNvPr id="35" name="Outline item rule 02"/>
          <p:cNvSpPr/>
          <p:nvPr/>
        </p:nvSpPr>
        <p:spPr>
          <a:xfrm>
            <a:off x="18097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utline number 03"/>
          <p:cNvSpPr txBox="1"/>
          <p:nvPr/>
        </p:nvSpPr>
        <p:spPr>
          <a:xfrm>
            <a:off x="1123950" y="3981450"/>
            <a:ext cx="552450" cy="285750"/>
          </a:xfrm>
          <a:prstGeom prst="rect">
            <a:avLst/>
          </a:prstGeom>
          <a:noFill/>
        </p:spPr>
        <p:txBody>
          <a:bodyPr wrap="none" lIns="0" tIns="0" rIns="0" bIns="0">
            <a:spAutoFit/>
          </a:bodyPr>
          <a:lstStyle/>
          <a:p>
            <a:pPr algn="l"/>
            <a:r>
              <a:rPr sz="1500" b="1">
                <a:solidFill>
                  <a:srgbClr val="8F1D3A"/>
                </a:solidFill>
                <a:latin typeface="Arial"/>
              </a:rPr>
              <a:t>03</a:t>
            </a:r>
          </a:p>
        </p:txBody>
      </p:sp>
      <p:sp>
        <p:nvSpPr>
          <p:cNvPr id="37" name="Outline item 03"/>
          <p:cNvSpPr txBox="1"/>
          <p:nvPr/>
        </p:nvSpPr>
        <p:spPr>
          <a:xfrm>
            <a:off x="1809750" y="3943350"/>
            <a:ext cx="4191000" cy="400050"/>
          </a:xfrm>
          <a:prstGeom prst="rect">
            <a:avLst/>
          </a:prstGeom>
          <a:noFill/>
        </p:spPr>
        <p:txBody>
          <a:bodyPr wrap="none" lIns="0" tIns="0" rIns="0" bIns="0">
            <a:spAutoFit/>
          </a:bodyPr>
          <a:lstStyle/>
          <a:p>
            <a:pPr algn="l"/>
            <a:r>
              <a:rPr sz="2000" b="1">
                <a:solidFill>
                  <a:srgbClr val="191919"/>
                </a:solidFill>
                <a:latin typeface="Arial"/>
              </a:rPr>
              <a:t>Dataset and Feature Extraction</a:t>
            </a:r>
          </a:p>
        </p:txBody>
      </p:sp>
      <p:sp>
        <p:nvSpPr>
          <p:cNvPr id="38" name="Outline item rule 03"/>
          <p:cNvSpPr/>
          <p:nvPr/>
        </p:nvSpPr>
        <p:spPr>
          <a:xfrm>
            <a:off x="18097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utline number 04"/>
          <p:cNvSpPr txBox="1"/>
          <p:nvPr/>
        </p:nvSpPr>
        <p:spPr>
          <a:xfrm>
            <a:off x="6496050" y="1733550"/>
            <a:ext cx="552450" cy="285750"/>
          </a:xfrm>
          <a:prstGeom prst="rect">
            <a:avLst/>
          </a:prstGeom>
          <a:noFill/>
        </p:spPr>
        <p:txBody>
          <a:bodyPr wrap="none" lIns="0" tIns="0" rIns="0" bIns="0">
            <a:spAutoFit/>
          </a:bodyPr>
          <a:lstStyle/>
          <a:p>
            <a:pPr algn="l"/>
            <a:r>
              <a:rPr sz="1500" b="1">
                <a:solidFill>
                  <a:srgbClr val="8F1D3A"/>
                </a:solidFill>
                <a:latin typeface="Arial"/>
              </a:rPr>
              <a:t>04</a:t>
            </a:r>
          </a:p>
        </p:txBody>
      </p:sp>
      <p:sp>
        <p:nvSpPr>
          <p:cNvPr id="40" name="Outline item 04"/>
          <p:cNvSpPr txBox="1"/>
          <p:nvPr/>
        </p:nvSpPr>
        <p:spPr>
          <a:xfrm>
            <a:off x="7181850" y="1695450"/>
            <a:ext cx="4191000" cy="400050"/>
          </a:xfrm>
          <a:prstGeom prst="rect">
            <a:avLst/>
          </a:prstGeom>
          <a:noFill/>
        </p:spPr>
        <p:txBody>
          <a:bodyPr wrap="none" lIns="0" tIns="0" rIns="0" bIns="0">
            <a:spAutoFit/>
          </a:bodyPr>
          <a:lstStyle/>
          <a:p>
            <a:pPr algn="l"/>
            <a:r>
              <a:rPr sz="2000" b="1">
                <a:solidFill>
                  <a:srgbClr val="191919"/>
                </a:solidFill>
                <a:latin typeface="Arial"/>
              </a:rPr>
              <a:t>Model Development</a:t>
            </a:r>
          </a:p>
        </p:txBody>
      </p:sp>
      <p:sp>
        <p:nvSpPr>
          <p:cNvPr id="41" name="Outline item rule 04"/>
          <p:cNvSpPr/>
          <p:nvPr/>
        </p:nvSpPr>
        <p:spPr>
          <a:xfrm>
            <a:off x="71818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utline number 05"/>
          <p:cNvSpPr txBox="1"/>
          <p:nvPr/>
        </p:nvSpPr>
        <p:spPr>
          <a:xfrm>
            <a:off x="6496050" y="2857500"/>
            <a:ext cx="552450" cy="285750"/>
          </a:xfrm>
          <a:prstGeom prst="rect">
            <a:avLst/>
          </a:prstGeom>
          <a:noFill/>
        </p:spPr>
        <p:txBody>
          <a:bodyPr wrap="none" lIns="0" tIns="0" rIns="0" bIns="0">
            <a:spAutoFit/>
          </a:bodyPr>
          <a:lstStyle/>
          <a:p>
            <a:pPr algn="l"/>
            <a:r>
              <a:rPr sz="1500" b="1">
                <a:solidFill>
                  <a:srgbClr val="8F1D3A"/>
                </a:solidFill>
                <a:latin typeface="Arial"/>
              </a:rPr>
              <a:t>05</a:t>
            </a:r>
          </a:p>
        </p:txBody>
      </p:sp>
      <p:sp>
        <p:nvSpPr>
          <p:cNvPr id="43" name="Outline item 05"/>
          <p:cNvSpPr txBox="1"/>
          <p:nvPr/>
        </p:nvSpPr>
        <p:spPr>
          <a:xfrm>
            <a:off x="7181850" y="2819400"/>
            <a:ext cx="4191000" cy="400050"/>
          </a:xfrm>
          <a:prstGeom prst="rect">
            <a:avLst/>
          </a:prstGeom>
          <a:noFill/>
        </p:spPr>
        <p:txBody>
          <a:bodyPr wrap="none" lIns="0" tIns="0" rIns="0" bIns="0">
            <a:spAutoFit/>
          </a:bodyPr>
          <a:lstStyle/>
          <a:p>
            <a:pPr algn="l"/>
            <a:r>
              <a:rPr sz="2000" b="1">
                <a:solidFill>
                  <a:srgbClr val="191919"/>
                </a:solidFill>
                <a:latin typeface="Arial"/>
              </a:rPr>
              <a:t>Evaluation and Results</a:t>
            </a:r>
          </a:p>
        </p:txBody>
      </p:sp>
      <p:sp>
        <p:nvSpPr>
          <p:cNvPr id="44" name="Outline item rule 05"/>
          <p:cNvSpPr/>
          <p:nvPr/>
        </p:nvSpPr>
        <p:spPr>
          <a:xfrm>
            <a:off x="71818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utline number 06"/>
          <p:cNvSpPr txBox="1"/>
          <p:nvPr/>
        </p:nvSpPr>
        <p:spPr>
          <a:xfrm>
            <a:off x="6496050" y="3981450"/>
            <a:ext cx="552450" cy="285750"/>
          </a:xfrm>
          <a:prstGeom prst="rect">
            <a:avLst/>
          </a:prstGeom>
          <a:noFill/>
        </p:spPr>
        <p:txBody>
          <a:bodyPr wrap="none" lIns="0" tIns="0" rIns="0" bIns="0">
            <a:spAutoFit/>
          </a:bodyPr>
          <a:lstStyle/>
          <a:p>
            <a:pPr algn="l"/>
            <a:r>
              <a:rPr sz="1500" b="1">
                <a:solidFill>
                  <a:srgbClr val="8F1D3A"/>
                </a:solidFill>
                <a:latin typeface="Arial"/>
              </a:rPr>
              <a:t>06</a:t>
            </a:r>
          </a:p>
        </p:txBody>
      </p:sp>
      <p:sp>
        <p:nvSpPr>
          <p:cNvPr id="46" name="Outline item 06"/>
          <p:cNvSpPr txBox="1"/>
          <p:nvPr/>
        </p:nvSpPr>
        <p:spPr>
          <a:xfrm>
            <a:off x="7181850" y="3943350"/>
            <a:ext cx="4191000" cy="400050"/>
          </a:xfrm>
          <a:prstGeom prst="rect">
            <a:avLst/>
          </a:prstGeom>
          <a:noFill/>
        </p:spPr>
        <p:txBody>
          <a:bodyPr wrap="none" lIns="0" tIns="0" rIns="0" bIns="0">
            <a:spAutoFit/>
          </a:bodyPr>
          <a:lstStyle/>
          <a:p>
            <a:pPr algn="l"/>
            <a:r>
              <a:rPr sz="2000" b="1">
                <a:solidFill>
                  <a:srgbClr val="191919"/>
                </a:solidFill>
                <a:latin typeface="Arial"/>
              </a:rPr>
              <a:t>Limitations and Future Work</a:t>
            </a:r>
          </a:p>
        </p:txBody>
      </p:sp>
      <p:sp>
        <p:nvSpPr>
          <p:cNvPr id="47" name="Outline item rule 06"/>
          <p:cNvSpPr/>
          <p:nvPr/>
        </p:nvSpPr>
        <p:spPr>
          <a:xfrm>
            <a:off x="71818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utline research spine"/>
          <p:cNvSpPr/>
          <p:nvPr/>
        </p:nvSpPr>
        <p:spPr>
          <a:xfrm>
            <a:off x="762000" y="1676400"/>
            <a:ext cx="28575" cy="28003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utline spine marker"/>
          <p:cNvSpPr/>
          <p:nvPr/>
        </p:nvSpPr>
        <p:spPr>
          <a:xfrm>
            <a:off x="704850" y="17716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utline spine marker"/>
          <p:cNvSpPr/>
          <p:nvPr/>
        </p:nvSpPr>
        <p:spPr>
          <a:xfrm>
            <a:off x="704850" y="289560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utline spine marker"/>
          <p:cNvSpPr/>
          <p:nvPr/>
        </p:nvSpPr>
        <p:spPr>
          <a:xfrm>
            <a:off x="704850" y="40195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a:solidFill>
                  <a:srgbClr val="FFFFFF"/>
                </a:solidFill>
                <a:latin typeface="Arial"/>
              </a:rPr>
              <a:t>2/24</a:t>
            </a:r>
          </a:p>
        </p:txBody>
      </p:sp>
      <p:sp>
        <p:nvSpPr>
          <p:cNvPr id="53" name="Rectangle 52"/>
          <p:cNvSpPr/>
          <p:nvPr/>
        </p:nvSpPr>
        <p:spPr>
          <a:xfrm>
            <a:off x="6134100" y="1676400"/>
            <a:ext cx="28575" cy="2800350"/>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6076950" y="177165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6076950" y="289560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6076950" y="401955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grpSp>
        <p:nvGrpSpPr>
          <p:cNvPr id="23" name="Group 23"/>
          <p:cNvGrpSpPr/>
          <p:nvPr/>
        </p:nvGrpSpPr>
        <p:grpSpPr>
          <a:xfrm>
            <a:off x="552450" y="1295400"/>
            <a:ext cx="2844241" cy="3257550"/>
            <a:chOff x="552450" y="1104900"/>
            <a:chExt cx="2844241" cy="3257550"/>
          </a:xfrm>
        </p:grpSpPr>
        <p:sp>
          <p:nvSpPr>
            <p:cNvPr id="6" name="Freeform 6"/>
            <p:cNvSpPr/>
            <p:nvPr/>
          </p:nvSpPr>
          <p:spPr>
            <a:xfrm>
              <a:off x="552450" y="1104900"/>
              <a:ext cx="2381250" cy="3257550"/>
            </a:xfrm>
            <a:custGeom>
              <a:avLst/>
              <a:gdLst/>
              <a:ahLst/>
              <a:cxnLst/>
              <a:rect l="l" t="t" r="r" b="b"/>
              <a:pathLst>
                <a:path w="2381250" h="3257550">
                  <a:moveTo>
                    <a:pt x="95250" y="0"/>
                  </a:moveTo>
                  <a:lnTo>
                    <a:pt x="2286000" y="0"/>
                  </a:lnTo>
                  <a:cubicBezTo>
                    <a:pt x="2338605" y="0"/>
                    <a:pt x="2381250" y="42645"/>
                    <a:pt x="2381250" y="95250"/>
                  </a:cubicBezTo>
                  <a:lnTo>
                    <a:pt x="2381250" y="3162300"/>
                  </a:lnTo>
                  <a:cubicBezTo>
                    <a:pt x="2381250" y="3214905"/>
                    <a:pt x="2338605" y="3257550"/>
                    <a:pt x="228600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7" name="Rectangle 7"/>
            <p:cNvSpPr/>
            <p:nvPr/>
          </p:nvSpPr>
          <p:spPr>
            <a:xfrm>
              <a:off x="552450" y="1104900"/>
              <a:ext cx="2381250" cy="476250"/>
            </a:xfrm>
            <a:prstGeom prst="rect">
              <a:avLst/>
            </a:prstGeom>
            <a:solidFill>
              <a:srgbClr val="F8FAFC"/>
            </a:solidFill>
            <a:ln w="9525">
              <a:solidFill>
                <a:srgbClr val="CBD5E1"/>
              </a:solidFill>
            </a:ln>
          </p:spPr>
        </p:sp>
        <p:sp>
          <p:nvSpPr>
            <p:cNvPr id="8" name="TextBox 8"/>
            <p:cNvSpPr txBox="1"/>
            <p:nvPr/>
          </p:nvSpPr>
          <p:spPr>
            <a:xfrm>
              <a:off x="876501" y="1257300"/>
              <a:ext cx="173314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Problem space P</a:t>
              </a:r>
            </a:p>
          </p:txBody>
        </p:sp>
        <p:sp>
          <p:nvSpPr>
            <p:cNvPr id="9" name="TextBox 9"/>
            <p:cNvSpPr txBox="1"/>
            <p:nvPr/>
          </p:nvSpPr>
          <p:spPr>
            <a:xfrm>
              <a:off x="831342" y="1778318"/>
              <a:ext cx="1258614"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numeric array</a:t>
              </a:r>
            </a:p>
          </p:txBody>
        </p:sp>
        <p:sp>
          <p:nvSpPr>
            <p:cNvPr id="10" name="TextBox 10"/>
            <p:cNvSpPr txBox="1"/>
            <p:nvPr/>
          </p:nvSpPr>
          <p:spPr>
            <a:xfrm>
              <a:off x="832485" y="21264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[4, 5, 5, 6, 17, 18,</a:t>
              </a:r>
            </a:p>
          </p:txBody>
        </p:sp>
        <p:sp>
          <p:nvSpPr>
            <p:cNvPr id="11" name="TextBox 11"/>
            <p:cNvSpPr txBox="1"/>
            <p:nvPr/>
          </p:nvSpPr>
          <p:spPr>
            <a:xfrm>
              <a:off x="832485" y="23550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19, 2, 2, 3, 31, 45]</a:t>
              </a:r>
            </a:p>
          </p:txBody>
        </p:sp>
        <p:sp>
          <p:nvSpPr>
            <p:cNvPr id="12" name="Line 12"/>
            <p:cNvSpPr/>
            <p:nvPr/>
          </p:nvSpPr>
          <p:spPr>
            <a:xfrm>
              <a:off x="838200" y="2886075"/>
              <a:ext cx="1809750" cy="9525"/>
            </a:xfrm>
            <a:custGeom>
              <a:avLst/>
              <a:gdLst/>
              <a:ahLst/>
              <a:cxnLst/>
              <a:rect l="l" t="t" r="r" b="b"/>
              <a:pathLst>
                <a:path w="1809750" h="9525">
                  <a:moveTo>
                    <a:pt x="0" y="0"/>
                  </a:moveTo>
                  <a:lnTo>
                    <a:pt x="1809750" y="0"/>
                  </a:lnTo>
                </a:path>
              </a:pathLst>
            </a:custGeom>
            <a:noFill/>
            <a:ln w="9525">
              <a:solidFill>
                <a:srgbClr val="E2E8F0"/>
              </a:solidFill>
            </a:ln>
          </p:spPr>
        </p:sp>
        <p:sp>
          <p:nvSpPr>
            <p:cNvPr id="13" name="Rectangle 13"/>
            <p:cNvSpPr/>
            <p:nvPr/>
          </p:nvSpPr>
          <p:spPr>
            <a:xfrm>
              <a:off x="857250" y="3105150"/>
              <a:ext cx="142875" cy="209550"/>
            </a:xfrm>
            <a:prstGeom prst="rect">
              <a:avLst/>
            </a:prstGeom>
            <a:solidFill>
              <a:srgbClr val="E2E8F0"/>
            </a:solidFill>
            <a:ln>
              <a:noFill/>
            </a:ln>
          </p:spPr>
        </p:sp>
        <p:sp>
          <p:nvSpPr>
            <p:cNvPr id="14" name="Rectangle 14"/>
            <p:cNvSpPr/>
            <p:nvPr/>
          </p:nvSpPr>
          <p:spPr>
            <a:xfrm>
              <a:off x="1066800" y="3067050"/>
              <a:ext cx="142875" cy="247650"/>
            </a:xfrm>
            <a:prstGeom prst="rect">
              <a:avLst/>
            </a:prstGeom>
            <a:solidFill>
              <a:srgbClr val="E2E8F0"/>
            </a:solidFill>
            <a:ln>
              <a:noFill/>
            </a:ln>
          </p:spPr>
        </p:sp>
        <p:sp>
          <p:nvSpPr>
            <p:cNvPr id="15" name="Rectangle 15"/>
            <p:cNvSpPr/>
            <p:nvPr/>
          </p:nvSpPr>
          <p:spPr>
            <a:xfrm>
              <a:off x="1276350" y="3067050"/>
              <a:ext cx="142875" cy="247650"/>
            </a:xfrm>
            <a:prstGeom prst="rect">
              <a:avLst/>
            </a:prstGeom>
            <a:solidFill>
              <a:srgbClr val="E2E8F0"/>
            </a:solidFill>
            <a:ln>
              <a:noFill/>
            </a:ln>
          </p:spPr>
        </p:sp>
        <p:sp>
          <p:nvSpPr>
            <p:cNvPr id="16" name="Rectangle 16"/>
            <p:cNvSpPr/>
            <p:nvPr/>
          </p:nvSpPr>
          <p:spPr>
            <a:xfrm>
              <a:off x="1485900" y="3009900"/>
              <a:ext cx="142875" cy="304800"/>
            </a:xfrm>
            <a:prstGeom prst="rect">
              <a:avLst/>
            </a:prstGeom>
            <a:solidFill>
              <a:srgbClr val="E2E8F0"/>
            </a:solidFill>
            <a:ln>
              <a:noFill/>
            </a:ln>
          </p:spPr>
        </p:sp>
        <p:sp>
          <p:nvSpPr>
            <p:cNvPr id="17" name="Rectangle 17"/>
            <p:cNvSpPr/>
            <p:nvPr/>
          </p:nvSpPr>
          <p:spPr>
            <a:xfrm>
              <a:off x="1695450" y="2571750"/>
              <a:ext cx="142875" cy="742950"/>
            </a:xfrm>
            <a:prstGeom prst="rect">
              <a:avLst/>
            </a:prstGeom>
            <a:solidFill>
              <a:srgbClr val="D97757"/>
            </a:solidFill>
            <a:ln>
              <a:noFill/>
            </a:ln>
          </p:spPr>
        </p:sp>
        <p:sp>
          <p:nvSpPr>
            <p:cNvPr id="18" name="Rectangle 18"/>
            <p:cNvSpPr/>
            <p:nvPr/>
          </p:nvSpPr>
          <p:spPr>
            <a:xfrm>
              <a:off x="1905000" y="2533650"/>
              <a:ext cx="142875" cy="781050"/>
            </a:xfrm>
            <a:prstGeom prst="rect">
              <a:avLst/>
            </a:prstGeom>
            <a:solidFill>
              <a:srgbClr val="D97757"/>
            </a:solidFill>
            <a:ln>
              <a:noFill/>
            </a:ln>
          </p:spPr>
        </p:sp>
        <p:sp>
          <p:nvSpPr>
            <p:cNvPr id="19" name="Rectangle 19"/>
            <p:cNvSpPr/>
            <p:nvPr/>
          </p:nvSpPr>
          <p:spPr>
            <a:xfrm>
              <a:off x="2114550" y="2495550"/>
              <a:ext cx="142875" cy="819150"/>
            </a:xfrm>
            <a:prstGeom prst="rect">
              <a:avLst/>
            </a:prstGeom>
            <a:solidFill>
              <a:srgbClr val="D97757"/>
            </a:solidFill>
            <a:ln>
              <a:noFill/>
            </a:ln>
          </p:spPr>
        </p:sp>
        <p:sp>
          <p:nvSpPr>
            <p:cNvPr id="20" name="Rectangle 20"/>
            <p:cNvSpPr/>
            <p:nvPr/>
          </p:nvSpPr>
          <p:spPr>
            <a:xfrm>
              <a:off x="2324100" y="3219450"/>
              <a:ext cx="142875" cy="95250"/>
            </a:xfrm>
            <a:prstGeom prst="rect">
              <a:avLst/>
            </a:prstGeom>
            <a:solidFill>
              <a:srgbClr val="BA1D2C"/>
            </a:solidFill>
            <a:ln>
              <a:noFill/>
            </a:ln>
          </p:spPr>
        </p:sp>
        <p:sp>
          <p:nvSpPr>
            <p:cNvPr id="21" name="Rectangle 21"/>
            <p:cNvSpPr/>
            <p:nvPr/>
          </p:nvSpPr>
          <p:spPr>
            <a:xfrm>
              <a:off x="2533650" y="3219450"/>
              <a:ext cx="142875" cy="95250"/>
            </a:xfrm>
            <a:prstGeom prst="rect">
              <a:avLst/>
            </a:prstGeom>
            <a:solidFill>
              <a:srgbClr val="BA1D2C"/>
            </a:solidFill>
            <a:ln>
              <a:noFill/>
            </a:ln>
          </p:spPr>
        </p:sp>
        <p:sp>
          <p:nvSpPr>
            <p:cNvPr id="22" name="TextBox 22"/>
            <p:cNvSpPr txBox="1"/>
            <p:nvPr/>
          </p:nvSpPr>
          <p:spPr>
            <a:xfrm>
              <a:off x="832104" y="3680460"/>
              <a:ext cx="2564587"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order, runs, duplicates, spread</a:t>
              </a:r>
            </a:p>
          </p:txBody>
        </p:sp>
      </p:grpSp>
      <p:grpSp>
        <p:nvGrpSpPr>
          <p:cNvPr id="39" name="Group 39"/>
          <p:cNvGrpSpPr/>
          <p:nvPr/>
        </p:nvGrpSpPr>
        <p:grpSpPr>
          <a:xfrm>
            <a:off x="3524250" y="1295400"/>
            <a:ext cx="2655189" cy="3257550"/>
            <a:chOff x="3524250" y="1104900"/>
            <a:chExt cx="2655189" cy="3257550"/>
          </a:xfrm>
        </p:grpSpPr>
        <p:sp>
          <p:nvSpPr>
            <p:cNvPr id="24" name="Freeform 24"/>
            <p:cNvSpPr/>
            <p:nvPr/>
          </p:nvSpPr>
          <p:spPr>
            <a:xfrm>
              <a:off x="3524250" y="1104900"/>
              <a:ext cx="2476500" cy="3257550"/>
            </a:xfrm>
            <a:custGeom>
              <a:avLst/>
              <a:gdLst/>
              <a:ahLst/>
              <a:cxnLst/>
              <a:rect l="l" t="t" r="r" b="b"/>
              <a:pathLst>
                <a:path w="2476500" h="3257550">
                  <a:moveTo>
                    <a:pt x="95250" y="0"/>
                  </a:moveTo>
                  <a:lnTo>
                    <a:pt x="2381250" y="0"/>
                  </a:lnTo>
                  <a:cubicBezTo>
                    <a:pt x="2433855" y="0"/>
                    <a:pt x="2476500" y="42645"/>
                    <a:pt x="2476500" y="95250"/>
                  </a:cubicBezTo>
                  <a:lnTo>
                    <a:pt x="2476500" y="3162300"/>
                  </a:lnTo>
                  <a:cubicBezTo>
                    <a:pt x="2476500" y="3214905"/>
                    <a:pt x="2433855" y="3257550"/>
                    <a:pt x="23812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25" name="Rectangle 25"/>
            <p:cNvSpPr/>
            <p:nvPr/>
          </p:nvSpPr>
          <p:spPr>
            <a:xfrm>
              <a:off x="3524250" y="1104900"/>
              <a:ext cx="2476500" cy="476250"/>
            </a:xfrm>
            <a:prstGeom prst="rect">
              <a:avLst/>
            </a:prstGeom>
            <a:solidFill>
              <a:srgbClr val="F8FAFC"/>
            </a:solidFill>
            <a:ln w="9525">
              <a:solidFill>
                <a:srgbClr val="CBD5E1"/>
              </a:solidFill>
            </a:ln>
          </p:spPr>
        </p:sp>
        <p:sp>
          <p:nvSpPr>
            <p:cNvPr id="26" name="TextBox 26"/>
            <p:cNvSpPr txBox="1"/>
            <p:nvPr/>
          </p:nvSpPr>
          <p:spPr>
            <a:xfrm>
              <a:off x="3890349" y="1257300"/>
              <a:ext cx="1744302"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Feature space F</a:t>
              </a:r>
            </a:p>
          </p:txBody>
        </p:sp>
        <p:sp>
          <p:nvSpPr>
            <p:cNvPr id="27" name="TextBox 27"/>
            <p:cNvSpPr txBox="1"/>
            <p:nvPr/>
          </p:nvSpPr>
          <p:spPr>
            <a:xfrm>
              <a:off x="3803142" y="1778318"/>
              <a:ext cx="2376297"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structural array features</a:t>
              </a:r>
            </a:p>
          </p:txBody>
        </p:sp>
        <p:sp>
          <p:nvSpPr>
            <p:cNvPr id="28" name="Rectangle 28"/>
            <p:cNvSpPr/>
            <p:nvPr/>
          </p:nvSpPr>
          <p:spPr>
            <a:xfrm>
              <a:off x="3810000" y="2209800"/>
              <a:ext cx="1905000" cy="1524000"/>
            </a:xfrm>
            <a:prstGeom prst="rect">
              <a:avLst/>
            </a:prstGeom>
            <a:solidFill>
              <a:srgbClr val="FFFFFF"/>
            </a:solidFill>
            <a:ln w="9525">
              <a:solidFill>
                <a:srgbClr val="E2E8F0"/>
              </a:solidFill>
            </a:ln>
          </p:spPr>
        </p:sp>
        <p:sp>
          <p:nvSpPr>
            <p:cNvPr id="29" name="Line 29"/>
            <p:cNvSpPr/>
            <p:nvPr/>
          </p:nvSpPr>
          <p:spPr>
            <a:xfrm>
              <a:off x="3810000" y="25146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0" name="Line 30"/>
            <p:cNvSpPr/>
            <p:nvPr/>
          </p:nvSpPr>
          <p:spPr>
            <a:xfrm>
              <a:off x="3810000" y="28194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1" name="Line 31"/>
            <p:cNvSpPr/>
            <p:nvPr/>
          </p:nvSpPr>
          <p:spPr>
            <a:xfrm>
              <a:off x="3810000" y="31242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2" name="Line 32"/>
            <p:cNvSpPr/>
            <p:nvPr/>
          </p:nvSpPr>
          <p:spPr>
            <a:xfrm>
              <a:off x="3810000" y="34290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3" name="TextBox 33"/>
            <p:cNvSpPr txBox="1"/>
            <p:nvPr/>
          </p:nvSpPr>
          <p:spPr>
            <a:xfrm>
              <a:off x="3975735" y="2297906"/>
              <a:ext cx="30675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size</a:t>
              </a:r>
            </a:p>
          </p:txBody>
        </p:sp>
        <p:sp>
          <p:nvSpPr>
            <p:cNvPr id="34" name="TextBox 34"/>
            <p:cNvSpPr txBox="1"/>
            <p:nvPr/>
          </p:nvSpPr>
          <p:spPr>
            <a:xfrm>
              <a:off x="3975735" y="2602706"/>
              <a:ext cx="164706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sortedness / disorder</a:t>
              </a:r>
            </a:p>
          </p:txBody>
        </p:sp>
        <p:sp>
          <p:nvSpPr>
            <p:cNvPr id="35" name="TextBox 35"/>
            <p:cNvSpPr txBox="1"/>
            <p:nvPr/>
          </p:nvSpPr>
          <p:spPr>
            <a:xfrm>
              <a:off x="3975735" y="2907506"/>
              <a:ext cx="34461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runs</a:t>
              </a:r>
            </a:p>
          </p:txBody>
        </p:sp>
        <p:sp>
          <p:nvSpPr>
            <p:cNvPr id="36" name="TextBox 36"/>
            <p:cNvSpPr txBox="1"/>
            <p:nvPr/>
          </p:nvSpPr>
          <p:spPr>
            <a:xfrm>
              <a:off x="3975735" y="3212306"/>
              <a:ext cx="152590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duplicates / entropy</a:t>
              </a:r>
            </a:p>
          </p:txBody>
        </p:sp>
        <p:sp>
          <p:nvSpPr>
            <p:cNvPr id="37" name="TextBox 37"/>
            <p:cNvSpPr txBox="1"/>
            <p:nvPr/>
          </p:nvSpPr>
          <p:spPr>
            <a:xfrm>
              <a:off x="3975735" y="3517106"/>
              <a:ext cx="1276017"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spread / outliers</a:t>
              </a:r>
            </a:p>
          </p:txBody>
        </p:sp>
        <p:sp>
          <p:nvSpPr>
            <p:cNvPr id="38" name="TextBox 38"/>
            <p:cNvSpPr txBox="1"/>
            <p:nvPr/>
          </p:nvSpPr>
          <p:spPr>
            <a:xfrm>
              <a:off x="4341076" y="3911918"/>
              <a:ext cx="842848" cy="264033"/>
            </a:xfrm>
            <a:prstGeom prst="rect">
              <a:avLst/>
            </a:prstGeom>
            <a:noFill/>
            <a:ln>
              <a:noFill/>
            </a:ln>
          </p:spPr>
          <p:txBody>
            <a:bodyPr wrap="none" lIns="0" tIns="0" rIns="0" bIns="0" anchor="t" anchorCtr="0">
              <a:spAutoFit/>
            </a:bodyPr>
            <a:lstStyle/>
            <a:p>
              <a:pPr algn="ctr"/>
              <a:r>
                <a:rPr lang="en-US" sz="1350" dirty="0">
                  <a:solidFill>
                    <a:srgbClr val="8F1D3A"/>
                  </a:solidFill>
                  <a:latin typeface="Consolas"/>
                  <a:ea typeface="Consolas"/>
                  <a:cs typeface="Consolas"/>
                </a:rPr>
                <a:t>x ∈ R^16</a:t>
              </a:r>
            </a:p>
          </p:txBody>
        </p:sp>
      </p:grpSp>
      <p:grpSp>
        <p:nvGrpSpPr>
          <p:cNvPr id="46" name="Group 46"/>
          <p:cNvGrpSpPr/>
          <p:nvPr/>
        </p:nvGrpSpPr>
        <p:grpSpPr>
          <a:xfrm>
            <a:off x="6496050" y="1543050"/>
            <a:ext cx="2190750" cy="2762250"/>
            <a:chOff x="6496050" y="1352550"/>
            <a:chExt cx="2190750" cy="2762250"/>
          </a:xfrm>
        </p:grpSpPr>
        <p:sp>
          <p:nvSpPr>
            <p:cNvPr id="40" name="Freeform 40"/>
            <p:cNvSpPr/>
            <p:nvPr/>
          </p:nvSpPr>
          <p:spPr>
            <a:xfrm>
              <a:off x="6496050" y="1352550"/>
              <a:ext cx="2190750" cy="2762250"/>
            </a:xfrm>
            <a:custGeom>
              <a:avLst/>
              <a:gdLst/>
              <a:ahLst/>
              <a:cxnLst/>
              <a:rect l="l" t="t" r="r" b="b"/>
              <a:pathLst>
                <a:path w="2190750" h="2762250">
                  <a:moveTo>
                    <a:pt x="114300" y="0"/>
                  </a:moveTo>
                  <a:lnTo>
                    <a:pt x="2076450" y="0"/>
                  </a:lnTo>
                  <a:cubicBezTo>
                    <a:pt x="2139576" y="0"/>
                    <a:pt x="2190750" y="51174"/>
                    <a:pt x="2190750" y="114300"/>
                  </a:cubicBezTo>
                  <a:lnTo>
                    <a:pt x="2190750" y="2647950"/>
                  </a:lnTo>
                  <a:cubicBezTo>
                    <a:pt x="2190750" y="2711076"/>
                    <a:pt x="2139576" y="2762250"/>
                    <a:pt x="2076450" y="2762250"/>
                  </a:cubicBezTo>
                  <a:lnTo>
                    <a:pt x="114300" y="2762250"/>
                  </a:lnTo>
                  <a:cubicBezTo>
                    <a:pt x="51174" y="2762250"/>
                    <a:pt x="0" y="2711076"/>
                    <a:pt x="0" y="2647950"/>
                  </a:cubicBezTo>
                  <a:lnTo>
                    <a:pt x="0" y="114300"/>
                  </a:lnTo>
                  <a:cubicBezTo>
                    <a:pt x="0" y="51174"/>
                    <a:pt x="51174" y="0"/>
                    <a:pt x="114300" y="0"/>
                  </a:cubicBezTo>
                  <a:close/>
                </a:path>
              </a:pathLst>
            </a:custGeom>
            <a:solidFill>
              <a:srgbClr val="F8FAFC"/>
            </a:solidFill>
            <a:ln w="12700">
              <a:solidFill>
                <a:srgbClr val="DBE4EF"/>
              </a:solidFill>
            </a:ln>
          </p:spPr>
        </p:sp>
        <p:sp>
          <p:nvSpPr>
            <p:cNvPr id="41" name="TextBox 41"/>
            <p:cNvSpPr txBox="1"/>
            <p:nvPr/>
          </p:nvSpPr>
          <p:spPr>
            <a:xfrm>
              <a:off x="7008610" y="1750219"/>
              <a:ext cx="1165631" cy="366712"/>
            </a:xfrm>
            <a:prstGeom prst="rect">
              <a:avLst/>
            </a:prstGeom>
            <a:noFill/>
            <a:ln>
              <a:noFill/>
            </a:ln>
          </p:spPr>
          <p:txBody>
            <a:bodyPr wrap="none" lIns="0" tIns="0" rIns="0" bIns="0" anchor="t" anchorCtr="0">
              <a:spAutoFit/>
            </a:bodyPr>
            <a:lstStyle/>
            <a:p>
              <a:pPr algn="ctr"/>
              <a:r>
                <a:rPr lang="en-US" sz="1880" b="1" dirty="0">
                  <a:solidFill>
                    <a:srgbClr val="1B1B1D"/>
                  </a:solidFill>
                  <a:latin typeface="Anthropic Sans"/>
                  <a:ea typeface="Anthropic Sans"/>
                  <a:cs typeface="Anthropic Sans"/>
                </a:rPr>
                <a:t>Selector</a:t>
              </a:r>
            </a:p>
          </p:txBody>
        </p:sp>
        <p:sp>
          <p:nvSpPr>
            <p:cNvPr id="42" name="TextBox 42"/>
            <p:cNvSpPr txBox="1"/>
            <p:nvPr/>
          </p:nvSpPr>
          <p:spPr>
            <a:xfrm>
              <a:off x="6995360" y="2174558"/>
              <a:ext cx="1192130" cy="322707"/>
            </a:xfrm>
            <a:prstGeom prst="rect">
              <a:avLst/>
            </a:prstGeom>
            <a:noFill/>
            <a:ln>
              <a:noFill/>
            </a:ln>
          </p:spPr>
          <p:txBody>
            <a:bodyPr wrap="none" lIns="0" tIns="0" rIns="0" bIns="0" anchor="t" anchorCtr="0">
              <a:spAutoFit/>
            </a:bodyPr>
            <a:lstStyle/>
            <a:p>
              <a:pPr algn="ctr"/>
              <a:r>
                <a:rPr lang="en-US" sz="1650" dirty="0">
                  <a:solidFill>
                    <a:srgbClr val="9A173D"/>
                  </a:solidFill>
                  <a:latin typeface="Consolas"/>
                  <a:ea typeface="Consolas"/>
                  <a:cs typeface="Consolas"/>
                </a:rPr>
                <a:t>S : F → A</a:t>
              </a:r>
            </a:p>
          </p:txBody>
        </p:sp>
        <p:sp>
          <p:nvSpPr>
            <p:cNvPr id="43" name="Line 43"/>
            <p:cNvSpPr/>
            <p:nvPr/>
          </p:nvSpPr>
          <p:spPr>
            <a:xfrm>
              <a:off x="6934200" y="2724150"/>
              <a:ext cx="1314450" cy="9525"/>
            </a:xfrm>
            <a:custGeom>
              <a:avLst/>
              <a:gdLst/>
              <a:ahLst/>
              <a:cxnLst/>
              <a:rect l="l" t="t" r="r" b="b"/>
              <a:pathLst>
                <a:path w="1314450" h="9525">
                  <a:moveTo>
                    <a:pt x="0" y="0"/>
                  </a:moveTo>
                  <a:lnTo>
                    <a:pt x="1314450" y="0"/>
                  </a:lnTo>
                </a:path>
              </a:pathLst>
            </a:custGeom>
            <a:noFill/>
            <a:ln w="9525">
              <a:solidFill>
                <a:srgbClr val="64748B"/>
              </a:solidFill>
            </a:ln>
          </p:spPr>
        </p:sp>
        <p:sp>
          <p:nvSpPr>
            <p:cNvPr id="44" name="TextBox 44"/>
            <p:cNvSpPr txBox="1"/>
            <p:nvPr/>
          </p:nvSpPr>
          <p:spPr>
            <a:xfrm>
              <a:off x="6634123" y="2989421"/>
              <a:ext cx="1914604" cy="278702"/>
            </a:xfrm>
            <a:prstGeom prst="rect">
              <a:avLst/>
            </a:prstGeom>
            <a:noFill/>
            <a:ln>
              <a:noFill/>
            </a:ln>
          </p:spPr>
          <p:txBody>
            <a:bodyPr wrap="none" lIns="0" tIns="0" rIns="0" bIns="0" anchor="t" anchorCtr="0">
              <a:spAutoFit/>
            </a:bodyPr>
            <a:lstStyle/>
            <a:p>
              <a:pPr algn="ctr"/>
              <a:r>
                <a:rPr lang="en-US" sz="1420" b="1" dirty="0">
                  <a:solidFill>
                    <a:srgbClr val="1B1B1D"/>
                  </a:solidFill>
                  <a:latin typeface="Anthropic Sans"/>
                  <a:ea typeface="Anthropic Sans"/>
                  <a:cs typeface="Anthropic Sans"/>
                </a:rPr>
                <a:t>XGBoost classifier</a:t>
              </a:r>
            </a:p>
          </p:txBody>
        </p:sp>
        <p:sp>
          <p:nvSpPr>
            <p:cNvPr id="45" name="TextBox 45"/>
            <p:cNvSpPr txBox="1"/>
            <p:nvPr/>
          </p:nvSpPr>
          <p:spPr>
            <a:xfrm>
              <a:off x="6733184" y="3318510"/>
              <a:ext cx="1716481" cy="234696"/>
            </a:xfrm>
            <a:prstGeom prst="rect">
              <a:avLst/>
            </a:prstGeom>
            <a:noFill/>
            <a:ln>
              <a:noFill/>
            </a:ln>
          </p:spPr>
          <p:txBody>
            <a:bodyPr wrap="none" lIns="0" tIns="0" rIns="0" bIns="0" anchor="t" anchorCtr="0">
              <a:spAutoFit/>
            </a:bodyPr>
            <a:lstStyle/>
            <a:p>
              <a:pPr algn="ctr"/>
              <a:r>
                <a:rPr lang="en-US" sz="1200" dirty="0">
                  <a:solidFill>
                    <a:srgbClr val="526278"/>
                  </a:solidFill>
                  <a:latin typeface="Anthropic Sans"/>
                  <a:ea typeface="Anthropic Sans"/>
                  <a:cs typeface="Anthropic Sans"/>
                </a:rPr>
                <a:t>predict fastest class</a:t>
              </a:r>
            </a:p>
          </p:txBody>
        </p:sp>
      </p:grpSp>
      <p:grpSp>
        <p:nvGrpSpPr>
          <p:cNvPr id="56" name="Group 56"/>
          <p:cNvGrpSpPr/>
          <p:nvPr/>
        </p:nvGrpSpPr>
        <p:grpSpPr>
          <a:xfrm>
            <a:off x="9201150" y="1295400"/>
            <a:ext cx="2438400" cy="3257550"/>
            <a:chOff x="9201150" y="1104900"/>
            <a:chExt cx="2438400" cy="3257550"/>
          </a:xfrm>
        </p:grpSpPr>
        <p:sp>
          <p:nvSpPr>
            <p:cNvPr id="47" name="Freeform 47"/>
            <p:cNvSpPr/>
            <p:nvPr/>
          </p:nvSpPr>
          <p:spPr>
            <a:xfrm>
              <a:off x="9201150" y="1104900"/>
              <a:ext cx="2438400" cy="3257550"/>
            </a:xfrm>
            <a:custGeom>
              <a:avLst/>
              <a:gdLst/>
              <a:ahLst/>
              <a:cxnLst/>
              <a:rect l="l" t="t" r="r" b="b"/>
              <a:pathLst>
                <a:path w="2438400" h="3257550">
                  <a:moveTo>
                    <a:pt x="95250" y="0"/>
                  </a:moveTo>
                  <a:lnTo>
                    <a:pt x="2343150" y="0"/>
                  </a:lnTo>
                  <a:cubicBezTo>
                    <a:pt x="2395755" y="0"/>
                    <a:pt x="2438400" y="42645"/>
                    <a:pt x="2438400" y="95250"/>
                  </a:cubicBezTo>
                  <a:lnTo>
                    <a:pt x="2438400" y="3162300"/>
                  </a:lnTo>
                  <a:cubicBezTo>
                    <a:pt x="2438400" y="3214905"/>
                    <a:pt x="2395755" y="3257550"/>
                    <a:pt x="23431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48" name="Rectangle 48"/>
            <p:cNvSpPr/>
            <p:nvPr/>
          </p:nvSpPr>
          <p:spPr>
            <a:xfrm>
              <a:off x="9201150" y="1104900"/>
              <a:ext cx="2438400" cy="476250"/>
            </a:xfrm>
            <a:prstGeom prst="rect">
              <a:avLst/>
            </a:prstGeom>
            <a:solidFill>
              <a:srgbClr val="F8FAFC"/>
            </a:solidFill>
            <a:ln w="9525">
              <a:solidFill>
                <a:srgbClr val="CBD5E1"/>
              </a:solidFill>
            </a:ln>
          </p:spPr>
        </p:sp>
        <p:sp>
          <p:nvSpPr>
            <p:cNvPr id="49" name="TextBox 49"/>
            <p:cNvSpPr txBox="1"/>
            <p:nvPr/>
          </p:nvSpPr>
          <p:spPr>
            <a:xfrm>
              <a:off x="9465272" y="1257300"/>
              <a:ext cx="191015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Algorithm space A</a:t>
              </a:r>
            </a:p>
          </p:txBody>
        </p:sp>
        <p:sp>
          <p:nvSpPr>
            <p:cNvPr id="50" name="Freeform 50"/>
            <p:cNvSpPr/>
            <p:nvPr/>
          </p:nvSpPr>
          <p:spPr>
            <a:xfrm>
              <a:off x="9544050" y="20764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8F1D3A"/>
              </a:solidFill>
            </a:ln>
          </p:spPr>
        </p:sp>
        <p:sp>
          <p:nvSpPr>
            <p:cNvPr id="51" name="TextBox 51"/>
            <p:cNvSpPr txBox="1"/>
            <p:nvPr/>
          </p:nvSpPr>
          <p:spPr>
            <a:xfrm>
              <a:off x="9948134" y="2216468"/>
              <a:ext cx="944432"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Introsort</a:t>
              </a:r>
            </a:p>
          </p:txBody>
        </p:sp>
        <p:sp>
          <p:nvSpPr>
            <p:cNvPr id="52" name="Freeform 52"/>
            <p:cNvSpPr/>
            <p:nvPr/>
          </p:nvSpPr>
          <p:spPr>
            <a:xfrm>
              <a:off x="9544050" y="278130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BA1D2C"/>
              </a:solidFill>
            </a:ln>
          </p:spPr>
        </p:sp>
        <p:sp>
          <p:nvSpPr>
            <p:cNvPr id="53" name="TextBox 53"/>
            <p:cNvSpPr txBox="1"/>
            <p:nvPr/>
          </p:nvSpPr>
          <p:spPr>
            <a:xfrm>
              <a:off x="9975857" y="2921318"/>
              <a:ext cx="888985"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Heapsort</a:t>
              </a:r>
            </a:p>
          </p:txBody>
        </p:sp>
        <p:sp>
          <p:nvSpPr>
            <p:cNvPr id="54" name="Freeform 54"/>
            <p:cNvSpPr/>
            <p:nvPr/>
          </p:nvSpPr>
          <p:spPr>
            <a:xfrm>
              <a:off x="9544050" y="34861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4511E"/>
            </a:solidFill>
            <a:ln>
              <a:noFill/>
            </a:ln>
          </p:spPr>
        </p:sp>
        <p:sp>
          <p:nvSpPr>
            <p:cNvPr id="55" name="TextBox 55"/>
            <p:cNvSpPr txBox="1"/>
            <p:nvPr/>
          </p:nvSpPr>
          <p:spPr>
            <a:xfrm>
              <a:off x="10033336" y="3626168"/>
              <a:ext cx="774028"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Anthropic Sans"/>
                  <a:ea typeface="Anthropic Sans"/>
                  <a:cs typeface="Anthropic Sans"/>
                </a:rPr>
                <a:t>Timsort</a:t>
              </a:r>
            </a:p>
          </p:txBody>
        </p:sp>
      </p:grpSp>
      <p:grpSp>
        <p:nvGrpSpPr>
          <p:cNvPr id="63" name="Group 63"/>
          <p:cNvGrpSpPr/>
          <p:nvPr/>
        </p:nvGrpSpPr>
        <p:grpSpPr>
          <a:xfrm>
            <a:off x="2933700" y="2819400"/>
            <a:ext cx="6267450" cy="209550"/>
            <a:chOff x="2933700" y="2628900"/>
            <a:chExt cx="6267450" cy="209550"/>
          </a:xfrm>
        </p:grpSpPr>
        <p:sp>
          <p:nvSpPr>
            <p:cNvPr id="57" name="Freeform 57"/>
            <p:cNvSpPr/>
            <p:nvPr/>
          </p:nvSpPr>
          <p:spPr>
            <a:xfrm>
              <a:off x="2933700" y="2733675"/>
              <a:ext cx="590550" cy="9525"/>
            </a:xfrm>
            <a:custGeom>
              <a:avLst/>
              <a:gdLst/>
              <a:ahLst/>
              <a:cxnLst/>
              <a:rect l="l" t="t" r="r" b="b"/>
              <a:pathLst>
                <a:path w="590550" h="9525">
                  <a:moveTo>
                    <a:pt x="0" y="0"/>
                  </a:moveTo>
                  <a:lnTo>
                    <a:pt x="590550" y="0"/>
                  </a:lnTo>
                </a:path>
              </a:pathLst>
            </a:custGeom>
            <a:solidFill>
              <a:srgbClr val="000000"/>
            </a:solidFill>
            <a:ln w="38100">
              <a:solidFill>
                <a:srgbClr val="D97757"/>
              </a:solidFill>
            </a:ln>
          </p:spPr>
        </p:sp>
        <p:sp>
          <p:nvSpPr>
            <p:cNvPr id="58" name="Freeform 58"/>
            <p:cNvSpPr/>
            <p:nvPr/>
          </p:nvSpPr>
          <p:spPr>
            <a:xfrm>
              <a:off x="33528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59" name="Freeform 59"/>
            <p:cNvSpPr/>
            <p:nvPr/>
          </p:nvSpPr>
          <p:spPr>
            <a:xfrm>
              <a:off x="6000750" y="2733675"/>
              <a:ext cx="495300" cy="9525"/>
            </a:xfrm>
            <a:custGeom>
              <a:avLst/>
              <a:gdLst/>
              <a:ahLst/>
              <a:cxnLst/>
              <a:rect l="l" t="t" r="r" b="b"/>
              <a:pathLst>
                <a:path w="495300" h="9525">
                  <a:moveTo>
                    <a:pt x="0" y="0"/>
                  </a:moveTo>
                  <a:lnTo>
                    <a:pt x="495300" y="0"/>
                  </a:lnTo>
                </a:path>
              </a:pathLst>
            </a:custGeom>
            <a:solidFill>
              <a:srgbClr val="000000"/>
            </a:solidFill>
            <a:ln w="38100">
              <a:solidFill>
                <a:srgbClr val="D97757"/>
              </a:solidFill>
            </a:ln>
          </p:spPr>
        </p:sp>
        <p:sp>
          <p:nvSpPr>
            <p:cNvPr id="60" name="Freeform 60"/>
            <p:cNvSpPr/>
            <p:nvPr/>
          </p:nvSpPr>
          <p:spPr>
            <a:xfrm>
              <a:off x="63246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61" name="Freeform 61"/>
            <p:cNvSpPr/>
            <p:nvPr/>
          </p:nvSpPr>
          <p:spPr>
            <a:xfrm>
              <a:off x="8686800" y="2733675"/>
              <a:ext cx="514350" cy="9525"/>
            </a:xfrm>
            <a:custGeom>
              <a:avLst/>
              <a:gdLst/>
              <a:ahLst/>
              <a:cxnLst/>
              <a:rect l="l" t="t" r="r" b="b"/>
              <a:pathLst>
                <a:path w="514350" h="9525">
                  <a:moveTo>
                    <a:pt x="0" y="0"/>
                  </a:moveTo>
                  <a:lnTo>
                    <a:pt x="514350" y="0"/>
                  </a:lnTo>
                </a:path>
              </a:pathLst>
            </a:custGeom>
            <a:solidFill>
              <a:srgbClr val="000000"/>
            </a:solidFill>
            <a:ln w="38100">
              <a:solidFill>
                <a:srgbClr val="D97757"/>
              </a:solidFill>
            </a:ln>
          </p:spPr>
        </p:sp>
        <p:sp>
          <p:nvSpPr>
            <p:cNvPr id="62" name="Freeform 62"/>
            <p:cNvSpPr/>
            <p:nvPr/>
          </p:nvSpPr>
          <p:spPr>
            <a:xfrm>
              <a:off x="90297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grpSp>
      <p:grpSp>
        <p:nvGrpSpPr>
          <p:cNvPr id="79" name="Group 79"/>
          <p:cNvGrpSpPr/>
          <p:nvPr/>
        </p:nvGrpSpPr>
        <p:grpSpPr>
          <a:xfrm>
            <a:off x="1866900" y="4552950"/>
            <a:ext cx="8553450" cy="1847850"/>
            <a:chOff x="1866900" y="4362450"/>
            <a:chExt cx="8553450" cy="1847850"/>
          </a:xfrm>
        </p:grpSpPr>
        <p:sp>
          <p:nvSpPr>
            <p:cNvPr id="64" name="Freeform 64"/>
            <p:cNvSpPr/>
            <p:nvPr/>
          </p:nvSpPr>
          <p:spPr>
            <a:xfrm>
              <a:off x="1866900" y="5029200"/>
              <a:ext cx="8458200" cy="1181100"/>
            </a:xfrm>
            <a:custGeom>
              <a:avLst/>
              <a:gdLst/>
              <a:ahLst/>
              <a:cxnLst/>
              <a:rect l="l" t="t" r="r" b="b"/>
              <a:pathLst>
                <a:path w="8458200" h="1181100">
                  <a:moveTo>
                    <a:pt x="114300" y="0"/>
                  </a:moveTo>
                  <a:lnTo>
                    <a:pt x="8343900" y="0"/>
                  </a:lnTo>
                  <a:cubicBezTo>
                    <a:pt x="8407026" y="0"/>
                    <a:pt x="8458200" y="51174"/>
                    <a:pt x="8458200" y="114300"/>
                  </a:cubicBezTo>
                  <a:lnTo>
                    <a:pt x="8458200" y="1066800"/>
                  </a:lnTo>
                  <a:cubicBezTo>
                    <a:pt x="8458200" y="1129926"/>
                    <a:pt x="8407026" y="1181100"/>
                    <a:pt x="8343900" y="1181100"/>
                  </a:cubicBezTo>
                  <a:lnTo>
                    <a:pt x="114300" y="1181100"/>
                  </a:lnTo>
                  <a:cubicBezTo>
                    <a:pt x="51174" y="1181100"/>
                    <a:pt x="0" y="1129926"/>
                    <a:pt x="0" y="1066800"/>
                  </a:cubicBezTo>
                  <a:lnTo>
                    <a:pt x="0" y="114300"/>
                  </a:lnTo>
                  <a:cubicBezTo>
                    <a:pt x="0" y="51174"/>
                    <a:pt x="51174" y="0"/>
                    <a:pt x="114300" y="0"/>
                  </a:cubicBezTo>
                  <a:close/>
                </a:path>
              </a:pathLst>
            </a:custGeom>
            <a:solidFill>
              <a:srgbClr val="F8FAFC"/>
            </a:solidFill>
            <a:ln w="9525">
              <a:solidFill>
                <a:srgbClr val="CBD5E1"/>
              </a:solidFill>
            </a:ln>
          </p:spPr>
        </p:sp>
        <p:sp>
          <p:nvSpPr>
            <p:cNvPr id="65" name="TextBox 65"/>
            <p:cNvSpPr txBox="1"/>
            <p:nvPr/>
          </p:nvSpPr>
          <p:spPr>
            <a:xfrm>
              <a:off x="2183130" y="5248275"/>
              <a:ext cx="2253296" cy="293370"/>
            </a:xfrm>
            <a:prstGeom prst="rect">
              <a:avLst/>
            </a:prstGeom>
            <a:noFill/>
            <a:ln>
              <a:noFill/>
            </a:ln>
          </p:spPr>
          <p:txBody>
            <a:bodyPr wrap="none" lIns="0" tIns="0" rIns="0" bIns="0" anchor="t" anchorCtr="0">
              <a:spAutoFit/>
            </a:bodyPr>
            <a:lstStyle/>
            <a:p>
              <a:pPr algn="l"/>
              <a:r>
                <a:rPr lang="en-US" sz="1500" b="1" dirty="0">
                  <a:solidFill>
                    <a:srgbClr val="191919"/>
                  </a:solidFill>
                  <a:latin typeface="Anthropic Sans"/>
                  <a:ea typeface="Anthropic Sans"/>
                  <a:cs typeface="Anthropic Sans"/>
                </a:rPr>
                <a:t>Performance space Y</a:t>
              </a:r>
            </a:p>
          </p:txBody>
        </p:sp>
        <p:sp>
          <p:nvSpPr>
            <p:cNvPr id="66" name="TextBox 66"/>
            <p:cNvSpPr txBox="1"/>
            <p:nvPr/>
          </p:nvSpPr>
          <p:spPr>
            <a:xfrm>
              <a:off x="2184273" y="5586889"/>
              <a:ext cx="2407339" cy="249364"/>
            </a:xfrm>
            <a:prstGeom prst="rect">
              <a:avLst/>
            </a:prstGeom>
            <a:noFill/>
            <a:ln>
              <a:noFill/>
            </a:ln>
          </p:spPr>
          <p:txBody>
            <a:bodyPr wrap="none" lIns="0" tIns="0" rIns="0" bIns="0" anchor="t" anchorCtr="0">
              <a:spAutoFit/>
            </a:bodyPr>
            <a:lstStyle/>
            <a:p>
              <a:pPr algn="l"/>
              <a:r>
                <a:rPr lang="en-US" sz="1280" dirty="0">
                  <a:solidFill>
                    <a:srgbClr val="64748B"/>
                  </a:solidFill>
                  <a:latin typeface="Anthropic Sans"/>
                  <a:ea typeface="Anthropic Sans"/>
                  <a:cs typeface="Anthropic Sans"/>
                </a:rPr>
                <a:t>label from measured runtime</a:t>
              </a:r>
            </a:p>
          </p:txBody>
        </p:sp>
        <p:sp>
          <p:nvSpPr>
            <p:cNvPr id="67" name="TextBox 67"/>
            <p:cNvSpPr txBox="1"/>
            <p:nvPr/>
          </p:nvSpPr>
          <p:spPr>
            <a:xfrm>
              <a:off x="2184273" y="5882164"/>
              <a:ext cx="2344229" cy="249364"/>
            </a:xfrm>
            <a:prstGeom prst="rect">
              <a:avLst/>
            </a:prstGeom>
            <a:noFill/>
            <a:ln>
              <a:noFill/>
            </a:ln>
          </p:spPr>
          <p:txBody>
            <a:bodyPr wrap="none" lIns="0" tIns="0" rIns="0" bIns="0" anchor="t" anchorCtr="0">
              <a:spAutoFit/>
            </a:bodyPr>
            <a:lstStyle/>
            <a:p>
              <a:pPr algn="l"/>
              <a:r>
                <a:rPr lang="en-US" sz="1280" dirty="0">
                  <a:solidFill>
                    <a:srgbClr val="191919"/>
                  </a:solidFill>
                  <a:latin typeface="Consolas"/>
                  <a:ea typeface="Consolas"/>
                  <a:cs typeface="Consolas"/>
                </a:rPr>
                <a:t>label(x) = argmin_a T(a, x)</a:t>
              </a:r>
            </a:p>
          </p:txBody>
        </p:sp>
        <p:sp>
          <p:nvSpPr>
            <p:cNvPr id="68" name="Rectangle 68"/>
            <p:cNvSpPr/>
            <p:nvPr/>
          </p:nvSpPr>
          <p:spPr>
            <a:xfrm>
              <a:off x="6572250" y="5295900"/>
              <a:ext cx="3124200" cy="666750"/>
            </a:xfrm>
            <a:prstGeom prst="rect">
              <a:avLst/>
            </a:prstGeom>
            <a:solidFill>
              <a:srgbClr val="FFFFFF"/>
            </a:solidFill>
            <a:ln w="9525">
              <a:solidFill>
                <a:srgbClr val="E2E8F0"/>
              </a:solidFill>
            </a:ln>
          </p:spPr>
        </p:sp>
        <p:sp>
          <p:nvSpPr>
            <p:cNvPr id="69" name="Line 69"/>
            <p:cNvSpPr/>
            <p:nvPr/>
          </p:nvSpPr>
          <p:spPr>
            <a:xfrm>
              <a:off x="762000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0" name="Line 70"/>
            <p:cNvSpPr/>
            <p:nvPr/>
          </p:nvSpPr>
          <p:spPr>
            <a:xfrm>
              <a:off x="866775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1" name="TextBox 71"/>
            <p:cNvSpPr txBox="1"/>
            <p:nvPr/>
          </p:nvSpPr>
          <p:spPr>
            <a:xfrm>
              <a:off x="6721078" y="5412581"/>
              <a:ext cx="750094"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Introsort</a:t>
              </a:r>
            </a:p>
          </p:txBody>
        </p:sp>
        <p:sp>
          <p:nvSpPr>
            <p:cNvPr id="72" name="TextBox 72"/>
            <p:cNvSpPr txBox="1"/>
            <p:nvPr/>
          </p:nvSpPr>
          <p:spPr>
            <a:xfrm>
              <a:off x="7790831" y="5412581"/>
              <a:ext cx="706088"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Heapsort</a:t>
              </a:r>
            </a:p>
          </p:txBody>
        </p:sp>
        <p:sp>
          <p:nvSpPr>
            <p:cNvPr id="73" name="TextBox 73"/>
            <p:cNvSpPr txBox="1"/>
            <p:nvPr/>
          </p:nvSpPr>
          <p:spPr>
            <a:xfrm>
              <a:off x="8884199" y="5412581"/>
              <a:ext cx="614852" cy="220028"/>
            </a:xfrm>
            <a:prstGeom prst="rect">
              <a:avLst/>
            </a:prstGeom>
            <a:noFill/>
            <a:ln>
              <a:noFill/>
            </a:ln>
          </p:spPr>
          <p:txBody>
            <a:bodyPr wrap="none" lIns="0" tIns="0" rIns="0" bIns="0" anchor="t" anchorCtr="0">
              <a:spAutoFit/>
            </a:bodyPr>
            <a:lstStyle/>
            <a:p>
              <a:pPr algn="ctr"/>
              <a:r>
                <a:rPr lang="en-US" sz="1120" dirty="0">
                  <a:solidFill>
                    <a:srgbClr val="F4511E"/>
                  </a:solidFill>
                  <a:latin typeface="Anthropic Sans"/>
                  <a:ea typeface="Anthropic Sans"/>
                  <a:cs typeface="Anthropic Sans"/>
                </a:rPr>
                <a:t>Timsort</a:t>
              </a:r>
            </a:p>
          </p:txBody>
        </p:sp>
        <p:sp>
          <p:nvSpPr>
            <p:cNvPr id="74" name="TextBox 74"/>
            <p:cNvSpPr txBox="1"/>
            <p:nvPr/>
          </p:nvSpPr>
          <p:spPr>
            <a:xfrm>
              <a:off x="681780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18.7 μs</a:t>
              </a:r>
            </a:p>
          </p:txBody>
        </p:sp>
        <p:sp>
          <p:nvSpPr>
            <p:cNvPr id="75" name="TextBox 75"/>
            <p:cNvSpPr txBox="1"/>
            <p:nvPr/>
          </p:nvSpPr>
          <p:spPr>
            <a:xfrm>
              <a:off x="786555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24.5 μs</a:t>
              </a:r>
            </a:p>
          </p:txBody>
        </p:sp>
        <p:sp>
          <p:nvSpPr>
            <p:cNvPr id="76" name="TextBox 76"/>
            <p:cNvSpPr txBox="1"/>
            <p:nvPr/>
          </p:nvSpPr>
          <p:spPr>
            <a:xfrm>
              <a:off x="8899674" y="5707856"/>
              <a:ext cx="583902" cy="220028"/>
            </a:xfrm>
            <a:prstGeom prst="rect">
              <a:avLst/>
            </a:prstGeom>
            <a:noFill/>
            <a:ln>
              <a:noFill/>
            </a:ln>
          </p:spPr>
          <p:txBody>
            <a:bodyPr wrap="none" lIns="0" tIns="0" rIns="0" bIns="0" anchor="t" anchorCtr="0">
              <a:spAutoFit/>
            </a:bodyPr>
            <a:lstStyle/>
            <a:p>
              <a:pPr algn="ctr"/>
              <a:r>
                <a:rPr lang="en-US" sz="1120" b="1" dirty="0">
                  <a:solidFill>
                    <a:srgbClr val="F4511E"/>
                  </a:solidFill>
                  <a:latin typeface="Consolas"/>
                  <a:ea typeface="Consolas"/>
                  <a:cs typeface="Consolas"/>
                </a:rPr>
                <a:t>13.2 μs</a:t>
              </a:r>
            </a:p>
          </p:txBody>
        </p:sp>
        <p:sp>
          <p:nvSpPr>
            <p:cNvPr id="77" name="Freeform 77"/>
            <p:cNvSpPr/>
            <p:nvPr/>
          </p:nvSpPr>
          <p:spPr>
            <a:xfrm>
              <a:off x="9191625" y="4362450"/>
              <a:ext cx="1228725" cy="933450"/>
            </a:xfrm>
            <a:custGeom>
              <a:avLst/>
              <a:gdLst/>
              <a:ahLst/>
              <a:cxnLst/>
              <a:rect l="l" t="t" r="r" b="b"/>
              <a:pathLst>
                <a:path w="1228725" h="933450">
                  <a:moveTo>
                    <a:pt x="1228725" y="0"/>
                  </a:moveTo>
                  <a:cubicBezTo>
                    <a:pt x="1228725" y="400050"/>
                    <a:pt x="571500" y="533400"/>
                    <a:pt x="0" y="933450"/>
                  </a:cubicBezTo>
                </a:path>
              </a:pathLst>
            </a:custGeom>
            <a:noFill/>
            <a:ln w="28575">
              <a:solidFill>
                <a:srgbClr val="D97757"/>
              </a:solidFill>
            </a:ln>
          </p:spPr>
        </p:sp>
        <p:sp>
          <p:nvSpPr>
            <p:cNvPr id="78" name="Freeform 78"/>
            <p:cNvSpPr/>
            <p:nvPr/>
          </p:nvSpPr>
          <p:spPr>
            <a:xfrm>
              <a:off x="9191625" y="5219700"/>
              <a:ext cx="209550" cy="209550"/>
            </a:xfrm>
            <a:custGeom>
              <a:avLst/>
              <a:gdLst/>
              <a:ahLst/>
              <a:cxnLst/>
              <a:rect l="l" t="t" r="r" b="b"/>
              <a:pathLst>
                <a:path w="209550" h="209550">
                  <a:moveTo>
                    <a:pt x="0" y="76200"/>
                  </a:moveTo>
                  <a:lnTo>
                    <a:pt x="209550" y="0"/>
                  </a:lnTo>
                  <a:lnTo>
                    <a:pt x="133350" y="209550"/>
                  </a:lnTo>
                  <a:close/>
                </a:path>
              </a:pathLst>
            </a:custGeom>
            <a:solidFill>
              <a:srgbClr val="D97757"/>
            </a:solidFill>
            <a:ln>
              <a:noFill/>
            </a:ln>
          </p:spPr>
        </p:sp>
      </p:grpSp>
      <p:sp>
        <p:nvSpPr>
          <p:cNvPr id="81" name="Slide 3 added title"/>
          <p:cNvSpPr txBox="1"/>
          <p:nvPr/>
        </p:nvSpPr>
        <p:spPr>
          <a:xfrm>
            <a:off x="647700" y="552450"/>
            <a:ext cx="5905500" cy="361950"/>
          </a:xfrm>
          <a:prstGeom prst="rect">
            <a:avLst/>
          </a:prstGeom>
          <a:noFill/>
        </p:spPr>
        <p:txBody>
          <a:bodyPr wrap="none" lIns="0" tIns="0" rIns="0" bIns="0">
            <a:spAutoFit/>
          </a:bodyPr>
          <a:lstStyle/>
          <a:p>
            <a:pPr algn="l"/>
            <a:r>
              <a:rPr sz="2800" b="1">
                <a:solidFill>
                  <a:srgbClr val="191919"/>
                </a:solidFill>
                <a:latin typeface="Arial"/>
              </a:rPr>
              <a:t>Algorithm Selection Problem</a:t>
            </a:r>
          </a:p>
        </p:txBody>
      </p:sp>
      <p:sp>
        <p:nvSpPr>
          <p:cNvPr id="83" name="Rectangle 8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3/24</a:t>
            </a:r>
          </a:p>
        </p:txBody>
      </p:sp>
      <p:sp>
        <p:nvSpPr>
          <p:cNvPr id="87" name="Rectangle 86"/>
          <p:cNvSpPr/>
          <p:nvPr/>
        </p:nvSpPr>
        <p:spPr>
          <a:xfrm>
            <a:off x="641972" y="1067514"/>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slide(fromBottom)">
                                      <p:cBhvr>
                                        <p:cTn id="7" dur="350"/>
                                        <p:tgtEl>
                                          <p:spTgt spid="23"/>
                                        </p:tgtEl>
                                      </p:cBhvr>
                                    </p:animEffect>
                                  </p:childTnLst>
                                </p:cTn>
                              </p:par>
                            </p:childTnLst>
                          </p:cTn>
                        </p:par>
                        <p:par>
                          <p:cTn id="8" fill="hold">
                            <p:stCondLst>
                              <p:cond delay="470"/>
                            </p:stCondLst>
                            <p:childTnLst>
                              <p:par>
                                <p:cTn id="9" presetID="23" presetClass="entr" presetSubtype="0"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image">
                                      <p:cBhvr>
                                        <p:cTn id="11" dur="350"/>
                                        <p:tgtEl>
                                          <p:spTgt spid="39"/>
                                        </p:tgtEl>
                                      </p:cBhvr>
                                    </p:animEffect>
                                  </p:childTnLst>
                                </p:cTn>
                              </p:par>
                            </p:childTnLst>
                          </p:cTn>
                        </p:par>
                        <p:par>
                          <p:cTn id="12" fill="hold">
                            <p:stCondLst>
                              <p:cond delay="940"/>
                            </p:stCondLst>
                            <p:childTnLst>
                              <p:par>
                                <p:cTn id="13" presetID="10" presetClass="entr" presetSubtype="0"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350"/>
                                        <p:tgtEl>
                                          <p:spTgt spid="46"/>
                                        </p:tgtEl>
                                      </p:cBhvr>
                                    </p:animEffect>
                                  </p:childTnLst>
                                </p:cTn>
                              </p:par>
                            </p:childTnLst>
                          </p:cTn>
                        </p:par>
                        <p:par>
                          <p:cTn id="16" fill="hold">
                            <p:stCondLst>
                              <p:cond delay="1410"/>
                            </p:stCondLst>
                            <p:childTnLst>
                              <p:par>
                                <p:cTn id="17" presetID="22" presetClass="entr" presetSubtype="1" fill="hold" nodeType="after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wipe(left)">
                                      <p:cBhvr>
                                        <p:cTn id="19" dur="350"/>
                                        <p:tgtEl>
                                          <p:spTgt spid="56"/>
                                        </p:tgtEl>
                                      </p:cBhvr>
                                    </p:animEffect>
                                  </p:childTnLst>
                                </p:cTn>
                              </p:par>
                            </p:childTnLst>
                          </p:cTn>
                        </p:par>
                        <p:par>
                          <p:cTn id="20" fill="hold">
                            <p:stCondLst>
                              <p:cond delay="1880"/>
                            </p:stCondLst>
                            <p:childTnLst>
                              <p:par>
                                <p:cTn id="21" presetID="2" presetClass="entr" presetSubtype="4" fill="hold" nodeType="after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slide(fromBottom)">
                                      <p:cBhvr>
                                        <p:cTn id="23" dur="350"/>
                                        <p:tgtEl>
                                          <p:spTgt spid="63"/>
                                        </p:tgtEl>
                                      </p:cBhvr>
                                    </p:animEffect>
                                  </p:childTnLst>
                                </p:cTn>
                              </p:par>
                            </p:childTnLst>
                          </p:cTn>
                        </p:par>
                        <p:par>
                          <p:cTn id="24" fill="hold">
                            <p:stCondLst>
                              <p:cond delay="2350"/>
                            </p:stCondLst>
                            <p:childTnLst>
                              <p:par>
                                <p:cTn id="25" presetID="23" presetClass="entr" presetSubtype="0" fill="hold" nodeType="afterEffect">
                                  <p:stCondLst>
                                    <p:cond delay="0"/>
                                  </p:stCondLst>
                                  <p:childTnLst>
                                    <p:set>
                                      <p:cBhvr>
                                        <p:cTn id="26" dur="1" fill="hold">
                                          <p:stCondLst>
                                            <p:cond delay="0"/>
                                          </p:stCondLst>
                                        </p:cTn>
                                        <p:tgtEl>
                                          <p:spTgt spid="79"/>
                                        </p:tgtEl>
                                        <p:attrNameLst>
                                          <p:attrName>style.visibility</p:attrName>
                                        </p:attrNameLst>
                                      </p:cBhvr>
                                      <p:to>
                                        <p:strVal val="visible"/>
                                      </p:to>
                                    </p:set>
                                    <p:animEffect transition="in" filter="image">
                                      <p:cBhvr>
                                        <p:cTn id="27" dur="35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9" grpId="0"/>
      <p:bldP spid="46" grpId="0"/>
      <p:bldP spid="56" grpId="0"/>
      <p:bldP spid="63" grpId="0"/>
      <p:bldP spid="7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4_runtime_gap_v7.png"/>
          <p:cNvPicPr>
            <a:picLocks noChangeAspect="1"/>
          </p:cNvPicPr>
          <p:nvPr/>
        </p:nvPicPr>
        <p:blipFill>
          <a:blip r:embed="rId4"/>
          <a:stretch>
            <a:fillRect/>
          </a:stretch>
        </p:blipFill>
        <p:spPr>
          <a:xfrm>
            <a:off x="0" y="0"/>
            <a:ext cx="12192000" cy="6858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5_background_v2.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Research objective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Build a selector that is cheap enough to run before sorting and close most of the practical runtime gap.</a:t>
            </a:r>
          </a:p>
        </p:txBody>
      </p:sp>
      <p:sp>
        <p:nvSpPr>
          <p:cNvPr id="7" name="TextBox 7"/>
          <p:cNvSpPr txBox="1"/>
          <p:nvPr/>
        </p:nvSpPr>
        <p:spPr>
          <a:xfrm>
            <a:off x="838962" y="1564005"/>
            <a:ext cx="8862383" cy="704088"/>
          </a:xfrm>
          <a:prstGeom prst="rect">
            <a:avLst/>
          </a:prstGeom>
          <a:noFill/>
          <a:ln>
            <a:noFill/>
          </a:ln>
        </p:spPr>
        <p:txBody>
          <a:bodyPr wrap="none" lIns="0" tIns="0" rIns="0" bIns="0" anchor="t" anchorCtr="0">
            <a:spAutoFit/>
          </a:bodyPr>
          <a:lstStyle/>
          <a:p>
            <a:r>
              <a:rPr sz="2100" b="1">
                <a:solidFill>
                  <a:srgbClr val="191919"/>
                </a:solidFill>
                <a:latin typeface="Aptos Display"/>
              </a:rPr>
              <a:t>Can structural descriptors predict</a:t>
            </a:r>
          </a:p>
        </p:txBody>
      </p:sp>
      <p:sp>
        <p:nvSpPr>
          <p:cNvPr id="8" name="TextBox 8"/>
          <p:cNvSpPr txBox="1"/>
          <p:nvPr/>
        </p:nvSpPr>
        <p:spPr>
          <a:xfrm>
            <a:off x="838962" y="2087880"/>
            <a:ext cx="6931678" cy="704088"/>
          </a:xfrm>
          <a:prstGeom prst="rect">
            <a:avLst/>
          </a:prstGeom>
          <a:noFill/>
          <a:ln>
            <a:noFill/>
          </a:ln>
        </p:spPr>
        <p:txBody>
          <a:bodyPr wrap="none" lIns="0" tIns="0" rIns="0" bIns="0" anchor="t" anchorCtr="0">
            <a:spAutoFit/>
          </a:bodyPr>
          <a:lstStyle/>
          <a:p>
            <a:r>
              <a:rPr sz="2100" b="1">
                <a:solidFill>
                  <a:srgbClr val="191919"/>
                </a:solidFill>
                <a:latin typeface="Aptos Display"/>
              </a:rPr>
              <a:t>the fastest sorting implementation before execution?</a:t>
            </a:r>
          </a:p>
        </p:txBody>
      </p:sp>
      <p:sp>
        <p:nvSpPr>
          <p:cNvPr id="9" name="Freeform 9"/>
          <p:cNvSpPr/>
          <p:nvPr/>
        </p:nvSpPr>
        <p:spPr>
          <a:xfrm>
            <a:off x="85725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1112520" y="3490912"/>
            <a:ext cx="1481642" cy="440055"/>
          </a:xfrm>
          <a:prstGeom prst="rect">
            <a:avLst/>
          </a:prstGeom>
          <a:noFill/>
          <a:ln>
            <a:noFill/>
          </a:ln>
        </p:spPr>
        <p:txBody>
          <a:bodyPr wrap="none" lIns="0" tIns="0" rIns="0" bIns="0" anchor="t" anchorCtr="0">
            <a:spAutoFit/>
          </a:bodyPr>
          <a:lstStyle/>
          <a:p>
            <a:pPr algn="l"/>
            <a:r>
              <a:rPr lang="en-US" sz="1600" b="1" dirty="0">
                <a:solidFill>
                  <a:srgbClr val="191919"/>
                </a:solidFill>
                <a:latin typeface="Aptos"/>
                <a:ea typeface="Anthropic Sans"/>
                <a:cs typeface="Anthropic Sans"/>
              </a:rPr>
              <a:t>Accuracy</a:t>
            </a:r>
          </a:p>
        </p:txBody>
      </p:sp>
      <p:sp>
        <p:nvSpPr>
          <p:cNvPr id="11" name="TextBox 11"/>
          <p:cNvSpPr txBox="1"/>
          <p:nvPr/>
        </p:nvSpPr>
        <p:spPr>
          <a:xfrm>
            <a:off x="1114806" y="3977640"/>
            <a:ext cx="2613436" cy="352044"/>
          </a:xfrm>
          <a:prstGeom prst="rect">
            <a:avLst/>
          </a:prstGeom>
          <a:noFill/>
          <a:ln>
            <a:noFill/>
          </a:ln>
        </p:spPr>
        <p:txBody>
          <a:bodyPr wrap="none" lIns="0" tIns="0" rIns="0" bIns="0" anchor="t" anchorCtr="0">
            <a:spAutoFit/>
          </a:bodyPr>
          <a:lstStyle/>
          <a:p>
            <a:pPr algn="l"/>
            <a:r>
              <a:rPr lang="en-US" sz="1400" b="0" dirty="0">
                <a:solidFill>
                  <a:srgbClr val="566987"/>
                </a:solidFill>
                <a:latin typeface="Aptos"/>
                <a:ea typeface="Anthropic Sans"/>
                <a:cs typeface="Anthropic Sans"/>
              </a:rPr>
              <a:t>Does the label match?</a:t>
            </a:r>
          </a:p>
        </p:txBody>
      </p:sp>
      <p:sp>
        <p:nvSpPr>
          <p:cNvPr id="12" name="Freeform 12"/>
          <p:cNvSpPr/>
          <p:nvPr/>
        </p:nvSpPr>
        <p:spPr>
          <a:xfrm>
            <a:off x="4524375"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4779645" y="3490912"/>
            <a:ext cx="1131799" cy="440055"/>
          </a:xfrm>
          <a:prstGeom prst="rect">
            <a:avLst/>
          </a:prstGeom>
          <a:noFill/>
          <a:ln>
            <a:noFill/>
          </a:ln>
        </p:spPr>
        <p:txBody>
          <a:bodyPr wrap="none" lIns="0" tIns="0" rIns="0" bIns="0" anchor="t" anchorCtr="0">
            <a:spAutoFit/>
          </a:bodyPr>
          <a:lstStyle/>
          <a:p>
            <a:pPr algn="l"/>
            <a:r>
              <a:rPr lang="en-US" sz="1600" b="1" dirty="0">
                <a:solidFill>
                  <a:srgbClr val="191919"/>
                </a:solidFill>
                <a:latin typeface="Aptos"/>
                <a:ea typeface="Anthropic Sans"/>
                <a:cs typeface="Anthropic Sans"/>
              </a:rPr>
              <a:t>Regret</a:t>
            </a:r>
          </a:p>
        </p:txBody>
      </p:sp>
      <p:sp>
        <p:nvSpPr>
          <p:cNvPr id="14" name="TextBox 14"/>
          <p:cNvSpPr txBox="1"/>
          <p:nvPr/>
        </p:nvSpPr>
        <p:spPr>
          <a:xfrm>
            <a:off x="4781931" y="3977640"/>
            <a:ext cx="2941059" cy="352044"/>
          </a:xfrm>
          <a:prstGeom prst="rect">
            <a:avLst/>
          </a:prstGeom>
          <a:noFill/>
          <a:ln>
            <a:noFill/>
          </a:ln>
        </p:spPr>
        <p:txBody>
          <a:bodyPr wrap="none" lIns="0" tIns="0" rIns="0" bIns="0" anchor="t" anchorCtr="0">
            <a:spAutoFit/>
          </a:bodyPr>
          <a:lstStyle/>
          <a:p>
            <a:pPr algn="l"/>
            <a:r>
              <a:rPr lang="en-US" sz="1400" b="0" dirty="0">
                <a:solidFill>
                  <a:srgbClr val="566987"/>
                </a:solidFill>
                <a:latin typeface="Aptos"/>
                <a:ea typeface="Anthropic Sans"/>
                <a:cs typeface="Anthropic Sans"/>
              </a:rPr>
              <a:t>How costly is a mistake?</a:t>
            </a:r>
          </a:p>
        </p:txBody>
      </p:sp>
      <p:sp>
        <p:nvSpPr>
          <p:cNvPr id="15" name="Freeform 15"/>
          <p:cNvSpPr/>
          <p:nvPr/>
        </p:nvSpPr>
        <p:spPr>
          <a:xfrm>
            <a:off x="819150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6" name="TextBox 16"/>
          <p:cNvSpPr txBox="1"/>
          <p:nvPr/>
        </p:nvSpPr>
        <p:spPr>
          <a:xfrm>
            <a:off x="8446770" y="3490912"/>
            <a:ext cx="2181330" cy="440055"/>
          </a:xfrm>
          <a:prstGeom prst="rect">
            <a:avLst/>
          </a:prstGeom>
          <a:noFill/>
          <a:ln>
            <a:noFill/>
          </a:ln>
        </p:spPr>
        <p:txBody>
          <a:bodyPr wrap="none" lIns="0" tIns="0" rIns="0" bIns="0" anchor="t" anchorCtr="0">
            <a:spAutoFit/>
          </a:bodyPr>
          <a:lstStyle/>
          <a:p>
            <a:pPr algn="l"/>
            <a:r>
              <a:rPr lang="en-US" sz="1600" b="1" dirty="0">
                <a:solidFill>
                  <a:srgbClr val="1B1B1D"/>
                </a:solidFill>
                <a:latin typeface="Aptos"/>
                <a:ea typeface="Anthropic Sans"/>
                <a:cs typeface="Anthropic Sans"/>
              </a:rPr>
              <a:t>Runtime value</a:t>
            </a:r>
          </a:p>
        </p:txBody>
      </p:sp>
      <p:sp>
        <p:nvSpPr>
          <p:cNvPr id="17" name="TextBox 17"/>
          <p:cNvSpPr txBox="1"/>
          <p:nvPr/>
        </p:nvSpPr>
        <p:spPr>
          <a:xfrm>
            <a:off x="8449056" y="3977640"/>
            <a:ext cx="2306592" cy="352044"/>
          </a:xfrm>
          <a:prstGeom prst="rect">
            <a:avLst/>
          </a:prstGeom>
          <a:noFill/>
          <a:ln>
            <a:noFill/>
          </a:ln>
        </p:spPr>
        <p:txBody>
          <a:bodyPr wrap="none" lIns="0" tIns="0" rIns="0" bIns="0" anchor="t" anchorCtr="0">
            <a:spAutoFit/>
          </a:bodyPr>
          <a:lstStyle/>
          <a:p>
            <a:pPr algn="l"/>
            <a:r>
              <a:rPr lang="en-US" sz="1400" b="0" dirty="0">
                <a:solidFill>
                  <a:srgbClr val="1B1B1D"/>
                </a:solidFill>
                <a:latin typeface="Aptos"/>
                <a:ea typeface="Anthropic Sans"/>
                <a:cs typeface="Anthropic Sans"/>
              </a:rPr>
              <a:t>How close to VBS?</a:t>
            </a:r>
          </a:p>
        </p:txBody>
      </p:sp>
      <p:sp>
        <p:nvSpPr>
          <p:cNvPr id="18" name="TextBox 18"/>
          <p:cNvSpPr txBox="1"/>
          <p:nvPr/>
        </p:nvSpPr>
        <p:spPr>
          <a:xfrm>
            <a:off x="845820" y="5233988"/>
            <a:ext cx="11973606" cy="440055"/>
          </a:xfrm>
          <a:prstGeom prst="rect">
            <a:avLst/>
          </a:prstGeom>
          <a:noFill/>
          <a:ln>
            <a:noFill/>
          </a:ln>
        </p:spPr>
        <p:txBody>
          <a:bodyPr wrap="none" lIns="0" tIns="0" rIns="0" bIns="0" anchor="t" anchorCtr="0">
            <a:spAutoFit/>
          </a:bodyPr>
          <a:lstStyle/>
          <a:p>
            <a:r>
              <a:rPr sz="1400" b="0">
                <a:solidFill>
                  <a:srgbClr val="566987"/>
                </a:solidFill>
                <a:latin typeface="Aptos"/>
              </a:rPr>
              <a:t>This is why the result is evaluated with both model accuracy and runtime regret.</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6/24</a:t>
            </a:r>
          </a:p>
        </p:txBody>
      </p:sp>
      <p:sp>
        <p:nvSpPr>
          <p:cNvPr id="26" name="Rectangle 25"/>
          <p:cNvSpPr/>
          <p:nvPr/>
        </p:nvSpPr>
        <p:spPr>
          <a:xfrm>
            <a:off x="502920" y="1214247"/>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dataset spans five real-data domains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final corpus contains 1,188,265 labeled arrays from five structurally different domains.</a:t>
            </a:r>
          </a:p>
        </p:txBody>
      </p:sp>
      <p:sp>
        <p:nvSpPr>
          <p:cNvPr id="7" name="TextBox 7"/>
          <p:cNvSpPr txBox="1"/>
          <p:nvPr/>
        </p:nvSpPr>
        <p:spPr>
          <a:xfrm>
            <a:off x="685800" y="1416368"/>
            <a:ext cx="3305928"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1.18M</a:t>
            </a:r>
          </a:p>
        </p:txBody>
      </p:sp>
      <p:sp>
        <p:nvSpPr>
          <p:cNvPr id="8" name="TextBox 8"/>
          <p:cNvSpPr txBox="1"/>
          <p:nvPr/>
        </p:nvSpPr>
        <p:spPr>
          <a:xfrm>
            <a:off x="750570" y="2252662"/>
            <a:ext cx="3475863"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labeled array instances</a:t>
            </a:r>
          </a:p>
        </p:txBody>
      </p:sp>
      <p:sp>
        <p:nvSpPr>
          <p:cNvPr id="9" name="Freeform 9"/>
          <p:cNvSpPr/>
          <p:nvPr/>
        </p:nvSpPr>
        <p:spPr>
          <a:xfrm>
            <a:off x="7620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954672" y="3376612"/>
            <a:ext cx="1995907"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F1 telemetry</a:t>
            </a:r>
          </a:p>
        </p:txBody>
      </p:sp>
      <p:sp>
        <p:nvSpPr>
          <p:cNvPr id="11" name="Freeform 11"/>
          <p:cNvSpPr/>
          <p:nvPr/>
        </p:nvSpPr>
        <p:spPr>
          <a:xfrm>
            <a:off x="35242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258675" y="3376612"/>
            <a:ext cx="912400"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Stock</a:t>
            </a:r>
          </a:p>
        </p:txBody>
      </p:sp>
      <p:sp>
        <p:nvSpPr>
          <p:cNvPr id="13" name="Freeform 13"/>
          <p:cNvSpPr/>
          <p:nvPr/>
        </p:nvSpPr>
        <p:spPr>
          <a:xfrm>
            <a:off x="62865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4" name="TextBox 14"/>
          <p:cNvSpPr txBox="1"/>
          <p:nvPr/>
        </p:nvSpPr>
        <p:spPr>
          <a:xfrm>
            <a:off x="6937629" y="3376612"/>
            <a:ext cx="107899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Crypto</a:t>
            </a:r>
          </a:p>
        </p:txBody>
      </p:sp>
      <p:sp>
        <p:nvSpPr>
          <p:cNvPr id="15" name="Freeform 15"/>
          <p:cNvSpPr/>
          <p:nvPr/>
        </p:nvSpPr>
        <p:spPr>
          <a:xfrm>
            <a:off x="90487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6" name="TextBox 16"/>
          <p:cNvSpPr txBox="1"/>
          <p:nvPr/>
        </p:nvSpPr>
        <p:spPr>
          <a:xfrm>
            <a:off x="9584824" y="3376612"/>
            <a:ext cx="130910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Weather</a:t>
            </a:r>
          </a:p>
        </p:txBody>
      </p:sp>
      <p:sp>
        <p:nvSpPr>
          <p:cNvPr id="17" name="Freeform 17"/>
          <p:cNvSpPr/>
          <p:nvPr/>
        </p:nvSpPr>
        <p:spPr>
          <a:xfrm>
            <a:off x="4905375" y="4429125"/>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8" name="TextBox 18"/>
          <p:cNvSpPr txBox="1"/>
          <p:nvPr/>
        </p:nvSpPr>
        <p:spPr>
          <a:xfrm>
            <a:off x="5223320" y="4757738"/>
            <a:ext cx="1745361" cy="440055"/>
          </a:xfrm>
          <a:prstGeom prst="rect">
            <a:avLst/>
          </a:prstGeom>
          <a:noFill/>
          <a:ln>
            <a:noFill/>
          </a:ln>
        </p:spPr>
        <p:txBody>
          <a:bodyPr wrap="none" lIns="0" tIns="0" rIns="0" bIns="0" anchor="t" anchorCtr="0">
            <a:spAutoFit/>
          </a:bodyPr>
          <a:lstStyle/>
          <a:p>
            <a:pPr algn="ctr"/>
            <a:r>
              <a:rPr lang="en-US" sz="2250" dirty="0">
                <a:solidFill>
                  <a:srgbClr val="1B1B1D"/>
                </a:solidFill>
                <a:latin typeface="Anthropic Sans"/>
                <a:ea typeface="Anthropic Sans"/>
                <a:cs typeface="Anthropic Sans"/>
              </a:rPr>
              <a:t>Earthquake</a:t>
            </a:r>
          </a:p>
        </p:txBody>
      </p:sp>
      <p:sp>
        <p:nvSpPr>
          <p:cNvPr id="19" name="TextBox 19"/>
          <p:cNvSpPr txBox="1"/>
          <p:nvPr/>
        </p:nvSpPr>
        <p:spPr>
          <a:xfrm>
            <a:off x="752856" y="5615940"/>
            <a:ext cx="12353979" cy="352044"/>
          </a:xfrm>
          <a:prstGeom prst="rect">
            <a:avLst/>
          </a:prstGeom>
          <a:noFill/>
          <a:ln>
            <a:noFill/>
          </a:ln>
        </p:spPr>
        <p:txBody>
          <a:bodyPr wrap="none" lIns="0" tIns="0" rIns="0" bIns="0" anchor="t" anchorCtr="0">
            <a:spAutoFit/>
          </a:bodyPr>
          <a:lstStyle/>
          <a:p>
            <a:r>
              <a:t>This evaluates generalization beyond a single workload family.</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7/24</a:t>
            </a:r>
          </a:p>
        </p:txBody>
      </p:sp>
      <p:sp>
        <p:nvSpPr>
          <p:cNvPr id="27" name="Rectangle 26"/>
          <p:cNvSpPr/>
          <p:nvPr/>
        </p:nvSpPr>
        <p:spPr>
          <a:xfrm>
            <a:off x="502920" y="1226820"/>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Labels came from measured runtime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Each array was transformed, timed across the portfolio, and labeled by the fastest observed algorithm.</a:t>
            </a:r>
          </a:p>
        </p:txBody>
      </p:sp>
      <p:pic>
        <p:nvPicPr>
          <p:cNvPr id="7" name="Image 7"/>
          <p:cNvPicPr>
            <a:picLocks noChangeAspect="1"/>
          </p:cNvPicPr>
          <p:nvPr/>
        </p:nvPicPr>
        <p:blipFill>
          <a:blip r:embed="rId3"/>
          <a:stretch>
            <a:fillRect/>
          </a:stretch>
        </p:blipFill>
        <p:spPr>
          <a:xfrm>
            <a:off x="3261455" y="1381125"/>
            <a:ext cx="5669089" cy="3143250"/>
          </a:xfrm>
          <a:prstGeom prst="rect">
            <a:avLst/>
          </a:prstGeom>
        </p:spPr>
      </p:pic>
      <p:sp>
        <p:nvSpPr>
          <p:cNvPr id="8" name="Freeform 8"/>
          <p:cNvSpPr/>
          <p:nvPr/>
        </p:nvSpPr>
        <p:spPr>
          <a:xfrm>
            <a:off x="762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443190" y="5063490"/>
            <a:ext cx="618820"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RAW</a:t>
            </a:r>
          </a:p>
        </p:txBody>
      </p:sp>
      <p:sp>
        <p:nvSpPr>
          <p:cNvPr id="10" name="Freeform 10"/>
          <p:cNvSpPr/>
          <p:nvPr/>
        </p:nvSpPr>
        <p:spPr>
          <a:xfrm>
            <a:off x="3048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1" name="TextBox 11"/>
          <p:cNvSpPr txBox="1"/>
          <p:nvPr/>
        </p:nvSpPr>
        <p:spPr>
          <a:xfrm>
            <a:off x="3761651" y="5063490"/>
            <a:ext cx="553898"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REV</a:t>
            </a:r>
          </a:p>
        </p:txBody>
      </p:sp>
      <p:sp>
        <p:nvSpPr>
          <p:cNvPr id="12" name="Freeform 12"/>
          <p:cNvSpPr/>
          <p:nvPr/>
        </p:nvSpPr>
        <p:spPr>
          <a:xfrm>
            <a:off x="5334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5958383" y="5063490"/>
            <a:ext cx="73243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SHUF</a:t>
            </a:r>
          </a:p>
        </p:txBody>
      </p:sp>
      <p:sp>
        <p:nvSpPr>
          <p:cNvPr id="14" name="Freeform 14"/>
          <p:cNvSpPr/>
          <p:nvPr/>
        </p:nvSpPr>
        <p:spPr>
          <a:xfrm>
            <a:off x="7620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5" name="TextBox 15"/>
          <p:cNvSpPr txBox="1"/>
          <p:nvPr/>
        </p:nvSpPr>
        <p:spPr>
          <a:xfrm>
            <a:off x="8073962" y="5063490"/>
            <a:ext cx="107327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QBIN50</a:t>
            </a:r>
          </a:p>
        </p:txBody>
      </p:sp>
      <p:sp>
        <p:nvSpPr>
          <p:cNvPr id="16" name="Freeform 16"/>
          <p:cNvSpPr/>
          <p:nvPr/>
        </p:nvSpPr>
        <p:spPr>
          <a:xfrm>
            <a:off x="9906000" y="4810125"/>
            <a:ext cx="1600200" cy="742950"/>
          </a:xfrm>
          <a:custGeom>
            <a:avLst/>
            <a:gdLst/>
            <a:ahLst/>
            <a:cxnLst/>
            <a:rect l="l" t="t" r="r" b="b"/>
            <a:pathLst>
              <a:path w="1600200" h="742950">
                <a:moveTo>
                  <a:pt x="76200" y="0"/>
                </a:moveTo>
                <a:lnTo>
                  <a:pt x="1524000" y="0"/>
                </a:lnTo>
                <a:cubicBezTo>
                  <a:pt x="1566084" y="0"/>
                  <a:pt x="1600200" y="34116"/>
                  <a:pt x="1600200" y="76200"/>
                </a:cubicBezTo>
                <a:lnTo>
                  <a:pt x="1600200" y="666750"/>
                </a:lnTo>
                <a:cubicBezTo>
                  <a:pt x="1600200" y="708834"/>
                  <a:pt x="1566084" y="742950"/>
                  <a:pt x="1524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7" name="TextBox 17"/>
          <p:cNvSpPr txBox="1"/>
          <p:nvPr/>
        </p:nvSpPr>
        <p:spPr>
          <a:xfrm>
            <a:off x="10039617" y="5063490"/>
            <a:ext cx="1332967" cy="352044"/>
          </a:xfrm>
          <a:prstGeom prst="rect">
            <a:avLst/>
          </a:prstGeom>
          <a:noFill/>
          <a:ln>
            <a:noFill/>
          </a:ln>
        </p:spPr>
        <p:txBody>
          <a:bodyPr wrap="none" lIns="0" tIns="0" rIns="0" bIns="0" anchor="t" anchorCtr="0">
            <a:spAutoFit/>
          </a:bodyPr>
          <a:lstStyle/>
          <a:p>
            <a:pPr algn="ctr"/>
            <a:r>
              <a:rPr lang="en-US" sz="1800" dirty="0">
                <a:solidFill>
                  <a:srgbClr val="1B1B1D"/>
                </a:solidFill>
                <a:latin typeface="Anthropic Sans"/>
                <a:ea typeface="Anthropic Sans"/>
                <a:cs typeface="Anthropic Sans"/>
              </a:rPr>
              <a:t>PSORT10</a:t>
            </a:r>
          </a:p>
        </p:txBody>
      </p:sp>
      <p:sp>
        <p:nvSpPr>
          <p:cNvPr id="18" name="TextBox 18"/>
          <p:cNvSpPr txBox="1"/>
          <p:nvPr/>
        </p:nvSpPr>
        <p:spPr>
          <a:xfrm>
            <a:off x="753999" y="5754529"/>
            <a:ext cx="11212639" cy="308039"/>
          </a:xfrm>
          <a:prstGeom prst="rect">
            <a:avLst/>
          </a:prstGeom>
          <a:noFill/>
          <a:ln>
            <a:noFill/>
          </a:ln>
        </p:spPr>
        <p:txBody>
          <a:bodyPr wrap="none" lIns="0" tIns="0" rIns="0" bIns="0" anchor="t" anchorCtr="0">
            <a:spAutoFit/>
          </a:bodyPr>
          <a:lstStyle/>
          <a:p>
            <a:r>
              <a:t>The transformation protocol exposes sorted, reversed, shuffled, quantized, and partially sorted structure.</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8/24</a:t>
            </a:r>
          </a:p>
        </p:txBody>
      </p:sp>
      <p:sp>
        <p:nvSpPr>
          <p:cNvPr id="26" name="Rectangle 25"/>
          <p:cNvSpPr/>
          <p:nvPr/>
        </p:nvSpPr>
        <p:spPr>
          <a:xfrm>
            <a:off x="502920" y="1223153"/>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Sixteen O(n) structural features represent each array</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feature vector describes size, ordering, repetition, distribution, and robust scale before sorting.</a:t>
            </a:r>
          </a:p>
        </p:txBody>
      </p:sp>
      <p:pic>
        <p:nvPicPr>
          <p:cNvPr id="7" name="Image 7"/>
          <p:cNvPicPr>
            <a:picLocks noChangeAspect="1"/>
          </p:cNvPicPr>
          <p:nvPr/>
        </p:nvPicPr>
        <p:blipFill>
          <a:blip r:embed="rId3"/>
          <a:stretch>
            <a:fillRect/>
          </a:stretch>
        </p:blipFill>
        <p:spPr>
          <a:xfrm>
            <a:off x="666750" y="1411319"/>
            <a:ext cx="5334000" cy="3749612"/>
          </a:xfrm>
          <a:prstGeom prst="rect">
            <a:avLst/>
          </a:prstGeom>
        </p:spPr>
      </p:pic>
      <p:sp>
        <p:nvSpPr>
          <p:cNvPr id="8" name="Freeform 8"/>
          <p:cNvSpPr/>
          <p:nvPr/>
        </p:nvSpPr>
        <p:spPr>
          <a:xfrm>
            <a:off x="647700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6751320" y="1814512"/>
            <a:ext cx="1554480" cy="440055"/>
          </a:xfrm>
          <a:prstGeom prst="rect">
            <a:avLst/>
          </a:prstGeom>
          <a:noFill/>
          <a:ln>
            <a:noFill/>
          </a:ln>
        </p:spPr>
        <p:txBody>
          <a:bodyPr wrap="none" lIns="0" tIns="0" rIns="0" bIns="0" anchor="t" anchorCtr="0">
            <a:spAutoFit/>
          </a:bodyPr>
          <a:lstStyle/>
          <a:p>
            <a:r>
              <a:rPr sz="1700" b="1">
                <a:solidFill>
                  <a:srgbClr val="191919"/>
                </a:solidFill>
                <a:latin typeface="Aptos"/>
              </a:rPr>
              <a:t>Size</a:t>
            </a:r>
          </a:p>
        </p:txBody>
      </p:sp>
      <p:sp>
        <p:nvSpPr>
          <p:cNvPr id="10" name="TextBox 10"/>
          <p:cNvSpPr txBox="1"/>
          <p:nvPr/>
        </p:nvSpPr>
        <p:spPr>
          <a:xfrm>
            <a:off x="6753606" y="24536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length</a:t>
            </a:r>
          </a:p>
        </p:txBody>
      </p:sp>
      <p:sp>
        <p:nvSpPr>
          <p:cNvPr id="11" name="TextBox 11"/>
          <p:cNvSpPr txBox="1"/>
          <p:nvPr/>
        </p:nvSpPr>
        <p:spPr>
          <a:xfrm>
            <a:off x="6753606" y="27965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scale</a:t>
            </a:r>
          </a:p>
        </p:txBody>
      </p:sp>
      <p:sp>
        <p:nvSpPr>
          <p:cNvPr id="12" name="TextBox 12"/>
          <p:cNvSpPr txBox="1"/>
          <p:nvPr/>
        </p:nvSpPr>
        <p:spPr>
          <a:xfrm>
            <a:off x="6753606" y="31394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spread</a:t>
            </a:r>
          </a:p>
        </p:txBody>
      </p:sp>
      <p:sp>
        <p:nvSpPr>
          <p:cNvPr id="13" name="Freeform 13"/>
          <p:cNvSpPr/>
          <p:nvPr/>
        </p:nvSpPr>
        <p:spPr>
          <a:xfrm>
            <a:off x="893445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4" name="TextBox 14"/>
          <p:cNvSpPr txBox="1"/>
          <p:nvPr/>
        </p:nvSpPr>
        <p:spPr>
          <a:xfrm>
            <a:off x="9208770" y="1814512"/>
            <a:ext cx="1554480" cy="440055"/>
          </a:xfrm>
          <a:prstGeom prst="rect">
            <a:avLst/>
          </a:prstGeom>
          <a:noFill/>
          <a:ln>
            <a:noFill/>
          </a:ln>
        </p:spPr>
        <p:txBody>
          <a:bodyPr wrap="none" lIns="0" tIns="0" rIns="0" bIns="0" anchor="t" anchorCtr="0">
            <a:spAutoFit/>
          </a:bodyPr>
          <a:lstStyle/>
          <a:p>
            <a:r>
              <a:rPr sz="1700" b="1">
                <a:solidFill>
                  <a:srgbClr val="191919"/>
                </a:solidFill>
                <a:latin typeface="Aptos"/>
              </a:rPr>
              <a:t>Ordering</a:t>
            </a:r>
          </a:p>
        </p:txBody>
      </p:sp>
      <p:sp>
        <p:nvSpPr>
          <p:cNvPr id="15" name="TextBox 15"/>
          <p:cNvSpPr txBox="1"/>
          <p:nvPr/>
        </p:nvSpPr>
        <p:spPr>
          <a:xfrm>
            <a:off x="9211056" y="24536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sortedness</a:t>
            </a:r>
          </a:p>
        </p:txBody>
      </p:sp>
      <p:sp>
        <p:nvSpPr>
          <p:cNvPr id="16" name="TextBox 16"/>
          <p:cNvSpPr txBox="1"/>
          <p:nvPr/>
        </p:nvSpPr>
        <p:spPr>
          <a:xfrm>
            <a:off x="9211056" y="27965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runs</a:t>
            </a:r>
          </a:p>
        </p:txBody>
      </p:sp>
      <p:sp>
        <p:nvSpPr>
          <p:cNvPr id="17" name="TextBox 17"/>
          <p:cNvSpPr txBox="1"/>
          <p:nvPr/>
        </p:nvSpPr>
        <p:spPr>
          <a:xfrm>
            <a:off x="9211056" y="31394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inversions</a:t>
            </a:r>
          </a:p>
        </p:txBody>
      </p:sp>
      <p:sp>
        <p:nvSpPr>
          <p:cNvPr id="18" name="TextBox 18"/>
          <p:cNvSpPr txBox="1"/>
          <p:nvPr/>
        </p:nvSpPr>
        <p:spPr>
          <a:xfrm>
            <a:off x="6465570" y="4948238"/>
            <a:ext cx="5779672" cy="440055"/>
          </a:xfrm>
          <a:prstGeom prst="rect">
            <a:avLst/>
          </a:prstGeom>
          <a:noFill/>
          <a:ln>
            <a:noFill/>
          </a:ln>
        </p:spPr>
        <p:txBody>
          <a:bodyPr wrap="none" lIns="0" tIns="0" rIns="0" bIns="0" anchor="t" anchorCtr="0">
            <a:spAutoFit/>
          </a:bodyPr>
          <a:lstStyle/>
          <a:p>
            <a:r>
              <a:rPr sz="1300" b="0">
                <a:solidFill>
                  <a:srgbClr val="566987"/>
                </a:solidFill>
                <a:latin typeface="Aptos"/>
              </a:rPr>
              <a:t>No timing features are used at prediction time.</a:t>
            </a:r>
          </a:p>
        </p:txBody>
      </p:sp>
      <p:sp>
        <p:nvSpPr>
          <p:cNvPr id="19" name="TextBox 19"/>
          <p:cNvSpPr txBox="1"/>
          <p:nvPr/>
        </p:nvSpPr>
        <p:spPr>
          <a:xfrm>
            <a:off x="6465570" y="5329238"/>
            <a:ext cx="6340120" cy="440055"/>
          </a:xfrm>
          <a:prstGeom prst="rect">
            <a:avLst/>
          </a:prstGeom>
          <a:noFill/>
          <a:ln>
            <a:noFill/>
          </a:ln>
        </p:spPr>
        <p:txBody>
          <a:bodyPr wrap="none" lIns="0" tIns="0" rIns="0" bIns="0" anchor="t" anchorCtr="0">
            <a:spAutoFit/>
          </a:bodyPr>
          <a:lstStyle/>
          <a:p>
            <a:r>
              <a:rPr sz="1300" b="0">
                <a:solidFill>
                  <a:srgbClr val="566987"/>
                </a:solidFill>
                <a:latin typeface="Aptos"/>
              </a:rPr>
              <a:t>The selector sees only structural descriptors.</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9/24</a:t>
            </a:r>
          </a:p>
        </p:txBody>
      </p:sp>
      <p:sp>
        <p:nvSpPr>
          <p:cNvPr id="27" name="Rectangle 26"/>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45274"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Prediction uses only pre-sorting structural features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deployable path extracts features once and predicts one algorithm; portfolio timings are used only for training labels and evaluation.</a:t>
            </a:r>
          </a:p>
        </p:txBody>
      </p:sp>
      <p:sp>
        <p:nvSpPr>
          <p:cNvPr id="7" name="Freeform 7"/>
          <p:cNvSpPr/>
          <p:nvPr/>
        </p:nvSpPr>
        <p:spPr>
          <a:xfrm>
            <a:off x="857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131570" y="1947862"/>
            <a:ext cx="359687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Allowed before sorting</a:t>
            </a:r>
          </a:p>
        </p:txBody>
      </p:sp>
      <p:sp>
        <p:nvSpPr>
          <p:cNvPr id="9" name="TextBox 9"/>
          <p:cNvSpPr txBox="1"/>
          <p:nvPr/>
        </p:nvSpPr>
        <p:spPr>
          <a:xfrm>
            <a:off x="1131570" y="2614612"/>
            <a:ext cx="3023306"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Read the array once</a:t>
            </a:r>
          </a:p>
        </p:txBody>
      </p:sp>
      <p:sp>
        <p:nvSpPr>
          <p:cNvPr id="10" name="TextBox 10"/>
          <p:cNvSpPr txBox="1"/>
          <p:nvPr/>
        </p:nvSpPr>
        <p:spPr>
          <a:xfrm>
            <a:off x="1131570" y="3090862"/>
            <a:ext cx="497190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Count order and duplicate signals</a:t>
            </a:r>
          </a:p>
        </p:txBody>
      </p:sp>
      <p:sp>
        <p:nvSpPr>
          <p:cNvPr id="11" name="TextBox 11"/>
          <p:cNvSpPr txBox="1"/>
          <p:nvPr/>
        </p:nvSpPr>
        <p:spPr>
          <a:xfrm>
            <a:off x="1131570" y="3567112"/>
            <a:ext cx="4108371"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Predict one algorithm class</a:t>
            </a:r>
          </a:p>
        </p:txBody>
      </p:sp>
      <p:sp>
        <p:nvSpPr>
          <p:cNvPr id="12" name="Freeform 12"/>
          <p:cNvSpPr/>
          <p:nvPr/>
        </p:nvSpPr>
        <p:spPr>
          <a:xfrm>
            <a:off x="6572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6846570" y="1947862"/>
            <a:ext cx="474300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Not allowed at prediction time</a:t>
            </a:r>
          </a:p>
        </p:txBody>
      </p:sp>
      <p:sp>
        <p:nvSpPr>
          <p:cNvPr id="14" name="TextBox 14"/>
          <p:cNvSpPr txBox="1"/>
          <p:nvPr/>
        </p:nvSpPr>
        <p:spPr>
          <a:xfrm>
            <a:off x="6846570" y="2614612"/>
            <a:ext cx="3004191"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introsort</a:t>
            </a:r>
          </a:p>
        </p:txBody>
      </p:sp>
      <p:sp>
        <p:nvSpPr>
          <p:cNvPr id="15" name="TextBox 15"/>
          <p:cNvSpPr txBox="1"/>
          <p:nvPr/>
        </p:nvSpPr>
        <p:spPr>
          <a:xfrm>
            <a:off x="6846570" y="3090862"/>
            <a:ext cx="2915043"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heapsort</a:t>
            </a:r>
          </a:p>
        </p:txBody>
      </p:sp>
      <p:sp>
        <p:nvSpPr>
          <p:cNvPr id="16" name="TextBox 16"/>
          <p:cNvSpPr txBox="1"/>
          <p:nvPr/>
        </p:nvSpPr>
        <p:spPr>
          <a:xfrm>
            <a:off x="6846570" y="3567112"/>
            <a:ext cx="2733199"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timsort</a:t>
            </a:r>
          </a:p>
        </p:txBody>
      </p:sp>
      <p:sp>
        <p:nvSpPr>
          <p:cNvPr id="17" name="TextBox 17"/>
          <p:cNvSpPr txBox="1"/>
          <p:nvPr/>
        </p:nvSpPr>
        <p:spPr>
          <a:xfrm>
            <a:off x="6846570" y="4043362"/>
            <a:ext cx="3957165"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Pick after seeing all times</a:t>
            </a:r>
          </a:p>
        </p:txBody>
      </p:sp>
      <p:sp>
        <p:nvSpPr>
          <p:cNvPr id="18" name="TextBox 18"/>
          <p:cNvSpPr txBox="1"/>
          <p:nvPr/>
        </p:nvSpPr>
        <p:spPr>
          <a:xfrm>
            <a:off x="848106" y="5615940"/>
            <a:ext cx="10183373" cy="352044"/>
          </a:xfrm>
          <a:prstGeom prst="rect">
            <a:avLst/>
          </a:prstGeom>
          <a:noFill/>
          <a:ln>
            <a:noFill/>
          </a:ln>
        </p:spPr>
        <p:txBody>
          <a:bodyPr wrap="none" lIns="0" tIns="0" rIns="0" bIns="0" anchor="t" anchorCtr="0">
            <a:spAutoFit/>
          </a:bodyPr>
          <a:lstStyle/>
          <a:p>
            <a:r>
              <a:t>This separates the deployable selector from the VBS oracle used only for evaluation.</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10/24</a:t>
            </a:r>
          </a:p>
        </p:txBody>
      </p:sp>
      <p:sp>
        <p:nvSpPr>
          <p:cNvPr id="26" name="Rectangle 25"/>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1_v5_selector_v2.png"/>
          <p:cNvPicPr>
            <a:picLocks noChangeAspect="1"/>
          </p:cNvPicPr>
          <p:nvPr/>
        </p:nvPicPr>
        <p:blipFill>
          <a:blip r:embed="rId5"/>
          <a:stretch>
            <a:fillRect/>
          </a:stretch>
        </p:blipFill>
        <p:spPr>
          <a:xfrm>
            <a:off x="0" y="0"/>
            <a:ext cx="12192000" cy="6858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2_algorithm_portfolio_v2.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200" b="1">
                <a:solidFill>
                  <a:srgbClr val="191919"/>
                </a:solidFill>
                <a:latin typeface="Aptos Display"/>
              </a:rPr>
              <a:t>Model evolution separated deployable and leakage-prone designs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final v5 design follows from rejected paths, stricter splits, and regret-aware checks.</a:t>
            </a:r>
          </a:p>
        </p:txBody>
      </p:sp>
      <p:pic>
        <p:nvPicPr>
          <p:cNvPr id="7" name="Image 7"/>
          <p:cNvPicPr>
            <a:picLocks noChangeAspect="1"/>
          </p:cNvPicPr>
          <p:nvPr/>
        </p:nvPicPr>
        <p:blipFill>
          <a:blip r:embed="rId3"/>
          <a:stretch>
            <a:fillRect/>
          </a:stretch>
        </p:blipFill>
        <p:spPr>
          <a:xfrm>
            <a:off x="3570160" y="1428750"/>
            <a:ext cx="5051584" cy="2571750"/>
          </a:xfrm>
          <a:prstGeom prst="rect">
            <a:avLst/>
          </a:prstGeom>
        </p:spPr>
      </p:pic>
      <p:sp>
        <p:nvSpPr>
          <p:cNvPr id="8" name="Freeform 8"/>
          <p:cNvSpPr/>
          <p:nvPr/>
        </p:nvSpPr>
        <p:spPr>
          <a:xfrm>
            <a:off x="8763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095756" y="4530090"/>
            <a:ext cx="1399421" cy="352044"/>
          </a:xfrm>
          <a:prstGeom prst="rect">
            <a:avLst/>
          </a:prstGeom>
          <a:noFill/>
          <a:ln>
            <a:noFill/>
          </a:ln>
        </p:spPr>
        <p:txBody>
          <a:bodyPr wrap="none" lIns="0" tIns="0" rIns="0" bIns="0" anchor="t" anchorCtr="0">
            <a:spAutoFit/>
          </a:bodyPr>
          <a:lstStyle/>
          <a:p>
            <a:r>
              <a:rPr sz="1500" b="1">
                <a:solidFill>
                  <a:srgbClr val="191919"/>
                </a:solidFill>
                <a:latin typeface="Aptos"/>
              </a:rPr>
              <a:t>v1 regression</a:t>
            </a:r>
          </a:p>
        </p:txBody>
      </p:sp>
      <p:sp>
        <p:nvSpPr>
          <p:cNvPr id="10" name="TextBox 10"/>
          <p:cNvSpPr txBox="1"/>
          <p:nvPr/>
        </p:nvSpPr>
        <p:spPr>
          <a:xfrm>
            <a:off x="1096899" y="4897279"/>
            <a:ext cx="1129141" cy="308039"/>
          </a:xfrm>
          <a:prstGeom prst="rect">
            <a:avLst/>
          </a:prstGeom>
          <a:noFill/>
          <a:ln>
            <a:noFill/>
          </a:ln>
        </p:spPr>
        <p:txBody>
          <a:bodyPr wrap="none" lIns="0" tIns="0" rIns="0" bIns="0" anchor="t" anchorCtr="0">
            <a:spAutoFit/>
          </a:bodyPr>
          <a:lstStyle/>
          <a:p>
            <a:r>
              <a:rPr sz="1300" b="0">
                <a:solidFill>
                  <a:srgbClr val="566987"/>
                </a:solidFill>
                <a:latin typeface="Aptos"/>
              </a:rPr>
              <a:t>dominated by size</a:t>
            </a:r>
          </a:p>
        </p:txBody>
      </p:sp>
      <p:sp>
        <p:nvSpPr>
          <p:cNvPr id="11" name="Freeform 11"/>
          <p:cNvSpPr/>
          <p:nvPr/>
        </p:nvSpPr>
        <p:spPr>
          <a:xfrm>
            <a:off x="35242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3743706" y="4530090"/>
            <a:ext cx="1885001" cy="352044"/>
          </a:xfrm>
          <a:prstGeom prst="rect">
            <a:avLst/>
          </a:prstGeom>
          <a:noFill/>
          <a:ln>
            <a:noFill/>
          </a:ln>
        </p:spPr>
        <p:txBody>
          <a:bodyPr wrap="none" lIns="0" tIns="0" rIns="0" bIns="0" anchor="t" anchorCtr="0">
            <a:spAutoFit/>
          </a:bodyPr>
          <a:lstStyle/>
          <a:p>
            <a:r>
              <a:rPr sz="1500" b="1">
                <a:solidFill>
                  <a:srgbClr val="191919"/>
                </a:solidFill>
                <a:latin typeface="Aptos"/>
              </a:rPr>
              <a:t>v3 timing features</a:t>
            </a:r>
          </a:p>
        </p:txBody>
      </p:sp>
      <p:sp>
        <p:nvSpPr>
          <p:cNvPr id="13" name="TextBox 13"/>
          <p:cNvSpPr txBox="1"/>
          <p:nvPr/>
        </p:nvSpPr>
        <p:spPr>
          <a:xfrm>
            <a:off x="3744849" y="4897279"/>
            <a:ext cx="1489586" cy="308039"/>
          </a:xfrm>
          <a:prstGeom prst="rect">
            <a:avLst/>
          </a:prstGeom>
          <a:noFill/>
          <a:ln>
            <a:noFill/>
          </a:ln>
        </p:spPr>
        <p:txBody>
          <a:bodyPr wrap="none" lIns="0" tIns="0" rIns="0" bIns="0" anchor="t" anchorCtr="0">
            <a:spAutoFit/>
          </a:bodyPr>
          <a:lstStyle/>
          <a:p>
            <a:r>
              <a:rPr sz="1300" b="0">
                <a:solidFill>
                  <a:srgbClr val="566987"/>
                </a:solidFill>
                <a:latin typeface="Aptos"/>
              </a:rPr>
              <a:t>ceiling proof only</a:t>
            </a:r>
          </a:p>
        </p:txBody>
      </p:sp>
      <p:sp>
        <p:nvSpPr>
          <p:cNvPr id="14" name="Freeform 14"/>
          <p:cNvSpPr/>
          <p:nvPr/>
        </p:nvSpPr>
        <p:spPr>
          <a:xfrm>
            <a:off x="61722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5" name="TextBox 15"/>
          <p:cNvSpPr txBox="1"/>
          <p:nvPr/>
        </p:nvSpPr>
        <p:spPr>
          <a:xfrm>
            <a:off x="6391656" y="4530090"/>
            <a:ext cx="1583044" cy="352044"/>
          </a:xfrm>
          <a:prstGeom prst="rect">
            <a:avLst/>
          </a:prstGeom>
          <a:noFill/>
          <a:ln>
            <a:noFill/>
          </a:ln>
        </p:spPr>
        <p:txBody>
          <a:bodyPr wrap="none" lIns="0" tIns="0" rIns="0" bIns="0" anchor="t" anchorCtr="0">
            <a:spAutoFit/>
          </a:bodyPr>
          <a:lstStyle/>
          <a:p>
            <a:pPr algn="l"/>
            <a:r>
              <a:rPr lang="en-US" sz="1500" b="1" dirty="0">
                <a:solidFill>
                  <a:srgbClr val="1B1B1D"/>
                </a:solidFill>
                <a:latin typeface="Aptos"/>
                <a:ea typeface="Anthropic Sans"/>
                <a:cs typeface="Anthropic Sans"/>
              </a:rPr>
              <a:t>v5 classifier</a:t>
            </a:r>
          </a:p>
        </p:txBody>
      </p:sp>
      <p:sp>
        <p:nvSpPr>
          <p:cNvPr id="16" name="TextBox 16"/>
          <p:cNvSpPr txBox="1"/>
          <p:nvPr/>
        </p:nvSpPr>
        <p:spPr>
          <a:xfrm>
            <a:off x="6392799" y="4897279"/>
            <a:ext cx="1648606" cy="308039"/>
          </a:xfrm>
          <a:prstGeom prst="rect">
            <a:avLst/>
          </a:prstGeom>
          <a:noFill/>
          <a:ln>
            <a:noFill/>
          </a:ln>
        </p:spPr>
        <p:txBody>
          <a:bodyPr wrap="none" lIns="0" tIns="0" rIns="0" bIns="0" anchor="t" anchorCtr="0">
            <a:spAutoFit/>
          </a:bodyPr>
          <a:lstStyle/>
          <a:p>
            <a:pPr algn="l"/>
            <a:r>
              <a:rPr lang="en-US" sz="1300" b="0" dirty="0">
                <a:solidFill>
                  <a:srgbClr val="1B1B1D"/>
                </a:solidFill>
                <a:latin typeface="Aptos"/>
                <a:ea typeface="Anthropic Sans"/>
                <a:cs typeface="Anthropic Sans"/>
              </a:rPr>
              <a:t>final main model</a:t>
            </a:r>
          </a:p>
        </p:txBody>
      </p:sp>
      <p:sp>
        <p:nvSpPr>
          <p:cNvPr id="17" name="Freeform 17"/>
          <p:cNvSpPr/>
          <p:nvPr/>
        </p:nvSpPr>
        <p:spPr>
          <a:xfrm>
            <a:off x="88201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8" name="TextBox 18"/>
          <p:cNvSpPr txBox="1"/>
          <p:nvPr/>
        </p:nvSpPr>
        <p:spPr>
          <a:xfrm>
            <a:off x="9039606" y="4530090"/>
            <a:ext cx="1758145" cy="352044"/>
          </a:xfrm>
          <a:prstGeom prst="rect">
            <a:avLst/>
          </a:prstGeom>
          <a:noFill/>
          <a:ln>
            <a:noFill/>
          </a:ln>
        </p:spPr>
        <p:txBody>
          <a:bodyPr wrap="none" lIns="0" tIns="0" rIns="0" bIns="0" anchor="t" anchorCtr="0">
            <a:spAutoFit/>
          </a:bodyPr>
          <a:lstStyle/>
          <a:p>
            <a:r>
              <a:rPr sz="1500" b="1">
                <a:solidFill>
                  <a:srgbClr val="191919"/>
                </a:solidFill>
                <a:latin typeface="Aptos"/>
              </a:rPr>
              <a:t>v6/v7/v8</a:t>
            </a:r>
          </a:p>
        </p:txBody>
      </p:sp>
      <p:sp>
        <p:nvSpPr>
          <p:cNvPr id="19" name="TextBox 19"/>
          <p:cNvSpPr txBox="1"/>
          <p:nvPr/>
        </p:nvSpPr>
        <p:spPr>
          <a:xfrm>
            <a:off x="9040749" y="4897279"/>
            <a:ext cx="1722815" cy="308039"/>
          </a:xfrm>
          <a:prstGeom prst="rect">
            <a:avLst/>
          </a:prstGeom>
          <a:noFill/>
          <a:ln>
            <a:noFill/>
          </a:ln>
        </p:spPr>
        <p:txBody>
          <a:bodyPr wrap="none" lIns="0" tIns="0" rIns="0" bIns="0" anchor="t" anchorCtr="0">
            <a:spAutoFit/>
          </a:bodyPr>
          <a:lstStyle/>
          <a:p>
            <a:r>
              <a:rPr sz="1300" b="0">
                <a:solidFill>
                  <a:srgbClr val="566987"/>
                </a:solidFill>
                <a:latin typeface="Aptos"/>
              </a:rPr>
              <a:t>final scope checks</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13/24</a:t>
            </a:r>
          </a:p>
        </p:txBody>
      </p:sp>
      <p:sp>
        <p:nvSpPr>
          <p:cNvPr id="27" name="Rectangle 26"/>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Evaluation compares the model against SBS and VBS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Classification accuracy is reported, but runtime regret measures the cost of each decision.</a:t>
            </a:r>
          </a:p>
        </p:txBody>
      </p:sp>
      <p:sp>
        <p:nvSpPr>
          <p:cNvPr id="7" name="Freeform 7"/>
          <p:cNvSpPr/>
          <p:nvPr/>
        </p:nvSpPr>
        <p:spPr>
          <a:xfrm>
            <a:off x="76200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SBS</a:t>
            </a:r>
          </a:p>
        </p:txBody>
      </p:sp>
      <p:sp>
        <p:nvSpPr>
          <p:cNvPr id="9" name="TextBox 9"/>
          <p:cNvSpPr txBox="1"/>
          <p:nvPr/>
        </p:nvSpPr>
        <p:spPr>
          <a:xfrm>
            <a:off x="1038606" y="2377440"/>
            <a:ext cx="250202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single best algorithm</a:t>
            </a:r>
          </a:p>
        </p:txBody>
      </p:sp>
      <p:sp>
        <p:nvSpPr>
          <p:cNvPr id="10" name="TextBox 10"/>
          <p:cNvSpPr txBox="1"/>
          <p:nvPr/>
        </p:nvSpPr>
        <p:spPr>
          <a:xfrm>
            <a:off x="1038606" y="2720340"/>
            <a:ext cx="210220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over the test set</a:t>
            </a:r>
          </a:p>
        </p:txBody>
      </p:sp>
      <p:sp>
        <p:nvSpPr>
          <p:cNvPr id="11" name="Freeform 11"/>
          <p:cNvSpPr/>
          <p:nvPr/>
        </p:nvSpPr>
        <p:spPr>
          <a:xfrm>
            <a:off x="4429125"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703445"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VBS</a:t>
            </a:r>
          </a:p>
        </p:txBody>
      </p:sp>
      <p:sp>
        <p:nvSpPr>
          <p:cNvPr id="13" name="TextBox 13"/>
          <p:cNvSpPr txBox="1"/>
          <p:nvPr/>
        </p:nvSpPr>
        <p:spPr>
          <a:xfrm>
            <a:off x="4705731" y="2377440"/>
            <a:ext cx="333801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fastest measured algorithm</a:t>
            </a:r>
          </a:p>
        </p:txBody>
      </p:sp>
      <p:sp>
        <p:nvSpPr>
          <p:cNvPr id="14" name="TextBox 14"/>
          <p:cNvSpPr txBox="1"/>
          <p:nvPr/>
        </p:nvSpPr>
        <p:spPr>
          <a:xfrm>
            <a:off x="4705731" y="272034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for each input</a:t>
            </a:r>
          </a:p>
        </p:txBody>
      </p:sp>
      <p:sp>
        <p:nvSpPr>
          <p:cNvPr id="15" name="Freeform 15"/>
          <p:cNvSpPr/>
          <p:nvPr/>
        </p:nvSpPr>
        <p:spPr>
          <a:xfrm>
            <a:off x="809625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6" name="TextBox 16"/>
          <p:cNvSpPr txBox="1"/>
          <p:nvPr/>
        </p:nvSpPr>
        <p:spPr>
          <a:xfrm>
            <a:off x="8370570" y="1804988"/>
            <a:ext cx="939895" cy="440055"/>
          </a:xfrm>
          <a:prstGeom prst="rect">
            <a:avLst/>
          </a:prstGeom>
          <a:noFill/>
          <a:ln>
            <a:noFill/>
          </a:ln>
        </p:spPr>
        <p:txBody>
          <a:bodyPr wrap="none" lIns="0" tIns="0" rIns="0" bIns="0" anchor="t" anchorCtr="0">
            <a:spAutoFit/>
          </a:bodyPr>
          <a:lstStyle/>
          <a:p>
            <a:pPr algn="l"/>
            <a:r>
              <a:rPr lang="en-US" sz="2250" b="1" dirty="0">
                <a:solidFill>
                  <a:srgbClr val="1B1B1D"/>
                </a:solidFill>
                <a:latin typeface="Anthropic Sans"/>
                <a:ea typeface="Anthropic Sans"/>
                <a:cs typeface="Anthropic Sans"/>
              </a:rPr>
              <a:t>Model</a:t>
            </a:r>
          </a:p>
        </p:txBody>
      </p:sp>
      <p:sp>
        <p:nvSpPr>
          <p:cNvPr id="17" name="TextBox 17"/>
          <p:cNvSpPr txBox="1"/>
          <p:nvPr/>
        </p:nvSpPr>
        <p:spPr>
          <a:xfrm>
            <a:off x="8372856" y="2377440"/>
            <a:ext cx="2635301" cy="352044"/>
          </a:xfrm>
          <a:prstGeom prst="rect">
            <a:avLst/>
          </a:prstGeom>
          <a:noFill/>
          <a:ln>
            <a:noFill/>
          </a:ln>
        </p:spPr>
        <p:txBody>
          <a:bodyPr wrap="none" lIns="0" tIns="0" rIns="0" bIns="0" anchor="t" anchorCtr="0">
            <a:spAutoFit/>
          </a:bodyPr>
          <a:lstStyle/>
          <a:p>
            <a:pPr algn="l"/>
            <a:r>
              <a:rPr lang="en-US" sz="1800" dirty="0">
                <a:solidFill>
                  <a:srgbClr val="1B1B1D"/>
                </a:solidFill>
                <a:latin typeface="Anthropic Sans"/>
                <a:ea typeface="Anthropic Sans"/>
                <a:cs typeface="Anthropic Sans"/>
              </a:rPr>
              <a:t>choose before sorting</a:t>
            </a:r>
          </a:p>
        </p:txBody>
      </p:sp>
      <p:sp>
        <p:nvSpPr>
          <p:cNvPr id="18" name="TextBox 18"/>
          <p:cNvSpPr txBox="1"/>
          <p:nvPr/>
        </p:nvSpPr>
        <p:spPr>
          <a:xfrm>
            <a:off x="8372856" y="2720340"/>
            <a:ext cx="2308174" cy="352044"/>
          </a:xfrm>
          <a:prstGeom prst="rect">
            <a:avLst/>
          </a:prstGeom>
          <a:noFill/>
          <a:ln>
            <a:noFill/>
          </a:ln>
        </p:spPr>
        <p:txBody>
          <a:bodyPr wrap="none" lIns="0" tIns="0" rIns="0" bIns="0" anchor="t" anchorCtr="0">
            <a:spAutoFit/>
          </a:bodyPr>
          <a:lstStyle/>
          <a:p>
            <a:pPr algn="l"/>
            <a:r>
              <a:rPr lang="en-US" sz="1800" dirty="0">
                <a:solidFill>
                  <a:srgbClr val="1B1B1D"/>
                </a:solidFill>
                <a:latin typeface="Anthropic Sans"/>
                <a:ea typeface="Anthropic Sans"/>
                <a:cs typeface="Anthropic Sans"/>
              </a:rPr>
              <a:t>using features only</a:t>
            </a:r>
          </a:p>
        </p:txBody>
      </p:sp>
      <p:pic>
        <p:nvPicPr>
          <p:cNvPr id="19" name="Image 19"/>
          <p:cNvPicPr>
            <a:picLocks noChangeAspect="1"/>
          </p:cNvPicPr>
          <p:nvPr/>
        </p:nvPicPr>
        <p:blipFill>
          <a:blip r:embed="rId3"/>
          <a:stretch>
            <a:fillRect/>
          </a:stretch>
        </p:blipFill>
        <p:spPr>
          <a:xfrm>
            <a:off x="1152620" y="4476750"/>
            <a:ext cx="4267010" cy="904875"/>
          </a:xfrm>
          <a:prstGeom prst="rect">
            <a:avLst/>
          </a:prstGeom>
        </p:spPr>
      </p:pic>
      <p:pic>
        <p:nvPicPr>
          <p:cNvPr id="20" name="Image 20"/>
          <p:cNvPicPr>
            <a:picLocks noChangeAspect="1"/>
          </p:cNvPicPr>
          <p:nvPr/>
        </p:nvPicPr>
        <p:blipFill>
          <a:blip r:embed="rId4"/>
          <a:stretch>
            <a:fillRect/>
          </a:stretch>
        </p:blipFill>
        <p:spPr>
          <a:xfrm>
            <a:off x="6572250" y="4539044"/>
            <a:ext cx="4381500" cy="780383"/>
          </a:xfrm>
          <a:prstGeom prst="rect">
            <a:avLst/>
          </a:prstGeom>
        </p:spPr>
      </p:pic>
      <p:sp>
        <p:nvSpPr>
          <p:cNvPr id="21" name="TextBox 21"/>
          <p:cNvSpPr txBox="1"/>
          <p:nvPr/>
        </p:nvSpPr>
        <p:spPr>
          <a:xfrm>
            <a:off x="1134999" y="5640229"/>
            <a:ext cx="8634688" cy="308039"/>
          </a:xfrm>
          <a:prstGeom prst="rect">
            <a:avLst/>
          </a:prstGeom>
          <a:noFill/>
          <a:ln>
            <a:noFill/>
          </a:ln>
        </p:spPr>
        <p:txBody>
          <a:bodyPr wrap="none" lIns="0" tIns="0" rIns="0" bIns="0" anchor="t" anchorCtr="0">
            <a:spAutoFit/>
          </a:bodyPr>
          <a:lstStyle/>
          <a:p>
            <a:r>
              <a:t>These formulas connect classifier output to measured runtime value.</a:t>
            </a:r>
          </a:p>
        </p:txBody>
      </p:sp>
      <p:sp>
        <p:nvSpPr>
          <p:cNvPr id="22" name="Line 22"/>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4" name="Freeform 24"/>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5" name="Rectangle 24"/>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14/24</a:t>
            </a:r>
          </a:p>
        </p:txBody>
      </p:sp>
      <p:sp>
        <p:nvSpPr>
          <p:cNvPr id="29" name="Rectangle 28"/>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The selector closes most of the runtime gap</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The most important result is runtime value: v5 recovers 93.1% of the SBS-to-VBS gap.</a:t>
            </a:r>
          </a:p>
        </p:txBody>
      </p:sp>
      <p:sp>
        <p:nvSpPr>
          <p:cNvPr id="7" name="Freeform 7"/>
          <p:cNvSpPr/>
          <p:nvPr/>
        </p:nvSpPr>
        <p:spPr>
          <a:xfrm>
            <a:off x="762000" y="1571625"/>
            <a:ext cx="4953000" cy="3381375"/>
          </a:xfrm>
          <a:custGeom>
            <a:avLst/>
            <a:gdLst/>
            <a:ahLst/>
            <a:cxnLst/>
            <a:rect l="l" t="t" r="r" b="b"/>
            <a:pathLst>
              <a:path w="4953000" h="3381375">
                <a:moveTo>
                  <a:pt x="76200" y="0"/>
                </a:moveTo>
                <a:lnTo>
                  <a:pt x="4876800" y="0"/>
                </a:lnTo>
                <a:cubicBezTo>
                  <a:pt x="4918884" y="0"/>
                  <a:pt x="4953000" y="34116"/>
                  <a:pt x="4953000" y="76200"/>
                </a:cubicBezTo>
                <a:lnTo>
                  <a:pt x="4953000" y="3305175"/>
                </a:lnTo>
                <a:cubicBezTo>
                  <a:pt x="4953000" y="3347259"/>
                  <a:pt x="4918884" y="3381375"/>
                  <a:pt x="4876800" y="3381375"/>
                </a:cubicBezTo>
                <a:lnTo>
                  <a:pt x="76200" y="3381375"/>
                </a:lnTo>
                <a:cubicBezTo>
                  <a:pt x="34116" y="3381375"/>
                  <a:pt x="0" y="3347259"/>
                  <a:pt x="0" y="3305175"/>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8" name="TextBox 8"/>
          <p:cNvSpPr txBox="1"/>
          <p:nvPr/>
        </p:nvSpPr>
        <p:spPr>
          <a:xfrm>
            <a:off x="1143000" y="2130742"/>
            <a:ext cx="2477465" cy="1133475"/>
          </a:xfrm>
          <a:prstGeom prst="rect">
            <a:avLst/>
          </a:prstGeom>
          <a:noFill/>
          <a:ln>
            <a:noFill/>
          </a:ln>
        </p:spPr>
        <p:txBody>
          <a:bodyPr wrap="none" lIns="0" tIns="0" rIns="0" bIns="0" anchor="t" anchorCtr="0">
            <a:spAutoFit/>
          </a:bodyPr>
          <a:lstStyle/>
          <a:p>
            <a:pPr algn="l"/>
            <a:r>
              <a:rPr lang="en-US" sz="2800" b="1" dirty="0">
                <a:solidFill>
                  <a:srgbClr val="F4511E"/>
                </a:solidFill>
                <a:latin typeface="Aptos Display"/>
                <a:ea typeface="Styrene A"/>
                <a:cs typeface="Styrene A"/>
              </a:rPr>
              <a:t>93.1%</a:t>
            </a:r>
          </a:p>
        </p:txBody>
      </p:sp>
      <p:sp>
        <p:nvSpPr>
          <p:cNvPr id="9" name="TextBox 9"/>
          <p:cNvSpPr txBox="1"/>
          <p:nvPr/>
        </p:nvSpPr>
        <p:spPr>
          <a:xfrm>
            <a:off x="1187196" y="3058478"/>
            <a:ext cx="3149765" cy="498729"/>
          </a:xfrm>
          <a:prstGeom prst="rect">
            <a:avLst/>
          </a:prstGeom>
          <a:noFill/>
          <a:ln>
            <a:noFill/>
          </a:ln>
        </p:spPr>
        <p:txBody>
          <a:bodyPr wrap="none" lIns="0" tIns="0" rIns="0" bIns="0" anchor="t" anchorCtr="0">
            <a:spAutoFit/>
          </a:bodyPr>
          <a:lstStyle/>
          <a:p>
            <a:pPr algn="l"/>
            <a:r>
              <a:rPr lang="en-US" sz="1400" b="0" dirty="0">
                <a:solidFill>
                  <a:srgbClr val="1B1B1D"/>
                </a:solidFill>
                <a:latin typeface="Aptos"/>
                <a:ea typeface="Anthropic Sans"/>
                <a:cs typeface="Anthropic Sans"/>
              </a:rPr>
              <a:t>runtime gap closed</a:t>
            </a:r>
          </a:p>
        </p:txBody>
      </p:sp>
      <p:sp>
        <p:nvSpPr>
          <p:cNvPr id="10" name="TextBox 10"/>
          <p:cNvSpPr txBox="1"/>
          <p:nvPr/>
        </p:nvSpPr>
        <p:spPr>
          <a:xfrm>
            <a:off x="1191006" y="3663315"/>
            <a:ext cx="4306824" cy="352044"/>
          </a:xfrm>
          <a:prstGeom prst="rect">
            <a:avLst/>
          </a:prstGeom>
          <a:noFill/>
          <a:ln>
            <a:noFill/>
          </a:ln>
        </p:spPr>
        <p:txBody>
          <a:bodyPr wrap="none" lIns="0" tIns="0" rIns="0" bIns="0" anchor="t" anchorCtr="0">
            <a:spAutoFit/>
          </a:bodyPr>
          <a:lstStyle/>
          <a:p>
            <a:r>
              <a:rPr sz="1400" b="0">
                <a:solidFill>
                  <a:srgbClr val="1B1B1D"/>
                </a:solidFill>
                <a:latin typeface="Aptos"/>
              </a:rPr>
              <a:t>Runtime regret is the main</a:t>
            </a:r>
          </a:p>
        </p:txBody>
      </p:sp>
      <p:sp>
        <p:nvSpPr>
          <p:cNvPr id="11" name="TextBox 11"/>
          <p:cNvSpPr txBox="1"/>
          <p:nvPr/>
        </p:nvSpPr>
        <p:spPr>
          <a:xfrm>
            <a:off x="1191006" y="3977640"/>
            <a:ext cx="4852492" cy="352044"/>
          </a:xfrm>
          <a:prstGeom prst="rect">
            <a:avLst/>
          </a:prstGeom>
          <a:noFill/>
          <a:ln>
            <a:noFill/>
          </a:ln>
        </p:spPr>
        <p:txBody>
          <a:bodyPr wrap="none" lIns="0" tIns="0" rIns="0" bIns="0" anchor="t" anchorCtr="0">
            <a:spAutoFit/>
          </a:bodyPr>
          <a:lstStyle/>
          <a:p>
            <a:r>
              <a:rPr sz="1400" b="0">
                <a:solidFill>
                  <a:srgbClr val="1B1B1D"/>
                </a:solidFill>
                <a:latin typeface="Aptos"/>
              </a:rPr>
              <a:t>evaluation signal.</a:t>
            </a:r>
          </a:p>
        </p:txBody>
      </p:sp>
      <p:sp>
        <p:nvSpPr>
          <p:cNvPr id="12" name="Freeform 12"/>
          <p:cNvSpPr/>
          <p:nvPr/>
        </p:nvSpPr>
        <p:spPr>
          <a:xfrm>
            <a:off x="638175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6598757" y="1816418"/>
            <a:ext cx="1851987" cy="847725"/>
          </a:xfrm>
          <a:prstGeom prst="rect">
            <a:avLst/>
          </a:prstGeom>
          <a:noFill/>
          <a:ln>
            <a:noFill/>
          </a:ln>
        </p:spPr>
        <p:txBody>
          <a:bodyPr wrap="none" lIns="0" tIns="0" rIns="0" bIns="0" anchor="t" anchorCtr="0">
            <a:spAutoFit/>
          </a:bodyPr>
          <a:lstStyle/>
          <a:p>
            <a:pPr algn="ctr"/>
            <a:r>
              <a:rPr lang="en-US" sz="2800" b="1" dirty="0">
                <a:solidFill>
                  <a:srgbClr val="9A1C3E"/>
                </a:solidFill>
                <a:latin typeface="Aptos Display"/>
                <a:ea typeface="Styrene A"/>
                <a:cs typeface="Styrene A"/>
              </a:rPr>
              <a:t>76.1%</a:t>
            </a:r>
          </a:p>
        </p:txBody>
      </p:sp>
      <p:sp>
        <p:nvSpPr>
          <p:cNvPr id="14" name="TextBox 14"/>
          <p:cNvSpPr txBox="1"/>
          <p:nvPr/>
        </p:nvSpPr>
        <p:spPr>
          <a:xfrm>
            <a:off x="6785258" y="2516029"/>
            <a:ext cx="1478985" cy="308039"/>
          </a:xfrm>
          <a:prstGeom prst="rect">
            <a:avLst/>
          </a:prstGeom>
          <a:noFill/>
          <a:ln>
            <a:noFill/>
          </a:ln>
        </p:spPr>
        <p:txBody>
          <a:bodyPr wrap="none" lIns="0" tIns="0" rIns="0" bIns="0" anchor="t" anchorCtr="0">
            <a:spAutoFit/>
          </a:bodyPr>
          <a:lstStyle/>
          <a:p>
            <a:pPr algn="ctr"/>
            <a:r>
              <a:rPr lang="en-US" sz="1400" b="0" dirty="0">
                <a:solidFill>
                  <a:srgbClr val="566987"/>
                </a:solidFill>
                <a:latin typeface="Aptos"/>
                <a:ea typeface="Anthropic Sans"/>
                <a:cs typeface="Anthropic Sans"/>
              </a:rPr>
              <a:t>test accuracy</a:t>
            </a:r>
          </a:p>
        </p:txBody>
      </p:sp>
      <p:sp>
        <p:nvSpPr>
          <p:cNvPr id="15" name="Freeform 15"/>
          <p:cNvSpPr/>
          <p:nvPr/>
        </p:nvSpPr>
        <p:spPr>
          <a:xfrm>
            <a:off x="914400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6" name="TextBox 16"/>
          <p:cNvSpPr txBox="1"/>
          <p:nvPr/>
        </p:nvSpPr>
        <p:spPr>
          <a:xfrm>
            <a:off x="9361007" y="1816418"/>
            <a:ext cx="1851987" cy="847725"/>
          </a:xfrm>
          <a:prstGeom prst="rect">
            <a:avLst/>
          </a:prstGeom>
          <a:noFill/>
          <a:ln>
            <a:noFill/>
          </a:ln>
        </p:spPr>
        <p:txBody>
          <a:bodyPr wrap="none" lIns="0" tIns="0" rIns="0" bIns="0" anchor="t" anchorCtr="0">
            <a:spAutoFit/>
          </a:bodyPr>
          <a:lstStyle/>
          <a:p>
            <a:pPr algn="ctr"/>
            <a:r>
              <a:rPr lang="en-US" sz="2800" b="1" dirty="0">
                <a:solidFill>
                  <a:srgbClr val="9A1C3E"/>
                </a:solidFill>
                <a:latin typeface="Aptos Display"/>
                <a:ea typeface="Styrene A"/>
                <a:cs typeface="Styrene A"/>
              </a:rPr>
              <a:t>89.6%</a:t>
            </a:r>
          </a:p>
        </p:txBody>
      </p:sp>
      <p:sp>
        <p:nvSpPr>
          <p:cNvPr id="17" name="TextBox 17"/>
          <p:cNvSpPr txBox="1"/>
          <p:nvPr/>
        </p:nvSpPr>
        <p:spPr>
          <a:xfrm>
            <a:off x="9664122" y="2516029"/>
            <a:ext cx="1245756" cy="308039"/>
          </a:xfrm>
          <a:prstGeom prst="rect">
            <a:avLst/>
          </a:prstGeom>
          <a:noFill/>
          <a:ln>
            <a:noFill/>
          </a:ln>
        </p:spPr>
        <p:txBody>
          <a:bodyPr wrap="none" lIns="0" tIns="0" rIns="0" bIns="0" anchor="t" anchorCtr="0">
            <a:spAutoFit/>
          </a:bodyPr>
          <a:lstStyle/>
          <a:p>
            <a:pPr algn="ctr"/>
            <a:r>
              <a:rPr lang="en-US" sz="1400" b="0" dirty="0">
                <a:solidFill>
                  <a:srgbClr val="566987"/>
                </a:solidFill>
                <a:latin typeface="Aptos"/>
                <a:ea typeface="Anthropic Sans"/>
                <a:cs typeface="Anthropic Sans"/>
              </a:rPr>
              <a:t>zero regret</a:t>
            </a:r>
          </a:p>
        </p:txBody>
      </p:sp>
      <p:pic>
        <p:nvPicPr>
          <p:cNvPr id="18" name="Image 18"/>
          <p:cNvPicPr>
            <a:picLocks noChangeAspect="1"/>
          </p:cNvPicPr>
          <p:nvPr/>
        </p:nvPicPr>
        <p:blipFill>
          <a:blip r:embed="rId3"/>
          <a:stretch>
            <a:fillRect/>
          </a:stretch>
        </p:blipFill>
        <p:spPr>
          <a:xfrm>
            <a:off x="7505033" y="3429000"/>
            <a:ext cx="2801779" cy="1952625"/>
          </a:xfrm>
          <a:prstGeom prst="rect">
            <a:avLst/>
          </a:prstGeom>
        </p:spPr>
      </p:pic>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15/24</a:t>
            </a:r>
          </a:p>
        </p:txBody>
      </p:sp>
      <p:sp>
        <p:nvSpPr>
          <p:cNvPr id="26" name="Rectangle 25"/>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Accuracy alone does not explain runtime value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Many misclassifications have low regret because candidate runtimes are nearly tied.</a:t>
            </a:r>
          </a:p>
        </p:txBody>
      </p:sp>
      <p:pic>
        <p:nvPicPr>
          <p:cNvPr id="7" name="Image 7"/>
          <p:cNvPicPr>
            <a:picLocks noChangeAspect="1"/>
          </p:cNvPicPr>
          <p:nvPr/>
        </p:nvPicPr>
        <p:blipFill>
          <a:blip r:embed="rId3"/>
          <a:stretch>
            <a:fillRect/>
          </a:stretch>
        </p:blipFill>
        <p:spPr>
          <a:xfrm>
            <a:off x="760190" y="1428750"/>
            <a:ext cx="6480620" cy="4000500"/>
          </a:xfrm>
          <a:prstGeom prst="rect">
            <a:avLst/>
          </a:prstGeom>
        </p:spPr>
      </p:pic>
      <p:sp>
        <p:nvSpPr>
          <p:cNvPr id="8" name="Freeform 8"/>
          <p:cNvSpPr/>
          <p:nvPr/>
        </p:nvSpPr>
        <p:spPr>
          <a:xfrm>
            <a:off x="7953375" y="1619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225409" y="1804035"/>
            <a:ext cx="1153293" cy="528066"/>
          </a:xfrm>
          <a:prstGeom prst="rect">
            <a:avLst/>
          </a:prstGeom>
          <a:noFill/>
          <a:ln>
            <a:noFill/>
          </a:ln>
        </p:spPr>
        <p:txBody>
          <a:bodyPr wrap="none" lIns="0" tIns="0" rIns="0" bIns="0" anchor="t" anchorCtr="0">
            <a:spAutoFit/>
          </a:bodyPr>
          <a:lstStyle/>
          <a:p>
            <a:pPr algn="l"/>
            <a:r>
              <a:rPr lang="en-US" sz="2700" b="1" dirty="0">
                <a:solidFill>
                  <a:srgbClr val="191919"/>
                </a:solidFill>
                <a:latin typeface="Styrene A"/>
                <a:ea typeface="Styrene A"/>
                <a:cs typeface="Styrene A"/>
              </a:rPr>
              <a:t>76.1%</a:t>
            </a:r>
          </a:p>
        </p:txBody>
      </p:sp>
      <p:sp>
        <p:nvSpPr>
          <p:cNvPr id="10" name="TextBox 10"/>
          <p:cNvSpPr txBox="1"/>
          <p:nvPr/>
        </p:nvSpPr>
        <p:spPr>
          <a:xfrm>
            <a:off x="8229981" y="228219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label accuracy</a:t>
            </a:r>
          </a:p>
        </p:txBody>
      </p:sp>
      <p:sp>
        <p:nvSpPr>
          <p:cNvPr id="11" name="Freeform 11"/>
          <p:cNvSpPr/>
          <p:nvPr/>
        </p:nvSpPr>
        <p:spPr>
          <a:xfrm>
            <a:off x="7953375" y="3143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2" name="TextBox 12"/>
          <p:cNvSpPr txBox="1"/>
          <p:nvPr/>
        </p:nvSpPr>
        <p:spPr>
          <a:xfrm>
            <a:off x="8225409" y="3328035"/>
            <a:ext cx="1153293" cy="528066"/>
          </a:xfrm>
          <a:prstGeom prst="rect">
            <a:avLst/>
          </a:prstGeom>
          <a:noFill/>
          <a:ln>
            <a:noFill/>
          </a:ln>
        </p:spPr>
        <p:txBody>
          <a:bodyPr wrap="none" lIns="0" tIns="0" rIns="0" bIns="0" anchor="t" anchorCtr="0">
            <a:spAutoFit/>
          </a:bodyPr>
          <a:lstStyle/>
          <a:p>
            <a:pPr algn="l"/>
            <a:r>
              <a:rPr lang="en-US" sz="2700" b="1" dirty="0">
                <a:solidFill>
                  <a:srgbClr val="F4511E"/>
                </a:solidFill>
                <a:latin typeface="Styrene A"/>
                <a:ea typeface="Styrene A"/>
                <a:cs typeface="Styrene A"/>
              </a:rPr>
              <a:t>93.1%</a:t>
            </a:r>
          </a:p>
        </p:txBody>
      </p:sp>
      <p:sp>
        <p:nvSpPr>
          <p:cNvPr id="13" name="TextBox 13"/>
          <p:cNvSpPr txBox="1"/>
          <p:nvPr/>
        </p:nvSpPr>
        <p:spPr>
          <a:xfrm>
            <a:off x="8229981" y="3806190"/>
            <a:ext cx="1229868" cy="352044"/>
          </a:xfrm>
          <a:prstGeom prst="rect">
            <a:avLst/>
          </a:prstGeom>
          <a:noFill/>
          <a:ln>
            <a:noFill/>
          </a:ln>
        </p:spPr>
        <p:txBody>
          <a:bodyPr wrap="none" lIns="0" tIns="0" rIns="0" bIns="0" anchor="t" anchorCtr="0">
            <a:spAutoFit/>
          </a:bodyPr>
          <a:lstStyle/>
          <a:p>
            <a:pPr algn="l"/>
            <a:r>
              <a:rPr lang="en-US" sz="1800" dirty="0">
                <a:solidFill>
                  <a:srgbClr val="1B1B1D"/>
                </a:solidFill>
                <a:latin typeface="Anthropic Sans"/>
                <a:ea typeface="Anthropic Sans"/>
                <a:cs typeface="Anthropic Sans"/>
              </a:rPr>
              <a:t>gap closed</a:t>
            </a:r>
          </a:p>
        </p:txBody>
      </p:sp>
      <p:sp>
        <p:nvSpPr>
          <p:cNvPr id="14" name="TextBox 14"/>
          <p:cNvSpPr txBox="1"/>
          <p:nvPr/>
        </p:nvSpPr>
        <p:spPr>
          <a:xfrm>
            <a:off x="7944231" y="4758690"/>
            <a:ext cx="3963348" cy="352044"/>
          </a:xfrm>
          <a:prstGeom prst="rect">
            <a:avLst/>
          </a:prstGeom>
          <a:noFill/>
          <a:ln>
            <a:noFill/>
          </a:ln>
        </p:spPr>
        <p:txBody>
          <a:bodyPr wrap="none" lIns="0" tIns="0" rIns="0" bIns="0" anchor="t" anchorCtr="0">
            <a:spAutoFit/>
          </a:bodyPr>
          <a:lstStyle/>
          <a:p>
            <a:r>
              <a:t>The result is evaluated by runtime regret,</a:t>
            </a:r>
          </a:p>
          <a:p>
            <a:r>
              <a:t>not accuracy alone.</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16/24</a:t>
            </a:r>
          </a:p>
        </p:txBody>
      </p:sp>
      <p:sp>
        <p:nvSpPr>
          <p:cNvPr id="23" name="Rectangle 22"/>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residual error is concentrated in the introsort-heapsort boundary</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The confusion matrix shows strong timsort behavior and weaker separation where runtimes are close.</a:t>
            </a:r>
          </a:p>
        </p:txBody>
      </p:sp>
      <p:pic>
        <p:nvPicPr>
          <p:cNvPr id="7" name="Image 7"/>
          <p:cNvPicPr>
            <a:picLocks noChangeAspect="1"/>
          </p:cNvPicPr>
          <p:nvPr/>
        </p:nvPicPr>
        <p:blipFill>
          <a:blip r:embed="rId3"/>
          <a:stretch>
            <a:fillRect/>
          </a:stretch>
        </p:blipFill>
        <p:spPr>
          <a:xfrm>
            <a:off x="769906" y="1428750"/>
            <a:ext cx="5413343" cy="4429125"/>
          </a:xfrm>
          <a:prstGeom prst="rect">
            <a:avLst/>
          </a:prstGeom>
        </p:spPr>
      </p:pic>
      <p:sp>
        <p:nvSpPr>
          <p:cNvPr id="8" name="Freeform 8"/>
          <p:cNvSpPr/>
          <p:nvPr/>
        </p:nvSpPr>
        <p:spPr>
          <a:xfrm>
            <a:off x="6858000" y="1619250"/>
            <a:ext cx="4191000" cy="1143000"/>
          </a:xfrm>
          <a:custGeom>
            <a:avLst/>
            <a:gdLst/>
            <a:ahLst/>
            <a:cxnLst/>
            <a:rect l="l" t="t" r="r" b="b"/>
            <a:pathLst>
              <a:path w="4191000" h="1143000">
                <a:moveTo>
                  <a:pt x="76200" y="0"/>
                </a:moveTo>
                <a:lnTo>
                  <a:pt x="4114800" y="0"/>
                </a:lnTo>
                <a:cubicBezTo>
                  <a:pt x="4156884" y="0"/>
                  <a:pt x="4191000" y="34116"/>
                  <a:pt x="4191000" y="76200"/>
                </a:cubicBezTo>
                <a:lnTo>
                  <a:pt x="4191000" y="1066800"/>
                </a:lnTo>
                <a:cubicBezTo>
                  <a:pt x="4191000" y="1108884"/>
                  <a:pt x="4156884" y="1143000"/>
                  <a:pt x="4114800" y="1143000"/>
                </a:cubicBezTo>
                <a:lnTo>
                  <a:pt x="76200" y="1143000"/>
                </a:lnTo>
                <a:cubicBezTo>
                  <a:pt x="34116" y="1143000"/>
                  <a:pt x="0" y="1108884"/>
                  <a:pt x="0" y="106680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9" name="TextBox 9"/>
          <p:cNvSpPr txBox="1"/>
          <p:nvPr/>
        </p:nvSpPr>
        <p:spPr>
          <a:xfrm>
            <a:off x="7130034" y="1804035"/>
            <a:ext cx="1153293" cy="528066"/>
          </a:xfrm>
          <a:prstGeom prst="rect">
            <a:avLst/>
          </a:prstGeom>
          <a:noFill/>
          <a:ln>
            <a:noFill/>
          </a:ln>
        </p:spPr>
        <p:txBody>
          <a:bodyPr wrap="none" lIns="0" tIns="0" rIns="0" bIns="0" anchor="t" anchorCtr="0">
            <a:spAutoFit/>
          </a:bodyPr>
          <a:lstStyle/>
          <a:p>
            <a:pPr algn="l"/>
            <a:r>
              <a:rPr lang="en-US" sz="3000" b="1" dirty="0">
                <a:solidFill>
                  <a:srgbClr val="9A173D"/>
                </a:solidFill>
                <a:latin typeface="Aptos Display"/>
                <a:ea typeface="Styrene A"/>
                <a:cs typeface="Styrene A"/>
              </a:rPr>
              <a:t>94.5%</a:t>
            </a:r>
          </a:p>
        </p:txBody>
      </p:sp>
      <p:sp>
        <p:nvSpPr>
          <p:cNvPr id="10" name="TextBox 10"/>
          <p:cNvSpPr txBox="1"/>
          <p:nvPr/>
        </p:nvSpPr>
        <p:spPr>
          <a:xfrm>
            <a:off x="7134606" y="2282190"/>
            <a:ext cx="1690268" cy="352044"/>
          </a:xfrm>
          <a:prstGeom prst="rect">
            <a:avLst/>
          </a:prstGeom>
          <a:noFill/>
          <a:ln>
            <a:noFill/>
          </a:ln>
        </p:spPr>
        <p:txBody>
          <a:bodyPr wrap="none" lIns="0" tIns="0" rIns="0" bIns="0" anchor="t" anchorCtr="0">
            <a:spAutoFit/>
          </a:bodyPr>
          <a:lstStyle/>
          <a:p>
            <a:pPr algn="l"/>
            <a:r>
              <a:rPr lang="en-US" sz="1400" b="0" dirty="0">
                <a:solidFill>
                  <a:srgbClr val="1B1B1D"/>
                </a:solidFill>
                <a:latin typeface="Aptos"/>
                <a:ea typeface="Anthropic Sans"/>
                <a:cs typeface="Anthropic Sans"/>
              </a:rPr>
              <a:t>timsort recall</a:t>
            </a:r>
          </a:p>
        </p:txBody>
      </p:sp>
      <p:sp>
        <p:nvSpPr>
          <p:cNvPr id="11" name="Freeform 11"/>
          <p:cNvSpPr/>
          <p:nvPr/>
        </p:nvSpPr>
        <p:spPr>
          <a:xfrm>
            <a:off x="6858000" y="3143250"/>
            <a:ext cx="4191000" cy="1762125"/>
          </a:xfrm>
          <a:custGeom>
            <a:avLst/>
            <a:gdLst/>
            <a:ahLst/>
            <a:cxnLst/>
            <a:rect l="l" t="t" r="r" b="b"/>
            <a:pathLst>
              <a:path w="4191000" h="1762125">
                <a:moveTo>
                  <a:pt x="76200" y="0"/>
                </a:moveTo>
                <a:lnTo>
                  <a:pt x="4114800" y="0"/>
                </a:lnTo>
                <a:cubicBezTo>
                  <a:pt x="4156884" y="0"/>
                  <a:pt x="4191000" y="34116"/>
                  <a:pt x="4191000" y="76200"/>
                </a:cubicBezTo>
                <a:lnTo>
                  <a:pt x="4191000" y="1685925"/>
                </a:lnTo>
                <a:cubicBezTo>
                  <a:pt x="4191000" y="1728009"/>
                  <a:pt x="4156884" y="1762125"/>
                  <a:pt x="4114800" y="1762125"/>
                </a:cubicBezTo>
                <a:lnTo>
                  <a:pt x="76200" y="1762125"/>
                </a:lnTo>
                <a:cubicBezTo>
                  <a:pt x="34116" y="1762125"/>
                  <a:pt x="0" y="1728009"/>
                  <a:pt x="0" y="1685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7132320" y="3395662"/>
            <a:ext cx="2368296" cy="440055"/>
          </a:xfrm>
          <a:prstGeom prst="rect">
            <a:avLst/>
          </a:prstGeom>
          <a:noFill/>
          <a:ln>
            <a:noFill/>
          </a:ln>
        </p:spPr>
        <p:txBody>
          <a:bodyPr wrap="none" lIns="0" tIns="0" rIns="0" bIns="0" anchor="t" anchorCtr="0">
            <a:spAutoFit/>
          </a:bodyPr>
          <a:lstStyle/>
          <a:p>
            <a:pPr algn="l"/>
            <a:r>
              <a:rPr lang="en-US" sz="1400" b="1" dirty="0">
                <a:solidFill>
                  <a:srgbClr val="191919"/>
                </a:solidFill>
                <a:latin typeface="Aptos"/>
                <a:ea typeface="Anthropic Sans"/>
                <a:cs typeface="Anthropic Sans"/>
              </a:rPr>
              <a:t>Interpretation</a:t>
            </a:r>
          </a:p>
        </p:txBody>
      </p:sp>
      <p:sp>
        <p:nvSpPr>
          <p:cNvPr id="13" name="TextBox 13"/>
          <p:cNvSpPr txBox="1"/>
          <p:nvPr/>
        </p:nvSpPr>
        <p:spPr>
          <a:xfrm>
            <a:off x="7134606" y="3901440"/>
            <a:ext cx="5967558" cy="352044"/>
          </a:xfrm>
          <a:prstGeom prst="rect">
            <a:avLst/>
          </a:prstGeom>
          <a:noFill/>
          <a:ln>
            <a:noFill/>
          </a:ln>
        </p:spPr>
        <p:txBody>
          <a:bodyPr wrap="none" lIns="0" tIns="0" rIns="0" bIns="0" anchor="t" anchorCtr="0">
            <a:spAutoFit/>
          </a:bodyPr>
          <a:lstStyle/>
          <a:p>
            <a:r>
              <a:rPr sz="1400" b="0">
                <a:solidFill>
                  <a:srgbClr val="191919"/>
                </a:solidFill>
                <a:latin typeface="Aptos"/>
              </a:rPr>
              <a:t>timsort is easier when order signals are present.</a:t>
            </a:r>
          </a:p>
        </p:txBody>
      </p:sp>
      <p:sp>
        <p:nvSpPr>
          <p:cNvPr id="14" name="TextBox 14"/>
          <p:cNvSpPr txBox="1"/>
          <p:nvPr/>
        </p:nvSpPr>
        <p:spPr>
          <a:xfrm>
            <a:off x="7134606" y="4282440"/>
            <a:ext cx="4164940" cy="352044"/>
          </a:xfrm>
          <a:prstGeom prst="rect">
            <a:avLst/>
          </a:prstGeom>
          <a:noFill/>
          <a:ln>
            <a:noFill/>
          </a:ln>
        </p:spPr>
        <p:txBody>
          <a:bodyPr wrap="none" lIns="0" tIns="0" rIns="0" bIns="0" anchor="t" anchorCtr="0">
            <a:spAutoFit/>
          </a:bodyPr>
          <a:lstStyle/>
          <a:p>
            <a:r>
              <a:rPr sz="1400" b="0">
                <a:solidFill>
                  <a:srgbClr val="191919"/>
                </a:solidFill>
                <a:latin typeface="Aptos"/>
              </a:rPr>
              <a:t>introsort and heapsort can be much closer.</a:t>
            </a:r>
          </a:p>
        </p:txBody>
      </p:sp>
      <p:sp>
        <p:nvSpPr>
          <p:cNvPr id="15" name="TextBox 15"/>
          <p:cNvSpPr txBox="1"/>
          <p:nvPr/>
        </p:nvSpPr>
        <p:spPr>
          <a:xfrm>
            <a:off x="6848856" y="5282565"/>
            <a:ext cx="4669675" cy="352044"/>
          </a:xfrm>
          <a:prstGeom prst="rect">
            <a:avLst/>
          </a:prstGeom>
          <a:noFill/>
          <a:ln>
            <a:noFill/>
          </a:ln>
        </p:spPr>
        <p:txBody>
          <a:bodyPr wrap="none" lIns="0" tIns="0" rIns="0" bIns="0" anchor="t" anchorCtr="0">
            <a:spAutoFit/>
          </a:bodyPr>
          <a:lstStyle/>
          <a:p>
            <a:r>
              <a:rPr sz="1400" b="0">
                <a:solidFill>
                  <a:srgbClr val="191919"/>
                </a:solidFill>
                <a:latin typeface="Aptos"/>
              </a:rPr>
              <a:t>Many errors in this boundary</a:t>
            </a:r>
          </a:p>
        </p:txBody>
      </p:sp>
      <p:sp>
        <p:nvSpPr>
          <p:cNvPr id="16" name="TextBox 16"/>
          <p:cNvSpPr txBox="1"/>
          <p:nvPr/>
        </p:nvSpPr>
        <p:spPr>
          <a:xfrm>
            <a:off x="6848856" y="5615940"/>
            <a:ext cx="4222471" cy="352044"/>
          </a:xfrm>
          <a:prstGeom prst="rect">
            <a:avLst/>
          </a:prstGeom>
          <a:noFill/>
          <a:ln>
            <a:noFill/>
          </a:ln>
        </p:spPr>
        <p:txBody>
          <a:bodyPr wrap="none" lIns="0" tIns="0" rIns="0" bIns="0" anchor="t" anchorCtr="0">
            <a:spAutoFit/>
          </a:bodyPr>
          <a:lstStyle/>
          <a:p>
            <a:r>
              <a:rPr sz="1400" b="0">
                <a:solidFill>
                  <a:srgbClr val="191919"/>
                </a:solidFill>
                <a:latin typeface="Aptos"/>
              </a:rPr>
              <a:t>have low measured regret.</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17/24</a:t>
            </a:r>
          </a:p>
        </p:txBody>
      </p:sp>
      <p:sp>
        <p:nvSpPr>
          <p:cNvPr id="24" name="Rectangle 23"/>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model uses structural array signals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Feature importance is dominated by length, repetition, and ordering descriptors.</a:t>
            </a:r>
          </a:p>
        </p:txBody>
      </p:sp>
      <p:pic>
        <p:nvPicPr>
          <p:cNvPr id="7" name="Image 7"/>
          <p:cNvPicPr>
            <a:picLocks noChangeAspect="1"/>
          </p:cNvPicPr>
          <p:nvPr/>
        </p:nvPicPr>
        <p:blipFill>
          <a:blip r:embed="rId3"/>
          <a:stretch>
            <a:fillRect/>
          </a:stretch>
        </p:blipFill>
        <p:spPr>
          <a:xfrm>
            <a:off x="1203579" y="1381125"/>
            <a:ext cx="6165247" cy="4238625"/>
          </a:xfrm>
          <a:prstGeom prst="rect">
            <a:avLst/>
          </a:prstGeom>
        </p:spPr>
      </p:pic>
      <p:sp>
        <p:nvSpPr>
          <p:cNvPr id="8" name="Freeform 8"/>
          <p:cNvSpPr/>
          <p:nvPr/>
        </p:nvSpPr>
        <p:spPr>
          <a:xfrm>
            <a:off x="8382000" y="1545000"/>
            <a:ext cx="2857500" cy="138000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658606" y="1820000"/>
            <a:ext cx="2500000" cy="300000"/>
          </a:xfrm>
          <a:prstGeom prst="rect">
            <a:avLst/>
          </a:prstGeom>
          <a:noFill/>
          <a:ln>
            <a:noFill/>
          </a:ln>
        </p:spPr>
        <p:txBody>
          <a:bodyPr wrap="square" lIns="0" tIns="0" rIns="0" bIns="0" anchor="t" anchorCtr="0">
            <a:spAutoFit/>
          </a:bodyPr>
          <a:lstStyle/>
          <a:p>
            <a:pPr>
              <a:spcBef>
                <a:spcPts val="0"/>
              </a:spcBef>
              <a:spcAft>
                <a:spcPts val="0"/>
              </a:spcAft>
            </a:pPr>
            <a:r>
              <a:rPr sz="1800" b="1">
                <a:solidFill>
                  <a:srgbClr val="1B1B1D"/>
                </a:solidFill>
              </a:rPr>
              <a:t>Ordering</a:t>
            </a:r>
          </a:p>
        </p:txBody>
      </p:sp>
      <p:sp>
        <p:nvSpPr>
          <p:cNvPr id="10" name="TextBox 10"/>
          <p:cNvSpPr txBox="1"/>
          <p:nvPr/>
        </p:nvSpPr>
        <p:spPr>
          <a:xfrm>
            <a:off x="8659749" y="2240000"/>
            <a:ext cx="2450000" cy="620000"/>
          </a:xfrm>
          <a:prstGeom prst="rect">
            <a:avLst/>
          </a:prstGeom>
          <a:noFill/>
          <a:ln>
            <a:noFill/>
          </a:ln>
        </p:spPr>
        <p:txBody>
          <a:bodyPr wrap="square" lIns="0" tIns="0" rIns="0" bIns="0" anchor="t" anchorCtr="0">
            <a:spAutoFit/>
          </a:bodyPr>
          <a:lstStyle/>
          <a:p>
            <a:pPr>
              <a:spcBef>
                <a:spcPts val="0"/>
              </a:spcBef>
              <a:spcAft>
                <a:spcPts val="0"/>
              </a:spcAft>
            </a:pPr>
            <a:r>
              <a:rPr sz="1250">
                <a:solidFill>
                  <a:srgbClr val="526278"/>
                </a:solidFill>
              </a:rPr>
              <a:t>longest_run_ratio</a:t>
            </a:r>
          </a:p>
          <a:p>
            <a:pPr>
              <a:spcBef>
                <a:spcPts val="0"/>
              </a:spcBef>
              <a:spcAft>
                <a:spcPts val="0"/>
              </a:spcAft>
            </a:pPr>
            <a:r>
              <a:rPr sz="1250">
                <a:solidFill>
                  <a:srgbClr val="526278"/>
                </a:solidFill>
              </a:rPr>
              <a:t>runs_ratio</a:t>
            </a:r>
          </a:p>
          <a:p>
            <a:pPr>
              <a:spcBef>
                <a:spcPts val="0"/>
              </a:spcBef>
              <a:spcAft>
                <a:spcPts val="0"/>
              </a:spcAft>
            </a:pPr>
            <a:r>
              <a:rPr sz="1250">
                <a:solidFill>
                  <a:srgbClr val="526278"/>
                </a:solidFill>
              </a:rPr>
              <a:t>adj_sorted_ratio</a:t>
            </a:r>
          </a:p>
        </p:txBody>
      </p:sp>
      <p:sp>
        <p:nvSpPr>
          <p:cNvPr id="11" name="Freeform 11"/>
          <p:cNvSpPr/>
          <p:nvPr/>
        </p:nvSpPr>
        <p:spPr>
          <a:xfrm>
            <a:off x="8382000" y="3200000"/>
            <a:ext cx="2857500" cy="138000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8658606" y="3480000"/>
            <a:ext cx="2550000" cy="300000"/>
          </a:xfrm>
          <a:prstGeom prst="rect">
            <a:avLst/>
          </a:prstGeom>
          <a:noFill/>
          <a:ln>
            <a:noFill/>
          </a:ln>
        </p:spPr>
        <p:txBody>
          <a:bodyPr wrap="square" lIns="0" tIns="0" rIns="0" bIns="0" anchor="t" anchorCtr="0">
            <a:spAutoFit/>
          </a:bodyPr>
          <a:lstStyle/>
          <a:p>
            <a:pPr>
              <a:spcBef>
                <a:spcPts val="0"/>
              </a:spcBef>
              <a:spcAft>
                <a:spcPts val="0"/>
              </a:spcAft>
            </a:pPr>
            <a:r>
              <a:rPr sz="1700" b="1">
                <a:solidFill>
                  <a:srgbClr val="1B1B1D"/>
                </a:solidFill>
              </a:rPr>
              <a:t>Repetition / distribution</a:t>
            </a:r>
          </a:p>
        </p:txBody>
      </p:sp>
      <p:sp>
        <p:nvSpPr>
          <p:cNvPr id="13" name="TextBox 13"/>
          <p:cNvSpPr txBox="1"/>
          <p:nvPr/>
        </p:nvSpPr>
        <p:spPr>
          <a:xfrm>
            <a:off x="8659749" y="3900000"/>
            <a:ext cx="2450000" cy="620000"/>
          </a:xfrm>
          <a:prstGeom prst="rect">
            <a:avLst/>
          </a:prstGeom>
          <a:noFill/>
          <a:ln>
            <a:noFill/>
          </a:ln>
        </p:spPr>
        <p:txBody>
          <a:bodyPr wrap="square" lIns="0" tIns="0" rIns="0" bIns="0" anchor="t" anchorCtr="0">
            <a:spAutoFit/>
          </a:bodyPr>
          <a:lstStyle/>
          <a:p>
            <a:pPr>
              <a:spcBef>
                <a:spcPts val="0"/>
              </a:spcBef>
              <a:spcAft>
                <a:spcPts val="0"/>
              </a:spcAft>
            </a:pPr>
            <a:r>
              <a:rPr sz="1250">
                <a:solidFill>
                  <a:srgbClr val="526278"/>
                </a:solidFill>
              </a:rPr>
              <a:t>top5_freq_ratio</a:t>
            </a:r>
          </a:p>
          <a:p>
            <a:pPr>
              <a:spcBef>
                <a:spcPts val="0"/>
              </a:spcBef>
              <a:spcAft>
                <a:spcPts val="0"/>
              </a:spcAft>
            </a:pPr>
            <a:r>
              <a:rPr sz="1250">
                <a:solidFill>
                  <a:srgbClr val="526278"/>
                </a:solidFill>
              </a:rPr>
              <a:t>duplicate_ratio</a:t>
            </a:r>
          </a:p>
          <a:p>
            <a:pPr>
              <a:spcBef>
                <a:spcPts val="0"/>
              </a:spcBef>
              <a:spcAft>
                <a:spcPts val="0"/>
              </a:spcAft>
            </a:pPr>
            <a:r>
              <a:rPr sz="1250">
                <a:solidFill>
                  <a:srgbClr val="526278"/>
                </a:solidFill>
              </a:rPr>
              <a:t>entropy_ratio</a:t>
            </a:r>
          </a:p>
        </p:txBody>
      </p:sp>
      <p:sp>
        <p:nvSpPr>
          <p:cNvPr id="14" name="Freeform 14"/>
          <p:cNvSpPr/>
          <p:nvPr/>
        </p:nvSpPr>
        <p:spPr>
          <a:xfrm>
            <a:off x="8382000" y="4860000"/>
            <a:ext cx="2857500" cy="118000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5" name="TextBox 15"/>
          <p:cNvSpPr txBox="1"/>
          <p:nvPr/>
        </p:nvSpPr>
        <p:spPr>
          <a:xfrm>
            <a:off x="8658606" y="5120000"/>
            <a:ext cx="2450000" cy="300000"/>
          </a:xfrm>
          <a:prstGeom prst="rect">
            <a:avLst/>
          </a:prstGeom>
          <a:noFill/>
          <a:ln>
            <a:noFill/>
          </a:ln>
        </p:spPr>
        <p:txBody>
          <a:bodyPr wrap="square" lIns="0" tIns="0" rIns="0" bIns="0" anchor="t" anchorCtr="0">
            <a:spAutoFit/>
          </a:bodyPr>
          <a:lstStyle/>
          <a:p>
            <a:pPr>
              <a:spcBef>
                <a:spcPts val="0"/>
              </a:spcBef>
              <a:spcAft>
                <a:spcPts val="0"/>
              </a:spcAft>
            </a:pPr>
            <a:r>
              <a:rPr sz="1800" b="1">
                <a:solidFill>
                  <a:srgbClr val="1B1B1D"/>
                </a:solidFill>
              </a:rPr>
              <a:t>Size / scale</a:t>
            </a:r>
          </a:p>
        </p:txBody>
      </p:sp>
      <p:sp>
        <p:nvSpPr>
          <p:cNvPr id="16" name="TextBox 16"/>
          <p:cNvSpPr txBox="1"/>
          <p:nvPr/>
        </p:nvSpPr>
        <p:spPr>
          <a:xfrm>
            <a:off x="8659749" y="5520000"/>
            <a:ext cx="2450000" cy="420000"/>
          </a:xfrm>
          <a:prstGeom prst="rect">
            <a:avLst/>
          </a:prstGeom>
          <a:noFill/>
          <a:ln>
            <a:noFill/>
          </a:ln>
        </p:spPr>
        <p:txBody>
          <a:bodyPr wrap="square" lIns="0" tIns="0" rIns="0" bIns="0" anchor="t" anchorCtr="0">
            <a:spAutoFit/>
          </a:bodyPr>
          <a:lstStyle/>
          <a:p>
            <a:pPr>
              <a:spcBef>
                <a:spcPts val="0"/>
              </a:spcBef>
              <a:spcAft>
                <a:spcPts val="0"/>
              </a:spcAft>
            </a:pPr>
            <a:r>
              <a:rPr sz="1250">
                <a:solidFill>
                  <a:srgbClr val="526278"/>
                </a:solidFill>
              </a:rPr>
              <a:t>length_norm</a:t>
            </a:r>
          </a:p>
          <a:p>
            <a:pPr>
              <a:spcBef>
                <a:spcPts val="0"/>
              </a:spcBef>
              <a:spcAft>
                <a:spcPts val="0"/>
              </a:spcAft>
            </a:pPr>
            <a:r>
              <a:rPr sz="1250">
                <a:solidFill>
                  <a:srgbClr val="526278"/>
                </a:solidFill>
              </a:rPr>
              <a:t>robust scale descriptors</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18/24</a:t>
            </a:r>
          </a:p>
        </p:txBody>
      </p:sp>
      <p:sp>
        <p:nvSpPr>
          <p:cNvPr id="24" name="Rectangle 23"/>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Leave-one-domain-out testing shows partial cross-domain transfer</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Each fold holds out one full domain, making the test workload unseen during training.</a:t>
            </a:r>
          </a:p>
        </p:txBody>
      </p:sp>
      <p:pic>
        <p:nvPicPr>
          <p:cNvPr id="7" name="Image 7"/>
          <p:cNvPicPr>
            <a:picLocks noChangeAspect="1"/>
          </p:cNvPicPr>
          <p:nvPr/>
        </p:nvPicPr>
        <p:blipFill>
          <a:blip r:embed="rId3"/>
          <a:stretch>
            <a:fillRect/>
          </a:stretch>
        </p:blipFill>
        <p:spPr>
          <a:xfrm>
            <a:off x="790194" y="1381125"/>
            <a:ext cx="6992017" cy="4333875"/>
          </a:xfrm>
          <a:prstGeom prst="rect">
            <a:avLst/>
          </a:prstGeom>
        </p:spPr>
      </p:pic>
      <p:sp>
        <p:nvSpPr>
          <p:cNvPr id="8" name="Freeform 8"/>
          <p:cNvSpPr/>
          <p:nvPr/>
        </p:nvSpPr>
        <p:spPr>
          <a:xfrm>
            <a:off x="8382000" y="1695450"/>
            <a:ext cx="2857500" cy="1476375"/>
          </a:xfrm>
          <a:custGeom>
            <a:avLst/>
            <a:gdLst/>
            <a:ahLst/>
            <a:cxnLst/>
            <a:rect l="l" t="t" r="r" b="b"/>
            <a:pathLst>
              <a:path w="2857500" h="1476375">
                <a:moveTo>
                  <a:pt x="76200" y="0"/>
                </a:moveTo>
                <a:lnTo>
                  <a:pt x="2781300" y="0"/>
                </a:lnTo>
                <a:cubicBezTo>
                  <a:pt x="2823384" y="0"/>
                  <a:pt x="2857500" y="34116"/>
                  <a:pt x="2857500" y="76200"/>
                </a:cubicBezTo>
                <a:lnTo>
                  <a:pt x="2857500" y="1400175"/>
                </a:lnTo>
                <a:cubicBezTo>
                  <a:pt x="2857500" y="1442259"/>
                  <a:pt x="2823384" y="1476375"/>
                  <a:pt x="2781300" y="1476375"/>
                </a:cubicBezTo>
                <a:lnTo>
                  <a:pt x="76200" y="1476375"/>
                </a:lnTo>
                <a:cubicBezTo>
                  <a:pt x="34116" y="1476375"/>
                  <a:pt x="0" y="1442259"/>
                  <a:pt x="0" y="1400175"/>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9" name="TextBox 9"/>
          <p:cNvSpPr txBox="1"/>
          <p:nvPr/>
        </p:nvSpPr>
        <p:spPr>
          <a:xfrm>
            <a:off x="8884757" y="1959292"/>
            <a:ext cx="1851987" cy="847725"/>
          </a:xfrm>
          <a:prstGeom prst="rect">
            <a:avLst/>
          </a:prstGeom>
          <a:noFill/>
          <a:ln>
            <a:noFill/>
          </a:ln>
        </p:spPr>
        <p:txBody>
          <a:bodyPr wrap="none" lIns="0" tIns="0" rIns="0" bIns="0" anchor="t" anchorCtr="0">
            <a:spAutoFit/>
          </a:bodyPr>
          <a:lstStyle/>
          <a:p>
            <a:pPr algn="ctr"/>
            <a:r>
              <a:rPr lang="en-US" sz="4350" b="1" dirty="0">
                <a:solidFill>
                  <a:srgbClr val="9A173D"/>
                </a:solidFill>
                <a:latin typeface="Styrene A"/>
                <a:ea typeface="Styrene A"/>
                <a:cs typeface="Styrene A"/>
              </a:rPr>
              <a:t>79.7%</a:t>
            </a:r>
          </a:p>
        </p:txBody>
      </p:sp>
      <p:sp>
        <p:nvSpPr>
          <p:cNvPr id="10" name="TextBox 10"/>
          <p:cNvSpPr txBox="1"/>
          <p:nvPr/>
        </p:nvSpPr>
        <p:spPr>
          <a:xfrm>
            <a:off x="8779721" y="2639854"/>
            <a:ext cx="2062058" cy="308039"/>
          </a:xfrm>
          <a:prstGeom prst="rect">
            <a:avLst/>
          </a:prstGeom>
          <a:noFill/>
          <a:ln>
            <a:noFill/>
          </a:ln>
        </p:spPr>
        <p:txBody>
          <a:bodyPr wrap="none" lIns="0" tIns="0" rIns="0" bIns="0" anchor="t" anchorCtr="0">
            <a:spAutoFit/>
          </a:bodyPr>
          <a:lstStyle/>
          <a:p>
            <a:pPr algn="ctr"/>
            <a:r>
              <a:rPr lang="en-US" sz="1580" dirty="0">
                <a:solidFill>
                  <a:srgbClr val="1B1B1D"/>
                </a:solidFill>
                <a:latin typeface="Anthropic Sans"/>
                <a:ea typeface="Anthropic Sans"/>
                <a:cs typeface="Anthropic Sans"/>
              </a:rPr>
              <a:t>weighted gap closed</a:t>
            </a:r>
          </a:p>
        </p:txBody>
      </p:sp>
      <p:sp>
        <p:nvSpPr>
          <p:cNvPr id="11" name="Freeform 11"/>
          <p:cNvSpPr/>
          <p:nvPr/>
        </p:nvSpPr>
        <p:spPr>
          <a:xfrm>
            <a:off x="8382000" y="3524250"/>
            <a:ext cx="2857500" cy="1809750"/>
          </a:xfrm>
          <a:custGeom>
            <a:avLst/>
            <a:gdLst/>
            <a:ahLst/>
            <a:cxnLst/>
            <a:rect l="l" t="t" r="r" b="b"/>
            <a:pathLst>
              <a:path w="2857500" h="1809750">
                <a:moveTo>
                  <a:pt x="76200" y="0"/>
                </a:moveTo>
                <a:lnTo>
                  <a:pt x="2781300" y="0"/>
                </a:lnTo>
                <a:cubicBezTo>
                  <a:pt x="2823384" y="0"/>
                  <a:pt x="2857500" y="34116"/>
                  <a:pt x="2857500" y="76200"/>
                </a:cubicBezTo>
                <a:lnTo>
                  <a:pt x="2857500" y="1733550"/>
                </a:lnTo>
                <a:cubicBezTo>
                  <a:pt x="2857500" y="1775634"/>
                  <a:pt x="2823384" y="1809750"/>
                  <a:pt x="2781300" y="1809750"/>
                </a:cubicBezTo>
                <a:lnTo>
                  <a:pt x="76200" y="1809750"/>
                </a:lnTo>
                <a:cubicBezTo>
                  <a:pt x="34116" y="1809750"/>
                  <a:pt x="0" y="1775634"/>
                  <a:pt x="0" y="1733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8658606" y="3806190"/>
            <a:ext cx="2229924" cy="352044"/>
          </a:xfrm>
          <a:prstGeom prst="rect">
            <a:avLst/>
          </a:prstGeom>
          <a:noFill/>
          <a:ln>
            <a:noFill/>
          </a:ln>
        </p:spPr>
        <p:txBody>
          <a:bodyPr wrap="none" lIns="0" tIns="0" rIns="0" bIns="0" anchor="t" anchorCtr="0">
            <a:spAutoFit/>
          </a:bodyPr>
          <a:lstStyle/>
          <a:p>
            <a:r>
              <a:t>Domain sensitivity</a:t>
            </a:r>
          </a:p>
        </p:txBody>
      </p:sp>
      <p:sp>
        <p:nvSpPr>
          <p:cNvPr id="13" name="TextBox 13"/>
          <p:cNvSpPr txBox="1"/>
          <p:nvPr/>
        </p:nvSpPr>
        <p:spPr>
          <a:xfrm>
            <a:off x="8659749" y="4230529"/>
            <a:ext cx="2776027"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F1 is the hardest held-out</a:t>
            </a:r>
          </a:p>
        </p:txBody>
      </p:sp>
      <p:sp>
        <p:nvSpPr>
          <p:cNvPr id="14" name="TextBox 14"/>
          <p:cNvSpPr txBox="1"/>
          <p:nvPr/>
        </p:nvSpPr>
        <p:spPr>
          <a:xfrm>
            <a:off x="8659749" y="4535329"/>
            <a:ext cx="297377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domain, which motivates the</a:t>
            </a:r>
          </a:p>
        </p:txBody>
      </p:sp>
      <p:sp>
        <p:nvSpPr>
          <p:cNvPr id="15" name="TextBox 15"/>
          <p:cNvSpPr txBox="1"/>
          <p:nvPr/>
        </p:nvSpPr>
        <p:spPr>
          <a:xfrm>
            <a:off x="8659749" y="4840129"/>
            <a:ext cx="288835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separate F1 specialization.</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19/24</a:t>
            </a:r>
          </a:p>
        </p:txBody>
      </p:sp>
      <p:sp>
        <p:nvSpPr>
          <p:cNvPr id="23" name="Rectangle 22"/>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Source-aware and regret-aware checks narrowed the final scope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later experiments identify where the selector remains reliable and where claims must be limited.</a:t>
            </a:r>
          </a:p>
        </p:txBody>
      </p:sp>
      <p:sp>
        <p:nvSpPr>
          <p:cNvPr id="7" name="Freeform 7"/>
          <p:cNvSpPr/>
          <p:nvPr/>
        </p:nvSpPr>
        <p:spPr>
          <a:xfrm>
            <a:off x="7620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2630786"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v6 source-aware</a:t>
            </a:r>
          </a:p>
        </p:txBody>
      </p:sp>
      <p:sp>
        <p:nvSpPr>
          <p:cNvPr id="9" name="TextBox 9"/>
          <p:cNvSpPr txBox="1"/>
          <p:nvPr/>
        </p:nvSpPr>
        <p:spPr>
          <a:xfrm>
            <a:off x="1038606" y="2425065"/>
            <a:ext cx="3416696"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Accuracy dropped to 71.2%.</a:t>
            </a:r>
          </a:p>
        </p:txBody>
      </p:sp>
      <p:sp>
        <p:nvSpPr>
          <p:cNvPr id="10" name="TextBox 10"/>
          <p:cNvSpPr txBox="1"/>
          <p:nvPr/>
        </p:nvSpPr>
        <p:spPr>
          <a:xfrm>
            <a:off x="1038606" y="2806065"/>
            <a:ext cx="3010042" cy="352044"/>
          </a:xfrm>
          <a:prstGeom prst="rect">
            <a:avLst/>
          </a:prstGeom>
          <a:noFill/>
          <a:ln>
            <a:noFill/>
          </a:ln>
        </p:spPr>
        <p:txBody>
          <a:bodyPr wrap="none" lIns="0" tIns="0" rIns="0" bIns="0" anchor="t" anchorCtr="0">
            <a:spAutoFit/>
          </a:bodyPr>
          <a:lstStyle/>
          <a:p>
            <a:r>
              <a:rPr sz="1200" b="0">
                <a:solidFill>
                  <a:srgbClr val="191919"/>
                </a:solidFill>
                <a:latin typeface="Aptos"/>
              </a:rPr>
              <a:t>This made leakage checks</a:t>
            </a:r>
          </a:p>
        </p:txBody>
      </p:sp>
      <p:sp>
        <p:nvSpPr>
          <p:cNvPr id="11" name="TextBox 11"/>
          <p:cNvSpPr txBox="1"/>
          <p:nvPr/>
        </p:nvSpPr>
        <p:spPr>
          <a:xfrm>
            <a:off x="1038606" y="3187065"/>
            <a:ext cx="2502027" cy="352044"/>
          </a:xfrm>
          <a:prstGeom prst="rect">
            <a:avLst/>
          </a:prstGeom>
          <a:noFill/>
          <a:ln>
            <a:noFill/>
          </a:ln>
        </p:spPr>
        <p:txBody>
          <a:bodyPr wrap="none" lIns="0" tIns="0" rIns="0" bIns="0" anchor="t" anchorCtr="0">
            <a:spAutoFit/>
          </a:bodyPr>
          <a:lstStyle/>
          <a:p>
            <a:r>
              <a:rPr sz="1200" b="0">
                <a:solidFill>
                  <a:srgbClr val="191919"/>
                </a:solidFill>
                <a:latin typeface="Aptos"/>
              </a:rPr>
              <a:t>part of the evaluation protocol.</a:t>
            </a:r>
          </a:p>
        </p:txBody>
      </p:sp>
      <p:sp>
        <p:nvSpPr>
          <p:cNvPr id="12" name="Freeform 12"/>
          <p:cNvSpPr/>
          <p:nvPr/>
        </p:nvSpPr>
        <p:spPr>
          <a:xfrm>
            <a:off x="447675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4751070" y="1804988"/>
            <a:ext cx="2630786"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v7 regret-aware</a:t>
            </a:r>
          </a:p>
        </p:txBody>
      </p:sp>
      <p:sp>
        <p:nvSpPr>
          <p:cNvPr id="14" name="TextBox 14"/>
          <p:cNvSpPr txBox="1"/>
          <p:nvPr/>
        </p:nvSpPr>
        <p:spPr>
          <a:xfrm>
            <a:off x="4753356" y="2425065"/>
            <a:ext cx="3323558"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Optimizing the wrong signal</a:t>
            </a:r>
          </a:p>
        </p:txBody>
      </p:sp>
      <p:sp>
        <p:nvSpPr>
          <p:cNvPr id="15" name="TextBox 15"/>
          <p:cNvSpPr txBox="1"/>
          <p:nvPr/>
        </p:nvSpPr>
        <p:spPr>
          <a:xfrm>
            <a:off x="4753356" y="2806065"/>
            <a:ext cx="2574722"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reduced gap closed to</a:t>
            </a:r>
          </a:p>
        </p:txBody>
      </p:sp>
      <p:sp>
        <p:nvSpPr>
          <p:cNvPr id="16" name="TextBox 16"/>
          <p:cNvSpPr txBox="1"/>
          <p:nvPr/>
        </p:nvSpPr>
        <p:spPr>
          <a:xfrm>
            <a:off x="4753356" y="3187065"/>
            <a:ext cx="866394"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78.1%.</a:t>
            </a:r>
          </a:p>
        </p:txBody>
      </p:sp>
      <p:sp>
        <p:nvSpPr>
          <p:cNvPr id="17" name="Freeform 17"/>
          <p:cNvSpPr/>
          <p:nvPr/>
        </p:nvSpPr>
        <p:spPr>
          <a:xfrm>
            <a:off x="81915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8" name="TextBox 18"/>
          <p:cNvSpPr txBox="1"/>
          <p:nvPr/>
        </p:nvSpPr>
        <p:spPr>
          <a:xfrm>
            <a:off x="8465820" y="1804988"/>
            <a:ext cx="1692569" cy="440055"/>
          </a:xfrm>
          <a:prstGeom prst="rect">
            <a:avLst/>
          </a:prstGeom>
          <a:noFill/>
          <a:ln>
            <a:noFill/>
          </a:ln>
        </p:spPr>
        <p:txBody>
          <a:bodyPr wrap="none" lIns="0" tIns="0" rIns="0" bIns="0" anchor="t" anchorCtr="0">
            <a:spAutoFit/>
          </a:bodyPr>
          <a:lstStyle/>
          <a:p>
            <a:pPr algn="l"/>
            <a:r>
              <a:rPr lang="en-US" sz="1500" b="1" dirty="0">
                <a:solidFill>
                  <a:srgbClr val="1B1B1D"/>
                </a:solidFill>
                <a:latin typeface="Aptos"/>
                <a:ea typeface="Anthropic Sans"/>
                <a:cs typeface="Anthropic Sans"/>
              </a:rPr>
              <a:t>v8 cascade</a:t>
            </a:r>
          </a:p>
        </p:txBody>
      </p:sp>
      <p:sp>
        <p:nvSpPr>
          <p:cNvPr id="19" name="TextBox 19"/>
          <p:cNvSpPr txBox="1"/>
          <p:nvPr/>
        </p:nvSpPr>
        <p:spPr>
          <a:xfrm>
            <a:off x="8468106" y="2425065"/>
            <a:ext cx="2471532" cy="352044"/>
          </a:xfrm>
          <a:prstGeom prst="rect">
            <a:avLst/>
          </a:prstGeom>
          <a:noFill/>
          <a:ln>
            <a:noFill/>
          </a:ln>
        </p:spPr>
        <p:txBody>
          <a:bodyPr wrap="none" lIns="0" tIns="0" rIns="0" bIns="0" anchor="t" anchorCtr="0">
            <a:spAutoFit/>
          </a:bodyPr>
          <a:lstStyle/>
          <a:p>
            <a:pPr algn="l"/>
            <a:r>
              <a:rPr lang="en-US" sz="1200" b="0" dirty="0">
                <a:solidFill>
                  <a:srgbClr val="1B1B1D"/>
                </a:solidFill>
                <a:latin typeface="Aptos"/>
                <a:ea typeface="Anthropic Sans"/>
                <a:cs typeface="Anthropic Sans"/>
              </a:rPr>
              <a:t>Stage 2 stayed weak</a:t>
            </a:r>
          </a:p>
        </p:txBody>
      </p:sp>
      <p:sp>
        <p:nvSpPr>
          <p:cNvPr id="20" name="TextBox 20"/>
          <p:cNvSpPr txBox="1"/>
          <p:nvPr/>
        </p:nvSpPr>
        <p:spPr>
          <a:xfrm>
            <a:off x="8468106" y="2806065"/>
            <a:ext cx="2356637" cy="352044"/>
          </a:xfrm>
          <a:prstGeom prst="rect">
            <a:avLst/>
          </a:prstGeom>
          <a:noFill/>
          <a:ln>
            <a:noFill/>
          </a:ln>
        </p:spPr>
        <p:txBody>
          <a:bodyPr wrap="none" lIns="0" tIns="0" rIns="0" bIns="0" anchor="t" anchorCtr="0">
            <a:spAutoFit/>
          </a:bodyPr>
          <a:lstStyle/>
          <a:p>
            <a:r>
              <a:rPr sz="1200" b="0">
                <a:solidFill>
                  <a:srgbClr val="1B1B1D"/>
                </a:solidFill>
                <a:latin typeface="Aptos"/>
              </a:rPr>
              <a:t>when introsort and heapsort</a:t>
            </a:r>
          </a:p>
        </p:txBody>
      </p:sp>
      <p:sp>
        <p:nvSpPr>
          <p:cNvPr id="21" name="TextBox 21"/>
          <p:cNvSpPr txBox="1"/>
          <p:nvPr/>
        </p:nvSpPr>
        <p:spPr>
          <a:xfrm>
            <a:off x="8468106" y="3187065"/>
            <a:ext cx="1884121" cy="352044"/>
          </a:xfrm>
          <a:prstGeom prst="rect">
            <a:avLst/>
          </a:prstGeom>
          <a:noFill/>
          <a:ln>
            <a:noFill/>
          </a:ln>
        </p:spPr>
        <p:txBody>
          <a:bodyPr wrap="none" lIns="0" tIns="0" rIns="0" bIns="0" anchor="t" anchorCtr="0">
            <a:spAutoFit/>
          </a:bodyPr>
          <a:lstStyle/>
          <a:p>
            <a:r>
              <a:rPr sz="1200" b="0">
                <a:solidFill>
                  <a:srgbClr val="1B1B1D"/>
                </a:solidFill>
                <a:latin typeface="Aptos"/>
              </a:rPr>
              <a:t>were too close.</a:t>
            </a:r>
          </a:p>
        </p:txBody>
      </p:sp>
      <p:sp>
        <p:nvSpPr>
          <p:cNvPr id="22" name="TextBox 22"/>
          <p:cNvSpPr txBox="1"/>
          <p:nvPr/>
        </p:nvSpPr>
        <p:spPr>
          <a:xfrm>
            <a:off x="752856" y="5520690"/>
            <a:ext cx="11772466" cy="352044"/>
          </a:xfrm>
          <a:prstGeom prst="rect">
            <a:avLst/>
          </a:prstGeom>
          <a:noFill/>
          <a:ln>
            <a:noFill/>
          </a:ln>
        </p:spPr>
        <p:txBody>
          <a:bodyPr wrap="none" lIns="0" tIns="0" rIns="0" bIns="0" anchor="t" anchorCtr="0">
            <a:spAutoFit/>
          </a:bodyPr>
          <a:lstStyle/>
          <a:p>
            <a:r>
              <a:rPr sz="1200" b="0">
                <a:solidFill>
                  <a:srgbClr val="191919"/>
                </a:solidFill>
                <a:latin typeface="Aptos"/>
              </a:rPr>
              <a:t>The final result is v5 under the submitted evaluation protocol, with source-aware and regret-aware limits reported separately.</a:t>
            </a:r>
          </a:p>
        </p:txBody>
      </p:sp>
      <p:sp>
        <p:nvSpPr>
          <p:cNvPr id="23" name="Line 23"/>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5" name="Freeform 25"/>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6" name="Rectangle 25"/>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20/24</a:t>
            </a:r>
          </a:p>
        </p:txBody>
      </p:sp>
      <p:sp>
        <p:nvSpPr>
          <p:cNvPr id="30" name="Rectangle 29"/>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odex page number"/>
          <p:cNvSpPr txBox="1"/>
          <p:nvPr/>
        </p:nvSpPr>
        <p:spPr>
          <a:xfrm>
            <a:off x="11323320" y="6643116"/>
            <a:ext cx="685800" cy="164592"/>
          </a:xfrm>
          <a:prstGeom prst="rect">
            <a:avLst/>
          </a:prstGeom>
          <a:noFill/>
        </p:spPr>
        <p:txBody>
          <a:bodyPr wrap="none" lIns="0" tIns="0" rIns="0" bIns="0" anchor="ctr">
            <a:spAutoFit/>
          </a:bodyPr>
          <a:lstStyle/>
          <a:p>
            <a:pPr algn="r"/>
            <a:r>
              <a:rPr sz="900" b="0">
                <a:solidFill>
                  <a:srgbClr val="FFFFFF"/>
                </a:solidFill>
                <a:latin typeface="Aptos"/>
              </a:rPr>
              <a:t>21/24</a:t>
            </a: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Conclusion</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rPr sz="1500" b="0">
                <a:solidFill>
                  <a:srgbClr val="191919"/>
                </a:solidFill>
                <a:latin typeface="Aptos"/>
              </a:rPr>
              <a:t>Cheap structural features can deliver meaningful per-instance sorting improvements when judged with runtime-sensitive metrics.</a:t>
            </a:r>
          </a:p>
        </p:txBody>
      </p:sp>
      <p:sp>
        <p:nvSpPr>
          <p:cNvPr id="9" name="TextBox 8"/>
          <p:cNvSpPr txBox="1"/>
          <p:nvPr/>
        </p:nvSpPr>
        <p:spPr>
          <a:xfrm>
            <a:off x="1238250" y="2000250"/>
            <a:ext cx="9715500" cy="400050"/>
          </a:xfrm>
          <a:prstGeom prst="rect">
            <a:avLst/>
          </a:prstGeom>
          <a:noFill/>
        </p:spPr>
        <p:txBody>
          <a:bodyPr wrap="square" lIns="0" tIns="0" rIns="0" bIns="0">
            <a:spAutoFit/>
          </a:bodyPr>
          <a:lstStyle/>
          <a:p>
            <a:r>
              <a:rPr sz="1400" b="0">
                <a:solidFill>
                  <a:srgbClr val="191919"/>
                </a:solidFill>
                <a:latin typeface="Aptos"/>
              </a:rPr>
              <a:t>The selector closes most of the practical SBS-to-VBS runtime gap on real-world numeric arrays.</a:t>
            </a:r>
          </a:p>
        </p:txBody>
      </p:sp>
      <p:sp>
        <p:nvSpPr>
          <p:cNvPr id="10" name="Rectangle 9"/>
          <p:cNvSpPr/>
          <p:nvPr/>
        </p:nvSpPr>
        <p:spPr>
          <a:xfrm>
            <a:off x="176212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914525" y="3124200"/>
            <a:ext cx="2076450" cy="304800"/>
          </a:xfrm>
          <a:prstGeom prst="rect">
            <a:avLst/>
          </a:prstGeom>
          <a:noFill/>
        </p:spPr>
        <p:txBody>
          <a:bodyPr wrap="none" lIns="0" tIns="0" rIns="0" bIns="0">
            <a:spAutoFit/>
          </a:bodyPr>
          <a:lstStyle/>
          <a:p>
            <a:pPr algn="ctr"/>
            <a:r>
              <a:rPr sz="2000" b="1">
                <a:solidFill>
                  <a:srgbClr val="9A1C3E"/>
                </a:solidFill>
                <a:latin typeface="Aptos Display"/>
              </a:rPr>
              <a:t>76.1%</a:t>
            </a:r>
          </a:p>
        </p:txBody>
      </p:sp>
      <p:sp>
        <p:nvSpPr>
          <p:cNvPr id="12" name="TextBox 11"/>
          <p:cNvSpPr txBox="1"/>
          <p:nvPr/>
        </p:nvSpPr>
        <p:spPr>
          <a:xfrm>
            <a:off x="1933575" y="3543300"/>
            <a:ext cx="2038350" cy="190500"/>
          </a:xfrm>
          <a:prstGeom prst="rect">
            <a:avLst/>
          </a:prstGeom>
          <a:noFill/>
        </p:spPr>
        <p:txBody>
          <a:bodyPr wrap="none" lIns="0" tIns="0" rIns="0" bIns="0">
            <a:spAutoFit/>
          </a:bodyPr>
          <a:lstStyle/>
          <a:p>
            <a:pPr algn="ctr"/>
            <a:r>
              <a:rPr sz="1300" b="0">
                <a:solidFill>
                  <a:srgbClr val="566987"/>
                </a:solidFill>
                <a:latin typeface="Aptos"/>
              </a:rPr>
              <a:t>top-1 accuracy</a:t>
            </a:r>
          </a:p>
        </p:txBody>
      </p:sp>
      <p:sp>
        <p:nvSpPr>
          <p:cNvPr id="13" name="Rectangle 12"/>
          <p:cNvSpPr/>
          <p:nvPr/>
        </p:nvSpPr>
        <p:spPr>
          <a:xfrm>
            <a:off x="4762500" y="2905125"/>
            <a:ext cx="2381250" cy="1095375"/>
          </a:xfrm>
          <a:prstGeom prst="rect">
            <a:avLst/>
          </a:prstGeom>
          <a:solidFill>
            <a:srgbClr val="F8FAFC"/>
          </a:solidFill>
          <a:ln w="12700">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14900" y="3124200"/>
            <a:ext cx="2076450" cy="304800"/>
          </a:xfrm>
          <a:prstGeom prst="rect">
            <a:avLst/>
          </a:prstGeom>
          <a:noFill/>
        </p:spPr>
        <p:txBody>
          <a:bodyPr wrap="none" lIns="0" tIns="0" rIns="0" bIns="0">
            <a:spAutoFit/>
          </a:bodyPr>
          <a:lstStyle/>
          <a:p>
            <a:pPr algn="ctr"/>
            <a:r>
              <a:rPr sz="2400" b="1">
                <a:solidFill>
                  <a:srgbClr val="F4511E"/>
                </a:solidFill>
                <a:latin typeface="Aptos Display"/>
              </a:rPr>
              <a:t>93.1%</a:t>
            </a:r>
          </a:p>
        </p:txBody>
      </p:sp>
      <p:sp>
        <p:nvSpPr>
          <p:cNvPr id="15" name="TextBox 14"/>
          <p:cNvSpPr txBox="1"/>
          <p:nvPr/>
        </p:nvSpPr>
        <p:spPr>
          <a:xfrm>
            <a:off x="4933950" y="3543300"/>
            <a:ext cx="2038350" cy="190500"/>
          </a:xfrm>
          <a:prstGeom prst="rect">
            <a:avLst/>
          </a:prstGeom>
          <a:noFill/>
        </p:spPr>
        <p:txBody>
          <a:bodyPr wrap="none" lIns="0" tIns="0" rIns="0" bIns="0">
            <a:spAutoFit/>
          </a:bodyPr>
          <a:lstStyle/>
          <a:p>
            <a:pPr algn="ctr"/>
            <a:r>
              <a:rPr sz="1300" b="0">
                <a:solidFill>
                  <a:srgbClr val="1B1B1D"/>
                </a:solidFill>
                <a:latin typeface="Aptos"/>
              </a:rPr>
              <a:t>SBS-to-VBS gap closed</a:t>
            </a:r>
          </a:p>
        </p:txBody>
      </p:sp>
      <p:sp>
        <p:nvSpPr>
          <p:cNvPr id="16" name="Rectangle 15"/>
          <p:cNvSpPr/>
          <p:nvPr/>
        </p:nvSpPr>
        <p:spPr>
          <a:xfrm>
            <a:off x="776287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15275" y="3124200"/>
            <a:ext cx="2076450" cy="304800"/>
          </a:xfrm>
          <a:prstGeom prst="rect">
            <a:avLst/>
          </a:prstGeom>
          <a:noFill/>
        </p:spPr>
        <p:txBody>
          <a:bodyPr wrap="none" lIns="0" tIns="0" rIns="0" bIns="0">
            <a:spAutoFit/>
          </a:bodyPr>
          <a:lstStyle/>
          <a:p>
            <a:pPr algn="ctr"/>
            <a:r>
              <a:rPr sz="2000" b="1">
                <a:solidFill>
                  <a:srgbClr val="9A1C3E"/>
                </a:solidFill>
                <a:latin typeface="Aptos Display"/>
              </a:rPr>
              <a:t>89.6%</a:t>
            </a:r>
          </a:p>
        </p:txBody>
      </p:sp>
      <p:sp>
        <p:nvSpPr>
          <p:cNvPr id="18" name="TextBox 17"/>
          <p:cNvSpPr txBox="1"/>
          <p:nvPr/>
        </p:nvSpPr>
        <p:spPr>
          <a:xfrm>
            <a:off x="7934325" y="3543300"/>
            <a:ext cx="2038350" cy="190500"/>
          </a:xfrm>
          <a:prstGeom prst="rect">
            <a:avLst/>
          </a:prstGeom>
          <a:noFill/>
        </p:spPr>
        <p:txBody>
          <a:bodyPr wrap="none" lIns="0" tIns="0" rIns="0" bIns="0">
            <a:spAutoFit/>
          </a:bodyPr>
          <a:lstStyle/>
          <a:p>
            <a:pPr algn="ctr"/>
            <a:r>
              <a:rPr sz="1300" b="0">
                <a:solidFill>
                  <a:srgbClr val="566987"/>
                </a:solidFill>
                <a:latin typeface="Aptos"/>
              </a:rPr>
              <a:t>zero-regret predictions</a:t>
            </a:r>
          </a:p>
        </p:txBody>
      </p:sp>
      <p:sp>
        <p:nvSpPr>
          <p:cNvPr id="19" name="TextBox 18"/>
          <p:cNvSpPr txBox="1"/>
          <p:nvPr/>
        </p:nvSpPr>
        <p:spPr>
          <a:xfrm>
            <a:off x="1571625" y="4572000"/>
            <a:ext cx="9048750" cy="323850"/>
          </a:xfrm>
          <a:prstGeom prst="rect">
            <a:avLst/>
          </a:prstGeom>
          <a:noFill/>
        </p:spPr>
        <p:txBody>
          <a:bodyPr wrap="square" lIns="0" tIns="0" rIns="0" bIns="0">
            <a:spAutoFit/>
          </a:bodyPr>
          <a:lstStyle/>
          <a:p>
            <a:pPr algn="ctr"/>
            <a:r>
              <a:rPr sz="1300" b="0">
                <a:solidFill>
                  <a:srgbClr val="191919"/>
                </a:solidFill>
                <a:latin typeface="Aptos"/>
              </a:rPr>
              <a:t>The strongest cases are where array structure is visible, especially timsort-friendly inputs.</a:t>
            </a:r>
          </a:p>
        </p:txBody>
      </p:sp>
      <p:sp>
        <p:nvSpPr>
          <p:cNvPr id="20" name="TextBox 19"/>
          <p:cNvSpPr txBox="1"/>
          <p:nvPr/>
        </p:nvSpPr>
        <p:spPr>
          <a:xfrm>
            <a:off x="1571625" y="5095875"/>
            <a:ext cx="9048750" cy="323850"/>
          </a:xfrm>
          <a:prstGeom prst="rect">
            <a:avLst/>
          </a:prstGeom>
          <a:noFill/>
        </p:spPr>
        <p:txBody>
          <a:bodyPr wrap="square" lIns="0" tIns="0" rIns="0" bIns="0">
            <a:spAutoFit/>
          </a:bodyPr>
          <a:lstStyle/>
          <a:p>
            <a:pPr algn="ctr"/>
            <a:r>
              <a:rPr sz="1300" b="0">
                <a:solidFill>
                  <a:srgbClr val="9A1C3E"/>
                </a:solidFill>
                <a:latin typeface="Aptos"/>
              </a:rPr>
              <a:t>The main residual weakness is the introsort/heapsort boundary, where the current feature space often cannot see enough difference.</a:t>
            </a:r>
          </a:p>
        </p:txBody>
      </p:sp>
      <p:sp>
        <p:nvSpPr>
          <p:cNvPr id="21" name="Rectangle 20"/>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odex page number"/>
          <p:cNvSpPr txBox="1"/>
          <p:nvPr/>
        </p:nvSpPr>
        <p:spPr>
          <a:xfrm>
            <a:off x="11323320" y="6643116"/>
            <a:ext cx="685800" cy="164592"/>
          </a:xfrm>
          <a:prstGeom prst="rect">
            <a:avLst/>
          </a:prstGeom>
          <a:noFill/>
        </p:spPr>
        <p:txBody>
          <a:bodyPr wrap="none" lIns="0" tIns="0" rIns="0" bIns="0" anchor="ctr">
            <a:spAutoFit/>
          </a:bodyPr>
          <a:lstStyle/>
          <a:p>
            <a:pPr algn="r"/>
            <a:r>
              <a:rPr sz="900" b="0">
                <a:solidFill>
                  <a:srgbClr val="FFFFFF"/>
                </a:solidFill>
                <a:latin typeface="Aptos"/>
              </a:rPr>
              <a:t>22/24</a:t>
            </a: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Contributions</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rPr sz="1600" b="1">
                <a:solidFill>
                  <a:srgbClr val="9A1C3E"/>
                </a:solidFill>
                <a:latin typeface="Aptos"/>
              </a:rPr>
              <a:t>The thesis makes three contributions aligned with the stated objectives.</a:t>
            </a:r>
          </a:p>
        </p:txBody>
      </p:sp>
      <p:sp>
        <p:nvSpPr>
          <p:cNvPr id="9" name="TextBox 8"/>
          <p:cNvSpPr txBox="1"/>
          <p:nvPr/>
        </p:nvSpPr>
        <p:spPr>
          <a:xfrm>
            <a:off x="1143000" y="2000250"/>
            <a:ext cx="400050" cy="228600"/>
          </a:xfrm>
          <a:prstGeom prst="rect">
            <a:avLst/>
          </a:prstGeom>
          <a:noFill/>
        </p:spPr>
        <p:txBody>
          <a:bodyPr wrap="none" lIns="0" tIns="0" rIns="0" bIns="0">
            <a:spAutoFit/>
          </a:bodyPr>
          <a:lstStyle/>
          <a:p>
            <a:pPr algn="ctr"/>
            <a:r>
              <a:rPr sz="1500" b="1">
                <a:solidFill>
                  <a:srgbClr val="9A1C3E"/>
                </a:solidFill>
                <a:latin typeface="Aptos"/>
              </a:rPr>
              <a:t>01</a:t>
            </a:r>
          </a:p>
        </p:txBody>
      </p:sp>
      <p:sp>
        <p:nvSpPr>
          <p:cNvPr id="10" name="TextBox 9"/>
          <p:cNvSpPr txBox="1"/>
          <p:nvPr/>
        </p:nvSpPr>
        <p:spPr>
          <a:xfrm>
            <a:off x="1714500" y="2000250"/>
            <a:ext cx="9334500" cy="228600"/>
          </a:xfrm>
          <a:prstGeom prst="rect">
            <a:avLst/>
          </a:prstGeom>
          <a:noFill/>
        </p:spPr>
        <p:txBody>
          <a:bodyPr wrap="none" lIns="0" tIns="0" rIns="0" bIns="0">
            <a:spAutoFit/>
          </a:bodyPr>
          <a:lstStyle/>
          <a:p>
            <a:r>
              <a:rPr sz="1500" b="0">
                <a:solidFill>
                  <a:srgbClr val="566987"/>
                </a:solidFill>
                <a:latin typeface="Aptos"/>
              </a:rPr>
              <a:t>A deployable selector</a:t>
            </a:r>
          </a:p>
        </p:txBody>
      </p:sp>
      <p:sp>
        <p:nvSpPr>
          <p:cNvPr id="11" name="TextBox 10"/>
          <p:cNvSpPr txBox="1"/>
          <p:nvPr/>
        </p:nvSpPr>
        <p:spPr>
          <a:xfrm>
            <a:off x="1714500" y="2324100"/>
            <a:ext cx="9334500" cy="361950"/>
          </a:xfrm>
          <a:prstGeom prst="rect">
            <a:avLst/>
          </a:prstGeom>
          <a:noFill/>
        </p:spPr>
        <p:txBody>
          <a:bodyPr wrap="square" lIns="0" tIns="0" rIns="0" bIns="0">
            <a:spAutoFit/>
          </a:bodyPr>
          <a:lstStyle/>
          <a:p>
            <a:r>
              <a:rPr sz="1300" b="0">
                <a:solidFill>
                  <a:srgbClr val="191919"/>
                </a:solidFill>
                <a:latin typeface="Aptos"/>
              </a:rPr>
              <a:t>A compact pipeline combines inexpensive structural characteristics with a gradient-boosted classifier.</a:t>
            </a:r>
          </a:p>
        </p:txBody>
      </p:sp>
      <p:sp>
        <p:nvSpPr>
          <p:cNvPr id="12" name="Rectangle 11"/>
          <p:cNvSpPr/>
          <p:nvPr/>
        </p:nvSpPr>
        <p:spPr>
          <a:xfrm>
            <a:off x="1714500" y="2800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43000" y="3143250"/>
            <a:ext cx="400050" cy="228600"/>
          </a:xfrm>
          <a:prstGeom prst="rect">
            <a:avLst/>
          </a:prstGeom>
          <a:noFill/>
        </p:spPr>
        <p:txBody>
          <a:bodyPr wrap="none" lIns="0" tIns="0" rIns="0" bIns="0">
            <a:spAutoFit/>
          </a:bodyPr>
          <a:lstStyle/>
          <a:p>
            <a:pPr algn="ctr"/>
            <a:r>
              <a:rPr sz="1500" b="1">
                <a:solidFill>
                  <a:srgbClr val="9A1C3E"/>
                </a:solidFill>
                <a:latin typeface="Aptos"/>
              </a:rPr>
              <a:t>02</a:t>
            </a:r>
          </a:p>
        </p:txBody>
      </p:sp>
      <p:sp>
        <p:nvSpPr>
          <p:cNvPr id="14" name="TextBox 13"/>
          <p:cNvSpPr txBox="1"/>
          <p:nvPr/>
        </p:nvSpPr>
        <p:spPr>
          <a:xfrm>
            <a:off x="1714500" y="3143250"/>
            <a:ext cx="9334500" cy="228600"/>
          </a:xfrm>
          <a:prstGeom prst="rect">
            <a:avLst/>
          </a:prstGeom>
          <a:noFill/>
        </p:spPr>
        <p:txBody>
          <a:bodyPr wrap="none" lIns="0" tIns="0" rIns="0" bIns="0">
            <a:spAutoFit/>
          </a:bodyPr>
          <a:lstStyle/>
          <a:p>
            <a:r>
              <a:rPr sz="1500" b="0">
                <a:solidFill>
                  <a:srgbClr val="566987"/>
                </a:solidFill>
                <a:latin typeface="Aptos"/>
              </a:rPr>
              <a:t>A rigorous evaluation framework</a:t>
            </a:r>
          </a:p>
        </p:txBody>
      </p:sp>
      <p:sp>
        <p:nvSpPr>
          <p:cNvPr id="15" name="TextBox 14"/>
          <p:cNvSpPr txBox="1"/>
          <p:nvPr/>
        </p:nvSpPr>
        <p:spPr>
          <a:xfrm>
            <a:off x="1714500" y="3467100"/>
            <a:ext cx="9334500" cy="361950"/>
          </a:xfrm>
          <a:prstGeom prst="rect">
            <a:avLst/>
          </a:prstGeom>
          <a:noFill/>
        </p:spPr>
        <p:txBody>
          <a:bodyPr wrap="square" lIns="0" tIns="0" rIns="0" bIns="0">
            <a:spAutoFit/>
          </a:bodyPr>
          <a:lstStyle/>
          <a:p>
            <a:r>
              <a:rPr sz="1300" b="0">
                <a:solidFill>
                  <a:srgbClr val="191919"/>
                </a:solidFill>
                <a:latin typeface="Aptos"/>
              </a:rPr>
              <a:t>Source-aware splitting, near-tie filtering, leave-one-domain-out testing, and regret metrics give a better view than accuracy alone.</a:t>
            </a:r>
          </a:p>
        </p:txBody>
      </p:sp>
      <p:sp>
        <p:nvSpPr>
          <p:cNvPr id="16" name="Rectangle 15"/>
          <p:cNvSpPr/>
          <p:nvPr/>
        </p:nvSpPr>
        <p:spPr>
          <a:xfrm>
            <a:off x="1714500" y="3943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43000" y="4286250"/>
            <a:ext cx="400050" cy="228600"/>
          </a:xfrm>
          <a:prstGeom prst="rect">
            <a:avLst/>
          </a:prstGeom>
          <a:noFill/>
        </p:spPr>
        <p:txBody>
          <a:bodyPr wrap="none" lIns="0" tIns="0" rIns="0" bIns="0">
            <a:spAutoFit/>
          </a:bodyPr>
          <a:lstStyle/>
          <a:p>
            <a:pPr algn="ctr"/>
            <a:r>
              <a:rPr sz="1500" b="1">
                <a:solidFill>
                  <a:srgbClr val="9A1C3E"/>
                </a:solidFill>
                <a:latin typeface="Aptos"/>
              </a:rPr>
              <a:t>03</a:t>
            </a:r>
          </a:p>
        </p:txBody>
      </p:sp>
      <p:sp>
        <p:nvSpPr>
          <p:cNvPr id="18" name="TextBox 17"/>
          <p:cNvSpPr txBox="1"/>
          <p:nvPr/>
        </p:nvSpPr>
        <p:spPr>
          <a:xfrm>
            <a:off x="1714500" y="4286250"/>
            <a:ext cx="9334500" cy="228600"/>
          </a:xfrm>
          <a:prstGeom prst="rect">
            <a:avLst/>
          </a:prstGeom>
          <a:noFill/>
        </p:spPr>
        <p:txBody>
          <a:bodyPr wrap="none" lIns="0" tIns="0" rIns="0" bIns="0">
            <a:spAutoFit/>
          </a:bodyPr>
          <a:lstStyle/>
          <a:p>
            <a:r>
              <a:rPr sz="1500" b="0">
                <a:solidFill>
                  <a:srgbClr val="566987"/>
                </a:solidFill>
                <a:latin typeface="Aptos"/>
              </a:rPr>
              <a:t>A reproducible artefact</a:t>
            </a:r>
          </a:p>
        </p:txBody>
      </p:sp>
      <p:sp>
        <p:nvSpPr>
          <p:cNvPr id="19" name="TextBox 18"/>
          <p:cNvSpPr txBox="1"/>
          <p:nvPr/>
        </p:nvSpPr>
        <p:spPr>
          <a:xfrm>
            <a:off x="1714500" y="4610100"/>
            <a:ext cx="9334500" cy="361950"/>
          </a:xfrm>
          <a:prstGeom prst="rect">
            <a:avLst/>
          </a:prstGeom>
          <a:noFill/>
        </p:spPr>
        <p:txBody>
          <a:bodyPr wrap="square" lIns="0" tIns="0" rIns="0" bIns="0">
            <a:spAutoFit/>
          </a:bodyPr>
          <a:lstStyle/>
          <a:p>
            <a:r>
              <a:rPr sz="1300" b="0">
                <a:solidFill>
                  <a:srgbClr val="191919"/>
                </a:solidFill>
                <a:latin typeface="Aptos"/>
              </a:rPr>
              <a:t>One feature extractor, one data pipeline, and exported XGBoost JSON / ONNX models support replication.</a:t>
            </a:r>
          </a:p>
        </p:txBody>
      </p:sp>
      <p:sp>
        <p:nvSpPr>
          <p:cNvPr id="20" name="Rectangle 19"/>
          <p:cNvSpPr/>
          <p:nvPr/>
        </p:nvSpPr>
        <p:spPr>
          <a:xfrm>
            <a:off x="1714500" y="5086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428750" y="5810250"/>
            <a:ext cx="9334500" cy="209550"/>
          </a:xfrm>
          <a:prstGeom prst="rect">
            <a:avLst/>
          </a:prstGeom>
          <a:noFill/>
        </p:spPr>
        <p:txBody>
          <a:bodyPr wrap="none" lIns="0" tIns="0" rIns="0" bIns="0">
            <a:spAutoFit/>
          </a:bodyPr>
          <a:lstStyle/>
          <a:p>
            <a:endParaRPr/>
          </a:p>
        </p:txBody>
      </p:sp>
      <p:sp>
        <p:nvSpPr>
          <p:cNvPr id="22" name="Rectangle 21"/>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odex page number"/>
          <p:cNvSpPr txBox="1"/>
          <p:nvPr/>
        </p:nvSpPr>
        <p:spPr>
          <a:xfrm>
            <a:off x="11323320" y="6643116"/>
            <a:ext cx="685800" cy="164592"/>
          </a:xfrm>
          <a:prstGeom prst="rect">
            <a:avLst/>
          </a:prstGeom>
          <a:noFill/>
        </p:spPr>
        <p:txBody>
          <a:bodyPr wrap="none" lIns="0" tIns="0" rIns="0" bIns="0" anchor="ctr">
            <a:spAutoFit/>
          </a:bodyPr>
          <a:lstStyle/>
          <a:p>
            <a:pPr algn="r"/>
            <a:r>
              <a:rPr sz="900" b="0">
                <a:solidFill>
                  <a:srgbClr val="FFFFFF"/>
                </a:solidFill>
                <a:latin typeface="Aptos"/>
              </a:rPr>
              <a:t>23/24</a:t>
            </a: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Limitations and Future Work</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rPr sz="1500" b="0">
                <a:solidFill>
                  <a:srgbClr val="191919"/>
                </a:solidFill>
                <a:latin typeface="Aptos"/>
              </a:rPr>
              <a:t>The result is limited by the experimental scope of the thesis.</a:t>
            </a:r>
          </a:p>
        </p:txBody>
      </p:sp>
      <p:sp>
        <p:nvSpPr>
          <p:cNvPr id="9" name="Rectangle 8"/>
          <p:cNvSpPr/>
          <p:nvPr/>
        </p:nvSpPr>
        <p:spPr>
          <a:xfrm>
            <a:off x="1190625" y="2143125"/>
            <a:ext cx="4381500" cy="2857500"/>
          </a:xfrm>
          <a:prstGeom prst="rect">
            <a:avLst/>
          </a:prstGeom>
          <a:solidFill>
            <a:srgbClr val="F8FAFC"/>
          </a:solidFill>
          <a:ln w="12700">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38275" y="2390775"/>
            <a:ext cx="3886200" cy="228600"/>
          </a:xfrm>
          <a:prstGeom prst="rect">
            <a:avLst/>
          </a:prstGeom>
          <a:noFill/>
        </p:spPr>
        <p:txBody>
          <a:bodyPr wrap="none" lIns="0" tIns="0" rIns="0" bIns="0">
            <a:spAutoFit/>
          </a:bodyPr>
          <a:lstStyle/>
          <a:p>
            <a:pPr algn="l"/>
            <a:r>
              <a:rPr sz="1800" b="1">
                <a:solidFill>
                  <a:srgbClr val="1B1B1D"/>
                </a:solidFill>
                <a:latin typeface="Aptos"/>
              </a:rPr>
              <a:t>Limitations</a:t>
            </a:r>
          </a:p>
        </p:txBody>
      </p:sp>
      <p:sp>
        <p:nvSpPr>
          <p:cNvPr id="11" name="TextBox 10"/>
          <p:cNvSpPr txBox="1"/>
          <p:nvPr/>
        </p:nvSpPr>
        <p:spPr>
          <a:xfrm>
            <a:off x="1514475" y="2867025"/>
            <a:ext cx="3733800" cy="285750"/>
          </a:xfrm>
          <a:prstGeom prst="rect">
            <a:avLst/>
          </a:prstGeom>
          <a:noFill/>
        </p:spPr>
        <p:txBody>
          <a:bodyPr wrap="square" lIns="0" tIns="0" rIns="0" bIns="0">
            <a:spAutoFit/>
          </a:bodyPr>
          <a:lstStyle/>
          <a:p>
            <a:pPr algn="l"/>
            <a:r>
              <a:rPr sz="1300" b="0">
                <a:solidFill>
                  <a:srgbClr val="1B1B1D"/>
                </a:solidFill>
                <a:latin typeface="Aptos"/>
              </a:rPr>
              <a:t>portfolio limited to introsort, heapsort, and timsort</a:t>
            </a:r>
          </a:p>
        </p:txBody>
      </p:sp>
      <p:sp>
        <p:nvSpPr>
          <p:cNvPr id="12" name="TextBox 11"/>
          <p:cNvSpPr txBox="1"/>
          <p:nvPr/>
        </p:nvSpPr>
        <p:spPr>
          <a:xfrm>
            <a:off x="1514475" y="3324225"/>
            <a:ext cx="3733800" cy="285750"/>
          </a:xfrm>
          <a:prstGeom prst="rect">
            <a:avLst/>
          </a:prstGeom>
          <a:noFill/>
        </p:spPr>
        <p:txBody>
          <a:bodyPr wrap="square" lIns="0" tIns="0" rIns="0" bIns="0">
            <a:spAutoFit/>
          </a:bodyPr>
          <a:lstStyle/>
          <a:p>
            <a:pPr algn="l"/>
            <a:r>
              <a:rPr sz="1300" b="0">
                <a:solidFill>
                  <a:srgbClr val="1B1B1D"/>
                </a:solidFill>
                <a:latin typeface="Aptos"/>
              </a:rPr>
              <a:t>timing results collected on one hardware configuration</a:t>
            </a:r>
          </a:p>
        </p:txBody>
      </p:sp>
      <p:sp>
        <p:nvSpPr>
          <p:cNvPr id="13" name="TextBox 12"/>
          <p:cNvSpPr txBox="1"/>
          <p:nvPr/>
        </p:nvSpPr>
        <p:spPr>
          <a:xfrm>
            <a:off x="1514475" y="3781425"/>
            <a:ext cx="3733800" cy="285750"/>
          </a:xfrm>
          <a:prstGeom prst="rect">
            <a:avLst/>
          </a:prstGeom>
          <a:noFill/>
        </p:spPr>
        <p:txBody>
          <a:bodyPr wrap="square" lIns="0" tIns="0" rIns="0" bIns="0">
            <a:spAutoFit/>
          </a:bodyPr>
          <a:lstStyle/>
          <a:p>
            <a:pPr algn="l"/>
            <a:r>
              <a:rPr sz="1300" b="0">
                <a:solidFill>
                  <a:srgbClr val="1B1B1D"/>
                </a:solidFill>
                <a:latin typeface="Aptos"/>
              </a:rPr>
              <a:t>LinUCB was designed but not empirically validated</a:t>
            </a:r>
          </a:p>
        </p:txBody>
      </p:sp>
      <p:sp>
        <p:nvSpPr>
          <p:cNvPr id="14" name="TextBox 13"/>
          <p:cNvSpPr txBox="1"/>
          <p:nvPr/>
        </p:nvSpPr>
        <p:spPr>
          <a:xfrm>
            <a:off x="1514475" y="4238625"/>
            <a:ext cx="3733800" cy="285750"/>
          </a:xfrm>
          <a:prstGeom prst="rect">
            <a:avLst/>
          </a:prstGeom>
          <a:noFill/>
        </p:spPr>
        <p:txBody>
          <a:bodyPr wrap="square" lIns="0" tIns="0" rIns="0" bIns="0">
            <a:spAutoFit/>
          </a:bodyPr>
          <a:lstStyle/>
          <a:p>
            <a:pPr algn="l"/>
            <a:r>
              <a:rPr sz="1300" b="0">
                <a:solidFill>
                  <a:srgbClr val="1B1B1D"/>
                </a:solidFill>
                <a:latin typeface="Aptos"/>
              </a:rPr>
              <a:t>feature overhead is not profitable for very small arrays</a:t>
            </a:r>
          </a:p>
        </p:txBody>
      </p:sp>
      <p:sp>
        <p:nvSpPr>
          <p:cNvPr id="15" name="Rectangle 14"/>
          <p:cNvSpPr/>
          <p:nvPr/>
        </p:nvSpPr>
        <p:spPr>
          <a:xfrm>
            <a:off x="6619875" y="2143125"/>
            <a:ext cx="4381500" cy="2857500"/>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67525" y="2390775"/>
            <a:ext cx="3886200" cy="228600"/>
          </a:xfrm>
          <a:prstGeom prst="rect">
            <a:avLst/>
          </a:prstGeom>
          <a:noFill/>
        </p:spPr>
        <p:txBody>
          <a:bodyPr wrap="none" lIns="0" tIns="0" rIns="0" bIns="0">
            <a:spAutoFit/>
          </a:bodyPr>
          <a:lstStyle/>
          <a:p>
            <a:pPr algn="l"/>
            <a:r>
              <a:rPr sz="1800" b="1">
                <a:solidFill>
                  <a:srgbClr val="191919"/>
                </a:solidFill>
                <a:latin typeface="Aptos"/>
              </a:rPr>
              <a:t>Future work</a:t>
            </a:r>
          </a:p>
        </p:txBody>
      </p:sp>
      <p:sp>
        <p:nvSpPr>
          <p:cNvPr id="17" name="TextBox 16"/>
          <p:cNvSpPr txBox="1"/>
          <p:nvPr/>
        </p:nvSpPr>
        <p:spPr>
          <a:xfrm>
            <a:off x="6943725" y="2867025"/>
            <a:ext cx="3733800" cy="285750"/>
          </a:xfrm>
          <a:prstGeom prst="rect">
            <a:avLst/>
          </a:prstGeom>
          <a:noFill/>
        </p:spPr>
        <p:txBody>
          <a:bodyPr wrap="square" lIns="0" tIns="0" rIns="0" bIns="0">
            <a:spAutoFit/>
          </a:bodyPr>
          <a:lstStyle/>
          <a:p>
            <a:pPr algn="l"/>
            <a:r>
              <a:rPr sz="1300" b="0">
                <a:solidFill>
                  <a:srgbClr val="566987"/>
                </a:solidFill>
                <a:latin typeface="Aptos"/>
              </a:rPr>
              <a:t>broader algorithm portfolios and hardware-aware features</a:t>
            </a:r>
          </a:p>
        </p:txBody>
      </p:sp>
      <p:sp>
        <p:nvSpPr>
          <p:cNvPr id="18" name="TextBox 17"/>
          <p:cNvSpPr txBox="1"/>
          <p:nvPr/>
        </p:nvSpPr>
        <p:spPr>
          <a:xfrm>
            <a:off x="6943725" y="3324225"/>
            <a:ext cx="3733800" cy="285750"/>
          </a:xfrm>
          <a:prstGeom prst="rect">
            <a:avLst/>
          </a:prstGeom>
          <a:noFill/>
        </p:spPr>
        <p:txBody>
          <a:bodyPr wrap="square" lIns="0" tIns="0" rIns="0" bIns="0">
            <a:spAutoFit/>
          </a:bodyPr>
          <a:lstStyle/>
          <a:p>
            <a:pPr algn="l"/>
            <a:r>
              <a:rPr sz="1300" b="0">
                <a:solidFill>
                  <a:srgbClr val="566987"/>
                </a:solidFill>
                <a:latin typeface="Aptos"/>
              </a:rPr>
              <a:t>validated online adaptation under workload drift</a:t>
            </a:r>
          </a:p>
        </p:txBody>
      </p:sp>
      <p:sp>
        <p:nvSpPr>
          <p:cNvPr id="19" name="TextBox 18"/>
          <p:cNvSpPr txBox="1"/>
          <p:nvPr/>
        </p:nvSpPr>
        <p:spPr>
          <a:xfrm>
            <a:off x="6943725" y="3781425"/>
            <a:ext cx="3733800" cy="285750"/>
          </a:xfrm>
          <a:prstGeom prst="rect">
            <a:avLst/>
          </a:prstGeom>
          <a:noFill/>
        </p:spPr>
        <p:txBody>
          <a:bodyPr wrap="square" lIns="0" tIns="0" rIns="0" bIns="0">
            <a:spAutoFit/>
          </a:bodyPr>
          <a:lstStyle/>
          <a:p>
            <a:pPr algn="l"/>
            <a:r>
              <a:rPr sz="1300" b="0">
                <a:solidFill>
                  <a:srgbClr val="566987"/>
                </a:solidFill>
                <a:latin typeface="Aptos"/>
              </a:rPr>
              <a:t>stricter F1-specific evaluation and channel-level routing</a:t>
            </a:r>
          </a:p>
        </p:txBody>
      </p:sp>
      <p:sp>
        <p:nvSpPr>
          <p:cNvPr id="20" name="TextBox 19"/>
          <p:cNvSpPr txBox="1"/>
          <p:nvPr/>
        </p:nvSpPr>
        <p:spPr>
          <a:xfrm>
            <a:off x="6943725" y="4238625"/>
            <a:ext cx="3733800" cy="285750"/>
          </a:xfrm>
          <a:prstGeom prst="rect">
            <a:avLst/>
          </a:prstGeom>
          <a:noFill/>
        </p:spPr>
        <p:txBody>
          <a:bodyPr wrap="square" lIns="0" tIns="0" rIns="0" bIns="0">
            <a:spAutoFit/>
          </a:bodyPr>
          <a:lstStyle/>
          <a:p>
            <a:pPr algn="l"/>
            <a:r>
              <a:rPr sz="1300" b="0">
                <a:solidFill>
                  <a:srgbClr val="566987"/>
                </a:solidFill>
                <a:latin typeface="Aptos"/>
              </a:rPr>
              <a:t>deployment study including feature-extraction overhead</a:t>
            </a:r>
          </a:p>
        </p:txBody>
      </p:sp>
      <p:sp>
        <p:nvSpPr>
          <p:cNvPr id="21" name="TextBox 20"/>
          <p:cNvSpPr txBox="1"/>
          <p:nvPr/>
        </p:nvSpPr>
        <p:spPr>
          <a:xfrm>
            <a:off x="1524000" y="5667375"/>
            <a:ext cx="9144000" cy="228600"/>
          </a:xfrm>
          <a:prstGeom prst="rect">
            <a:avLst/>
          </a:prstGeom>
          <a:noFill/>
        </p:spPr>
        <p:txBody>
          <a:bodyPr wrap="none" lIns="0" tIns="0" rIns="0" bIns="0">
            <a:spAutoFit/>
          </a:bodyPr>
          <a:lstStyle/>
          <a:p>
            <a:r>
              <a:rPr sz="1400" b="0">
                <a:solidFill>
                  <a:srgbClr val="191919"/>
                </a:solidFill>
                <a:latin typeface="Aptos"/>
              </a:rPr>
              <a:t>Future work extends the framework along portfolio, adaptation, and generalisation axes.</a:t>
            </a:r>
          </a:p>
        </p:txBody>
      </p:sp>
      <p:sp>
        <p:nvSpPr>
          <p:cNvPr id="22" name="Rectangle 21"/>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6459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64592"/>
            <a:ext cx="12192000" cy="45720"/>
          </a:xfrm>
          <a:prstGeom prst="rect">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01968"/>
            <a:ext cx="12192000" cy="25603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057400"/>
            <a:ext cx="10363200" cy="914400"/>
          </a:xfrm>
          <a:prstGeom prst="rect">
            <a:avLst/>
          </a:prstGeom>
          <a:noFill/>
        </p:spPr>
        <p:txBody>
          <a:bodyPr wrap="none">
            <a:spAutoFit/>
          </a:bodyPr>
          <a:lstStyle/>
          <a:p>
            <a:pPr algn="ctr"/>
            <a:r>
              <a:rPr sz="5800" b="1">
                <a:solidFill>
                  <a:srgbClr val="191919"/>
                </a:solidFill>
                <a:latin typeface="Aptos Display"/>
              </a:rPr>
              <a:t>Thank you</a:t>
            </a:r>
          </a:p>
        </p:txBody>
      </p:sp>
      <p:sp>
        <p:nvSpPr>
          <p:cNvPr id="6" name="TextBox 5"/>
          <p:cNvSpPr txBox="1"/>
          <p:nvPr/>
        </p:nvSpPr>
        <p:spPr>
          <a:xfrm>
            <a:off x="914400" y="2999232"/>
            <a:ext cx="10363200" cy="685800"/>
          </a:xfrm>
          <a:prstGeom prst="rect">
            <a:avLst/>
          </a:prstGeom>
          <a:noFill/>
        </p:spPr>
        <p:txBody>
          <a:bodyPr wrap="none">
            <a:spAutoFit/>
          </a:bodyPr>
          <a:lstStyle/>
          <a:p>
            <a:pPr algn="ctr"/>
            <a:r>
              <a:rPr sz="3600" b="1">
                <a:solidFill>
                  <a:srgbClr val="F94E1F"/>
                </a:solidFill>
                <a:latin typeface="Aptos Display"/>
              </a:rPr>
              <a:t>Questions?</a:t>
            </a:r>
          </a:p>
        </p:txBody>
      </p:sp>
      <p:sp>
        <p:nvSpPr>
          <p:cNvPr id="7" name="TextBox 6"/>
          <p:cNvSpPr txBox="1"/>
          <p:nvPr/>
        </p:nvSpPr>
        <p:spPr>
          <a:xfrm>
            <a:off x="11323320" y="6643116"/>
            <a:ext cx="685800" cy="164592"/>
          </a:xfrm>
          <a:prstGeom prst="rect">
            <a:avLst/>
          </a:prstGeom>
          <a:noFill/>
        </p:spPr>
        <p:txBody>
          <a:bodyPr wrap="none">
            <a:spAutoFit/>
          </a:bodyPr>
          <a:lstStyle/>
          <a:p>
            <a:pPr algn="r"/>
            <a:r>
              <a:rPr sz="900">
                <a:solidFill>
                  <a:srgbClr val="FFFFFF"/>
                </a:solidFill>
                <a:latin typeface="Aptos"/>
              </a:rPr>
              <a:t>24/24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18</TotalTime>
  <Words>2342</Words>
  <Application>Microsoft Macintosh PowerPoint</Application>
  <PresentationFormat>Widescreen</PresentationFormat>
  <Paragraphs>305</Paragraphs>
  <Slides>24</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Anthropic Sans</vt:lpstr>
      <vt:lpstr>Aptos</vt:lpstr>
      <vt:lpstr>Aptos Display</vt:lpstr>
      <vt:lpstr>Arial</vt:lpstr>
      <vt:lpstr>Calibri</vt:lpstr>
      <vt:lpstr>Consolas</vt:lpstr>
      <vt:lpstr>Styrene 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Salah Abdalhi</cp:lastModifiedBy>
  <cp:revision>3</cp:revision>
  <dcterms:created xsi:type="dcterms:W3CDTF">2026-06-30T17:56:25Z</dcterms:created>
  <dcterms:modified xsi:type="dcterms:W3CDTF">2026-07-01T14:24:37Z</dcterms:modified>
  <cp:category/>
  <cp:contentStatus/>
  <dc:language/>
</cp:coreProperties>
</file>