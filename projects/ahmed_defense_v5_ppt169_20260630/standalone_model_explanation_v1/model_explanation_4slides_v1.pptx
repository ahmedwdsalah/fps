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9A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999" cy="5486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9A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91919"/>
                </a:solidFill>
                <a:latin typeface="Arial"/>
              </a:rPr>
              <a:t>The selector learns probabilities, not runtimes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91919"/>
                </a:solidFill>
                <a:latin typeface="Arial"/>
              </a:rPr>
              <a:t>The final model is a three-class XGBoost classifier.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11201400" cy="25400"/>
          </a:xfrm>
          <a:prstGeom prst="rect">
            <a:avLst/>
          </a:prstGeom>
          <a:solidFill>
            <a:srgbClr val="D2D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09960" y="6656832"/>
            <a:ext cx="640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M1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1874519" cy="9601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29968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1919"/>
                </a:solidFill>
                <a:latin typeface="Arial"/>
              </a:rPr>
              <a:t>16 structural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1919"/>
                </a:solidFill>
                <a:latin typeface="Arial"/>
              </a:rP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66987"/>
                </a:solidFill>
                <a:latin typeface="Arial"/>
              </a:rPr>
              <a:t>runs, sortedness,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66987"/>
                </a:solidFill>
                <a:latin typeface="Arial"/>
              </a:rPr>
              <a:t>duplicates, size...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97480" y="2359152"/>
            <a:ext cx="640080" cy="0"/>
          </a:xfrm>
          <a:prstGeom prst="line">
            <a:avLst/>
          </a:prstGeom>
          <a:ln w="3175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29000" y="1664208"/>
            <a:ext cx="1920240" cy="1371600"/>
          </a:xfrm>
          <a:prstGeom prst="roundRect">
            <a:avLst/>
          </a:prstGeom>
          <a:solidFill>
            <a:srgbClr val="191919"/>
          </a:solidFill>
          <a:ln w="1270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1920240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XGBoost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331720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4511E"/>
                </a:solidFill>
                <a:latin typeface="Courier New"/>
              </a:rPr>
              <a:t>multi:softprob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40680" y="2359152"/>
            <a:ext cx="594360" cy="0"/>
          </a:xfrm>
          <a:prstGeom prst="line">
            <a:avLst/>
          </a:prstGeom>
          <a:ln w="3175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72200" y="1508760"/>
            <a:ext cx="24688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719072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1919"/>
                </a:solidFill>
                <a:latin typeface="Arial"/>
              </a:rPr>
              <a:t>class probabilities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057400"/>
            <a:ext cx="777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66987"/>
                </a:solidFill>
                <a:latin typeface="Arial"/>
              </a:rPr>
              <a:t>introsort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2084831"/>
            <a:ext cx="315468" cy="100584"/>
          </a:xfrm>
          <a:prstGeom prst="rect">
            <a:avLst/>
          </a:prstGeom>
          <a:solidFill>
            <a:srgbClr val="9A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057400"/>
            <a:ext cx="2286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91919"/>
                </a:solidFill>
                <a:latin typeface="Arial"/>
              </a:rPr>
              <a:t>0.18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368296"/>
            <a:ext cx="777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66987"/>
                </a:solidFill>
                <a:latin typeface="Arial"/>
              </a:rPr>
              <a:t>heapsort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2395727"/>
            <a:ext cx="385572" cy="100584"/>
          </a:xfrm>
          <a:prstGeom prst="rect">
            <a:avLst/>
          </a:prstGeom>
          <a:solidFill>
            <a:srgbClr val="566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2368296"/>
            <a:ext cx="2286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91919"/>
                </a:solidFill>
                <a:latin typeface="Arial"/>
              </a:rPr>
              <a:t>0.22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679191"/>
            <a:ext cx="777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66987"/>
                </a:solidFill>
                <a:latin typeface="Arial"/>
              </a:rPr>
              <a:t>timsort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2706623"/>
            <a:ext cx="1051560" cy="10058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2679191"/>
            <a:ext cx="2286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91919"/>
                </a:solidFill>
                <a:latin typeface="Arial"/>
              </a:rPr>
              <a:t>0.60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32520" y="2359152"/>
            <a:ext cx="594360" cy="0"/>
          </a:xfrm>
          <a:prstGeom prst="line">
            <a:avLst/>
          </a:prstGeom>
          <a:ln w="3175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64040" y="1874519"/>
            <a:ext cx="1645920" cy="960120"/>
          </a:xfrm>
          <a:prstGeom prst="roundRect">
            <a:avLst/>
          </a:prstGeom>
          <a:solidFill>
            <a:srgbClr val="F4511E"/>
          </a:solidFill>
          <a:ln w="12700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2212848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timsort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379476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005072"/>
            <a:ext cx="2788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91919"/>
                </a:solidFill>
                <a:latin typeface="Arial"/>
              </a:rPr>
              <a:t>We did not keep regression loss because exact runtime prediction made the model care too much about array size and noisy timing values.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0" y="379476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9160" y="4005072"/>
            <a:ext cx="2788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91919"/>
                </a:solidFill>
                <a:latin typeface="Arial"/>
              </a:rPr>
              <a:t>`mlogloss` punishes confident wrong probabilities. So the loss asks not only “was it wrong?” but also “how confident was it?”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379476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4005072"/>
            <a:ext cx="2788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91919"/>
                </a:solidFill>
                <a:latin typeface="Arial"/>
              </a:rPr>
              <a:t>Regret is not the final training loss. Regret is how we check if a wrong choice actually costs runtime.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9A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999" cy="5486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9A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91919"/>
                </a:solidFill>
                <a:latin typeface="Arial"/>
              </a:rPr>
              <a:t>XGBoost starts from a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91919"/>
                </a:solidFill>
                <a:latin typeface="Arial"/>
              </a:rPr>
              <a:t>The raw label distribution was timsort-heavy, so we had to stop the model from learning only the easy majority pattern.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11201400" cy="25400"/>
          </a:xfrm>
          <a:prstGeom prst="rect">
            <a:avLst/>
          </a:prstGeom>
          <a:solidFill>
            <a:srgbClr val="D2D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09960" y="6656832"/>
            <a:ext cx="640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30632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11680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1919"/>
                </a:solidFill>
                <a:latin typeface="Arial"/>
              </a:rPr>
              <a:t>raw labels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14600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66987"/>
                </a:solidFill>
                <a:latin typeface="Arial"/>
              </a:rPr>
              <a:t>timsort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2542032"/>
            <a:ext cx="1325880" cy="128016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514600"/>
            <a:ext cx="3200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91919"/>
                </a:solidFill>
                <a:latin typeface="Arial"/>
              </a:rPr>
              <a:t>85.0%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81528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66987"/>
                </a:solidFill>
                <a:latin typeface="Arial"/>
              </a:rPr>
              <a:t>heapsort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3108960"/>
            <a:ext cx="320040" cy="128016"/>
          </a:xfrm>
          <a:prstGeom prst="rect">
            <a:avLst/>
          </a:prstGeom>
          <a:solidFill>
            <a:srgbClr val="566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3081528"/>
            <a:ext cx="3200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91919"/>
                </a:solidFill>
                <a:latin typeface="Arial"/>
              </a:rPr>
              <a:t>10.5%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648456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66987"/>
                </a:solidFill>
                <a:latin typeface="Arial"/>
              </a:rPr>
              <a:t>introsort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3675888"/>
            <a:ext cx="164592" cy="128016"/>
          </a:xfrm>
          <a:prstGeom prst="rect">
            <a:avLst/>
          </a:prstGeom>
          <a:solidFill>
            <a:srgbClr val="9A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3648456"/>
            <a:ext cx="3200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91919"/>
                </a:solidFill>
                <a:latin typeface="Arial"/>
              </a:rPr>
              <a:t>4.4%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160520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A1C3E"/>
                </a:solidFill>
                <a:latin typeface="Arial"/>
              </a:rPr>
              <a:t>Naive danger: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A1C3E"/>
                </a:solidFill>
                <a:latin typeface="Arial"/>
              </a:rPr>
              <a:t>“just predict timsort most of the time”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77639" y="3063240"/>
            <a:ext cx="640081" cy="0"/>
          </a:xfrm>
          <a:prstGeom prst="line">
            <a:avLst/>
          </a:prstGeom>
          <a:ln w="3175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754880" y="1691640"/>
            <a:ext cx="2834640" cy="31546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96596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1919"/>
                </a:solidFill>
                <a:latin typeface="Arial"/>
              </a:rPr>
              <a:t>training controls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74920" y="2514600"/>
            <a:ext cx="21945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85232" y="2596896"/>
            <a:ext cx="1783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91919"/>
                </a:solidFill>
                <a:latin typeface="Arial"/>
              </a:rPr>
              <a:t>near-tie filtering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74920" y="3081528"/>
            <a:ext cx="21945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163824"/>
            <a:ext cx="1783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91919"/>
                </a:solidFill>
                <a:latin typeface="Arial"/>
              </a:rPr>
              <a:t>majority undersampling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74920" y="3648456"/>
            <a:ext cx="21945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85232" y="3730752"/>
            <a:ext cx="1783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91919"/>
                </a:solidFill>
                <a:latin typeface="Arial"/>
              </a:rPr>
              <a:t>inverse-frequency weights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4315968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1C3E"/>
                </a:solidFill>
                <a:latin typeface="Courier New"/>
              </a:rPr>
              <a:t>weight = total / (classes × class_count)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26679" y="3063240"/>
            <a:ext cx="640081" cy="0"/>
          </a:xfrm>
          <a:prstGeom prst="line">
            <a:avLst/>
          </a:prstGeom>
          <a:ln w="3175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503920" y="1783080"/>
            <a:ext cx="28346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60" y="2011680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1919"/>
                </a:solidFill>
                <a:latin typeface="Arial"/>
              </a:rPr>
              <a:t>better starting point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2606040"/>
            <a:ext cx="2148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91919"/>
                </a:solidFill>
                <a:latin typeface="Arial"/>
              </a:rPr>
              <a:t>The baseline is still an internal XGBoost starting prediction, but the loss is not dominated by timsort before trees learn structure.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4069080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66987"/>
                </a:solidFill>
                <a:latin typeface="Arial"/>
              </a:rPr>
              <a:t>Not SBS. Not VBS.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66987"/>
                </a:solidFill>
                <a:latin typeface="Arial"/>
              </a:rPr>
              <a:t>Those are evaluation baselines.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5376672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91919"/>
                </a:solidFill>
                <a:latin typeface="Arial"/>
              </a:rPr>
              <a:t>The point: before the model earns feature-based structure, we make sure the training signal does not collapse into the majority class.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9A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999" cy="5486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9A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91919"/>
                </a:solidFill>
                <a:latin typeface="Arial"/>
              </a:rPr>
              <a:t>Each tree corrects the remaining mistake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91919"/>
                </a:solidFill>
                <a:latin typeface="Arial"/>
              </a:rPr>
              <a:t>XGBoost moves class scores, not the data points themselves.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11201400" cy="25400"/>
          </a:xfrm>
          <a:prstGeom prst="rect">
            <a:avLst/>
          </a:prstGeom>
          <a:solidFill>
            <a:srgbClr val="D2D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09960" y="6656832"/>
            <a:ext cx="640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M3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64208"/>
            <a:ext cx="2331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187451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91919"/>
                </a:solidFill>
                <a:latin typeface="Arial"/>
              </a:rPr>
              <a:t>current scores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23160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66987"/>
                </a:solidFill>
                <a:latin typeface="Arial"/>
              </a:rPr>
              <a:t>intro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423160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91919"/>
                </a:solidFill>
                <a:latin typeface="Courier New"/>
              </a:rPr>
              <a:t>0.21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07208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66987"/>
                </a:solidFill>
                <a:latin typeface="Arial"/>
              </a:rPr>
              <a:t>heap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807208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91919"/>
                </a:solidFill>
                <a:latin typeface="Courier New"/>
              </a:rPr>
              <a:t>0.52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91256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66987"/>
                </a:solidFill>
                <a:latin typeface="Arial"/>
              </a:rPr>
              <a:t>tim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191256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91919"/>
                </a:solidFill>
                <a:latin typeface="Courier New"/>
              </a:rPr>
              <a:t>0.27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657600"/>
            <a:ext cx="187451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1C3E"/>
                </a:solidFill>
                <a:latin typeface="Arial"/>
              </a:rPr>
              <a:t>true fastest: timsort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54680" y="2926080"/>
            <a:ext cx="548640" cy="0"/>
          </a:xfrm>
          <a:prstGeom prst="line">
            <a:avLst/>
          </a:prstGeom>
          <a:ln w="3175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886200" y="1600200"/>
            <a:ext cx="2331720" cy="12344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0520" y="1810512"/>
            <a:ext cx="1783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A1C3E"/>
                </a:solidFill>
                <a:latin typeface="Arial"/>
              </a:rPr>
              <a:t>gradient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2240280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91919"/>
                </a:solidFill>
                <a:latin typeface="Arial"/>
              </a:rPr>
              <a:t>direction + urgency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91919"/>
                </a:solidFill>
                <a:latin typeface="Arial"/>
              </a:rPr>
              <a:t>should this score go up or down?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3154680"/>
            <a:ext cx="2331720" cy="12344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3364992"/>
            <a:ext cx="1783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A1C3E"/>
                </a:solidFill>
                <a:latin typeface="Arial"/>
              </a:rPr>
              <a:t>Hessian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3794760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91919"/>
                </a:solidFill>
                <a:latin typeface="Arial"/>
              </a:rPr>
              <a:t>curvature + carefulness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91919"/>
                </a:solidFill>
                <a:latin typeface="Arial"/>
              </a:rPr>
              <a:t>how strong should this correction be?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55080" y="2926080"/>
            <a:ext cx="548640" cy="0"/>
          </a:xfrm>
          <a:prstGeom prst="line">
            <a:avLst/>
          </a:prstGeom>
          <a:ln w="3175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086600" y="1572768"/>
            <a:ext cx="20116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20" y="1810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1919"/>
                </a:solidFill>
                <a:latin typeface="Arial"/>
              </a:rPr>
              <a:t>next tree</a:t>
            </a:r>
          </a:p>
        </p:txBody>
      </p:sp>
      <p:sp>
        <p:nvSpPr>
          <p:cNvPr id="28" name="Oval 27"/>
          <p:cNvSpPr/>
          <p:nvPr/>
        </p:nvSpPr>
        <p:spPr>
          <a:xfrm>
            <a:off x="8092440" y="2331720"/>
            <a:ext cx="201168" cy="201168"/>
          </a:xfrm>
          <a:prstGeom prst="ellipse">
            <a:avLst/>
          </a:prstGeom>
          <a:solidFill>
            <a:srgbClr val="566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543800" y="2971800"/>
            <a:ext cx="201168" cy="201168"/>
          </a:xfrm>
          <a:prstGeom prst="ellipse">
            <a:avLst/>
          </a:prstGeom>
          <a:solidFill>
            <a:srgbClr val="566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41080" y="2971800"/>
            <a:ext cx="201168" cy="201168"/>
          </a:xfrm>
          <a:prstGeom prst="ellipse">
            <a:avLst/>
          </a:prstGeom>
          <a:solidFill>
            <a:srgbClr val="566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269480" y="3611880"/>
            <a:ext cx="201168" cy="201168"/>
          </a:xfrm>
          <a:prstGeom prst="ellipse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818120" y="3611880"/>
            <a:ext cx="201168" cy="201168"/>
          </a:xfrm>
          <a:prstGeom prst="ellipse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66760" y="3611880"/>
            <a:ext cx="201168" cy="201168"/>
          </a:xfrm>
          <a:prstGeom prst="ellipse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15400" y="3611880"/>
            <a:ext cx="201168" cy="201168"/>
          </a:xfrm>
          <a:prstGeom prst="ellipse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H="1">
            <a:off x="7644383" y="2532888"/>
            <a:ext cx="548641" cy="438912"/>
          </a:xfrm>
          <a:prstGeom prst="line">
            <a:avLst/>
          </a:prstGeom>
          <a:ln w="19050">
            <a:solidFill>
              <a:srgbClr val="D2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93024" y="2532888"/>
            <a:ext cx="548640" cy="438912"/>
          </a:xfrm>
          <a:prstGeom prst="line">
            <a:avLst/>
          </a:prstGeom>
          <a:ln w="19050">
            <a:solidFill>
              <a:srgbClr val="D2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7370064" y="3172968"/>
            <a:ext cx="274319" cy="438912"/>
          </a:xfrm>
          <a:prstGeom prst="line">
            <a:avLst/>
          </a:prstGeom>
          <a:ln w="19050">
            <a:solidFill>
              <a:srgbClr val="D2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44383" y="3172968"/>
            <a:ext cx="274321" cy="438912"/>
          </a:xfrm>
          <a:prstGeom prst="line">
            <a:avLst/>
          </a:prstGeom>
          <a:ln w="19050">
            <a:solidFill>
              <a:srgbClr val="D2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8467344" y="3172968"/>
            <a:ext cx="274320" cy="438912"/>
          </a:xfrm>
          <a:prstGeom prst="line">
            <a:avLst/>
          </a:prstGeom>
          <a:ln w="19050">
            <a:solidFill>
              <a:srgbClr val="D2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41664" y="3172968"/>
            <a:ext cx="274320" cy="438912"/>
          </a:xfrm>
          <a:prstGeom prst="line">
            <a:avLst/>
          </a:prstGeom>
          <a:ln w="19050">
            <a:solidFill>
              <a:srgbClr val="D2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360920" y="4069080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66987"/>
                </a:solidFill>
                <a:latin typeface="Arial"/>
              </a:rPr>
              <a:t>groups arrays needing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66987"/>
                </a:solidFill>
                <a:latin typeface="Arial"/>
              </a:rPr>
              <a:t>similar correction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235440" y="2926080"/>
            <a:ext cx="502920" cy="0"/>
          </a:xfrm>
          <a:prstGeom prst="line">
            <a:avLst/>
          </a:prstGeom>
          <a:ln w="3175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893808" y="1874519"/>
            <a:ext cx="1691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04120" y="2121408"/>
            <a:ext cx="1234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91919"/>
                </a:solidFill>
                <a:latin typeface="Arial"/>
              </a:rPr>
              <a:t>updated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91919"/>
                </a:solidFill>
                <a:latin typeface="Arial"/>
              </a:rPr>
              <a:t>probabilities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04120" y="281635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511E"/>
                </a:solidFill>
                <a:latin typeface="Arial"/>
              </a:rPr>
              <a:t>timscore ↑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511E"/>
                </a:solidFill>
                <a:latin typeface="Arial"/>
              </a:rPr>
              <a:t>wrong score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230368"/>
            <a:ext cx="10469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91919"/>
                </a:solidFill>
                <a:latin typeface="Arial"/>
              </a:rPr>
              <a:t>That second-order information is why XGBoost is not just “fit errors.” It uses direction and curvature to decide better splits and leaf values.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9A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999" cy="5486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9A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91919"/>
                </a:solidFill>
                <a:latin typeface="Arial"/>
              </a:rPr>
              <a:t>The model is controlled so it does not overfit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91919"/>
                </a:solidFill>
                <a:latin typeface="Arial"/>
              </a:rPr>
              <a:t>The corrections are powerful, so we deliberately restrict how each tree learns.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11201400" cy="25400"/>
          </a:xfrm>
          <a:prstGeom prst="rect">
            <a:avLst/>
          </a:prstGeom>
          <a:solidFill>
            <a:srgbClr val="D2D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09960" y="6656832"/>
            <a:ext cx="640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M4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27632"/>
            <a:ext cx="10652760" cy="8229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10149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91919"/>
                </a:solidFill>
                <a:latin typeface="Arial"/>
              </a:rPr>
              <a:t>many small corrections  →  additive ensemble  →  final probability distribution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788920"/>
            <a:ext cx="3246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935224"/>
            <a:ext cx="2788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1C3E"/>
                </a:solidFill>
                <a:latin typeface="Arial"/>
              </a:rPr>
              <a:t>learning_rate = 0.05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82112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1919"/>
                </a:solidFill>
                <a:latin typeface="Arial"/>
              </a:rPr>
              <a:t>shrinks every tree correction so learning happens in small 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2788920"/>
            <a:ext cx="3246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2935224"/>
            <a:ext cx="2788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1C3E"/>
                </a:solidFill>
                <a:latin typeface="Arial"/>
              </a:rPr>
              <a:t>max_depth =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3182112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1919"/>
                </a:solidFill>
                <a:latin typeface="Arial"/>
              </a:rPr>
              <a:t>limits how complex one tree can become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2788920"/>
            <a:ext cx="3246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935224"/>
            <a:ext cx="2788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1C3E"/>
                </a:solidFill>
                <a:latin typeface="Arial"/>
              </a:rPr>
              <a:t>min_child_weight =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182112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1919"/>
                </a:solidFill>
                <a:latin typeface="Arial"/>
              </a:rPr>
              <a:t>avoids trusting tiny weak leaves too much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931920"/>
            <a:ext cx="3246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078224"/>
            <a:ext cx="2788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1C3E"/>
                </a:solidFill>
                <a:latin typeface="Arial"/>
              </a:rPr>
              <a:t>subsample = 0.8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325112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1919"/>
                </a:solidFill>
                <a:latin typeface="Arial"/>
              </a:rPr>
              <a:t>each tree sees only 80% of the rows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3931920"/>
            <a:ext cx="3246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59" y="4078224"/>
            <a:ext cx="2788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1C3E"/>
                </a:solidFill>
                <a:latin typeface="Arial"/>
              </a:rPr>
              <a:t>colsample_bytree = 0.8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59" y="4325112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1919"/>
                </a:solidFill>
                <a:latin typeface="Arial"/>
              </a:rPr>
              <a:t>each tree sees only 80% of the features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3931920"/>
            <a:ext cx="3246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078224"/>
            <a:ext cx="2788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1C3E"/>
                </a:solidFill>
                <a:latin typeface="Arial"/>
              </a:rPr>
              <a:t>reg_alpha = 0.1 / reg_lambda = 1.0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325112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1919"/>
                </a:solidFill>
                <a:latin typeface="Arial"/>
              </a:rPr>
              <a:t>L1 and L2 regularisation keep leaf corrections controlled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" y="5413248"/>
            <a:ext cx="10104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25880" y="5577840"/>
            <a:ext cx="9555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1919"/>
                </a:solidFill>
                <a:latin typeface="Arial"/>
              </a:rPr>
              <a:t>So the final prediction is not one giant decision. It is the cumulative result of many small, regularised corrections justified by the loss and the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