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bbabb58e2c44df" /><Relationship Type="http://schemas.openxmlformats.org/officeDocument/2006/relationships/extended-properties" Target="/docProps/app.xml" Id="R8c37368075ce4b38" /><Relationship Type="http://schemas.openxmlformats.org/officeDocument/2006/relationships/officeDocument" Target="/ppt/presentation.xml" Id="Rd0fb0eef59f443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470068590342f0"/>
  </p:sldMasterIdLst>
  <p:notesMasterIdLst>
    <p:notesMasterId xmlns:r="http://schemas.openxmlformats.org/officeDocument/2006/relationships" r:id="Rd8b36a3dc2fa4593"/>
  </p:notesMasterIdLst>
  <p:sldIdLst>
    <p:sldId xmlns:r="http://schemas.openxmlformats.org/officeDocument/2006/relationships" id="256" r:id="R33db9b0587f24953"/>
  </p:sldIdLst>
  <p:sldSz cx="14630400" cy="82296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4db5a760242d8" /><Relationship Type="http://schemas.openxmlformats.org/officeDocument/2006/relationships/slideMaster" Target="/ppt/slideMasters/slideMaster1.xml" Id="Rc6470068590342f0" /><Relationship Type="http://schemas.openxmlformats.org/officeDocument/2006/relationships/notesMaster" Target="/ppt/notesMasters/notesMaster1.xml" Id="Rd8b36a3dc2fa4593" /><Relationship Type="http://schemas.openxmlformats.org/officeDocument/2006/relationships/presProps" Target="/ppt/presProps.xml" Id="R4fbdc19c3e714b32" /><Relationship Type="http://schemas.openxmlformats.org/officeDocument/2006/relationships/tableStyles" Target="/ppt/tableStyles.xml" Id="Rdf895170606742be" /><Relationship Type="http://schemas.openxmlformats.org/officeDocument/2006/relationships/slide" Target="/ppt/slides/slide1.xml" Id="R33db9b0587f249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7cd32984c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25e413aed4f30" /><Relationship Type="http://schemas.openxmlformats.org/officeDocument/2006/relationships/notesMaster" Target="/ppt/notesMasters/notesMaster1.xml" Id="Reae89a236e5d49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5255039dac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63b6ab2ab849a7" /><Relationship Type="http://schemas.openxmlformats.org/officeDocument/2006/relationships/slideLayout" Target="/ppt/slideLayouts/slideLayout1.xml" Id="R5c0f50728b8a4e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0f50728b8a4e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f6c3b8c844132" /><Relationship Type="http://schemas.openxmlformats.org/officeDocument/2006/relationships/notesSlide" Target="/ppt/notesSlides/notesSlide1.xml" Id="R24d862e76c6948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maroon-strip">
            <a:extLst xmlns:a="http://schemas.openxmlformats.org/drawingml/2006/main">
              <a:ext uri="{FF2B5EF4-FFF2-40B4-BE49-F238E27FC236}">
                <a16:creationId xmlns:a16="http://schemas.microsoft.com/office/drawing/2014/main" id="{7F6F89E0-2E4E-420F-B65C-45B0A2F7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463040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2" name="top-orange-strip">
            <a:extLst xmlns:a="http://schemas.openxmlformats.org/drawingml/2006/main">
              <a:ext uri="{FF2B5EF4-FFF2-40B4-BE49-F238E27FC236}">
                <a16:creationId xmlns:a16="http://schemas.microsoft.com/office/drawing/2014/main" id="{3DCA8F3D-737A-4023-AE5B-E7584ABE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590"/>
            <a:ext cx="14630400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solidFill>
              <a:srgbClr val="F4511E"/>
            </a:solidFill>
            <a:prstDash val="solid"/>
          </a:ln>
        </p:spPr>
      </p:sp>
      <p:sp>
        <p:nvSpPr>
          <p:cNvPr id="3" name="bottom-maroon-strip">
            <a:extLst xmlns:a="http://schemas.openxmlformats.org/drawingml/2006/main">
              <a:ext uri="{FF2B5EF4-FFF2-40B4-BE49-F238E27FC236}">
                <a16:creationId xmlns:a16="http://schemas.microsoft.com/office/drawing/2014/main" id="{901F30A2-B78E-4B77-A5B3-F76395D1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001000"/>
            <a:ext cx="14630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1D3A"/>
          </a:solidFill>
          <a:ln xmlns:a="http://schemas.openxmlformats.org/drawingml/2006/main" w="0">
            <a:solidFill>
              <a:srgbClr val="8F1D3A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AB2486C-E52A-4961-96F1-58267103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662940"/>
            <a:ext cx="11887200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70" b="1">
                <a:solidFill>
                  <a:srgbClr val="171717"/>
                </a:solidFill>
              </a:defRPr>
            </a:pPr>
            <a:r>
              <a:rPr sz="2970" b="1">
                <a:solidFill>
                  <a:srgbClr val="171717"/>
                </a:solidFill>
              </a:rPr>
              <a:t>Optuna tuning strengthened the F1 channel models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7CEF8669-E7F3-4C70-8558-C5AC5107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" y="1348740"/>
            <a:ext cx="122758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288">
            <a:solidFill>
              <a:srgbClr val="D7DEE8"/>
            </a:solidFill>
            <a:prstDash val="solid"/>
          </a:ln>
        </p:spPr>
      </p:sp>
      <p:sp>
        <p:nvSpPr>
          <p:cNvPr id="6" name="searched-settings">
            <a:extLst xmlns:a="http://schemas.openxmlformats.org/drawingml/2006/main">
              <a:ext uri="{FF2B5EF4-FFF2-40B4-BE49-F238E27FC236}">
                <a16:creationId xmlns:a16="http://schemas.microsoft.com/office/drawing/2014/main" id="{A4F63EE6-47A4-4910-B3BC-05AE988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1760220"/>
            <a:ext cx="117729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10">
                <a:solidFill>
                  <a:srgbClr val="171717"/>
                </a:solidFill>
              </a:defRPr>
            </a:pPr>
            <a:r>
              <a:rPr b="1">
                <a:solidFill>
                  <a:srgbClr val="171717"/>
                </a:solidFill>
              </a:rPr>
              <a:t>Optuna searched: </a:t>
            </a:r>
            <a:r>
              <a:rPr>
                <a:solidFill>
                  <a:srgbClr val="F4511E"/>
                </a:solidFill>
              </a:rPr>
              <a:t>tree count, tree depth, learning rate, row/feature sampling, and regularisation</a:t>
            </a:r>
          </a:p>
        </p:txBody>
      </p:sp>
      <p:sp>
        <p:nvSpPr>
          <p:cNvPr id="7" name="settings-rule">
            <a:extLst xmlns:a="http://schemas.openxmlformats.org/drawingml/2006/main">
              <a:ext uri="{FF2B5EF4-FFF2-40B4-BE49-F238E27FC236}">
                <a16:creationId xmlns:a16="http://schemas.microsoft.com/office/drawing/2014/main" id="{DF82F055-2B7D-438A-BDFC-B065367A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2286000"/>
            <a:ext cx="118186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8" name="h-metric">
            <a:extLst xmlns:a="http://schemas.openxmlformats.org/drawingml/2006/main">
              <a:ext uri="{FF2B5EF4-FFF2-40B4-BE49-F238E27FC236}">
                <a16:creationId xmlns:a16="http://schemas.microsoft.com/office/drawing/2014/main" id="{5D9E3E99-1B0F-4718-997D-0A5B0571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27203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Metric</a:t>
            </a:r>
          </a:p>
        </p:txBody>
      </p:sp>
      <p:sp>
        <p:nvSpPr>
          <p:cNvPr id="9" name="h-before">
            <a:extLst xmlns:a="http://schemas.openxmlformats.org/drawingml/2006/main">
              <a:ext uri="{FF2B5EF4-FFF2-40B4-BE49-F238E27FC236}">
                <a16:creationId xmlns:a16="http://schemas.microsoft.com/office/drawing/2014/main" id="{64432A42-ACD2-47A2-A0D1-7A8A30C8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72034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Before</a:t>
            </a:r>
          </a:p>
        </p:txBody>
      </p:sp>
      <p:sp>
        <p:nvSpPr>
          <p:cNvPr id="10" name="h-after">
            <a:extLst xmlns:a="http://schemas.openxmlformats.org/drawingml/2006/main">
              <a:ext uri="{FF2B5EF4-FFF2-40B4-BE49-F238E27FC236}">
                <a16:creationId xmlns:a16="http://schemas.microsoft.com/office/drawing/2014/main" id="{40E74D37-1125-413C-BB2B-A2E433F0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2720340"/>
            <a:ext cx="1508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After Optuna</a:t>
            </a:r>
          </a:p>
        </p:txBody>
      </p:sp>
      <p:sp>
        <p:nvSpPr>
          <p:cNvPr id="11" name="h-change">
            <a:extLst xmlns:a="http://schemas.openxmlformats.org/drawingml/2006/main">
              <a:ext uri="{FF2B5EF4-FFF2-40B4-BE49-F238E27FC236}">
                <a16:creationId xmlns:a16="http://schemas.microsoft.com/office/drawing/2014/main" id="{06B8FD9F-48B6-45C6-8622-FC7EE405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2720340"/>
            <a:ext cx="10287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0" b="1">
                <a:solidFill>
                  <a:srgbClr val="5C6A7F"/>
                </a:solidFill>
              </a:defRPr>
            </a:pPr>
            <a:r>
              <a:rPr sz="1530" b="1">
                <a:solidFill>
                  <a:srgbClr val="5C6A7F"/>
                </a:solidFill>
              </a:rPr>
              <a:t>Change</a:t>
            </a:r>
          </a:p>
        </p:txBody>
      </p:sp>
      <p:sp>
        <p:nvSpPr>
          <p:cNvPr id="12" name="table-head-rule">
            <a:extLst xmlns:a="http://schemas.openxmlformats.org/drawingml/2006/main">
              <a:ext uri="{FF2B5EF4-FFF2-40B4-BE49-F238E27FC236}">
                <a16:creationId xmlns:a16="http://schemas.microsoft.com/office/drawing/2014/main" id="{9F7C487D-5508-4147-84DB-0AF9FB1B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314325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rgbClr val="D7DEE8"/>
            </a:solidFill>
            <a:prstDash val="solid"/>
          </a:ln>
        </p:spPr>
      </p:sp>
      <p:sp>
        <p:nvSpPr>
          <p:cNvPr id="13" name="metric-0">
            <a:extLst xmlns:a="http://schemas.openxmlformats.org/drawingml/2006/main">
              <a:ext uri="{FF2B5EF4-FFF2-40B4-BE49-F238E27FC236}">
                <a16:creationId xmlns:a16="http://schemas.microsoft.com/office/drawing/2014/main" id="{63DE9689-3A78-4FAB-AA37-EF4CE269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338328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test accuracy</a:t>
            </a:r>
          </a:p>
        </p:txBody>
      </p:sp>
      <p:sp>
        <p:nvSpPr>
          <p:cNvPr id="14" name="before-0">
            <a:extLst xmlns:a="http://schemas.openxmlformats.org/drawingml/2006/main">
              <a:ext uri="{FF2B5EF4-FFF2-40B4-BE49-F238E27FC236}">
                <a16:creationId xmlns:a16="http://schemas.microsoft.com/office/drawing/2014/main" id="{4028AB0D-C903-4B85-BFAA-82020C3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8328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46.0%</a:t>
            </a:r>
          </a:p>
        </p:txBody>
      </p:sp>
      <p:sp>
        <p:nvSpPr>
          <p:cNvPr id="15" name="after-0">
            <a:extLst xmlns:a="http://schemas.openxmlformats.org/drawingml/2006/main">
              <a:ext uri="{FF2B5EF4-FFF2-40B4-BE49-F238E27FC236}">
                <a16:creationId xmlns:a16="http://schemas.microsoft.com/office/drawing/2014/main" id="{2810EB2E-8FFB-4D21-851B-823335C1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338328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16" name="change-0">
            <a:extLst xmlns:a="http://schemas.openxmlformats.org/drawingml/2006/main">
              <a:ext uri="{FF2B5EF4-FFF2-40B4-BE49-F238E27FC236}">
                <a16:creationId xmlns:a16="http://schemas.microsoft.com/office/drawing/2014/main" id="{23174A2A-AD5E-4BBB-B3B6-D7921CEB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3383280"/>
            <a:ext cx="937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+7.6</a:t>
            </a:r>
          </a:p>
        </p:txBody>
      </p:sp>
      <p:sp>
        <p:nvSpPr>
          <p:cNvPr id="17" name="table-row-rule-0">
            <a:extLst xmlns:a="http://schemas.openxmlformats.org/drawingml/2006/main">
              <a:ext uri="{FF2B5EF4-FFF2-40B4-BE49-F238E27FC236}">
                <a16:creationId xmlns:a16="http://schemas.microsoft.com/office/drawing/2014/main" id="{C00B2794-1082-4674-9FA2-AD816A9C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384048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18" name="metric-1">
            <a:extLst xmlns:a="http://schemas.openxmlformats.org/drawingml/2006/main">
              <a:ext uri="{FF2B5EF4-FFF2-40B4-BE49-F238E27FC236}">
                <a16:creationId xmlns:a16="http://schemas.microsoft.com/office/drawing/2014/main" id="{13D4D8DB-7B3B-4E60-A0AB-CD61A1E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40005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F1 avg balanced accuracy</a:t>
            </a:r>
          </a:p>
        </p:txBody>
      </p:sp>
      <p:sp>
        <p:nvSpPr>
          <p:cNvPr id="19" name="before-1">
            <a:extLst xmlns:a="http://schemas.openxmlformats.org/drawingml/2006/main">
              <a:ext uri="{FF2B5EF4-FFF2-40B4-BE49-F238E27FC236}">
                <a16:creationId xmlns:a16="http://schemas.microsoft.com/office/drawing/2014/main" id="{12B551F8-03AF-4C18-A563-1CEDD82B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00050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48.2%</a:t>
            </a:r>
          </a:p>
        </p:txBody>
      </p:sp>
      <p:sp>
        <p:nvSpPr>
          <p:cNvPr id="20" name="after-1">
            <a:extLst xmlns:a="http://schemas.openxmlformats.org/drawingml/2006/main">
              <a:ext uri="{FF2B5EF4-FFF2-40B4-BE49-F238E27FC236}">
                <a16:creationId xmlns:a16="http://schemas.microsoft.com/office/drawing/2014/main" id="{3609F313-D4FC-431A-814F-63B6F7E1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400050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49.8%</a:t>
            </a:r>
          </a:p>
        </p:txBody>
      </p:sp>
      <p:sp>
        <p:nvSpPr>
          <p:cNvPr id="21" name="change-1">
            <a:extLst xmlns:a="http://schemas.openxmlformats.org/drawingml/2006/main">
              <a:ext uri="{FF2B5EF4-FFF2-40B4-BE49-F238E27FC236}">
                <a16:creationId xmlns:a16="http://schemas.microsoft.com/office/drawing/2014/main" id="{90B4B9B7-14FA-4BC1-B362-4F722678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4000500"/>
            <a:ext cx="937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+1.6</a:t>
            </a:r>
          </a:p>
        </p:txBody>
      </p:sp>
      <p:sp>
        <p:nvSpPr>
          <p:cNvPr id="22" name="table-row-rule-1">
            <a:extLst xmlns:a="http://schemas.openxmlformats.org/drawingml/2006/main">
              <a:ext uri="{FF2B5EF4-FFF2-40B4-BE49-F238E27FC236}">
                <a16:creationId xmlns:a16="http://schemas.microsoft.com/office/drawing/2014/main" id="{29FD25A0-6B7E-416D-81F5-2F1DA87F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445770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23" name="metric-2">
            <a:extLst xmlns:a="http://schemas.openxmlformats.org/drawingml/2006/main">
              <a:ext uri="{FF2B5EF4-FFF2-40B4-BE49-F238E27FC236}">
                <a16:creationId xmlns:a16="http://schemas.microsoft.com/office/drawing/2014/main" id="{9BE8A537-97CF-47C7-A7FB-C506F741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461772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DRS test accuracy</a:t>
            </a:r>
          </a:p>
        </p:txBody>
      </p:sp>
      <p:sp>
        <p:nvSpPr>
          <p:cNvPr id="24" name="before-2">
            <a:extLst xmlns:a="http://schemas.openxmlformats.org/drawingml/2006/main">
              <a:ext uri="{FF2B5EF4-FFF2-40B4-BE49-F238E27FC236}">
                <a16:creationId xmlns:a16="http://schemas.microsoft.com/office/drawing/2014/main" id="{2BF0E946-498A-4288-8D51-F60855EB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61772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55.0%</a:t>
            </a:r>
          </a:p>
        </p:txBody>
      </p:sp>
      <p:sp>
        <p:nvSpPr>
          <p:cNvPr id="25" name="after-2">
            <a:extLst xmlns:a="http://schemas.openxmlformats.org/drawingml/2006/main">
              <a:ext uri="{FF2B5EF4-FFF2-40B4-BE49-F238E27FC236}">
                <a16:creationId xmlns:a16="http://schemas.microsoft.com/office/drawing/2014/main" id="{8AD47CF7-0CD6-4776-AF24-486CB77F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461772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76.4%</a:t>
            </a:r>
          </a:p>
        </p:txBody>
      </p:sp>
      <p:sp>
        <p:nvSpPr>
          <p:cNvPr id="26" name="change-2">
            <a:extLst xmlns:a="http://schemas.openxmlformats.org/drawingml/2006/main">
              <a:ext uri="{FF2B5EF4-FFF2-40B4-BE49-F238E27FC236}">
                <a16:creationId xmlns:a16="http://schemas.microsoft.com/office/drawing/2014/main" id="{1DC650AA-7578-458D-93AF-83DA57E0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4617720"/>
            <a:ext cx="937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+21.4</a:t>
            </a:r>
          </a:p>
        </p:txBody>
      </p:sp>
      <p:sp>
        <p:nvSpPr>
          <p:cNvPr id="27" name="table-row-rule-2">
            <a:extLst xmlns:a="http://schemas.openxmlformats.org/drawingml/2006/main">
              <a:ext uri="{FF2B5EF4-FFF2-40B4-BE49-F238E27FC236}">
                <a16:creationId xmlns:a16="http://schemas.microsoft.com/office/drawing/2014/main" id="{A45CA1B4-142F-45DF-90C3-BC0D342C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507492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28" name="metric-3">
            <a:extLst xmlns:a="http://schemas.openxmlformats.org/drawingml/2006/main">
              <a:ext uri="{FF2B5EF4-FFF2-40B4-BE49-F238E27FC236}">
                <a16:creationId xmlns:a16="http://schemas.microsoft.com/office/drawing/2014/main" id="{9C5D18A4-6FBC-4AB9-A4CA-018F2ED3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523494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Throttle balanced accuracy</a:t>
            </a:r>
          </a:p>
        </p:txBody>
      </p:sp>
      <p:sp>
        <p:nvSpPr>
          <p:cNvPr id="29" name="before-3">
            <a:extLst xmlns:a="http://schemas.openxmlformats.org/drawingml/2006/main">
              <a:ext uri="{FF2B5EF4-FFF2-40B4-BE49-F238E27FC236}">
                <a16:creationId xmlns:a16="http://schemas.microsoft.com/office/drawing/2014/main" id="{9EA6C526-C007-450E-B642-A7A90C7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23494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24.0%</a:t>
            </a:r>
          </a:p>
        </p:txBody>
      </p:sp>
      <p:sp>
        <p:nvSpPr>
          <p:cNvPr id="30" name="after-3">
            <a:extLst xmlns:a="http://schemas.openxmlformats.org/drawingml/2006/main">
              <a:ext uri="{FF2B5EF4-FFF2-40B4-BE49-F238E27FC236}">
                <a16:creationId xmlns:a16="http://schemas.microsoft.com/office/drawing/2014/main" id="{5E6C282C-BF20-49AF-A2F9-5F6AC936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523494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47.1%</a:t>
            </a:r>
          </a:p>
        </p:txBody>
      </p:sp>
      <p:sp>
        <p:nvSpPr>
          <p:cNvPr id="31" name="change-3">
            <a:extLst xmlns:a="http://schemas.openxmlformats.org/drawingml/2006/main">
              <a:ext uri="{FF2B5EF4-FFF2-40B4-BE49-F238E27FC236}">
                <a16:creationId xmlns:a16="http://schemas.microsoft.com/office/drawing/2014/main" id="{626EEA97-F7EC-429B-AC5F-46AF931B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5234940"/>
            <a:ext cx="937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+23.1</a:t>
            </a:r>
          </a:p>
        </p:txBody>
      </p:sp>
      <p:sp>
        <p:nvSpPr>
          <p:cNvPr id="32" name="table-row-rule-3">
            <a:extLst xmlns:a="http://schemas.openxmlformats.org/drawingml/2006/main">
              <a:ext uri="{FF2B5EF4-FFF2-40B4-BE49-F238E27FC236}">
                <a16:creationId xmlns:a16="http://schemas.microsoft.com/office/drawing/2014/main" id="{667818CF-1530-477E-9CA3-86A8FC4C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569214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33" name="metric-4">
            <a:extLst xmlns:a="http://schemas.openxmlformats.org/drawingml/2006/main">
              <a:ext uri="{FF2B5EF4-FFF2-40B4-BE49-F238E27FC236}">
                <a16:creationId xmlns:a16="http://schemas.microsoft.com/office/drawing/2014/main" id="{FDBB567B-C756-4E4E-B4E4-B128DDCB1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585216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>
                <a:solidFill>
                  <a:srgbClr val="171717"/>
                </a:solidFill>
              </a:defRPr>
            </a:pPr>
            <a:r>
              <a:rPr sz="1620">
                <a:solidFill>
                  <a:srgbClr val="171717"/>
                </a:solidFill>
              </a:rPr>
              <a:t>RPM test accuracy</a:t>
            </a:r>
          </a:p>
        </p:txBody>
      </p:sp>
      <p:sp>
        <p:nvSpPr>
          <p:cNvPr id="34" name="before-4">
            <a:extLst xmlns:a="http://schemas.openxmlformats.org/drawingml/2006/main">
              <a:ext uri="{FF2B5EF4-FFF2-40B4-BE49-F238E27FC236}">
                <a16:creationId xmlns:a16="http://schemas.microsoft.com/office/drawing/2014/main" id="{C9FE5070-0D7A-430B-837C-E2A1845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585216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32.9%</a:t>
            </a:r>
          </a:p>
        </p:txBody>
      </p:sp>
      <p:sp>
        <p:nvSpPr>
          <p:cNvPr id="35" name="after-4">
            <a:extLst xmlns:a="http://schemas.openxmlformats.org/drawingml/2006/main">
              <a:ext uri="{FF2B5EF4-FFF2-40B4-BE49-F238E27FC236}">
                <a16:creationId xmlns:a16="http://schemas.microsoft.com/office/drawing/2014/main" id="{BBA67750-9B40-4EAF-A8D2-3EA2470A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980" y="5852160"/>
            <a:ext cx="1257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44.0%</a:t>
            </a:r>
          </a:p>
        </p:txBody>
      </p:sp>
      <p:sp>
        <p:nvSpPr>
          <p:cNvPr id="36" name="change-4">
            <a:extLst xmlns:a="http://schemas.openxmlformats.org/drawingml/2006/main">
              <a:ext uri="{FF2B5EF4-FFF2-40B4-BE49-F238E27FC236}">
                <a16:creationId xmlns:a16="http://schemas.microsoft.com/office/drawing/2014/main" id="{9AAC99F1-C4E4-4305-84BA-D7980FAC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8330" y="5852160"/>
            <a:ext cx="93726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20" b="1">
                <a:solidFill>
                  <a:srgbClr val="2FA06F"/>
                </a:solidFill>
              </a:defRPr>
            </a:pPr>
            <a:r>
              <a:rPr sz="1620" b="1">
                <a:solidFill>
                  <a:srgbClr val="2FA06F"/>
                </a:solidFill>
              </a:rPr>
              <a:t>+11.1</a:t>
            </a:r>
          </a:p>
        </p:txBody>
      </p:sp>
      <p:sp>
        <p:nvSpPr>
          <p:cNvPr id="37" name="table-row-rule-4">
            <a:extLst xmlns:a="http://schemas.openxmlformats.org/drawingml/2006/main">
              <a:ext uri="{FF2B5EF4-FFF2-40B4-BE49-F238E27FC236}">
                <a16:creationId xmlns:a16="http://schemas.microsoft.com/office/drawing/2014/main" id="{A7098B06-9774-48FC-A6B0-A68CF7B2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180" y="6309360"/>
            <a:ext cx="902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38" name="chart-divider">
            <a:extLst xmlns:a="http://schemas.openxmlformats.org/drawingml/2006/main">
              <a:ext uri="{FF2B5EF4-FFF2-40B4-BE49-F238E27FC236}">
                <a16:creationId xmlns:a16="http://schemas.microsoft.com/office/drawing/2014/main" id="{9691887D-8037-45B7-909C-D7FFF661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66060"/>
            <a:ext cx="0" cy="397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573">
            <a:solidFill>
              <a:srgbClr val="E8EDF4"/>
            </a:solidFill>
            <a:prstDash val="solid"/>
          </a:ln>
        </p:spPr>
      </p:sp>
      <p:sp>
        <p:nvSpPr>
          <p:cNvPr id="39" name="chart-title">
            <a:extLst xmlns:a="http://schemas.openxmlformats.org/drawingml/2006/main">
              <a:ext uri="{FF2B5EF4-FFF2-40B4-BE49-F238E27FC236}">
                <a16:creationId xmlns:a16="http://schemas.microsoft.com/office/drawing/2014/main" id="{0D0798ED-EFE3-48C7-9DFC-0F57D485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2926080"/>
            <a:ext cx="20574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20" b="1">
                <a:solidFill>
                  <a:srgbClr val="171717"/>
                </a:solidFill>
              </a:defRPr>
            </a:pPr>
            <a:r>
              <a:rPr sz="1620" b="1">
                <a:solidFill>
                  <a:srgbClr val="171717"/>
                </a:solidFill>
              </a:rPr>
              <a:t>F1 channel average</a:t>
            </a:r>
          </a:p>
        </p:txBody>
      </p:sp>
      <p:sp>
        <p:nvSpPr>
          <p:cNvPr id="40" name="chart-sub">
            <a:extLst xmlns:a="http://schemas.openxmlformats.org/drawingml/2006/main">
              <a:ext uri="{FF2B5EF4-FFF2-40B4-BE49-F238E27FC236}">
                <a16:creationId xmlns:a16="http://schemas.microsoft.com/office/drawing/2014/main" id="{65AFEC63-AAA2-4EEE-8807-E059CBCE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3291840"/>
            <a:ext cx="20574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C6A7F"/>
                </a:solidFill>
              </a:defRPr>
            </a:pPr>
            <a:r>
              <a:rPr sz="1350">
                <a:solidFill>
                  <a:srgbClr val="5C6A7F"/>
                </a:solidFill>
              </a:rPr>
              <a:t>test accuracy</a:t>
            </a:r>
          </a:p>
        </p:txBody>
      </p:sp>
      <p:sp>
        <p:nvSpPr>
          <p:cNvPr id="41" name="chart-base">
            <a:extLst xmlns:a="http://schemas.openxmlformats.org/drawingml/2006/main">
              <a:ext uri="{FF2B5EF4-FFF2-40B4-BE49-F238E27FC236}">
                <a16:creationId xmlns:a16="http://schemas.microsoft.com/office/drawing/2014/main" id="{69191169-1552-4AA3-886B-1AF8B861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03504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716">
            <a:solidFill>
              <a:srgbClr val="D7DEE8"/>
            </a:solidFill>
            <a:prstDash val="solid"/>
          </a:ln>
        </p:spPr>
      </p:sp>
      <p:sp>
        <p:nvSpPr>
          <p:cNvPr id="42" name="before-bar">
            <a:extLst xmlns:a="http://schemas.openxmlformats.org/drawingml/2006/main">
              <a:ext uri="{FF2B5EF4-FFF2-40B4-BE49-F238E27FC236}">
                <a16:creationId xmlns:a16="http://schemas.microsoft.com/office/drawing/2014/main" id="{8C0F2D1C-0925-4FDB-8C76-678C97FB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1460" y="4416501"/>
            <a:ext cx="594360" cy="16185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86A6"/>
          </a:solidFill>
          <a:ln xmlns:a="http://schemas.openxmlformats.org/drawingml/2006/main" w="0">
            <a:solidFill>
              <a:srgbClr val="7186A6"/>
            </a:solidFill>
            <a:prstDash val="solid"/>
          </a:ln>
        </p:spPr>
      </p:sp>
      <p:sp>
        <p:nvSpPr>
          <p:cNvPr id="43" name="after-bar">
            <a:extLst xmlns:a="http://schemas.openxmlformats.org/drawingml/2006/main">
              <a:ext uri="{FF2B5EF4-FFF2-40B4-BE49-F238E27FC236}">
                <a16:creationId xmlns:a16="http://schemas.microsoft.com/office/drawing/2014/main" id="{91E7F0B7-450D-465D-BD64-E8FFE547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4149090"/>
            <a:ext cx="59436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06F"/>
          </a:solidFill>
          <a:ln xmlns:a="http://schemas.openxmlformats.org/drawingml/2006/main" w="0">
            <a:solidFill>
              <a:srgbClr val="2FA06F"/>
            </a:solidFill>
            <a:prstDash val="solid"/>
          </a:ln>
        </p:spPr>
      </p:sp>
      <p:sp>
        <p:nvSpPr>
          <p:cNvPr id="44" name="before-value">
            <a:extLst xmlns:a="http://schemas.openxmlformats.org/drawingml/2006/main">
              <a:ext uri="{FF2B5EF4-FFF2-40B4-BE49-F238E27FC236}">
                <a16:creationId xmlns:a16="http://schemas.microsoft.com/office/drawing/2014/main" id="{25D47B32-C86D-47D7-A347-9DB1B029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2860" y="4096461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40" b="1">
                <a:solidFill>
                  <a:srgbClr val="7186A6"/>
                </a:solidFill>
              </a:defRPr>
            </a:pPr>
            <a:r>
              <a:rPr sz="1440" b="1">
                <a:solidFill>
                  <a:srgbClr val="7186A6"/>
                </a:solidFill>
              </a:rPr>
              <a:t>46.0%</a:t>
            </a:r>
          </a:p>
        </p:txBody>
      </p:sp>
      <p:sp>
        <p:nvSpPr>
          <p:cNvPr id="45" name="after-value">
            <a:extLst xmlns:a="http://schemas.openxmlformats.org/drawingml/2006/main">
              <a:ext uri="{FF2B5EF4-FFF2-40B4-BE49-F238E27FC236}">
                <a16:creationId xmlns:a16="http://schemas.microsoft.com/office/drawing/2014/main" id="{DAF31627-C1A5-43A8-B452-C90D0BF0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829050"/>
            <a:ext cx="105156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40" b="1">
                <a:solidFill>
                  <a:srgbClr val="2FA06F"/>
                </a:solidFill>
              </a:defRPr>
            </a:pPr>
            <a:r>
              <a:rPr sz="1440" b="1">
                <a:solidFill>
                  <a:srgbClr val="2FA06F"/>
                </a:solidFill>
              </a:rPr>
              <a:t>53.6%</a:t>
            </a:r>
          </a:p>
        </p:txBody>
      </p:sp>
      <p:sp>
        <p:nvSpPr>
          <p:cNvPr id="4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0E986AFF-A688-4DB8-ADF2-F577FD1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7140" y="6240780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Before avg</a:t>
            </a:r>
          </a:p>
        </p:txBody>
      </p:sp>
      <p:sp>
        <p:nvSpPr>
          <p:cNvPr id="47" name="after-label">
            <a:extLst xmlns:a="http://schemas.openxmlformats.org/drawingml/2006/main">
              <a:ext uri="{FF2B5EF4-FFF2-40B4-BE49-F238E27FC236}">
                <a16:creationId xmlns:a16="http://schemas.microsoft.com/office/drawing/2014/main" id="{C09B639F-4F20-46DD-B059-66C7BD7D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0" y="6240780"/>
            <a:ext cx="1143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60">
                <a:solidFill>
                  <a:srgbClr val="5C6A7F"/>
                </a:solidFill>
              </a:defRPr>
            </a:pPr>
            <a:r>
              <a:rPr sz="1260">
                <a:solidFill>
                  <a:srgbClr val="5C6A7F"/>
                </a:solidFill>
              </a:rPr>
              <a:t>After avg</a:t>
            </a:r>
          </a:p>
        </p:txBody>
      </p:sp>
      <p:sp>
        <p:nvSpPr>
          <p:cNvPr id="4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8AB3F7CE-3381-4040-A733-18D1B10E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02386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24/28</a:t>
            </a:r>
          </a:p>
        </p:txBody>
      </p:sp>
    </p:spTree>
    <p:extLst>
      <p:ext uri="{BB962C8B-B14F-4D97-AF65-F5344CB8AC3E}">
        <p14:creationId xmlns:p14="http://schemas.microsoft.com/office/powerpoint/2010/main" val="1469137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2026-07-05T21:31:36.9170000Z</dcterms:created>
  <dcterms:modified xsi:type="dcterms:W3CDTF">2026-07-05T21:31:36.9170000Z</dcterms:modified>
</coreProperties>
</file>