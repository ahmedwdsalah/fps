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074fe29de945eb" /><Relationship Type="http://schemas.openxmlformats.org/officeDocument/2006/relationships/extended-properties" Target="/docProps/app.xml" Id="R308e4083e6c24a05" /><Relationship Type="http://schemas.openxmlformats.org/officeDocument/2006/relationships/officeDocument" Target="/ppt/presentation.xml" Id="R1d1949848ae04d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15e5c31b3444cd"/>
  </p:sldMasterIdLst>
  <p:notesMasterIdLst>
    <p:notesMasterId xmlns:r="http://schemas.openxmlformats.org/officeDocument/2006/relationships" r:id="R2d5c3215936946db"/>
  </p:notesMasterIdLst>
  <p:sldIdLst>
    <p:sldId xmlns:r="http://schemas.openxmlformats.org/officeDocument/2006/relationships" id="256" r:id="R316ea7f37cb6414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a6cc193d304818" /><Relationship Type="http://schemas.openxmlformats.org/officeDocument/2006/relationships/slideMaster" Target="/ppt/slideMasters/slideMaster1.xml" Id="Rda15e5c31b3444cd" /><Relationship Type="http://schemas.openxmlformats.org/officeDocument/2006/relationships/notesMaster" Target="/ppt/notesMasters/notesMaster1.xml" Id="R2d5c3215936946db" /><Relationship Type="http://schemas.openxmlformats.org/officeDocument/2006/relationships/presProps" Target="/ppt/presProps.xml" Id="R7e3fe4dba76d4c20" /><Relationship Type="http://schemas.openxmlformats.org/officeDocument/2006/relationships/tableStyles" Target="/ppt/tableStyles.xml" Id="R71bf54b2e8d74a74" /><Relationship Type="http://schemas.openxmlformats.org/officeDocument/2006/relationships/slide" Target="/ppt/slides/slide1.xml" Id="R316ea7f37cb641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b5e37822c740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0e37e713ec431e" /><Relationship Type="http://schemas.openxmlformats.org/officeDocument/2006/relationships/notesMaster" Target="/ppt/notesMasters/notesMaster1.xml" Id="Rf90e78a5a47d4f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8b6a1c151348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f8d13ebad446dd" /><Relationship Type="http://schemas.openxmlformats.org/officeDocument/2006/relationships/slideLayout" Target="/ppt/slideLayouts/slideLayout1.xml" Id="R62035e2bf0ca44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035e2bf0ca44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93aeb7e184319" /><Relationship Type="http://schemas.openxmlformats.org/officeDocument/2006/relationships/notesSlide" Target="/ppt/notesSlides/notesSlide1.xml" Id="R752f50b8fbaa42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-strip">
            <a:extLst xmlns:a="http://schemas.openxmlformats.org/drawingml/2006/main">
              <a:ext uri="{FF2B5EF4-FFF2-40B4-BE49-F238E27FC236}">
                <a16:creationId xmlns:a16="http://schemas.microsoft.com/office/drawing/2014/main" id="{8257FFBD-56C6-408F-A18C-9B2E1639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solidFill>
              <a:srgbClr val="8F1D3A"/>
            </a:solidFill>
            <a:prstDash val="solid"/>
          </a:ln>
        </p:spPr>
      </p:sp>
      <p:sp>
        <p:nvSpPr>
          <p:cNvPr id="2" name="top-orange-strip">
            <a:extLst xmlns:a="http://schemas.openxmlformats.org/drawingml/2006/main">
              <a:ext uri="{FF2B5EF4-FFF2-40B4-BE49-F238E27FC236}">
                <a16:creationId xmlns:a16="http://schemas.microsoft.com/office/drawing/2014/main" id="{16220689-03CC-4E50-8153-30E54EAB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3825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solidFill>
              <a:srgbClr val="F4511E"/>
            </a:solidFill>
            <a:prstDash val="solid"/>
          </a:ln>
        </p:spPr>
      </p:sp>
      <p:sp>
        <p:nvSpPr>
          <p:cNvPr id="3" name="bottom-maroon-strip">
            <a:extLst xmlns:a="http://schemas.openxmlformats.org/drawingml/2006/main">
              <a:ext uri="{FF2B5EF4-FFF2-40B4-BE49-F238E27FC236}">
                <a16:creationId xmlns:a16="http://schemas.microsoft.com/office/drawing/2014/main" id="{F0CACCBF-3859-45E6-BCB8-00AC0161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solidFill>
              <a:srgbClr val="8F1D3A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70AA0A4-EF86-4254-866E-9289769C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Optuna tuning strengthened the F1 channel models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4FAE5BCB-A5C6-436B-BA3A-0770DF26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23950"/>
            <a:ext cx="1022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7DEE8"/>
            </a:solidFill>
            <a:prstDash val="solid"/>
          </a:ln>
        </p:spPr>
      </p:sp>
      <p:sp>
        <p:nvSpPr>
          <p:cNvPr id="6" name="row-1-number">
            <a:extLst xmlns:a="http://schemas.openxmlformats.org/drawingml/2006/main">
              <a:ext uri="{FF2B5EF4-FFF2-40B4-BE49-F238E27FC236}">
                <a16:creationId xmlns:a16="http://schemas.microsoft.com/office/drawing/2014/main" id="{BE2DEBA3-CD93-429C-87F0-1BFEF574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00175"/>
            <a:ext cx="438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511E"/>
                </a:solidFill>
              </a:defRPr>
            </a:pPr>
            <a:r>
              <a:rPr sz="1275" b="1">
                <a:solidFill>
                  <a:srgbClr val="F4511E"/>
                </a:solidFill>
              </a:rPr>
              <a:t>01</a:t>
            </a:r>
          </a:p>
        </p:txBody>
      </p:sp>
      <p:sp>
        <p:nvSpPr>
          <p:cNvPr id="7" name="row-1-text">
            <a:extLst xmlns:a="http://schemas.openxmlformats.org/drawingml/2006/main">
              <a:ext uri="{FF2B5EF4-FFF2-40B4-BE49-F238E27FC236}">
                <a16:creationId xmlns:a16="http://schemas.microsoft.com/office/drawing/2014/main" id="{618F1671-2529-476C-B7A6-90927EC8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390650"/>
            <a:ext cx="937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Tuning target: </a:t>
            </a:r>
            <a:r>
              <a:rPr>
                <a:solidFill>
                  <a:srgbClr val="F4511E"/>
                </a:solidFill>
              </a:rPr>
              <a:t>F1 channel models trained separately for each feature/flag signal</a:t>
            </a:r>
          </a:p>
        </p:txBody>
      </p:sp>
      <p:sp>
        <p:nvSpPr>
          <p:cNvPr id="8" name="row-1-rule">
            <a:extLst xmlns:a="http://schemas.openxmlformats.org/drawingml/2006/main">
              <a:ext uri="{FF2B5EF4-FFF2-40B4-BE49-F238E27FC236}">
                <a16:creationId xmlns:a16="http://schemas.microsoft.com/office/drawing/2014/main" id="{70A9F263-E3FD-46C6-8B64-C5ACA2F4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1930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9" name="row-2-number">
            <a:extLst xmlns:a="http://schemas.openxmlformats.org/drawingml/2006/main">
              <a:ext uri="{FF2B5EF4-FFF2-40B4-BE49-F238E27FC236}">
                <a16:creationId xmlns:a16="http://schemas.microsoft.com/office/drawing/2014/main" id="{7DBE98EF-231A-4323-B49A-97B8C9D0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81225"/>
            <a:ext cx="438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511E"/>
                </a:solidFill>
              </a:defRPr>
            </a:pPr>
            <a:r>
              <a:rPr sz="1275" b="1">
                <a:solidFill>
                  <a:srgbClr val="F4511E"/>
                </a:solidFill>
              </a:rPr>
              <a:t>02</a:t>
            </a:r>
          </a:p>
        </p:txBody>
      </p:sp>
      <p:sp>
        <p:nvSpPr>
          <p:cNvPr id="10" name="row-2-text">
            <a:extLst xmlns:a="http://schemas.openxmlformats.org/drawingml/2006/main">
              <a:ext uri="{FF2B5EF4-FFF2-40B4-BE49-F238E27FC236}">
                <a16:creationId xmlns:a16="http://schemas.microsoft.com/office/drawing/2014/main" id="{6936D7D7-517A-4B60-A592-2E5FFD61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71700"/>
            <a:ext cx="937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Search framework: </a:t>
            </a:r>
            <a:r>
              <a:rPr>
                <a:solidFill>
                  <a:srgbClr val="F4511E"/>
                </a:solidFill>
              </a:rPr>
              <a:t>Optuna ran repeated trials and scored each trial on validation balanced accuracy</a:t>
            </a:r>
          </a:p>
        </p:txBody>
      </p:sp>
      <p:sp>
        <p:nvSpPr>
          <p:cNvPr id="11" name="row-2-rule">
            <a:extLst xmlns:a="http://schemas.openxmlformats.org/drawingml/2006/main">
              <a:ext uri="{FF2B5EF4-FFF2-40B4-BE49-F238E27FC236}">
                <a16:creationId xmlns:a16="http://schemas.microsoft.com/office/drawing/2014/main" id="{31B635E4-5247-48A2-B7C0-1BC8D0AD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035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12" name="row-3-number">
            <a:extLst xmlns:a="http://schemas.openxmlformats.org/drawingml/2006/main">
              <a:ext uri="{FF2B5EF4-FFF2-40B4-BE49-F238E27FC236}">
                <a16:creationId xmlns:a16="http://schemas.microsoft.com/office/drawing/2014/main" id="{54811F58-47B3-4A8E-8411-C24C4208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62275"/>
            <a:ext cx="438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511E"/>
                </a:solidFill>
              </a:defRPr>
            </a:pPr>
            <a:r>
              <a:rPr sz="1275" b="1">
                <a:solidFill>
                  <a:srgbClr val="F4511E"/>
                </a:solidFill>
              </a:rPr>
              <a:t>03</a:t>
            </a:r>
          </a:p>
        </p:txBody>
      </p:sp>
      <p:sp>
        <p:nvSpPr>
          <p:cNvPr id="13" name="row-3-text">
            <a:extLst xmlns:a="http://schemas.openxmlformats.org/drawingml/2006/main">
              <a:ext uri="{FF2B5EF4-FFF2-40B4-BE49-F238E27FC236}">
                <a16:creationId xmlns:a16="http://schemas.microsoft.com/office/drawing/2014/main" id="{11D0E226-A202-4709-BE45-B5AE65BF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52750"/>
            <a:ext cx="937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XGBoost settings: </a:t>
            </a:r>
            <a:r>
              <a:rPr>
                <a:solidFill>
                  <a:srgbClr val="F4511E"/>
                </a:solidFill>
              </a:rPr>
              <a:t>tree count, tree depth, learning rate, row/feature sampling, and regularisation</a:t>
            </a:r>
          </a:p>
        </p:txBody>
      </p:sp>
      <p:sp>
        <p:nvSpPr>
          <p:cNvPr id="14" name="row-3-rule">
            <a:extLst xmlns:a="http://schemas.openxmlformats.org/drawingml/2006/main">
              <a:ext uri="{FF2B5EF4-FFF2-40B4-BE49-F238E27FC236}">
                <a16:creationId xmlns:a16="http://schemas.microsoft.com/office/drawing/2014/main" id="{C303DA24-1983-41CD-BAD7-000A85CF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8140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15" name="row-4-number">
            <a:extLst xmlns:a="http://schemas.openxmlformats.org/drawingml/2006/main">
              <a:ext uri="{FF2B5EF4-FFF2-40B4-BE49-F238E27FC236}">
                <a16:creationId xmlns:a16="http://schemas.microsoft.com/office/drawing/2014/main" id="{82894961-A499-431C-B1B1-F856112F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43325"/>
            <a:ext cx="438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511E"/>
                </a:solidFill>
              </a:defRPr>
            </a:pPr>
            <a:r>
              <a:rPr sz="1275" b="1">
                <a:solidFill>
                  <a:srgbClr val="F4511E"/>
                </a:solidFill>
              </a:rPr>
              <a:t>04</a:t>
            </a:r>
          </a:p>
        </p:txBody>
      </p:sp>
      <p:sp>
        <p:nvSpPr>
          <p:cNvPr id="16" name="row-4-text">
            <a:extLst xmlns:a="http://schemas.openxmlformats.org/drawingml/2006/main">
              <a:ext uri="{FF2B5EF4-FFF2-40B4-BE49-F238E27FC236}">
                <a16:creationId xmlns:a16="http://schemas.microsoft.com/office/drawing/2014/main" id="{CA0E7D45-72B2-4C90-9527-9C7EDBEA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33800"/>
            <a:ext cx="937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Average accuracy: </a:t>
            </a:r>
            <a:r>
              <a:rPr>
                <a:solidFill>
                  <a:srgbClr val="F4511E"/>
                </a:solidFill>
              </a:rPr>
              <a:t>46.0% before tuning -&gt; 53.6% after tuning</a:t>
            </a:r>
          </a:p>
        </p:txBody>
      </p:sp>
      <p:sp>
        <p:nvSpPr>
          <p:cNvPr id="17" name="row-4-rule">
            <a:extLst xmlns:a="http://schemas.openxmlformats.org/drawingml/2006/main">
              <a:ext uri="{FF2B5EF4-FFF2-40B4-BE49-F238E27FC236}">
                <a16:creationId xmlns:a16="http://schemas.microsoft.com/office/drawing/2014/main" id="{7100D897-AE70-468B-8120-1BF6B2E7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6245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18" name="row-5-number">
            <a:extLst xmlns:a="http://schemas.openxmlformats.org/drawingml/2006/main">
              <a:ext uri="{FF2B5EF4-FFF2-40B4-BE49-F238E27FC236}">
                <a16:creationId xmlns:a16="http://schemas.microsoft.com/office/drawing/2014/main" id="{159B3221-06B8-4623-B915-0A0EC2B8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24375"/>
            <a:ext cx="438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511E"/>
                </a:solidFill>
              </a:defRPr>
            </a:pPr>
            <a:r>
              <a:rPr sz="1275" b="1">
                <a:solidFill>
                  <a:srgbClr val="F4511E"/>
                </a:solidFill>
              </a:rPr>
              <a:t>05</a:t>
            </a:r>
          </a:p>
        </p:txBody>
      </p:sp>
      <p:sp>
        <p:nvSpPr>
          <p:cNvPr id="19" name="row-5-text">
            <a:extLst xmlns:a="http://schemas.openxmlformats.org/drawingml/2006/main">
              <a:ext uri="{FF2B5EF4-FFF2-40B4-BE49-F238E27FC236}">
                <a16:creationId xmlns:a16="http://schemas.microsoft.com/office/drawing/2014/main" id="{FF61B75A-A388-4E3D-8F99-6739663F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14850"/>
            <a:ext cx="937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Strongest channel gains: </a:t>
            </a:r>
            <a:r>
              <a:rPr>
                <a:solidFill>
                  <a:srgbClr val="F4511E"/>
                </a:solidFill>
              </a:rPr>
              <a:t>DRS accuracy 55.0% -&gt; 76.4%; throttle balanced accuracy 24.0% -&gt; 47.1%</a:t>
            </a:r>
          </a:p>
        </p:txBody>
      </p:sp>
      <p:sp>
        <p:nvSpPr>
          <p:cNvPr id="20" name="row-5-rule">
            <a:extLst xmlns:a="http://schemas.openxmlformats.org/drawingml/2006/main">
              <a:ext uri="{FF2B5EF4-FFF2-40B4-BE49-F238E27FC236}">
                <a16:creationId xmlns:a16="http://schemas.microsoft.com/office/drawing/2014/main" id="{8DED957B-A1A4-4C47-8284-9942A424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21" name="row-6-number">
            <a:extLst xmlns:a="http://schemas.openxmlformats.org/drawingml/2006/main">
              <a:ext uri="{FF2B5EF4-FFF2-40B4-BE49-F238E27FC236}">
                <a16:creationId xmlns:a16="http://schemas.microsoft.com/office/drawing/2014/main" id="{F152B5E8-F3FA-4694-BF1F-DBF415FF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05425"/>
            <a:ext cx="438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511E"/>
                </a:solidFill>
              </a:defRPr>
            </a:pPr>
            <a:r>
              <a:rPr sz="1275" b="1">
                <a:solidFill>
                  <a:srgbClr val="F4511E"/>
                </a:solidFill>
              </a:rPr>
              <a:t>06</a:t>
            </a:r>
          </a:p>
        </p:txBody>
      </p:sp>
      <p:sp>
        <p:nvSpPr>
          <p:cNvPr id="22" name="row-6-text">
            <a:extLst xmlns:a="http://schemas.openxmlformats.org/drawingml/2006/main">
              <a:ext uri="{FF2B5EF4-FFF2-40B4-BE49-F238E27FC236}">
                <a16:creationId xmlns:a16="http://schemas.microsoft.com/office/drawing/2014/main" id="{8E67004C-F5C8-49ED-83DE-13F59085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95900"/>
            <a:ext cx="937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How to present it: </a:t>
            </a:r>
            <a:r>
              <a:rPr>
                <a:solidFill>
                  <a:srgbClr val="F4511E"/>
                </a:solidFill>
              </a:rPr>
              <a:t>hyperparameter search helped the F1 specialization track</a:t>
            </a:r>
          </a:p>
        </p:txBody>
      </p:sp>
      <p:sp>
        <p:nvSpPr>
          <p:cNvPr id="23" name="row-6-rule">
            <a:extLst xmlns:a="http://schemas.openxmlformats.org/drawingml/2006/main">
              <a:ext uri="{FF2B5EF4-FFF2-40B4-BE49-F238E27FC236}">
                <a16:creationId xmlns:a16="http://schemas.microsoft.com/office/drawing/2014/main" id="{C9678142-BE0E-4EB8-9AEB-8334672D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92455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24" name="page-marker">
            <a:extLst xmlns:a="http://schemas.openxmlformats.org/drawingml/2006/main">
              <a:ext uri="{FF2B5EF4-FFF2-40B4-BE49-F238E27FC236}">
                <a16:creationId xmlns:a16="http://schemas.microsoft.com/office/drawing/2014/main" id="{E9DA3270-B381-4A46-834D-0BAEDB90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8655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NEW</a:t>
            </a:r>
          </a:p>
        </p:txBody>
      </p:sp>
    </p:spTree>
    <p:extLst>
      <p:ext uri="{BB962C8B-B14F-4D97-AF65-F5344CB8AC3E}">
        <p14:creationId xmlns:p14="http://schemas.microsoft.com/office/powerpoint/2010/main" val="6886313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2026-07-05T21:12:52.2760000Z</dcterms:created>
  <dcterms:modified xsi:type="dcterms:W3CDTF">2026-07-05T21:12:52.2760000Z</dcterms:modified>
</coreProperties>
</file>