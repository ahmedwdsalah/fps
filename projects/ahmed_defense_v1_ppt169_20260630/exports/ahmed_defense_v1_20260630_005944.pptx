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about machine learning based algorithm selection for sorting numeric arrays. The main idea is simple: before we sort an array, can we look at its structure and choose the algorithm that is most likely to run fastest? I will focus on the general v5 selector and on runtime value, not only classification accuracy.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familiar task, but choosing the sorting algorithm is still input-dependent. The same program may receive arrays with different sizes, repetitions, order, and distribution. My work treats this as a selection problem: given the array structure, choose introsort, heapsort, or timsort before execution.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starts from a practical gap. These algorithms can sit in the same broad complexity class, but their measured runtime is not the same on every input. Complexity tells us the high-level behavior, but it does not answer which algorithm is best for this specific array.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selector works before sorting begins. I do not run all algorithms and then choose the fastest, because that would already spend the runtime. Instead, I extract cheap structural features, pass them to the model, and then execute one selected algorithm.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build a perfect oracle. The aim is a practical selector. A wrong class label is not always a serious runtime mistake, because two algorithms can be very close in time. That is why I evaluate accuracy together with regret and gap closed.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feature extraction idea. The raw array is converted into a compact description: size, ordering, repetition, and distribution. These are the signals that sorting algorithms can react to. I will not go through every formula here; the important point is that the selector sees structure, not the full raw sequence.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system is a single decision pipeline. The array enters, the structural features are computed, XGBoost predicts the algorithm, and then only that algorithm runs. This keeps the method practical and separates the decision cost from the sorting runtime.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has three algorithms: introsort, heapsort, and timsort. I kept the portfolio focused because the defense needs a clear measured comparison. They are also different enough: timsort benefits strongly from existing runs, while introsort and heapsort are closer and harder to separate.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one of the main changes from the early experiments. The final v5 work uses about 1.18 million arrays from five domains: F1 telemetry, stock, crypto, earthquake, and weather. This matters because real arrays provide structures that synthetic data alone did not show.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were created from measured runtime. For each array, the candidate algorithms were benchmarked, and the fastest algorithm became the label after filtering noisy cases. So the model is not learning my preference. It is learning from measured winners.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16 features are grouped by what they describe. Some describe size, some repetition, some ordering, and some distribution. This makes the model easier to defend, because the features are connected to how sorting algorithms behave.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in the thesis is the general v5 selector. It uses XGBoost, 16 structural features, and three labels: introsort, heapsort, and timsort. The F1 channel routing work is separate. I mention it as a specialization, but I do not mix it with the general v5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journey is important, but I keep it compact. Regression was not the right framing. Timing-based features gave a ceiling but were not deployable because they used information that would not be available before sorting. Later strict checks and alternative models helped define the limits of the final claim.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that v5 closes 93.1 percent of the runtime gap between the single best solver and the virtual best solver. Its test accuracy is 76.1 percent, and 89.6 percent of selections have zero regret. So the classifier is not perfect, but most mistakes are cheap in runtime terms.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do not stop at accuracy. Regret measures how much slower the selected algorithm is compared with the best available algorithm for that array. Gap closed measures how much of the practical improvement over a fixed baseline is recovered. These metrics explain the real value of the selector.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main behavior. Timsort is structurally visible, with strong recall. The hard part is separating introsort and heapsort. That weakness is important, and I do not hide it. It tells us where the current features stop being enough.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is consistent with the story. Length, frequency features, longest runs, and duplicate ratio are among the strongest signals. I do not claim feature importance proves causality, but it supports that the model is using meaningful structural information.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holdout results show a measured generalization picture. The selector does not transfer equally to every domain, but the runtime value survives in several leave-one-domain-out tests. My interpretation is that transfer works when the held-out domain shares relevant structure.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checks changed the interpretation. The source-aware v6 split lowers the numbers, which is expected when we reduce leakage risk. v7 regret-aware training did not improve the result and was rejected. v8 showed that the intro-heap boundary is genuinely difficult. These results make the final claim narrower, but more honest.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clear: the current features can identify timsort-friendly structure much better than they separate introsort from heapsort. The F1 channel routing work is also separate from the general selector. It shows a specialization path, but the main contribution remains the v5 three-algorithm selector.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has three parts. First, a dataset and labeling protocol based on measured runtime. Second, a structural machine learning selector for sorting algorithm choice. Third, an evaluation discipline that combines accuracy with regret, SBS, VBS, and gap closed.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make the selector more hardware-aware and more adaptive. Hardware context, memory behavior, and online feedback could all affect the best algorithm choice. I also want to be clear that the bandit direction is future work, not a validated result in this thesis. Thank you, I am ready for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6dec4b3c6908c5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5474b61573a8e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0657442724cbf4.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9c0d46183361c8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c0af3a76aa5be67.png"/>
  <Relationship Id="rId3" Type="http://schemas.openxmlformats.org/officeDocument/2006/relationships/image" Target="../media/image_bd10392fed966cc7.png"/>
  <Relationship Id="rId4" Type="http://schemas.openxmlformats.org/officeDocument/2006/relationships/image" Target="../media/image_48b9e797e186a796.pn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7266ad90131926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471f1ffb1748be1.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090a2a68d5f862f.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e600f87ff498e9b.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33400" y="723900"/>
            <a:ext cx="209550" cy="4000500"/>
            <a:chOff x="533400" y="723900"/>
            <a:chExt cx="209550" cy="4000500"/>
          </a:xfrm>
        </p:grpSpPr>
        <p:sp>
          <p:nvSpPr>
            <p:cNvPr id="3" name="Rectangle 3"/>
            <p:cNvSpPr/>
            <p:nvPr/>
          </p:nvSpPr>
          <p:spPr>
            <a:xfrm>
              <a:off x="533400" y="723900"/>
              <a:ext cx="95250" cy="4000500"/>
            </a:xfrm>
            <a:prstGeom prst="rect">
              <a:avLst/>
            </a:prstGeom>
            <a:solidFill>
              <a:srgbClr val="173B6D"/>
            </a:solidFill>
            <a:ln>
              <a:noFill/>
            </a:ln>
          </p:spPr>
        </p:sp>
        <p:sp>
          <p:nvSpPr>
            <p:cNvPr id="4" name="Rectangle 4"/>
            <p:cNvSpPr/>
            <p:nvPr/>
          </p:nvSpPr>
          <p:spPr>
            <a:xfrm>
              <a:off x="704850" y="723900"/>
              <a:ext cx="38100" cy="4000500"/>
            </a:xfrm>
            <a:prstGeom prst="rect">
              <a:avLst/>
            </a:prstGeom>
            <a:solidFill>
              <a:srgbClr val="0F766E"/>
            </a:solidFill>
            <a:ln>
              <a:noFill/>
            </a:ln>
          </p:spPr>
        </p:sp>
      </p:grpSp>
      <p:grpSp>
        <p:nvGrpSpPr>
          <p:cNvPr id="10" name="Group 10"/>
          <p:cNvGrpSpPr/>
          <p:nvPr/>
        </p:nvGrpSpPr>
        <p:grpSpPr>
          <a:xfrm>
            <a:off x="971550" y="959168"/>
            <a:ext cx="8245369" cy="3074289"/>
            <a:chOff x="971550" y="959168"/>
            <a:chExt cx="8245369" cy="3074289"/>
          </a:xfrm>
        </p:grpSpPr>
        <p:sp>
          <p:nvSpPr>
            <p:cNvPr id="6" name="TextBox 6"/>
            <p:cNvSpPr txBox="1"/>
            <p:nvPr/>
          </p:nvSpPr>
          <p:spPr>
            <a:xfrm>
              <a:off x="971550" y="959168"/>
              <a:ext cx="7045202"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Machine Learning Based</a:t>
              </a:r>
            </a:p>
          </p:txBody>
        </p:sp>
        <p:sp>
          <p:nvSpPr>
            <p:cNvPr id="7" name="TextBox 7"/>
            <p:cNvSpPr txBox="1"/>
            <p:nvPr/>
          </p:nvSpPr>
          <p:spPr>
            <a:xfrm>
              <a:off x="971550" y="1625918"/>
              <a:ext cx="5854294"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Algorithm Selection</a:t>
              </a:r>
            </a:p>
          </p:txBody>
        </p:sp>
        <p:sp>
          <p:nvSpPr>
            <p:cNvPr id="8" name="TextBox 8"/>
            <p:cNvSpPr txBox="1"/>
            <p:nvPr/>
          </p:nvSpPr>
          <p:spPr>
            <a:xfrm>
              <a:off x="971550" y="2292668"/>
              <a:ext cx="8245369"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for Sorting Numeric Arrays</a:t>
              </a:r>
            </a:p>
          </p:txBody>
        </p:sp>
        <p:sp>
          <p:nvSpPr>
            <p:cNvPr id="9" name="TextBox 9"/>
            <p:cNvSpPr txBox="1"/>
            <p:nvPr/>
          </p:nvSpPr>
          <p:spPr>
            <a:xfrm>
              <a:off x="977646" y="3534728"/>
              <a:ext cx="4692991"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Official MSc thesis defense</a:t>
              </a:r>
            </a:p>
          </p:txBody>
        </p:sp>
      </p:grpSp>
      <p:grpSp>
        <p:nvGrpSpPr>
          <p:cNvPr id="20" name="Group 20"/>
          <p:cNvGrpSpPr/>
          <p:nvPr/>
        </p:nvGrpSpPr>
        <p:grpSpPr>
          <a:xfrm>
            <a:off x="990600" y="4762500"/>
            <a:ext cx="8610600" cy="880301"/>
            <a:chOff x="990600" y="4762500"/>
            <a:chExt cx="8610600" cy="880301"/>
          </a:xfrm>
        </p:grpSpPr>
        <p:sp>
          <p:nvSpPr>
            <p:cNvPr id="11" name="Freeform 11"/>
            <p:cNvSpPr/>
            <p:nvPr/>
          </p:nvSpPr>
          <p:spPr>
            <a:xfrm>
              <a:off x="990600" y="4762500"/>
              <a:ext cx="2838450" cy="876300"/>
            </a:xfrm>
            <a:custGeom>
              <a:avLst/>
              <a:gdLst/>
              <a:ahLst/>
              <a:cxnLst/>
              <a:rect l="l" t="t" r="r" b="b"/>
              <a:pathLst>
                <a:path w="2838450" h="876300">
                  <a:moveTo>
                    <a:pt x="76200" y="0"/>
                  </a:moveTo>
                  <a:lnTo>
                    <a:pt x="2762250" y="0"/>
                  </a:lnTo>
                  <a:cubicBezTo>
                    <a:pt x="2804334" y="0"/>
                    <a:pt x="2838450" y="34116"/>
                    <a:pt x="2838450" y="76200"/>
                  </a:cubicBezTo>
                  <a:lnTo>
                    <a:pt x="2838450" y="800100"/>
                  </a:lnTo>
                  <a:cubicBezTo>
                    <a:pt x="2838450" y="842184"/>
                    <a:pt x="2804334" y="876300"/>
                    <a:pt x="27622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1204722" y="4950142"/>
              <a:ext cx="1217365"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93.1%</a:t>
              </a:r>
            </a:p>
          </p:txBody>
        </p:sp>
        <p:sp>
          <p:nvSpPr>
            <p:cNvPr id="13" name="TextBox 13"/>
            <p:cNvSpPr txBox="1"/>
            <p:nvPr/>
          </p:nvSpPr>
          <p:spPr>
            <a:xfrm>
              <a:off x="1212342" y="5378768"/>
              <a:ext cx="1667523"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runtime gap closed</a:t>
              </a:r>
            </a:p>
          </p:txBody>
        </p:sp>
        <p:sp>
          <p:nvSpPr>
            <p:cNvPr id="14" name="Freeform 14"/>
            <p:cNvSpPr/>
            <p:nvPr/>
          </p:nvSpPr>
          <p:spPr>
            <a:xfrm>
              <a:off x="4095750" y="4762500"/>
              <a:ext cx="2476500" cy="876300"/>
            </a:xfrm>
            <a:custGeom>
              <a:avLst/>
              <a:gdLst/>
              <a:ahLst/>
              <a:cxnLst/>
              <a:rect l="l" t="t" r="r" b="b"/>
              <a:pathLst>
                <a:path w="2476500" h="876300">
                  <a:moveTo>
                    <a:pt x="76200" y="0"/>
                  </a:moveTo>
                  <a:lnTo>
                    <a:pt x="2400300" y="0"/>
                  </a:lnTo>
                  <a:cubicBezTo>
                    <a:pt x="2442384" y="0"/>
                    <a:pt x="2476500" y="34116"/>
                    <a:pt x="2476500" y="76200"/>
                  </a:cubicBezTo>
                  <a:lnTo>
                    <a:pt x="2476500" y="800100"/>
                  </a:lnTo>
                  <a:cubicBezTo>
                    <a:pt x="2476500" y="842184"/>
                    <a:pt x="2442384" y="876300"/>
                    <a:pt x="240030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43098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76.1%</a:t>
              </a:r>
            </a:p>
          </p:txBody>
        </p:sp>
        <p:sp>
          <p:nvSpPr>
            <p:cNvPr id="16" name="TextBox 16"/>
            <p:cNvSpPr txBox="1"/>
            <p:nvPr/>
          </p:nvSpPr>
          <p:spPr>
            <a:xfrm>
              <a:off x="4317492" y="5378768"/>
              <a:ext cx="126770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test accuracy</a:t>
              </a:r>
            </a:p>
          </p:txBody>
        </p:sp>
        <p:sp>
          <p:nvSpPr>
            <p:cNvPr id="17" name="Freeform 17"/>
            <p:cNvSpPr/>
            <p:nvPr/>
          </p:nvSpPr>
          <p:spPr>
            <a:xfrm>
              <a:off x="6838950" y="4762500"/>
              <a:ext cx="2762250" cy="876300"/>
            </a:xfrm>
            <a:custGeom>
              <a:avLst/>
              <a:gdLst/>
              <a:ahLst/>
              <a:cxnLst/>
              <a:rect l="l" t="t" r="r" b="b"/>
              <a:pathLst>
                <a:path w="2762250" h="876300">
                  <a:moveTo>
                    <a:pt x="76200" y="0"/>
                  </a:moveTo>
                  <a:lnTo>
                    <a:pt x="2686050" y="0"/>
                  </a:lnTo>
                  <a:cubicBezTo>
                    <a:pt x="2728134" y="0"/>
                    <a:pt x="2762250" y="34116"/>
                    <a:pt x="2762250" y="76200"/>
                  </a:cubicBezTo>
                  <a:lnTo>
                    <a:pt x="2762250" y="800100"/>
                  </a:lnTo>
                  <a:cubicBezTo>
                    <a:pt x="2762250" y="842184"/>
                    <a:pt x="2728134" y="876300"/>
                    <a:pt x="26860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8" name="TextBox 18"/>
            <p:cNvSpPr txBox="1"/>
            <p:nvPr/>
          </p:nvSpPr>
          <p:spPr>
            <a:xfrm>
              <a:off x="70530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89.6%</a:t>
              </a:r>
            </a:p>
          </p:txBody>
        </p:sp>
        <p:sp>
          <p:nvSpPr>
            <p:cNvPr id="19" name="TextBox 19"/>
            <p:cNvSpPr txBox="1"/>
            <p:nvPr/>
          </p:nvSpPr>
          <p:spPr>
            <a:xfrm>
              <a:off x="7060692" y="5378768"/>
              <a:ext cx="106779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zero regret</a:t>
              </a:r>
            </a:p>
          </p:txBody>
        </p:sp>
      </p:grpSp>
      <p:grpSp>
        <p:nvGrpSpPr>
          <p:cNvPr id="23" name="Group 23"/>
          <p:cNvGrpSpPr/>
          <p:nvPr/>
        </p:nvGrpSpPr>
        <p:grpSpPr>
          <a:xfrm>
            <a:off x="982218" y="6108382"/>
            <a:ext cx="7907149" cy="563119"/>
            <a:chOff x="982218" y="6108382"/>
            <a:chExt cx="7907149" cy="563119"/>
          </a:xfrm>
        </p:grpSpPr>
        <p:sp>
          <p:nvSpPr>
            <p:cNvPr id="21" name="TextBox 21"/>
            <p:cNvSpPr txBox="1"/>
            <p:nvPr/>
          </p:nvSpPr>
          <p:spPr>
            <a:xfrm>
              <a:off x="982218" y="6108382"/>
              <a:ext cx="3311544" cy="322707"/>
            </a:xfrm>
            <a:prstGeom prst="rect">
              <a:avLst/>
            </a:prstGeom>
            <a:noFill/>
            <a:ln>
              <a:noFill/>
            </a:ln>
          </p:spPr>
          <p:txBody>
            <a:bodyPr wrap="none" lIns="0" tIns="0" rIns="0" bIns="0" anchor="t" anchorCtr="0">
              <a:spAutoFit/>
            </a:bodyPr>
            <a:lstStyle/>
            <a:p>
              <a:pPr algn="l"/>
              <a:r>
                <a:rPr lang="en-US" sz="1650" dirty="0">
                  <a:solidFill>
                    <a:srgbClr val="172033"/>
                  </a:solidFill>
                  <a:latin typeface="Arial"/>
                  <a:ea typeface="Arial"/>
                  <a:cs typeface="Arial"/>
                </a:rPr>
                <a:t>Ahmed Salah Abdalhi Mohammed</a:t>
              </a:r>
            </a:p>
          </p:txBody>
        </p:sp>
        <p:sp>
          <p:nvSpPr>
            <p:cNvPr id="22" name="TextBox 22"/>
            <p:cNvSpPr txBox="1"/>
            <p:nvPr/>
          </p:nvSpPr>
          <p:spPr>
            <a:xfrm>
              <a:off x="983742" y="6407468"/>
              <a:ext cx="7905625"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Supervisor: Assoc. Prof. Dr. Emre Özbilge - Cyprus International University - June 2026</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10316019" cy="1170051"/>
            <a:chOff x="515874" y="237172"/>
            <a:chExt cx="10316019" cy="1170051"/>
          </a:xfrm>
        </p:grpSpPr>
        <p:sp>
          <p:nvSpPr>
            <p:cNvPr id="3" name="TextBox 3"/>
            <p:cNvSpPr txBox="1"/>
            <p:nvPr/>
          </p:nvSpPr>
          <p:spPr>
            <a:xfrm>
              <a:off x="515874" y="237172"/>
              <a:ext cx="10316019"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problem is choosing the right algorithm</a:t>
              </a:r>
            </a:p>
          </p:txBody>
        </p:sp>
        <p:sp>
          <p:nvSpPr>
            <p:cNvPr id="4" name="TextBox 4"/>
            <p:cNvSpPr txBox="1"/>
            <p:nvPr/>
          </p:nvSpPr>
          <p:spPr>
            <a:xfrm>
              <a:off x="515874" y="732472"/>
              <a:ext cx="342429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for each input</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9" name="Group 29"/>
          <p:cNvGrpSpPr/>
          <p:nvPr/>
        </p:nvGrpSpPr>
        <p:grpSpPr>
          <a:xfrm>
            <a:off x="914400" y="2095500"/>
            <a:ext cx="10420350" cy="1809750"/>
            <a:chOff x="914400" y="2095500"/>
            <a:chExt cx="10420350" cy="1809750"/>
          </a:xfrm>
        </p:grpSpPr>
        <p:sp>
          <p:nvSpPr>
            <p:cNvPr id="7" name="Freeform 7"/>
            <p:cNvSpPr/>
            <p:nvPr/>
          </p:nvSpPr>
          <p:spPr>
            <a:xfrm>
              <a:off x="914400" y="228600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grpSp>
          <p:nvGrpSpPr>
            <p:cNvPr id="11" name="Group 11"/>
            <p:cNvGrpSpPr/>
            <p:nvPr/>
          </p:nvGrpSpPr>
          <p:grpSpPr>
            <a:xfrm>
              <a:off x="1247775" y="2669381"/>
              <a:ext cx="266700" cy="300038"/>
              <a:chOff x="1247775" y="2669381"/>
              <a:chExt cx="266700" cy="300038"/>
            </a:xfrm>
          </p:grpSpPr>
          <p:sp>
            <p:nvSpPr>
              <p:cNvPr id="8" name="Freeform 8"/>
              <p:cNvSpPr/>
              <p:nvPr/>
            </p:nvSpPr>
            <p:spPr>
              <a:xfrm>
                <a:off x="1247775" y="266938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19050">
                <a:solidFill>
                  <a:srgbClr val="173B6D"/>
                </a:solidFill>
              </a:ln>
            </p:spPr>
          </p:sp>
          <p:sp>
            <p:nvSpPr>
              <p:cNvPr id="9" name="Freeform 9"/>
              <p:cNvSpPr/>
              <p:nvPr/>
            </p:nvSpPr>
            <p:spPr>
              <a:xfrm>
                <a:off x="1247775" y="271938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sp>
            <p:nvSpPr>
              <p:cNvPr id="10" name="Freeform 10"/>
              <p:cNvSpPr/>
              <p:nvPr/>
            </p:nvSpPr>
            <p:spPr>
              <a:xfrm>
                <a:off x="1247775" y="281940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grpSp>
        <p:sp>
          <p:nvSpPr>
            <p:cNvPr id="12" name="TextBox 12"/>
            <p:cNvSpPr txBox="1"/>
            <p:nvPr/>
          </p:nvSpPr>
          <p:spPr>
            <a:xfrm>
              <a:off x="1759458" y="2646045"/>
              <a:ext cx="224797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Numeric array</a:t>
              </a:r>
            </a:p>
          </p:txBody>
        </p:sp>
        <p:sp>
          <p:nvSpPr>
            <p:cNvPr id="13" name="TextBox 13"/>
            <p:cNvSpPr txBox="1"/>
            <p:nvPr/>
          </p:nvSpPr>
          <p:spPr>
            <a:xfrm>
              <a:off x="1172718" y="3174682"/>
              <a:ext cx="350409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same task, different structure</a:t>
              </a:r>
            </a:p>
          </p:txBody>
        </p:sp>
        <p:sp>
          <p:nvSpPr>
            <p:cNvPr id="14" name="Line 14"/>
            <p:cNvSpPr/>
            <p:nvPr/>
          </p:nvSpPr>
          <p:spPr>
            <a:xfrm>
              <a:off x="352425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15" name="Polygon 15"/>
            <p:cNvSpPr/>
            <p:nvPr/>
          </p:nvSpPr>
          <p:spPr>
            <a:xfrm>
              <a:off x="476250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6" name="Freeform 16"/>
            <p:cNvSpPr/>
            <p:nvPr/>
          </p:nvSpPr>
          <p:spPr>
            <a:xfrm>
              <a:off x="5219700" y="2095500"/>
              <a:ext cx="2381250" cy="1809750"/>
            </a:xfrm>
            <a:custGeom>
              <a:avLst/>
              <a:gdLst/>
              <a:ahLst/>
              <a:cxnLst/>
              <a:rect l="l" t="t" r="r" b="b"/>
              <a:pathLst>
                <a:path w="2381250" h="1809750">
                  <a:moveTo>
                    <a:pt x="76200" y="0"/>
                  </a:moveTo>
                  <a:lnTo>
                    <a:pt x="2305050" y="0"/>
                  </a:lnTo>
                  <a:cubicBezTo>
                    <a:pt x="2347134" y="0"/>
                    <a:pt x="2381250" y="34116"/>
                    <a:pt x="2381250" y="76200"/>
                  </a:cubicBezTo>
                  <a:lnTo>
                    <a:pt x="2381250" y="1733550"/>
                  </a:lnTo>
                  <a:cubicBezTo>
                    <a:pt x="2381250" y="1775634"/>
                    <a:pt x="2347134" y="1809750"/>
                    <a:pt x="230505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grpSp>
          <p:nvGrpSpPr>
            <p:cNvPr id="20" name="Group 20"/>
            <p:cNvGrpSpPr/>
            <p:nvPr/>
          </p:nvGrpSpPr>
          <p:grpSpPr>
            <a:xfrm>
              <a:off x="5536406" y="2507456"/>
              <a:ext cx="300038" cy="300038"/>
              <a:chOff x="5536406" y="2507456"/>
              <a:chExt cx="300038" cy="300038"/>
            </a:xfrm>
          </p:grpSpPr>
          <p:sp>
            <p:nvSpPr>
              <p:cNvPr id="17" name="Freeform 17"/>
              <p:cNvSpPr/>
              <p:nvPr/>
            </p:nvSpPr>
            <p:spPr>
              <a:xfrm>
                <a:off x="5669756" y="2640806"/>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0F766E"/>
                </a:solidFill>
              </a:ln>
            </p:spPr>
          </p:sp>
          <p:sp>
            <p:nvSpPr>
              <p:cNvPr id="18" name="Freeform 18"/>
              <p:cNvSpPr/>
              <p:nvPr/>
            </p:nvSpPr>
            <p:spPr>
              <a:xfrm>
                <a:off x="5603081" y="2574131"/>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0F766E"/>
                </a:solidFill>
              </a:ln>
            </p:spPr>
          </p:sp>
          <p:sp>
            <p:nvSpPr>
              <p:cNvPr id="19" name="Freeform 19"/>
              <p:cNvSpPr/>
              <p:nvPr/>
            </p:nvSpPr>
            <p:spPr>
              <a:xfrm>
                <a:off x="5536406" y="250745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0F766E"/>
                </a:solidFill>
              </a:ln>
            </p:spPr>
          </p:sp>
        </p:grpSp>
        <p:sp>
          <p:nvSpPr>
            <p:cNvPr id="21" name="TextBox 21"/>
            <p:cNvSpPr txBox="1"/>
            <p:nvPr/>
          </p:nvSpPr>
          <p:spPr>
            <a:xfrm>
              <a:off x="6064758" y="2484120"/>
              <a:ext cx="137468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Selector</a:t>
              </a:r>
            </a:p>
          </p:txBody>
        </p:sp>
        <p:sp>
          <p:nvSpPr>
            <p:cNvPr id="22" name="TextBox 22"/>
            <p:cNvSpPr txBox="1"/>
            <p:nvPr/>
          </p:nvSpPr>
          <p:spPr>
            <a:xfrm>
              <a:off x="5478018" y="3079432"/>
              <a:ext cx="315980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decide before sorting starts</a:t>
              </a:r>
            </a:p>
          </p:txBody>
        </p:sp>
        <p:sp>
          <p:nvSpPr>
            <p:cNvPr id="23" name="Line 23"/>
            <p:cNvSpPr/>
            <p:nvPr/>
          </p:nvSpPr>
          <p:spPr>
            <a:xfrm>
              <a:off x="784860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24" name="Polygon 24"/>
            <p:cNvSpPr/>
            <p:nvPr/>
          </p:nvSpPr>
          <p:spPr>
            <a:xfrm>
              <a:off x="908685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25" name="Freeform 25"/>
            <p:cNvSpPr/>
            <p:nvPr/>
          </p:nvSpPr>
          <p:spPr>
            <a:xfrm>
              <a:off x="9525000" y="2266950"/>
              <a:ext cx="1809750" cy="1466850"/>
            </a:xfrm>
            <a:custGeom>
              <a:avLst/>
              <a:gdLst/>
              <a:ahLst/>
              <a:cxnLst/>
              <a:rect l="l" t="t" r="r" b="b"/>
              <a:pathLst>
                <a:path w="1809750" h="1466850">
                  <a:moveTo>
                    <a:pt x="76200" y="0"/>
                  </a:moveTo>
                  <a:lnTo>
                    <a:pt x="1733550" y="0"/>
                  </a:lnTo>
                  <a:cubicBezTo>
                    <a:pt x="1775634" y="0"/>
                    <a:pt x="1809750" y="34116"/>
                    <a:pt x="1809750" y="76200"/>
                  </a:cubicBezTo>
                  <a:lnTo>
                    <a:pt x="1809750" y="1390650"/>
                  </a:lnTo>
                  <a:cubicBezTo>
                    <a:pt x="1809750" y="1432734"/>
                    <a:pt x="1775634" y="1466850"/>
                    <a:pt x="1733550" y="1466850"/>
                  </a:cubicBezTo>
                  <a:lnTo>
                    <a:pt x="76200" y="1466850"/>
                  </a:lnTo>
                  <a:cubicBezTo>
                    <a:pt x="34116" y="1466850"/>
                    <a:pt x="0" y="1432734"/>
                    <a:pt x="0" y="1390650"/>
                  </a:cubicBezTo>
                  <a:lnTo>
                    <a:pt x="0" y="76200"/>
                  </a:lnTo>
                  <a:cubicBezTo>
                    <a:pt x="0" y="34116"/>
                    <a:pt x="34116" y="0"/>
                    <a:pt x="76200" y="0"/>
                  </a:cubicBezTo>
                  <a:close/>
                </a:path>
              </a:pathLst>
            </a:custGeom>
            <a:solidFill>
              <a:srgbClr val="F6F8FB"/>
            </a:solidFill>
            <a:ln w="9525">
              <a:solidFill>
                <a:srgbClr val="D8DEE8"/>
              </a:solidFill>
            </a:ln>
          </p:spPr>
        </p:sp>
        <p:sp>
          <p:nvSpPr>
            <p:cNvPr id="26" name="TextBox 26"/>
            <p:cNvSpPr txBox="1"/>
            <p:nvPr/>
          </p:nvSpPr>
          <p:spPr>
            <a:xfrm>
              <a:off x="9800082" y="2487930"/>
              <a:ext cx="135003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introsort</a:t>
              </a:r>
            </a:p>
          </p:txBody>
        </p:sp>
        <p:sp>
          <p:nvSpPr>
            <p:cNvPr id="27" name="TextBox 27"/>
            <p:cNvSpPr txBox="1"/>
            <p:nvPr/>
          </p:nvSpPr>
          <p:spPr>
            <a:xfrm>
              <a:off x="9800082" y="2868930"/>
              <a:ext cx="126522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heapsort</a:t>
              </a:r>
            </a:p>
          </p:txBody>
        </p:sp>
        <p:sp>
          <p:nvSpPr>
            <p:cNvPr id="28" name="TextBox 28"/>
            <p:cNvSpPr txBox="1"/>
            <p:nvPr/>
          </p:nvSpPr>
          <p:spPr>
            <a:xfrm>
              <a:off x="9800082" y="3249930"/>
              <a:ext cx="109560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a:t>
              </a:r>
            </a:p>
          </p:txBody>
        </p:sp>
      </p:grpSp>
      <p:grpSp>
        <p:nvGrpSpPr>
          <p:cNvPr id="32" name="Group 32"/>
          <p:cNvGrpSpPr/>
          <p:nvPr/>
        </p:nvGrpSpPr>
        <p:grpSpPr>
          <a:xfrm>
            <a:off x="902970" y="4900612"/>
            <a:ext cx="6542675" cy="840105"/>
            <a:chOff x="902970" y="4900612"/>
            <a:chExt cx="6542675" cy="840105"/>
          </a:xfrm>
        </p:grpSpPr>
        <p:sp>
          <p:nvSpPr>
            <p:cNvPr id="30" name="TextBox 30"/>
            <p:cNvSpPr txBox="1"/>
            <p:nvPr/>
          </p:nvSpPr>
          <p:spPr>
            <a:xfrm>
              <a:off x="902970" y="4900612"/>
              <a:ext cx="6124442"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The thesis question is not how to sort,</a:t>
              </a:r>
            </a:p>
          </p:txBody>
        </p:sp>
        <p:sp>
          <p:nvSpPr>
            <p:cNvPr id="31" name="TextBox 31"/>
            <p:cNvSpPr txBox="1"/>
            <p:nvPr/>
          </p:nvSpPr>
          <p:spPr>
            <a:xfrm>
              <a:off x="902970" y="5300662"/>
              <a:ext cx="6542675"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but which sorter to trust for this array.</a:t>
              </a:r>
            </a:p>
          </p:txBody>
        </p:sp>
      </p:grpSp>
      <p:sp>
        <p:nvSpPr>
          <p:cNvPr id="33" name="TextBox 33"/>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02</a:t>
            </a:r>
          </a:p>
        </p:txBody>
      </p:sp>
    </p:spTree>
  </p:cSld>
  <p:clrMapOvr>
    <a:masterClrMapping/>
  </p:clrMapOvr>
  <p:transition xmlns:p14="http://schemas.microsoft.com/office/powerpoint/2010/main" p14:dur="3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2102264" cy="762000"/>
            <a:chOff x="514350" y="321945"/>
            <a:chExt cx="12102264" cy="762000"/>
          </a:xfrm>
        </p:grpSpPr>
        <p:sp>
          <p:nvSpPr>
            <p:cNvPr id="3" name="TextBox 3"/>
            <p:cNvSpPr txBox="1"/>
            <p:nvPr/>
          </p:nvSpPr>
          <p:spPr>
            <a:xfrm>
              <a:off x="514350" y="321945"/>
              <a:ext cx="12102264"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Same complexity does not mean same runtime</a:t>
              </a:r>
            </a:p>
          </p:txBody>
        </p:sp>
        <p:sp>
          <p:nvSpPr>
            <p:cNvPr id="4" name="Rectangle 4"/>
            <p:cNvSpPr/>
            <p:nvPr/>
          </p:nvSpPr>
          <p:spPr>
            <a:xfrm>
              <a:off x="533400" y="990600"/>
              <a:ext cx="1714500" cy="47625"/>
            </a:xfrm>
            <a:prstGeom prst="rect">
              <a:avLst/>
            </a:prstGeom>
            <a:solidFill>
              <a:srgbClr val="D99A20"/>
            </a:solidFill>
            <a:ln>
              <a:noFill/>
            </a:ln>
          </p:spPr>
        </p:sp>
      </p:grpSp>
      <p:grpSp>
        <p:nvGrpSpPr>
          <p:cNvPr id="15" name="Group 15"/>
          <p:cNvGrpSpPr/>
          <p:nvPr/>
        </p:nvGrpSpPr>
        <p:grpSpPr>
          <a:xfrm>
            <a:off x="1123950" y="1798320"/>
            <a:ext cx="9544050" cy="3497580"/>
            <a:chOff x="1123950" y="1798320"/>
            <a:chExt cx="9544050" cy="3497580"/>
          </a:xfrm>
        </p:grpSpPr>
        <p:sp>
          <p:nvSpPr>
            <p:cNvPr id="6" name="TextBox 6"/>
            <p:cNvSpPr txBox="1"/>
            <p:nvPr/>
          </p:nvSpPr>
          <p:spPr>
            <a:xfrm>
              <a:off x="1123950" y="1798320"/>
              <a:ext cx="385205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O(n log n)</a:t>
              </a:r>
            </a:p>
          </p:txBody>
        </p:sp>
        <p:sp>
          <p:nvSpPr>
            <p:cNvPr id="7" name="TextBox 7"/>
            <p:cNvSpPr txBox="1"/>
            <p:nvPr/>
          </p:nvSpPr>
          <p:spPr>
            <a:xfrm>
              <a:off x="1131570" y="2671762"/>
              <a:ext cx="4793456"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same high-level complexity class</a:t>
              </a:r>
            </a:p>
          </p:txBody>
        </p:sp>
        <p:sp>
          <p:nvSpPr>
            <p:cNvPr id="8" name="Line 8"/>
            <p:cNvSpPr/>
            <p:nvPr/>
          </p:nvSpPr>
          <p:spPr>
            <a:xfrm>
              <a:off x="1143000" y="3562350"/>
              <a:ext cx="9525000" cy="9525"/>
            </a:xfrm>
            <a:custGeom>
              <a:avLst/>
              <a:gdLst/>
              <a:ahLst/>
              <a:cxnLst/>
              <a:rect l="l" t="t" r="r" b="b"/>
              <a:pathLst>
                <a:path w="9525000" h="9525">
                  <a:moveTo>
                    <a:pt x="0" y="0"/>
                  </a:moveTo>
                  <a:lnTo>
                    <a:pt x="9525000" y="0"/>
                  </a:lnTo>
                </a:path>
              </a:pathLst>
            </a:custGeom>
            <a:noFill/>
            <a:ln w="19050">
              <a:solidFill>
                <a:srgbClr val="D8DEE8"/>
              </a:solidFill>
            </a:ln>
          </p:spPr>
        </p:sp>
        <p:sp>
          <p:nvSpPr>
            <p:cNvPr id="9" name="Freeform 9"/>
            <p:cNvSpPr/>
            <p:nvPr/>
          </p:nvSpPr>
          <p:spPr>
            <a:xfrm>
              <a:off x="1524000" y="4191000"/>
              <a:ext cx="2381250" cy="819150"/>
            </a:xfrm>
            <a:custGeom>
              <a:avLst/>
              <a:gdLst/>
              <a:ahLst/>
              <a:cxnLst/>
              <a:rect l="l" t="t" r="r" b="b"/>
              <a:pathLst>
                <a:path w="2381250" h="819150">
                  <a:moveTo>
                    <a:pt x="76200" y="0"/>
                  </a:moveTo>
                  <a:lnTo>
                    <a:pt x="2305050" y="0"/>
                  </a:lnTo>
                  <a:cubicBezTo>
                    <a:pt x="2347134" y="0"/>
                    <a:pt x="2381250" y="34116"/>
                    <a:pt x="2381250" y="76200"/>
                  </a:cubicBezTo>
                  <a:lnTo>
                    <a:pt x="2381250" y="742950"/>
                  </a:lnTo>
                  <a:cubicBezTo>
                    <a:pt x="2381250" y="785034"/>
                    <a:pt x="2347134" y="819150"/>
                    <a:pt x="2305050" y="819150"/>
                  </a:cubicBezTo>
                  <a:lnTo>
                    <a:pt x="76200" y="819150"/>
                  </a:lnTo>
                  <a:cubicBezTo>
                    <a:pt x="34116" y="819150"/>
                    <a:pt x="0" y="785034"/>
                    <a:pt x="0" y="74295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1798320" y="4452938"/>
              <a:ext cx="144646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introsort</a:t>
              </a:r>
            </a:p>
          </p:txBody>
        </p:sp>
        <p:sp>
          <p:nvSpPr>
            <p:cNvPr id="11" name="Freeform 11"/>
            <p:cNvSpPr/>
            <p:nvPr/>
          </p:nvSpPr>
          <p:spPr>
            <a:xfrm>
              <a:off x="4905375" y="4095750"/>
              <a:ext cx="2381250" cy="1009650"/>
            </a:xfrm>
            <a:custGeom>
              <a:avLst/>
              <a:gdLst/>
              <a:ahLst/>
              <a:cxnLst/>
              <a:rect l="l" t="t" r="r" b="b"/>
              <a:pathLst>
                <a:path w="2381250" h="1009650">
                  <a:moveTo>
                    <a:pt x="76200" y="0"/>
                  </a:moveTo>
                  <a:lnTo>
                    <a:pt x="2305050" y="0"/>
                  </a:lnTo>
                  <a:cubicBezTo>
                    <a:pt x="2347134" y="0"/>
                    <a:pt x="2381250" y="34116"/>
                    <a:pt x="2381250" y="76200"/>
                  </a:cubicBezTo>
                  <a:lnTo>
                    <a:pt x="2381250" y="933450"/>
                  </a:lnTo>
                  <a:cubicBezTo>
                    <a:pt x="2381250" y="975534"/>
                    <a:pt x="2347134" y="1009650"/>
                    <a:pt x="2305050" y="1009650"/>
                  </a:cubicBezTo>
                  <a:lnTo>
                    <a:pt x="76200" y="1009650"/>
                  </a:lnTo>
                  <a:cubicBezTo>
                    <a:pt x="34116" y="1009650"/>
                    <a:pt x="0" y="975534"/>
                    <a:pt x="0" y="93345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5179695" y="445293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heapsort</a:t>
              </a:r>
            </a:p>
          </p:txBody>
        </p:sp>
        <p:sp>
          <p:nvSpPr>
            <p:cNvPr id="13" name="Freeform 13"/>
            <p:cNvSpPr/>
            <p:nvPr/>
          </p:nvSpPr>
          <p:spPr>
            <a:xfrm>
              <a:off x="8286750" y="3905250"/>
              <a:ext cx="2381250" cy="1390650"/>
            </a:xfrm>
            <a:custGeom>
              <a:avLst/>
              <a:gdLst/>
              <a:ahLst/>
              <a:cxnLst/>
              <a:rect l="l" t="t" r="r" b="b"/>
              <a:pathLst>
                <a:path w="2381250" h="1390650">
                  <a:moveTo>
                    <a:pt x="76200" y="0"/>
                  </a:moveTo>
                  <a:lnTo>
                    <a:pt x="2305050" y="0"/>
                  </a:lnTo>
                  <a:cubicBezTo>
                    <a:pt x="2347134" y="0"/>
                    <a:pt x="2381250" y="34116"/>
                    <a:pt x="2381250" y="76200"/>
                  </a:cubicBezTo>
                  <a:lnTo>
                    <a:pt x="2381250" y="1314450"/>
                  </a:lnTo>
                  <a:cubicBezTo>
                    <a:pt x="2381250" y="1356534"/>
                    <a:pt x="2347134" y="1390650"/>
                    <a:pt x="2305050" y="1390650"/>
                  </a:cubicBezTo>
                  <a:lnTo>
                    <a:pt x="76200" y="1390650"/>
                  </a:lnTo>
                  <a:cubicBezTo>
                    <a:pt x="34116" y="1390650"/>
                    <a:pt x="0" y="1356534"/>
                    <a:pt x="0" y="1314450"/>
                  </a:cubicBezTo>
                  <a:lnTo>
                    <a:pt x="0" y="76200"/>
                  </a:lnTo>
                  <a:cubicBezTo>
                    <a:pt x="0" y="34116"/>
                    <a:pt x="34116" y="0"/>
                    <a:pt x="76200" y="0"/>
                  </a:cubicBezTo>
                  <a:close/>
                </a:path>
              </a:pathLst>
            </a:custGeom>
            <a:solidFill>
              <a:srgbClr val="F6F8FB"/>
            </a:solidFill>
            <a:ln w="19050">
              <a:solidFill>
                <a:srgbClr val="0F766E"/>
              </a:solidFill>
            </a:ln>
          </p:spPr>
        </p:sp>
        <p:sp>
          <p:nvSpPr>
            <p:cNvPr id="14" name="TextBox 14"/>
            <p:cNvSpPr txBox="1"/>
            <p:nvPr/>
          </p:nvSpPr>
          <p:spPr>
            <a:xfrm>
              <a:off x="8561070" y="4452938"/>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timsort</a:t>
              </a:r>
            </a:p>
          </p:txBody>
        </p:sp>
      </p:grpSp>
      <p:grpSp>
        <p:nvGrpSpPr>
          <p:cNvPr id="17" name="Group 17"/>
          <p:cNvGrpSpPr/>
          <p:nvPr/>
        </p:nvGrpSpPr>
        <p:grpSpPr>
          <a:xfrm>
            <a:off x="1130046" y="5725478"/>
            <a:ext cx="16738345" cy="498729"/>
            <a:chOff x="1130046" y="5725478"/>
            <a:chExt cx="16738345" cy="498729"/>
          </a:xfrm>
        </p:grpSpPr>
        <p:sp>
          <p:nvSpPr>
            <p:cNvPr id="16" name="TextBox 16"/>
            <p:cNvSpPr txBox="1"/>
            <p:nvPr/>
          </p:nvSpPr>
          <p:spPr>
            <a:xfrm>
              <a:off x="1130046" y="5725478"/>
              <a:ext cx="16738345"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The practical winner depends on input structure, constants, memory behavior, and existing order.</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03</a:t>
            </a:r>
          </a:p>
        </p:txBody>
      </p:sp>
    </p:spTree>
  </p:cSld>
  <p:clrMapOvr>
    <a:masterClrMapping/>
  </p:clrMapOvr>
  <p:transition xmlns:p14="http://schemas.microsoft.com/office/powerpoint/2010/main" p14:dur="3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108420" cy="762000"/>
            <a:chOff x="514350" y="321945"/>
            <a:chExt cx="11108420" cy="762000"/>
          </a:xfrm>
        </p:grpSpPr>
        <p:sp>
          <p:nvSpPr>
            <p:cNvPr id="3" name="TextBox 3"/>
            <p:cNvSpPr txBox="1"/>
            <p:nvPr/>
          </p:nvSpPr>
          <p:spPr>
            <a:xfrm>
              <a:off x="514350" y="321945"/>
              <a:ext cx="11108420"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This thesis selects before sorting begins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20" name="Group 20"/>
          <p:cNvGrpSpPr/>
          <p:nvPr/>
        </p:nvGrpSpPr>
        <p:grpSpPr>
          <a:xfrm>
            <a:off x="1047750" y="1809750"/>
            <a:ext cx="10439400" cy="1809750"/>
            <a:chOff x="1047750" y="1809750"/>
            <a:chExt cx="10439400" cy="1809750"/>
          </a:xfrm>
        </p:grpSpPr>
        <p:sp>
          <p:nvSpPr>
            <p:cNvPr id="6" name="Freeform 6"/>
            <p:cNvSpPr/>
            <p:nvPr/>
          </p:nvSpPr>
          <p:spPr>
            <a:xfrm>
              <a:off x="1047750" y="200025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339596" y="2372678"/>
              <a:ext cx="980618"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Array</a:t>
              </a:r>
            </a:p>
          </p:txBody>
        </p:sp>
        <p:sp>
          <p:nvSpPr>
            <p:cNvPr id="8" name="TextBox 8"/>
            <p:cNvSpPr txBox="1"/>
            <p:nvPr/>
          </p:nvSpPr>
          <p:spPr>
            <a:xfrm>
              <a:off x="1344168" y="2888932"/>
              <a:ext cx="1616050"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not sorted yet</a:t>
              </a:r>
            </a:p>
          </p:txBody>
        </p:sp>
        <p:sp>
          <p:nvSpPr>
            <p:cNvPr id="9" name="Line 9"/>
            <p:cNvSpPr/>
            <p:nvPr/>
          </p:nvSpPr>
          <p:spPr>
            <a:xfrm>
              <a:off x="36766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0" name="Polygon 10"/>
            <p:cNvSpPr/>
            <p:nvPr/>
          </p:nvSpPr>
          <p:spPr>
            <a:xfrm>
              <a:off x="47625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1" name="Freeform 11"/>
            <p:cNvSpPr/>
            <p:nvPr/>
          </p:nvSpPr>
          <p:spPr>
            <a:xfrm>
              <a:off x="5219700" y="1809750"/>
              <a:ext cx="2667000" cy="1809750"/>
            </a:xfrm>
            <a:custGeom>
              <a:avLst/>
              <a:gdLst/>
              <a:ahLst/>
              <a:cxnLst/>
              <a:rect l="l" t="t" r="r" b="b"/>
              <a:pathLst>
                <a:path w="2667000" h="1809750">
                  <a:moveTo>
                    <a:pt x="76200" y="0"/>
                  </a:moveTo>
                  <a:lnTo>
                    <a:pt x="2590800" y="0"/>
                  </a:lnTo>
                  <a:cubicBezTo>
                    <a:pt x="2632884" y="0"/>
                    <a:pt x="2667000" y="34116"/>
                    <a:pt x="2667000" y="76200"/>
                  </a:cubicBezTo>
                  <a:lnTo>
                    <a:pt x="2667000" y="1733550"/>
                  </a:lnTo>
                  <a:cubicBezTo>
                    <a:pt x="2667000" y="1775634"/>
                    <a:pt x="2632884" y="1809750"/>
                    <a:pt x="25908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sp>
          <p:nvSpPr>
            <p:cNvPr id="12" name="Freeform 12"/>
            <p:cNvSpPr/>
            <p:nvPr/>
          </p:nvSpPr>
          <p:spPr>
            <a:xfrm>
              <a:off x="5597525" y="2282825"/>
              <a:ext cx="292101" cy="310357"/>
            </a:xfrm>
            <a:custGeom>
              <a:avLst/>
              <a:gdLst/>
              <a:ahLst/>
              <a:cxnLst/>
              <a:rect l="l" t="t" r="r" b="b"/>
              <a:pathLst>
                <a:path w="292101" h="310357">
                  <a:moveTo>
                    <a:pt x="0" y="0"/>
                  </a:moveTo>
                  <a:lnTo>
                    <a:pt x="292101" y="0"/>
                  </a:lnTo>
                  <a:lnTo>
                    <a:pt x="292101" y="39653"/>
                  </a:lnTo>
                  <a:cubicBezTo>
                    <a:pt x="292098" y="49336"/>
                    <a:pt x="288250" y="58621"/>
                    <a:pt x="281402" y="65467"/>
                  </a:cubicBezTo>
                  <a:lnTo>
                    <a:pt x="200819" y="146050"/>
                  </a:lnTo>
                  <a:lnTo>
                    <a:pt x="200819" y="273844"/>
                  </a:lnTo>
                  <a:lnTo>
                    <a:pt x="91281" y="310357"/>
                  </a:lnTo>
                  <a:lnTo>
                    <a:pt x="91281" y="155178"/>
                  </a:lnTo>
                  <a:lnTo>
                    <a:pt x="9493" y="65211"/>
                  </a:lnTo>
                  <a:cubicBezTo>
                    <a:pt x="3386" y="58492"/>
                    <a:pt x="1" y="49737"/>
                    <a:pt x="0" y="40657"/>
                  </a:cubicBezTo>
                  <a:lnTo>
                    <a:pt x="0" y="0"/>
                  </a:lnTo>
                </a:path>
              </a:pathLst>
            </a:custGeom>
            <a:noFill/>
            <a:ln w="19050">
              <a:solidFill>
                <a:srgbClr val="173B6D"/>
              </a:solidFill>
            </a:ln>
          </p:spPr>
        </p:sp>
        <p:sp>
          <p:nvSpPr>
            <p:cNvPr id="13" name="TextBox 13"/>
            <p:cNvSpPr txBox="1"/>
            <p:nvPr/>
          </p:nvSpPr>
          <p:spPr>
            <a:xfrm>
              <a:off x="6160008" y="2265045"/>
              <a:ext cx="1898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16 features</a:t>
              </a:r>
            </a:p>
          </p:txBody>
        </p:sp>
        <p:sp>
          <p:nvSpPr>
            <p:cNvPr id="14" name="TextBox 14"/>
            <p:cNvSpPr txBox="1"/>
            <p:nvPr/>
          </p:nvSpPr>
          <p:spPr>
            <a:xfrm>
              <a:off x="5516118" y="2907982"/>
              <a:ext cx="28710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cheap structural summary</a:t>
              </a:r>
            </a:p>
          </p:txBody>
        </p:sp>
        <p:sp>
          <p:nvSpPr>
            <p:cNvPr id="15" name="Line 15"/>
            <p:cNvSpPr/>
            <p:nvPr/>
          </p:nvSpPr>
          <p:spPr>
            <a:xfrm>
              <a:off x="81343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6" name="Polygon 16"/>
            <p:cNvSpPr/>
            <p:nvPr/>
          </p:nvSpPr>
          <p:spPr>
            <a:xfrm>
              <a:off x="92202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677400" y="2000250"/>
              <a:ext cx="1809750" cy="1428750"/>
            </a:xfrm>
            <a:custGeom>
              <a:avLst/>
              <a:gdLst/>
              <a:ahLst/>
              <a:cxnLst/>
              <a:rect l="l" t="t" r="r" b="b"/>
              <a:pathLst>
                <a:path w="1809750" h="1428750">
                  <a:moveTo>
                    <a:pt x="76200" y="0"/>
                  </a:moveTo>
                  <a:lnTo>
                    <a:pt x="1733550" y="0"/>
                  </a:lnTo>
                  <a:cubicBezTo>
                    <a:pt x="1775634" y="0"/>
                    <a:pt x="1809750" y="34116"/>
                    <a:pt x="1809750" y="76200"/>
                  </a:cubicBezTo>
                  <a:lnTo>
                    <a:pt x="1809750" y="1352550"/>
                  </a:lnTo>
                  <a:cubicBezTo>
                    <a:pt x="1809750" y="1394634"/>
                    <a:pt x="1775634" y="1428750"/>
                    <a:pt x="17335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969246" y="2372678"/>
              <a:ext cx="1364704"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one pick</a:t>
              </a:r>
            </a:p>
          </p:txBody>
        </p:sp>
        <p:sp>
          <p:nvSpPr>
            <p:cNvPr id="19" name="TextBox 19"/>
            <p:cNvSpPr txBox="1"/>
            <p:nvPr/>
          </p:nvSpPr>
          <p:spPr>
            <a:xfrm>
              <a:off x="9973818" y="2888932"/>
              <a:ext cx="14272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then execute</a:t>
              </a:r>
            </a:p>
          </p:txBody>
        </p:sp>
      </p:grpSp>
      <p:grpSp>
        <p:nvGrpSpPr>
          <p:cNvPr id="23" name="Group 23"/>
          <p:cNvGrpSpPr/>
          <p:nvPr/>
        </p:nvGrpSpPr>
        <p:grpSpPr>
          <a:xfrm>
            <a:off x="1034796" y="4868228"/>
            <a:ext cx="6832316" cy="936879"/>
            <a:chOff x="1034796" y="4868228"/>
            <a:chExt cx="6832316" cy="936879"/>
          </a:xfrm>
        </p:grpSpPr>
        <p:sp>
          <p:nvSpPr>
            <p:cNvPr id="21" name="TextBox 21"/>
            <p:cNvSpPr txBox="1"/>
            <p:nvPr/>
          </p:nvSpPr>
          <p:spPr>
            <a:xfrm>
              <a:off x="1034796" y="4868228"/>
              <a:ext cx="6832316"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selector pays a small feature cost</a:t>
              </a:r>
            </a:p>
          </p:txBody>
        </p:sp>
        <p:sp>
          <p:nvSpPr>
            <p:cNvPr id="22" name="TextBox 22"/>
            <p:cNvSpPr txBox="1"/>
            <p:nvPr/>
          </p:nvSpPr>
          <p:spPr>
            <a:xfrm>
              <a:off x="1034796" y="5306378"/>
              <a:ext cx="6099407"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 avoid a larger runtime mistake.</a:t>
              </a:r>
            </a:p>
          </p:txBody>
        </p:sp>
      </p:grpSp>
      <p:sp>
        <p:nvSpPr>
          <p:cNvPr id="24" name="TextBox 24"/>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04</a:t>
            </a:r>
          </a:p>
        </p:txBody>
      </p:sp>
    </p:spTree>
  </p:cSld>
  <p:clrMapOvr>
    <a:masterClrMapping/>
  </p:clrMapOvr>
  <p:transition xmlns:p14="http://schemas.microsoft.com/office/powerpoint/2010/main" p14:dur="3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512508" cy="1170051"/>
            <a:chOff x="515874" y="237172"/>
            <a:chExt cx="7512508" cy="1170051"/>
          </a:xfrm>
        </p:grpSpPr>
        <p:sp>
          <p:nvSpPr>
            <p:cNvPr id="3" name="TextBox 3"/>
            <p:cNvSpPr txBox="1"/>
            <p:nvPr/>
          </p:nvSpPr>
          <p:spPr>
            <a:xfrm>
              <a:off x="515874" y="237172"/>
              <a:ext cx="7512508"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aim is a practical selector,</a:t>
              </a:r>
            </a:p>
          </p:txBody>
        </p:sp>
        <p:sp>
          <p:nvSpPr>
            <p:cNvPr id="4" name="TextBox 4"/>
            <p:cNvSpPr txBox="1"/>
            <p:nvPr/>
          </p:nvSpPr>
          <p:spPr>
            <a:xfrm>
              <a:off x="515874" y="732472"/>
              <a:ext cx="4911662"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a perfect oracle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085850" y="1893570"/>
            <a:ext cx="9528821" cy="1294447"/>
            <a:chOff x="1085850" y="1893570"/>
            <a:chExt cx="9528821" cy="1294447"/>
          </a:xfrm>
        </p:grpSpPr>
        <p:sp>
          <p:nvSpPr>
            <p:cNvPr id="7" name="TextBox 7"/>
            <p:cNvSpPr txBox="1"/>
            <p:nvPr/>
          </p:nvSpPr>
          <p:spPr>
            <a:xfrm>
              <a:off x="1085850" y="1893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93470" y="2747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gap closed</a:t>
              </a:r>
            </a:p>
          </p:txBody>
        </p:sp>
        <p:sp>
          <p:nvSpPr>
            <p:cNvPr id="9" name="TextBox 9"/>
            <p:cNvSpPr txBox="1"/>
            <p:nvPr/>
          </p:nvSpPr>
          <p:spPr>
            <a:xfrm>
              <a:off x="47053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76.1%</a:t>
              </a:r>
            </a:p>
          </p:txBody>
        </p:sp>
        <p:sp>
          <p:nvSpPr>
            <p:cNvPr id="10" name="TextBox 10"/>
            <p:cNvSpPr txBox="1"/>
            <p:nvPr/>
          </p:nvSpPr>
          <p:spPr>
            <a:xfrm>
              <a:off x="4712970" y="2747962"/>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accuracy</a:t>
              </a:r>
            </a:p>
          </p:txBody>
        </p:sp>
        <p:sp>
          <p:nvSpPr>
            <p:cNvPr id="11" name="TextBox 11"/>
            <p:cNvSpPr txBox="1"/>
            <p:nvPr/>
          </p:nvSpPr>
          <p:spPr>
            <a:xfrm>
              <a:off x="83248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89.6%</a:t>
              </a:r>
            </a:p>
          </p:txBody>
        </p:sp>
        <p:sp>
          <p:nvSpPr>
            <p:cNvPr id="12" name="TextBox 12"/>
            <p:cNvSpPr txBox="1"/>
            <p:nvPr/>
          </p:nvSpPr>
          <p:spPr>
            <a:xfrm>
              <a:off x="8332470" y="2747962"/>
              <a:ext cx="177965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zero regret</a:t>
              </a:r>
            </a:p>
          </p:txBody>
        </p:sp>
      </p:grpSp>
      <p:grpSp>
        <p:nvGrpSpPr>
          <p:cNvPr id="18" name="Group 18"/>
          <p:cNvGrpSpPr/>
          <p:nvPr/>
        </p:nvGrpSpPr>
        <p:grpSpPr>
          <a:xfrm>
            <a:off x="1428750" y="4095750"/>
            <a:ext cx="9334500" cy="1179195"/>
            <a:chOff x="1428750" y="4095750"/>
            <a:chExt cx="9334500" cy="1179195"/>
          </a:xfrm>
        </p:grpSpPr>
        <p:sp>
          <p:nvSpPr>
            <p:cNvPr id="14" name="Freeform 14"/>
            <p:cNvSpPr/>
            <p:nvPr/>
          </p:nvSpPr>
          <p:spPr>
            <a:xfrm>
              <a:off x="1428750" y="4095750"/>
              <a:ext cx="9334500" cy="1123950"/>
            </a:xfrm>
            <a:custGeom>
              <a:avLst/>
              <a:gdLst/>
              <a:ahLst/>
              <a:cxnLst/>
              <a:rect l="l" t="t" r="r" b="b"/>
              <a:pathLst>
                <a:path w="9334500" h="1123950">
                  <a:moveTo>
                    <a:pt x="76200" y="0"/>
                  </a:moveTo>
                  <a:lnTo>
                    <a:pt x="9258300" y="0"/>
                  </a:lnTo>
                  <a:cubicBezTo>
                    <a:pt x="9300384" y="0"/>
                    <a:pt x="9334500" y="34116"/>
                    <a:pt x="9334500" y="76200"/>
                  </a:cubicBezTo>
                  <a:lnTo>
                    <a:pt x="9334500" y="1047750"/>
                  </a:lnTo>
                  <a:cubicBezTo>
                    <a:pt x="9334500" y="1089834"/>
                    <a:pt x="9300384" y="1123950"/>
                    <a:pt x="9258300" y="1123950"/>
                  </a:cubicBezTo>
                  <a:lnTo>
                    <a:pt x="76200" y="1123950"/>
                  </a:lnTo>
                  <a:cubicBezTo>
                    <a:pt x="34116" y="1123950"/>
                    <a:pt x="0" y="1089834"/>
                    <a:pt x="0" y="104775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1798320" y="4329112"/>
              <a:ext cx="681781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 wrong label is only damaging when it creates</a:t>
              </a:r>
            </a:p>
          </p:txBody>
        </p:sp>
        <p:sp>
          <p:nvSpPr>
            <p:cNvPr id="16" name="TextBox 16"/>
            <p:cNvSpPr txBox="1"/>
            <p:nvPr/>
          </p:nvSpPr>
          <p:spPr>
            <a:xfrm>
              <a:off x="1798320" y="4691062"/>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meaningful runtime regret.</a:t>
              </a:r>
            </a:p>
          </p:txBody>
        </p:sp>
        <p:sp>
          <p:nvSpPr>
            <p:cNvPr id="17" name="TextBox 17"/>
            <p:cNvSpPr txBox="1"/>
            <p:nvPr/>
          </p:nvSpPr>
          <p:spPr>
            <a:xfrm>
              <a:off x="1802130" y="4981575"/>
              <a:ext cx="835168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That is why the defense leads with runtime value, then explains accuracy and limits.</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05</a:t>
            </a:r>
          </a:p>
        </p:txBody>
      </p:sp>
    </p:spTree>
  </p:cSld>
  <p:clrMapOvr>
    <a:masterClrMapping/>
  </p:clrMapOvr>
  <p:transition xmlns:p14="http://schemas.microsoft.com/office/powerpoint/2010/main" p14:dur="3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486805" cy="762000"/>
            <a:chOff x="514350" y="264795"/>
            <a:chExt cx="12486805" cy="762000"/>
          </a:xfrm>
        </p:grpSpPr>
        <p:sp>
          <p:nvSpPr>
            <p:cNvPr id="3" name="TextBox 3"/>
            <p:cNvSpPr txBox="1"/>
            <p:nvPr/>
          </p:nvSpPr>
          <p:spPr>
            <a:xfrm>
              <a:off x="514350" y="264795"/>
              <a:ext cx="12486805"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array is converted into structural signals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14450"/>
            <a:ext cx="7048500" cy="4953000"/>
            <a:chOff x="533400" y="1314450"/>
            <a:chExt cx="7048500" cy="4953000"/>
          </a:xfrm>
        </p:grpSpPr>
        <p:sp>
          <p:nvSpPr>
            <p:cNvPr id="6" name="Freeform 6"/>
            <p:cNvSpPr/>
            <p:nvPr/>
          </p:nvSpPr>
          <p:spPr>
            <a:xfrm>
              <a:off x="533400" y="1314450"/>
              <a:ext cx="7048500" cy="4953000"/>
            </a:xfrm>
            <a:custGeom>
              <a:avLst/>
              <a:gdLst/>
              <a:ahLst/>
              <a:cxnLst/>
              <a:rect l="l" t="t" r="r" b="b"/>
              <a:pathLst>
                <a:path w="7048500" h="4953000">
                  <a:moveTo>
                    <a:pt x="76200" y="0"/>
                  </a:moveTo>
                  <a:lnTo>
                    <a:pt x="6972300" y="0"/>
                  </a:lnTo>
                  <a:cubicBezTo>
                    <a:pt x="7014384" y="0"/>
                    <a:pt x="7048500" y="34116"/>
                    <a:pt x="7048500" y="76200"/>
                  </a:cubicBezTo>
                  <a:lnTo>
                    <a:pt x="7048500" y="4876800"/>
                  </a:lnTo>
                  <a:cubicBezTo>
                    <a:pt x="7048500" y="4918884"/>
                    <a:pt x="7014384" y="4953000"/>
                    <a:pt x="6972300" y="4953000"/>
                  </a:cubicBezTo>
                  <a:lnTo>
                    <a:pt x="76200" y="4953000"/>
                  </a:lnTo>
                  <a:cubicBezTo>
                    <a:pt x="34116" y="4953000"/>
                    <a:pt x="0" y="4918884"/>
                    <a:pt x="0" y="48768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05720" y="1504950"/>
              <a:ext cx="6503861" cy="4572000"/>
            </a:xfrm>
            <a:prstGeom prst="rect">
              <a:avLst/>
            </a:prstGeom>
          </p:spPr>
        </p:pic>
      </p:grpSp>
      <p:grpSp>
        <p:nvGrpSpPr>
          <p:cNvPr id="16" name="Group 16"/>
          <p:cNvGrpSpPr/>
          <p:nvPr/>
        </p:nvGrpSpPr>
        <p:grpSpPr>
          <a:xfrm>
            <a:off x="7949946" y="1515428"/>
            <a:ext cx="4123987" cy="3215639"/>
            <a:chOff x="7949946" y="1515428"/>
            <a:chExt cx="4123987" cy="3215639"/>
          </a:xfrm>
        </p:grpSpPr>
        <p:sp>
          <p:nvSpPr>
            <p:cNvPr id="9" name="TextBox 9"/>
            <p:cNvSpPr txBox="1"/>
            <p:nvPr/>
          </p:nvSpPr>
          <p:spPr>
            <a:xfrm>
              <a:off x="7949946" y="1515428"/>
              <a:ext cx="4021351"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model does not see</a:t>
              </a:r>
            </a:p>
          </p:txBody>
        </p:sp>
        <p:sp>
          <p:nvSpPr>
            <p:cNvPr id="10" name="TextBox 10"/>
            <p:cNvSpPr txBox="1"/>
            <p:nvPr/>
          </p:nvSpPr>
          <p:spPr>
            <a:xfrm>
              <a:off x="7949946" y="1915478"/>
              <a:ext cx="3287936"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raw sequence.</a:t>
              </a:r>
            </a:p>
          </p:txBody>
        </p:sp>
        <p:sp>
          <p:nvSpPr>
            <p:cNvPr id="11" name="TextBox 11"/>
            <p:cNvSpPr txBox="1"/>
            <p:nvPr/>
          </p:nvSpPr>
          <p:spPr>
            <a:xfrm>
              <a:off x="7951470" y="2614612"/>
              <a:ext cx="412246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It sees compact structure:</a:t>
              </a:r>
            </a:p>
          </p:txBody>
        </p:sp>
        <p:sp>
          <p:nvSpPr>
            <p:cNvPr id="12" name="TextBox 12"/>
            <p:cNvSpPr txBox="1"/>
            <p:nvPr/>
          </p:nvSpPr>
          <p:spPr>
            <a:xfrm>
              <a:off x="7951470" y="3090862"/>
              <a:ext cx="61350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size</a:t>
              </a:r>
            </a:p>
          </p:txBody>
        </p:sp>
        <p:sp>
          <p:nvSpPr>
            <p:cNvPr id="13" name="TextBox 13"/>
            <p:cNvSpPr txBox="1"/>
            <p:nvPr/>
          </p:nvSpPr>
          <p:spPr>
            <a:xfrm>
              <a:off x="7951470" y="3490912"/>
              <a:ext cx="127987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ordering</a:t>
              </a:r>
            </a:p>
          </p:txBody>
        </p:sp>
        <p:sp>
          <p:nvSpPr>
            <p:cNvPr id="14" name="TextBox 14"/>
            <p:cNvSpPr txBox="1"/>
            <p:nvPr/>
          </p:nvSpPr>
          <p:spPr>
            <a:xfrm>
              <a:off x="7951470" y="3890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repetition</a:t>
              </a:r>
            </a:p>
          </p:txBody>
        </p:sp>
        <p:sp>
          <p:nvSpPr>
            <p:cNvPr id="15" name="TextBox 15"/>
            <p:cNvSpPr txBox="1"/>
            <p:nvPr/>
          </p:nvSpPr>
          <p:spPr>
            <a:xfrm>
              <a:off x="7951470" y="4291012"/>
              <a:ext cx="179479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distribution</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06</a:t>
            </a:r>
          </a:p>
        </p:txBody>
      </p:sp>
    </p:spTree>
  </p:cSld>
  <p:clrMapOvr>
    <a:masterClrMapping/>
  </p:clrMapOvr>
  <p:transition xmlns:p14="http://schemas.microsoft.com/office/powerpoint/2010/main" p14:dur="3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983649" cy="762000"/>
            <a:chOff x="514350" y="264795"/>
            <a:chExt cx="12983649" cy="762000"/>
          </a:xfrm>
        </p:grpSpPr>
        <p:sp>
          <p:nvSpPr>
            <p:cNvPr id="3" name="TextBox 3"/>
            <p:cNvSpPr txBox="1"/>
            <p:nvPr/>
          </p:nvSpPr>
          <p:spPr>
            <a:xfrm>
              <a:off x="514350" y="264795"/>
              <a:ext cx="1298364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system makes one decision before execution</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33500"/>
            <a:ext cx="7429500" cy="4476750"/>
            <a:chOff x="533400" y="1333500"/>
            <a:chExt cx="7429500" cy="4476750"/>
          </a:xfrm>
        </p:grpSpPr>
        <p:sp>
          <p:nvSpPr>
            <p:cNvPr id="6" name="Freeform 6"/>
            <p:cNvSpPr/>
            <p:nvPr/>
          </p:nvSpPr>
          <p:spPr>
            <a:xfrm>
              <a:off x="533400" y="1333500"/>
              <a:ext cx="7429500" cy="4476750"/>
            </a:xfrm>
            <a:custGeom>
              <a:avLst/>
              <a:gdLst/>
              <a:ahLst/>
              <a:cxnLst/>
              <a:rect l="l" t="t" r="r" b="b"/>
              <a:pathLst>
                <a:path w="7429500" h="4476750">
                  <a:moveTo>
                    <a:pt x="76200" y="0"/>
                  </a:moveTo>
                  <a:lnTo>
                    <a:pt x="7353300" y="0"/>
                  </a:lnTo>
                  <a:cubicBezTo>
                    <a:pt x="7395384" y="0"/>
                    <a:pt x="7429500" y="34116"/>
                    <a:pt x="7429500" y="76200"/>
                  </a:cubicBezTo>
                  <a:lnTo>
                    <a:pt x="7429500" y="4400550"/>
                  </a:lnTo>
                  <a:cubicBezTo>
                    <a:pt x="7429500" y="4442634"/>
                    <a:pt x="7395384" y="4476750"/>
                    <a:pt x="7353300" y="4476750"/>
                  </a:cubicBezTo>
                  <a:lnTo>
                    <a:pt x="76200" y="4476750"/>
                  </a:lnTo>
                  <a:cubicBezTo>
                    <a:pt x="34116" y="4476750"/>
                    <a:pt x="0" y="4442634"/>
                    <a:pt x="0" y="4400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57440" y="1524000"/>
              <a:ext cx="6781514" cy="4095750"/>
            </a:xfrm>
            <a:prstGeom prst="rect">
              <a:avLst/>
            </a:prstGeom>
          </p:spPr>
        </p:pic>
      </p:grpSp>
      <p:grpSp>
        <p:nvGrpSpPr>
          <p:cNvPr id="18" name="Group 18"/>
          <p:cNvGrpSpPr/>
          <p:nvPr/>
        </p:nvGrpSpPr>
        <p:grpSpPr>
          <a:xfrm>
            <a:off x="8334375" y="1619250"/>
            <a:ext cx="5797489" cy="3695700"/>
            <a:chOff x="8334375" y="1619250"/>
            <a:chExt cx="5797489" cy="3695700"/>
          </a:xfrm>
        </p:grpSpPr>
        <p:sp>
          <p:nvSpPr>
            <p:cNvPr id="9" name="Freeform 9"/>
            <p:cNvSpPr/>
            <p:nvPr/>
          </p:nvSpPr>
          <p:spPr>
            <a:xfrm>
              <a:off x="8334375" y="1619250"/>
              <a:ext cx="3000375" cy="3695700"/>
            </a:xfrm>
            <a:custGeom>
              <a:avLst/>
              <a:gdLst/>
              <a:ahLst/>
              <a:cxnLst/>
              <a:rect l="l" t="t" r="r" b="b"/>
              <a:pathLst>
                <a:path w="3000375" h="3695700">
                  <a:moveTo>
                    <a:pt x="76200" y="0"/>
                  </a:moveTo>
                  <a:lnTo>
                    <a:pt x="2924175" y="0"/>
                  </a:lnTo>
                  <a:cubicBezTo>
                    <a:pt x="2966259" y="0"/>
                    <a:pt x="3000375" y="34116"/>
                    <a:pt x="3000375" y="76200"/>
                  </a:cubicBezTo>
                  <a:lnTo>
                    <a:pt x="3000375" y="3619500"/>
                  </a:lnTo>
                  <a:cubicBezTo>
                    <a:pt x="3000375" y="3661584"/>
                    <a:pt x="2966259" y="3695700"/>
                    <a:pt x="2924175" y="3695700"/>
                  </a:cubicBezTo>
                  <a:lnTo>
                    <a:pt x="76200" y="3695700"/>
                  </a:lnTo>
                  <a:cubicBezTo>
                    <a:pt x="34116" y="3695700"/>
                    <a:pt x="0" y="3661584"/>
                    <a:pt x="0" y="3619500"/>
                  </a:cubicBezTo>
                  <a:lnTo>
                    <a:pt x="0" y="76200"/>
                  </a:lnTo>
                  <a:cubicBezTo>
                    <a:pt x="0" y="34116"/>
                    <a:pt x="34116" y="0"/>
                    <a:pt x="76200" y="0"/>
                  </a:cubicBezTo>
                  <a:close/>
                </a:path>
              </a:pathLst>
            </a:custGeom>
            <a:solidFill>
              <a:srgbClr val="FFFFFF"/>
            </a:solidFill>
            <a:ln w="9525">
              <a:solidFill>
                <a:srgbClr val="D8DEE8"/>
              </a:solidFill>
            </a:ln>
          </p:spPr>
        </p:sp>
        <p:grpSp>
          <p:nvGrpSpPr>
            <p:cNvPr id="13" name="Group 13"/>
            <p:cNvGrpSpPr/>
            <p:nvPr/>
          </p:nvGrpSpPr>
          <p:grpSpPr>
            <a:xfrm>
              <a:off x="8682037" y="2014537"/>
              <a:ext cx="314325" cy="314325"/>
              <a:chOff x="8682037" y="2014537"/>
              <a:chExt cx="314325" cy="314325"/>
            </a:xfrm>
          </p:grpSpPr>
          <p:sp>
            <p:nvSpPr>
              <p:cNvPr id="10" name="Freeform 10"/>
              <p:cNvSpPr/>
              <p:nvPr/>
            </p:nvSpPr>
            <p:spPr>
              <a:xfrm>
                <a:off x="8682037" y="2259012"/>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19050">
                <a:solidFill>
                  <a:srgbClr val="173B6D"/>
                </a:solidFill>
              </a:ln>
            </p:spPr>
          </p:sp>
          <p:sp>
            <p:nvSpPr>
              <p:cNvPr id="11" name="Freeform 11"/>
              <p:cNvSpPr/>
              <p:nvPr/>
            </p:nvSpPr>
            <p:spPr>
              <a:xfrm>
                <a:off x="8926512" y="2014537"/>
                <a:ext cx="69850" cy="69850"/>
              </a:xfrm>
              <a:custGeom>
                <a:avLst/>
                <a:gdLst/>
                <a:ahLst/>
                <a:cxnLst/>
                <a:rect l="l" t="t" r="r" b="b"/>
                <a:pathLst>
                  <a:path w="69850" h="69850">
                    <a:moveTo>
                      <a:pt x="34925" y="69850"/>
                    </a:moveTo>
                    <a:cubicBezTo>
                      <a:pt x="54213" y="69850"/>
                      <a:pt x="69850" y="54213"/>
                      <a:pt x="69850" y="34925"/>
                    </a:cubicBezTo>
                    <a:cubicBezTo>
                      <a:pt x="69850" y="15636"/>
                      <a:pt x="54213" y="0"/>
                      <a:pt x="34925" y="0"/>
                    </a:cubicBezTo>
                    <a:cubicBezTo>
                      <a:pt x="15636" y="0"/>
                      <a:pt x="0" y="15636"/>
                      <a:pt x="0" y="34925"/>
                    </a:cubicBezTo>
                    <a:cubicBezTo>
                      <a:pt x="0" y="54213"/>
                      <a:pt x="15636" y="69850"/>
                      <a:pt x="34925" y="69850"/>
                    </a:cubicBezTo>
                  </a:path>
                </a:pathLst>
              </a:custGeom>
              <a:noFill/>
              <a:ln w="19050">
                <a:solidFill>
                  <a:srgbClr val="173B6D"/>
                </a:solidFill>
              </a:ln>
            </p:spPr>
          </p:sp>
          <p:sp>
            <p:nvSpPr>
              <p:cNvPr id="12" name="Freeform 12"/>
              <p:cNvSpPr/>
              <p:nvPr/>
            </p:nvSpPr>
            <p:spPr>
              <a:xfrm>
                <a:off x="8716962" y="2049462"/>
                <a:ext cx="261937" cy="244475"/>
              </a:xfrm>
              <a:custGeom>
                <a:avLst/>
                <a:gdLst/>
                <a:ahLst/>
                <a:cxnLst/>
                <a:rect l="l" t="t" r="r" b="b"/>
                <a:pathLst>
                  <a:path w="261937" h="244475">
                    <a:moveTo>
                      <a:pt x="104775" y="244475"/>
                    </a:moveTo>
                    <a:lnTo>
                      <a:pt x="200818" y="244475"/>
                    </a:lnTo>
                    <a:cubicBezTo>
                      <a:pt x="234573" y="244475"/>
                      <a:pt x="261937" y="217111"/>
                      <a:pt x="261937" y="183356"/>
                    </a:cubicBezTo>
                    <a:cubicBezTo>
                      <a:pt x="261937" y="149601"/>
                      <a:pt x="234573" y="122237"/>
                      <a:pt x="200818" y="122237"/>
                    </a:cubicBezTo>
                    <a:lnTo>
                      <a:pt x="61119" y="122237"/>
                    </a:lnTo>
                    <a:cubicBezTo>
                      <a:pt x="27364" y="122237"/>
                      <a:pt x="0" y="94874"/>
                      <a:pt x="0" y="61119"/>
                    </a:cubicBezTo>
                    <a:cubicBezTo>
                      <a:pt x="0" y="27364"/>
                      <a:pt x="27364" y="0"/>
                      <a:pt x="61119" y="0"/>
                    </a:cubicBezTo>
                    <a:lnTo>
                      <a:pt x="139700" y="0"/>
                    </a:lnTo>
                  </a:path>
                </a:pathLst>
              </a:custGeom>
              <a:noFill/>
              <a:ln w="19050">
                <a:solidFill>
                  <a:srgbClr val="173B6D"/>
                </a:solidFill>
              </a:ln>
            </p:spPr>
          </p:sp>
        </p:grpSp>
        <p:sp>
          <p:nvSpPr>
            <p:cNvPr id="14" name="TextBox 14"/>
            <p:cNvSpPr txBox="1"/>
            <p:nvPr/>
          </p:nvSpPr>
          <p:spPr>
            <a:xfrm>
              <a:off x="8617458" y="2484120"/>
              <a:ext cx="1445971"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features</a:t>
              </a:r>
            </a:p>
          </p:txBody>
        </p:sp>
        <p:sp>
          <p:nvSpPr>
            <p:cNvPr id="15" name="TextBox 15"/>
            <p:cNvSpPr txBox="1"/>
            <p:nvPr/>
          </p:nvSpPr>
          <p:spPr>
            <a:xfrm>
              <a:off x="8617458" y="2979420"/>
              <a:ext cx="1298448"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XGBoost</a:t>
              </a:r>
            </a:p>
          </p:txBody>
        </p:sp>
        <p:sp>
          <p:nvSpPr>
            <p:cNvPr id="16" name="TextBox 16"/>
            <p:cNvSpPr txBox="1"/>
            <p:nvPr/>
          </p:nvSpPr>
          <p:spPr>
            <a:xfrm>
              <a:off x="8617458" y="3474720"/>
              <a:ext cx="3772205"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one of three algorithms</a:t>
              </a:r>
            </a:p>
          </p:txBody>
        </p:sp>
        <p:sp>
          <p:nvSpPr>
            <p:cNvPr id="17" name="TextBox 17"/>
            <p:cNvSpPr txBox="1"/>
            <p:nvPr/>
          </p:nvSpPr>
          <p:spPr>
            <a:xfrm>
              <a:off x="8621268" y="4584382"/>
              <a:ext cx="5510596"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 multiple sorting runs are used at decision time.</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07</a:t>
            </a:r>
          </a:p>
        </p:txBody>
      </p:sp>
    </p:spTree>
  </p:cSld>
  <p:clrMapOvr>
    <a:masterClrMapping/>
  </p:clrMapOvr>
  <p:transition xmlns:p14="http://schemas.microsoft.com/office/powerpoint/2010/main" p14:dur="3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8682411" cy="1170051"/>
            <a:chOff x="515874" y="237172"/>
            <a:chExt cx="8682411" cy="1170051"/>
          </a:xfrm>
        </p:grpSpPr>
        <p:sp>
          <p:nvSpPr>
            <p:cNvPr id="3" name="TextBox 3"/>
            <p:cNvSpPr txBox="1"/>
            <p:nvPr/>
          </p:nvSpPr>
          <p:spPr>
            <a:xfrm>
              <a:off x="515874" y="237172"/>
              <a:ext cx="8682411"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algorithms are different enough</a:t>
              </a:r>
            </a:p>
          </p:txBody>
        </p:sp>
        <p:sp>
          <p:nvSpPr>
            <p:cNvPr id="4" name="TextBox 4"/>
            <p:cNvSpPr txBox="1"/>
            <p:nvPr/>
          </p:nvSpPr>
          <p:spPr>
            <a:xfrm>
              <a:off x="515874" y="732472"/>
              <a:ext cx="583821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to make selection useful</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9" name="Group 19"/>
          <p:cNvGrpSpPr/>
          <p:nvPr/>
        </p:nvGrpSpPr>
        <p:grpSpPr>
          <a:xfrm>
            <a:off x="800100" y="1809750"/>
            <a:ext cx="10591800" cy="2857500"/>
            <a:chOff x="800100" y="1809750"/>
            <a:chExt cx="10591800" cy="2857500"/>
          </a:xfrm>
        </p:grpSpPr>
        <p:sp>
          <p:nvSpPr>
            <p:cNvPr id="7" name="Freeform 7"/>
            <p:cNvSpPr/>
            <p:nvPr/>
          </p:nvSpPr>
          <p:spPr>
            <a:xfrm>
              <a:off x="8001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128522" y="2121218"/>
              <a:ext cx="192235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introsort</a:t>
              </a:r>
            </a:p>
          </p:txBody>
        </p:sp>
        <p:sp>
          <p:nvSpPr>
            <p:cNvPr id="9" name="TextBox 9"/>
            <p:cNvSpPr txBox="1"/>
            <p:nvPr/>
          </p:nvSpPr>
          <p:spPr>
            <a:xfrm>
              <a:off x="1132332" y="2840355"/>
              <a:ext cx="3003842"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hybrid quicksort path</a:t>
              </a:r>
            </a:p>
          </p:txBody>
        </p:sp>
        <p:sp>
          <p:nvSpPr>
            <p:cNvPr id="10" name="TextBox 10"/>
            <p:cNvSpPr txBox="1"/>
            <p:nvPr/>
          </p:nvSpPr>
          <p:spPr>
            <a:xfrm>
              <a:off x="1132332" y="3259455"/>
              <a:ext cx="338549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strong average behavior</a:t>
              </a:r>
            </a:p>
          </p:txBody>
        </p:sp>
        <p:sp>
          <p:nvSpPr>
            <p:cNvPr id="11" name="Freeform 11"/>
            <p:cNvSpPr/>
            <p:nvPr/>
          </p:nvSpPr>
          <p:spPr>
            <a:xfrm>
              <a:off x="447675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4805172" y="2121218"/>
              <a:ext cx="180149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heapsort</a:t>
              </a:r>
            </a:p>
          </p:txBody>
        </p:sp>
        <p:sp>
          <p:nvSpPr>
            <p:cNvPr id="13" name="TextBox 13"/>
            <p:cNvSpPr txBox="1"/>
            <p:nvPr/>
          </p:nvSpPr>
          <p:spPr>
            <a:xfrm>
              <a:off x="4808982" y="2840355"/>
              <a:ext cx="344203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stable worst-case bound</a:t>
              </a:r>
            </a:p>
          </p:txBody>
        </p:sp>
        <p:sp>
          <p:nvSpPr>
            <p:cNvPr id="14" name="TextBox 14"/>
            <p:cNvSpPr txBox="1"/>
            <p:nvPr/>
          </p:nvSpPr>
          <p:spPr>
            <a:xfrm>
              <a:off x="4808982" y="3259455"/>
              <a:ext cx="3116067"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often the SBS baseline</a:t>
              </a:r>
            </a:p>
          </p:txBody>
        </p:sp>
        <p:sp>
          <p:nvSpPr>
            <p:cNvPr id="15" name="Freeform 15"/>
            <p:cNvSpPr/>
            <p:nvPr/>
          </p:nvSpPr>
          <p:spPr>
            <a:xfrm>
              <a:off x="81534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19050">
              <a:solidFill>
                <a:srgbClr val="0F766E"/>
              </a:solidFill>
            </a:ln>
          </p:spPr>
        </p:sp>
        <p:sp>
          <p:nvSpPr>
            <p:cNvPr id="16" name="TextBox 16"/>
            <p:cNvSpPr txBox="1"/>
            <p:nvPr/>
          </p:nvSpPr>
          <p:spPr>
            <a:xfrm>
              <a:off x="8481822" y="2121218"/>
              <a:ext cx="1559787"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timsort</a:t>
              </a:r>
            </a:p>
          </p:txBody>
        </p:sp>
        <p:sp>
          <p:nvSpPr>
            <p:cNvPr id="17" name="TextBox 17"/>
            <p:cNvSpPr txBox="1"/>
            <p:nvPr/>
          </p:nvSpPr>
          <p:spPr>
            <a:xfrm>
              <a:off x="8485632" y="2840355"/>
              <a:ext cx="253738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uses existing runs</a:t>
              </a:r>
            </a:p>
          </p:txBody>
        </p:sp>
        <p:sp>
          <p:nvSpPr>
            <p:cNvPr id="18" name="TextBox 18"/>
            <p:cNvSpPr txBox="1"/>
            <p:nvPr/>
          </p:nvSpPr>
          <p:spPr>
            <a:xfrm>
              <a:off x="8485632" y="3259455"/>
              <a:ext cx="270700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structurally visible</a:t>
              </a:r>
            </a:p>
          </p:txBody>
        </p:sp>
      </p:grpSp>
      <p:grpSp>
        <p:nvGrpSpPr>
          <p:cNvPr id="21" name="Group 21"/>
          <p:cNvGrpSpPr/>
          <p:nvPr/>
        </p:nvGrpSpPr>
        <p:grpSpPr>
          <a:xfrm>
            <a:off x="787146" y="5344478"/>
            <a:ext cx="12365159" cy="498729"/>
            <a:chOff x="787146" y="5344478"/>
            <a:chExt cx="12365159" cy="498729"/>
          </a:xfrm>
        </p:grpSpPr>
        <p:sp>
          <p:nvSpPr>
            <p:cNvPr id="20" name="TextBox 20"/>
            <p:cNvSpPr txBox="1"/>
            <p:nvPr/>
          </p:nvSpPr>
          <p:spPr>
            <a:xfrm>
              <a:off x="787146" y="5344478"/>
              <a:ext cx="12365159"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portfolio is small enough to defend and different enough to learn.</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08</a:t>
            </a:r>
          </a:p>
        </p:txBody>
      </p:sp>
    </p:spTree>
  </p:cSld>
  <p:clrMapOvr>
    <a:masterClrMapping/>
  </p:clrMapOvr>
  <p:transition xmlns:p14="http://schemas.microsoft.com/office/powerpoint/2010/main" p14:dur="3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10287539" cy="1121664"/>
            <a:chOff x="516636" y="196215"/>
            <a:chExt cx="10287539" cy="1121664"/>
          </a:xfrm>
        </p:grpSpPr>
        <p:sp>
          <p:nvSpPr>
            <p:cNvPr id="3" name="TextBox 3"/>
            <p:cNvSpPr txBox="1"/>
            <p:nvPr/>
          </p:nvSpPr>
          <p:spPr>
            <a:xfrm>
              <a:off x="516636" y="196215"/>
              <a:ext cx="1028753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Real arrays give the selector the structures</a:t>
              </a:r>
            </a:p>
          </p:txBody>
        </p:sp>
        <p:sp>
          <p:nvSpPr>
            <p:cNvPr id="4" name="TextBox 4"/>
            <p:cNvSpPr txBox="1"/>
            <p:nvPr/>
          </p:nvSpPr>
          <p:spPr>
            <a:xfrm>
              <a:off x="516636" y="672465"/>
              <a:ext cx="504795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synthetic data missed</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314450"/>
            <a:ext cx="7239000" cy="4343400"/>
            <a:chOff x="533400" y="1314450"/>
            <a:chExt cx="7239000" cy="4343400"/>
          </a:xfrm>
        </p:grpSpPr>
        <p:sp>
          <p:nvSpPr>
            <p:cNvPr id="7" name="Freeform 7"/>
            <p:cNvSpPr/>
            <p:nvPr/>
          </p:nvSpPr>
          <p:spPr>
            <a:xfrm>
              <a:off x="533400" y="1314450"/>
              <a:ext cx="7239000" cy="4343400"/>
            </a:xfrm>
            <a:custGeom>
              <a:avLst/>
              <a:gdLst/>
              <a:ahLst/>
              <a:cxnLst/>
              <a:rect l="l" t="t" r="r" b="b"/>
              <a:pathLst>
                <a:path w="7239000" h="4343400">
                  <a:moveTo>
                    <a:pt x="76200" y="0"/>
                  </a:moveTo>
                  <a:lnTo>
                    <a:pt x="7162800" y="0"/>
                  </a:lnTo>
                  <a:cubicBezTo>
                    <a:pt x="7204884" y="0"/>
                    <a:pt x="7239000" y="34116"/>
                    <a:pt x="7239000" y="76200"/>
                  </a:cubicBezTo>
                  <a:lnTo>
                    <a:pt x="7239000" y="4267200"/>
                  </a:lnTo>
                  <a:cubicBezTo>
                    <a:pt x="7239000" y="4309284"/>
                    <a:pt x="7204884" y="4343400"/>
                    <a:pt x="7162800" y="4343400"/>
                  </a:cubicBezTo>
                  <a:lnTo>
                    <a:pt x="76200" y="4343400"/>
                  </a:lnTo>
                  <a:cubicBezTo>
                    <a:pt x="34116" y="4343400"/>
                    <a:pt x="0" y="4309284"/>
                    <a:pt x="0" y="42672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723900" y="1584960"/>
              <a:ext cx="6858000" cy="3802475"/>
            </a:xfrm>
            <a:prstGeom prst="rect">
              <a:avLst/>
            </a:prstGeom>
          </p:spPr>
        </p:pic>
      </p:grpSp>
      <p:grpSp>
        <p:nvGrpSpPr>
          <p:cNvPr id="17" name="Group 17"/>
          <p:cNvGrpSpPr/>
          <p:nvPr/>
        </p:nvGrpSpPr>
        <p:grpSpPr>
          <a:xfrm>
            <a:off x="8172450" y="1360170"/>
            <a:ext cx="2809646" cy="3439859"/>
            <a:chOff x="8172450" y="1360170"/>
            <a:chExt cx="2809646" cy="3439859"/>
          </a:xfrm>
        </p:grpSpPr>
        <p:sp>
          <p:nvSpPr>
            <p:cNvPr id="10" name="TextBox 10"/>
            <p:cNvSpPr txBox="1"/>
            <p:nvPr/>
          </p:nvSpPr>
          <p:spPr>
            <a:xfrm>
              <a:off x="8172450" y="1360170"/>
              <a:ext cx="241727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1.18M</a:t>
              </a:r>
            </a:p>
          </p:txBody>
        </p:sp>
        <p:sp>
          <p:nvSpPr>
            <p:cNvPr id="11" name="TextBox 11"/>
            <p:cNvSpPr txBox="1"/>
            <p:nvPr/>
          </p:nvSpPr>
          <p:spPr>
            <a:xfrm>
              <a:off x="8201406" y="2148840"/>
              <a:ext cx="2780690" cy="352044"/>
            </a:xfrm>
            <a:prstGeom prst="rect">
              <a:avLst/>
            </a:prstGeom>
            <a:noFill/>
            <a:ln>
              <a:noFill/>
            </a:ln>
          </p:spPr>
          <p:txBody>
            <a:bodyPr wrap="none" lIns="0" tIns="0" rIns="0" bIns="0" anchor="t" anchorCtr="0">
              <a:spAutoFit/>
            </a:bodyPr>
            <a:lstStyle/>
            <a:p>
              <a:pPr algn="l"/>
              <a:r>
                <a:rPr lang="en-US" sz="1800" dirty="0">
                  <a:solidFill>
                    <a:srgbClr val="586174"/>
                  </a:solidFill>
                  <a:latin typeface="Arial"/>
                  <a:ea typeface="Arial"/>
                  <a:cs typeface="Arial"/>
                </a:rPr>
                <a:t>arrays before filtering</a:t>
              </a:r>
            </a:p>
          </p:txBody>
        </p:sp>
        <p:sp>
          <p:nvSpPr>
            <p:cNvPr id="12" name="TextBox 12"/>
            <p:cNvSpPr txBox="1"/>
            <p:nvPr/>
          </p:nvSpPr>
          <p:spPr>
            <a:xfrm>
              <a:off x="8172450" y="2579370"/>
              <a:ext cx="457912"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5</a:t>
              </a:r>
            </a:p>
          </p:txBody>
        </p:sp>
        <p:sp>
          <p:nvSpPr>
            <p:cNvPr id="13" name="TextBox 13"/>
            <p:cNvSpPr txBox="1"/>
            <p:nvPr/>
          </p:nvSpPr>
          <p:spPr>
            <a:xfrm>
              <a:off x="8694420" y="2862262"/>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domains</a:t>
              </a:r>
            </a:p>
          </p:txBody>
        </p:sp>
        <p:sp>
          <p:nvSpPr>
            <p:cNvPr id="14" name="TextBox 14"/>
            <p:cNvSpPr txBox="1"/>
            <p:nvPr/>
          </p:nvSpPr>
          <p:spPr>
            <a:xfrm>
              <a:off x="8181594" y="3694748"/>
              <a:ext cx="1682980"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telemetry</a:t>
              </a:r>
            </a:p>
          </p:txBody>
        </p:sp>
        <p:sp>
          <p:nvSpPr>
            <p:cNvPr id="15" name="TextBox 15"/>
            <p:cNvSpPr txBox="1"/>
            <p:nvPr/>
          </p:nvSpPr>
          <p:spPr>
            <a:xfrm>
              <a:off x="8181594" y="4056698"/>
              <a:ext cx="183112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stock, crypto</a:t>
              </a:r>
            </a:p>
          </p:txBody>
        </p:sp>
        <p:sp>
          <p:nvSpPr>
            <p:cNvPr id="16" name="TextBox 16"/>
            <p:cNvSpPr txBox="1"/>
            <p:nvPr/>
          </p:nvSpPr>
          <p:spPr>
            <a:xfrm>
              <a:off x="8181594" y="4418648"/>
              <a:ext cx="274990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earthquake, weather</a:t>
              </a:r>
            </a:p>
          </p:txBody>
        </p:sp>
      </p:grpSp>
      <p:grpSp>
        <p:nvGrpSpPr>
          <p:cNvPr id="20" name="Group 20"/>
          <p:cNvGrpSpPr/>
          <p:nvPr/>
        </p:nvGrpSpPr>
        <p:grpSpPr>
          <a:xfrm>
            <a:off x="526542" y="6045518"/>
            <a:ext cx="10896752" cy="536638"/>
            <a:chOff x="526542" y="6045518"/>
            <a:chExt cx="10896752" cy="536638"/>
          </a:xfrm>
        </p:grpSpPr>
        <p:sp>
          <p:nvSpPr>
            <p:cNvPr id="18" name="TextBox 18"/>
            <p:cNvSpPr txBox="1"/>
            <p:nvPr/>
          </p:nvSpPr>
          <p:spPr>
            <a:xfrm>
              <a:off x="526542" y="6045518"/>
              <a:ext cx="4897396"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M5_dataset_statistics</a:t>
              </a:r>
            </a:p>
          </p:txBody>
        </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09</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9658966" cy="1170051"/>
            <a:chOff x="515874" y="237172"/>
            <a:chExt cx="9658966" cy="1170051"/>
          </a:xfrm>
        </p:grpSpPr>
        <p:sp>
          <p:nvSpPr>
            <p:cNvPr id="3" name="TextBox 3"/>
            <p:cNvSpPr txBox="1"/>
            <p:nvPr/>
          </p:nvSpPr>
          <p:spPr>
            <a:xfrm>
              <a:off x="515874" y="237172"/>
              <a:ext cx="965896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labels come from measured runtime,</a:t>
              </a:r>
            </a:p>
          </p:txBody>
        </p:sp>
        <p:sp>
          <p:nvSpPr>
            <p:cNvPr id="4" name="TextBox 4"/>
            <p:cNvSpPr txBox="1"/>
            <p:nvPr/>
          </p:nvSpPr>
          <p:spPr>
            <a:xfrm>
              <a:off x="515874" y="732472"/>
              <a:ext cx="261965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opinion</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0" name="Group 20"/>
          <p:cNvGrpSpPr/>
          <p:nvPr/>
        </p:nvGrpSpPr>
        <p:grpSpPr>
          <a:xfrm>
            <a:off x="762000" y="1733550"/>
            <a:ext cx="10668000" cy="1257300"/>
            <a:chOff x="762000" y="1733550"/>
            <a:chExt cx="10668000" cy="1257300"/>
          </a:xfrm>
        </p:grpSpPr>
        <p:sp>
          <p:nvSpPr>
            <p:cNvPr id="7" name="Freeform 7"/>
            <p:cNvSpPr/>
            <p:nvPr/>
          </p:nvSpPr>
          <p:spPr>
            <a:xfrm>
              <a:off x="76200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055370" y="2043112"/>
              <a:ext cx="228925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Generate array</a:t>
              </a:r>
            </a:p>
          </p:txBody>
        </p:sp>
        <p:sp>
          <p:nvSpPr>
            <p:cNvPr id="9" name="TextBox 9"/>
            <p:cNvSpPr txBox="1"/>
            <p:nvPr/>
          </p:nvSpPr>
          <p:spPr>
            <a:xfrm>
              <a:off x="1059180" y="2466975"/>
              <a:ext cx="27917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real domain plus transforms</a:t>
              </a:r>
            </a:p>
          </p:txBody>
        </p:sp>
        <p:sp>
          <p:nvSpPr>
            <p:cNvPr id="10" name="Line 10"/>
            <p:cNvSpPr/>
            <p:nvPr/>
          </p:nvSpPr>
          <p:spPr>
            <a:xfrm>
              <a:off x="339090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1" name="Polygon 11"/>
            <p:cNvSpPr/>
            <p:nvPr/>
          </p:nvSpPr>
          <p:spPr>
            <a:xfrm>
              <a:off x="430530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2" name="Freeform 12"/>
            <p:cNvSpPr/>
            <p:nvPr/>
          </p:nvSpPr>
          <p:spPr>
            <a:xfrm>
              <a:off x="4762500" y="1733550"/>
              <a:ext cx="2667000" cy="1257300"/>
            </a:xfrm>
            <a:custGeom>
              <a:avLst/>
              <a:gdLst/>
              <a:ahLst/>
              <a:cxnLst/>
              <a:rect l="l" t="t" r="r" b="b"/>
              <a:pathLst>
                <a:path w="2667000" h="1257300">
                  <a:moveTo>
                    <a:pt x="76200" y="0"/>
                  </a:moveTo>
                  <a:lnTo>
                    <a:pt x="2590800" y="0"/>
                  </a:lnTo>
                  <a:cubicBezTo>
                    <a:pt x="2632884" y="0"/>
                    <a:pt x="2667000" y="34116"/>
                    <a:pt x="2667000" y="76200"/>
                  </a:cubicBezTo>
                  <a:lnTo>
                    <a:pt x="2667000" y="1181100"/>
                  </a:lnTo>
                  <a:cubicBezTo>
                    <a:pt x="2667000" y="1223184"/>
                    <a:pt x="2632884" y="1257300"/>
                    <a:pt x="259080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5055870" y="2043112"/>
              <a:ext cx="295552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Benchmark all three</a:t>
              </a:r>
            </a:p>
          </p:txBody>
        </p:sp>
        <p:sp>
          <p:nvSpPr>
            <p:cNvPr id="14" name="TextBox 14"/>
            <p:cNvSpPr txBox="1"/>
            <p:nvPr/>
          </p:nvSpPr>
          <p:spPr>
            <a:xfrm>
              <a:off x="5059680" y="2466975"/>
              <a:ext cx="271100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same array, measured time</a:t>
              </a:r>
            </a:p>
          </p:txBody>
        </p:sp>
        <p:sp>
          <p:nvSpPr>
            <p:cNvPr id="15" name="Line 15"/>
            <p:cNvSpPr/>
            <p:nvPr/>
          </p:nvSpPr>
          <p:spPr>
            <a:xfrm>
              <a:off x="767715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6" name="Polygon 16"/>
            <p:cNvSpPr/>
            <p:nvPr/>
          </p:nvSpPr>
          <p:spPr>
            <a:xfrm>
              <a:off x="859155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04875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342120" y="2043112"/>
              <a:ext cx="204661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Label fastest</a:t>
              </a:r>
            </a:p>
          </p:txBody>
        </p:sp>
        <p:sp>
          <p:nvSpPr>
            <p:cNvPr id="19" name="TextBox 19"/>
            <p:cNvSpPr txBox="1"/>
            <p:nvPr/>
          </p:nvSpPr>
          <p:spPr>
            <a:xfrm>
              <a:off x="9345930" y="2466975"/>
              <a:ext cx="19234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with noise filtering</a:t>
              </a:r>
            </a:p>
          </p:txBody>
        </p:sp>
      </p:grpSp>
      <p:grpSp>
        <p:nvGrpSpPr>
          <p:cNvPr id="27" name="Group 27"/>
          <p:cNvGrpSpPr/>
          <p:nvPr/>
        </p:nvGrpSpPr>
        <p:grpSpPr>
          <a:xfrm>
            <a:off x="845820" y="3948112"/>
            <a:ext cx="8718080" cy="440055"/>
            <a:chOff x="845820" y="3948112"/>
            <a:chExt cx="8718080" cy="440055"/>
          </a:xfrm>
        </p:grpSpPr>
        <p:sp>
          <p:nvSpPr>
            <p:cNvPr id="21" name="TextBox 21"/>
            <p:cNvSpPr txBox="1"/>
            <p:nvPr/>
          </p:nvSpPr>
          <p:spPr>
            <a:xfrm>
              <a:off x="845820" y="3948112"/>
              <a:ext cx="268390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Transforms used:</a:t>
              </a:r>
            </a:p>
          </p:txBody>
        </p:sp>
        <p:sp>
          <p:nvSpPr>
            <p:cNvPr id="22" name="TextBox 22"/>
            <p:cNvSpPr txBox="1"/>
            <p:nvPr/>
          </p:nvSpPr>
          <p:spPr>
            <a:xfrm>
              <a:off x="3131820" y="3948112"/>
              <a:ext cx="644538"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RAW</a:t>
              </a:r>
            </a:p>
          </p:txBody>
        </p:sp>
        <p:sp>
          <p:nvSpPr>
            <p:cNvPr id="23" name="TextBox 23"/>
            <p:cNvSpPr txBox="1"/>
            <p:nvPr/>
          </p:nvSpPr>
          <p:spPr>
            <a:xfrm>
              <a:off x="4274820" y="3948112"/>
              <a:ext cx="577329"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REV</a:t>
              </a:r>
            </a:p>
          </p:txBody>
        </p:sp>
        <p:sp>
          <p:nvSpPr>
            <p:cNvPr id="24" name="TextBox 24"/>
            <p:cNvSpPr txBox="1"/>
            <p:nvPr/>
          </p:nvSpPr>
          <p:spPr>
            <a:xfrm>
              <a:off x="5322570" y="3948112"/>
              <a:ext cx="762152"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SHUF</a:t>
              </a:r>
            </a:p>
          </p:txBody>
        </p:sp>
        <p:sp>
          <p:nvSpPr>
            <p:cNvPr id="25" name="TextBox 25"/>
            <p:cNvSpPr txBox="1"/>
            <p:nvPr/>
          </p:nvSpPr>
          <p:spPr>
            <a:xfrm>
              <a:off x="6560820" y="3948112"/>
              <a:ext cx="1114997"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QBIN50</a:t>
              </a:r>
            </a:p>
          </p:txBody>
        </p:sp>
        <p:sp>
          <p:nvSpPr>
            <p:cNvPr id="26" name="TextBox 26"/>
            <p:cNvSpPr txBox="1"/>
            <p:nvPr/>
          </p:nvSpPr>
          <p:spPr>
            <a:xfrm>
              <a:off x="8180070" y="3948112"/>
              <a:ext cx="1383830"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PSORT10</a:t>
              </a:r>
            </a:p>
          </p:txBody>
        </p:sp>
      </p:grpSp>
      <p:grpSp>
        <p:nvGrpSpPr>
          <p:cNvPr id="30" name="Group 30"/>
          <p:cNvGrpSpPr/>
          <p:nvPr/>
        </p:nvGrpSpPr>
        <p:grpSpPr>
          <a:xfrm>
            <a:off x="845820" y="4900612"/>
            <a:ext cx="6415459" cy="840105"/>
            <a:chOff x="845820" y="4900612"/>
            <a:chExt cx="6415459" cy="840105"/>
          </a:xfrm>
        </p:grpSpPr>
        <p:sp>
          <p:nvSpPr>
            <p:cNvPr id="28" name="TextBox 28"/>
            <p:cNvSpPr txBox="1"/>
            <p:nvPr/>
          </p:nvSpPr>
          <p:spPr>
            <a:xfrm>
              <a:off x="845820" y="4900612"/>
              <a:ext cx="6410495"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model learns from observed winners,</a:t>
              </a:r>
            </a:p>
          </p:txBody>
        </p:sp>
        <p:sp>
          <p:nvSpPr>
            <p:cNvPr id="29" name="TextBox 29"/>
            <p:cNvSpPr txBox="1"/>
            <p:nvPr/>
          </p:nvSpPr>
          <p:spPr>
            <a:xfrm>
              <a:off x="845820" y="5300662"/>
              <a:ext cx="6415459"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not from a manual rule about algorithms.</a:t>
              </a:r>
            </a:p>
          </p:txBody>
        </p:sp>
      </p:grpSp>
      <p:sp>
        <p:nvSpPr>
          <p:cNvPr id="31" name="TextBox 3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10</a:t>
            </a:r>
          </a:p>
        </p:txBody>
      </p:sp>
    </p:spTree>
  </p:cSld>
  <p:clrMapOvr>
    <a:masterClrMapping/>
  </p:clrMapOvr>
  <p:transition xmlns:p14="http://schemas.microsoft.com/office/powerpoint/2010/main" p14:dur="3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3314878" cy="762000"/>
            <a:chOff x="514350" y="321945"/>
            <a:chExt cx="13314878" cy="762000"/>
          </a:xfrm>
        </p:grpSpPr>
        <p:sp>
          <p:nvSpPr>
            <p:cNvPr id="3" name="TextBox 3"/>
            <p:cNvSpPr txBox="1"/>
            <p:nvPr/>
          </p:nvSpPr>
          <p:spPr>
            <a:xfrm>
              <a:off x="514350" y="321945"/>
              <a:ext cx="1331487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features describe structure, not raw values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8" name="Group 18"/>
          <p:cNvGrpSpPr/>
          <p:nvPr/>
        </p:nvGrpSpPr>
        <p:grpSpPr>
          <a:xfrm>
            <a:off x="857250" y="1619250"/>
            <a:ext cx="11196485" cy="3505200"/>
            <a:chOff x="857250" y="1619250"/>
            <a:chExt cx="11196485" cy="3505200"/>
          </a:xfrm>
        </p:grpSpPr>
        <p:sp>
          <p:nvSpPr>
            <p:cNvPr id="6" name="Freeform 6"/>
            <p:cNvSpPr/>
            <p:nvPr/>
          </p:nvSpPr>
          <p:spPr>
            <a:xfrm>
              <a:off x="85725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187196" y="1867852"/>
              <a:ext cx="73872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Size</a:t>
              </a:r>
            </a:p>
          </p:txBody>
        </p:sp>
        <p:sp>
          <p:nvSpPr>
            <p:cNvPr id="8" name="TextBox 8"/>
            <p:cNvSpPr txBox="1"/>
            <p:nvPr/>
          </p:nvSpPr>
          <p:spPr>
            <a:xfrm>
              <a:off x="1190244" y="2437448"/>
              <a:ext cx="159486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length_norm</a:t>
              </a:r>
            </a:p>
          </p:txBody>
        </p:sp>
        <p:sp>
          <p:nvSpPr>
            <p:cNvPr id="9" name="Freeform 9"/>
            <p:cNvSpPr/>
            <p:nvPr/>
          </p:nvSpPr>
          <p:spPr>
            <a:xfrm>
              <a:off x="647700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6806946" y="1867852"/>
              <a:ext cx="1838335"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Repetition</a:t>
              </a:r>
            </a:p>
          </p:txBody>
        </p:sp>
        <p:sp>
          <p:nvSpPr>
            <p:cNvPr id="11" name="TextBox 11"/>
            <p:cNvSpPr txBox="1"/>
            <p:nvPr/>
          </p:nvSpPr>
          <p:spPr>
            <a:xfrm>
              <a:off x="6809994" y="2437448"/>
              <a:ext cx="4902479"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duplicate_ratio, top frequency ratios</a:t>
              </a:r>
            </a:p>
          </p:txBody>
        </p:sp>
        <p:sp>
          <p:nvSpPr>
            <p:cNvPr id="12" name="Freeform 12"/>
            <p:cNvSpPr/>
            <p:nvPr/>
          </p:nvSpPr>
          <p:spPr>
            <a:xfrm>
              <a:off x="85725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1187196" y="3849052"/>
              <a:ext cx="160493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Ordering</a:t>
              </a:r>
            </a:p>
          </p:txBody>
        </p:sp>
        <p:sp>
          <p:nvSpPr>
            <p:cNvPr id="14" name="TextBox 14"/>
            <p:cNvSpPr txBox="1"/>
            <p:nvPr/>
          </p:nvSpPr>
          <p:spPr>
            <a:xfrm>
              <a:off x="1190244" y="4418648"/>
              <a:ext cx="4968107"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runs, inversions, adjacent sortedness</a:t>
              </a:r>
            </a:p>
          </p:txBody>
        </p:sp>
        <p:sp>
          <p:nvSpPr>
            <p:cNvPr id="15" name="Freeform 15"/>
            <p:cNvSpPr/>
            <p:nvPr/>
          </p:nvSpPr>
          <p:spPr>
            <a:xfrm>
              <a:off x="647700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6" name="TextBox 16"/>
            <p:cNvSpPr txBox="1"/>
            <p:nvPr/>
          </p:nvSpPr>
          <p:spPr>
            <a:xfrm>
              <a:off x="6806946" y="3849052"/>
              <a:ext cx="214445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Distribution</a:t>
              </a:r>
            </a:p>
          </p:txBody>
        </p:sp>
        <p:sp>
          <p:nvSpPr>
            <p:cNvPr id="17" name="TextBox 17"/>
            <p:cNvSpPr txBox="1"/>
            <p:nvPr/>
          </p:nvSpPr>
          <p:spPr>
            <a:xfrm>
              <a:off x="6809994" y="4418648"/>
              <a:ext cx="5243741"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entropy, skewness, dispersion, outliers</a:t>
              </a:r>
            </a:p>
          </p:txBody>
        </p:sp>
      </p:grpSp>
      <p:grpSp>
        <p:nvGrpSpPr>
          <p:cNvPr id="20" name="Group 20"/>
          <p:cNvGrpSpPr/>
          <p:nvPr/>
        </p:nvGrpSpPr>
        <p:grpSpPr>
          <a:xfrm>
            <a:off x="845820" y="5662612"/>
            <a:ext cx="10009308" cy="440055"/>
            <a:chOff x="845820" y="5662612"/>
            <a:chExt cx="10009308" cy="440055"/>
          </a:xfrm>
        </p:grpSpPr>
        <p:sp>
          <p:nvSpPr>
            <p:cNvPr id="19" name="TextBox 19"/>
            <p:cNvSpPr txBox="1"/>
            <p:nvPr/>
          </p:nvSpPr>
          <p:spPr>
            <a:xfrm>
              <a:off x="845820" y="5662612"/>
              <a:ext cx="10009308" cy="440055"/>
            </a:xfrm>
            <a:prstGeom prst="rect">
              <a:avLst/>
            </a:prstGeom>
            <a:noFill/>
            <a:ln>
              <a:noFill/>
            </a:ln>
          </p:spPr>
          <p:txBody>
            <a:bodyPr wrap="none" lIns="0" tIns="0" rIns="0" bIns="0" anchor="t" anchorCtr="0">
              <a:spAutoFit/>
            </a:bodyPr>
            <a:lstStyle/>
            <a:p>
              <a:pPr algn="l"/>
              <a:r>
                <a:rPr lang="en-US" sz="2250" b="1" dirty="0">
                  <a:solidFill>
                    <a:srgbClr val="0F766E"/>
                  </a:solidFill>
                  <a:latin typeface="Arial"/>
                  <a:ea typeface="Arial"/>
                  <a:cs typeface="Arial"/>
                </a:rPr>
                <a:t>16 features summarize what the sorting algorithms can exploit.</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11</a:t>
            </a:r>
          </a:p>
        </p:txBody>
      </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054779" cy="762000"/>
            <a:chOff x="514350" y="321945"/>
            <a:chExt cx="11054779" cy="762000"/>
          </a:xfrm>
        </p:grpSpPr>
        <p:sp>
          <p:nvSpPr>
            <p:cNvPr id="3" name="TextBox 3"/>
            <p:cNvSpPr txBox="1"/>
            <p:nvPr/>
          </p:nvSpPr>
          <p:spPr>
            <a:xfrm>
              <a:off x="514350" y="321945"/>
              <a:ext cx="1105477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main model is the general v5 selector</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9" name="Group 19"/>
          <p:cNvGrpSpPr/>
          <p:nvPr/>
        </p:nvGrpSpPr>
        <p:grpSpPr>
          <a:xfrm>
            <a:off x="1047750" y="1619250"/>
            <a:ext cx="4762500" cy="3762375"/>
            <a:chOff x="1047750" y="1619250"/>
            <a:chExt cx="4762500" cy="3762375"/>
          </a:xfrm>
        </p:grpSpPr>
        <p:sp>
          <p:nvSpPr>
            <p:cNvPr id="6" name="Freeform 6"/>
            <p:cNvSpPr/>
            <p:nvPr/>
          </p:nvSpPr>
          <p:spPr>
            <a:xfrm>
              <a:off x="1047750" y="1619250"/>
              <a:ext cx="4762500" cy="3762375"/>
            </a:xfrm>
            <a:custGeom>
              <a:avLst/>
              <a:gdLst/>
              <a:ahLst/>
              <a:cxnLst/>
              <a:rect l="l" t="t" r="r" b="b"/>
              <a:pathLst>
                <a:path w="4762500" h="3762375">
                  <a:moveTo>
                    <a:pt x="76200" y="0"/>
                  </a:moveTo>
                  <a:lnTo>
                    <a:pt x="4686300" y="0"/>
                  </a:lnTo>
                  <a:cubicBezTo>
                    <a:pt x="4728384" y="0"/>
                    <a:pt x="4762500" y="34116"/>
                    <a:pt x="4762500" y="76200"/>
                  </a:cubicBezTo>
                  <a:lnTo>
                    <a:pt x="4762500" y="3686175"/>
                  </a:lnTo>
                  <a:cubicBezTo>
                    <a:pt x="4762500" y="3728259"/>
                    <a:pt x="4728384" y="3762375"/>
                    <a:pt x="4686300" y="3762375"/>
                  </a:cubicBezTo>
                  <a:lnTo>
                    <a:pt x="76200" y="3762375"/>
                  </a:lnTo>
                  <a:cubicBezTo>
                    <a:pt x="34116" y="3762375"/>
                    <a:pt x="0" y="3728259"/>
                    <a:pt x="0" y="3686175"/>
                  </a:cubicBezTo>
                  <a:lnTo>
                    <a:pt x="0" y="76200"/>
                  </a:lnTo>
                  <a:cubicBezTo>
                    <a:pt x="0" y="34116"/>
                    <a:pt x="34116" y="0"/>
                    <a:pt x="76200" y="0"/>
                  </a:cubicBezTo>
                  <a:close/>
                </a:path>
              </a:pathLst>
            </a:custGeom>
            <a:solidFill>
              <a:srgbClr val="F6F8FB"/>
            </a:solidFill>
            <a:ln w="9525">
              <a:solidFill>
                <a:srgbClr val="D8DEE8"/>
              </a:solidFill>
            </a:ln>
          </p:spPr>
        </p:sp>
        <p:grpSp>
          <p:nvGrpSpPr>
            <p:cNvPr id="13" name="Group 13"/>
            <p:cNvGrpSpPr/>
            <p:nvPr/>
          </p:nvGrpSpPr>
          <p:grpSpPr>
            <a:xfrm>
              <a:off x="1450181" y="2040731"/>
              <a:ext cx="357187" cy="357187"/>
              <a:chOff x="1450181" y="2040731"/>
              <a:chExt cx="357187" cy="357187"/>
            </a:xfrm>
          </p:grpSpPr>
          <p:sp>
            <p:nvSpPr>
              <p:cNvPr id="7" name="Freeform 7"/>
              <p:cNvSpPr/>
              <p:nvPr/>
            </p:nvSpPr>
            <p:spPr>
              <a:xfrm>
                <a:off x="1628775" y="2239168"/>
                <a:ext cx="138906" cy="158750"/>
              </a:xfrm>
              <a:custGeom>
                <a:avLst/>
                <a:gdLst/>
                <a:ahLst/>
                <a:cxnLst/>
                <a:rect l="l" t="t" r="r" b="b"/>
                <a:pathLst>
                  <a:path w="138906" h="158750">
                    <a:moveTo>
                      <a:pt x="69453" y="0"/>
                    </a:moveTo>
                    <a:cubicBezTo>
                      <a:pt x="31095" y="0"/>
                      <a:pt x="0" y="31095"/>
                      <a:pt x="0" y="69453"/>
                    </a:cubicBezTo>
                    <a:lnTo>
                      <a:pt x="0" y="89297"/>
                    </a:lnTo>
                    <a:cubicBezTo>
                      <a:pt x="0" y="127655"/>
                      <a:pt x="31095" y="158750"/>
                      <a:pt x="69453" y="158750"/>
                    </a:cubicBezTo>
                    <a:cubicBezTo>
                      <a:pt x="107811" y="158750"/>
                      <a:pt x="138906" y="127655"/>
                      <a:pt x="138906" y="89297"/>
                    </a:cubicBezTo>
                    <a:lnTo>
                      <a:pt x="138906" y="53578"/>
                    </a:lnTo>
                  </a:path>
                </a:pathLst>
              </a:custGeom>
              <a:noFill/>
              <a:ln w="19050">
                <a:solidFill>
                  <a:srgbClr val="173B6D"/>
                </a:solidFill>
              </a:ln>
            </p:spPr>
          </p:sp>
          <p:sp>
            <p:nvSpPr>
              <p:cNvPr id="8" name="Freeform 8"/>
              <p:cNvSpPr/>
              <p:nvPr/>
            </p:nvSpPr>
            <p:spPr>
              <a:xfrm>
                <a:off x="1489869" y="2239168"/>
                <a:ext cx="138906" cy="158750"/>
              </a:xfrm>
              <a:custGeom>
                <a:avLst/>
                <a:gdLst/>
                <a:ahLst/>
                <a:cxnLst/>
                <a:rect l="l" t="t" r="r" b="b"/>
                <a:pathLst>
                  <a:path w="138906" h="158750">
                    <a:moveTo>
                      <a:pt x="69453" y="0"/>
                    </a:moveTo>
                    <a:cubicBezTo>
                      <a:pt x="107811" y="0"/>
                      <a:pt x="138906" y="31095"/>
                      <a:pt x="138906" y="69453"/>
                    </a:cubicBezTo>
                    <a:lnTo>
                      <a:pt x="138906" y="89297"/>
                    </a:lnTo>
                    <a:cubicBezTo>
                      <a:pt x="138906" y="127655"/>
                      <a:pt x="107811" y="158750"/>
                      <a:pt x="69453" y="158750"/>
                    </a:cubicBezTo>
                    <a:cubicBezTo>
                      <a:pt x="31095" y="158750"/>
                      <a:pt x="0" y="127655"/>
                      <a:pt x="0" y="89297"/>
                    </a:cubicBezTo>
                    <a:lnTo>
                      <a:pt x="0" y="53578"/>
                    </a:lnTo>
                  </a:path>
                </a:pathLst>
              </a:custGeom>
              <a:noFill/>
              <a:ln w="19050">
                <a:solidFill>
                  <a:srgbClr val="173B6D"/>
                </a:solidFill>
              </a:ln>
            </p:spPr>
          </p:sp>
          <p:sp>
            <p:nvSpPr>
              <p:cNvPr id="9" name="Freeform 9"/>
              <p:cNvSpPr/>
              <p:nvPr/>
            </p:nvSpPr>
            <p:spPr>
              <a:xfrm>
                <a:off x="1727993" y="2159793"/>
                <a:ext cx="79375" cy="138906"/>
              </a:xfrm>
              <a:custGeom>
                <a:avLst/>
                <a:gdLst/>
                <a:ahLst/>
                <a:cxnLst/>
                <a:rect l="l" t="t" r="r" b="b"/>
                <a:pathLst>
                  <a:path w="79375" h="138906">
                    <a:moveTo>
                      <a:pt x="9922" y="138906"/>
                    </a:moveTo>
                    <a:cubicBezTo>
                      <a:pt x="48280" y="138906"/>
                      <a:pt x="79375" y="107811"/>
                      <a:pt x="79375" y="69453"/>
                    </a:cubicBezTo>
                    <a:cubicBezTo>
                      <a:pt x="79375" y="31095"/>
                      <a:pt x="48280" y="0"/>
                      <a:pt x="9922" y="0"/>
                    </a:cubicBezTo>
                    <a:lnTo>
                      <a:pt x="0" y="0"/>
                    </a:lnTo>
                  </a:path>
                </a:pathLst>
              </a:custGeom>
              <a:noFill/>
              <a:ln w="19050">
                <a:solidFill>
                  <a:srgbClr val="173B6D"/>
                </a:solidFill>
              </a:ln>
            </p:spPr>
          </p:sp>
          <p:sp>
            <p:nvSpPr>
              <p:cNvPr id="10" name="Freeform 10"/>
              <p:cNvSpPr/>
              <p:nvPr/>
            </p:nvSpPr>
            <p:spPr>
              <a:xfrm>
                <a:off x="1628775" y="2040731"/>
                <a:ext cx="138906" cy="125015"/>
              </a:xfrm>
              <a:custGeom>
                <a:avLst/>
                <a:gdLst/>
                <a:ahLst/>
                <a:cxnLst/>
                <a:rect l="l" t="t" r="r" b="b"/>
                <a:pathLst>
                  <a:path w="138906" h="125015">
                    <a:moveTo>
                      <a:pt x="138906" y="125015"/>
                    </a:moveTo>
                    <a:lnTo>
                      <a:pt x="138906" y="69453"/>
                    </a:lnTo>
                    <a:cubicBezTo>
                      <a:pt x="138906" y="31095"/>
                      <a:pt x="107811" y="0"/>
                      <a:pt x="69453" y="0"/>
                    </a:cubicBezTo>
                    <a:cubicBezTo>
                      <a:pt x="31095" y="0"/>
                      <a:pt x="0" y="31095"/>
                      <a:pt x="0" y="69453"/>
                    </a:cubicBezTo>
                  </a:path>
                </a:pathLst>
              </a:custGeom>
              <a:noFill/>
              <a:ln w="19050">
                <a:solidFill>
                  <a:srgbClr val="173B6D"/>
                </a:solidFill>
              </a:ln>
            </p:spPr>
          </p:sp>
          <p:sp>
            <p:nvSpPr>
              <p:cNvPr id="11" name="Freeform 11"/>
              <p:cNvSpPr/>
              <p:nvPr/>
            </p:nvSpPr>
            <p:spPr>
              <a:xfrm>
                <a:off x="1450181" y="2159793"/>
                <a:ext cx="79375" cy="138906"/>
              </a:xfrm>
              <a:custGeom>
                <a:avLst/>
                <a:gdLst/>
                <a:ahLst/>
                <a:cxnLst/>
                <a:rect l="l" t="t" r="r" b="b"/>
                <a:pathLst>
                  <a:path w="79375" h="138906">
                    <a:moveTo>
                      <a:pt x="69453" y="138906"/>
                    </a:moveTo>
                    <a:cubicBezTo>
                      <a:pt x="31095" y="138906"/>
                      <a:pt x="0" y="107811"/>
                      <a:pt x="0" y="69453"/>
                    </a:cubicBezTo>
                    <a:cubicBezTo>
                      <a:pt x="0" y="31095"/>
                      <a:pt x="31095" y="0"/>
                      <a:pt x="69453" y="0"/>
                    </a:cubicBezTo>
                    <a:lnTo>
                      <a:pt x="79375" y="0"/>
                    </a:lnTo>
                  </a:path>
                </a:pathLst>
              </a:custGeom>
              <a:noFill/>
              <a:ln w="19050">
                <a:solidFill>
                  <a:srgbClr val="173B6D"/>
                </a:solidFill>
              </a:ln>
            </p:spPr>
          </p:sp>
          <p:sp>
            <p:nvSpPr>
              <p:cNvPr id="12" name="Freeform 12"/>
              <p:cNvSpPr/>
              <p:nvPr/>
            </p:nvSpPr>
            <p:spPr>
              <a:xfrm>
                <a:off x="1489869" y="2040731"/>
                <a:ext cx="138906" cy="267890"/>
              </a:xfrm>
              <a:custGeom>
                <a:avLst/>
                <a:gdLst/>
                <a:ahLst/>
                <a:cxnLst/>
                <a:rect l="l" t="t" r="r" b="b"/>
                <a:pathLst>
                  <a:path w="138906" h="267890">
                    <a:moveTo>
                      <a:pt x="0" y="125015"/>
                    </a:moveTo>
                    <a:lnTo>
                      <a:pt x="0" y="69453"/>
                    </a:lnTo>
                    <a:cubicBezTo>
                      <a:pt x="0" y="31095"/>
                      <a:pt x="31095" y="0"/>
                      <a:pt x="69453" y="0"/>
                    </a:cubicBezTo>
                    <a:cubicBezTo>
                      <a:pt x="107811" y="0"/>
                      <a:pt x="138906" y="31095"/>
                      <a:pt x="138906" y="69453"/>
                    </a:cubicBezTo>
                    <a:lnTo>
                      <a:pt x="138906" y="267890"/>
                    </a:lnTo>
                  </a:path>
                </a:pathLst>
              </a:custGeom>
              <a:noFill/>
              <a:ln w="19050">
                <a:solidFill>
                  <a:srgbClr val="173B6D"/>
                </a:solidFill>
              </a:ln>
            </p:spPr>
          </p:sp>
        </p:grpSp>
        <p:sp>
          <p:nvSpPr>
            <p:cNvPr id="14" name="TextBox 14"/>
            <p:cNvSpPr txBox="1"/>
            <p:nvPr/>
          </p:nvSpPr>
          <p:spPr>
            <a:xfrm>
              <a:off x="2042922" y="2054542"/>
              <a:ext cx="218881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XGBoost v5</a:t>
              </a:r>
            </a:p>
          </p:txBody>
        </p:sp>
        <p:sp>
          <p:nvSpPr>
            <p:cNvPr id="15" name="TextBox 15"/>
            <p:cNvSpPr txBox="1"/>
            <p:nvPr/>
          </p:nvSpPr>
          <p:spPr>
            <a:xfrm>
              <a:off x="1379220" y="2900362"/>
              <a:ext cx="346071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16 structural features</a:t>
              </a:r>
            </a:p>
          </p:txBody>
        </p:sp>
        <p:sp>
          <p:nvSpPr>
            <p:cNvPr id="16" name="TextBox 16"/>
            <p:cNvSpPr txBox="1"/>
            <p:nvPr/>
          </p:nvSpPr>
          <p:spPr>
            <a:xfrm>
              <a:off x="1379220" y="3414712"/>
              <a:ext cx="262775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3 algorithm labels</a:t>
              </a:r>
            </a:p>
          </p:txBody>
        </p:sp>
        <p:sp>
          <p:nvSpPr>
            <p:cNvPr id="17" name="TextBox 17"/>
            <p:cNvSpPr txBox="1"/>
            <p:nvPr/>
          </p:nvSpPr>
          <p:spPr>
            <a:xfrm>
              <a:off x="1379220" y="3929062"/>
              <a:ext cx="249145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70 / 15 / 15 split</a:t>
              </a:r>
            </a:p>
          </p:txBody>
        </p:sp>
        <p:sp>
          <p:nvSpPr>
            <p:cNvPr id="18" name="TextBox 18"/>
            <p:cNvSpPr txBox="1"/>
            <p:nvPr/>
          </p:nvSpPr>
          <p:spPr>
            <a:xfrm>
              <a:off x="1379220" y="4443412"/>
              <a:ext cx="397564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balanced training strategy</a:t>
              </a:r>
            </a:p>
          </p:txBody>
        </p:sp>
      </p:grpSp>
      <p:grpSp>
        <p:nvGrpSpPr>
          <p:cNvPr id="25" name="Group 25"/>
          <p:cNvGrpSpPr/>
          <p:nvPr/>
        </p:nvGrpSpPr>
        <p:grpSpPr>
          <a:xfrm>
            <a:off x="6667500" y="2000250"/>
            <a:ext cx="4831622" cy="3000375"/>
            <a:chOff x="6667500" y="2000250"/>
            <a:chExt cx="4831622" cy="3000375"/>
          </a:xfrm>
        </p:grpSpPr>
        <p:sp>
          <p:nvSpPr>
            <p:cNvPr id="20" name="Freeform 20"/>
            <p:cNvSpPr/>
            <p:nvPr/>
          </p:nvSpPr>
          <p:spPr>
            <a:xfrm>
              <a:off x="6667500" y="2000250"/>
              <a:ext cx="4095750" cy="3000375"/>
            </a:xfrm>
            <a:custGeom>
              <a:avLst/>
              <a:gdLst/>
              <a:ahLst/>
              <a:cxnLst/>
              <a:rect l="l" t="t" r="r" b="b"/>
              <a:pathLst>
                <a:path w="4095750" h="3000375">
                  <a:moveTo>
                    <a:pt x="76200" y="0"/>
                  </a:moveTo>
                  <a:lnTo>
                    <a:pt x="4019550" y="0"/>
                  </a:lnTo>
                  <a:cubicBezTo>
                    <a:pt x="4061634" y="0"/>
                    <a:pt x="4095750" y="34116"/>
                    <a:pt x="4095750" y="76200"/>
                  </a:cubicBezTo>
                  <a:lnTo>
                    <a:pt x="4095750" y="2924175"/>
                  </a:lnTo>
                  <a:cubicBezTo>
                    <a:pt x="4095750" y="2966259"/>
                    <a:pt x="4061634" y="3000375"/>
                    <a:pt x="4019550" y="3000375"/>
                  </a:cubicBezTo>
                  <a:lnTo>
                    <a:pt x="76200" y="3000375"/>
                  </a:lnTo>
                  <a:cubicBezTo>
                    <a:pt x="34116" y="3000375"/>
                    <a:pt x="0" y="2966259"/>
                    <a:pt x="0" y="2924175"/>
                  </a:cubicBezTo>
                  <a:lnTo>
                    <a:pt x="0" y="76200"/>
                  </a:lnTo>
                  <a:cubicBezTo>
                    <a:pt x="0" y="34116"/>
                    <a:pt x="34116" y="0"/>
                    <a:pt x="76200" y="0"/>
                  </a:cubicBezTo>
                  <a:close/>
                </a:path>
              </a:pathLst>
            </a:custGeom>
            <a:solidFill>
              <a:srgbClr val="FFFFFF"/>
            </a:solidFill>
            <a:ln w="19050">
              <a:solidFill>
                <a:srgbClr val="D99A20"/>
              </a:solidFill>
            </a:ln>
          </p:spPr>
        </p:sp>
        <p:sp>
          <p:nvSpPr>
            <p:cNvPr id="21" name="TextBox 21"/>
            <p:cNvSpPr txBox="1"/>
            <p:nvPr/>
          </p:nvSpPr>
          <p:spPr>
            <a:xfrm>
              <a:off x="6978396" y="2296478"/>
              <a:ext cx="4520726" cy="498729"/>
            </a:xfrm>
            <a:prstGeom prst="rect">
              <a:avLst/>
            </a:prstGeom>
            <a:noFill/>
            <a:ln>
              <a:noFill/>
            </a:ln>
          </p:spPr>
          <p:txBody>
            <a:bodyPr wrap="none" lIns="0" tIns="0" rIns="0" bIns="0" anchor="t" anchorCtr="0">
              <a:spAutoFit/>
            </a:bodyPr>
            <a:lstStyle/>
            <a:p>
              <a:pPr algn="l"/>
              <a:r>
                <a:rPr lang="en-US" sz="2550" b="1" dirty="0">
                  <a:solidFill>
                    <a:srgbClr val="D99A20"/>
                  </a:solidFill>
                  <a:latin typeface="Arial"/>
                  <a:ea typeface="Arial"/>
                  <a:cs typeface="Arial"/>
                </a:rPr>
                <a:t>Separate from F1 routing</a:t>
              </a:r>
            </a:p>
          </p:txBody>
        </p:sp>
        <p:sp>
          <p:nvSpPr>
            <p:cNvPr id="22" name="TextBox 22"/>
            <p:cNvSpPr txBox="1"/>
            <p:nvPr/>
          </p:nvSpPr>
          <p:spPr>
            <a:xfrm>
              <a:off x="6980682" y="3011805"/>
              <a:ext cx="4261866"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is the general thesis model.</a:t>
              </a:r>
            </a:p>
          </p:txBody>
        </p:sp>
        <p:sp>
          <p:nvSpPr>
            <p:cNvPr id="23" name="TextBox 23"/>
            <p:cNvSpPr txBox="1"/>
            <p:nvPr/>
          </p:nvSpPr>
          <p:spPr>
            <a:xfrm>
              <a:off x="6980682" y="3469005"/>
              <a:ext cx="324009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models are a</a:t>
              </a:r>
            </a:p>
          </p:txBody>
        </p:sp>
        <p:sp>
          <p:nvSpPr>
            <p:cNvPr id="24" name="TextBox 24"/>
            <p:cNvSpPr txBox="1"/>
            <p:nvPr/>
          </p:nvSpPr>
          <p:spPr>
            <a:xfrm>
              <a:off x="6980682" y="3926205"/>
              <a:ext cx="3300679"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specialized experiment.</a:t>
              </a:r>
            </a:p>
          </p:txBody>
        </p:sp>
      </p:grpSp>
      <p:sp>
        <p:nvSpPr>
          <p:cNvPr id="26" name="TextBox 2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12</a:t>
            </a:r>
          </a:p>
        </p:txBody>
      </p:sp>
    </p:spTree>
  </p:cSld>
  <p:clrMapOvr>
    <a:masterClrMapping/>
  </p:clrMapOvr>
  <p:transition xmlns:p14="http://schemas.microsoft.com/office/powerpoint/2010/main" p14:dur="3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63162" cy="762000"/>
            <a:chOff x="514350" y="264795"/>
            <a:chExt cx="11163162" cy="762000"/>
          </a:xfrm>
        </p:grpSpPr>
        <p:sp>
          <p:nvSpPr>
            <p:cNvPr id="3" name="TextBox 3"/>
            <p:cNvSpPr txBox="1"/>
            <p:nvPr/>
          </p:nvSpPr>
          <p:spPr>
            <a:xfrm>
              <a:off x="514350" y="264795"/>
              <a:ext cx="1116316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Each failed path clarified the final design</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533400" y="1314450"/>
            <a:ext cx="7905750" cy="4000500"/>
            <a:chOff x="533400" y="1314450"/>
            <a:chExt cx="7905750" cy="4000500"/>
          </a:xfrm>
        </p:grpSpPr>
        <p:sp>
          <p:nvSpPr>
            <p:cNvPr id="6" name="Freeform 6"/>
            <p:cNvSpPr/>
            <p:nvPr/>
          </p:nvSpPr>
          <p:spPr>
            <a:xfrm>
              <a:off x="533400" y="1314450"/>
              <a:ext cx="7905750" cy="4000500"/>
            </a:xfrm>
            <a:custGeom>
              <a:avLst/>
              <a:gdLst/>
              <a:ahLst/>
              <a:cxnLst/>
              <a:rect l="l" t="t" r="r" b="b"/>
              <a:pathLst>
                <a:path w="7905750" h="4000500">
                  <a:moveTo>
                    <a:pt x="76200" y="0"/>
                  </a:moveTo>
                  <a:lnTo>
                    <a:pt x="7829550" y="0"/>
                  </a:lnTo>
                  <a:cubicBezTo>
                    <a:pt x="7871634" y="0"/>
                    <a:pt x="7905750" y="34116"/>
                    <a:pt x="7905750" y="76200"/>
                  </a:cubicBezTo>
                  <a:lnTo>
                    <a:pt x="7905750" y="3924300"/>
                  </a:lnTo>
                  <a:cubicBezTo>
                    <a:pt x="7905750" y="3966384"/>
                    <a:pt x="7871634" y="4000500"/>
                    <a:pt x="7829550" y="4000500"/>
                  </a:cubicBezTo>
                  <a:lnTo>
                    <a:pt x="76200" y="4000500"/>
                  </a:lnTo>
                  <a:cubicBezTo>
                    <a:pt x="34116" y="4000500"/>
                    <a:pt x="0" y="3966384"/>
                    <a:pt x="0" y="39243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1450" y="1504950"/>
              <a:ext cx="7109650" cy="3619500"/>
            </a:xfrm>
            <a:prstGeom prst="rect">
              <a:avLst/>
            </a:prstGeom>
          </p:spPr>
        </p:pic>
      </p:grpSp>
      <p:grpSp>
        <p:nvGrpSpPr>
          <p:cNvPr id="14" name="Group 14"/>
          <p:cNvGrpSpPr/>
          <p:nvPr/>
        </p:nvGrpSpPr>
        <p:grpSpPr>
          <a:xfrm>
            <a:off x="8845296" y="1534478"/>
            <a:ext cx="3356724" cy="2370201"/>
            <a:chOff x="8845296" y="1534478"/>
            <a:chExt cx="3356724" cy="2370201"/>
          </a:xfrm>
        </p:grpSpPr>
        <p:sp>
          <p:nvSpPr>
            <p:cNvPr id="9" name="TextBox 9"/>
            <p:cNvSpPr txBox="1"/>
            <p:nvPr/>
          </p:nvSpPr>
          <p:spPr>
            <a:xfrm>
              <a:off x="8845296" y="1534478"/>
              <a:ext cx="239897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What changed</a:t>
              </a:r>
            </a:p>
          </p:txBody>
        </p:sp>
        <p:sp>
          <p:nvSpPr>
            <p:cNvPr id="10" name="TextBox 10"/>
            <p:cNvSpPr txBox="1"/>
            <p:nvPr/>
          </p:nvSpPr>
          <p:spPr>
            <a:xfrm>
              <a:off x="8848344" y="2265998"/>
              <a:ext cx="2671153"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regression was weak</a:t>
              </a:r>
            </a:p>
          </p:txBody>
        </p:sp>
        <p:sp>
          <p:nvSpPr>
            <p:cNvPr id="11" name="TextBox 11"/>
            <p:cNvSpPr txBox="1"/>
            <p:nvPr/>
          </p:nvSpPr>
          <p:spPr>
            <a:xfrm>
              <a:off x="8848344" y="2685098"/>
              <a:ext cx="292053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timing features leaked</a:t>
              </a:r>
            </a:p>
          </p:txBody>
        </p:sp>
        <p:sp>
          <p:nvSpPr>
            <p:cNvPr id="12" name="TextBox 12"/>
            <p:cNvSpPr txBox="1"/>
            <p:nvPr/>
          </p:nvSpPr>
          <p:spPr>
            <a:xfrm>
              <a:off x="8848344" y="3104198"/>
              <a:ext cx="284178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regret weighting hurt</a:t>
              </a:r>
            </a:p>
          </p:txBody>
        </p:sp>
        <p:sp>
          <p:nvSpPr>
            <p:cNvPr id="13" name="TextBox 13"/>
            <p:cNvSpPr txBox="1"/>
            <p:nvPr/>
          </p:nvSpPr>
          <p:spPr>
            <a:xfrm>
              <a:off x="8848344" y="3523298"/>
              <a:ext cx="335367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cascade exposed boundary</a:t>
              </a:r>
            </a:p>
          </p:txBody>
        </p:sp>
      </p:grpSp>
      <p:grpSp>
        <p:nvGrpSpPr>
          <p:cNvPr id="16" name="Group 16"/>
          <p:cNvGrpSpPr/>
          <p:nvPr/>
        </p:nvGrpSpPr>
        <p:grpSpPr>
          <a:xfrm>
            <a:off x="521970" y="5710238"/>
            <a:ext cx="13454990" cy="440055"/>
            <a:chOff x="521970" y="5710238"/>
            <a:chExt cx="13454990" cy="440055"/>
          </a:xfrm>
        </p:grpSpPr>
        <p:sp>
          <p:nvSpPr>
            <p:cNvPr id="15" name="TextBox 15"/>
            <p:cNvSpPr txBox="1"/>
            <p:nvPr/>
          </p:nvSpPr>
          <p:spPr>
            <a:xfrm>
              <a:off x="521970" y="5710238"/>
              <a:ext cx="13454990"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journey matters because it explains why v5 is the defensible center of the thesis.</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13</a:t>
            </a:r>
          </a:p>
        </p:txBody>
      </p:sp>
    </p:spTree>
  </p:cSld>
  <p:clrMapOvr>
    <a:masterClrMapping/>
  </p:clrMapOvr>
  <p:transition xmlns:p14="http://schemas.microsoft.com/office/powerpoint/2010/main" p14:dur="3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6862305" cy="1170051"/>
            <a:chOff x="515874" y="237172"/>
            <a:chExt cx="6862305" cy="1170051"/>
          </a:xfrm>
        </p:grpSpPr>
        <p:sp>
          <p:nvSpPr>
            <p:cNvPr id="3" name="TextBox 3"/>
            <p:cNvSpPr txBox="1"/>
            <p:nvPr/>
          </p:nvSpPr>
          <p:spPr>
            <a:xfrm>
              <a:off x="515874" y="237172"/>
              <a:ext cx="56843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model is imperfect,</a:t>
              </a:r>
            </a:p>
          </p:txBody>
        </p:sp>
        <p:sp>
          <p:nvSpPr>
            <p:cNvPr id="4" name="TextBox 4"/>
            <p:cNvSpPr txBox="1"/>
            <p:nvPr/>
          </p:nvSpPr>
          <p:spPr>
            <a:xfrm>
              <a:off x="515874" y="732472"/>
              <a:ext cx="686230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but most mistakes are cheap</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1" name="Group 11"/>
          <p:cNvGrpSpPr/>
          <p:nvPr/>
        </p:nvGrpSpPr>
        <p:grpSpPr>
          <a:xfrm>
            <a:off x="1076325" y="2274570"/>
            <a:ext cx="7117451" cy="2673287"/>
            <a:chOff x="1076325" y="2274570"/>
            <a:chExt cx="7117451" cy="2673287"/>
          </a:xfrm>
        </p:grpSpPr>
        <p:sp>
          <p:nvSpPr>
            <p:cNvPr id="7" name="TextBox 7"/>
            <p:cNvSpPr txBox="1"/>
            <p:nvPr/>
          </p:nvSpPr>
          <p:spPr>
            <a:xfrm>
              <a:off x="1076325" y="2274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80897" y="3083242"/>
              <a:ext cx="7112879" cy="557403"/>
            </a:xfrm>
            <a:prstGeom prst="rect">
              <a:avLst/>
            </a:prstGeom>
            <a:noFill/>
            <a:ln>
              <a:noFill/>
            </a:ln>
          </p:spPr>
          <p:txBody>
            <a:bodyPr wrap="none" lIns="0" tIns="0" rIns="0" bIns="0" anchor="t" anchorCtr="0">
              <a:spAutoFit/>
            </a:bodyPr>
            <a:lstStyle/>
            <a:p>
              <a:pPr algn="l"/>
              <a:r>
                <a:rPr lang="en-US" sz="2850" dirty="0">
                  <a:solidFill>
                    <a:srgbClr val="172033"/>
                  </a:solidFill>
                  <a:latin typeface="Arial"/>
                  <a:ea typeface="Arial"/>
                  <a:cs typeface="Arial"/>
                </a:rPr>
                <a:t>of the SBS-to-VBS runtime gap closed</a:t>
              </a:r>
            </a:p>
          </p:txBody>
        </p:sp>
        <p:sp>
          <p:nvSpPr>
            <p:cNvPr id="9" name="TextBox 9"/>
            <p:cNvSpPr txBox="1"/>
            <p:nvPr/>
          </p:nvSpPr>
          <p:spPr>
            <a:xfrm>
              <a:off x="1082421" y="4030028"/>
              <a:ext cx="5807222"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Supported by 76.1% test accuracy</a:t>
              </a:r>
            </a:p>
          </p:txBody>
        </p:sp>
        <p:sp>
          <p:nvSpPr>
            <p:cNvPr id="10" name="TextBox 10"/>
            <p:cNvSpPr txBox="1"/>
            <p:nvPr/>
          </p:nvSpPr>
          <p:spPr>
            <a:xfrm>
              <a:off x="1082421" y="4449128"/>
              <a:ext cx="5896013"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and 89.6% zero-regret selections.</a:t>
              </a:r>
            </a:p>
          </p:txBody>
        </p:sp>
      </p:grpSp>
      <p:grpSp>
        <p:nvGrpSpPr>
          <p:cNvPr id="19" name="Group 19"/>
          <p:cNvGrpSpPr/>
          <p:nvPr/>
        </p:nvGrpSpPr>
        <p:grpSpPr>
          <a:xfrm>
            <a:off x="8572500" y="2333625"/>
            <a:ext cx="2648864" cy="1790700"/>
            <a:chOff x="8572500" y="2333625"/>
            <a:chExt cx="2648864" cy="1790700"/>
          </a:xfrm>
        </p:grpSpPr>
        <p:sp>
          <p:nvSpPr>
            <p:cNvPr id="12" name="Freeform 12"/>
            <p:cNvSpPr/>
            <p:nvPr/>
          </p:nvSpPr>
          <p:spPr>
            <a:xfrm>
              <a:off x="8572500" y="2333625"/>
              <a:ext cx="2381250" cy="1790700"/>
            </a:xfrm>
            <a:custGeom>
              <a:avLst/>
              <a:gdLst/>
              <a:ahLst/>
              <a:cxnLst/>
              <a:rect l="l" t="t" r="r" b="b"/>
              <a:pathLst>
                <a:path w="2381250" h="1790700">
                  <a:moveTo>
                    <a:pt x="76200" y="0"/>
                  </a:moveTo>
                  <a:lnTo>
                    <a:pt x="2305050" y="0"/>
                  </a:lnTo>
                  <a:cubicBezTo>
                    <a:pt x="2347134" y="0"/>
                    <a:pt x="2381250" y="34116"/>
                    <a:pt x="2381250" y="76200"/>
                  </a:cubicBezTo>
                  <a:lnTo>
                    <a:pt x="2381250" y="1714500"/>
                  </a:lnTo>
                  <a:cubicBezTo>
                    <a:pt x="2381250" y="1756584"/>
                    <a:pt x="2347134" y="1790700"/>
                    <a:pt x="2305050" y="1790700"/>
                  </a:cubicBezTo>
                  <a:lnTo>
                    <a:pt x="76200" y="1790700"/>
                  </a:lnTo>
                  <a:cubicBezTo>
                    <a:pt x="34116" y="1790700"/>
                    <a:pt x="0" y="1756584"/>
                    <a:pt x="0" y="1714500"/>
                  </a:cubicBezTo>
                  <a:lnTo>
                    <a:pt x="0" y="76200"/>
                  </a:lnTo>
                  <a:cubicBezTo>
                    <a:pt x="0" y="34116"/>
                    <a:pt x="34116" y="0"/>
                    <a:pt x="76200" y="0"/>
                  </a:cubicBezTo>
                  <a:close/>
                </a:path>
              </a:pathLst>
            </a:custGeom>
            <a:solidFill>
              <a:srgbClr val="F6F8FB"/>
            </a:solidFill>
            <a:ln w="9525">
              <a:solidFill>
                <a:srgbClr val="D8DEE8"/>
              </a:solidFill>
            </a:ln>
          </p:spPr>
        </p:sp>
        <p:grpSp>
          <p:nvGrpSpPr>
            <p:cNvPr id="17" name="Group 17"/>
            <p:cNvGrpSpPr/>
            <p:nvPr/>
          </p:nvGrpSpPr>
          <p:grpSpPr>
            <a:xfrm>
              <a:off x="9551194" y="2712244"/>
              <a:ext cx="385762" cy="385762"/>
              <a:chOff x="9551194" y="2712244"/>
              <a:chExt cx="385762" cy="385762"/>
            </a:xfrm>
          </p:grpSpPr>
          <p:sp>
            <p:nvSpPr>
              <p:cNvPr id="13" name="Freeform 13"/>
              <p:cNvSpPr/>
              <p:nvPr/>
            </p:nvSpPr>
            <p:spPr>
              <a:xfrm>
                <a:off x="9551194" y="2712244"/>
                <a:ext cx="385762" cy="385762"/>
              </a:xfrm>
              <a:custGeom>
                <a:avLst/>
                <a:gdLst/>
                <a:ahLst/>
                <a:cxnLst/>
                <a:rect l="l" t="t" r="r" b="b"/>
                <a:pathLst>
                  <a:path w="385762" h="385762">
                    <a:moveTo>
                      <a:pt x="0" y="192881"/>
                    </a:moveTo>
                    <a:cubicBezTo>
                      <a:pt x="0" y="299407"/>
                      <a:pt x="86356" y="385762"/>
                      <a:pt x="192881" y="385762"/>
                    </a:cubicBezTo>
                    <a:cubicBezTo>
                      <a:pt x="299407" y="385762"/>
                      <a:pt x="385762" y="299407"/>
                      <a:pt x="385762" y="192881"/>
                    </a:cubicBezTo>
                    <a:cubicBezTo>
                      <a:pt x="385762" y="86356"/>
                      <a:pt x="299407" y="0"/>
                      <a:pt x="192881" y="0"/>
                    </a:cubicBezTo>
                    <a:cubicBezTo>
                      <a:pt x="86356" y="0"/>
                      <a:pt x="0" y="86356"/>
                      <a:pt x="0" y="192881"/>
                    </a:cubicBezTo>
                  </a:path>
                </a:pathLst>
              </a:custGeom>
              <a:noFill/>
              <a:ln w="19050">
                <a:solidFill>
                  <a:srgbClr val="0F766E"/>
                </a:solidFill>
              </a:ln>
            </p:spPr>
          </p:sp>
          <p:sp>
            <p:nvSpPr>
              <p:cNvPr id="14" name="Freeform 14"/>
              <p:cNvSpPr/>
              <p:nvPr/>
            </p:nvSpPr>
            <p:spPr>
              <a:xfrm>
                <a:off x="9722644" y="2883694"/>
                <a:ext cx="42862" cy="42862"/>
              </a:xfrm>
              <a:custGeom>
                <a:avLst/>
                <a:gdLst/>
                <a:ahLst/>
                <a:cxnLst/>
                <a:rect l="l" t="t" r="r" b="b"/>
                <a:pathLst>
                  <a:path w="42862" h="42862">
                    <a:moveTo>
                      <a:pt x="0" y="21431"/>
                    </a:moveTo>
                    <a:cubicBezTo>
                      <a:pt x="0" y="33267"/>
                      <a:pt x="9595" y="42862"/>
                      <a:pt x="21431" y="42862"/>
                    </a:cubicBezTo>
                    <a:cubicBezTo>
                      <a:pt x="33267" y="42862"/>
                      <a:pt x="42862" y="33267"/>
                      <a:pt x="42862" y="21431"/>
                    </a:cubicBezTo>
                    <a:cubicBezTo>
                      <a:pt x="42862" y="9595"/>
                      <a:pt x="33267" y="0"/>
                      <a:pt x="21431" y="0"/>
                    </a:cubicBezTo>
                    <a:cubicBezTo>
                      <a:pt x="9595" y="0"/>
                      <a:pt x="0" y="9595"/>
                      <a:pt x="0" y="21431"/>
                    </a:cubicBezTo>
                  </a:path>
                </a:pathLst>
              </a:custGeom>
              <a:noFill/>
              <a:ln w="19050">
                <a:solidFill>
                  <a:srgbClr val="0F766E"/>
                </a:solidFill>
              </a:ln>
            </p:spPr>
          </p:sp>
          <p:sp>
            <p:nvSpPr>
              <p:cNvPr id="15" name="Freeform 15"/>
              <p:cNvSpPr/>
              <p:nvPr/>
            </p:nvSpPr>
            <p:spPr>
              <a:xfrm>
                <a:off x="9774293" y="2819400"/>
                <a:ext cx="55507" cy="55507"/>
              </a:xfrm>
              <a:custGeom>
                <a:avLst/>
                <a:gdLst/>
                <a:ahLst/>
                <a:cxnLst/>
                <a:rect l="l" t="t" r="r" b="b"/>
                <a:pathLst>
                  <a:path w="55507" h="55507">
                    <a:moveTo>
                      <a:pt x="0" y="55507"/>
                    </a:moveTo>
                    <a:lnTo>
                      <a:pt x="55507" y="0"/>
                    </a:lnTo>
                  </a:path>
                </a:pathLst>
              </a:custGeom>
              <a:noFill/>
              <a:ln w="19050">
                <a:solidFill>
                  <a:srgbClr val="0F766E"/>
                </a:solidFill>
              </a:ln>
            </p:spPr>
          </p:sp>
          <p:sp>
            <p:nvSpPr>
              <p:cNvPr id="16" name="Freeform 16"/>
              <p:cNvSpPr/>
              <p:nvPr/>
            </p:nvSpPr>
            <p:spPr>
              <a:xfrm>
                <a:off x="9636919" y="2797969"/>
                <a:ext cx="107156" cy="107156"/>
              </a:xfrm>
              <a:custGeom>
                <a:avLst/>
                <a:gdLst/>
                <a:ahLst/>
                <a:cxnLst/>
                <a:rect l="l" t="t" r="r" b="b"/>
                <a:pathLst>
                  <a:path w="107156" h="107156">
                    <a:moveTo>
                      <a:pt x="0" y="107156"/>
                    </a:moveTo>
                    <a:cubicBezTo>
                      <a:pt x="0" y="47975"/>
                      <a:pt x="47975" y="0"/>
                      <a:pt x="107156" y="0"/>
                    </a:cubicBezTo>
                  </a:path>
                </a:pathLst>
              </a:custGeom>
              <a:noFill/>
              <a:ln w="19050">
                <a:solidFill>
                  <a:srgbClr val="0F766E"/>
                </a:solidFill>
              </a:ln>
            </p:spPr>
          </p:sp>
        </p:grpSp>
        <p:sp>
          <p:nvSpPr>
            <p:cNvPr id="18" name="TextBox 18"/>
            <p:cNvSpPr txBox="1"/>
            <p:nvPr/>
          </p:nvSpPr>
          <p:spPr>
            <a:xfrm>
              <a:off x="8925306" y="3444240"/>
              <a:ext cx="2296058" cy="352044"/>
            </a:xfrm>
            <a:prstGeom prst="rect">
              <a:avLst/>
            </a:prstGeom>
            <a:noFill/>
            <a:ln>
              <a:noFill/>
            </a:ln>
          </p:spPr>
          <p:txBody>
            <a:bodyPr wrap="none" lIns="0" tIns="0" rIns="0" bIns="0" anchor="t" anchorCtr="0">
              <a:spAutoFit/>
            </a:bodyPr>
            <a:lstStyle/>
            <a:p>
              <a:pPr algn="l"/>
              <a:r>
                <a:rPr lang="en-US" sz="1800" dirty="0">
                  <a:solidFill>
                    <a:srgbClr val="172033"/>
                  </a:solidFill>
                  <a:latin typeface="Arial"/>
                  <a:ea typeface="Arial"/>
                  <a:cs typeface="Arial"/>
                </a:rPr>
                <a:t>runtime value first</a:t>
              </a:r>
            </a:p>
          </p:txBody>
        </p:sp>
      </p:grpSp>
      <p:grpSp>
        <p:nvGrpSpPr>
          <p:cNvPr id="22" name="Group 22"/>
          <p:cNvGrpSpPr/>
          <p:nvPr/>
        </p:nvGrpSpPr>
        <p:grpSpPr>
          <a:xfrm>
            <a:off x="526542" y="6045518"/>
            <a:ext cx="10896752" cy="536638"/>
            <a:chOff x="526542" y="6045518"/>
            <a:chExt cx="10896752" cy="536638"/>
          </a:xfrm>
        </p:grpSpPr>
        <p:sp>
          <p:nvSpPr>
            <p:cNvPr id="20" name="TextBox 20"/>
            <p:cNvSpPr txBox="1"/>
            <p:nvPr/>
          </p:nvSpPr>
          <p:spPr>
            <a:xfrm>
              <a:off x="526542" y="6045518"/>
              <a:ext cx="6050945"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M1_v5_evaluation and M2_v5_regret</a:t>
              </a:r>
            </a:p>
          </p:txBody>
        </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14</a:t>
              </a:r>
            </a:p>
          </p:txBody>
        </p:sp>
      </p:grpSp>
    </p:spTree>
  </p:cSld>
  <p:clrMapOvr>
    <a:masterClrMapping/>
  </p:clrMapOvr>
  <p:transition xmlns:p14="http://schemas.microsoft.com/office/powerpoint/2010/main" p14:dur="3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08917" cy="762000"/>
            <a:chOff x="514350" y="264795"/>
            <a:chExt cx="11108917" cy="762000"/>
          </a:xfrm>
        </p:grpSpPr>
        <p:sp>
          <p:nvSpPr>
            <p:cNvPr id="3" name="TextBox 3"/>
            <p:cNvSpPr txBox="1"/>
            <p:nvPr/>
          </p:nvSpPr>
          <p:spPr>
            <a:xfrm>
              <a:off x="514350" y="264795"/>
              <a:ext cx="1110891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Accuracy alone does not explain the value</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57300"/>
            <a:ext cx="7429500" cy="3333750"/>
            <a:chOff x="533400" y="1257300"/>
            <a:chExt cx="7429500" cy="3333750"/>
          </a:xfrm>
        </p:grpSpPr>
        <p:sp>
          <p:nvSpPr>
            <p:cNvPr id="6" name="Freeform 6"/>
            <p:cNvSpPr/>
            <p:nvPr/>
          </p:nvSpPr>
          <p:spPr>
            <a:xfrm>
              <a:off x="533400" y="1257300"/>
              <a:ext cx="7429500" cy="3333750"/>
            </a:xfrm>
            <a:custGeom>
              <a:avLst/>
              <a:gdLst/>
              <a:ahLst/>
              <a:cxnLst/>
              <a:rect l="l" t="t" r="r" b="b"/>
              <a:pathLst>
                <a:path w="7429500" h="3333750">
                  <a:moveTo>
                    <a:pt x="76200" y="0"/>
                  </a:moveTo>
                  <a:lnTo>
                    <a:pt x="7353300" y="0"/>
                  </a:lnTo>
                  <a:cubicBezTo>
                    <a:pt x="7395384" y="0"/>
                    <a:pt x="7429500" y="34116"/>
                    <a:pt x="7429500" y="76200"/>
                  </a:cubicBezTo>
                  <a:lnTo>
                    <a:pt x="7429500" y="3257550"/>
                  </a:lnTo>
                  <a:cubicBezTo>
                    <a:pt x="7429500" y="3299634"/>
                    <a:pt x="7395384" y="3333750"/>
                    <a:pt x="7353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26306" y="1447800"/>
              <a:ext cx="6643688" cy="2952750"/>
            </a:xfrm>
            <a:prstGeom prst="rect">
              <a:avLst/>
            </a:prstGeom>
          </p:spPr>
        </p:pic>
      </p:grpSp>
      <p:grpSp>
        <p:nvGrpSpPr>
          <p:cNvPr id="13" name="Group 13"/>
          <p:cNvGrpSpPr/>
          <p:nvPr/>
        </p:nvGrpSpPr>
        <p:grpSpPr>
          <a:xfrm>
            <a:off x="8382000" y="1428750"/>
            <a:ext cx="3143250" cy="2952750"/>
            <a:chOff x="8382000" y="1428750"/>
            <a:chExt cx="3143250" cy="2952750"/>
          </a:xfrm>
        </p:grpSpPr>
        <p:sp>
          <p:nvSpPr>
            <p:cNvPr id="9" name="Freeform 9"/>
            <p:cNvSpPr/>
            <p:nvPr/>
          </p:nvSpPr>
          <p:spPr>
            <a:xfrm>
              <a:off x="8382000" y="1428750"/>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0" name="Image 10"/>
            <p:cNvPicPr>
              <a:picLocks noChangeAspect="1"/>
            </p:cNvPicPr>
            <p:nvPr/>
          </p:nvPicPr>
          <p:blipFill>
            <a:blip r:embed="rId3"/>
            <a:stretch>
              <a:fillRect/>
            </a:stretch>
          </p:blipFill>
          <p:spPr>
            <a:xfrm>
              <a:off x="8667750" y="1813274"/>
              <a:ext cx="2571750" cy="545402"/>
            </a:xfrm>
            <a:prstGeom prst="rect">
              <a:avLst/>
            </a:prstGeom>
          </p:spPr>
        </p:pic>
        <p:sp>
          <p:nvSpPr>
            <p:cNvPr id="11" name="Freeform 11"/>
            <p:cNvSpPr/>
            <p:nvPr/>
          </p:nvSpPr>
          <p:spPr>
            <a:xfrm>
              <a:off x="8382000" y="3095625"/>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2" name="Image 12"/>
            <p:cNvPicPr>
              <a:picLocks noChangeAspect="1"/>
            </p:cNvPicPr>
            <p:nvPr/>
          </p:nvPicPr>
          <p:blipFill>
            <a:blip r:embed="rId4"/>
            <a:stretch>
              <a:fillRect/>
            </a:stretch>
          </p:blipFill>
          <p:spPr>
            <a:xfrm>
              <a:off x="8572500" y="3478244"/>
              <a:ext cx="2762250" cy="491966"/>
            </a:xfrm>
            <a:prstGeom prst="rect">
              <a:avLst/>
            </a:prstGeom>
          </p:spPr>
        </p:pic>
      </p:grpSp>
      <p:grpSp>
        <p:nvGrpSpPr>
          <p:cNvPr id="16" name="Group 16"/>
          <p:cNvGrpSpPr/>
          <p:nvPr/>
        </p:nvGrpSpPr>
        <p:grpSpPr>
          <a:xfrm>
            <a:off x="712470" y="4995862"/>
            <a:ext cx="6828911" cy="840105"/>
            <a:chOff x="712470" y="4995862"/>
            <a:chExt cx="6828911" cy="840105"/>
          </a:xfrm>
        </p:grpSpPr>
        <p:sp>
          <p:nvSpPr>
            <p:cNvPr id="14" name="TextBox 14"/>
            <p:cNvSpPr txBox="1"/>
            <p:nvPr/>
          </p:nvSpPr>
          <p:spPr>
            <a:xfrm>
              <a:off x="712470" y="4995862"/>
              <a:ext cx="5344861"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A selection can be wrong as a label</a:t>
              </a:r>
            </a:p>
          </p:txBody>
        </p:sp>
        <p:sp>
          <p:nvSpPr>
            <p:cNvPr id="15" name="TextBox 15"/>
            <p:cNvSpPr txBox="1"/>
            <p:nvPr/>
          </p:nvSpPr>
          <p:spPr>
            <a:xfrm>
              <a:off x="712470" y="5395912"/>
              <a:ext cx="6828911"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and still almost right as a runtime decision.</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15</a:t>
            </a:r>
          </a:p>
        </p:txBody>
      </p:sp>
    </p:spTree>
  </p:cSld>
  <p:clrMapOvr>
    <a:masterClrMapping/>
  </p:clrMapOvr>
  <p:transition xmlns:p14="http://schemas.microsoft.com/office/powerpoint/2010/main" p14:dur="3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184768" cy="1121664"/>
            <a:chOff x="516636" y="196215"/>
            <a:chExt cx="7184768" cy="1121664"/>
          </a:xfrm>
        </p:grpSpPr>
        <p:sp>
          <p:nvSpPr>
            <p:cNvPr id="3" name="TextBox 3"/>
            <p:cNvSpPr txBox="1"/>
            <p:nvPr/>
          </p:nvSpPr>
          <p:spPr>
            <a:xfrm>
              <a:off x="516636" y="196215"/>
              <a:ext cx="718476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Timsort is structurally visible;</a:t>
              </a:r>
            </a:p>
          </p:txBody>
        </p:sp>
        <p:sp>
          <p:nvSpPr>
            <p:cNvPr id="4" name="TextBox 4"/>
            <p:cNvSpPr txBox="1"/>
            <p:nvPr/>
          </p:nvSpPr>
          <p:spPr>
            <a:xfrm>
              <a:off x="516636" y="672465"/>
              <a:ext cx="651729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introsort vs heapsort is not</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666750" y="1285875"/>
            <a:ext cx="5334000" cy="4381500"/>
            <a:chOff x="666750" y="1285875"/>
            <a:chExt cx="5334000" cy="4381500"/>
          </a:xfrm>
        </p:grpSpPr>
        <p:sp>
          <p:nvSpPr>
            <p:cNvPr id="7" name="Freeform 7"/>
            <p:cNvSpPr/>
            <p:nvPr/>
          </p:nvSpPr>
          <p:spPr>
            <a:xfrm>
              <a:off x="666750" y="1285875"/>
              <a:ext cx="5334000" cy="4381500"/>
            </a:xfrm>
            <a:custGeom>
              <a:avLst/>
              <a:gdLst/>
              <a:ahLst/>
              <a:cxnLst/>
              <a:rect l="l" t="t" r="r" b="b"/>
              <a:pathLst>
                <a:path w="5334000" h="4381500">
                  <a:moveTo>
                    <a:pt x="76200" y="0"/>
                  </a:moveTo>
                  <a:lnTo>
                    <a:pt x="5257800" y="0"/>
                  </a:lnTo>
                  <a:cubicBezTo>
                    <a:pt x="5299884" y="0"/>
                    <a:pt x="5334000" y="34116"/>
                    <a:pt x="5334000" y="76200"/>
                  </a:cubicBezTo>
                  <a:lnTo>
                    <a:pt x="5334000" y="4305300"/>
                  </a:lnTo>
                  <a:cubicBezTo>
                    <a:pt x="5334000" y="4347384"/>
                    <a:pt x="5299884" y="4381500"/>
                    <a:pt x="5257800" y="4381500"/>
                  </a:cubicBezTo>
                  <a:lnTo>
                    <a:pt x="76200" y="4381500"/>
                  </a:lnTo>
                  <a:cubicBezTo>
                    <a:pt x="34116" y="4381500"/>
                    <a:pt x="0" y="4347384"/>
                    <a:pt x="0" y="43053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52500" y="1528286"/>
              <a:ext cx="4762500" cy="3896582"/>
            </a:xfrm>
            <a:prstGeom prst="rect">
              <a:avLst/>
            </a:prstGeom>
          </p:spPr>
        </p:pic>
      </p:grpSp>
      <p:grpSp>
        <p:nvGrpSpPr>
          <p:cNvPr id="15" name="Group 15"/>
          <p:cNvGrpSpPr/>
          <p:nvPr/>
        </p:nvGrpSpPr>
        <p:grpSpPr>
          <a:xfrm>
            <a:off x="6648450" y="1369695"/>
            <a:ext cx="6008370" cy="3126867"/>
            <a:chOff x="6648450" y="1369695"/>
            <a:chExt cx="6008370" cy="3126867"/>
          </a:xfrm>
        </p:grpSpPr>
        <p:sp>
          <p:nvSpPr>
            <p:cNvPr id="10" name="TextBox 10"/>
            <p:cNvSpPr txBox="1"/>
            <p:nvPr/>
          </p:nvSpPr>
          <p:spPr>
            <a:xfrm>
              <a:off x="6648450" y="1369695"/>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94.5%</a:t>
              </a:r>
            </a:p>
          </p:txBody>
        </p:sp>
        <p:sp>
          <p:nvSpPr>
            <p:cNvPr id="11" name="TextBox 11"/>
            <p:cNvSpPr txBox="1"/>
            <p:nvPr/>
          </p:nvSpPr>
          <p:spPr>
            <a:xfrm>
              <a:off x="6656832" y="2173605"/>
              <a:ext cx="197198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 recall</a:t>
              </a:r>
            </a:p>
          </p:txBody>
        </p:sp>
        <p:sp>
          <p:nvSpPr>
            <p:cNvPr id="12" name="TextBox 12"/>
            <p:cNvSpPr txBox="1"/>
            <p:nvPr/>
          </p:nvSpPr>
          <p:spPr>
            <a:xfrm>
              <a:off x="6655308" y="3074670"/>
              <a:ext cx="333085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The weak boundary is</a:t>
              </a:r>
            </a:p>
          </p:txBody>
        </p:sp>
        <p:sp>
          <p:nvSpPr>
            <p:cNvPr id="13" name="TextBox 13"/>
            <p:cNvSpPr txBox="1"/>
            <p:nvPr/>
          </p:nvSpPr>
          <p:spPr>
            <a:xfrm>
              <a:off x="6655308" y="3550920"/>
              <a:ext cx="527456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between introsort and heapsort,</a:t>
              </a:r>
            </a:p>
          </p:txBody>
        </p:sp>
        <p:sp>
          <p:nvSpPr>
            <p:cNvPr id="14" name="TextBox 14"/>
            <p:cNvSpPr txBox="1"/>
            <p:nvPr/>
          </p:nvSpPr>
          <p:spPr>
            <a:xfrm>
              <a:off x="6655308" y="4027170"/>
              <a:ext cx="6001512"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where structural features are close.</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16</a:t>
            </a:r>
          </a:p>
        </p:txBody>
      </p:sp>
    </p:spTree>
  </p:cSld>
  <p:clrMapOvr>
    <a:masterClrMapping/>
  </p:clrMapOvr>
  <p:transition xmlns:p14="http://schemas.microsoft.com/office/powerpoint/2010/main" p14:dur="3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232625" cy="1121664"/>
            <a:chOff x="516636" y="196215"/>
            <a:chExt cx="7232625" cy="1121664"/>
          </a:xfrm>
        </p:grpSpPr>
        <p:sp>
          <p:nvSpPr>
            <p:cNvPr id="3" name="TextBox 3"/>
            <p:cNvSpPr txBox="1"/>
            <p:nvPr/>
          </p:nvSpPr>
          <p:spPr>
            <a:xfrm>
              <a:off x="516636" y="196215"/>
              <a:ext cx="723262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The model mostly uses features</a:t>
              </a:r>
            </a:p>
          </p:txBody>
        </p:sp>
        <p:sp>
          <p:nvSpPr>
            <p:cNvPr id="4" name="TextBox 4"/>
            <p:cNvSpPr txBox="1"/>
            <p:nvPr/>
          </p:nvSpPr>
          <p:spPr>
            <a:xfrm>
              <a:off x="516636" y="672465"/>
              <a:ext cx="556105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that make sorting sense</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285875"/>
            <a:ext cx="6858000" cy="4619625"/>
            <a:chOff x="533400" y="1285875"/>
            <a:chExt cx="6858000" cy="4619625"/>
          </a:xfrm>
        </p:grpSpPr>
        <p:sp>
          <p:nvSpPr>
            <p:cNvPr id="7" name="Freeform 7"/>
            <p:cNvSpPr/>
            <p:nvPr/>
          </p:nvSpPr>
          <p:spPr>
            <a:xfrm>
              <a:off x="533400" y="1285875"/>
              <a:ext cx="6858000" cy="4619625"/>
            </a:xfrm>
            <a:custGeom>
              <a:avLst/>
              <a:gdLst/>
              <a:ahLst/>
              <a:cxnLst/>
              <a:rect l="l" t="t" r="r" b="b"/>
              <a:pathLst>
                <a:path w="6858000" h="4619625">
                  <a:moveTo>
                    <a:pt x="76200" y="0"/>
                  </a:moveTo>
                  <a:lnTo>
                    <a:pt x="6781800" y="0"/>
                  </a:lnTo>
                  <a:cubicBezTo>
                    <a:pt x="6823884" y="0"/>
                    <a:pt x="6858000" y="34116"/>
                    <a:pt x="6858000" y="76200"/>
                  </a:cubicBezTo>
                  <a:lnTo>
                    <a:pt x="6858000" y="4543425"/>
                  </a:lnTo>
                  <a:cubicBezTo>
                    <a:pt x="6858000" y="4585509"/>
                    <a:pt x="6823884" y="4619625"/>
                    <a:pt x="6781800" y="4619625"/>
                  </a:cubicBezTo>
                  <a:lnTo>
                    <a:pt x="76200" y="4619625"/>
                  </a:lnTo>
                  <a:cubicBezTo>
                    <a:pt x="34116" y="4619625"/>
                    <a:pt x="0" y="4585509"/>
                    <a:pt x="0" y="4543425"/>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49071" y="1524000"/>
              <a:ext cx="6026753" cy="4143375"/>
            </a:xfrm>
            <a:prstGeom prst="rect">
              <a:avLst/>
            </a:prstGeom>
          </p:spPr>
        </p:pic>
      </p:grpSp>
      <p:grpSp>
        <p:nvGrpSpPr>
          <p:cNvPr id="16" name="Group 16"/>
          <p:cNvGrpSpPr/>
          <p:nvPr/>
        </p:nvGrpSpPr>
        <p:grpSpPr>
          <a:xfrm>
            <a:off x="7892796" y="1629728"/>
            <a:ext cx="4482317" cy="3610737"/>
            <a:chOff x="7892796" y="1629728"/>
            <a:chExt cx="4482317" cy="3610737"/>
          </a:xfrm>
        </p:grpSpPr>
        <p:sp>
          <p:nvSpPr>
            <p:cNvPr id="10" name="TextBox 10"/>
            <p:cNvSpPr txBox="1"/>
            <p:nvPr/>
          </p:nvSpPr>
          <p:spPr>
            <a:xfrm>
              <a:off x="7892796" y="1629728"/>
              <a:ext cx="1947080"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Top signals</a:t>
              </a:r>
            </a:p>
          </p:txBody>
        </p:sp>
        <p:sp>
          <p:nvSpPr>
            <p:cNvPr id="11" name="TextBox 11"/>
            <p:cNvSpPr txBox="1"/>
            <p:nvPr/>
          </p:nvSpPr>
          <p:spPr>
            <a:xfrm>
              <a:off x="7894320" y="2424112"/>
              <a:ext cx="94669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length</a:t>
              </a:r>
            </a:p>
          </p:txBody>
        </p:sp>
        <p:sp>
          <p:nvSpPr>
            <p:cNvPr id="12" name="TextBox 12"/>
            <p:cNvSpPr txBox="1"/>
            <p:nvPr/>
          </p:nvSpPr>
          <p:spPr>
            <a:xfrm>
              <a:off x="7894320" y="2900362"/>
              <a:ext cx="211283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top frequency</a:t>
              </a:r>
            </a:p>
          </p:txBody>
        </p:sp>
        <p:sp>
          <p:nvSpPr>
            <p:cNvPr id="13" name="TextBox 13"/>
            <p:cNvSpPr txBox="1"/>
            <p:nvPr/>
          </p:nvSpPr>
          <p:spPr>
            <a:xfrm>
              <a:off x="7894320" y="3376612"/>
              <a:ext cx="170392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longest run</a:t>
              </a:r>
            </a:p>
          </p:txBody>
        </p:sp>
        <p:sp>
          <p:nvSpPr>
            <p:cNvPr id="14" name="TextBox 14"/>
            <p:cNvSpPr txBox="1"/>
            <p:nvPr/>
          </p:nvSpPr>
          <p:spPr>
            <a:xfrm>
              <a:off x="7894320" y="3852862"/>
              <a:ext cx="221884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duplicate ratio</a:t>
              </a:r>
            </a:p>
          </p:txBody>
        </p:sp>
        <p:sp>
          <p:nvSpPr>
            <p:cNvPr id="15" name="TextBox 15"/>
            <p:cNvSpPr txBox="1"/>
            <p:nvPr/>
          </p:nvSpPr>
          <p:spPr>
            <a:xfrm>
              <a:off x="7897368" y="4917758"/>
              <a:ext cx="44777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This is interpretation, not causal proof.</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17</a:t>
            </a:r>
          </a:p>
        </p:txBody>
      </p:sp>
    </p:spTree>
  </p:cSld>
  <p:clrMapOvr>
    <a:masterClrMapping/>
  </p:clrMapOvr>
  <p:transition xmlns:p14="http://schemas.microsoft.com/office/powerpoint/2010/main" p14:dur="3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3589991" cy="762000"/>
            <a:chOff x="514350" y="264795"/>
            <a:chExt cx="13589991" cy="762000"/>
          </a:xfrm>
        </p:grpSpPr>
        <p:sp>
          <p:nvSpPr>
            <p:cNvPr id="3" name="TextBox 3"/>
            <p:cNvSpPr txBox="1"/>
            <p:nvPr/>
          </p:nvSpPr>
          <p:spPr>
            <a:xfrm>
              <a:off x="514350" y="264795"/>
              <a:ext cx="13589991"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selector transfers when structure transfers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85875"/>
            <a:ext cx="7334250" cy="4524375"/>
            <a:chOff x="533400" y="1285875"/>
            <a:chExt cx="7334250" cy="4524375"/>
          </a:xfrm>
        </p:grpSpPr>
        <p:sp>
          <p:nvSpPr>
            <p:cNvPr id="6" name="Freeform 6"/>
            <p:cNvSpPr/>
            <p:nvPr/>
          </p:nvSpPr>
          <p:spPr>
            <a:xfrm>
              <a:off x="533400" y="1285875"/>
              <a:ext cx="7334250" cy="4524375"/>
            </a:xfrm>
            <a:custGeom>
              <a:avLst/>
              <a:gdLst/>
              <a:ahLst/>
              <a:cxnLst/>
              <a:rect l="l" t="t" r="r" b="b"/>
              <a:pathLst>
                <a:path w="7334250" h="4524375">
                  <a:moveTo>
                    <a:pt x="76200" y="0"/>
                  </a:moveTo>
                  <a:lnTo>
                    <a:pt x="7258050" y="0"/>
                  </a:lnTo>
                  <a:cubicBezTo>
                    <a:pt x="7300134" y="0"/>
                    <a:pt x="7334250" y="34116"/>
                    <a:pt x="7334250" y="76200"/>
                  </a:cubicBezTo>
                  <a:lnTo>
                    <a:pt x="7334250" y="4448175"/>
                  </a:lnTo>
                  <a:cubicBezTo>
                    <a:pt x="7334250" y="4490259"/>
                    <a:pt x="7300134" y="4524375"/>
                    <a:pt x="7258050" y="4524375"/>
                  </a:cubicBezTo>
                  <a:lnTo>
                    <a:pt x="76200" y="4524375"/>
                  </a:lnTo>
                  <a:cubicBezTo>
                    <a:pt x="34116" y="4524375"/>
                    <a:pt x="0" y="4490259"/>
                    <a:pt x="0" y="4448175"/>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4974" y="1524000"/>
              <a:ext cx="6531007" cy="4048125"/>
            </a:xfrm>
            <a:prstGeom prst="rect">
              <a:avLst/>
            </a:prstGeom>
          </p:spPr>
        </p:pic>
      </p:grpSp>
      <p:grpSp>
        <p:nvGrpSpPr>
          <p:cNvPr id="14" name="Group 14"/>
          <p:cNvGrpSpPr/>
          <p:nvPr/>
        </p:nvGrpSpPr>
        <p:grpSpPr>
          <a:xfrm>
            <a:off x="8319897" y="1644968"/>
            <a:ext cx="2812542" cy="2695575"/>
            <a:chOff x="8319897" y="1644968"/>
            <a:chExt cx="2812542" cy="2695575"/>
          </a:xfrm>
        </p:grpSpPr>
        <p:sp>
          <p:nvSpPr>
            <p:cNvPr id="9" name="TextBox 9"/>
            <p:cNvSpPr txBox="1"/>
            <p:nvPr/>
          </p:nvSpPr>
          <p:spPr>
            <a:xfrm>
              <a:off x="8319897" y="1644968"/>
              <a:ext cx="249898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Holdout test</a:t>
              </a:r>
            </a:p>
          </p:txBody>
        </p:sp>
        <p:sp>
          <p:nvSpPr>
            <p:cNvPr id="10" name="TextBox 10"/>
            <p:cNvSpPr txBox="1"/>
            <p:nvPr/>
          </p:nvSpPr>
          <p:spPr>
            <a:xfrm>
              <a:off x="8322945" y="2471738"/>
              <a:ext cx="176450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not uniform</a:t>
              </a:r>
            </a:p>
          </p:txBody>
        </p:sp>
        <p:sp>
          <p:nvSpPr>
            <p:cNvPr id="11" name="TextBox 11"/>
            <p:cNvSpPr txBox="1"/>
            <p:nvPr/>
          </p:nvSpPr>
          <p:spPr>
            <a:xfrm>
              <a:off x="8322945" y="2947988"/>
              <a:ext cx="2612612"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but runtime value</a:t>
              </a:r>
            </a:p>
          </p:txBody>
        </p:sp>
        <p:sp>
          <p:nvSpPr>
            <p:cNvPr id="12" name="TextBox 12"/>
            <p:cNvSpPr txBox="1"/>
            <p:nvPr/>
          </p:nvSpPr>
          <p:spPr>
            <a:xfrm>
              <a:off x="8322945" y="3424238"/>
              <a:ext cx="280949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survives in several</a:t>
              </a:r>
            </a:p>
          </p:txBody>
        </p:sp>
        <p:sp>
          <p:nvSpPr>
            <p:cNvPr id="13" name="TextBox 13"/>
            <p:cNvSpPr txBox="1"/>
            <p:nvPr/>
          </p:nvSpPr>
          <p:spPr>
            <a:xfrm>
              <a:off x="8322945" y="3900488"/>
              <a:ext cx="24157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 removals</a:t>
              </a:r>
            </a:p>
          </p:txBody>
        </p:sp>
      </p:grpSp>
      <p:sp>
        <p:nvSpPr>
          <p:cNvPr id="15" name="TextBox 15"/>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18</a:t>
            </a:r>
          </a:p>
        </p:txBody>
      </p:sp>
    </p:spTree>
  </p:cSld>
  <p:clrMapOvr>
    <a:masterClrMapping/>
  </p:clrMapOvr>
  <p:transition xmlns:p14="http://schemas.microsoft.com/office/powerpoint/2010/main" p14:dur="3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9751116" cy="1121664"/>
            <a:chOff x="516636" y="196215"/>
            <a:chExt cx="9751116" cy="1121664"/>
          </a:xfrm>
        </p:grpSpPr>
        <p:sp>
          <p:nvSpPr>
            <p:cNvPr id="3" name="TextBox 3"/>
            <p:cNvSpPr txBox="1"/>
            <p:nvPr/>
          </p:nvSpPr>
          <p:spPr>
            <a:xfrm>
              <a:off x="516636" y="196215"/>
              <a:ext cx="9751116"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Strict checks changed the interpretation,</a:t>
              </a:r>
            </a:p>
          </p:txBody>
        </p:sp>
        <p:sp>
          <p:nvSpPr>
            <p:cNvPr id="4" name="TextBox 4"/>
            <p:cNvSpPr txBox="1"/>
            <p:nvPr/>
          </p:nvSpPr>
          <p:spPr>
            <a:xfrm>
              <a:off x="516636" y="672465"/>
              <a:ext cx="4698111"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not the contribution</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533400" y="1257300"/>
            <a:ext cx="6905625" cy="4095750"/>
            <a:chOff x="533400" y="1257300"/>
            <a:chExt cx="6905625" cy="4095750"/>
          </a:xfrm>
        </p:grpSpPr>
        <p:sp>
          <p:nvSpPr>
            <p:cNvPr id="7" name="Freeform 7"/>
            <p:cNvSpPr/>
            <p:nvPr/>
          </p:nvSpPr>
          <p:spPr>
            <a:xfrm>
              <a:off x="533400" y="1257300"/>
              <a:ext cx="6905625" cy="4095750"/>
            </a:xfrm>
            <a:custGeom>
              <a:avLst/>
              <a:gdLst/>
              <a:ahLst/>
              <a:cxnLst/>
              <a:rect l="l" t="t" r="r" b="b"/>
              <a:pathLst>
                <a:path w="6905625" h="4095750">
                  <a:moveTo>
                    <a:pt x="76200" y="0"/>
                  </a:moveTo>
                  <a:lnTo>
                    <a:pt x="6829425" y="0"/>
                  </a:lnTo>
                  <a:cubicBezTo>
                    <a:pt x="6871509" y="0"/>
                    <a:pt x="6905625" y="34116"/>
                    <a:pt x="6905625" y="76200"/>
                  </a:cubicBezTo>
                  <a:lnTo>
                    <a:pt x="6905625" y="4019550"/>
                  </a:lnTo>
                  <a:cubicBezTo>
                    <a:pt x="6905625" y="4061634"/>
                    <a:pt x="6871509" y="4095750"/>
                    <a:pt x="6829425" y="4095750"/>
                  </a:cubicBezTo>
                  <a:lnTo>
                    <a:pt x="76200" y="4095750"/>
                  </a:lnTo>
                  <a:cubicBezTo>
                    <a:pt x="34116" y="4095750"/>
                    <a:pt x="0" y="4061634"/>
                    <a:pt x="0" y="401955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36403" y="1485900"/>
              <a:ext cx="6118670" cy="3638550"/>
            </a:xfrm>
            <a:prstGeom prst="rect">
              <a:avLst/>
            </a:prstGeom>
          </p:spPr>
        </p:pic>
      </p:grpSp>
      <p:grpSp>
        <p:nvGrpSpPr>
          <p:cNvPr id="19" name="Group 19"/>
          <p:cNvGrpSpPr/>
          <p:nvPr/>
        </p:nvGrpSpPr>
        <p:grpSpPr>
          <a:xfrm>
            <a:off x="8084820" y="1493044"/>
            <a:ext cx="4096798" cy="3533299"/>
            <a:chOff x="8084820" y="1493044"/>
            <a:chExt cx="4096798" cy="3533299"/>
          </a:xfrm>
        </p:grpSpPr>
        <p:grpSp>
          <p:nvGrpSpPr>
            <p:cNvPr id="12" name="Group 12"/>
            <p:cNvGrpSpPr/>
            <p:nvPr/>
          </p:nvGrpSpPr>
          <p:grpSpPr>
            <a:xfrm>
              <a:off x="8131621" y="1493044"/>
              <a:ext cx="418514" cy="385762"/>
              <a:chOff x="8131621" y="1493044"/>
              <a:chExt cx="418514" cy="385762"/>
            </a:xfrm>
          </p:grpSpPr>
          <p:sp>
            <p:nvSpPr>
              <p:cNvPr id="10" name="Freeform 10"/>
              <p:cNvSpPr/>
              <p:nvPr/>
            </p:nvSpPr>
            <p:spPr>
              <a:xfrm>
                <a:off x="8131621" y="1493044"/>
                <a:ext cx="418514" cy="382462"/>
              </a:xfrm>
              <a:custGeom>
                <a:avLst/>
                <a:gdLst/>
                <a:ahLst/>
                <a:cxnLst/>
                <a:rect l="l" t="t" r="r" b="b"/>
                <a:pathLst>
                  <a:path w="418514" h="382462">
                    <a:moveTo>
                      <a:pt x="210231" y="382462"/>
                    </a:moveTo>
                    <a:cubicBezTo>
                      <a:pt x="75974" y="340845"/>
                      <a:pt x="0" y="199148"/>
                      <a:pt x="39638" y="64294"/>
                    </a:cubicBezTo>
                    <a:cubicBezTo>
                      <a:pt x="106408" y="67349"/>
                      <a:pt x="171744" y="44289"/>
                      <a:pt x="221804" y="0"/>
                    </a:cubicBezTo>
                    <a:cubicBezTo>
                      <a:pt x="271864" y="44289"/>
                      <a:pt x="337200" y="67349"/>
                      <a:pt x="403969" y="64294"/>
                    </a:cubicBezTo>
                    <a:cubicBezTo>
                      <a:pt x="418514" y="113781"/>
                      <a:pt x="417842" y="166498"/>
                      <a:pt x="402041" y="215598"/>
                    </a:cubicBezTo>
                  </a:path>
                </a:pathLst>
              </a:custGeom>
              <a:noFill/>
              <a:ln w="19050">
                <a:solidFill>
                  <a:srgbClr val="D99A20"/>
                </a:solidFill>
              </a:ln>
            </p:spPr>
          </p:sp>
          <p:sp>
            <p:nvSpPr>
              <p:cNvPr id="11" name="Freeform 11"/>
              <p:cNvSpPr/>
              <p:nvPr/>
            </p:nvSpPr>
            <p:spPr>
              <a:xfrm>
                <a:off x="8417719" y="1793081"/>
                <a:ext cx="128588" cy="85725"/>
              </a:xfrm>
              <a:custGeom>
                <a:avLst/>
                <a:gdLst/>
                <a:ahLst/>
                <a:cxnLst/>
                <a:rect l="l" t="t" r="r" b="b"/>
                <a:pathLst>
                  <a:path w="128588" h="85725">
                    <a:moveTo>
                      <a:pt x="0" y="42862"/>
                    </a:moveTo>
                    <a:lnTo>
                      <a:pt x="42862" y="85725"/>
                    </a:lnTo>
                    <a:lnTo>
                      <a:pt x="128588" y="0"/>
                    </a:lnTo>
                  </a:path>
                </a:pathLst>
              </a:custGeom>
              <a:noFill/>
              <a:ln w="19050">
                <a:solidFill>
                  <a:srgbClr val="D99A20"/>
                </a:solidFill>
              </a:ln>
            </p:spPr>
          </p:sp>
        </p:grpSp>
        <p:sp>
          <p:nvSpPr>
            <p:cNvPr id="13" name="TextBox 13"/>
            <p:cNvSpPr txBox="1"/>
            <p:nvPr/>
          </p:nvSpPr>
          <p:spPr>
            <a:xfrm>
              <a:off x="8084820" y="2090738"/>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source-aware split lowered</a:t>
              </a:r>
            </a:p>
          </p:txBody>
        </p:sp>
        <p:sp>
          <p:nvSpPr>
            <p:cNvPr id="14" name="TextBox 14"/>
            <p:cNvSpPr txBox="1"/>
            <p:nvPr/>
          </p:nvSpPr>
          <p:spPr>
            <a:xfrm>
              <a:off x="8084820" y="2528888"/>
              <a:ext cx="18402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the numbers</a:t>
              </a:r>
            </a:p>
          </p:txBody>
        </p:sp>
        <p:sp>
          <p:nvSpPr>
            <p:cNvPr id="15" name="TextBox 15"/>
            <p:cNvSpPr txBox="1"/>
            <p:nvPr/>
          </p:nvSpPr>
          <p:spPr>
            <a:xfrm>
              <a:off x="8084820" y="3119438"/>
              <a:ext cx="377875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v7 regret-aware training</a:t>
              </a:r>
            </a:p>
          </p:txBody>
        </p:sp>
        <p:sp>
          <p:nvSpPr>
            <p:cNvPr id="16" name="TextBox 16"/>
            <p:cNvSpPr txBox="1"/>
            <p:nvPr/>
          </p:nvSpPr>
          <p:spPr>
            <a:xfrm>
              <a:off x="8084820" y="3557588"/>
              <a:ext cx="19310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was rejected</a:t>
              </a:r>
            </a:p>
          </p:txBody>
        </p:sp>
        <p:sp>
          <p:nvSpPr>
            <p:cNvPr id="17" name="TextBox 17"/>
            <p:cNvSpPr txBox="1"/>
            <p:nvPr/>
          </p:nvSpPr>
          <p:spPr>
            <a:xfrm>
              <a:off x="8084820" y="4148138"/>
              <a:ext cx="388477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v8 exposed the intro-heap</a:t>
              </a:r>
            </a:p>
          </p:txBody>
        </p:sp>
        <p:sp>
          <p:nvSpPr>
            <p:cNvPr id="18" name="TextBox 18"/>
            <p:cNvSpPr txBox="1"/>
            <p:nvPr/>
          </p:nvSpPr>
          <p:spPr>
            <a:xfrm>
              <a:off x="8084820" y="458628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boundary</a:t>
              </a:r>
            </a:p>
          </p:txBody>
        </p:sp>
      </p:grpSp>
      <p:grpSp>
        <p:nvGrpSpPr>
          <p:cNvPr id="21" name="Group 21"/>
          <p:cNvGrpSpPr/>
          <p:nvPr/>
        </p:nvGrpSpPr>
        <p:grpSpPr>
          <a:xfrm>
            <a:off x="521970" y="5710238"/>
            <a:ext cx="11355937" cy="440055"/>
            <a:chOff x="521970" y="5710238"/>
            <a:chExt cx="11355937" cy="440055"/>
          </a:xfrm>
        </p:grpSpPr>
        <p:sp>
          <p:nvSpPr>
            <p:cNvPr id="20" name="TextBox 20"/>
            <p:cNvSpPr txBox="1"/>
            <p:nvPr/>
          </p:nvSpPr>
          <p:spPr>
            <a:xfrm>
              <a:off x="521970" y="5710238"/>
              <a:ext cx="11355937"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stricter checks make the final claim narrower, but more defensible.</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19</a:t>
            </a:r>
          </a:p>
        </p:txBody>
      </p:sp>
    </p:spTree>
  </p:cSld>
  <p:clrMapOvr>
    <a:masterClrMapping/>
  </p:clrMapOvr>
  <p:transition xmlns:p14="http://schemas.microsoft.com/office/powerpoint/2010/main" p14:dur="3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927287" cy="1170051"/>
            <a:chOff x="515874" y="237172"/>
            <a:chExt cx="7927287" cy="1170051"/>
          </a:xfrm>
        </p:grpSpPr>
        <p:sp>
          <p:nvSpPr>
            <p:cNvPr id="3" name="TextBox 3"/>
            <p:cNvSpPr txBox="1"/>
            <p:nvPr/>
          </p:nvSpPr>
          <p:spPr>
            <a:xfrm>
              <a:off x="515874" y="237172"/>
              <a:ext cx="792728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remaining errors show where</a:t>
              </a:r>
            </a:p>
          </p:txBody>
        </p:sp>
        <p:sp>
          <p:nvSpPr>
            <p:cNvPr id="4" name="TextBox 4"/>
            <p:cNvSpPr txBox="1"/>
            <p:nvPr/>
          </p:nvSpPr>
          <p:spPr>
            <a:xfrm>
              <a:off x="515874" y="732472"/>
              <a:ext cx="59845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features stop seeing</a:t>
              </a:r>
            </a:p>
          </p:txBody>
        </p:sp>
        <p:sp>
          <p:nvSpPr>
            <p:cNvPr id="5" name="Rectangle 5"/>
            <p:cNvSpPr/>
            <p:nvPr/>
          </p:nvSpPr>
          <p:spPr>
            <a:xfrm>
              <a:off x="533400" y="1219200"/>
              <a:ext cx="1714500" cy="47625"/>
            </a:xfrm>
            <a:prstGeom prst="rect">
              <a:avLst/>
            </a:prstGeom>
            <a:solidFill>
              <a:srgbClr val="D99A20"/>
            </a:solidFill>
            <a:ln>
              <a:noFill/>
            </a:ln>
          </p:spPr>
        </p:sp>
      </p:grpSp>
      <p:grpSp>
        <p:nvGrpSpPr>
          <p:cNvPr id="12" name="Group 12"/>
          <p:cNvGrpSpPr/>
          <p:nvPr/>
        </p:nvGrpSpPr>
        <p:grpSpPr>
          <a:xfrm>
            <a:off x="1033272" y="2025968"/>
            <a:ext cx="9539478" cy="1412557"/>
            <a:chOff x="1033272" y="2025968"/>
            <a:chExt cx="9539478" cy="1412557"/>
          </a:xfrm>
        </p:grpSpPr>
        <p:sp>
          <p:nvSpPr>
            <p:cNvPr id="7" name="TextBox 7"/>
            <p:cNvSpPr txBox="1"/>
            <p:nvPr/>
          </p:nvSpPr>
          <p:spPr>
            <a:xfrm>
              <a:off x="1033272" y="2025968"/>
              <a:ext cx="294210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Clear boundary</a:t>
              </a:r>
            </a:p>
          </p:txBody>
        </p:sp>
        <p:sp>
          <p:nvSpPr>
            <p:cNvPr id="8" name="TextBox 8"/>
            <p:cNvSpPr txBox="1"/>
            <p:nvPr/>
          </p:nvSpPr>
          <p:spPr>
            <a:xfrm>
              <a:off x="1035558" y="2646045"/>
              <a:ext cx="3142183"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timsort vs the rest</a:t>
              </a:r>
            </a:p>
          </p:txBody>
        </p:sp>
        <p:sp>
          <p:nvSpPr>
            <p:cNvPr id="9" name="Line 9"/>
            <p:cNvSpPr/>
            <p:nvPr/>
          </p:nvSpPr>
          <p:spPr>
            <a:xfrm>
              <a:off x="1047750" y="3429000"/>
              <a:ext cx="9525000" cy="9525"/>
            </a:xfrm>
            <a:custGeom>
              <a:avLst/>
              <a:gdLst/>
              <a:ahLst/>
              <a:cxnLst/>
              <a:rect l="l" t="t" r="r" b="b"/>
              <a:pathLst>
                <a:path w="9525000" h="9525">
                  <a:moveTo>
                    <a:pt x="0" y="0"/>
                  </a:moveTo>
                  <a:lnTo>
                    <a:pt x="9525000" y="0"/>
                  </a:lnTo>
                </a:path>
              </a:pathLst>
            </a:custGeom>
            <a:noFill/>
            <a:ln w="28575">
              <a:solidFill>
                <a:srgbClr val="D8DEE8"/>
              </a:solidFill>
            </a:ln>
          </p:spPr>
        </p:sp>
        <p:sp>
          <p:nvSpPr>
            <p:cNvPr id="10" name="TextBox 10"/>
            <p:cNvSpPr txBox="1"/>
            <p:nvPr/>
          </p:nvSpPr>
          <p:spPr>
            <a:xfrm>
              <a:off x="6843522" y="2025968"/>
              <a:ext cx="2821735" cy="557403"/>
            </a:xfrm>
            <a:prstGeom prst="rect">
              <a:avLst/>
            </a:prstGeom>
            <a:noFill/>
            <a:ln>
              <a:noFill/>
            </a:ln>
          </p:spPr>
          <p:txBody>
            <a:bodyPr wrap="none" lIns="0" tIns="0" rIns="0" bIns="0" anchor="t" anchorCtr="0">
              <a:spAutoFit/>
            </a:bodyPr>
            <a:lstStyle/>
            <a:p>
              <a:pPr algn="l"/>
              <a:r>
                <a:rPr lang="en-US" sz="2850" b="1" dirty="0">
                  <a:solidFill>
                    <a:srgbClr val="D99A20"/>
                  </a:solidFill>
                  <a:latin typeface="Arial"/>
                  <a:ea typeface="Arial"/>
                  <a:cs typeface="Arial"/>
                </a:rPr>
                <a:t>Hard boundary</a:t>
              </a:r>
            </a:p>
          </p:txBody>
        </p:sp>
        <p:sp>
          <p:nvSpPr>
            <p:cNvPr id="11" name="TextBox 11"/>
            <p:cNvSpPr txBox="1"/>
            <p:nvPr/>
          </p:nvSpPr>
          <p:spPr>
            <a:xfrm>
              <a:off x="6845808" y="2646045"/>
              <a:ext cx="351373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introsort vs heapsort</a:t>
              </a:r>
            </a:p>
          </p:txBody>
        </p:sp>
      </p:grpSp>
      <p:grpSp>
        <p:nvGrpSpPr>
          <p:cNvPr id="17" name="Group 17"/>
          <p:cNvGrpSpPr/>
          <p:nvPr/>
        </p:nvGrpSpPr>
        <p:grpSpPr>
          <a:xfrm>
            <a:off x="1428750" y="4333875"/>
            <a:ext cx="9489371" cy="1190625"/>
            <a:chOff x="1428750" y="4333875"/>
            <a:chExt cx="9489371" cy="1190625"/>
          </a:xfrm>
        </p:grpSpPr>
        <p:sp>
          <p:nvSpPr>
            <p:cNvPr id="13" name="Freeform 13"/>
            <p:cNvSpPr/>
            <p:nvPr/>
          </p:nvSpPr>
          <p:spPr>
            <a:xfrm>
              <a:off x="1428750" y="4333875"/>
              <a:ext cx="9334500" cy="1190625"/>
            </a:xfrm>
            <a:custGeom>
              <a:avLst/>
              <a:gdLst/>
              <a:ahLst/>
              <a:cxnLst/>
              <a:rect l="l" t="t" r="r" b="b"/>
              <a:pathLst>
                <a:path w="9334500" h="1190625">
                  <a:moveTo>
                    <a:pt x="76200" y="0"/>
                  </a:moveTo>
                  <a:lnTo>
                    <a:pt x="9258300" y="0"/>
                  </a:lnTo>
                  <a:cubicBezTo>
                    <a:pt x="9300384" y="0"/>
                    <a:pt x="9334500" y="34116"/>
                    <a:pt x="9334500" y="76200"/>
                  </a:cubicBezTo>
                  <a:lnTo>
                    <a:pt x="9334500" y="1114425"/>
                  </a:lnTo>
                  <a:cubicBezTo>
                    <a:pt x="9334500" y="1156509"/>
                    <a:pt x="9300384" y="1190625"/>
                    <a:pt x="9258300" y="1190625"/>
                  </a:cubicBezTo>
                  <a:lnTo>
                    <a:pt x="76200" y="1190625"/>
                  </a:lnTo>
                  <a:cubicBezTo>
                    <a:pt x="34116" y="1190625"/>
                    <a:pt x="0" y="1156509"/>
                    <a:pt x="0" y="1114425"/>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1799844" y="4523422"/>
              <a:ext cx="6105495"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channel routing is a separate specialization:</a:t>
              </a:r>
            </a:p>
          </p:txBody>
        </p:sp>
        <p:sp>
          <p:nvSpPr>
            <p:cNvPr id="15" name="TextBox 15"/>
            <p:cNvSpPr txBox="1"/>
            <p:nvPr/>
          </p:nvSpPr>
          <p:spPr>
            <a:xfrm>
              <a:off x="1799844" y="4847272"/>
              <a:ext cx="5886888"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useful to mention, not the main thesis model.</a:t>
              </a:r>
            </a:p>
          </p:txBody>
        </p:sp>
        <p:sp>
          <p:nvSpPr>
            <p:cNvPr id="16" name="TextBox 16"/>
            <p:cNvSpPr txBox="1"/>
            <p:nvPr/>
          </p:nvSpPr>
          <p:spPr>
            <a:xfrm>
              <a:off x="1802130" y="5172075"/>
              <a:ext cx="9115991"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This keeps the three-label v5 selector and the F1-specific five-label experiment separated.</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20</a:t>
            </a:r>
          </a:p>
        </p:txBody>
      </p:sp>
    </p:spTree>
  </p:cSld>
  <p:clrMapOvr>
    <a:masterClrMapping/>
  </p:clrMapOvr>
  <p:transition xmlns:p14="http://schemas.microsoft.com/office/powerpoint/2010/main" p14:dur="3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121530" cy="1170051"/>
            <a:chOff x="515874" y="237172"/>
            <a:chExt cx="7121530" cy="1170051"/>
          </a:xfrm>
        </p:grpSpPr>
        <p:sp>
          <p:nvSpPr>
            <p:cNvPr id="3" name="TextBox 3"/>
            <p:cNvSpPr txBox="1"/>
            <p:nvPr/>
          </p:nvSpPr>
          <p:spPr>
            <a:xfrm>
              <a:off x="515874" y="237172"/>
              <a:ext cx="7121530"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contribution is a selector</a:t>
              </a:r>
            </a:p>
          </p:txBody>
        </p:sp>
        <p:sp>
          <p:nvSpPr>
            <p:cNvPr id="4" name="TextBox 4"/>
            <p:cNvSpPr txBox="1"/>
            <p:nvPr/>
          </p:nvSpPr>
          <p:spPr>
            <a:xfrm>
              <a:off x="515874" y="732472"/>
              <a:ext cx="6447793"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and an evaluation discipline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223772" y="1787842"/>
            <a:ext cx="8236991" cy="3730181"/>
            <a:chOff x="1223772" y="1787842"/>
            <a:chExt cx="8236991" cy="3730181"/>
          </a:xfrm>
        </p:grpSpPr>
        <p:sp>
          <p:nvSpPr>
            <p:cNvPr id="7" name="TextBox 7"/>
            <p:cNvSpPr txBox="1"/>
            <p:nvPr/>
          </p:nvSpPr>
          <p:spPr>
            <a:xfrm>
              <a:off x="1223772" y="1787842"/>
              <a:ext cx="632710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1. Dataset and labeling protocol</a:t>
              </a:r>
            </a:p>
          </p:txBody>
        </p:sp>
        <p:sp>
          <p:nvSpPr>
            <p:cNvPr id="8" name="TextBox 8"/>
            <p:cNvSpPr txBox="1"/>
            <p:nvPr/>
          </p:nvSpPr>
          <p:spPr>
            <a:xfrm>
              <a:off x="1608582" y="2345055"/>
              <a:ext cx="785218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real domains, structural transforms, measured winners</a:t>
              </a:r>
            </a:p>
          </p:txBody>
        </p:sp>
        <p:sp>
          <p:nvSpPr>
            <p:cNvPr id="9" name="TextBox 9"/>
            <p:cNvSpPr txBox="1"/>
            <p:nvPr/>
          </p:nvSpPr>
          <p:spPr>
            <a:xfrm>
              <a:off x="1223772" y="3168968"/>
              <a:ext cx="518859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2. Structural ML selector</a:t>
              </a:r>
            </a:p>
          </p:txBody>
        </p:sp>
        <p:sp>
          <p:nvSpPr>
            <p:cNvPr id="10" name="TextBox 10"/>
            <p:cNvSpPr txBox="1"/>
            <p:nvPr/>
          </p:nvSpPr>
          <p:spPr>
            <a:xfrm>
              <a:off x="1608582" y="3726180"/>
              <a:ext cx="662516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XGBoost model using 16 cheap array features</a:t>
              </a:r>
            </a:p>
          </p:txBody>
        </p:sp>
        <p:sp>
          <p:nvSpPr>
            <p:cNvPr id="11" name="TextBox 11"/>
            <p:cNvSpPr txBox="1"/>
            <p:nvPr/>
          </p:nvSpPr>
          <p:spPr>
            <a:xfrm>
              <a:off x="1223772" y="4550092"/>
              <a:ext cx="5683372"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3. Runtime-aware evaluation</a:t>
              </a:r>
            </a:p>
          </p:txBody>
        </p:sp>
        <p:sp>
          <p:nvSpPr>
            <p:cNvPr id="12" name="TextBox 12"/>
            <p:cNvSpPr txBox="1"/>
            <p:nvPr/>
          </p:nvSpPr>
          <p:spPr>
            <a:xfrm>
              <a:off x="1608582" y="5107305"/>
              <a:ext cx="744825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accuracy, regret, SBS, VBS, and gap closed together</a:t>
              </a:r>
            </a:p>
          </p:txBody>
        </p:sp>
      </p:grpSp>
      <p:sp>
        <p:nvSpPr>
          <p:cNvPr id="14" name="TextBox 14"/>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21</a:t>
            </a:r>
          </a:p>
        </p:txBody>
      </p:sp>
    </p:spTree>
  </p:cSld>
  <p:clrMapOvr>
    <a:masterClrMapping/>
  </p:clrMapOvr>
  <p:transition xmlns:p14="http://schemas.microsoft.com/office/powerpoint/2010/main" p14:dur="3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800100" y="674370"/>
            <a:ext cx="8988099" cy="1333500"/>
            <a:chOff x="800100" y="674370"/>
            <a:chExt cx="8988099" cy="1333500"/>
          </a:xfrm>
        </p:grpSpPr>
        <p:sp>
          <p:nvSpPr>
            <p:cNvPr id="3" name="TextBox 3"/>
            <p:cNvSpPr txBox="1"/>
            <p:nvPr/>
          </p:nvSpPr>
          <p:spPr>
            <a:xfrm>
              <a:off x="800100" y="674370"/>
              <a:ext cx="898809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next step is hardware-aware</a:t>
              </a:r>
            </a:p>
          </p:txBody>
        </p:sp>
        <p:sp>
          <p:nvSpPr>
            <p:cNvPr id="4" name="TextBox 4"/>
            <p:cNvSpPr txBox="1"/>
            <p:nvPr/>
          </p:nvSpPr>
          <p:spPr>
            <a:xfrm>
              <a:off x="800100" y="1245870"/>
              <a:ext cx="601936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and adaptive selection</a:t>
              </a:r>
            </a:p>
          </p:txBody>
        </p:sp>
        <p:sp>
          <p:nvSpPr>
            <p:cNvPr id="5" name="Rectangle 5"/>
            <p:cNvSpPr/>
            <p:nvPr/>
          </p:nvSpPr>
          <p:spPr>
            <a:xfrm>
              <a:off x="819150" y="1905000"/>
              <a:ext cx="2000250" cy="47625"/>
            </a:xfrm>
            <a:prstGeom prst="rect">
              <a:avLst/>
            </a:prstGeom>
            <a:solidFill>
              <a:srgbClr val="0F766E"/>
            </a:solidFill>
            <a:ln>
              <a:noFill/>
            </a:ln>
          </p:spPr>
        </p:sp>
      </p:grpSp>
      <p:grpSp>
        <p:nvGrpSpPr>
          <p:cNvPr id="16" name="Group 16"/>
          <p:cNvGrpSpPr/>
          <p:nvPr/>
        </p:nvGrpSpPr>
        <p:grpSpPr>
          <a:xfrm>
            <a:off x="952500" y="2714625"/>
            <a:ext cx="11277600" cy="1428750"/>
            <a:chOff x="952500" y="2714625"/>
            <a:chExt cx="11277600" cy="1428750"/>
          </a:xfrm>
        </p:grpSpPr>
        <p:sp>
          <p:nvSpPr>
            <p:cNvPr id="7" name="Freeform 7"/>
            <p:cNvSpPr/>
            <p:nvPr/>
          </p:nvSpPr>
          <p:spPr>
            <a:xfrm>
              <a:off x="9525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264158" y="3074670"/>
              <a:ext cx="2992755"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hardware context</a:t>
              </a:r>
            </a:p>
          </p:txBody>
        </p:sp>
        <p:sp>
          <p:nvSpPr>
            <p:cNvPr id="9" name="TextBox 9"/>
            <p:cNvSpPr txBox="1"/>
            <p:nvPr/>
          </p:nvSpPr>
          <p:spPr>
            <a:xfrm>
              <a:off x="1267968" y="3555682"/>
              <a:ext cx="320644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cache, CPU, memory behavior</a:t>
              </a:r>
            </a:p>
          </p:txBody>
        </p:sp>
        <p:sp>
          <p:nvSpPr>
            <p:cNvPr id="10" name="Freeform 10"/>
            <p:cNvSpPr/>
            <p:nvPr/>
          </p:nvSpPr>
          <p:spPr>
            <a:xfrm>
              <a:off x="46482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1" name="TextBox 11"/>
            <p:cNvSpPr txBox="1"/>
            <p:nvPr/>
          </p:nvSpPr>
          <p:spPr>
            <a:xfrm>
              <a:off x="4959858" y="3074670"/>
              <a:ext cx="3043641"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adaptive selection</a:t>
              </a:r>
            </a:p>
          </p:txBody>
        </p:sp>
        <p:sp>
          <p:nvSpPr>
            <p:cNvPr id="12" name="TextBox 12"/>
            <p:cNvSpPr txBox="1"/>
            <p:nvPr/>
          </p:nvSpPr>
          <p:spPr>
            <a:xfrm>
              <a:off x="4963668" y="3555682"/>
              <a:ext cx="237126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future online learning</a:t>
              </a:r>
            </a:p>
          </p:txBody>
        </p:sp>
        <p:sp>
          <p:nvSpPr>
            <p:cNvPr id="13" name="Freeform 13"/>
            <p:cNvSpPr/>
            <p:nvPr/>
          </p:nvSpPr>
          <p:spPr>
            <a:xfrm>
              <a:off x="83439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8655558" y="3074670"/>
              <a:ext cx="2941869"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broader portfolio</a:t>
              </a:r>
            </a:p>
          </p:txBody>
        </p:sp>
        <p:sp>
          <p:nvSpPr>
            <p:cNvPr id="15" name="TextBox 15"/>
            <p:cNvSpPr txBox="1"/>
            <p:nvPr/>
          </p:nvSpPr>
          <p:spPr>
            <a:xfrm>
              <a:off x="8659368" y="3555682"/>
              <a:ext cx="3570732"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more algorithms, stricter splits</a:t>
              </a:r>
            </a:p>
          </p:txBody>
        </p:sp>
      </p:grpSp>
      <p:grpSp>
        <p:nvGrpSpPr>
          <p:cNvPr id="22" name="Group 22"/>
          <p:cNvGrpSpPr/>
          <p:nvPr/>
        </p:nvGrpSpPr>
        <p:grpSpPr>
          <a:xfrm>
            <a:off x="4410075" y="5004594"/>
            <a:ext cx="4569440" cy="1383823"/>
            <a:chOff x="4410075" y="5004594"/>
            <a:chExt cx="4569440" cy="1383823"/>
          </a:xfrm>
        </p:grpSpPr>
        <p:grpSp>
          <p:nvGrpSpPr>
            <p:cNvPr id="19" name="Group 19"/>
            <p:cNvGrpSpPr/>
            <p:nvPr/>
          </p:nvGrpSpPr>
          <p:grpSpPr>
            <a:xfrm>
              <a:off x="5778500" y="5004594"/>
              <a:ext cx="160251" cy="287337"/>
              <a:chOff x="5778500" y="5004594"/>
              <a:chExt cx="160251" cy="287337"/>
            </a:xfrm>
          </p:grpSpPr>
          <p:sp>
            <p:nvSpPr>
              <p:cNvPr id="17" name="Freeform 17"/>
              <p:cNvSpPr/>
              <p:nvPr/>
            </p:nvSpPr>
            <p:spPr>
              <a:xfrm>
                <a:off x="5778500" y="5004594"/>
                <a:ext cx="160251" cy="198437"/>
              </a:xfrm>
              <a:custGeom>
                <a:avLst/>
                <a:gdLst/>
                <a:ahLst/>
                <a:cxnLst/>
                <a:rect l="l" t="t" r="r" b="b"/>
                <a:pathLst>
                  <a:path w="160251" h="198437">
                    <a:moveTo>
                      <a:pt x="0" y="59531"/>
                    </a:moveTo>
                    <a:cubicBezTo>
                      <a:pt x="0" y="26653"/>
                      <a:pt x="31095" y="0"/>
                      <a:pt x="69453" y="0"/>
                    </a:cubicBezTo>
                    <a:lnTo>
                      <a:pt x="89297" y="0"/>
                    </a:lnTo>
                    <a:cubicBezTo>
                      <a:pt x="127655" y="0"/>
                      <a:pt x="158750" y="26653"/>
                      <a:pt x="158750" y="59531"/>
                    </a:cubicBezTo>
                    <a:cubicBezTo>
                      <a:pt x="160251" y="85998"/>
                      <a:pt x="144071" y="110268"/>
                      <a:pt x="119062" y="119062"/>
                    </a:cubicBezTo>
                    <a:cubicBezTo>
                      <a:pt x="94054" y="130788"/>
                      <a:pt x="77874" y="163148"/>
                      <a:pt x="79375" y="198437"/>
                    </a:cubicBezTo>
                  </a:path>
                </a:pathLst>
              </a:custGeom>
              <a:noFill/>
              <a:ln w="19050">
                <a:solidFill>
                  <a:srgbClr val="0F766E"/>
                </a:solidFill>
              </a:ln>
            </p:spPr>
          </p:sp>
          <p:sp>
            <p:nvSpPr>
              <p:cNvPr id="18" name="Freeform 18"/>
              <p:cNvSpPr/>
              <p:nvPr/>
            </p:nvSpPr>
            <p:spPr>
              <a:xfrm>
                <a:off x="5857875" y="5282406"/>
                <a:ext cx="9525" cy="9525"/>
              </a:xfrm>
              <a:custGeom>
                <a:avLst/>
                <a:gdLst/>
                <a:ahLst/>
                <a:cxnLst/>
                <a:rect l="l" t="t" r="r" b="b"/>
                <a:pathLst>
                  <a:path w="9525" h="9525">
                    <a:moveTo>
                      <a:pt x="0" y="0"/>
                    </a:moveTo>
                    <a:lnTo>
                      <a:pt x="0" y="198"/>
                    </a:lnTo>
                  </a:path>
                </a:pathLst>
              </a:custGeom>
              <a:noFill/>
              <a:ln w="19050">
                <a:solidFill>
                  <a:srgbClr val="0F766E"/>
                </a:solidFill>
              </a:ln>
            </p:spPr>
          </p:sp>
        </p:grpSp>
        <p:sp>
          <p:nvSpPr>
            <p:cNvPr id="20" name="TextBox 20"/>
            <p:cNvSpPr txBox="1"/>
            <p:nvPr/>
          </p:nvSpPr>
          <p:spPr>
            <a:xfrm>
              <a:off x="4410075" y="5389245"/>
              <a:ext cx="2647396"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Thank you</a:t>
              </a:r>
            </a:p>
          </p:txBody>
        </p:sp>
        <p:sp>
          <p:nvSpPr>
            <p:cNvPr id="21" name="TextBox 21"/>
            <p:cNvSpPr txBox="1"/>
            <p:nvPr/>
          </p:nvSpPr>
          <p:spPr>
            <a:xfrm>
              <a:off x="4417695" y="5948362"/>
              <a:ext cx="4561820"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I am ready for your questions.</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2026-06-29T21:59:44Z</dcterms:created>
  <dcterms:modified xsi:type="dcterms:W3CDTF">2026-06-29T21:59:44Z</dcterms:modified>
  <cp:category/>
  <cp:contentStatus/>
</cp:coreProperties>
</file>