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122" d="100"/>
          <a:sy n="122" d="100"/>
        </p:scale>
        <p:origin x="10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14173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initial global model: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47088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introsort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39696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heapsort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3230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timsort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417320"/>
            <a:ext cx="3291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feature-flag model: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47088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quick_sort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139696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introsort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432304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merge_sort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724912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heap_sort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17520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- shell_sort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611880"/>
            <a:ext cx="4389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Flag selects the model; XGBoost predicts the fastest sort.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260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Timsort won about 90% of cases; removing it lets lighter algorithms compete when they are actually fastest.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>
            <a:off x="6035040" y="2642616"/>
            <a:ext cx="320040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9281160" y="2642616"/>
            <a:ext cx="365760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640080"/>
            <a:ext cx="1920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model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987552"/>
            <a:ext cx="41605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1371600"/>
            <a:ext cx="3520439" cy="896112"/>
          </a:xfrm>
          <a:prstGeom prst="roundRect">
            <a:avLst>
              <a:gd name="adj" fmla="val 2500"/>
            </a:avLst>
          </a:prstGeom>
          <a:solidFill>
            <a:srgbClr val="EE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59152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5436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3764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5808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2092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4136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0420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12464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4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8748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0791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222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7076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5404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i=160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7448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448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3732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i=240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2060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i=320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4104" y="1581912"/>
            <a:ext cx="288036" cy="32918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4" y="1668780"/>
            <a:ext cx="28803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E3A8A"/>
                </a:solidFill>
                <a:latin typeface="Aptos"/>
              </a:rPr>
              <a:t>309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0388" y="1993392"/>
            <a:ext cx="315468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5" b="0">
                <a:solidFill>
                  <a:srgbClr val="64748B"/>
                </a:solidFill>
                <a:latin typeface="Aptos"/>
              </a:rPr>
              <a:t>i=369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2587752"/>
            <a:ext cx="3520439" cy="384048"/>
          </a:xfrm>
          <a:prstGeom prst="roundRect">
            <a:avLst>
              <a:gd name="adj" fmla="val 179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39" y="2706624"/>
            <a:ext cx="9144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  <a:latin typeface="Aptos"/>
              </a:rPr>
              <a:t>channel flag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2688336"/>
            <a:ext cx="822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80" b="1">
                <a:solidFill>
                  <a:srgbClr val="0F766E"/>
                </a:solidFill>
                <a:latin typeface="Aptos"/>
              </a:rPr>
              <a:t>Speed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640080"/>
            <a:ext cx="292608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5976" y="987552"/>
            <a:ext cx="22860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feature extraction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39128" y="1737360"/>
            <a:ext cx="2157984" cy="566928"/>
          </a:xfrm>
          <a:prstGeom prst="roundRect">
            <a:avLst>
              <a:gd name="adj" fmla="val 2800"/>
            </a:avLst>
          </a:prstGeom>
          <a:solidFill>
            <a:srgbClr val="DFF6F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9128" y="1901952"/>
            <a:ext cx="21579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size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39128" y="2724912"/>
            <a:ext cx="2157984" cy="566928"/>
          </a:xfrm>
          <a:prstGeom prst="roundRect">
            <a:avLst>
              <a:gd name="adj" fmla="val 2800"/>
            </a:avLst>
          </a:prstGeom>
          <a:solidFill>
            <a:srgbClr val="FFF7CC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9128" y="2889504"/>
            <a:ext cx="21579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ordering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39128" y="3712464"/>
            <a:ext cx="2157984" cy="566928"/>
          </a:xfrm>
          <a:prstGeom prst="roundRect">
            <a:avLst>
              <a:gd name="adj" fmla="val 2800"/>
            </a:avLst>
          </a:prstGeom>
          <a:solidFill>
            <a:srgbClr val="ECF3C9"/>
          </a:solidFill>
          <a:ln w="15240">
            <a:solidFill>
              <a:srgbClr val="8C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39128" y="3877056"/>
            <a:ext cx="21579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repetition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39128" y="4700016"/>
            <a:ext cx="2157984" cy="566928"/>
          </a:xfrm>
          <a:prstGeom prst="roundRect">
            <a:avLst>
              <a:gd name="adj" fmla="val 2800"/>
            </a:avLst>
          </a:prstGeom>
          <a:solidFill>
            <a:srgbClr val="FFE1C7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9128" y="4864608"/>
            <a:ext cx="21579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distribution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9128" y="5687568"/>
            <a:ext cx="2157984" cy="566928"/>
          </a:xfrm>
          <a:prstGeom prst="roundRect">
            <a:avLst>
              <a:gd name="adj" fmla="val 2800"/>
            </a:avLst>
          </a:prstGeom>
          <a:solidFill>
            <a:srgbClr val="F3DDFB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39128" y="5852160"/>
            <a:ext cx="21579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tos"/>
              </a:rPr>
              <a:t>robust 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6912864"/>
            <a:ext cx="21579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7C2D12"/>
                </a:solidFill>
                <a:latin typeface="Aptos"/>
              </a:rPr>
              <a:t>17-number row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46920" y="640080"/>
            <a:ext cx="342900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987552"/>
            <a:ext cx="22860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model vector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1732788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n_elements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02568" y="1732788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370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006072" y="1783080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006072" y="1783080"/>
            <a:ext cx="932688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1993391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length_norm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02568" y="1993391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0.0202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06072" y="2043684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006072" y="2043684"/>
            <a:ext cx="74615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0" y="2253996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adj_sorted_ratio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02568" y="2253996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0.7263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006072" y="2304288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006072" y="2304288"/>
            <a:ext cx="680862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0" y="2514599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runs_ratio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02568" y="2514599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0.0514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006072" y="2564891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006072" y="2564891"/>
            <a:ext cx="46634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66960" y="2775203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inversion_ratio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02568" y="2775203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0.4532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006072" y="2825496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06072" y="2825496"/>
            <a:ext cx="419709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3035808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longest_run_ratio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02568" y="3035808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0.1514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006072" y="3086100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006072" y="3086100"/>
            <a:ext cx="139903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66960" y="3296412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mean_abs_diff_norm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02568" y="3296412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0.0194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006072" y="3346704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006072" y="3346704"/>
            <a:ext cx="27980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66960" y="3557015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duplicate_ratio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02568" y="3557015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0.4919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006072" y="3607308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006072" y="3607308"/>
            <a:ext cx="457017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6960" y="3817620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top1_freq_ratio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02568" y="3817620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0.0189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006072" y="3867911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006072" y="3867911"/>
            <a:ext cx="27980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66960" y="4078224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top5_freq_ratio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02568" y="4078224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0.0865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006072" y="4128515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006072" y="4128515"/>
            <a:ext cx="83941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66960" y="4338828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dispersion_ratio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402568" y="4338828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0.2795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006072" y="4389120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006072" y="4389120"/>
            <a:ext cx="261152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66960" y="4599432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entropy_ratio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402568" y="4599432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0.9322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006072" y="4649724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006072" y="4649724"/>
            <a:ext cx="867399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66960" y="4860036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skewness_t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02568" y="4860036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-0.4953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006072" y="4910328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006072" y="4910328"/>
            <a:ext cx="466344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66960" y="5120640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kurtosis_excess_t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02568" y="5120640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-0.4857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2006072" y="5170931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006072" y="5170931"/>
            <a:ext cx="457017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66960" y="5381244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outlier_ratio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02568" y="5381244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0.0000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2006072" y="5431536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006072" y="5431536"/>
            <a:ext cx="10972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66960" y="5641848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iqr_norm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402568" y="5641848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0.4604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2006072" y="5692140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2006072" y="5692140"/>
            <a:ext cx="429036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66960" y="5902452"/>
            <a:ext cx="1371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0">
                <a:solidFill>
                  <a:srgbClr val="0F172A"/>
                </a:solidFill>
                <a:latin typeface="Aptos"/>
              </a:rPr>
              <a:t>mad_norm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402568" y="5902452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>
                <a:solidFill>
                  <a:srgbClr val="64748B"/>
                </a:solidFill>
                <a:latin typeface="Aptos"/>
              </a:rPr>
              <a:t>0.2245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006072" y="5952744"/>
            <a:ext cx="932688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2006072" y="5952744"/>
            <a:ext cx="205191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>
            <a:off x="4617720" y="4032503"/>
            <a:ext cx="73151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9281160" y="4032503"/>
            <a:ext cx="73151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4924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1268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987552"/>
            <a:ext cx="2926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feature flag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74519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02536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87752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15768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RPM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00984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A16207"/>
                </a:solidFill>
                <a:latin typeface="Aptos"/>
              </a:rPr>
              <a:t>DRS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014215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1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7E22CE"/>
                </a:solidFill>
                <a:latin typeface="Aptos"/>
              </a:rPr>
              <a:t>X / Y / 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727448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855464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9F1239"/>
                </a:solidFill>
                <a:latin typeface="Aptos"/>
              </a:rPr>
              <a:t>Throttle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987552"/>
            <a:ext cx="2926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fixed XGBoost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79" y="1691639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1" y="1810512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1801367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multi-class probability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79" y="2185415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3871" y="2304287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2295144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17 numeric columns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79" y="2679191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33871" y="2798063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7" y="2788920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5 sorting algorithms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79" y="3172968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33871" y="3291839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7" y="3282696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multiclass log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79" y="3666744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33871" y="3785615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tree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7" y="3776472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histogram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79" y="4160520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33871" y="4279392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seed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7" y="4270248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79" y="4983480"/>
            <a:ext cx="3291839" cy="1783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159" y="5193792"/>
            <a:ext cx="292607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output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623560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3055" y="5696712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9792" y="5623560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8" y="5696712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6007608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63055" y="6080760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9792" y="6007608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07808" y="6080760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6391656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63055" y="6464808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0152" y="987552"/>
            <a:ext cx="32461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base hyperparameters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19" y="1719072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97311" y="1837943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trees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14047" y="1828800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19" y="2203704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97311" y="2322576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max depth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14047" y="2313432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19" y="2688336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497311" y="2807208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learning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14047" y="2798064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32719" y="3172968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497311" y="3291839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row sample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14047" y="3282696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32719" y="3657600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497311" y="3776472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feature sample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14047" y="3767328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19" y="4142232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497311" y="4261104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min child weight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14047" y="4251960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32719" y="4626864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497311" y="4745736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14047" y="4736592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32719" y="5111496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97311" y="5230368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14047" y="5221224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7472"/>
            <a:ext cx="115214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base XGBoost result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937760" y="4453128"/>
            <a:ext cx="41147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9281160" y="4453128"/>
            <a:ext cx="41147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34340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49240" y="1417320"/>
            <a:ext cx="393192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92640" y="1417320"/>
            <a:ext cx="434340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91640"/>
            <a:ext cx="23774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feature flag: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0552"/>
            <a:ext cx="29260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first values: 309, 311, 313, 313, 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04872"/>
            <a:ext cx="2011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array length: 370 values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" y="2660904"/>
            <a:ext cx="383133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" y="2898648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model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n_elements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31912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370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1" y="32415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36391" y="3241548"/>
            <a:ext cx="1261872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42715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length_norm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3442715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0.0202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1" y="34930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36391" y="3493008"/>
            <a:ext cx="100949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adj_sorted_ratio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36941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0.7263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1" y="37444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36391" y="3744468"/>
            <a:ext cx="921166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9456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runs_ratio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9456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0.0514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6391" y="39959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36391" y="3995928"/>
            <a:ext cx="63093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1970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inversion_ratio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79" y="41970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0.4532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6391" y="42473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36391" y="4247388"/>
            <a:ext cx="567842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4485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longest_run_ratio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79" y="44485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0.1514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6391" y="44988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36391" y="4498848"/>
            <a:ext cx="189280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7000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mean_abs_diff_norm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79" y="47000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0.0194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36391" y="47503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36391" y="4750308"/>
            <a:ext cx="37856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49514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duplicate_ratio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79" y="49514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0.4919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36391" y="50017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136391" y="5001768"/>
            <a:ext cx="618317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2029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top1_freq_ratio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79" y="52029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0.0189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6391" y="52532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136391" y="5253228"/>
            <a:ext cx="37856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4543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top5_freq_ratio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79" y="54543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0.0865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6391" y="55046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36391" y="5504688"/>
            <a:ext cx="113568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57058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dispersion_ratio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79" y="57058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0.2795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36391" y="57561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136391" y="5756148"/>
            <a:ext cx="353324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59573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entropy_ratio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79" y="59573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0.9322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36391" y="60076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136391" y="6007608"/>
            <a:ext cx="1173540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62087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skewness_t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79" y="62087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-0.4953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36391" y="62590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136391" y="6259068"/>
            <a:ext cx="630936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8680" y="64602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kurtosis_excess_t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8879" y="64602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-0.4857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36391" y="65105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136391" y="6510528"/>
            <a:ext cx="618317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67116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outlier_ratio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79" y="67116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36391" y="67619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36391" y="6761988"/>
            <a:ext cx="12618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8680" y="69631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iqr_norm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79" y="69631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0.4604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36391" y="70134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136391" y="7013448"/>
            <a:ext cx="580461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" y="72146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mad_norm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79" y="72146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0.2245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36391" y="72649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36391" y="7264908"/>
            <a:ext cx="277611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05272" y="1737360"/>
            <a:ext cx="2560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XGBoost with feature flag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05272" y="2752344"/>
            <a:ext cx="341985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05272" y="3035808"/>
            <a:ext cx="1828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possible output labels</a:t>
            </a:r>
          </a:p>
        </p:txBody>
      </p:sp>
      <p:sp>
        <p:nvSpPr>
          <p:cNvPr id="84" name="Oval 83"/>
          <p:cNvSpPr/>
          <p:nvPr/>
        </p:nvSpPr>
        <p:spPr>
          <a:xfrm>
            <a:off x="5687568" y="34290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879592" y="34015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86" name="Oval 85"/>
          <p:cNvSpPr/>
          <p:nvPr/>
        </p:nvSpPr>
        <p:spPr>
          <a:xfrm>
            <a:off x="5687568" y="3739896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879592" y="3712463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88" name="Oval 87"/>
          <p:cNvSpPr/>
          <p:nvPr/>
        </p:nvSpPr>
        <p:spPr>
          <a:xfrm>
            <a:off x="5687568" y="4050791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879592" y="4023359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90" name="Oval 89"/>
          <p:cNvSpPr/>
          <p:nvPr/>
        </p:nvSpPr>
        <p:spPr>
          <a:xfrm>
            <a:off x="5687568" y="4361688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879592" y="4334255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92" name="Oval 91"/>
          <p:cNvSpPr/>
          <p:nvPr/>
        </p:nvSpPr>
        <p:spPr>
          <a:xfrm>
            <a:off x="5687568" y="4672584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879592" y="4645152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05272" y="5166359"/>
            <a:ext cx="14630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hyperparameters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1848" y="5522975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trees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59" y="5522975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500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41848" y="5833871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max depth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59" y="5833871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41848" y="6144767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learning 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38159" y="6144767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0.05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41848" y="6455664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row sample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59" y="6455664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41848" y="6766559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feature sample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59" y="6766559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41848" y="7077455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min child weight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38159" y="7077455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41848" y="7388352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38159" y="7388352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41848" y="7699248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38159" y="7699248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1.0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48672" y="1737360"/>
            <a:ext cx="2560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output for this test row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948672" y="2752344"/>
            <a:ext cx="383133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9948672" y="3017520"/>
            <a:ext cx="3831335" cy="530352"/>
          </a:xfrm>
          <a:prstGeom prst="roundRect">
            <a:avLst>
              <a:gd name="adj" fmla="val 25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168128" y="3191256"/>
            <a:ext cx="12344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test accuracy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646152" y="3136391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369A1"/>
                </a:solidFill>
                <a:latin typeface="Aptos"/>
              </a:rPr>
              <a:t>41.1%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48672" y="3758184"/>
            <a:ext cx="3831335" cy="658368"/>
          </a:xfrm>
          <a:prstGeom prst="roundRect">
            <a:avLst>
              <a:gd name="adj" fmla="val 2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168128" y="3941063"/>
            <a:ext cx="914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737592" y="3886200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Aptos"/>
              </a:rPr>
              <a:t>shell_sort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68128" y="4197096"/>
            <a:ext cx="914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true fastest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737592" y="4142232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Aptos"/>
              </a:rPr>
              <a:t>shell_sort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948672" y="4745736"/>
            <a:ext cx="3831335" cy="438912"/>
          </a:xfrm>
          <a:prstGeom prst="roundRect">
            <a:avLst>
              <a:gd name="adj" fmla="val 25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948672" y="48920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correct on this case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48672" y="5394959"/>
            <a:ext cx="1280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model scores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66960" y="5824727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47119" y="5852159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247119" y="5852159"/>
            <a:ext cx="1740353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3240512" y="5824727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92.8%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66960" y="6208775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247119" y="6236207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1247119" y="6236207"/>
            <a:ext cx="71466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3240512" y="6208775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3.8%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66960" y="6592823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247119" y="6620255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1247119" y="6620255"/>
            <a:ext cx="27682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3240512" y="6592823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1.5%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66960" y="6976871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247119" y="7004303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1247119" y="7004303"/>
            <a:ext cx="22846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240512" y="6976871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1.2%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66960" y="7360920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19" y="7388352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1247119" y="7388352"/>
            <a:ext cx="12170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3240512" y="7360920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0.6%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>
            <a:off x="4617720" y="4032503"/>
            <a:ext cx="73151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9281160" y="4032503"/>
            <a:ext cx="73151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4924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12680" y="640080"/>
            <a:ext cx="3931920" cy="6995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987552"/>
            <a:ext cx="2926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feature flag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74519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02536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87752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15768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RPM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00984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A16207"/>
                </a:solidFill>
                <a:latin typeface="Aptos"/>
              </a:rPr>
              <a:t>DRS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014215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1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7E22CE"/>
                </a:solidFill>
                <a:latin typeface="Aptos"/>
              </a:rPr>
              <a:t>X / Y / 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727448"/>
            <a:ext cx="3291839" cy="457200"/>
          </a:xfrm>
          <a:prstGeom prst="roundRect">
            <a:avLst>
              <a:gd name="adj" fmla="val 1799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855464"/>
            <a:ext cx="310895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9F1239"/>
                </a:solidFill>
                <a:latin typeface="Aptos"/>
              </a:rPr>
              <a:t>Throttle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987552"/>
            <a:ext cx="2926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fixed XGBoost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79" y="1691639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1" y="1810512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1801367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multi-class probability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79" y="2185415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3871" y="2304287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2295144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17 numeric columns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79" y="2679191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33871" y="2798063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7" y="2788920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5 sorting algorithms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79" y="3172968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33871" y="3291839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7" y="3282696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multiclass log loss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79" y="3666744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33871" y="3785615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tree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7" y="3776472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histogram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79" y="4160520"/>
            <a:ext cx="3291839" cy="329184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33871" y="4279392"/>
            <a:ext cx="1645919" cy="148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seed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7" y="4270248"/>
            <a:ext cx="1580083" cy="158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79" y="4983480"/>
            <a:ext cx="3291839" cy="1783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159" y="5193792"/>
            <a:ext cx="2926079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output 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623560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3055" y="5696712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9792" y="5623560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8" y="5696712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6007608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63055" y="6080760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9792" y="6007608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07808" y="6080760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6391656"/>
            <a:ext cx="1234440" cy="256032"/>
          </a:xfrm>
          <a:prstGeom prst="roundRect">
            <a:avLst>
              <a:gd name="adj" fmla="val 14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63055" y="6464808"/>
            <a:ext cx="978408" cy="14081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0152" y="987552"/>
            <a:ext cx="32461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Optuna-tuned hyperparameters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19" y="1719072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97311" y="1837943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trees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14047" y="1828800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730A3"/>
                </a:solidFill>
                <a:latin typeface="Aptos"/>
              </a:rPr>
              <a:t>413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19" y="2203704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97311" y="2322576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max depth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14047" y="2313432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730A3"/>
                </a:solidFill>
                <a:latin typeface="Aptos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19" y="2688336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497311" y="2807208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learning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14047" y="2798064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730A3"/>
                </a:solidFill>
                <a:latin typeface="Aptos"/>
              </a:rPr>
              <a:t>0.00838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32719" y="3172968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497311" y="3291839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row sample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14047" y="3282696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0.857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32719" y="3657600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497311" y="3776472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feature sample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14047" y="3767328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0.823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19" y="4142232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497311" y="4261104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min child weight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14047" y="4251960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16.23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32719" y="4626864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497311" y="4745736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gamma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14047" y="4736592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0.0271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32719" y="5111496"/>
            <a:ext cx="3291839" cy="347472"/>
          </a:xfrm>
          <a:prstGeom prst="roundRect">
            <a:avLst>
              <a:gd name="adj" fmla="val 179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97311" y="5230368"/>
            <a:ext cx="1645919" cy="156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L1 / L2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14047" y="5221224"/>
            <a:ext cx="1580083" cy="1667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0F172A"/>
                </a:solidFill>
                <a:latin typeface="Aptos"/>
              </a:rPr>
              <a:t>0.000003 / 0.000015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7472"/>
            <a:ext cx="115214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after Optuna result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937760" y="4453128"/>
            <a:ext cx="41147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Arrow 3"/>
          <p:cNvSpPr/>
          <p:nvPr/>
        </p:nvSpPr>
        <p:spPr>
          <a:xfrm>
            <a:off x="9281160" y="4453128"/>
            <a:ext cx="411479" cy="201168"/>
          </a:xfrm>
          <a:prstGeom prst="rightArrow">
            <a:avLst>
              <a:gd name="adj1" fmla="val 70000"/>
              <a:gd name="adj2" fmla="val 55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34340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49240" y="1417320"/>
            <a:ext cx="393192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92640" y="1417320"/>
            <a:ext cx="4343400" cy="6446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91640"/>
            <a:ext cx="23774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feature flag: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0552"/>
            <a:ext cx="29260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first values: 309, 311, 313, 313, 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04872"/>
            <a:ext cx="2011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array length: 370 values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" y="2660904"/>
            <a:ext cx="383133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" y="2898648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model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n_elements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31912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370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1" y="32415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36391" y="3241548"/>
            <a:ext cx="1261872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42715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length_norm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3442715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0.0202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1" y="34930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36391" y="3493008"/>
            <a:ext cx="100949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adj_sorted_ratio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36941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0.7263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1" y="37444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36391" y="3744468"/>
            <a:ext cx="921166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9456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runs_ratio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9456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0.0514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6391" y="39959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36391" y="3995928"/>
            <a:ext cx="63093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1970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inversion_ratio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79" y="41970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0.4532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6391" y="42473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36391" y="4247388"/>
            <a:ext cx="567842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4485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longest_run_ratio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79" y="44485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0.1514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6391" y="44988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36391" y="4498848"/>
            <a:ext cx="189280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7000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mean_abs_diff_norm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79" y="47000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0.0194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36391" y="47503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36391" y="4750308"/>
            <a:ext cx="37856" cy="6858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49514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duplicate_ratio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79" y="49514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0.4919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36391" y="50017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136391" y="5001768"/>
            <a:ext cx="618317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2029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top1_freq_ratio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79" y="52029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0.0189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6391" y="52532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136391" y="5253228"/>
            <a:ext cx="37856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4543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top5_freq_ratio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79" y="54543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0.0865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6391" y="55046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36391" y="5504688"/>
            <a:ext cx="113568" cy="68580"/>
          </a:xfrm>
          <a:prstGeom prst="rect">
            <a:avLst/>
          </a:prstGeom>
          <a:solidFill>
            <a:srgbClr val="8C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57058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dispersion_ratio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79" y="57058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0.2795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36391" y="57561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136391" y="5756148"/>
            <a:ext cx="353324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59573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entropy_ratio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79" y="59573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0.9322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36391" y="60076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136391" y="6007608"/>
            <a:ext cx="1173540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620877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skewness_t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79" y="620877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-0.4953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36391" y="625906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136391" y="6259068"/>
            <a:ext cx="630936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8680" y="646023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kurtosis_excess_t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8879" y="646023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-0.4857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36391" y="651052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136391" y="6510528"/>
            <a:ext cx="618317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671169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outlier_ratio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79" y="671169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0.0000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36391" y="676198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36391" y="6761988"/>
            <a:ext cx="12618" cy="685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8680" y="696315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iqr_norm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79" y="696315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0.4604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36391" y="701344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136391" y="7013448"/>
            <a:ext cx="580461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" y="7214616"/>
            <a:ext cx="1508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0" b="0">
                <a:solidFill>
                  <a:srgbClr val="0F172A"/>
                </a:solidFill>
                <a:latin typeface="Aptos"/>
              </a:rPr>
              <a:t>mad_norm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79" y="7214616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40" b="0">
                <a:solidFill>
                  <a:srgbClr val="64748B"/>
                </a:solidFill>
                <a:latin typeface="Aptos"/>
              </a:rPr>
              <a:t>0.2245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36391" y="7264908"/>
            <a:ext cx="1261872" cy="685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36391" y="7264908"/>
            <a:ext cx="277611" cy="685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05272" y="1737360"/>
            <a:ext cx="2560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XGBoost with feature flag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05272" y="2752344"/>
            <a:ext cx="341985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05272" y="3035808"/>
            <a:ext cx="1828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possible output labels</a:t>
            </a:r>
          </a:p>
        </p:txBody>
      </p:sp>
      <p:sp>
        <p:nvSpPr>
          <p:cNvPr id="84" name="Oval 83"/>
          <p:cNvSpPr/>
          <p:nvPr/>
        </p:nvSpPr>
        <p:spPr>
          <a:xfrm>
            <a:off x="5687568" y="34290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879592" y="34015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86" name="Oval 85"/>
          <p:cNvSpPr/>
          <p:nvPr/>
        </p:nvSpPr>
        <p:spPr>
          <a:xfrm>
            <a:off x="5687568" y="3739896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879592" y="3712463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88" name="Oval 87"/>
          <p:cNvSpPr/>
          <p:nvPr/>
        </p:nvSpPr>
        <p:spPr>
          <a:xfrm>
            <a:off x="5687568" y="4050791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879592" y="4023359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90" name="Oval 89"/>
          <p:cNvSpPr/>
          <p:nvPr/>
        </p:nvSpPr>
        <p:spPr>
          <a:xfrm>
            <a:off x="5687568" y="4361688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879592" y="4334255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92" name="Oval 91"/>
          <p:cNvSpPr/>
          <p:nvPr/>
        </p:nvSpPr>
        <p:spPr>
          <a:xfrm>
            <a:off x="5687568" y="4672584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879592" y="4645152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05272" y="5166359"/>
            <a:ext cx="14630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hyperparameters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1848" y="5522975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trees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59" y="5522975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413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41848" y="5833871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max depth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59" y="5833871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41848" y="6144767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learning 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38159" y="6144767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0.00838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41848" y="6455664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row sample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59" y="6455664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0.857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41848" y="6766559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feature sample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59" y="6766559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0.823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41848" y="7077455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min child weight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38159" y="7077455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16.23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41848" y="7388352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gamma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38159" y="7388352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0.0271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41848" y="7699248"/>
            <a:ext cx="1554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>
                <a:solidFill>
                  <a:srgbClr val="64748B"/>
                </a:solidFill>
                <a:latin typeface="Aptos"/>
              </a:rPr>
              <a:t>L1 / L2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38159" y="7699248"/>
            <a:ext cx="868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69" b="0">
                <a:solidFill>
                  <a:srgbClr val="0F172A"/>
                </a:solidFill>
                <a:latin typeface="Aptos"/>
              </a:rPr>
              <a:t>0.000003 / 0.000015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48672" y="1737360"/>
            <a:ext cx="2560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output for this test row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948672" y="2752344"/>
            <a:ext cx="3831336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9948672" y="3017520"/>
            <a:ext cx="3831335" cy="530352"/>
          </a:xfrm>
          <a:prstGeom prst="roundRect">
            <a:avLst>
              <a:gd name="adj" fmla="val 25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168128" y="3191256"/>
            <a:ext cx="12344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test accuracy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646152" y="3136391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369A1"/>
                </a:solidFill>
                <a:latin typeface="Aptos"/>
              </a:rPr>
              <a:t>42.6%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48672" y="3758184"/>
            <a:ext cx="3831335" cy="658368"/>
          </a:xfrm>
          <a:prstGeom prst="roundRect">
            <a:avLst>
              <a:gd name="adj" fmla="val 25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168128" y="3941063"/>
            <a:ext cx="914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737592" y="3886200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Aptos"/>
              </a:rPr>
              <a:t>shell_sort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68128" y="4197096"/>
            <a:ext cx="914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true fastest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737592" y="4142232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Aptos"/>
              </a:rPr>
              <a:t>shell_sort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948672" y="4745736"/>
            <a:ext cx="3831335" cy="438912"/>
          </a:xfrm>
          <a:prstGeom prst="roundRect">
            <a:avLst>
              <a:gd name="adj" fmla="val 25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948672" y="4892040"/>
            <a:ext cx="383133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ptos"/>
              </a:rPr>
              <a:t>correct on this case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48672" y="5394959"/>
            <a:ext cx="1280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model scores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66960" y="5824727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shell_sort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47119" y="5852159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247119" y="5852159"/>
            <a:ext cx="703877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3240512" y="5824727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37.5%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66960" y="6208775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introsort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247119" y="6236207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1247119" y="6236207"/>
            <a:ext cx="567981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3240512" y="6208775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30.3%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66960" y="6592823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quick_sort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247119" y="6620255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1247119" y="6620255"/>
            <a:ext cx="231685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3240512" y="6592823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12.4%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66960" y="6976871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heap_sort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247119" y="7004303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1247119" y="7004303"/>
            <a:ext cx="193602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240512" y="6976871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10.3%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66960" y="7360920"/>
            <a:ext cx="914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Aptos"/>
              </a:rPr>
              <a:t>merge_sort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19" y="7388352"/>
            <a:ext cx="1874519" cy="14630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1247119" y="7388352"/>
            <a:ext cx="177373" cy="1463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3240512" y="7360920"/>
            <a:ext cx="438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30" b="0">
                <a:solidFill>
                  <a:srgbClr val="64748B"/>
                </a:solidFill>
                <a:latin typeface="Aptos"/>
              </a:rPr>
              <a:t>9.5%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728</Words>
  <Application>Microsoft Macintosh PowerPoint</Application>
  <PresentationFormat>Custom</PresentationFormat>
  <Paragraphs>323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Salah Abdalhi</cp:lastModifiedBy>
  <cp:revision>2</cp:revision>
  <dcterms:created xsi:type="dcterms:W3CDTF">2013-01-27T09:14:16Z</dcterms:created>
  <dcterms:modified xsi:type="dcterms:W3CDTF">2026-05-11T18:46:50Z</dcterms:modified>
  <cp:category/>
</cp:coreProperties>
</file>